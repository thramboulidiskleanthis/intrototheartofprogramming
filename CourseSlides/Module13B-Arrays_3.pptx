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19"/>
  </p:notesMasterIdLst>
  <p:sldIdLst>
    <p:sldId id="262" r:id="rId3"/>
    <p:sldId id="911" r:id="rId4"/>
    <p:sldId id="957" r:id="rId5"/>
    <p:sldId id="959" r:id="rId6"/>
    <p:sldId id="961" r:id="rId7"/>
    <p:sldId id="962" r:id="rId8"/>
    <p:sldId id="964" r:id="rId9"/>
    <p:sldId id="965" r:id="rId10"/>
    <p:sldId id="963" r:id="rId11"/>
    <p:sldId id="971" r:id="rId12"/>
    <p:sldId id="966" r:id="rId13"/>
    <p:sldId id="967" r:id="rId14"/>
    <p:sldId id="968" r:id="rId15"/>
    <p:sldId id="956" r:id="rId16"/>
    <p:sldId id="969" r:id="rId17"/>
    <p:sldId id="970" r:id="rId1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12" autoAdjust="0"/>
    <p:restoredTop sz="93969" autoAdjust="0"/>
  </p:normalViewPr>
  <p:slideViewPr>
    <p:cSldViewPr snapToGrid="0">
      <p:cViewPr varScale="1">
        <p:scale>
          <a:sx n="67" d="100"/>
          <a:sy n="67" d="100"/>
        </p:scale>
        <p:origin x="43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C587-13AD-0AC3-F832-2B41FDA7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9C51617-DBCB-002E-028B-D92668AC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A7D6180-706D-9B7B-F2F9-F0AF2D5F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7FB4202-9F8F-3E2F-0448-41544215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8483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EEF88-D449-5222-2DA3-68D970D46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0DF5F1C-95DC-CCF8-E581-EB5C9899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49F1BEF-BE41-3A94-0418-B4F8BA9EC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B20FBB1-19FA-3FDB-2B17-653B91E11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2647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2193-5EC0-CA5F-E721-FA88E9C4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94F00A8-F10B-9113-4709-A24AB6C0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9D708E8-57BC-FDBA-4606-F80E7EA0F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C64293F-EC5C-4772-0424-403893FE6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8286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9399-B4E9-FA54-ADE5-028D0AA0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08F6662-CB1D-3652-6FD8-529D34CBD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6C52CB3-494C-88EE-C680-82011D6DC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1A818AA-F34B-3764-B299-20E082F01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255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4051A-95E2-E771-DC2A-41C9D17E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A21F46E-6C62-07A4-ADFC-BBB246441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CFF9FCF-63C6-A98C-CBC4-D34B7939F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CA4BD38-67D2-8A6D-91D2-DCFBA50E1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43901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6000B-EEB0-E244-C336-FB634CC0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A4757AA-C3A0-5AFF-E797-56F7312FA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D3102B7-452E-204D-E3F1-2715D7C7B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E534BC8-474B-4328-1CF6-1440AE5BE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1175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5CA6-5D53-9780-C868-55DAEA15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CF2D329-A1F8-B784-AC6D-B1ED28789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A26DBB0-7282-06E6-7D23-0903A0150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8CD86B8-C7D5-49DF-8A56-25CF5BFD5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81094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5B88-93EB-F707-DB3C-CB983D903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EDD37D-1D25-4BB2-B469-72114FF02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40B12F1-F888-EF82-BD85-3A0C42E7C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771DFBE-AD12-3FAB-16FC-880A1E610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383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6411-FCC2-4BB2-6899-9EE4ED57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ADA59D7-8FF1-901F-CD03-F19EB3E88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3FF6C05-7496-F9CD-4177-7A48C2690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806982F-0906-E507-5A5B-AB84C352E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21235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0414-6A0B-1619-DB66-E99B5E7E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DD39AE3-5DFA-6DCC-9490-966AB5259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030D1D6-CD65-7932-C3F7-EB93A062D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E719BF3-8FFA-E005-86BD-079B2D6A6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07372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7840-A413-8FA9-2E43-AB6CF0F3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3385908-F961-763C-9E83-367D4ACA1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4D39019-7E2A-FE40-BC79-E23B67797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48CCE8E-4716-694F-832B-32C09913A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76726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2949-5BD2-DDE2-3922-6564653E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5FC16B5-9713-CC8B-F2A6-A76728703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4ADDCD6-9E6F-F346-F61C-B07A0F254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5C6FE09-D3B2-C788-7FA7-AB0CEAE44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37408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C7D5-5195-60E6-2507-4E89D757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D6C934F-5CCF-FD7F-7DED-3CC2C6114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E9F48E8-26A3-9A15-282F-CBBD85784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CBDEF8E-EF42-3BBD-BAE8-89FEC846F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1762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BC269-B4E0-4124-B97C-3CA71913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ECD2F2F-8215-0AE6-EF42-DBC30336F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53F2C6C-EA33-938A-AA23-7427EDE7F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95850C6-F41D-C392-EE56-D586E1E9E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4318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D0E6-A80F-1306-0F6D-9A8E45DE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6853FBC-B7DA-5FD9-EE09-A6C4DC5CE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613D993-5B6C-58ED-1CFE-B37767817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C963BE8-838C-B8A9-D194-7C1A1CB94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9693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5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Πίνακες</a:t>
            </a:r>
            <a:endParaRPr lang="en-US" sz="16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420598" y="2904201"/>
            <a:ext cx="4452747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Arrays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4554512" y="2416145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4"/>
              </a:rPr>
              <a:t>Μια Εισαγωγή στην Τέχνη του Προγραμματισμού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E4E4E-1A3E-8DC7-C33C-DA56D174E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7" y="2825164"/>
            <a:ext cx="7414963" cy="3984425"/>
          </a:xfrm>
          <a:prstGeom prst="rect">
            <a:avLst/>
          </a:prstGeom>
        </p:spPr>
      </p:pic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45824C57-7022-FCD7-631E-B9A2F96B6A94}"/>
              </a:ext>
            </a:extLst>
          </p:cNvPr>
          <p:cNvSpPr txBox="1">
            <a:spLocks/>
          </p:cNvSpPr>
          <p:nvPr/>
        </p:nvSpPr>
        <p:spPr>
          <a:xfrm>
            <a:off x="-16239" y="-1461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A465-FD08-1A1D-B033-573F5663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8983A4-8924-9752-3540-744FE8E54A51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DC3CDDB-9460-7CC9-9108-943C37EC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7F9E7D2-68EA-62C0-B24F-A283A1210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A300D-ECEF-45F7-2ADB-74244DD7439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1775F-640D-BCCF-612D-91C87341055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39DB-63A9-5E03-D2DF-29A6E9914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63" y="804716"/>
            <a:ext cx="9732908" cy="4003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– Ορισμός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kern="0" dirty="0">
                <a:latin typeface="Times New Roman" panose="02020603050405020304" pitchFamily="18" charset="0"/>
              </a:rPr>
              <a:t>Δήλωση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kern="0" dirty="0">
                <a:latin typeface="Times New Roman" panose="02020603050405020304" pitchFamily="18" charset="0"/>
              </a:rPr>
              <a:t>Αναφορά σε στοιχεία του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kern="0" dirty="0">
                <a:latin typeface="Times New Roman" panose="02020603050405020304" pitchFamily="18" charset="0"/>
              </a:rPr>
              <a:t>Απόδοση αρχικών τιμών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ως όρισμα σε συνάρτηση</a:t>
            </a: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r>
              <a:rPr lang="el-GR" altLang="el-GR" b="1" kern="0" dirty="0">
                <a:solidFill>
                  <a:srgbClr val="F9853D"/>
                </a:solidFill>
                <a:latin typeface="Bahnschrift" panose="020B0502040204020203" pitchFamily="34" charset="0"/>
              </a:rPr>
              <a:t>	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Δισδιάστατος Πίνακας 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τριών διαστάσεων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Η Συμβολοσειρά  ως πίνακας χαρακτήρων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EEF96FA-AEA3-A737-B1F5-6EAA14E0A3B6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3620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4D4D-6ABF-B29F-917A-1F6CBD8A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66A6D5A-AF99-08FF-C132-30BAEF58434F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119D326-F45F-7AC7-02D1-FAEEAF18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 τύπος του Πίνακα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1366819-8437-49B1-625E-2CF22072680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94C5F-64FA-305E-7878-3DD46D8AFC1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C9373-45F2-E429-B60D-D63697B9D4A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12E741-2DE5-5FC1-4890-C985B64C8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398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χρησιμοποιείται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για αποθήκευση και διαχείριση μεγάλων ποσοτήτων δεδομένων που είναι κοινού τύπου και σχετίζονται μεταξύ τους.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για την γλώσσα είναι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μια συλλογή στοιχείων ίδιου τύπου, των οποίων οι τιμές είναι αποθηκευμένες σε διαδοχικές θέσεις μνήμης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αποτελούν</a:t>
            </a: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μαζί με τους δείκτες από τα πιο ισχυρά στοιχεία της C</a:t>
            </a: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GB" kern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2C22C28-A024-D8AE-2323-69BC715BA5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834546"/>
              </p:ext>
            </p:extLst>
          </p:nvPr>
        </p:nvGraphicFramePr>
        <p:xfrm>
          <a:off x="904875" y="4618431"/>
          <a:ext cx="993198" cy="157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19354" imgH="981456" progId="Excel.Sheet.8">
                  <p:embed/>
                </p:oleObj>
              </mc:Choice>
              <mc:Fallback>
                <p:oleObj name="Worksheet" r:id="rId3" imgW="619354" imgH="981456" progId="Excel.Sheet.8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53AA5F33-0319-AD59-168C-850ACA0DAF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4618431"/>
                        <a:ext cx="993198" cy="15738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E6411612-D6C9-C1D8-6697-B8957A9500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319774"/>
              </p:ext>
            </p:extLst>
          </p:nvPr>
        </p:nvGraphicFramePr>
        <p:xfrm>
          <a:off x="3645406" y="4645026"/>
          <a:ext cx="2034958" cy="1624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228954" imgH="981456" progId="Excel.Sheet.8">
                  <p:embed/>
                </p:oleObj>
              </mc:Choice>
              <mc:Fallback>
                <p:oleObj name="Worksheet" r:id="rId5" imgW="1228954" imgH="981456" progId="Excel.Sheet.8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964CA5F5-6C03-3262-9356-D8B7A2CC34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406" y="4645026"/>
                        <a:ext cx="2034958" cy="1624811"/>
                      </a:xfrm>
                      <a:prstGeom prst="rect">
                        <a:avLst/>
                      </a:prstGeom>
                      <a:solidFill>
                        <a:srgbClr val="00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0">
            <a:extLst>
              <a:ext uri="{FF2B5EF4-FFF2-40B4-BE49-F238E27FC236}">
                <a16:creationId xmlns:a16="http://schemas.microsoft.com/office/drawing/2014/main" id="{B478C266-1A3B-C0B7-5D47-CEB6781978DD}"/>
              </a:ext>
            </a:extLst>
          </p:cNvPr>
          <p:cNvGrpSpPr>
            <a:grpSpLocks/>
          </p:cNvGrpSpPr>
          <p:nvPr/>
        </p:nvGrpSpPr>
        <p:grpSpPr bwMode="auto">
          <a:xfrm>
            <a:off x="7646699" y="4749115"/>
            <a:ext cx="1838325" cy="1590675"/>
            <a:chOff x="3744" y="2880"/>
            <a:chExt cx="1158" cy="1002"/>
          </a:xfrm>
        </p:grpSpPr>
        <p:graphicFrame>
          <p:nvGraphicFramePr>
            <p:cNvPr id="12" name="Object 5">
              <a:extLst>
                <a:ext uri="{FF2B5EF4-FFF2-40B4-BE49-F238E27FC236}">
                  <a16:creationId xmlns:a16="http://schemas.microsoft.com/office/drawing/2014/main" id="{F3EC3FD1-BA11-CA23-2FAC-2A34DAF732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4" y="2880"/>
            <a:ext cx="7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7" imgW="1228954" imgH="981456" progId="Excel.Sheet.8">
                    <p:embed/>
                  </p:oleObj>
                </mc:Choice>
                <mc:Fallback>
                  <p:oleObj name="Worksheet" r:id="rId7" imgW="1228954" imgH="981456" progId="Excel.Sheet.8">
                    <p:embed/>
                    <p:pic>
                      <p:nvPicPr>
                        <p:cNvPr id="7181" name="Object 5">
                          <a:extLst>
                            <a:ext uri="{FF2B5EF4-FFF2-40B4-BE49-F238E27FC236}">
                              <a16:creationId xmlns:a16="http://schemas.microsoft.com/office/drawing/2014/main" id="{D1799F69-E778-06FA-7BC5-405D057F21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880"/>
                          <a:ext cx="774" cy="618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6">
              <a:extLst>
                <a:ext uri="{FF2B5EF4-FFF2-40B4-BE49-F238E27FC236}">
                  <a16:creationId xmlns:a16="http://schemas.microsoft.com/office/drawing/2014/main" id="{529310B5-5E30-FD11-F12F-9F7CB63179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0" y="2976"/>
            <a:ext cx="7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7" imgW="1228954" imgH="981456" progId="Excel.Sheet.8">
                    <p:embed/>
                  </p:oleObj>
                </mc:Choice>
                <mc:Fallback>
                  <p:oleObj name="Worksheet" r:id="rId7" imgW="1228954" imgH="981456" progId="Excel.Sheet.8">
                    <p:embed/>
                    <p:pic>
                      <p:nvPicPr>
                        <p:cNvPr id="7182" name="Object 6">
                          <a:extLst>
                            <a:ext uri="{FF2B5EF4-FFF2-40B4-BE49-F238E27FC236}">
                              <a16:creationId xmlns:a16="http://schemas.microsoft.com/office/drawing/2014/main" id="{F6904123-63B5-AC39-9CD6-E63B31BC38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976"/>
                          <a:ext cx="774" cy="618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7">
              <a:extLst>
                <a:ext uri="{FF2B5EF4-FFF2-40B4-BE49-F238E27FC236}">
                  <a16:creationId xmlns:a16="http://schemas.microsoft.com/office/drawing/2014/main" id="{420C83E9-A7F0-2B8F-BCDB-8DD421DDF5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36" y="3072"/>
            <a:ext cx="7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8" imgW="1228954" imgH="981456" progId="Excel.Sheet.8">
                    <p:embed/>
                  </p:oleObj>
                </mc:Choice>
                <mc:Fallback>
                  <p:oleObj name="Worksheet" r:id="rId8" imgW="1228954" imgH="981456" progId="Excel.Sheet.8">
                    <p:embed/>
                    <p:pic>
                      <p:nvPicPr>
                        <p:cNvPr id="7183" name="Object 7">
                          <a:extLst>
                            <a:ext uri="{FF2B5EF4-FFF2-40B4-BE49-F238E27FC236}">
                              <a16:creationId xmlns:a16="http://schemas.microsoft.com/office/drawing/2014/main" id="{45C8E29B-8DD7-E1CD-D56B-CD02CFCFEB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3072"/>
                          <a:ext cx="774" cy="618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8">
              <a:extLst>
                <a:ext uri="{FF2B5EF4-FFF2-40B4-BE49-F238E27FC236}">
                  <a16:creationId xmlns:a16="http://schemas.microsoft.com/office/drawing/2014/main" id="{840BA684-4FA0-1A54-6CAB-936B0E8A2A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168"/>
            <a:ext cx="7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8" imgW="1228954" imgH="981456" progId="Excel.Sheet.8">
                    <p:embed/>
                  </p:oleObj>
                </mc:Choice>
                <mc:Fallback>
                  <p:oleObj name="Worksheet" r:id="rId8" imgW="1228954" imgH="981456" progId="Excel.Sheet.8">
                    <p:embed/>
                    <p:pic>
                      <p:nvPicPr>
                        <p:cNvPr id="7184" name="Object 8">
                          <a:extLst>
                            <a:ext uri="{FF2B5EF4-FFF2-40B4-BE49-F238E27FC236}">
                              <a16:creationId xmlns:a16="http://schemas.microsoft.com/office/drawing/2014/main" id="{8F3F8421-E587-8547-21B6-F047080ADB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68"/>
                          <a:ext cx="774" cy="618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">
              <a:extLst>
                <a:ext uri="{FF2B5EF4-FFF2-40B4-BE49-F238E27FC236}">
                  <a16:creationId xmlns:a16="http://schemas.microsoft.com/office/drawing/2014/main" id="{046EB93D-A63D-F929-C13B-9C3E790305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0002159"/>
                </p:ext>
              </p:extLst>
            </p:nvPr>
          </p:nvGraphicFramePr>
          <p:xfrm>
            <a:off x="4128" y="3264"/>
            <a:ext cx="7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8" imgW="1228954" imgH="981456" progId="Excel.Sheet.8">
                    <p:embed/>
                  </p:oleObj>
                </mc:Choice>
                <mc:Fallback>
                  <p:oleObj name="Worksheet" r:id="rId8" imgW="1228954" imgH="981456" progId="Excel.Sheet.8">
                    <p:embed/>
                    <p:pic>
                      <p:nvPicPr>
                        <p:cNvPr id="7185" name="Object 9">
                          <a:extLst>
                            <a:ext uri="{FF2B5EF4-FFF2-40B4-BE49-F238E27FC236}">
                              <a16:creationId xmlns:a16="http://schemas.microsoft.com/office/drawing/2014/main" id="{8E136288-ADA4-34A3-7FA4-2945958040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264"/>
                          <a:ext cx="774" cy="618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Θέση υποσέλιδου 4">
            <a:extLst>
              <a:ext uri="{FF2B5EF4-FFF2-40B4-BE49-F238E27FC236}">
                <a16:creationId xmlns:a16="http://schemas.microsoft.com/office/drawing/2014/main" id="{9C1311D5-120F-ED23-FC77-331CF4990DEE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269080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7125-70C8-8044-D659-2026BE51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79F130A-9BAE-4CF8-AB1A-6360E89657BC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589DA7A-F796-4139-31FE-417B6CDD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Δήλωση Πίνακα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67A539B-C12B-CD37-5D14-08C8C37FBD4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2D798-A23E-FA60-83F7-E301C7E2665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79EBA-8745-7275-E571-9839F24561E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DC3C6-6CF9-3593-0EE6-86100379B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11" y="914698"/>
            <a:ext cx="7112393" cy="192160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δηλώνει στον </a:t>
            </a:r>
            <a:r>
              <a:rPr lang="el-GR" altLang="el-GR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compiler</a:t>
            </a:r>
            <a:endParaRPr lang="el-GR" alt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το όνομα του πίνακα (</a:t>
            </a:r>
            <a:r>
              <a:rPr lang="el-GR" altLang="el-G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</a:t>
            </a: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τον αριθμό των στοιχείων του (12)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τον τύπο των στοιχείων του (</a:t>
            </a:r>
            <a:r>
              <a:rPr lang="el-GR" altLang="el-GR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GB" kern="0" dirty="0">
              <a:latin typeface="Times New Roman" panose="02020603050405020304" pitchFamily="18" charset="0"/>
            </a:endParaRP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301EA61-600F-6D18-0B88-AFDBC4023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204" y="4599028"/>
            <a:ext cx="4343400" cy="914400"/>
          </a:xfrm>
          <a:prstGeom prst="curvedUpArrow">
            <a:avLst>
              <a:gd name="adj1" fmla="val 68369"/>
              <a:gd name="adj2" fmla="val 128316"/>
              <a:gd name="adj3" fmla="val 5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l-GR" altLang="el-GR">
              <a:solidFill>
                <a:srgbClr val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E268EC-5DD9-31C8-0F61-E772D90A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884" y="737828"/>
            <a:ext cx="2446232" cy="3787468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B082B65-E973-199F-172D-C9BC0D986765}"/>
              </a:ext>
            </a:extLst>
          </p:cNvPr>
          <p:cNvSpPr/>
          <p:nvPr/>
        </p:nvSpPr>
        <p:spPr bwMode="auto">
          <a:xfrm>
            <a:off x="1219200" y="5599888"/>
            <a:ext cx="7596404" cy="914400"/>
          </a:xfrm>
          <a:prstGeom prst="wedgeRoundRectCallout">
            <a:avLst>
              <a:gd name="adj1" fmla="val -43859"/>
              <a:gd name="adj2" fmla="val 686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chemeClr val="bg1"/>
                </a:solidFill>
                <a:latin typeface="Tahoma" panose="020B0604030504040204" pitchFamily="34" charset="0"/>
              </a:rPr>
              <a:t>Το μέγεθος του πίνακα δεν μπορεί να αλλάξει στο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chemeClr val="bg1"/>
                </a:solidFill>
                <a:latin typeface="Tahoma" panose="020B0604030504040204" pitchFamily="34" charset="0"/>
              </a:rPr>
              <a:t>χρόνο εκτέλεσης του προγράμματος (</a:t>
            </a:r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</a:rPr>
              <a:t>run-time</a:t>
            </a:r>
            <a:r>
              <a:rPr lang="el-GR" sz="2400" dirty="0">
                <a:solidFill>
                  <a:schemeClr val="bg1"/>
                </a:solidFill>
                <a:latin typeface="Tahoma" panose="020B0604030504040204" pitchFamily="34" charset="0"/>
              </a:rPr>
              <a:t>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50AF72-C9B1-C18C-63A8-EC111614F47B}"/>
              </a:ext>
            </a:extLst>
          </p:cNvPr>
          <p:cNvSpPr txBox="1"/>
          <p:nvPr/>
        </p:nvSpPr>
        <p:spPr>
          <a:xfrm>
            <a:off x="1898916" y="3660071"/>
            <a:ext cx="5364488" cy="7078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altLang="el-GR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float temp[12];</a:t>
            </a:r>
          </a:p>
        </p:txBody>
      </p:sp>
      <p:sp>
        <p:nvSpPr>
          <p:cNvPr id="15" name="Θέση υποσέλιδου 4">
            <a:extLst>
              <a:ext uri="{FF2B5EF4-FFF2-40B4-BE49-F238E27FC236}">
                <a16:creationId xmlns:a16="http://schemas.microsoft.com/office/drawing/2014/main" id="{254713C7-7FC6-3977-CD40-78D943E425CA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14C09B-872A-04D6-5143-FCEC119BD929}"/>
              </a:ext>
            </a:extLst>
          </p:cNvPr>
          <p:cNvGrpSpPr/>
          <p:nvPr/>
        </p:nvGrpSpPr>
        <p:grpSpPr>
          <a:xfrm>
            <a:off x="2730250" y="1731818"/>
            <a:ext cx="2908550" cy="2119746"/>
            <a:chOff x="2730250" y="1731818"/>
            <a:chExt cx="2908550" cy="211974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15F3D7F-FEB6-1A1A-0EFA-4352962AE1D7}"/>
                </a:ext>
              </a:extLst>
            </p:cNvPr>
            <p:cNvCxnSpPr/>
            <p:nvPr/>
          </p:nvCxnSpPr>
          <p:spPr>
            <a:xfrm>
              <a:off x="2867891" y="1731818"/>
              <a:ext cx="1399309" cy="211974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6BEBA69-CBDF-6D10-81DE-062A1EFDCE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0661" y="2139981"/>
              <a:ext cx="848139" cy="171158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97E8CDE-534A-99B9-89E6-FEC363D3E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0250" y="2531215"/>
              <a:ext cx="46080" cy="13203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524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4486-4773-691C-E668-7206163A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E13D502-CB5C-21EE-EE2A-F4E3F01F5FE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B14EF144-8EDA-60AC-8AB4-8DADA28C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Αναφορά σε στοιχείο Πίνακα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9ACADFA-268B-E83F-8210-C28BBC487D9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F5E4C-306C-2BEA-CD93-AF98BB9FD12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689A8-6C8C-9E96-2221-1A569BC7A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868829"/>
            <a:ext cx="6240263" cy="29733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αναφορά σε στοιχείο του πίνακα γίνεται με το όνομα του πίνακα και την τάξη του στοιχείου σε αυτόν.</a:t>
            </a: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endParaRPr lang="el-GR" alt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r>
              <a:rPr lang="en-US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Π.χ. </a:t>
            </a:r>
            <a:r>
              <a:rPr lang="el-GR" altLang="el-GR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</a:t>
            </a:r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l-GR" altLang="el-GR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 </a:t>
            </a:r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για το πρώτο στοιχείο,</a:t>
            </a: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  <a:r>
              <a:rPr lang="en-US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l-GR" altLang="el-GR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</a:t>
            </a:r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l-GR" altLang="el-GR" sz="2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</a:t>
            </a:r>
            <a:r>
              <a:rPr lang="el-GR" alt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 </a:t>
            </a:r>
            <a:r>
              <a:rPr lang="el-GR" alt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για το 12ο στοιχείο </a:t>
            </a:r>
            <a:endParaRPr lang="en-US" altLang="el-G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GB" kern="0" dirty="0">
              <a:latin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E1F4A9-6854-05E2-0D8A-5B9F397D1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07" y="754819"/>
            <a:ext cx="3505504" cy="4160881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FAAEFCD-DED1-2AD1-E68A-1BE0BB8507D7}"/>
              </a:ext>
            </a:extLst>
          </p:cNvPr>
          <p:cNvSpPr/>
          <p:nvPr/>
        </p:nvSpPr>
        <p:spPr bwMode="auto">
          <a:xfrm>
            <a:off x="179513" y="4936668"/>
            <a:ext cx="11871817" cy="1444661"/>
          </a:xfrm>
          <a:prstGeom prst="wedgeRoundRectCallout">
            <a:avLst>
              <a:gd name="adj1" fmla="val -43859"/>
              <a:gd name="adj2" fmla="val 686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l-GR" sz="2200" dirty="0">
                <a:solidFill>
                  <a:srgbClr val="000000"/>
                </a:solidFill>
                <a:latin typeface="Tahoma" panose="020B0604030504040204" pitchFamily="34" charset="0"/>
              </a:rPr>
              <a:t>Είναι αποκλειστική ευθύνη του προγραμματιστή να μην αναφερθεί σε στοιχείο του πίνακα που ξεπερνά τα όρια του. Αυτό έχει απρόβλεπτες συνέπειες.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l-GR" sz="2200" dirty="0">
                <a:solidFill>
                  <a:srgbClr val="000000"/>
                </a:solidFill>
                <a:latin typeface="Tahoma" panose="020B0604030504040204" pitchFamily="34" charset="0"/>
              </a:rPr>
              <a:t>Το πρόβλημα δεν αντιμετωπίζεται με δήλωση μεγαλύτερου πίνακα από ότι απαιτείται γιατί αυτό δεσμεύει άδικα πόρους (</a:t>
            </a:r>
            <a:r>
              <a:rPr lang="en-US" sz="2200" dirty="0">
                <a:solidFill>
                  <a:srgbClr val="000000"/>
                </a:solidFill>
                <a:latin typeface="Tahoma" panose="020B0604030504040204" pitchFamily="34" charset="0"/>
              </a:rPr>
              <a:t>resources</a:t>
            </a:r>
            <a:r>
              <a:rPr lang="el-GR" sz="2200" dirty="0">
                <a:solidFill>
                  <a:srgbClr val="000000"/>
                </a:solidFill>
                <a:latin typeface="Tahoma" panose="020B0604030504040204" pitchFamily="34" charset="0"/>
              </a:rPr>
              <a:t>) του συστήματος.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DF3697-556C-0C29-1CBB-C3ACEA1CAB17}"/>
              </a:ext>
            </a:extLst>
          </p:cNvPr>
          <p:cNvSpPr txBox="1"/>
          <p:nvPr/>
        </p:nvSpPr>
        <p:spPr>
          <a:xfrm>
            <a:off x="778808" y="4030959"/>
            <a:ext cx="5640968" cy="7078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altLang="el-GR" sz="4000" b="1" dirty="0">
                <a:solidFill>
                  <a:srgbClr val="000000"/>
                </a:solidFill>
                <a:latin typeface="Courier New" panose="02070309020205020404" pitchFamily="49" charset="0"/>
              </a:rPr>
              <a:t>float temp[12];</a:t>
            </a: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AB4A17A3-C023-A9E2-7443-0B8461700246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10033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56EF-E426-354A-18AD-FEF57BA2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4C47AB70-CDC5-E8F9-C8BE-954762853F26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5F45AFA-C11F-8FE6-C7BD-3CAD8076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Αρχικοποίηση Πίνακα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867F968-F93D-24DE-40F6-CCDC7EA0B1B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EF0ED-DB21-1EC7-03A6-2D76F1221DE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2A04BB-122A-E718-521E-7579AC8A5B7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695B0B1-B9B5-A716-8FB6-7DD41B8F2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580853"/>
              </p:ext>
            </p:extLst>
          </p:nvPr>
        </p:nvGraphicFramePr>
        <p:xfrm>
          <a:off x="7802671" y="1007670"/>
          <a:ext cx="23622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38630" imgH="981380" progId="Excel.Sheet.8">
                  <p:embed/>
                </p:oleObj>
              </mc:Choice>
              <mc:Fallback>
                <p:oleObj name="Worksheet" r:id="rId3" imgW="1838630" imgH="981380" progId="Excel.Sheet.8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2453B3A1-257F-2DA0-CB79-DAF837B6A9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671" y="1007670"/>
                        <a:ext cx="2362200" cy="12604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8E5D91F3-BDAA-FE61-FB89-B8668960B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350836"/>
              </p:ext>
            </p:extLst>
          </p:nvPr>
        </p:nvGraphicFramePr>
        <p:xfrm>
          <a:off x="7802671" y="2303070"/>
          <a:ext cx="23622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838554" imgH="819607" progId="Excel.Sheet.8">
                  <p:embed/>
                </p:oleObj>
              </mc:Choice>
              <mc:Fallback>
                <p:oleObj name="Worksheet" r:id="rId5" imgW="1838554" imgH="819607" progId="Excel.Sheet.8">
                  <p:embed/>
                  <p:pic>
                    <p:nvPicPr>
                      <p:cNvPr id="18439" name="Object 7">
                        <a:extLst>
                          <a:ext uri="{FF2B5EF4-FFF2-40B4-BE49-F238E27FC236}">
                            <a16:creationId xmlns:a16="http://schemas.microsoft.com/office/drawing/2014/main" id="{BC00B33A-CC2D-4A3D-A00C-D6A826687C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671" y="2303070"/>
                        <a:ext cx="2362200" cy="105251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1EC0797-3D48-657E-D16B-7A5AEA646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15544"/>
              </p:ext>
            </p:extLst>
          </p:nvPr>
        </p:nvGraphicFramePr>
        <p:xfrm>
          <a:off x="7802671" y="3369870"/>
          <a:ext cx="236220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838554" imgH="981456" progId="Excel.Sheet.8">
                  <p:embed/>
                </p:oleObj>
              </mc:Choice>
              <mc:Fallback>
                <p:oleObj name="Worksheet" r:id="rId7" imgW="1838554" imgH="981456" progId="Excel.Sheet.8">
                  <p:embed/>
                  <p:pic>
                    <p:nvPicPr>
                      <p:cNvPr id="18443" name="Object 11">
                        <a:extLst>
                          <a:ext uri="{FF2B5EF4-FFF2-40B4-BE49-F238E27FC236}">
                            <a16:creationId xmlns:a16="http://schemas.microsoft.com/office/drawing/2014/main" id="{6B7A5795-09B6-544D-1E1A-63BD8306D0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671" y="3369870"/>
                        <a:ext cx="2362200" cy="12604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962D067C-3F0C-E2BE-BAF4-7AA7626B5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84" y="5041417"/>
            <a:ext cx="11896348" cy="908050"/>
          </a:xfrm>
          <a:prstGeom prst="rect">
            <a:avLst/>
          </a:prstGeom>
          <a:solidFill>
            <a:srgbClr val="92D050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l-GR" altLang="el-GR" kern="0" dirty="0">
                <a:solidFill>
                  <a:srgbClr val="000000"/>
                </a:solidFill>
              </a:rPr>
              <a:t>Υπόκεινται στον κανόνα που λέει πως γενικές μεταβλητές έχουν αρχική τιμή 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l-GR" altLang="el-GR" kern="0" dirty="0">
                <a:solidFill>
                  <a:srgbClr val="000000"/>
                </a:solidFill>
              </a:rPr>
              <a:t>ενώ οι τοπικές έχουν τυχαία τιμή</a:t>
            </a:r>
            <a:r>
              <a:rPr lang="en-US" altLang="el-GR" kern="0" dirty="0">
                <a:solidFill>
                  <a:srgbClr val="000000"/>
                </a:solidFill>
              </a:rPr>
              <a:t> (</a:t>
            </a:r>
            <a:r>
              <a:rPr lang="el-GR" altLang="el-GR" kern="0" dirty="0">
                <a:solidFill>
                  <a:srgbClr val="000000"/>
                </a:solidFill>
              </a:rPr>
              <a:t>αν δεν τους αποδοθεί αρχική τιμή).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8380D-F66E-DF1D-3DAB-2C78C37ADC6A}"/>
              </a:ext>
            </a:extLst>
          </p:cNvPr>
          <p:cNvSpPr txBox="1"/>
          <p:nvPr/>
        </p:nvSpPr>
        <p:spPr>
          <a:xfrm>
            <a:off x="154983" y="1110659"/>
            <a:ext cx="6747503" cy="35394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int </a:t>
            </a:r>
            <a:r>
              <a:rPr lang="en-GB" altLang="el-GR" sz="2800" b="1" kern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a_ar</a:t>
            </a: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[5];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int </a:t>
            </a:r>
            <a:r>
              <a:rPr lang="en-GB" altLang="el-GR" sz="2800" b="1" kern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b_ar</a:t>
            </a: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[5] = {1,2,3.5,4,5};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l-GR" sz="2800" b="1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main(){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altLang="el-GR" sz="2800" b="1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int </a:t>
            </a:r>
            <a:r>
              <a:rPr lang="en-GB" altLang="el-GR" sz="2800" b="1" kern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c_ar</a:t>
            </a: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l-GR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6</a:t>
            </a:r>
            <a:r>
              <a:rPr lang="en-GB" altLang="el-GR" sz="28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] = {1,2,3};</a:t>
            </a:r>
          </a:p>
        </p:txBody>
      </p:sp>
      <p:sp>
        <p:nvSpPr>
          <p:cNvPr id="15" name="Θέση υποσέλιδου 4">
            <a:extLst>
              <a:ext uri="{FF2B5EF4-FFF2-40B4-BE49-F238E27FC236}">
                <a16:creationId xmlns:a16="http://schemas.microsoft.com/office/drawing/2014/main" id="{A018D1BC-9FA3-0F98-F0C5-FB0F79433B6A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77066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3EF8-3F02-3207-985A-BBB30154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F8C48C2-1322-AF1D-A196-A8C67DE5E22F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635ED1C-0BE5-4EF2-091C-8FCCE8AA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ως όρισμα συνάρτησης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3B79155-73BF-F2BA-7043-435286297D7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B8ADBF-ECC3-4577-CD73-4D311DFC004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C980F-FDC7-5085-11CC-1BB3D1B6B5E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C78A66A-C69E-20AD-30BE-499BA1627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1" y="851434"/>
            <a:ext cx="11695859" cy="55351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Δήλωση συνάρτησης 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που τυπώνει τα στοιχεία πίνακα ακεραίων.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</a:t>
            </a:r>
            <a:endParaRPr kumimoji="0" lang="en-GB" altLang="el-G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EBA6C-7DDC-5558-3880-7A0DC232F603}"/>
              </a:ext>
            </a:extLst>
          </p:cNvPr>
          <p:cNvSpPr txBox="1"/>
          <p:nvPr/>
        </p:nvSpPr>
        <p:spPr>
          <a:xfrm>
            <a:off x="6861408" y="2164319"/>
            <a:ext cx="5189923" cy="19389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Η συνάρτηση δέχεται ως 1</a:t>
            </a:r>
            <a:r>
              <a:rPr lang="el-GR" sz="2000" baseline="30000" dirty="0">
                <a:solidFill>
                  <a:srgbClr val="000000"/>
                </a:solidFill>
                <a:latin typeface="Tahoma" panose="020B0604030504040204" pitchFamily="34" charset="0"/>
              </a:rPr>
              <a:t>ο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 όρισμα ένα πίνακα ακεραίων και ως 2</a:t>
            </a:r>
            <a:r>
              <a:rPr lang="el-GR" sz="2000" baseline="30000" dirty="0">
                <a:solidFill>
                  <a:srgbClr val="000000"/>
                </a:solidFill>
                <a:latin typeface="Tahoma" panose="020B0604030504040204" pitchFamily="34" charset="0"/>
              </a:rPr>
              <a:t>ο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  τον αριθμό των στοιχείων του πίνακα.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Ο πίνακας περνάει 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by reference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. 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Στην πράξη περνάει ως όρισμα ένας δείκτης 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int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 στο 1</a:t>
            </a:r>
            <a:r>
              <a:rPr lang="el-GR" sz="2000" baseline="30000" dirty="0">
                <a:solidFill>
                  <a:srgbClr val="000000"/>
                </a:solidFill>
                <a:latin typeface="Tahoma" panose="020B0604030504040204" pitchFamily="34" charset="0"/>
              </a:rPr>
              <a:t>ο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 στοιχείο του πίνακα.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A275CB-5F29-7AD9-E084-E1986E420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35" y="1499899"/>
            <a:ext cx="8676659" cy="5120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39C0BF-93E1-D6AD-9F39-14D7E334B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6" y="2916765"/>
            <a:ext cx="6283502" cy="1710068"/>
          </a:xfrm>
          <a:prstGeom prst="rect">
            <a:avLst/>
          </a:prstGeom>
        </p:spPr>
      </p:pic>
      <p:sp>
        <p:nvSpPr>
          <p:cNvPr id="19" name="Θέση υποσέλιδου 4">
            <a:extLst>
              <a:ext uri="{FF2B5EF4-FFF2-40B4-BE49-F238E27FC236}">
                <a16:creationId xmlns:a16="http://schemas.microsoft.com/office/drawing/2014/main" id="{24CAE748-36FE-EB2B-63A1-AFADE7356C31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A92D5-3F2F-BA70-BCDD-CA0524913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57" y="2276984"/>
            <a:ext cx="5900443" cy="615026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Ορισμός 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της συνάρτησης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</a:t>
            </a:r>
            <a:endParaRPr kumimoji="0" lang="en-GB" altLang="el-G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AB9F269-3745-2EBE-EE0C-0670A0AF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1" y="4652579"/>
            <a:ext cx="3909605" cy="622285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Κλήση 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της συνάρτησης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</a:t>
            </a:r>
            <a:endParaRPr kumimoji="0" lang="en-GB" altLang="el-G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FE8959-DFDD-072E-7AB2-4B7A02175345}"/>
              </a:ext>
            </a:extLst>
          </p:cNvPr>
          <p:cNvGrpSpPr/>
          <p:nvPr/>
        </p:nvGrpSpPr>
        <p:grpSpPr>
          <a:xfrm>
            <a:off x="4424485" y="4480935"/>
            <a:ext cx="4250424" cy="2119551"/>
            <a:chOff x="179513" y="4402387"/>
            <a:chExt cx="3456384" cy="147967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5DB7F4-2D58-3A26-E479-41E79ECA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1561" y="4402387"/>
              <a:ext cx="3024336" cy="64037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2B4C8D-207E-D07C-23CD-47530B5B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9513" y="5216245"/>
              <a:ext cx="2808312" cy="665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315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utoUpdateAnimBg="0"/>
      <p:bldP spid="13" grpId="0" animBg="1"/>
      <p:bldP spid="4" grpId="0" uiExpand="1" build="p" autoUpdateAnimBg="0"/>
      <p:bldP spid="6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2549D-1C76-B312-AA24-8A201463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0A7DDE5-A87E-9575-DD9A-110AAE17CB3A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8ED7977-9D56-60CB-3ED1-9AE01456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Δισδιάστατος Πίνακας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Δήλωση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F66119D-340B-8040-2710-B064A8BAABB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33765-E007-12DF-3202-48BFAC8B738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A6B1E-24DF-E8CD-1823-203BED28D11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E27AE7-2A6B-5D15-3426-C0BD0F479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55" y="914698"/>
            <a:ext cx="11885076" cy="12922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sz="2800" dirty="0">
                <a:latin typeface="Bahnschrift" panose="020B0502040204020203" pitchFamily="34" charset="0"/>
              </a:rPr>
              <a:t>Οργάνωση της πληροφορίας μέσου ύψους βροχής κάθε μήνα για 5 έτη.</a:t>
            </a: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r>
              <a:rPr lang="el-GR" altLang="el-GR" sz="2800" dirty="0">
                <a:latin typeface="Bahnschrift" panose="020B0502040204020203" pitchFamily="34" charset="0"/>
              </a:rPr>
              <a:t> </a:t>
            </a:r>
          </a:p>
          <a:p>
            <a:pPr marL="0" indent="0" eaLnBrk="1" hangingPunct="1">
              <a:lnSpc>
                <a:spcPct val="80000"/>
              </a:lnSpc>
              <a:buClr>
                <a:srgbClr val="0070C0"/>
              </a:buClr>
              <a:buNone/>
            </a:pPr>
            <a:r>
              <a:rPr lang="el-GR" altLang="el-GR" sz="2800" dirty="0">
                <a:latin typeface="Bahnschrift" panose="020B0502040204020203" pitchFamily="34" charset="0"/>
              </a:rPr>
              <a:t>     Απαιτούνται 5 Χ 12 = 60 μεταβλητές τύπου  </a:t>
            </a:r>
            <a:r>
              <a:rPr lang="el-GR" altLang="el-GR" sz="2800" dirty="0" err="1">
                <a:latin typeface="Bahnschrift" panose="020B0502040204020203" pitchFamily="34" charset="0"/>
              </a:rPr>
              <a:t>float</a:t>
            </a:r>
            <a:r>
              <a:rPr lang="el-GR" altLang="el-GR" sz="2800" dirty="0">
                <a:latin typeface="Bahnschrift" panose="020B0502040204020203" pitchFamily="34" charset="0"/>
              </a:rPr>
              <a:t>. Τρεις επιλογές:</a:t>
            </a:r>
          </a:p>
          <a:p>
            <a:pPr marL="914400" lvl="1" indent="-457200" eaLnBrk="1" hangingPunct="1">
              <a:lnSpc>
                <a:spcPct val="8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l-GR" altLang="el-GR" sz="2400" dirty="0" err="1">
                <a:latin typeface="Bahnschrift" panose="020B0502040204020203" pitchFamily="34" charset="0"/>
              </a:rPr>
              <a:t>float</a:t>
            </a:r>
            <a:r>
              <a:rPr lang="el-GR" altLang="el-GR" sz="2400" dirty="0">
                <a:latin typeface="Bahnschrift" panose="020B0502040204020203" pitchFamily="34" charset="0"/>
              </a:rPr>
              <a:t> rain1, rain2, rain3, … rain60; </a:t>
            </a:r>
          </a:p>
          <a:p>
            <a:pPr marL="914400" lvl="1" indent="-457200" eaLnBrk="1" hangingPunct="1">
              <a:lnSpc>
                <a:spcPct val="8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l-GR" altLang="el-GR" sz="2400" dirty="0" err="1">
                <a:latin typeface="Bahnschrift" panose="020B0502040204020203" pitchFamily="34" charset="0"/>
              </a:rPr>
              <a:t>float</a:t>
            </a:r>
            <a:r>
              <a:rPr lang="el-GR" altLang="el-GR" sz="2400" dirty="0">
                <a:latin typeface="Bahnschrift" panose="020B0502040204020203" pitchFamily="34" charset="0"/>
              </a:rPr>
              <a:t> </a:t>
            </a:r>
            <a:r>
              <a:rPr lang="el-GR" altLang="el-GR" sz="2400" dirty="0" err="1">
                <a:latin typeface="Bahnschrift" panose="020B0502040204020203" pitchFamily="34" charset="0"/>
              </a:rPr>
              <a:t>rain</a:t>
            </a:r>
            <a:r>
              <a:rPr lang="el-GR" altLang="el-GR" sz="2400" dirty="0">
                <a:latin typeface="Bahnschrift" panose="020B0502040204020203" pitchFamily="34" charset="0"/>
              </a:rPr>
              <a:t>[60];</a:t>
            </a:r>
          </a:p>
          <a:p>
            <a:pPr marL="914400" lvl="1" indent="-457200" eaLnBrk="1" hangingPunct="1">
              <a:lnSpc>
                <a:spcPct val="80000"/>
              </a:lnSpc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l-GR" altLang="el-GR" sz="2400" dirty="0" err="1">
                <a:latin typeface="Bahnschrift" panose="020B0502040204020203" pitchFamily="34" charset="0"/>
              </a:rPr>
              <a:t>float</a:t>
            </a:r>
            <a:r>
              <a:rPr lang="el-GR" altLang="el-GR" sz="2400" dirty="0">
                <a:latin typeface="Bahnschrift" panose="020B0502040204020203" pitchFamily="34" charset="0"/>
              </a:rPr>
              <a:t> </a:t>
            </a:r>
            <a:r>
              <a:rPr lang="el-GR" altLang="el-GR" sz="2400" dirty="0" err="1">
                <a:latin typeface="Bahnschrift" panose="020B0502040204020203" pitchFamily="34" charset="0"/>
              </a:rPr>
              <a:t>rain</a:t>
            </a:r>
            <a:r>
              <a:rPr lang="el-GR" altLang="el-GR" sz="2400" dirty="0">
                <a:latin typeface="Bahnschrift" panose="020B0502040204020203" pitchFamily="34" charset="0"/>
              </a:rPr>
              <a:t>[5][12];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sz="2800" dirty="0"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sz="2800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GB" sz="2800" kern="0" dirty="0">
              <a:latin typeface="Times New Roman" panose="02020603050405020304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0B12CB-CE9C-3D13-C3FA-02ECC250346E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62DFADE6-D9AA-1028-BB69-3B83D66197B0}"/>
              </a:ext>
            </a:extLst>
          </p:cNvPr>
          <p:cNvGrpSpPr>
            <a:grpSpLocks/>
          </p:cNvGrpSpPr>
          <p:nvPr/>
        </p:nvGrpSpPr>
        <p:grpSpPr bwMode="auto">
          <a:xfrm>
            <a:off x="3323406" y="4649536"/>
            <a:ext cx="5353050" cy="1719263"/>
            <a:chOff x="1248" y="2325"/>
            <a:chExt cx="3372" cy="1083"/>
          </a:xfrm>
        </p:grpSpPr>
        <p:graphicFrame>
          <p:nvGraphicFramePr>
            <p:cNvPr id="25" name="Object 7">
              <a:extLst>
                <a:ext uri="{FF2B5EF4-FFF2-40B4-BE49-F238E27FC236}">
                  <a16:creationId xmlns:a16="http://schemas.microsoft.com/office/drawing/2014/main" id="{431A550D-F731-4D1A-C207-3ADFA50C57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2400"/>
            <a:ext cx="2016" cy="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1838630" imgH="495491" progId="Excel.Sheet.8">
                    <p:embed/>
                  </p:oleObj>
                </mc:Choice>
                <mc:Fallback>
                  <p:oleObj name="Worksheet" r:id="rId3" imgW="1838630" imgH="495491" progId="Excel.Sheet.8">
                    <p:embed/>
                    <p:pic>
                      <p:nvPicPr>
                        <p:cNvPr id="15366" name="Object 7">
                          <a:extLst>
                            <a:ext uri="{FF2B5EF4-FFF2-40B4-BE49-F238E27FC236}">
                              <a16:creationId xmlns:a16="http://schemas.microsoft.com/office/drawing/2014/main" id="{09DCD54D-5ABE-7476-CE26-478E417BCE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400"/>
                          <a:ext cx="2016" cy="543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8">
              <a:extLst>
                <a:ext uri="{FF2B5EF4-FFF2-40B4-BE49-F238E27FC236}">
                  <a16:creationId xmlns:a16="http://schemas.microsoft.com/office/drawing/2014/main" id="{F5776BB4-985D-4719-689A-B5022A8DE9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2400"/>
            <a:ext cx="636" cy="1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5" imgW="619620" imgH="981380" progId="Excel.Sheet.8">
                    <p:embed/>
                  </p:oleObj>
                </mc:Choice>
                <mc:Fallback>
                  <p:oleObj name="Worksheet" r:id="rId5" imgW="619620" imgH="981380" progId="Excel.Sheet.8">
                    <p:embed/>
                    <p:pic>
                      <p:nvPicPr>
                        <p:cNvPr id="15367" name="Object 8">
                          <a:extLst>
                            <a:ext uri="{FF2B5EF4-FFF2-40B4-BE49-F238E27FC236}">
                              <a16:creationId xmlns:a16="http://schemas.microsoft.com/office/drawing/2014/main" id="{A724F982-4113-3285-4848-32490A5A65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00"/>
                          <a:ext cx="636" cy="100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">
              <a:extLst>
                <a:ext uri="{FF2B5EF4-FFF2-40B4-BE49-F238E27FC236}">
                  <a16:creationId xmlns:a16="http://schemas.microsoft.com/office/drawing/2014/main" id="{592D3034-9B44-A85A-20AB-244A3AA988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3216"/>
            <a:ext cx="2016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7" imgW="1838630" imgH="171793" progId="Excel.Sheet.8">
                    <p:embed/>
                  </p:oleObj>
                </mc:Choice>
                <mc:Fallback>
                  <p:oleObj name="Worksheet" r:id="rId7" imgW="1838630" imgH="171793" progId="Excel.Sheet.8">
                    <p:embed/>
                    <p:pic>
                      <p:nvPicPr>
                        <p:cNvPr id="15368" name="Object 10">
                          <a:extLst>
                            <a:ext uri="{FF2B5EF4-FFF2-40B4-BE49-F238E27FC236}">
                              <a16:creationId xmlns:a16="http://schemas.microsoft.com/office/drawing/2014/main" id="{D3BC5FBA-6E06-BF13-248F-162404B57E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216"/>
                          <a:ext cx="2016" cy="18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F4291A0D-F57E-E789-0BB2-381F210CA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400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9" name="Text Box 13">
              <a:extLst>
                <a:ext uri="{FF2B5EF4-FFF2-40B4-BE49-F238E27FC236}">
                  <a16:creationId xmlns:a16="http://schemas.microsoft.com/office/drawing/2014/main" id="{1730663A-ED0F-7AEB-1A76-5DD069940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2325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…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186553AE-6E77-A44F-1B54-F1A0D4A68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" y="2421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…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1" name="Text Box 15">
              <a:extLst>
                <a:ext uri="{FF2B5EF4-FFF2-40B4-BE49-F238E27FC236}">
                  <a16:creationId xmlns:a16="http://schemas.microsoft.com/office/drawing/2014/main" id="{272FD8CA-2728-49B1-7B3E-53741180B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12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…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2" name="Text Box 16">
              <a:extLst>
                <a:ext uri="{FF2B5EF4-FFF2-40B4-BE49-F238E27FC236}">
                  <a16:creationId xmlns:a16="http://schemas.microsoft.com/office/drawing/2014/main" id="{82B50290-38EB-057D-5F0A-AFA570C09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928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…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3" name="Line 17">
              <a:extLst>
                <a:ext uri="{FF2B5EF4-FFF2-40B4-BE49-F238E27FC236}">
                  <a16:creationId xmlns:a16="http://schemas.microsoft.com/office/drawing/2014/main" id="{4EC6B0EF-41FB-62F7-7247-75250EC8A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28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4" name="Line 18">
              <a:extLst>
                <a:ext uri="{FF2B5EF4-FFF2-40B4-BE49-F238E27FC236}">
                  <a16:creationId xmlns:a16="http://schemas.microsoft.com/office/drawing/2014/main" id="{474FA48A-964E-84FA-87B8-6E601D45D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40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35" name="AutoShape 21">
            <a:extLst>
              <a:ext uri="{FF2B5EF4-FFF2-40B4-BE49-F238E27FC236}">
                <a16:creationId xmlns:a16="http://schemas.microsoft.com/office/drawing/2014/main" id="{9C592D0F-5786-FFB2-2FDE-6A749EFAD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9965" y="3068960"/>
            <a:ext cx="2743200" cy="2668807"/>
          </a:xfrm>
          <a:custGeom>
            <a:avLst/>
            <a:gdLst>
              <a:gd name="T0" fmla="*/ 1894078 w 21600"/>
              <a:gd name="T1" fmla="*/ 114864 h 21600"/>
              <a:gd name="T2" fmla="*/ 576072 w 21600"/>
              <a:gd name="T3" fmla="*/ 565150 h 21600"/>
              <a:gd name="T4" fmla="*/ 1743202 w 21600"/>
              <a:gd name="T5" fmla="*/ 521829 h 21600"/>
              <a:gd name="T6" fmla="*/ 3084322 w 21600"/>
              <a:gd name="T7" fmla="*/ 1439333 h 21600"/>
              <a:gd name="T8" fmla="*/ 2567940 w 21600"/>
              <a:gd name="T9" fmla="*/ 2066431 h 21600"/>
              <a:gd name="T10" fmla="*/ 2003552 w 21600"/>
              <a:gd name="T11" fmla="*/ 149267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473" y="10459"/>
                </a:moveTo>
                <a:cubicBezTo>
                  <a:pt x="18290" y="6353"/>
                  <a:pt x="14909" y="3119"/>
                  <a:pt x="10800" y="3119"/>
                </a:cubicBezTo>
                <a:cubicBezTo>
                  <a:pt x="8870" y="3119"/>
                  <a:pt x="7012" y="3844"/>
                  <a:pt x="5593" y="5152"/>
                </a:cubicBezTo>
                <a:lnTo>
                  <a:pt x="3479" y="2859"/>
                </a:lnTo>
                <a:cubicBezTo>
                  <a:pt x="5474" y="1020"/>
                  <a:pt x="8087" y="0"/>
                  <a:pt x="10800" y="0"/>
                </a:cubicBezTo>
                <a:cubicBezTo>
                  <a:pt x="16578" y="0"/>
                  <a:pt x="21332" y="4548"/>
                  <a:pt x="21589" y="10320"/>
                </a:cubicBezTo>
                <a:lnTo>
                  <a:pt x="24286" y="10200"/>
                </a:lnTo>
                <a:lnTo>
                  <a:pt x="20220" y="14644"/>
                </a:lnTo>
                <a:lnTo>
                  <a:pt x="15776" y="10578"/>
                </a:lnTo>
                <a:lnTo>
                  <a:pt x="18473" y="10459"/>
                </a:lnTo>
                <a:close/>
              </a:path>
            </a:pathLst>
          </a:cu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AEB2A2-95E5-A9B4-212F-EEE63FA9D9F5}"/>
              </a:ext>
            </a:extLst>
          </p:cNvPr>
          <p:cNvSpPr txBox="1"/>
          <p:nvPr/>
        </p:nvSpPr>
        <p:spPr>
          <a:xfrm>
            <a:off x="1067328" y="3898803"/>
            <a:ext cx="4654597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float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rain</a:t>
            </a:r>
            <a:r>
              <a:rPr kumimoji="0" lang="en-GB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[5][12];</a:t>
            </a:r>
            <a:endParaRPr kumimoji="0" lang="en-GB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47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4A0B-F9C6-CE96-DFFF-6DAB8292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90537C4-62D3-69D5-FBD3-6EA52E1B69B5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965246F-4C14-68AE-D70A-9B0FF5D4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Δισδιάστατος Πίνακας - Αναφορά σε στοιχεία του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0D13DD0-CE2B-11D0-91FE-01740B60C72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39253-9F55-A3C1-3D46-D4D1F3B0107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8D88A-40C1-5505-61E2-3EA1134AB40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194DFE5-9E4A-234A-D214-9EDF8144547A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FA852-EF53-6794-7709-3E8EB2EC8A24}"/>
              </a:ext>
            </a:extLst>
          </p:cNvPr>
          <p:cNvSpPr txBox="1"/>
          <p:nvPr/>
        </p:nvSpPr>
        <p:spPr>
          <a:xfrm>
            <a:off x="2333746" y="1453202"/>
            <a:ext cx="7524506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l-GR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rain</a:t>
            </a:r>
            <a:r>
              <a:rPr lang="en-GB" altLang="el-GR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[YEARS][MONTHS];</a:t>
            </a:r>
            <a:endParaRPr lang="en-GB" altLang="el-GR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7AFD6-152F-DFE2-CD21-D11BD35989C3}"/>
              </a:ext>
            </a:extLst>
          </p:cNvPr>
          <p:cNvSpPr txBox="1"/>
          <p:nvPr/>
        </p:nvSpPr>
        <p:spPr>
          <a:xfrm>
            <a:off x="1161237" y="2710293"/>
            <a:ext cx="10282617" cy="20621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for(</a:t>
            </a: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year</a:t>
            </a: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=0; year&lt;YEARS; year++)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for(</a:t>
            </a: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month</a:t>
            </a: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=0; month&lt;MONTHS; month++)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	</a:t>
            </a:r>
            <a:r>
              <a:rPr kumimoji="0" lang="en-GB" altLang="el-G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printf</a:t>
            </a: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(“%f\</a:t>
            </a:r>
            <a:r>
              <a:rPr kumimoji="0" lang="en-GB" altLang="el-G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n”,</a:t>
            </a:r>
            <a:r>
              <a:rPr kumimoji="0" lang="en-GB" altLang="el-G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</a:t>
            </a:r>
            <a:r>
              <a:rPr kumimoji="0" lang="en-GB" alt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[year][month]</a:t>
            </a:r>
            <a:r>
              <a:rPr kumimoji="0" lang="en-GB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1929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E684-90D8-644B-1931-99F6B738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B4A2F78-785C-BEAF-1D9E-792416501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StudentsAndCourses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9B66E3-962A-F77C-C9E1-2C5F712DF45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B3EBFF7-FA59-BFCB-FE63-91DBA1A061D8}"/>
              </a:ext>
            </a:extLst>
          </p:cNvPr>
          <p:cNvSpPr/>
          <p:nvPr/>
        </p:nvSpPr>
        <p:spPr>
          <a:xfrm>
            <a:off x="5534691" y="3429001"/>
            <a:ext cx="5633357" cy="22084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dirty="0">
                <a:highlight>
                  <a:srgbClr val="FFFF00"/>
                </a:highlight>
              </a:rPr>
              <a:t>Δώστε τις δηλώσεις των απαραίτητων μεταβλητών.</a:t>
            </a:r>
            <a:endParaRPr lang="en-US" sz="3200" dirty="0">
              <a:highlight>
                <a:srgbClr val="FFFF00"/>
              </a:highlight>
            </a:endParaRPr>
          </a:p>
          <a:p>
            <a:pPr algn="ctr"/>
            <a:r>
              <a:rPr lang="el-GR" sz="3200" dirty="0">
                <a:highlight>
                  <a:srgbClr val="FFFF00"/>
                </a:highlight>
              </a:rPr>
              <a:t>Αναπτύξτε ένα πρόγραμμα που τις χρησιμοποιεί.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A45B2E-6742-524C-4789-560AF8B90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41" y="3429000"/>
            <a:ext cx="4079639" cy="300368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A786B3B-B14E-1E82-63A3-DA8B9580DF3A}"/>
              </a:ext>
            </a:extLst>
          </p:cNvPr>
          <p:cNvGrpSpPr/>
          <p:nvPr/>
        </p:nvGrpSpPr>
        <p:grpSpPr>
          <a:xfrm>
            <a:off x="-1" y="6559909"/>
            <a:ext cx="12192001" cy="296742"/>
            <a:chOff x="-1" y="6559909"/>
            <a:chExt cx="12192001" cy="296742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C62C2689-2CE1-727A-00B7-75447350D671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C25C9CB0-0B90-7C2F-E192-D34EDCF854D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6ACC6C-174D-ADE0-2870-F5444BB56B68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DBE2D96-CA0E-899E-B24E-A8E2D5F3F19A}"/>
              </a:ext>
            </a:extLst>
          </p:cNvPr>
          <p:cNvSpPr txBox="1"/>
          <p:nvPr/>
        </p:nvSpPr>
        <p:spPr>
          <a:xfrm>
            <a:off x="209941" y="823799"/>
            <a:ext cx="11772118" cy="230832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sz="2400" b="1" i="1" dirty="0"/>
              <a:t>Παράδειγμα  13.3 Φοιτητές και Μαθήματα  (</a:t>
            </a:r>
            <a:r>
              <a:rPr lang="el-GR" sz="2400" b="1" i="1" dirty="0" err="1"/>
              <a:t>StudentsAndCourses</a:t>
            </a:r>
            <a:r>
              <a:rPr lang="el-GR" sz="2400" b="1" i="1" dirty="0"/>
              <a:t>) </a:t>
            </a:r>
            <a:endParaRPr lang="en-GB" sz="2400" b="1" i="1" dirty="0"/>
          </a:p>
          <a:p>
            <a:r>
              <a:rPr lang="el-GR" sz="2400" dirty="0"/>
              <a:t>Θεωρήστε ότι έχουμε 10 φοιτητές και ο καθένας έχει επιλέξει 4 μαθήματα για τα οποία έχει βαθμολογηθεί από 0-10. Θέλουμε να αναπτύξουμε ένα πρόγραμμα το οποίο θα επεξεργάζεται τους βαθμούς και θα μας δίνει στοιχεία όπως: μέσος όρος κάθε φοιτητή, μικρότερος και μεγαλύτερος βαθμός για κάθε φοιτητή, φοιτητή με τον μεγαλύτερο βαθμό ανά μάθημα </a:t>
            </a:r>
            <a:r>
              <a:rPr lang="el-GR" sz="2400" dirty="0" err="1"/>
              <a:t>κλπ</a:t>
            </a:r>
            <a:endParaRPr lang="en-GB" sz="2400" dirty="0"/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9A59379-67A0-7116-DCAF-B10E4F6689DC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321779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7020B-B68D-113F-E8B2-481A679B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43EEF3B-C7E3-A625-F898-78BCE6C23E66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91096DF-98DC-4073-4B27-3085972AA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τριών διαστάσεων - Δήλωση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4CFEC5F-3A89-F6E4-3790-9D5BB3AE6AA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A41ED-895F-8AFC-6309-18C61332E28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B59B-DF3D-AEFA-2C86-7E4B3E04176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6C76596-1523-E4E1-952C-7D373874299D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8FF53-4704-5039-C3D2-F8A0F6AF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786" y="966078"/>
            <a:ext cx="11827545" cy="1027655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Οργάνωση της πληροφορίας της μέσης θερμοκρασίας κάθε μέρας για 10 έτη</a:t>
            </a:r>
            <a:r>
              <a:rPr lang="en-US" altLang="el-GR" sz="280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με πρώτο το 2010.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056F-FFEC-F814-32DD-4C8B15EA4CBB}"/>
              </a:ext>
            </a:extLst>
          </p:cNvPr>
          <p:cNvSpPr txBox="1"/>
          <p:nvPr/>
        </p:nvSpPr>
        <p:spPr>
          <a:xfrm>
            <a:off x="554419" y="2988548"/>
            <a:ext cx="9610452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GB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temperature</a:t>
            </a:r>
            <a:r>
              <a:rPr lang="en-GB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[31];</a:t>
            </a:r>
            <a:endParaRPr lang="en-GB" altLang="el-GR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CF357-95D9-E797-F080-555E5E65C01A}"/>
              </a:ext>
            </a:extLst>
          </p:cNvPr>
          <p:cNvSpPr txBox="1"/>
          <p:nvPr/>
        </p:nvSpPr>
        <p:spPr>
          <a:xfrm>
            <a:off x="554419" y="4108507"/>
            <a:ext cx="9622430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GB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temperature</a:t>
            </a:r>
            <a:r>
              <a:rPr lang="el-GR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l-GR" altLang="el-GR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12</a:t>
            </a:r>
            <a:r>
              <a:rPr lang="el-GR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r>
              <a:rPr lang="en-GB" altLang="el-G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[31];</a:t>
            </a:r>
            <a:endParaRPr lang="en-GB" altLang="el-GR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145ED-5BB1-EBAF-207D-857363D3AFB2}"/>
              </a:ext>
            </a:extLst>
          </p:cNvPr>
          <p:cNvSpPr txBox="1"/>
          <p:nvPr/>
        </p:nvSpPr>
        <p:spPr>
          <a:xfrm>
            <a:off x="542441" y="5695641"/>
            <a:ext cx="9622430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l-GR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temperature</a:t>
            </a:r>
            <a:r>
              <a:rPr lang="el-GR" altLang="el-GR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[10][</a:t>
            </a:r>
            <a:r>
              <a:rPr lang="el-GR" altLang="el-GR" sz="3200" dirty="0">
                <a:solidFill>
                  <a:srgbClr val="C00000"/>
                </a:solidFill>
                <a:latin typeface="Courier New" panose="02070309020205020404" pitchFamily="49" charset="0"/>
              </a:rPr>
              <a:t>12</a:t>
            </a:r>
            <a:r>
              <a:rPr lang="el-GR" altLang="el-GR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]</a:t>
            </a:r>
            <a:r>
              <a:rPr lang="en-GB" altLang="el-GR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[</a:t>
            </a:r>
            <a:r>
              <a:rPr lang="en-GB" altLang="el-GR" sz="3200" dirty="0">
                <a:solidFill>
                  <a:srgbClr val="C00000"/>
                </a:solidFill>
                <a:latin typeface="Courier New" panose="02070309020205020404" pitchFamily="49" charset="0"/>
              </a:rPr>
              <a:t>31</a:t>
            </a:r>
            <a:r>
              <a:rPr lang="en-GB" altLang="el-GR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];</a:t>
            </a:r>
            <a:endParaRPr lang="en-GB" altLang="el-GR" sz="2400" b="1" dirty="0">
              <a:solidFill>
                <a:srgbClr val="C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7A6FE6-FE52-E2CE-C437-61D5C43DB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786" y="2300418"/>
            <a:ext cx="10224655" cy="58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Για ένα μήνα</a:t>
            </a:r>
            <a:endParaRPr lang="en-US" altLang="el-GR" sz="280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803651A-2959-0048-2626-C572D3B5C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06" y="3525888"/>
            <a:ext cx="10224655" cy="601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Για τους </a:t>
            </a:r>
            <a:r>
              <a:rPr lang="el-GR" altLang="el-GR" sz="2800" b="1" dirty="0">
                <a:solidFill>
                  <a:srgbClr val="FF0000"/>
                </a:solidFill>
                <a:latin typeface="Tahoma"/>
              </a:rPr>
              <a:t>12</a:t>
            </a: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 μήνες του έτους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704943A-8E58-BF2F-0D76-AA2485FA2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28" y="4877081"/>
            <a:ext cx="10224655" cy="71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Για τα </a:t>
            </a:r>
            <a:r>
              <a:rPr lang="el-GR" altLang="el-GR" sz="2800" b="1" dirty="0">
                <a:solidFill>
                  <a:srgbClr val="FF0000"/>
                </a:solidFill>
                <a:latin typeface="Tahoma"/>
              </a:rPr>
              <a:t>10</a:t>
            </a:r>
            <a:r>
              <a:rPr lang="el-GR" altLang="el-GR" sz="2800" dirty="0">
                <a:solidFill>
                  <a:srgbClr val="000000"/>
                </a:solidFill>
                <a:latin typeface="Tahoma"/>
              </a:rPr>
              <a:t> έτη</a:t>
            </a:r>
          </a:p>
        </p:txBody>
      </p:sp>
    </p:spTree>
    <p:extLst>
      <p:ext uri="{BB962C8B-B14F-4D97-AF65-F5344CB8AC3E}">
        <p14:creationId xmlns:p14="http://schemas.microsoft.com/office/powerpoint/2010/main" val="262022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 animBg="1"/>
      <p:bldP spid="9" grpId="0" animBg="1"/>
      <p:bldP spid="13" grpId="0" animBg="1"/>
      <p:bldP spid="7" grpId="0" build="p" autoUpdateAnimBg="0"/>
      <p:bldP spid="12" grpId="0" build="p" autoUpdateAnimBg="0"/>
      <p:bldP spid="14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77305-BE07-D337-C7B1-069050F8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22505A7-E234-7CDB-EBE7-245881ABADDE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9CADDED-916D-E64C-F860-57FC9B2E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τριών διαστάσεων - Αναφορά σε στοιχεία του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99A1718-A0DC-8FFA-2311-5673EE35D77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B410A-D603-1353-FAF0-B2C6F22F78C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CFC243-D9A0-26EE-5A38-3E5F96AFFAB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FDCC806-7173-69F0-946F-0D35E4789607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4A516-1713-18DF-FBD4-3A6C58362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775429"/>
            <a:ext cx="11485418" cy="62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l-GR" altLang="el-GR" dirty="0">
                <a:solidFill>
                  <a:srgbClr val="000000"/>
                </a:solidFill>
                <a:latin typeface="Tahoma"/>
              </a:rPr>
              <a:t>Μέση θερμοκρασία της 6</a:t>
            </a:r>
            <a:r>
              <a:rPr lang="el-GR" altLang="el-GR" baseline="30000" dirty="0">
                <a:solidFill>
                  <a:srgbClr val="000000"/>
                </a:solidFill>
                <a:latin typeface="Tahoma"/>
              </a:rPr>
              <a:t>ης</a:t>
            </a:r>
            <a:r>
              <a:rPr lang="el-GR" altLang="el-GR" dirty="0">
                <a:solidFill>
                  <a:srgbClr val="000000"/>
                </a:solidFill>
                <a:latin typeface="Tahoma"/>
              </a:rPr>
              <a:t> Φεβρουαρίου του πρώτου έτους</a:t>
            </a:r>
            <a:endParaRPr lang="en-US" altLang="el-GR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14D21-E2C0-58FC-E632-C7278B7A91A6}"/>
              </a:ext>
            </a:extLst>
          </p:cNvPr>
          <p:cNvSpPr txBox="1"/>
          <p:nvPr/>
        </p:nvSpPr>
        <p:spPr>
          <a:xfrm>
            <a:off x="568037" y="2616143"/>
            <a:ext cx="8051514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GB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 float 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temperature</a:t>
            </a: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[2][1]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GB" altLang="el-GR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AB2D5-50D7-AE1E-C817-3EC32C5186FB}"/>
              </a:ext>
            </a:extLst>
          </p:cNvPr>
          <p:cNvSpPr txBox="1"/>
          <p:nvPr/>
        </p:nvSpPr>
        <p:spPr>
          <a:xfrm>
            <a:off x="568036" y="4816660"/>
            <a:ext cx="820400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GB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temperature</a:t>
            </a: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[4]</a:t>
            </a:r>
            <a:r>
              <a:rPr lang="en-GB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GB" altLang="el-GR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D4DF2-57B2-2374-25E4-111AABC80ACE}"/>
              </a:ext>
            </a:extLst>
          </p:cNvPr>
          <p:cNvSpPr txBox="1"/>
          <p:nvPr/>
        </p:nvSpPr>
        <p:spPr>
          <a:xfrm>
            <a:off x="601003" y="1403068"/>
            <a:ext cx="801854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GB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float </a:t>
            </a:r>
            <a:r>
              <a:rPr lang="en-US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temperature</a:t>
            </a: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[0][1]</a:t>
            </a:r>
            <a:r>
              <a:rPr lang="en-GB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l-GR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5</a:t>
            </a:r>
            <a:r>
              <a:rPr lang="en-GB" altLang="el-GR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  <a:endParaRPr lang="en-GB" altLang="el-GR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434354-397B-31E0-6A13-E7833CC59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03" y="3294604"/>
            <a:ext cx="11056833" cy="7947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7373D5-5190-A595-0367-6A3AF3252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39" y="5419179"/>
            <a:ext cx="11195805" cy="870785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FB691827-4F18-D02C-26D4-C48629A27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980633"/>
            <a:ext cx="11485418" cy="672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l-GR" altLang="el-GR" dirty="0">
                <a:solidFill>
                  <a:srgbClr val="000000"/>
                </a:solidFill>
                <a:latin typeface="Tahoma"/>
              </a:rPr>
              <a:t>Μέσες θερμοκρασίες Φεβρουαρίου του τρίτου έτους</a:t>
            </a:r>
            <a:endParaRPr lang="en-US" altLang="el-GR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EFE5E51-87E9-4DF7-FF80-6BC37618E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46858"/>
            <a:ext cx="11485418" cy="928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rgbClr val="3333CC"/>
              </a:buClr>
            </a:pPr>
            <a:r>
              <a:rPr lang="el-GR" altLang="el-GR" dirty="0">
                <a:solidFill>
                  <a:srgbClr val="000000"/>
                </a:solidFill>
                <a:latin typeface="Tahoma"/>
              </a:rPr>
              <a:t>Μέσες θερμοκρασίες του πέμπτου έτους</a:t>
            </a:r>
            <a:endParaRPr lang="en-US" altLang="el-GR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421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 animBg="1"/>
      <p:bldP spid="7" grpId="0" animBg="1"/>
      <p:bldP spid="9" grpId="0" animBg="1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FA85-E5C8-350B-B7A1-11D96163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C690FD3-EA26-4053-372B-4BAD9DC63285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431067F-A21F-DCC2-26A3-A6E31DEA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Πίνακας τριών διαστάσεων - Αναφορά σε στοιχεία του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4672693-3296-0E79-B30B-DA61903EDEF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45D69-F553-EE35-8468-8B51055871E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EE66BF-C3C8-F947-A5FF-5A8376FFA1B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C1A2CD5-6628-873E-7D1E-59558849C3A1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41AD5-6EA6-50BE-D295-74DCDAA89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908050"/>
            <a:ext cx="11418929" cy="531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7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EE09-F29B-C94E-2819-BFB7D63C8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EB6DB2-3722-9AA5-C344-8573B703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AverageTempHandling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63D77FF-F416-B2CD-84A4-3048C29239E0}"/>
              </a:ext>
            </a:extLst>
          </p:cNvPr>
          <p:cNvSpPr/>
          <p:nvPr/>
        </p:nvSpPr>
        <p:spPr>
          <a:xfrm>
            <a:off x="5534691" y="1927159"/>
            <a:ext cx="5633357" cy="300368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Αναπτύξτε ένα πρόγραμμα</a:t>
            </a:r>
          </a:p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για την αποθήκευση της </a:t>
            </a:r>
          </a:p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πληροφορίας της μέσης </a:t>
            </a:r>
          </a:p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θερμοκρασίας κάθε μέρας </a:t>
            </a:r>
          </a:p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για 20 έτη.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126610-54C9-E228-DA2B-7381795B7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24" y="1927158"/>
            <a:ext cx="4079639" cy="300368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8DA431-E319-52F2-5748-FC6BD7266B6E}"/>
              </a:ext>
            </a:extLst>
          </p:cNvPr>
          <p:cNvGrpSpPr/>
          <p:nvPr/>
        </p:nvGrpSpPr>
        <p:grpSpPr>
          <a:xfrm>
            <a:off x="-1" y="6559909"/>
            <a:ext cx="12192001" cy="296742"/>
            <a:chOff x="-1" y="6559909"/>
            <a:chExt cx="12192001" cy="296742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6F34E7E0-1B72-9AE8-7174-DD4C5EEC148C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2AA2832E-130C-7FEC-64BF-AF0D2A3259A3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4B6691-BA94-69B5-FAB5-BB7E4CA116A6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6D610BF-45CF-17F0-CA34-C8458E16FEB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</p:spTree>
    <p:extLst>
      <p:ext uri="{BB962C8B-B14F-4D97-AF65-F5344CB8AC3E}">
        <p14:creationId xmlns:p14="http://schemas.microsoft.com/office/powerpoint/2010/main" val="40731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5F9A3-2BFB-C0D7-113A-1F7D9EB2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BA0D9FC-49B3-57E5-C65B-0B1EA0B0FBAA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B516649-55EA-B06F-9A78-3BD7FBFA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Πιθανή μορφή της εξόδου του προγράμματος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EFD013C-9293-5E05-4E53-3FB6C1FE468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D08C4-F8F9-7635-19B6-CC3625FC757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7FF50A-67B4-1AA0-A6CB-6FCF26DFB99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C674383-6427-2987-B64D-04601753279D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68DF3-302E-37B2-A7E9-4A56E67B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78" y="918782"/>
            <a:ext cx="8091791" cy="54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4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5D85-B67F-A6DC-3604-B62C3CE0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5E225732-CEB2-6B72-218F-D13B1465CA4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3A76E01-F1B0-E83D-86B0-9AD5C9C9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Συμβολοσειρά  ως πίνακας χαρακτήρων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3638001-107F-7DB3-928B-D5A31AE181C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27A21B-05C0-06EC-80B6-1DE17C1486D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98CA4-64BE-0504-A24E-9AD94E9A92D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8B6D6EE-7345-61B1-EA13-8918F7626CFB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Πίνακες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9F87C5-22E0-5925-9271-20ED090E3C98}"/>
              </a:ext>
            </a:extLst>
          </p:cNvPr>
          <p:cNvGrpSpPr/>
          <p:nvPr/>
        </p:nvGrpSpPr>
        <p:grpSpPr>
          <a:xfrm>
            <a:off x="5310628" y="3040077"/>
            <a:ext cx="3444538" cy="3385495"/>
            <a:chOff x="5310628" y="3040077"/>
            <a:chExt cx="3444538" cy="33854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206192-193A-FC65-5663-D21B8DA94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0628" y="3040077"/>
              <a:ext cx="3444538" cy="267485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2B25C1-356B-1294-0271-FB0A8AF7BB1B}"/>
                </a:ext>
              </a:extLst>
            </p:cNvPr>
            <p:cNvSpPr txBox="1"/>
            <p:nvPr/>
          </p:nvSpPr>
          <p:spPr>
            <a:xfrm>
              <a:off x="5807968" y="5466305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….</a:t>
              </a:r>
              <a:endParaRPr lang="el-GR" sz="24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942486-1845-6D1A-279C-DDC1B3F16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5156" y="6044539"/>
              <a:ext cx="3093988" cy="381033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A7C169F-D1F4-B8F1-E514-9BCAB587DEA5}"/>
              </a:ext>
            </a:extLst>
          </p:cNvPr>
          <p:cNvSpPr txBox="1"/>
          <p:nvPr/>
        </p:nvSpPr>
        <p:spPr>
          <a:xfrm>
            <a:off x="457200" y="1697887"/>
            <a:ext cx="8159081" cy="4062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name[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20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{‘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e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l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,’l’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,’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o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’,’\0’};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EF853-A98B-39A5-BCA3-4740EAC0AE81}"/>
              </a:ext>
            </a:extLst>
          </p:cNvPr>
          <p:cNvSpPr txBox="1"/>
          <p:nvPr/>
        </p:nvSpPr>
        <p:spPr>
          <a:xfrm>
            <a:off x="457200" y="2294783"/>
            <a:ext cx="8159081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name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[] =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{‘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e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l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,’l’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,’</a:t>
            </a:r>
            <a:r>
              <a:rPr lang="en-US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o</a:t>
            </a:r>
            <a:r>
              <a:rPr lang="en-GB" altLang="el-GR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’,’\0’};</a:t>
            </a:r>
            <a:endParaRPr lang="el-GR" altLang="el-GR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char </a:t>
            </a:r>
            <a:r>
              <a:rPr lang="en-US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name</a:t>
            </a:r>
            <a:r>
              <a:rPr lang="en-GB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[] = “</a:t>
            </a:r>
            <a:r>
              <a:rPr lang="en-US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hello</a:t>
            </a:r>
            <a:r>
              <a:rPr lang="en-GB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”;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49C2375-F976-978D-B3C0-B7BF87BB5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651" y="1701304"/>
            <a:ext cx="1363192" cy="3455392"/>
          </a:xfrm>
          <a:prstGeom prst="curvedLeftArrow">
            <a:avLst>
              <a:gd name="adj1" fmla="val 19845"/>
              <a:gd name="adj2" fmla="val 83200"/>
              <a:gd name="adj3" fmla="val 33333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1180C5-A4D5-1FA1-FCF8-235C8F3AE222}"/>
              </a:ext>
            </a:extLst>
          </p:cNvPr>
          <p:cNvSpPr txBox="1"/>
          <p:nvPr/>
        </p:nvSpPr>
        <p:spPr>
          <a:xfrm>
            <a:off x="139095" y="980198"/>
            <a:ext cx="11912235" cy="52322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Η 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C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αντιμετωπίζει τη Συμβολοσειρά ως πίνακα χαρακτήρων.</a:t>
            </a: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3AFE42F9-79FB-B61E-6B3A-75124EF09619}"/>
              </a:ext>
            </a:extLst>
          </p:cNvPr>
          <p:cNvSpPr/>
          <p:nvPr/>
        </p:nvSpPr>
        <p:spPr>
          <a:xfrm>
            <a:off x="623455" y="4095002"/>
            <a:ext cx="4520919" cy="1949537"/>
          </a:xfrm>
          <a:prstGeom prst="borderCallout2">
            <a:avLst>
              <a:gd name="adj1" fmla="val -438"/>
              <a:gd name="adj2" fmla="val 49281"/>
              <a:gd name="adj3" fmla="val -31707"/>
              <a:gd name="adj4" fmla="val 97640"/>
              <a:gd name="adj5" fmla="val -60900"/>
              <a:gd name="adj6" fmla="val 87252"/>
            </a:avLst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chemeClr val="bg1"/>
                </a:solidFill>
                <a:latin typeface="Tahoma" panose="020B0604030504040204" pitchFamily="34" charset="0"/>
              </a:rPr>
              <a:t>Δεσμεύει χώρο για τον αριθμό των χαρακτήρων συν ένα για τον χαρακτήρα ‘\0’.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chemeClr val="bg1"/>
                </a:solidFill>
                <a:latin typeface="Tahoma" panose="020B0604030504040204" pitchFamily="34" charset="0"/>
              </a:rPr>
              <a:t>Στην περίπτωση μας 6 (5+1).</a:t>
            </a:r>
          </a:p>
        </p:txBody>
      </p:sp>
    </p:spTree>
    <p:extLst>
      <p:ext uri="{BB962C8B-B14F-4D97-AF65-F5344CB8AC3E}">
        <p14:creationId xmlns:p14="http://schemas.microsoft.com/office/powerpoint/2010/main" val="308399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</p:bldLst>
  </p:timing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eTemplate.pptx" id="{A31108D6-E4B0-4190-AA76-B9903461DCB5}" vid="{4D417C6B-F843-4B20-8F47-97C82AEC1391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eTemplate.pptx" id="{A31108D6-E4B0-4190-AA76-B9903461DCB5}" vid="{998B9B14-FEEA-4C16-BB17-7DDED9D565B5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I2PModuleTemplate</Template>
  <TotalTime>653</TotalTime>
  <Words>1053</Words>
  <Application>Microsoft Office PowerPoint</Application>
  <PresentationFormat>Widescreen</PresentationFormat>
  <Paragraphs>179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Bahnschrift</vt:lpstr>
      <vt:lpstr>Bahnschrift Light</vt:lpstr>
      <vt:lpstr>Calibri</vt:lpstr>
      <vt:lpstr>Calibri Light</vt:lpstr>
      <vt:lpstr>Courier New</vt:lpstr>
      <vt:lpstr>Tahoma</vt:lpstr>
      <vt:lpstr>Times New Roman</vt:lpstr>
      <vt:lpstr>Wingdings</vt:lpstr>
      <vt:lpstr>Προσαρμοσμένη σχεδίαση</vt:lpstr>
      <vt:lpstr>Θέμα του Office</vt:lpstr>
      <vt:lpstr>Worksheet</vt:lpstr>
      <vt:lpstr>PowerPoint Presentation</vt:lpstr>
      <vt:lpstr>Οργάνωση Διάλεξης</vt:lpstr>
      <vt:lpstr>Ο τύπος του Πίνακα</vt:lpstr>
      <vt:lpstr>Δήλωση Πίνακα</vt:lpstr>
      <vt:lpstr>Αναφορά σε στοιχείο Πίνακα</vt:lpstr>
      <vt:lpstr>Αρχικοποίηση Πίνακα</vt:lpstr>
      <vt:lpstr>Πίνακας ως όρισμα συνάρτησης</vt:lpstr>
      <vt:lpstr>Δισδιάστατος Πίνακας - Δήλωση</vt:lpstr>
      <vt:lpstr>Δισδιάστατος Πίνακας - Αναφορά σε στοιχεία του</vt:lpstr>
      <vt:lpstr>Hands-on  (StudentsAndCourses)</vt:lpstr>
      <vt:lpstr>Πίνακας τριών διαστάσεων - Δήλωση</vt:lpstr>
      <vt:lpstr>Πίνακας τριών διαστάσεων - Αναφορά σε στοιχεία του</vt:lpstr>
      <vt:lpstr>Πίνακας τριών διαστάσεων - Αναφορά σε στοιχεία του</vt:lpstr>
      <vt:lpstr>Hands-on  (AverageTempHandling)</vt:lpstr>
      <vt:lpstr>Πιθανή μορφή της εξόδου του προγράμματος</vt:lpstr>
      <vt:lpstr>Η Συμβολοσειρά  ως πίνακας χαρακτήρων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Kleanthis Thramboulidis</dc:creator>
  <cp:lastModifiedBy>Kleanthis Thramboulidis</cp:lastModifiedBy>
  <cp:revision>7</cp:revision>
  <cp:lastPrinted>2023-02-24T15:57:04Z</cp:lastPrinted>
  <dcterms:created xsi:type="dcterms:W3CDTF">2025-09-27T09:17:58Z</dcterms:created>
  <dcterms:modified xsi:type="dcterms:W3CDTF">2025-10-14T19:29:31Z</dcterms:modified>
</cp:coreProperties>
</file>