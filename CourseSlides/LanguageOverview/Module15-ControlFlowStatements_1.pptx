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7"/>
  </p:notesMasterIdLst>
  <p:handoutMasterIdLst>
    <p:handoutMasterId r:id="rId38"/>
  </p:handoutMasterIdLst>
  <p:sldIdLst>
    <p:sldId id="262" r:id="rId2"/>
    <p:sldId id="309" r:id="rId3"/>
    <p:sldId id="270" r:id="rId4"/>
    <p:sldId id="269" r:id="rId5"/>
    <p:sldId id="271" r:id="rId6"/>
    <p:sldId id="310" r:id="rId7"/>
    <p:sldId id="311" r:id="rId8"/>
    <p:sldId id="277" r:id="rId9"/>
    <p:sldId id="312" r:id="rId10"/>
    <p:sldId id="279" r:id="rId11"/>
    <p:sldId id="280" r:id="rId12"/>
    <p:sldId id="281" r:id="rId13"/>
    <p:sldId id="282" r:id="rId14"/>
    <p:sldId id="283" r:id="rId15"/>
    <p:sldId id="285" r:id="rId16"/>
    <p:sldId id="286" r:id="rId17"/>
    <p:sldId id="287" r:id="rId18"/>
    <p:sldId id="300" r:id="rId19"/>
    <p:sldId id="301" r:id="rId20"/>
    <p:sldId id="302" r:id="rId21"/>
    <p:sldId id="303" r:id="rId22"/>
    <p:sldId id="290" r:id="rId23"/>
    <p:sldId id="292" r:id="rId24"/>
    <p:sldId id="293" r:id="rId25"/>
    <p:sldId id="294" r:id="rId26"/>
    <p:sldId id="313" r:id="rId27"/>
    <p:sldId id="295" r:id="rId28"/>
    <p:sldId id="296" r:id="rId29"/>
    <p:sldId id="304" r:id="rId30"/>
    <p:sldId id="297" r:id="rId31"/>
    <p:sldId id="305" r:id="rId32"/>
    <p:sldId id="306" r:id="rId33"/>
    <p:sldId id="298" r:id="rId34"/>
    <p:sldId id="307" r:id="rId35"/>
    <p:sldId id="308" r:id="rId36"/>
  </p:sldIdLst>
  <p:sldSz cx="9144000" cy="6858000" type="screen4x3"/>
  <p:notesSz cx="7099300" cy="10234613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ED07"/>
    <a:srgbClr val="00FF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>
      <p:cViewPr varScale="1">
        <p:scale>
          <a:sx n="76" d="100"/>
          <a:sy n="76" d="100"/>
        </p:scale>
        <p:origin x="123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1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64EFE260-8002-79E7-93FD-90A062D70F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D8845FA6-B012-9A1C-B196-5D5D7D7DDA9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9876" name="Rectangle 4">
            <a:extLst>
              <a:ext uri="{FF2B5EF4-FFF2-40B4-BE49-F238E27FC236}">
                <a16:creationId xmlns:a16="http://schemas.microsoft.com/office/drawing/2014/main" id="{40956A7E-7E8B-A6A4-81A9-4F456C3D8BC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9877" name="Rectangle 5">
            <a:extLst>
              <a:ext uri="{FF2B5EF4-FFF2-40B4-BE49-F238E27FC236}">
                <a16:creationId xmlns:a16="http://schemas.microsoft.com/office/drawing/2014/main" id="{320B824F-8010-AA86-2872-453FEF4E70E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232F0D48-115C-4A44-B414-5092C4ED2711}" type="slidenum">
              <a:rPr lang="en-GB" altLang="el-GR"/>
              <a:pPr/>
              <a:t>‹#›</a:t>
            </a:fld>
            <a:endParaRPr lang="en-GB" altLang="el-G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>
            <a:extLst>
              <a:ext uri="{FF2B5EF4-FFF2-40B4-BE49-F238E27FC236}">
                <a16:creationId xmlns:a16="http://schemas.microsoft.com/office/drawing/2014/main" id="{653BA90E-67C3-790D-3782-DDA431CC4F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l" defTabSz="990600"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3" name="Rectangle 1027">
            <a:extLst>
              <a:ext uri="{FF2B5EF4-FFF2-40B4-BE49-F238E27FC236}">
                <a16:creationId xmlns:a16="http://schemas.microsoft.com/office/drawing/2014/main" id="{C5F87DF5-A0F6-9109-2AED-0F347191231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5060" name="Rectangle 1028">
            <a:extLst>
              <a:ext uri="{FF2B5EF4-FFF2-40B4-BE49-F238E27FC236}">
                <a16:creationId xmlns:a16="http://schemas.microsoft.com/office/drawing/2014/main" id="{C513F65C-500B-9BDA-892C-711BBD661D3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5" name="Rectangle 1029">
            <a:extLst>
              <a:ext uri="{FF2B5EF4-FFF2-40B4-BE49-F238E27FC236}">
                <a16:creationId xmlns:a16="http://schemas.microsoft.com/office/drawing/2014/main" id="{7BFF7AD8-1E6D-44AA-2F5B-6389534CCF8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6086" name="Rectangle 1030">
            <a:extLst>
              <a:ext uri="{FF2B5EF4-FFF2-40B4-BE49-F238E27FC236}">
                <a16:creationId xmlns:a16="http://schemas.microsoft.com/office/drawing/2014/main" id="{11DC41F5-F4F1-936D-663B-116D6078259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l" defTabSz="990600">
              <a:defRPr sz="1300" smtClean="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6087" name="Rectangle 1031">
            <a:extLst>
              <a:ext uri="{FF2B5EF4-FFF2-40B4-BE49-F238E27FC236}">
                <a16:creationId xmlns:a16="http://schemas.microsoft.com/office/drawing/2014/main" id="{F50E460A-FCA8-6FE6-17B9-D1182E22F3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EAB83A70-5898-4959-B531-485056563234}" type="slidenum">
              <a:rPr lang="en-GB" altLang="el-GR"/>
              <a:pPr/>
              <a:t>‹#›</a:t>
            </a:fld>
            <a:endParaRPr lang="en-GB" alt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D89646-4F35-49C2-BD28-89287C170EC3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38972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031">
            <a:extLst>
              <a:ext uri="{FF2B5EF4-FFF2-40B4-BE49-F238E27FC236}">
                <a16:creationId xmlns:a16="http://schemas.microsoft.com/office/drawing/2014/main" id="{8202DF90-D70C-4260-D1B9-2915813856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EF3D03C-5EE9-410F-9BA6-2A84DBCE20BD}" type="slidenum">
              <a:rPr lang="en-GB" altLang="el-GR" sz="1300"/>
              <a:pPr eaLnBrk="1" hangingPunct="1"/>
              <a:t>2</a:t>
            </a:fld>
            <a:endParaRPr lang="en-GB" altLang="el-GR" sz="13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1529ACF-5CD1-1252-D28F-C5BA691C28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90886478-5BA4-624F-F5E3-F71CC73BDC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031">
            <a:extLst>
              <a:ext uri="{FF2B5EF4-FFF2-40B4-BE49-F238E27FC236}">
                <a16:creationId xmlns:a16="http://schemas.microsoft.com/office/drawing/2014/main" id="{B96950D0-F6A7-EC74-ABA1-A811FAAF4E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F61222D-A39D-415D-A3E0-BB4FC640DB01}" type="slidenum">
              <a:rPr lang="en-GB" altLang="el-GR" sz="1300"/>
              <a:pPr eaLnBrk="1" hangingPunct="1"/>
              <a:t>3</a:t>
            </a:fld>
            <a:endParaRPr lang="en-GB" altLang="el-GR" sz="13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44E6AAF6-DED4-B733-9018-FCCE1403E1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0A45A566-3660-CC00-4B06-EB74339575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031">
            <a:extLst>
              <a:ext uri="{FF2B5EF4-FFF2-40B4-BE49-F238E27FC236}">
                <a16:creationId xmlns:a16="http://schemas.microsoft.com/office/drawing/2014/main" id="{02AFF279-01B8-857D-0739-0BEEAF972B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F0D502-700A-4801-8BBA-46C904A70BB3}" type="slidenum">
              <a:rPr lang="en-GB" altLang="el-GR" sz="1300"/>
              <a:pPr eaLnBrk="1" hangingPunct="1"/>
              <a:t>4</a:t>
            </a:fld>
            <a:endParaRPr lang="en-GB" altLang="el-GR" sz="13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A145D332-CF1F-E165-8247-0329BA5CE5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CC66C915-6A42-B98E-2FA3-CAA8800A59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31">
            <a:extLst>
              <a:ext uri="{FF2B5EF4-FFF2-40B4-BE49-F238E27FC236}">
                <a16:creationId xmlns:a16="http://schemas.microsoft.com/office/drawing/2014/main" id="{65F12EC8-31C5-0507-A265-3258FB852F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FCC6696-4FC4-4D6A-9835-557D8C03FC9E}" type="slidenum">
              <a:rPr lang="en-GB" altLang="el-GR" sz="1300"/>
              <a:pPr eaLnBrk="1" hangingPunct="1"/>
              <a:t>5</a:t>
            </a:fld>
            <a:endParaRPr lang="en-GB" altLang="el-GR" sz="13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B5409B39-BC33-35B7-0251-0799AADF8D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DDAC0528-2C09-F6EC-E64D-822FE6BB63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31">
            <a:extLst>
              <a:ext uri="{FF2B5EF4-FFF2-40B4-BE49-F238E27FC236}">
                <a16:creationId xmlns:a16="http://schemas.microsoft.com/office/drawing/2014/main" id="{AA53B0FD-B205-8451-A076-DC61D9DEEF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11E11B3-44B7-4E41-83C1-97B5D3569D88}" type="slidenum">
              <a:rPr lang="en-GB" altLang="el-GR" sz="1300"/>
              <a:pPr eaLnBrk="1" hangingPunct="1"/>
              <a:t>6</a:t>
            </a:fld>
            <a:endParaRPr lang="en-GB" altLang="el-GR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DBF7712E-6EB4-6033-46FD-36EFECB95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CDE23603-1F6F-082B-0C04-F12BEDE9A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031">
            <a:extLst>
              <a:ext uri="{FF2B5EF4-FFF2-40B4-BE49-F238E27FC236}">
                <a16:creationId xmlns:a16="http://schemas.microsoft.com/office/drawing/2014/main" id="{CBCE43F6-823E-94CF-0B0A-C22A6EF277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0138E79-9ADB-45CF-9C0E-45FBFA6EC073}" type="slidenum">
              <a:rPr lang="en-GB" altLang="el-GR" sz="1300"/>
              <a:pPr eaLnBrk="1" hangingPunct="1"/>
              <a:t>7</a:t>
            </a:fld>
            <a:endParaRPr lang="en-GB" altLang="el-GR" sz="13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2567F7B5-E6FA-6757-0C8D-B51D3BA34A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87CCF3D0-8AE2-4727-4134-BEA73E4CE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31">
            <a:extLst>
              <a:ext uri="{FF2B5EF4-FFF2-40B4-BE49-F238E27FC236}">
                <a16:creationId xmlns:a16="http://schemas.microsoft.com/office/drawing/2014/main" id="{B9E3F62B-83D1-2268-6978-0F093B43E2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4856839-2624-45A4-805A-B82E3A520247}" type="slidenum">
              <a:rPr lang="en-GB" altLang="el-GR" sz="1300"/>
              <a:pPr eaLnBrk="1" hangingPunct="1"/>
              <a:t>8</a:t>
            </a:fld>
            <a:endParaRPr lang="en-GB" altLang="el-GR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D61B0A96-7615-96D7-5EF3-0A1B9070BD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AD6E3533-B9A7-8D9C-C197-5193C55D6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31">
            <a:extLst>
              <a:ext uri="{FF2B5EF4-FFF2-40B4-BE49-F238E27FC236}">
                <a16:creationId xmlns:a16="http://schemas.microsoft.com/office/drawing/2014/main" id="{2F458CC0-77FC-315F-3334-A25267DF9C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FC438D9B-7427-440F-80CD-B4B844B4292F}" type="slidenum">
              <a:rPr lang="en-GB" altLang="el-GR" sz="1300"/>
              <a:pPr eaLnBrk="1" hangingPunct="1"/>
              <a:t>9</a:t>
            </a:fld>
            <a:endParaRPr lang="en-GB" altLang="el-GR" sz="13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C4A024CC-A542-06EE-A9FC-B52D537ED8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CAC04CE6-910E-A598-6F59-37AA4A4F41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31">
            <a:extLst>
              <a:ext uri="{FF2B5EF4-FFF2-40B4-BE49-F238E27FC236}">
                <a16:creationId xmlns:a16="http://schemas.microsoft.com/office/drawing/2014/main" id="{C637E2BD-E047-EF8A-EB07-6F9D1EC808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8C7BF4A-1782-481B-840E-B9B3ABE66BBC}" type="slidenum">
              <a:rPr lang="en-GB" altLang="el-GR" sz="1300"/>
              <a:pPr eaLnBrk="1" hangingPunct="1"/>
              <a:t>10</a:t>
            </a:fld>
            <a:endParaRPr lang="en-GB" altLang="el-GR" sz="13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879E669A-765C-61E8-4D4B-42C9DB6B6B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BC21F7F0-48E2-DEAE-555D-215CFFE98C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31">
            <a:extLst>
              <a:ext uri="{FF2B5EF4-FFF2-40B4-BE49-F238E27FC236}">
                <a16:creationId xmlns:a16="http://schemas.microsoft.com/office/drawing/2014/main" id="{D3A5F94E-0E2B-773E-C5FE-D4962B9E97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CF86516-581A-4012-AAA9-C3637308118D}" type="slidenum">
              <a:rPr lang="en-GB" altLang="el-GR" sz="1300"/>
              <a:pPr eaLnBrk="1" hangingPunct="1"/>
              <a:t>11</a:t>
            </a:fld>
            <a:endParaRPr lang="en-GB" altLang="el-GR" sz="13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EE257D17-EC1C-067D-77BB-6BFA8AC2F1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EF57BA09-C7AA-EC67-92A9-206ADC8E2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31">
            <a:extLst>
              <a:ext uri="{FF2B5EF4-FFF2-40B4-BE49-F238E27FC236}">
                <a16:creationId xmlns:a16="http://schemas.microsoft.com/office/drawing/2014/main" id="{B3347436-17A9-E44B-8714-F28FDBAE02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A015992C-6315-43F1-B7E1-0AA0BA9F1AFF}" type="slidenum">
              <a:rPr lang="en-GB" altLang="el-GR" sz="1300"/>
              <a:pPr eaLnBrk="1" hangingPunct="1"/>
              <a:t>12</a:t>
            </a:fld>
            <a:endParaRPr lang="en-GB" altLang="el-GR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5656B607-3539-2885-850B-F23A3D887E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EA25DFF2-8D19-E6EE-B7EB-85246E7569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31">
            <a:extLst>
              <a:ext uri="{FF2B5EF4-FFF2-40B4-BE49-F238E27FC236}">
                <a16:creationId xmlns:a16="http://schemas.microsoft.com/office/drawing/2014/main" id="{134CBECB-6F17-6148-14ED-A32B1524C3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C0F40362-0AA6-4AB0-B07D-F61CBD9F4494}" type="slidenum">
              <a:rPr lang="en-GB" altLang="el-GR" sz="1300"/>
              <a:pPr eaLnBrk="1" hangingPunct="1"/>
              <a:t>13</a:t>
            </a:fld>
            <a:endParaRPr lang="en-GB" altLang="el-GR" sz="13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C5CCEE64-06EA-A9C1-9F42-4A4199D4F8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2106DA4C-E9F3-3E0E-9DC3-11A17B54E9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31">
            <a:extLst>
              <a:ext uri="{FF2B5EF4-FFF2-40B4-BE49-F238E27FC236}">
                <a16:creationId xmlns:a16="http://schemas.microsoft.com/office/drawing/2014/main" id="{FDF5857D-3410-2E28-FE99-FCB9A106FD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BE3EDC8-52FC-4ACE-8846-4BB8C35B913A}" type="slidenum">
              <a:rPr lang="en-GB" altLang="el-GR" sz="1300"/>
              <a:pPr eaLnBrk="1" hangingPunct="1"/>
              <a:t>14</a:t>
            </a:fld>
            <a:endParaRPr lang="en-GB" altLang="el-GR" sz="13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892A94B9-536B-4152-D9A6-EF2D6C20E6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DD7807BD-0EAC-7F75-5B30-C06C02FF73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1">
            <a:extLst>
              <a:ext uri="{FF2B5EF4-FFF2-40B4-BE49-F238E27FC236}">
                <a16:creationId xmlns:a16="http://schemas.microsoft.com/office/drawing/2014/main" id="{A4826012-A68F-E5C4-D744-2634E03BC9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D169B97-8352-469C-B7A3-5399282A5527}" type="slidenum">
              <a:rPr lang="en-GB" altLang="el-GR" sz="1300"/>
              <a:pPr eaLnBrk="1" hangingPunct="1"/>
              <a:t>15</a:t>
            </a:fld>
            <a:endParaRPr lang="en-GB" altLang="el-GR" sz="13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23DF4F4A-312F-B2D8-A065-B8DAC33270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7215D2E0-B0AD-414C-D49A-A218913FA4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1">
            <a:extLst>
              <a:ext uri="{FF2B5EF4-FFF2-40B4-BE49-F238E27FC236}">
                <a16:creationId xmlns:a16="http://schemas.microsoft.com/office/drawing/2014/main" id="{B9BBFFFE-0AE8-2A10-F1D2-ED6F808C2A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E9F4160-7E3A-4045-B7CD-0B9A0FD2ABC9}" type="slidenum">
              <a:rPr lang="en-GB" altLang="el-GR" sz="1300"/>
              <a:pPr eaLnBrk="1" hangingPunct="1"/>
              <a:t>16</a:t>
            </a:fld>
            <a:endParaRPr lang="en-GB" altLang="el-GR" sz="13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64A6DE89-D1F4-BA03-D0E8-E1B8A2F7E5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B2C18F1-1F4E-B6BC-05F9-3BEC989CDD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31">
            <a:extLst>
              <a:ext uri="{FF2B5EF4-FFF2-40B4-BE49-F238E27FC236}">
                <a16:creationId xmlns:a16="http://schemas.microsoft.com/office/drawing/2014/main" id="{C3EF2ACC-C302-CACC-FA52-3AEB9CB6C4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7F331DB-A866-4F42-BC09-43CFA8C682F7}" type="slidenum">
              <a:rPr lang="en-GB" altLang="el-GR" sz="1300"/>
              <a:pPr eaLnBrk="1" hangingPunct="1"/>
              <a:t>17</a:t>
            </a:fld>
            <a:endParaRPr lang="en-GB" altLang="el-GR" sz="13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DA75A480-5744-ECB6-778C-E41B981703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533A408-4881-215E-8B1D-95352469A3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31">
            <a:extLst>
              <a:ext uri="{FF2B5EF4-FFF2-40B4-BE49-F238E27FC236}">
                <a16:creationId xmlns:a16="http://schemas.microsoft.com/office/drawing/2014/main" id="{5DDA982F-B07B-23D3-F0BF-B58CA2A7EF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16319BD-16ED-4090-8C9D-A97A501641F2}" type="slidenum">
              <a:rPr lang="en-GB" altLang="el-GR" sz="1300"/>
              <a:pPr eaLnBrk="1" hangingPunct="1"/>
              <a:t>18</a:t>
            </a:fld>
            <a:endParaRPr lang="en-GB" altLang="el-GR" sz="13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2A72E59F-8E74-CD00-20EF-52A6EC4B75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DB4FF5C4-6256-A18C-0067-B7C05C517E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>
            <a:extLst>
              <a:ext uri="{FF2B5EF4-FFF2-40B4-BE49-F238E27FC236}">
                <a16:creationId xmlns:a16="http://schemas.microsoft.com/office/drawing/2014/main" id="{F0CAB1C1-5985-5868-F19C-253AB3436F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6E73BCE-A2CB-45E5-B357-92E756A466B8}" type="slidenum">
              <a:rPr lang="en-GB" altLang="el-GR" sz="1300"/>
              <a:pPr eaLnBrk="1" hangingPunct="1"/>
              <a:t>19</a:t>
            </a:fld>
            <a:endParaRPr lang="en-GB" altLang="el-GR" sz="13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2C97E61E-D20E-DF1D-D899-EAB0CF6517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2CC53C3-171D-937E-ABAB-97C1AEF91B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31">
            <a:extLst>
              <a:ext uri="{FF2B5EF4-FFF2-40B4-BE49-F238E27FC236}">
                <a16:creationId xmlns:a16="http://schemas.microsoft.com/office/drawing/2014/main" id="{00A1787F-D856-558B-B339-FB417047EB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5E5C973-F9A4-49C7-BEFB-C104DF6D1D4E}" type="slidenum">
              <a:rPr lang="en-GB" altLang="el-GR" sz="1300"/>
              <a:pPr eaLnBrk="1" hangingPunct="1"/>
              <a:t>20</a:t>
            </a:fld>
            <a:endParaRPr lang="en-GB" altLang="el-GR" sz="13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BA9BB0FC-AC62-EC6A-74AD-E917DEC855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E4178630-28B2-D959-4D87-4EA5E18FC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31">
            <a:extLst>
              <a:ext uri="{FF2B5EF4-FFF2-40B4-BE49-F238E27FC236}">
                <a16:creationId xmlns:a16="http://schemas.microsoft.com/office/drawing/2014/main" id="{73BF2645-2AD9-54D3-1AC6-E818D7AC23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6BC2740D-BCA2-4988-AC47-420800E0836E}" type="slidenum">
              <a:rPr lang="en-GB" altLang="el-GR" sz="1300"/>
              <a:pPr eaLnBrk="1" hangingPunct="1"/>
              <a:t>21</a:t>
            </a:fld>
            <a:endParaRPr lang="en-GB" altLang="el-GR" sz="13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3BAC652C-3A34-E717-9151-8948E55D9C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D954A9B0-203A-257D-7AAE-240B187731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31">
            <a:extLst>
              <a:ext uri="{FF2B5EF4-FFF2-40B4-BE49-F238E27FC236}">
                <a16:creationId xmlns:a16="http://schemas.microsoft.com/office/drawing/2014/main" id="{5689A177-9607-1168-261C-89203386BA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E80AB8F7-4EBA-42C1-9BCF-0F977B4F2480}" type="slidenum">
              <a:rPr lang="en-GB" altLang="el-GR" sz="1300"/>
              <a:pPr eaLnBrk="1" hangingPunct="1"/>
              <a:t>22</a:t>
            </a:fld>
            <a:endParaRPr lang="en-GB" altLang="el-GR" sz="13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2D7E04A4-CEC0-230E-40BC-48C2FEA533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8D3C616A-B393-613F-5FE3-A66E86954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31">
            <a:extLst>
              <a:ext uri="{FF2B5EF4-FFF2-40B4-BE49-F238E27FC236}">
                <a16:creationId xmlns:a16="http://schemas.microsoft.com/office/drawing/2014/main" id="{A8EA101D-E88A-9299-2A65-9F1B298D47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3A724DA-0CA6-4A44-8869-33F0E145E3C6}" type="slidenum">
              <a:rPr lang="en-GB" altLang="el-GR" sz="1300"/>
              <a:pPr eaLnBrk="1" hangingPunct="1"/>
              <a:t>23</a:t>
            </a:fld>
            <a:endParaRPr lang="en-GB" altLang="el-GR" sz="13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1E1E8726-3633-AB92-53D1-60B824D2BF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415FDC45-A590-0340-96F5-997CC3B3F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31">
            <a:extLst>
              <a:ext uri="{FF2B5EF4-FFF2-40B4-BE49-F238E27FC236}">
                <a16:creationId xmlns:a16="http://schemas.microsoft.com/office/drawing/2014/main" id="{1C171565-2480-20D3-8A98-47440DA136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56E05BA-A890-416A-A5FE-4DE9BB033691}" type="slidenum">
              <a:rPr lang="en-GB" altLang="el-GR" sz="1300"/>
              <a:pPr eaLnBrk="1" hangingPunct="1"/>
              <a:t>24</a:t>
            </a:fld>
            <a:endParaRPr lang="en-GB" altLang="el-GR" sz="13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C46D2019-045E-2018-FAA0-E394918D2F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55CE9B4C-A56C-30EC-FED7-B126832F6B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31">
            <a:extLst>
              <a:ext uri="{FF2B5EF4-FFF2-40B4-BE49-F238E27FC236}">
                <a16:creationId xmlns:a16="http://schemas.microsoft.com/office/drawing/2014/main" id="{ACCEFEC5-603C-3868-77C6-AFE9B0F2B2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E408237-A70F-4B76-B54B-E2FC7EEB78D0}" type="slidenum">
              <a:rPr lang="en-GB" altLang="el-GR" sz="1300"/>
              <a:pPr eaLnBrk="1" hangingPunct="1"/>
              <a:t>25</a:t>
            </a:fld>
            <a:endParaRPr lang="en-GB" altLang="el-GR" sz="13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32417289-3CDE-18AF-BA8C-FFA5F69246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F3115FC-C66D-B143-5BA4-54487F3066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31">
            <a:extLst>
              <a:ext uri="{FF2B5EF4-FFF2-40B4-BE49-F238E27FC236}">
                <a16:creationId xmlns:a16="http://schemas.microsoft.com/office/drawing/2014/main" id="{02717A68-257C-2407-A359-51632D91E4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1955B2C-77E7-4325-87A8-535DD7B3BC41}" type="slidenum">
              <a:rPr lang="en-GB" altLang="el-GR" sz="1300"/>
              <a:pPr eaLnBrk="1" hangingPunct="1"/>
              <a:t>26</a:t>
            </a:fld>
            <a:endParaRPr lang="en-GB" altLang="el-GR" sz="13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A100E196-EBB3-52B2-2C71-9E148F52C2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399C825-4F1D-F7B9-24CC-8425988291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31">
            <a:extLst>
              <a:ext uri="{FF2B5EF4-FFF2-40B4-BE49-F238E27FC236}">
                <a16:creationId xmlns:a16="http://schemas.microsoft.com/office/drawing/2014/main" id="{E9D436F4-A0DF-D0C6-D186-326DE07998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BD468B72-704B-4194-A107-7C256F5766B1}" type="slidenum">
              <a:rPr lang="en-GB" altLang="el-GR" sz="1300"/>
              <a:pPr eaLnBrk="1" hangingPunct="1"/>
              <a:t>27</a:t>
            </a:fld>
            <a:endParaRPr lang="en-GB" altLang="el-GR" sz="130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E7BFDAB3-936E-ECBE-A372-AAB5598D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383EF28F-C716-D6F4-7A1D-41B259602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031">
            <a:extLst>
              <a:ext uri="{FF2B5EF4-FFF2-40B4-BE49-F238E27FC236}">
                <a16:creationId xmlns:a16="http://schemas.microsoft.com/office/drawing/2014/main" id="{DA2CE742-18A5-1C33-62DA-2D254AC6BD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7FC319F-8A2C-4713-9E74-180C16B5F03F}" type="slidenum">
              <a:rPr lang="en-GB" altLang="el-GR" sz="1300"/>
              <a:pPr eaLnBrk="1" hangingPunct="1"/>
              <a:t>28</a:t>
            </a:fld>
            <a:endParaRPr lang="en-GB" altLang="el-GR" sz="13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BAA2BBAB-02A9-51D8-F1A1-C611D2A633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C6C94B78-F99F-A2EB-84F5-185566466B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031">
            <a:extLst>
              <a:ext uri="{FF2B5EF4-FFF2-40B4-BE49-F238E27FC236}">
                <a16:creationId xmlns:a16="http://schemas.microsoft.com/office/drawing/2014/main" id="{E3F1EE6B-EC03-A473-1281-92A4997F88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9FC4BD79-C986-4752-8E51-1B65E571AE61}" type="slidenum">
              <a:rPr lang="en-GB" altLang="el-GR" sz="1300"/>
              <a:pPr eaLnBrk="1" hangingPunct="1"/>
              <a:t>29</a:t>
            </a:fld>
            <a:endParaRPr lang="en-GB" altLang="el-GR" sz="130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59CB1391-3B2C-B140-091C-A932F37FC6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34B8BA70-9893-2770-383D-C4FA545445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031">
            <a:extLst>
              <a:ext uri="{FF2B5EF4-FFF2-40B4-BE49-F238E27FC236}">
                <a16:creationId xmlns:a16="http://schemas.microsoft.com/office/drawing/2014/main" id="{6E3B8F15-ECC6-FB06-D686-25DCFD52C3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01160D10-F9A3-43E8-9D84-6CD95E7FDC41}" type="slidenum">
              <a:rPr lang="en-GB" altLang="el-GR" sz="1300"/>
              <a:pPr eaLnBrk="1" hangingPunct="1"/>
              <a:t>30</a:t>
            </a:fld>
            <a:endParaRPr lang="en-GB" altLang="el-GR" sz="13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C60C610A-F4FD-BBBD-58DB-51164565F4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8908CF8B-AA00-8412-1542-E714ED5A07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31">
            <a:extLst>
              <a:ext uri="{FF2B5EF4-FFF2-40B4-BE49-F238E27FC236}">
                <a16:creationId xmlns:a16="http://schemas.microsoft.com/office/drawing/2014/main" id="{8A4DBB48-F739-64D2-1A5C-C49A05EA7E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7BDA6776-6E0B-4FE2-A924-72BBAD7E7A0C}" type="slidenum">
              <a:rPr lang="en-GB" altLang="el-GR" sz="1300"/>
              <a:pPr eaLnBrk="1" hangingPunct="1"/>
              <a:t>31</a:t>
            </a:fld>
            <a:endParaRPr lang="en-GB" altLang="el-GR" sz="130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5DEFDC71-FDE4-5D01-3B58-EBB69A4E89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549DDD82-07EA-5F39-6A09-BD4F4AC7BC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31">
            <a:extLst>
              <a:ext uri="{FF2B5EF4-FFF2-40B4-BE49-F238E27FC236}">
                <a16:creationId xmlns:a16="http://schemas.microsoft.com/office/drawing/2014/main" id="{A407E2A1-D114-353F-DABD-2AD8C71A0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B1AE20A-6795-4E34-9722-D3E6E09118F6}" type="slidenum">
              <a:rPr lang="en-GB" altLang="el-GR" sz="1300"/>
              <a:pPr eaLnBrk="1" hangingPunct="1"/>
              <a:t>32</a:t>
            </a:fld>
            <a:endParaRPr lang="en-GB" altLang="el-GR" sz="13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06145854-845C-C007-038C-7F915B2844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A6E682AD-7B16-65DF-45A2-B38B403676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031">
            <a:extLst>
              <a:ext uri="{FF2B5EF4-FFF2-40B4-BE49-F238E27FC236}">
                <a16:creationId xmlns:a16="http://schemas.microsoft.com/office/drawing/2014/main" id="{1E28B4A6-CBFF-782F-3E05-E5658807FB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1E1E89FE-1C89-41B5-9A9B-2F7D7478CCE1}" type="slidenum">
              <a:rPr lang="en-GB" altLang="el-GR" sz="1300"/>
              <a:pPr eaLnBrk="1" hangingPunct="1"/>
              <a:t>33</a:t>
            </a:fld>
            <a:endParaRPr lang="en-GB" altLang="el-GR" sz="130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4B068418-2C7F-5D2F-7FF8-60F0371A37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F190D95B-9721-E116-F760-58E606951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1031">
            <a:extLst>
              <a:ext uri="{FF2B5EF4-FFF2-40B4-BE49-F238E27FC236}">
                <a16:creationId xmlns:a16="http://schemas.microsoft.com/office/drawing/2014/main" id="{9C9895B0-C77D-BDF2-C44F-2473AEDA54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8854A9E1-AD26-43B1-A135-51A140AB598F}" type="slidenum">
              <a:rPr lang="en-GB" altLang="el-GR" sz="1300"/>
              <a:pPr eaLnBrk="1" hangingPunct="1"/>
              <a:t>34</a:t>
            </a:fld>
            <a:endParaRPr lang="en-GB" altLang="el-GR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C7BC59FB-E322-E97C-2B93-1553EC9B98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60463" y="892175"/>
            <a:ext cx="4781550" cy="3586163"/>
          </a:xfrm>
          <a:ln w="12700" cap="flat">
            <a:solidFill>
              <a:schemeClr val="tx1"/>
            </a:solidFill>
          </a:ln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BB747B94-3E55-219C-152F-2EDBE9EC3B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59338"/>
            <a:ext cx="5207000" cy="46053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576" tIns="49868" rIns="94576" bIns="49868"/>
          <a:lstStyle/>
          <a:p>
            <a:pPr eaLnBrk="1" hangingPunct="1"/>
            <a:endParaRPr lang="el-GR" altLang="el-GR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031">
            <a:extLst>
              <a:ext uri="{FF2B5EF4-FFF2-40B4-BE49-F238E27FC236}">
                <a16:creationId xmlns:a16="http://schemas.microsoft.com/office/drawing/2014/main" id="{EF70C6C7-AB66-7647-4A75-7206DE55CE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90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defTabSz="990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DCA7D795-9D86-49DE-82EF-22FDF8B4F016}" type="slidenum">
              <a:rPr lang="en-GB" altLang="el-GR" sz="1300"/>
              <a:pPr eaLnBrk="1" hangingPunct="1"/>
              <a:t>35</a:t>
            </a:fld>
            <a:endParaRPr lang="en-GB" altLang="el-GR" sz="13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383960CF-B6C3-63FD-CB3A-5A9A9F78E3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D36FCE6-C78F-0CE1-FF7E-72B67B7DF4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A980D23-CB1A-DBD3-516C-254DAF65239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0C176CA9-4EC7-5D3F-C1B4-47BD51FA13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5450F2C8-175D-E4B5-B216-DCF17AD4C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l-G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9B4D7DBF-71F0-2B52-0E63-6E53F2FA4E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l-G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9167A9A3-63EB-BB56-D908-3DB6AEEB58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9EDDF7D0-DFA4-17E9-1C1C-AA980F35F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l-G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C0557E6B-8D82-04CC-83A3-2253987D23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l-G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F3F6645B-1834-3E75-E0D4-3052E48D5A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l-G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FB5E6DB7-8C6D-ACE1-B163-C70495B33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l-G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E1346E33-22D7-7AF5-DC25-CE35E7251B67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l-G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2014D1A7-8729-4F58-7BFF-05B8A926A1E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6E1A5275-066B-D2BF-4F3A-C2CEE016B0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AFF3E389-6CB5-A8CF-A7F8-B8A30792FC5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bg2"/>
                </a:solidFill>
              </a:defRPr>
            </a:lvl1pPr>
          </a:lstStyle>
          <a:p>
            <a:fld id="{39BA1F6C-4061-4F7D-96C9-A8EE4F2F265D}" type="slidenum">
              <a:rPr lang="en-GB" altLang="el-GR"/>
              <a:pPr/>
              <a:t>‹#›</a:t>
            </a:fld>
            <a:endParaRPr lang="en-GB" altLang="el-GR" dirty="0"/>
          </a:p>
        </p:txBody>
      </p:sp>
    </p:spTree>
    <p:extLst>
      <p:ext uri="{BB962C8B-B14F-4D97-AF65-F5344CB8AC3E}">
        <p14:creationId xmlns:p14="http://schemas.microsoft.com/office/powerpoint/2010/main" val="3953441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5">
            <a:extLst>
              <a:ext uri="{FF2B5EF4-FFF2-40B4-BE49-F238E27FC236}">
                <a16:creationId xmlns:a16="http://schemas.microsoft.com/office/drawing/2014/main" id="{C80554B6-A03A-CAC3-4D0F-853DD622DAF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60350"/>
            <a:ext cx="8542338" cy="1052513"/>
            <a:chOff x="80" y="624"/>
            <a:chExt cx="5381" cy="663"/>
          </a:xfrm>
        </p:grpSpPr>
        <p:sp>
          <p:nvSpPr>
            <p:cNvPr id="5" name="Rectangle 2">
              <a:extLst>
                <a:ext uri="{FF2B5EF4-FFF2-40B4-BE49-F238E27FC236}">
                  <a16:creationId xmlns:a16="http://schemas.microsoft.com/office/drawing/2014/main" id="{E06049DC-2C03-CA90-C4E7-F0AD5902D2C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6" name="Rectangle 3">
              <a:extLst>
                <a:ext uri="{FF2B5EF4-FFF2-40B4-BE49-F238E27FC236}">
                  <a16:creationId xmlns:a16="http://schemas.microsoft.com/office/drawing/2014/main" id="{2DBD030C-D3FA-876B-E6DA-24E22CF158C3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04" y="692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5C4C2F83-8B1B-63C1-E625-10217B6CC67B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41" y="958"/>
              <a:ext cx="266" cy="29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D4DA8177-FDA4-5BB3-FBA5-114B13F1B731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853D490F-F5CD-BBF8-04DD-46638DB93405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AD24B0C3-B654-1D4A-8291-22A2BDE24AE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80" y="624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11" name="Rectangle 8">
              <a:extLst>
                <a:ext uri="{FF2B5EF4-FFF2-40B4-BE49-F238E27FC236}">
                  <a16:creationId xmlns:a16="http://schemas.microsoft.com/office/drawing/2014/main" id="{7DA227DF-028B-2216-BA1E-3B8ABF11FF8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</p:grpSp>
      <p:pic>
        <p:nvPicPr>
          <p:cNvPr id="12" name="Picture 14">
            <a:extLst>
              <a:ext uri="{FF2B5EF4-FFF2-40B4-BE49-F238E27FC236}">
                <a16:creationId xmlns:a16="http://schemas.microsoft.com/office/drawing/2014/main" id="{4295475D-7513-586E-4494-C36758BD29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213" y="0"/>
            <a:ext cx="83978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Group 15">
            <a:extLst>
              <a:ext uri="{FF2B5EF4-FFF2-40B4-BE49-F238E27FC236}">
                <a16:creationId xmlns:a16="http://schemas.microsoft.com/office/drawing/2014/main" id="{B2361A6E-F206-CAB1-FFE1-E02B9F36E1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86026"/>
              </p:ext>
            </p:extLst>
          </p:nvPr>
        </p:nvGraphicFramePr>
        <p:xfrm>
          <a:off x="31750" y="6477000"/>
          <a:ext cx="8883650" cy="381000"/>
        </p:xfrm>
        <a:graphic>
          <a:graphicData uri="http://schemas.openxmlformats.org/drawingml/2006/table">
            <a:tbl>
              <a:tblPr/>
              <a:tblGrid>
                <a:gridCol w="4261451">
                  <a:extLst>
                    <a:ext uri="{9D8B030D-6E8A-4147-A177-3AD203B41FA5}">
                      <a16:colId xmlns:a16="http://schemas.microsoft.com/office/drawing/2014/main" val="895196340"/>
                    </a:ext>
                  </a:extLst>
                </a:gridCol>
                <a:gridCol w="2408981">
                  <a:extLst>
                    <a:ext uri="{9D8B030D-6E8A-4147-A177-3AD203B41FA5}">
                      <a16:colId xmlns:a16="http://schemas.microsoft.com/office/drawing/2014/main" val="1838003627"/>
                    </a:ext>
                  </a:extLst>
                </a:gridCol>
                <a:gridCol w="2213218">
                  <a:extLst>
                    <a:ext uri="{9D8B030D-6E8A-4147-A177-3AD203B41FA5}">
                      <a16:colId xmlns:a16="http://schemas.microsoft.com/office/drawing/2014/main" val="2610936286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r>
                        <a:rPr lang="en-US" sz="12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© 202</a:t>
                      </a:r>
                      <a:r>
                        <a:rPr lang="el-GR" sz="12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5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l-GR" sz="12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Μια Εισαγωγή στην Τέχνη του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 </a:t>
                      </a:r>
                      <a:r>
                        <a:rPr lang="el-GR" sz="1200" dirty="0">
                          <a:solidFill>
                            <a:schemeClr val="tx1"/>
                          </a:solidFill>
                          <a:latin typeface="Bahnschrift" panose="020B0502040204020203" pitchFamily="34" charset="0"/>
                        </a:rPr>
                        <a:t>Προγραμματισμού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l-G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Control flow Statements</a:t>
                      </a:r>
                      <a:endParaRPr kumimoji="0" lang="en-GB" altLang="el-G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fld id="{D14708AC-4BF6-4D6B-A1B4-AF9E03A5728C}" type="slidenum">
                        <a:rPr kumimoji="0" lang="en-GB" altLang="el-G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</a:rPr>
                        <a:pPr marL="0" marR="0" lvl="0" indent="0" algn="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t>‹#›</a:t>
                      </a:fld>
                      <a:endParaRPr kumimoji="0" lang="en-GB" altLang="el-G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96518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BD50BAB0-8A14-871E-4B53-B7FDC9A60F23}"/>
              </a:ext>
            </a:extLst>
          </p:cNvPr>
          <p:cNvSpPr/>
          <p:nvPr userDrawn="1"/>
        </p:nvSpPr>
        <p:spPr bwMode="auto">
          <a:xfrm>
            <a:off x="8501063" y="6500813"/>
            <a:ext cx="357187" cy="21431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l-G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26856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2503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27220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73423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9478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7777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5674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l-GR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1746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253955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42138" y="0"/>
            <a:ext cx="2012950" cy="61325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00113" y="0"/>
            <a:ext cx="5889625" cy="61325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3053398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5">
            <a:extLst>
              <a:ext uri="{FF2B5EF4-FFF2-40B4-BE49-F238E27FC236}">
                <a16:creationId xmlns:a16="http://schemas.microsoft.com/office/drawing/2014/main" id="{2D6B0A10-9260-C568-A8E8-9D060DC1A85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260350"/>
            <a:ext cx="8542338" cy="1052513"/>
            <a:chOff x="80" y="624"/>
            <a:chExt cx="5381" cy="663"/>
          </a:xfrm>
        </p:grpSpPr>
        <p:sp>
          <p:nvSpPr>
            <p:cNvPr id="3074" name="Rectangle 2">
              <a:extLst>
                <a:ext uri="{FF2B5EF4-FFF2-40B4-BE49-F238E27FC236}">
                  <a16:creationId xmlns:a16="http://schemas.microsoft.com/office/drawing/2014/main" id="{A7E4F480-0B65-1A8B-6943-A46AD0AFA326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3075" name="Rectangle 3">
              <a:extLst>
                <a:ext uri="{FF2B5EF4-FFF2-40B4-BE49-F238E27FC236}">
                  <a16:creationId xmlns:a16="http://schemas.microsoft.com/office/drawing/2014/main" id="{08723D7C-DD8C-56BF-7FBE-9C035D25139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04" y="692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3076" name="Rectangle 4">
              <a:extLst>
                <a:ext uri="{FF2B5EF4-FFF2-40B4-BE49-F238E27FC236}">
                  <a16:creationId xmlns:a16="http://schemas.microsoft.com/office/drawing/2014/main" id="{EADA0585-9250-B790-D84D-FC11DC754ADC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341" y="958"/>
              <a:ext cx="266" cy="29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3077" name="Rectangle 5">
              <a:extLst>
                <a:ext uri="{FF2B5EF4-FFF2-40B4-BE49-F238E27FC236}">
                  <a16:creationId xmlns:a16="http://schemas.microsoft.com/office/drawing/2014/main" id="{A8F0F4CD-1D92-072A-09E3-AA55415C8CEA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3078" name="Rectangle 6">
              <a:extLst>
                <a:ext uri="{FF2B5EF4-FFF2-40B4-BE49-F238E27FC236}">
                  <a16:creationId xmlns:a16="http://schemas.microsoft.com/office/drawing/2014/main" id="{F555DB46-A594-74F0-F64F-F886E4EB8D8D}"/>
                </a:ext>
              </a:extLst>
            </p:cNvPr>
            <p:cNvSpPr>
              <a:spLocks noChangeArrowheads="1"/>
            </p:cNvSpPr>
            <p:nvPr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3079" name="Rectangle 7">
              <a:extLst>
                <a:ext uri="{FF2B5EF4-FFF2-40B4-BE49-F238E27FC236}">
                  <a16:creationId xmlns:a16="http://schemas.microsoft.com/office/drawing/2014/main" id="{BCCBA4F3-B2DB-168F-38D9-5F546841C4A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80" y="624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  <p:sp>
          <p:nvSpPr>
            <p:cNvPr id="3080" name="Rectangle 8">
              <a:extLst>
                <a:ext uri="{FF2B5EF4-FFF2-40B4-BE49-F238E27FC236}">
                  <a16:creationId xmlns:a16="http://schemas.microsoft.com/office/drawing/2014/main" id="{5B11300A-5DBA-7581-DDA5-220BB337E57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kumimoji="1" lang="el-GR"/>
            </a:p>
          </p:txBody>
        </p:sp>
      </p:grpSp>
      <p:sp>
        <p:nvSpPr>
          <p:cNvPr id="2051" name="Rectangle 9">
            <a:extLst>
              <a:ext uri="{FF2B5EF4-FFF2-40B4-BE49-F238E27FC236}">
                <a16:creationId xmlns:a16="http://schemas.microsoft.com/office/drawing/2014/main" id="{7CE7ABC9-CFCC-17DB-A3D9-1B8D3948B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00113" y="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title style</a:t>
            </a:r>
          </a:p>
        </p:txBody>
      </p:sp>
      <p:sp>
        <p:nvSpPr>
          <p:cNvPr id="2052" name="Rectangle 10">
            <a:extLst>
              <a:ext uri="{FF2B5EF4-FFF2-40B4-BE49-F238E27FC236}">
                <a16:creationId xmlns:a16="http://schemas.microsoft.com/office/drawing/2014/main" id="{CEB7889F-FB56-9D36-67E8-5C8781AB42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l-GR"/>
              <a:t>Click to edit Master text styles</a:t>
            </a:r>
          </a:p>
          <a:p>
            <a:pPr lvl="1"/>
            <a:r>
              <a:rPr lang="en-GB" altLang="el-GR"/>
              <a:t>Second level</a:t>
            </a:r>
          </a:p>
          <a:p>
            <a:pPr lvl="2"/>
            <a:r>
              <a:rPr lang="en-GB" altLang="el-GR"/>
              <a:t>Third level</a:t>
            </a:r>
          </a:p>
          <a:p>
            <a:pPr lvl="3"/>
            <a:r>
              <a:rPr lang="en-GB" altLang="el-GR"/>
              <a:t>Fourth level</a:t>
            </a:r>
          </a:p>
          <a:p>
            <a:pPr lvl="4"/>
            <a:r>
              <a:rPr lang="en-GB" altLang="el-GR"/>
              <a:t>Fifth level</a:t>
            </a:r>
          </a:p>
        </p:txBody>
      </p:sp>
      <p:pic>
        <p:nvPicPr>
          <p:cNvPr id="2053" name="Picture 14">
            <a:extLst>
              <a:ext uri="{FF2B5EF4-FFF2-40B4-BE49-F238E27FC236}">
                <a16:creationId xmlns:a16="http://schemas.microsoft.com/office/drawing/2014/main" id="{2BF365A3-AA9E-EC17-7F6E-87D1A33EEDB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4213" y="0"/>
            <a:ext cx="839787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087" name="Group 15">
            <a:extLst>
              <a:ext uri="{FF2B5EF4-FFF2-40B4-BE49-F238E27FC236}">
                <a16:creationId xmlns:a16="http://schemas.microsoft.com/office/drawing/2014/main" id="{34312426-21DE-73AB-945C-374297EE1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712947"/>
              </p:ext>
            </p:extLst>
          </p:nvPr>
        </p:nvGraphicFramePr>
        <p:xfrm>
          <a:off x="152400" y="6477000"/>
          <a:ext cx="8763000" cy="381000"/>
        </p:xfrm>
        <a:graphic>
          <a:graphicData uri="http://schemas.openxmlformats.org/drawingml/2006/table">
            <a:tbl>
              <a:tblPr/>
              <a:tblGrid>
                <a:gridCol w="2921000">
                  <a:extLst>
                    <a:ext uri="{9D8B030D-6E8A-4147-A177-3AD203B41FA5}">
                      <a16:colId xmlns:a16="http://schemas.microsoft.com/office/drawing/2014/main" val="3026919513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150339272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186150463"/>
                    </a:ext>
                  </a:extLst>
                </a:gridCol>
              </a:tblGrid>
              <a:tr h="3810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©</a:t>
                      </a:r>
                      <a:r>
                        <a:rPr kumimoji="0" lang="en-US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el-GR" altLang="el-G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Κλεάνθης Θραμπουλίδης</a:t>
                      </a:r>
                      <a:endParaRPr kumimoji="0" lang="en-GB" altLang="el-G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el-GR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Control flow Statements</a:t>
                      </a:r>
                      <a:endParaRPr kumimoji="0" lang="en-GB" altLang="el-G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fld id="{545B65F2-590A-4BAC-8476-62F56E841492}" type="slidenum">
                        <a:rPr kumimoji="0" lang="en-GB" altLang="el-G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folHlink"/>
                          </a:solidFill>
                          <a:effectLst/>
                          <a:latin typeface="Tahoma" panose="020B0604030504040204" pitchFamily="34" charset="0"/>
                        </a:rPr>
                        <a:pPr marL="0" marR="0" lvl="0" indent="0" algn="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t>‹#›</a:t>
                      </a:fld>
                      <a:endParaRPr kumimoji="0" lang="en-GB" altLang="el-G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folHlink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679478"/>
                  </a:ext>
                </a:extLst>
              </a:tr>
            </a:tbl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wmf"/><Relationship Id="rId5" Type="http://schemas.openxmlformats.org/officeDocument/2006/relationships/image" Target="../media/image3.wmf"/><Relationship Id="rId4" Type="http://schemas.openxmlformats.org/officeDocument/2006/relationships/hyperlink" Target="https://sites.google.com/view/i2art-of-programming/home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Υπότιτλος 2">
            <a:extLst>
              <a:ext uri="{FF2B5EF4-FFF2-40B4-BE49-F238E27FC236}">
                <a16:creationId xmlns:a16="http://schemas.microsoft.com/office/drawing/2014/main" id="{999AB7B1-2CA7-4F2E-91BE-62A4C3CC57D6}"/>
              </a:ext>
            </a:extLst>
          </p:cNvPr>
          <p:cNvSpPr txBox="1">
            <a:spLocks/>
          </p:cNvSpPr>
          <p:nvPr/>
        </p:nvSpPr>
        <p:spPr>
          <a:xfrm>
            <a:off x="-12609" y="61836"/>
            <a:ext cx="9144002" cy="937358"/>
          </a:xfrm>
          <a:prstGeom prst="rect">
            <a:avLst/>
          </a:prstGeom>
        </p:spPr>
        <p:txBody>
          <a:bodyPr vert="horz" lIns="68580" tIns="34290" rIns="68580" bIns="34290" rtlCol="0" anchor="b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3000" b="1" dirty="0">
                <a:latin typeface="Bahnschrift" panose="020B0502040204020203" pitchFamily="34" charset="0"/>
              </a:rPr>
              <a:t>Εισαγωγή στον Προγραμματισμό</a:t>
            </a:r>
            <a:br>
              <a:rPr lang="el-GR" sz="3000" b="1" dirty="0">
                <a:latin typeface="Bahnschrift" panose="020B0502040204020203" pitchFamily="34" charset="0"/>
              </a:rPr>
            </a:br>
            <a:r>
              <a:rPr lang="el-GR" sz="3000" b="1" dirty="0">
                <a:latin typeface="Bahnschrift" panose="020B0502040204020203" pitchFamily="34" charset="0"/>
              </a:rPr>
              <a:t>(</a:t>
            </a:r>
            <a:r>
              <a:rPr lang="en-US" sz="3000" b="1" dirty="0">
                <a:latin typeface="Bahnschrift" panose="020B0502040204020203" pitchFamily="34" charset="0"/>
              </a:rPr>
              <a:t>Introduction to</a:t>
            </a:r>
            <a:r>
              <a:rPr lang="el-GR" sz="3000" b="1" dirty="0">
                <a:latin typeface="Bahnschrift" panose="020B0502040204020203" pitchFamily="34" charset="0"/>
              </a:rPr>
              <a:t> </a:t>
            </a:r>
            <a:r>
              <a:rPr lang="el-GR" sz="3000" b="1" dirty="0" err="1">
                <a:latin typeface="Bahnschrift" panose="020B0502040204020203" pitchFamily="34" charset="0"/>
              </a:rPr>
              <a:t>Programming</a:t>
            </a:r>
            <a:r>
              <a:rPr lang="el-GR" sz="3000" b="1" dirty="0">
                <a:latin typeface="Bahnschrift" panose="020B0502040204020203" pitchFamily="34" charset="0"/>
              </a:rPr>
              <a:t>)</a:t>
            </a:r>
            <a:endParaRPr lang="en-US" sz="2100" b="1" dirty="0">
              <a:latin typeface="Bahnschrift" panose="020B0502040204020203" pitchFamily="34" charset="0"/>
            </a:endParaRPr>
          </a:p>
        </p:txBody>
      </p:sp>
      <p:sp>
        <p:nvSpPr>
          <p:cNvPr id="4" name="Υπότιτλος 2">
            <a:extLst>
              <a:ext uri="{FF2B5EF4-FFF2-40B4-BE49-F238E27FC236}">
                <a16:creationId xmlns:a16="http://schemas.microsoft.com/office/drawing/2014/main" id="{1FEF44B4-5484-7F60-BA37-96313DC3B896}"/>
              </a:ext>
            </a:extLst>
          </p:cNvPr>
          <p:cNvSpPr txBox="1">
            <a:spLocks/>
          </p:cNvSpPr>
          <p:nvPr/>
        </p:nvSpPr>
        <p:spPr>
          <a:xfrm>
            <a:off x="15991" y="1669805"/>
            <a:ext cx="6648773" cy="709748"/>
          </a:xfrm>
          <a:prstGeom prst="rect">
            <a:avLst/>
          </a:prstGeom>
        </p:spPr>
        <p:txBody>
          <a:bodyPr vert="horz" lIns="68580" tIns="34290" rIns="68580" bIns="34290" rtlCol="0" anchor="b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12000" b="1" dirty="0">
                <a:solidFill>
                  <a:srgbClr val="60D69E"/>
                </a:solidFill>
                <a:latin typeface="Bahnschrift" panose="020B0502040204020203" pitchFamily="34" charset="0"/>
              </a:rPr>
              <a:t>Προτάσεις ελέγχου ροής 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l-GR" sz="9600" b="1" dirty="0">
                <a:solidFill>
                  <a:srgbClr val="60D69E"/>
                </a:solidFill>
                <a:latin typeface="Bahnschrift" panose="020B0502040204020203" pitchFamily="34" charset="0"/>
              </a:rPr>
              <a:t>(</a:t>
            </a:r>
            <a:r>
              <a:rPr lang="en-GB" sz="9600" b="1" dirty="0">
                <a:solidFill>
                  <a:srgbClr val="60D69E"/>
                </a:solidFill>
                <a:latin typeface="Bahnschrift" panose="020B0502040204020203" pitchFamily="34" charset="0"/>
              </a:rPr>
              <a:t>Control flow Statements)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36E0A-62C8-F25D-25D5-595B0B27A6B1}"/>
              </a:ext>
            </a:extLst>
          </p:cNvPr>
          <p:cNvSpPr txBox="1"/>
          <p:nvPr/>
        </p:nvSpPr>
        <p:spPr>
          <a:xfrm>
            <a:off x="-12609" y="1063174"/>
            <a:ext cx="15602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Bahnschrift" panose="020B0502040204020203" pitchFamily="34" charset="0"/>
              </a:rPr>
              <a:t>(CEID_NY131)</a:t>
            </a:r>
            <a:endParaRPr lang="el-GR" sz="1800" b="1" dirty="0">
              <a:latin typeface="Bahnschrift" panose="020B0502040204020203" pitchFamily="34" charset="0"/>
            </a:endParaRPr>
          </a:p>
        </p:txBody>
      </p:sp>
      <p:sp>
        <p:nvSpPr>
          <p:cNvPr id="18" name="Υπότιτλος 2">
            <a:extLst>
              <a:ext uri="{FF2B5EF4-FFF2-40B4-BE49-F238E27FC236}">
                <a16:creationId xmlns:a16="http://schemas.microsoft.com/office/drawing/2014/main" id="{1CC770C9-EFCA-6DAF-8AF4-65DBC6C0060B}"/>
              </a:ext>
            </a:extLst>
          </p:cNvPr>
          <p:cNvSpPr txBox="1">
            <a:spLocks/>
          </p:cNvSpPr>
          <p:nvPr/>
        </p:nvSpPr>
        <p:spPr>
          <a:xfrm>
            <a:off x="5883023" y="3702136"/>
            <a:ext cx="3339560" cy="2733011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b="1" dirty="0">
                <a:solidFill>
                  <a:srgbClr val="C00000"/>
                </a:solidFill>
                <a:latin typeface="Bahnschrift" panose="020B0502040204020203" pitchFamily="34" charset="0"/>
              </a:rPr>
              <a:t>Control </a:t>
            </a:r>
            <a:endParaRPr lang="el-GR" sz="3000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b="1" dirty="0">
                <a:solidFill>
                  <a:srgbClr val="C00000"/>
                </a:solidFill>
                <a:latin typeface="Bahnschrift" panose="020B0502040204020203" pitchFamily="34" charset="0"/>
              </a:rPr>
              <a:t>flow </a:t>
            </a:r>
            <a:endParaRPr lang="el-GR" sz="3000" b="1" dirty="0">
              <a:solidFill>
                <a:srgbClr val="C00000"/>
              </a:solidFill>
              <a:latin typeface="Bahnschrift" panose="020B0502040204020203" pitchFamily="34" charset="0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3000" b="1" dirty="0">
                <a:solidFill>
                  <a:srgbClr val="C00000"/>
                </a:solidFill>
                <a:latin typeface="Bahnschrift" panose="020B0502040204020203" pitchFamily="34" charset="0"/>
              </a:rPr>
              <a:t>Statements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8104CF0-71DB-277D-FF43-3A47565FC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4238" y="877908"/>
            <a:ext cx="1957585" cy="27965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A0368E-6ADC-C0B8-7EA7-E8B85F721C26}"/>
              </a:ext>
            </a:extLst>
          </p:cNvPr>
          <p:cNvSpPr txBox="1"/>
          <p:nvPr/>
        </p:nvSpPr>
        <p:spPr>
          <a:xfrm>
            <a:off x="7174238" y="3667156"/>
            <a:ext cx="19575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/>
              <a:t>Πηγή: </a:t>
            </a:r>
            <a:r>
              <a:rPr lang="el-GR" sz="1600" dirty="0">
                <a:hlinkClick r:id="rId4"/>
              </a:rPr>
              <a:t>Μια Εισαγωγή στην Τέχνη του Προγραμματισμού</a:t>
            </a:r>
            <a:endParaRPr lang="en-GB" sz="1600" dirty="0"/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1041576B-4C41-1694-B2D3-1559F62DE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1543" y="741705"/>
            <a:ext cx="6000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7">
            <a:extLst>
              <a:ext uri="{FF2B5EF4-FFF2-40B4-BE49-F238E27FC236}">
                <a16:creationId xmlns:a16="http://schemas.microsoft.com/office/drawing/2014/main" id="{98358448-43DC-7292-A787-ED70176AA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3023" y="924959"/>
            <a:ext cx="1211262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716BADE7-1DE6-766C-6FB2-2F3EBCD6D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4910" y="3113041"/>
            <a:ext cx="1049375" cy="1546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62663DF-D21A-D192-8D1B-C5D634F270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77" y="2527682"/>
            <a:ext cx="5871188" cy="426848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645747-ED20-19B3-8190-54D45634BE1F}"/>
              </a:ext>
            </a:extLst>
          </p:cNvPr>
          <p:cNvSpPr txBox="1"/>
          <p:nvPr/>
        </p:nvSpPr>
        <p:spPr>
          <a:xfrm flipH="1">
            <a:off x="2757767" y="2474856"/>
            <a:ext cx="4588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https://sites.google.com/view/i2art-of-programming</a:t>
            </a:r>
          </a:p>
        </p:txBody>
      </p:sp>
    </p:spTree>
    <p:extLst>
      <p:ext uri="{BB962C8B-B14F-4D97-AF65-F5344CB8AC3E}">
        <p14:creationId xmlns:p14="http://schemas.microsoft.com/office/powerpoint/2010/main" val="307325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5CD81AD-4BF2-5AD7-67AE-0476FB701E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sz="4000"/>
              <a:t>Βασικές Κατασκευές Γλώσσας Προγραμματισμού</a:t>
            </a:r>
            <a:endParaRPr lang="en-GB" altLang="el-GR" sz="400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9BFF2F5-108A-616A-0EF8-E1E18FA47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8193088" cy="4114800"/>
          </a:xfrm>
        </p:spPr>
        <p:txBody>
          <a:bodyPr/>
          <a:lstStyle/>
          <a:p>
            <a:pPr eaLnBrk="1" hangingPunct="1"/>
            <a:r>
              <a:rPr lang="el-GR" altLang="el-GR" sz="2400"/>
              <a:t> Για αναπαράσταση διεργασιών</a:t>
            </a:r>
          </a:p>
          <a:p>
            <a:pPr lvl="1" eaLnBrk="1" hangingPunct="1"/>
            <a:r>
              <a:rPr lang="el-GR" altLang="el-GR" sz="2000"/>
              <a:t>συνάρτηση</a:t>
            </a:r>
            <a:endParaRPr lang="en-GB" altLang="el-GR" sz="2000"/>
          </a:p>
          <a:p>
            <a:pPr eaLnBrk="1" hangingPunct="1"/>
            <a:r>
              <a:rPr lang="el-GR" altLang="el-GR" sz="2400"/>
              <a:t>Για αποθήκευση και ανάκληση πληροφορίας </a:t>
            </a:r>
          </a:p>
          <a:p>
            <a:pPr lvl="1" eaLnBrk="1" hangingPunct="1"/>
            <a:r>
              <a:rPr lang="el-GR" altLang="el-GR" sz="2000"/>
              <a:t>Μεταβλητές</a:t>
            </a:r>
          </a:p>
          <a:p>
            <a:pPr lvl="1" eaLnBrk="1" hangingPunct="1"/>
            <a:r>
              <a:rPr lang="el-GR" altLang="el-GR" sz="2000"/>
              <a:t>Σταθερές</a:t>
            </a:r>
          </a:p>
          <a:p>
            <a:pPr lvl="1" eaLnBrk="1" hangingPunct="1"/>
            <a:r>
              <a:rPr lang="el-GR" altLang="el-GR" sz="2000"/>
              <a:t>Τύποι δεδομένων</a:t>
            </a:r>
          </a:p>
          <a:p>
            <a:pPr eaLnBrk="1" hangingPunct="1"/>
            <a:r>
              <a:rPr lang="el-GR" altLang="el-GR" sz="2400"/>
              <a:t>Για επεξεργασία πληροφορίας</a:t>
            </a:r>
          </a:p>
          <a:p>
            <a:pPr lvl="1" eaLnBrk="1" hangingPunct="1"/>
            <a:r>
              <a:rPr lang="el-GR" altLang="el-GR" sz="2000"/>
              <a:t>τελεστές</a:t>
            </a:r>
          </a:p>
          <a:p>
            <a:pPr eaLnBrk="1" hangingPunct="1"/>
            <a:r>
              <a:rPr lang="el-GR" altLang="el-GR" sz="2400">
                <a:solidFill>
                  <a:schemeClr val="hlink"/>
                </a:solidFill>
              </a:rPr>
              <a:t>Για έλεγχο ροής προγράμματος</a:t>
            </a:r>
          </a:p>
          <a:p>
            <a:pPr lvl="1" eaLnBrk="1" hangingPunct="1"/>
            <a:r>
              <a:rPr lang="el-GR" altLang="el-GR" sz="2000" b="1">
                <a:solidFill>
                  <a:schemeClr val="hlink"/>
                </a:solidFill>
              </a:rPr>
              <a:t>Προτάσεις επανάληψης, διακλάδωσης, 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A0A8C9C-E0DC-0EA7-16C6-F38EC5896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sz="4000"/>
              <a:t>Βασικές δομές ελέγχου ροής</a:t>
            </a:r>
            <a:r>
              <a:rPr lang="en-US" altLang="el-GR" sz="4000"/>
              <a:t> (1)</a:t>
            </a:r>
            <a:endParaRPr lang="en-GB" altLang="el-GR" sz="40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8783A0B-688E-6355-328C-909EC7C18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700213"/>
            <a:ext cx="8382000" cy="4114800"/>
          </a:xfrm>
        </p:spPr>
        <p:txBody>
          <a:bodyPr/>
          <a:lstStyle/>
          <a:p>
            <a:pPr eaLnBrk="1" hangingPunct="1"/>
            <a:r>
              <a:rPr lang="el-GR" altLang="el-GR">
                <a:latin typeface="Times New Roman" panose="02020603050405020304" pitchFamily="18" charset="0"/>
              </a:rPr>
              <a:t>Βασικές δομές προγραμματισμού (ανεξάρτητες γλώσσας) που χρησιμοποιούνται για την ανάπτυξη αλγορίθμων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imes New Roman" panose="02020603050405020304" pitchFamily="18" charset="0"/>
              </a:rPr>
              <a:t>		1. </a:t>
            </a:r>
            <a:r>
              <a:rPr lang="el-GR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Sequence</a:t>
            </a:r>
            <a:r>
              <a:rPr lang="el-GR" altLang="el-GR">
                <a:latin typeface="Times New Roman" panose="02020603050405020304" pitchFamily="18" charset="0"/>
              </a:rPr>
              <a:t> structure (ακολουθία)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imes New Roman" panose="02020603050405020304" pitchFamily="18" charset="0"/>
              </a:rPr>
              <a:t>		2. </a:t>
            </a:r>
            <a:r>
              <a:rPr lang="el-GR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Selection</a:t>
            </a:r>
            <a:r>
              <a:rPr lang="el-GR" altLang="el-GR">
                <a:latin typeface="Times New Roman" panose="02020603050405020304" pitchFamily="18" charset="0"/>
              </a:rPr>
              <a:t> structure (επιλογή)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l-GR" altLang="el-GR">
                <a:latin typeface="Times New Roman" panose="02020603050405020304" pitchFamily="18" charset="0"/>
              </a:rPr>
              <a:t>		3. </a:t>
            </a:r>
            <a:r>
              <a:rPr lang="el-GR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Repetition/Loop</a:t>
            </a:r>
            <a:r>
              <a:rPr lang="el-GR" altLang="el-GR" b="1">
                <a:latin typeface="Times New Roman" panose="02020603050405020304" pitchFamily="18" charset="0"/>
              </a:rPr>
              <a:t> </a:t>
            </a:r>
            <a:r>
              <a:rPr lang="el-GR" altLang="el-GR">
                <a:latin typeface="Times New Roman" panose="02020603050405020304" pitchFamily="18" charset="0"/>
              </a:rPr>
              <a:t>structure  (επανάληψη)</a:t>
            </a:r>
          </a:p>
          <a:p>
            <a:pPr eaLnBrk="1" hangingPunct="1"/>
            <a:endParaRPr lang="el-GR" altLang="el-G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BCC8402-544D-51A0-A43D-E61A55A2A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l-GR" sz="4000"/>
              <a:t>Βασικές δομές ελέγχου ροής (</a:t>
            </a:r>
            <a:r>
              <a:rPr lang="el-GR" altLang="el-GR" sz="4000"/>
              <a:t>2</a:t>
            </a:r>
            <a:r>
              <a:rPr lang="en-US" altLang="el-GR" sz="4000"/>
              <a:t>)</a:t>
            </a:r>
            <a:endParaRPr lang="en-GB" altLang="el-GR" sz="4000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2BAB8697-1780-EFFB-7221-85371DFF63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773238"/>
            <a:ext cx="7086600" cy="1981200"/>
          </a:xfrm>
        </p:spPr>
        <p:txBody>
          <a:bodyPr/>
          <a:lstStyle/>
          <a:p>
            <a:pPr eaLnBrk="1" hangingPunct="1"/>
            <a:r>
              <a:rPr lang="el-GR" altLang="el-GR">
                <a:solidFill>
                  <a:schemeClr val="hlink"/>
                </a:solidFill>
                <a:latin typeface="Times New Roman" panose="02020603050405020304" pitchFamily="18" charset="0"/>
              </a:rPr>
              <a:t>Sequence structure</a:t>
            </a:r>
          </a:p>
          <a:p>
            <a:pPr lvl="1" eaLnBrk="1" hangingPunct="1"/>
            <a:r>
              <a:rPr lang="el-GR" altLang="el-GR">
                <a:latin typeface="Times New Roman" panose="02020603050405020304" pitchFamily="18" charset="0"/>
              </a:rPr>
              <a:t>μία πρόταση ή μια ομάδα προτάσεων εκτελείτε η μία μετά την άλλη ακολουθιακά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l-GR" altLang="el-GR">
              <a:latin typeface="Times New Roman" panose="02020603050405020304" pitchFamily="18" charset="0"/>
            </a:endParaRPr>
          </a:p>
        </p:txBody>
      </p:sp>
      <p:pic>
        <p:nvPicPr>
          <p:cNvPr id="23557" name="Picture 5">
            <a:extLst>
              <a:ext uri="{FF2B5EF4-FFF2-40B4-BE49-F238E27FC236}">
                <a16:creationId xmlns:a16="http://schemas.microsoft.com/office/drawing/2014/main" id="{C93CCB2A-C17D-9DE5-6ED1-E26B99632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1844675"/>
            <a:ext cx="600075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Picture 6">
            <a:extLst>
              <a:ext uri="{FF2B5EF4-FFF2-40B4-BE49-F238E27FC236}">
                <a16:creationId xmlns:a16="http://schemas.microsoft.com/office/drawing/2014/main" id="{94B3073F-3F11-0091-99DC-FDE3A183A5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850" y="3933825"/>
            <a:ext cx="14859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7">
            <a:extLst>
              <a:ext uri="{FF2B5EF4-FFF2-40B4-BE49-F238E27FC236}">
                <a16:creationId xmlns:a16="http://schemas.microsoft.com/office/drawing/2014/main" id="{A5008CA2-DF83-951B-8054-99E57AA28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860800"/>
            <a:ext cx="7086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l-GR" altLang="el-GR" sz="3200">
                <a:solidFill>
                  <a:schemeClr val="hlink"/>
                </a:solidFill>
                <a:latin typeface="Times New Roman" panose="02020603050405020304" pitchFamily="18" charset="0"/>
              </a:rPr>
              <a:t>Selection structure</a:t>
            </a:r>
          </a:p>
          <a:p>
            <a:pPr lvl="1" algn="l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l-GR" altLang="el-GR" sz="2800">
                <a:latin typeface="Times New Roman" panose="02020603050405020304" pitchFamily="18" charset="0"/>
              </a:rPr>
              <a:t>Διαφορετικές προτάσεις ή ομάδες προτάσεων εκτελούνται ανάλογα με το αν η τιμή μιας συνθήκης είναι αληθής ή ψευδής</a:t>
            </a: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l-GR" altLang="el-GR" sz="3200">
              <a:latin typeface="Times New Roman" panose="02020603050405020304" pitchFamily="18" charset="0"/>
            </a:endParaRPr>
          </a:p>
          <a:p>
            <a:pPr algn="l" eaLnBrk="1" hangingPunct="1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l-GR" altLang="el-GR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  <p:bldP spid="2355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D60F2FB-4800-1317-B064-BD98419E1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sz="4000"/>
              <a:t>Βασικές δομές ελέγχου ροής</a:t>
            </a:r>
            <a:r>
              <a:rPr lang="en-US" altLang="el-GR" sz="4000"/>
              <a:t> (</a:t>
            </a:r>
            <a:r>
              <a:rPr lang="el-GR" altLang="el-GR" sz="4000"/>
              <a:t>3</a:t>
            </a:r>
            <a:r>
              <a:rPr lang="en-US" altLang="el-GR" sz="4000"/>
              <a:t>)</a:t>
            </a:r>
            <a:endParaRPr lang="en-GB" altLang="el-GR" sz="400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A7008D5-83C3-D5E4-35AF-D6C226813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916113"/>
            <a:ext cx="7086600" cy="4114800"/>
          </a:xfrm>
        </p:spPr>
        <p:txBody>
          <a:bodyPr/>
          <a:lstStyle/>
          <a:p>
            <a:pPr eaLnBrk="1" hangingPunct="1"/>
            <a:r>
              <a:rPr lang="en-US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Repetition</a:t>
            </a:r>
          </a:p>
          <a:p>
            <a:pPr lvl="1" eaLnBrk="1" hangingPunct="1"/>
            <a:r>
              <a:rPr lang="el-GR" altLang="el-GR" sz="2400">
                <a:latin typeface="Times New Roman" panose="02020603050405020304" pitchFamily="18" charset="0"/>
              </a:rPr>
              <a:t>μία πρόταση ή ένα σύνολο προτάσεων εκτελείται επανειλημμένα,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l-GR" altLang="el-GR" sz="2400">
                <a:latin typeface="Times New Roman" panose="02020603050405020304" pitchFamily="18" charset="0"/>
              </a:rPr>
              <a:t>διακρίνεται σε</a:t>
            </a:r>
            <a:r>
              <a:rPr lang="en-US" altLang="el-GR" sz="2400">
                <a:latin typeface="Times New Roman" panose="02020603050405020304" pitchFamily="18" charset="0"/>
              </a:rPr>
              <a:t>:</a:t>
            </a:r>
          </a:p>
          <a:p>
            <a:pPr lvl="1" eaLnBrk="1" hangingPunct="1"/>
            <a:r>
              <a:rPr lang="en-US" altLang="el-GR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conditional loop</a:t>
            </a:r>
          </a:p>
          <a:p>
            <a:pPr lvl="2" eaLnBrk="1" hangingPunct="1"/>
            <a:r>
              <a:rPr lang="en-US" altLang="el-GR" sz="2000">
                <a:latin typeface="Times New Roman" panose="02020603050405020304" pitchFamily="18" charset="0"/>
              </a:rPr>
              <a:t>η </a:t>
            </a:r>
            <a:r>
              <a:rPr lang="el-GR" altLang="el-GR" sz="2000">
                <a:latin typeface="Times New Roman" panose="02020603050405020304" pitchFamily="18" charset="0"/>
              </a:rPr>
              <a:t>επανάληψη εκτελείται </a:t>
            </a:r>
            <a:r>
              <a:rPr lang="el-GR" altLang="el-GR" sz="2000">
                <a:solidFill>
                  <a:schemeClr val="folHlink"/>
                </a:solidFill>
                <a:latin typeface="Times New Roman" panose="02020603050405020304" pitchFamily="18" charset="0"/>
              </a:rPr>
              <a:t>όσο μια συνθήκη είναι αληθής</a:t>
            </a:r>
          </a:p>
          <a:p>
            <a:pPr lvl="1" eaLnBrk="1" hangingPunct="1"/>
            <a:r>
              <a:rPr lang="en-US" altLang="el-GR" sz="2400" b="1">
                <a:solidFill>
                  <a:schemeClr val="hlink"/>
                </a:solidFill>
                <a:latin typeface="Times New Roman" panose="02020603050405020304" pitchFamily="18" charset="0"/>
              </a:rPr>
              <a:t>counting loop</a:t>
            </a:r>
          </a:p>
          <a:p>
            <a:pPr lvl="2" eaLnBrk="1" hangingPunct="1"/>
            <a:r>
              <a:rPr lang="en-US" altLang="el-GR" sz="2000">
                <a:latin typeface="Times New Roman" panose="02020603050405020304" pitchFamily="18" charset="0"/>
              </a:rPr>
              <a:t>η </a:t>
            </a:r>
            <a:r>
              <a:rPr lang="el-GR" altLang="el-GR" sz="2000">
                <a:latin typeface="Times New Roman" panose="02020603050405020304" pitchFamily="18" charset="0"/>
              </a:rPr>
              <a:t>πρόταση ή το σύνολο προτάσεων εκτελείται για </a:t>
            </a:r>
            <a:r>
              <a:rPr lang="el-GR" altLang="el-GR" sz="2000">
                <a:solidFill>
                  <a:schemeClr val="folHlink"/>
                </a:solidFill>
                <a:latin typeface="Times New Roman" panose="02020603050405020304" pitchFamily="18" charset="0"/>
              </a:rPr>
              <a:t>προκαθορισμένο αριθμό επαναλήψεων</a:t>
            </a:r>
          </a:p>
          <a:p>
            <a:pPr eaLnBrk="1" hangingPunct="1"/>
            <a:endParaRPr lang="el-GR" altLang="el-GR" sz="2800">
              <a:latin typeface="Times New Roman" panose="02020603050405020304" pitchFamily="18" charset="0"/>
            </a:endParaRPr>
          </a:p>
          <a:p>
            <a:pPr eaLnBrk="1" hangingPunct="1"/>
            <a:endParaRPr lang="el-GR" altLang="el-GR" sz="2800">
              <a:latin typeface="Times New Roman" panose="02020603050405020304" pitchFamily="18" charset="0"/>
            </a:endParaRPr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48A44728-3C2E-9AFF-FB08-BC8739793C70}"/>
              </a:ext>
            </a:extLst>
          </p:cNvPr>
          <p:cNvGrpSpPr>
            <a:grpSpLocks/>
          </p:cNvGrpSpPr>
          <p:nvPr/>
        </p:nvGrpSpPr>
        <p:grpSpPr bwMode="auto">
          <a:xfrm>
            <a:off x="7164388" y="2060575"/>
            <a:ext cx="1757362" cy="2590800"/>
            <a:chOff x="4512" y="1584"/>
            <a:chExt cx="1107" cy="1632"/>
          </a:xfrm>
        </p:grpSpPr>
        <p:pic>
          <p:nvPicPr>
            <p:cNvPr id="9221" name="Picture 7">
              <a:extLst>
                <a:ext uri="{FF2B5EF4-FFF2-40B4-BE49-F238E27FC236}">
                  <a16:creationId xmlns:a16="http://schemas.microsoft.com/office/drawing/2014/main" id="{C4312F28-D893-B3FD-6F2E-AA2E1D8C20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12" y="1584"/>
              <a:ext cx="1107" cy="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22" name="Line 10">
              <a:extLst>
                <a:ext uri="{FF2B5EF4-FFF2-40B4-BE49-F238E27FC236}">
                  <a16:creationId xmlns:a16="http://schemas.microsoft.com/office/drawing/2014/main" id="{43D675BD-1520-C72A-06B0-AB0E1A86D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6" y="2160"/>
              <a:ext cx="0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l-G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0D23765-E9E6-788D-E2C0-915B75E6B9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sz="4000"/>
              <a:t>Δομημένος Προγραμματισμός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A9ABF2A9-8A5E-5808-E759-CA66343403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1628775"/>
            <a:ext cx="7772400" cy="4114800"/>
          </a:xfrm>
        </p:spPr>
        <p:txBody>
          <a:bodyPr/>
          <a:lstStyle/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l-GR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Η δομή του πηγαίου κώδικα θα πρέπει να μας βοηθά να κατανοήσουμε </a:t>
            </a:r>
          </a:p>
          <a:p>
            <a:pPr algn="ctr" eaLnBrk="1" hangingPunct="1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l-GR" b="1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τι κάνει το πρόγραμμα</a:t>
            </a:r>
            <a:endParaRPr lang="el-GR" b="1"/>
          </a:p>
          <a:p>
            <a:pPr eaLnBrk="1" hangingPunct="1">
              <a:defRPr/>
            </a:pPr>
            <a:endParaRPr lang="en-GB"/>
          </a:p>
        </p:txBody>
      </p:sp>
      <p:sp>
        <p:nvSpPr>
          <p:cNvPr id="80900" name="AutoShape 4">
            <a:extLst>
              <a:ext uri="{FF2B5EF4-FFF2-40B4-BE49-F238E27FC236}">
                <a16:creationId xmlns:a16="http://schemas.microsoft.com/office/drawing/2014/main" id="{41D8E612-7342-5B03-1D54-E0338AC8EC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4292600"/>
            <a:ext cx="8153400" cy="1524000"/>
          </a:xfrm>
          <a:prstGeom prst="wedgeRoundRectCallout">
            <a:avLst>
              <a:gd name="adj1" fmla="val -43319"/>
              <a:gd name="adj2" fmla="val 84583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 sz="2800">
                <a:latin typeface="Times New Roman" panose="02020603050405020304" pitchFamily="18" charset="0"/>
              </a:rPr>
              <a:t>Ο αναγνώστης του δομημένου πηγαίου κώδικα μπορεί </a:t>
            </a:r>
            <a:r>
              <a:rPr lang="el-GR" altLang="el-GR" sz="2800" b="1">
                <a:latin typeface="Times New Roman" panose="02020603050405020304" pitchFamily="18" charset="0"/>
              </a:rPr>
              <a:t>εύκολα να κατανοήσει</a:t>
            </a:r>
            <a:r>
              <a:rPr lang="el-GR" altLang="el-GR" sz="2800">
                <a:latin typeface="Times New Roman" panose="02020603050405020304" pitchFamily="18" charset="0"/>
              </a:rPr>
              <a:t> τι συμβαίνει όταν το πρόγραμμα εκτελείται.</a:t>
            </a:r>
            <a:endParaRPr lang="en-GB" altLang="el-GR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0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F1DFAFE-F0A3-EC9A-520C-013589B5F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Αναγνωσιμότητα Κώδικα</a:t>
            </a:r>
            <a:endParaRPr lang="en-GB" altLang="el-GR"/>
          </a:p>
        </p:txBody>
      </p:sp>
      <p:sp>
        <p:nvSpPr>
          <p:cNvPr id="11267" name="Text Box 3">
            <a:extLst>
              <a:ext uri="{FF2B5EF4-FFF2-40B4-BE49-F238E27FC236}">
                <a16:creationId xmlns:a16="http://schemas.microsoft.com/office/drawing/2014/main" id="{1D649A30-023E-D825-9A9B-33B2919FC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2133600"/>
            <a:ext cx="4451350" cy="435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int max(int a, int b, int c)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{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if(a&gt;b)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if(a&gt;c) 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return a;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return c;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if(b&gt;c)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return b;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return c;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l-GR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}</a:t>
            </a:r>
          </a:p>
          <a:p>
            <a:pPr algn="l" eaLnBrk="1" hangingPunct="1"/>
            <a:endParaRPr lang="en-GB" altLang="el-GR" sz="2000" b="1">
              <a:latin typeface="Courier New" panose="02070309020205020404" pitchFamily="49" charset="0"/>
            </a:endParaRPr>
          </a:p>
        </p:txBody>
      </p:sp>
      <p:sp>
        <p:nvSpPr>
          <p:cNvPr id="81924" name="Text Box 4">
            <a:extLst>
              <a:ext uri="{FF2B5EF4-FFF2-40B4-BE49-F238E27FC236}">
                <a16:creationId xmlns:a16="http://schemas.microsoft.com/office/drawing/2014/main" id="{637B4684-A8E9-4192-5668-BA155BAA4B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2650" y="2286000"/>
            <a:ext cx="4451350" cy="40544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int max(int a, int b, int c)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{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if(a&gt;b)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l-GR" altLang="el-GR" sz="2000" b="1">
                <a:latin typeface="Courier New" panose="02070309020205020404" pitchFamily="49" charset="0"/>
              </a:rPr>
              <a:t>   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if(a&gt;c) </a:t>
            </a:r>
            <a:endParaRPr lang="el-GR" altLang="el-GR" sz="2000" b="1">
              <a:solidFill>
                <a:schemeClr val="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l-GR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return a;</a:t>
            </a:r>
            <a:endParaRPr lang="el-GR" altLang="el-GR" sz="2000" b="1">
              <a:solidFill>
                <a:schemeClr val="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l-GR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   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>
              <a:solidFill>
                <a:schemeClr val="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l-GR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l-GR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return c;</a:t>
            </a:r>
            <a:endParaRPr lang="el-GR" altLang="el-GR" sz="2000" b="1">
              <a:solidFill>
                <a:schemeClr val="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l-GR" altLang="el-GR" sz="2000" b="1">
                <a:latin typeface="Courier New" panose="02070309020205020404" pitchFamily="49" charset="0"/>
              </a:rPr>
              <a:t>    </a:t>
            </a: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if(b&gt;c)</a:t>
            </a:r>
            <a:endParaRPr lang="el-GR" altLang="el-GR" sz="2000" b="1">
              <a:solidFill>
                <a:schemeClr val="fol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l-GR" altLang="el-GR" sz="2000" b="1">
                <a:solidFill>
                  <a:schemeClr val="fol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return b;</a:t>
            </a:r>
            <a:endParaRPr lang="el-GR" altLang="el-GR" sz="2000" b="1">
              <a:solidFill>
                <a:schemeClr val="fol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l-GR" altLang="el-GR" sz="2000" b="1">
                <a:solidFill>
                  <a:schemeClr val="folHlink"/>
                </a:solidFill>
                <a:latin typeface="Courier New" panose="02070309020205020404" pitchFamily="49" charset="0"/>
              </a:rPr>
              <a:t>    </a:t>
            </a: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  <a:endParaRPr lang="el-GR" altLang="el-GR" sz="2000" b="1">
              <a:solidFill>
                <a:schemeClr val="fol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l-GR" altLang="el-GR" sz="2000" b="1">
                <a:solidFill>
                  <a:schemeClr val="folHlink"/>
                </a:solidFill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return c;</a:t>
            </a:r>
            <a:endParaRPr lang="el-GR" altLang="el-GR" sz="2000" b="1">
              <a:solidFill>
                <a:schemeClr val="folHlink"/>
              </a:solidFill>
              <a:latin typeface="Courier New" panose="02070309020205020404" pitchFamily="49" charset="0"/>
              <a:cs typeface="Arial" panose="020B0604020202020204" pitchFamily="34" charset="0"/>
            </a:endParaRPr>
          </a:p>
          <a:p>
            <a:pPr algn="l" eaLnBrk="1" hangingPunct="1"/>
            <a:r>
              <a:rPr lang="en-US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 </a:t>
            </a:r>
            <a:r>
              <a:rPr lang="el-GR" altLang="el-GR" sz="2000" b="1">
                <a:latin typeface="Courier New" panose="02070309020205020404" pitchFamily="49" charset="0"/>
                <a:cs typeface="Arial" panose="020B0604020202020204" pitchFamily="34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4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229F27C-C914-5356-26F3-7DD3CC8B7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Προτάσεις ελέγχου ροής στη</a:t>
            </a:r>
            <a:r>
              <a:rPr lang="en-US" altLang="el-GR"/>
              <a:t> C</a:t>
            </a:r>
            <a:endParaRPr lang="en-GB" altLang="el-GR"/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51CCE0F-5A84-24FE-4258-B0297DD650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700808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l-GR" altLang="el-GR" sz="2800" dirty="0">
                <a:latin typeface="Times New Roman" panose="02020603050405020304" pitchFamily="18" charset="0"/>
              </a:rPr>
              <a:t>Επανάληψης </a:t>
            </a:r>
            <a:r>
              <a:rPr lang="en-US" altLang="el-GR" sz="2000" dirty="0">
                <a:latin typeface="Times New Roman" panose="02020603050405020304" pitchFamily="18" charset="0"/>
              </a:rPr>
              <a:t>(</a:t>
            </a:r>
            <a:r>
              <a:rPr lang="en-US" altLang="el-GR" sz="2000" b="1" dirty="0">
                <a:latin typeface="Times New Roman" panose="02020603050405020304" pitchFamily="18" charset="0"/>
              </a:rPr>
              <a:t>looping</a:t>
            </a:r>
            <a:r>
              <a:rPr lang="en-US" altLang="el-GR" sz="2000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l-GR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for	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l-GR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while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l-GR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do while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dirty="0">
                <a:latin typeface="Times New Roman" panose="02020603050405020304" pitchFamily="18" charset="0"/>
              </a:rPr>
              <a:t>διακλάδωσης υπό συνθήκη</a:t>
            </a:r>
            <a:r>
              <a:rPr lang="en-US" altLang="el-GR" sz="2800" dirty="0">
                <a:latin typeface="Times New Roman" panose="02020603050405020304" pitchFamily="18" charset="0"/>
              </a:rPr>
              <a:t> </a:t>
            </a:r>
            <a:r>
              <a:rPr lang="en-US" altLang="el-GR" sz="2000" dirty="0">
                <a:latin typeface="Times New Roman" panose="02020603050405020304" pitchFamily="18" charset="0"/>
              </a:rPr>
              <a:t>(</a:t>
            </a:r>
            <a:r>
              <a:rPr lang="en-US" altLang="el-GR" sz="2000" b="1" dirty="0">
                <a:latin typeface="Times New Roman" panose="02020603050405020304" pitchFamily="18" charset="0"/>
              </a:rPr>
              <a:t>conditional branching</a:t>
            </a:r>
            <a:r>
              <a:rPr lang="en-US" altLang="el-GR" sz="2000" dirty="0">
                <a:latin typeface="Times New Roman" panose="02020603050405020304" pitchFamily="18" charset="0"/>
              </a:rPr>
              <a:t>)</a:t>
            </a:r>
            <a:endParaRPr lang="en-US" altLang="el-GR" sz="2800" dirty="0">
              <a:latin typeface="Times New Roman" panose="02020603050405020304" pitchFamily="18" charset="0"/>
            </a:endParaRP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l-GR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if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l-GR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if else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l-GR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switch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 sz="2800" dirty="0">
                <a:latin typeface="Times New Roman" panose="02020603050405020304" pitchFamily="18" charset="0"/>
              </a:rPr>
              <a:t>μεταπήδησης</a:t>
            </a:r>
            <a:r>
              <a:rPr lang="en-US" altLang="el-GR" sz="2800" dirty="0">
                <a:latin typeface="Times New Roman" panose="02020603050405020304" pitchFamily="18" charset="0"/>
              </a:rPr>
              <a:t> </a:t>
            </a:r>
            <a:r>
              <a:rPr lang="en-US" altLang="el-GR" sz="2000" dirty="0">
                <a:latin typeface="Times New Roman" panose="02020603050405020304" pitchFamily="18" charset="0"/>
              </a:rPr>
              <a:t>(</a:t>
            </a:r>
            <a:r>
              <a:rPr lang="en-US" altLang="el-GR" sz="2000" b="1" dirty="0">
                <a:latin typeface="Times New Roman" panose="02020603050405020304" pitchFamily="18" charset="0"/>
              </a:rPr>
              <a:t>jumps</a:t>
            </a:r>
            <a:r>
              <a:rPr lang="en-US" altLang="el-GR" sz="2000" dirty="0">
                <a:latin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l-GR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break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l-GR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continue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</a:pPr>
            <a:r>
              <a:rPr lang="en-US" altLang="el-GR" sz="2400" dirty="0" err="1">
                <a:solidFill>
                  <a:schemeClr val="hlink"/>
                </a:solidFill>
                <a:latin typeface="Times New Roman" panose="02020603050405020304" pitchFamily="18" charset="0"/>
              </a:rPr>
              <a:t>goto</a:t>
            </a:r>
            <a:endParaRPr lang="en-US" altLang="el-GR" sz="2400" dirty="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GB" altLang="el-GR" sz="240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546BFED-903C-C1D8-5FBA-532E6D549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Πρόταση </a:t>
            </a:r>
            <a:r>
              <a:rPr lang="en-US" altLang="el-GR"/>
              <a:t>for</a:t>
            </a:r>
            <a:endParaRPr lang="en-GB" altLang="el-GR"/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3117DD33-1E81-DFFE-2B15-41046C49E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1628775"/>
            <a:ext cx="7772400" cy="4114800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 b="1">
                <a:latin typeface="Times New Roman" panose="02020603050405020304" pitchFamily="18" charset="0"/>
              </a:rPr>
              <a:t>for (</a:t>
            </a:r>
            <a:r>
              <a:rPr lang="en-US" altLang="el-GR">
                <a:latin typeface="Times New Roman" panose="02020603050405020304" pitchFamily="18" charset="0"/>
              </a:rPr>
              <a:t>έκφραση1 </a:t>
            </a:r>
            <a:r>
              <a:rPr lang="en-US" altLang="el-GR" b="1">
                <a:latin typeface="Times New Roman" panose="02020603050405020304" pitchFamily="18" charset="0"/>
              </a:rPr>
              <a:t>;</a:t>
            </a:r>
            <a:r>
              <a:rPr lang="en-US" altLang="el-GR">
                <a:latin typeface="Times New Roman" panose="02020603050405020304" pitchFamily="18" charset="0"/>
              </a:rPr>
              <a:t> έκφραση2</a:t>
            </a:r>
            <a:r>
              <a:rPr lang="en-US" altLang="el-GR" b="1">
                <a:latin typeface="Times New Roman" panose="02020603050405020304" pitchFamily="18" charset="0"/>
              </a:rPr>
              <a:t> ; </a:t>
            </a:r>
            <a:r>
              <a:rPr lang="en-US" altLang="el-GR">
                <a:latin typeface="Times New Roman" panose="02020603050405020304" pitchFamily="18" charset="0"/>
              </a:rPr>
              <a:t>έκφραση3 </a:t>
            </a:r>
            <a:r>
              <a:rPr lang="en-US" altLang="el-GR" b="1">
                <a:latin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l-GR">
                <a:latin typeface="Times New Roman" panose="02020603050405020304" pitchFamily="18" charset="0"/>
              </a:rPr>
              <a:t>	</a:t>
            </a:r>
            <a:r>
              <a:rPr lang="en-US" altLang="el-GR" b="1">
                <a:latin typeface="Times New Roman" panose="02020603050405020304" pitchFamily="18" charset="0"/>
              </a:rPr>
              <a:t>πρόταση</a:t>
            </a:r>
          </a:p>
          <a:p>
            <a:pPr eaLnBrk="1" hangingPunct="1"/>
            <a:endParaRPr lang="en-GB" altLang="el-GR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2E4C568C-F9EC-C311-5771-08042C3F3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300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l-GR" altLang="el-GR"/>
          </a:p>
        </p:txBody>
      </p:sp>
      <p:grpSp>
        <p:nvGrpSpPr>
          <p:cNvPr id="17413" name="Group 5">
            <a:extLst>
              <a:ext uri="{FF2B5EF4-FFF2-40B4-BE49-F238E27FC236}">
                <a16:creationId xmlns:a16="http://schemas.microsoft.com/office/drawing/2014/main" id="{B7B24E57-C9F6-A012-882D-B604CE5C9454}"/>
              </a:ext>
            </a:extLst>
          </p:cNvPr>
          <p:cNvGrpSpPr>
            <a:grpSpLocks/>
          </p:cNvGrpSpPr>
          <p:nvPr/>
        </p:nvGrpSpPr>
        <p:grpSpPr bwMode="auto">
          <a:xfrm>
            <a:off x="684213" y="2924175"/>
            <a:ext cx="4208462" cy="3046413"/>
            <a:chOff x="421" y="2072"/>
            <a:chExt cx="2651" cy="1919"/>
          </a:xfrm>
        </p:grpSpPr>
        <p:sp>
          <p:nvSpPr>
            <p:cNvPr id="17415" name="Rectangle 6">
              <a:extLst>
                <a:ext uri="{FF2B5EF4-FFF2-40B4-BE49-F238E27FC236}">
                  <a16:creationId xmlns:a16="http://schemas.microsoft.com/office/drawing/2014/main" id="{E6E98DF3-48EB-0D5B-7DF3-8CFF0CF68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" y="2319"/>
              <a:ext cx="618" cy="1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16" name="Rectangle 7">
              <a:extLst>
                <a:ext uri="{FF2B5EF4-FFF2-40B4-BE49-F238E27FC236}">
                  <a16:creationId xmlns:a16="http://schemas.microsoft.com/office/drawing/2014/main" id="{AD360A57-21E1-1198-ABEF-6E3278D116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" y="2320"/>
              <a:ext cx="624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17" name="Rectangle 8">
              <a:extLst>
                <a:ext uri="{FF2B5EF4-FFF2-40B4-BE49-F238E27FC236}">
                  <a16:creationId xmlns:a16="http://schemas.microsoft.com/office/drawing/2014/main" id="{8DBD4D6F-A2E1-8B92-7D80-B65FF14FB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304"/>
              <a:ext cx="589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l-GR" altLang="el-GR" sz="1700">
                  <a:solidFill>
                    <a:schemeClr val="hlink"/>
                  </a:solidFill>
                  <a:latin typeface="Times New Roman" panose="02020603050405020304" pitchFamily="18" charset="0"/>
                </a:rPr>
                <a:t>έκφραση 1</a:t>
              </a:r>
              <a:endParaRPr lang="en-GB" altLang="el-GR">
                <a:solidFill>
                  <a:schemeClr val="hlink"/>
                </a:solidFill>
              </a:endParaRPr>
            </a:p>
          </p:txBody>
        </p:sp>
        <p:sp>
          <p:nvSpPr>
            <p:cNvPr id="17418" name="Freeform 9">
              <a:extLst>
                <a:ext uri="{FF2B5EF4-FFF2-40B4-BE49-F238E27FC236}">
                  <a16:creationId xmlns:a16="http://schemas.microsoft.com/office/drawing/2014/main" id="{21963F43-EC9B-910B-FD3D-C2A63511164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" y="2704"/>
              <a:ext cx="994" cy="483"/>
            </a:xfrm>
            <a:custGeom>
              <a:avLst/>
              <a:gdLst>
                <a:gd name="T0" fmla="*/ 496 w 994"/>
                <a:gd name="T1" fmla="*/ 0 h 483"/>
                <a:gd name="T2" fmla="*/ 0 w 994"/>
                <a:gd name="T3" fmla="*/ 241 h 483"/>
                <a:gd name="T4" fmla="*/ 496 w 994"/>
                <a:gd name="T5" fmla="*/ 483 h 483"/>
                <a:gd name="T6" fmla="*/ 994 w 994"/>
                <a:gd name="T7" fmla="*/ 241 h 483"/>
                <a:gd name="T8" fmla="*/ 496 w 994"/>
                <a:gd name="T9" fmla="*/ 0 h 4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4"/>
                <a:gd name="T16" fmla="*/ 0 h 483"/>
                <a:gd name="T17" fmla="*/ 994 w 994"/>
                <a:gd name="T18" fmla="*/ 483 h 4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4" h="483">
                  <a:moveTo>
                    <a:pt x="496" y="0"/>
                  </a:moveTo>
                  <a:lnTo>
                    <a:pt x="0" y="241"/>
                  </a:lnTo>
                  <a:lnTo>
                    <a:pt x="496" y="483"/>
                  </a:lnTo>
                  <a:lnTo>
                    <a:pt x="994" y="241"/>
                  </a:lnTo>
                  <a:lnTo>
                    <a:pt x="49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19" name="Rectangle 10">
              <a:extLst>
                <a:ext uri="{FF2B5EF4-FFF2-40B4-BE49-F238E27FC236}">
                  <a16:creationId xmlns:a16="http://schemas.microsoft.com/office/drawing/2014/main" id="{512F312F-B94D-65E4-B426-09D34B811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" y="2806"/>
              <a:ext cx="371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20" name="Rectangle 11">
              <a:extLst>
                <a:ext uri="{FF2B5EF4-FFF2-40B4-BE49-F238E27FC236}">
                  <a16:creationId xmlns:a16="http://schemas.microsoft.com/office/drawing/2014/main" id="{F75D9882-DEFB-079A-BFE8-00A1DBABC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880"/>
              <a:ext cx="60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l-GR" altLang="el-GR" sz="1600">
                  <a:solidFill>
                    <a:schemeClr val="hlink"/>
                  </a:solidFill>
                </a:rPr>
                <a:t>έκφραση 2</a:t>
              </a:r>
              <a:endParaRPr lang="en-GB" altLang="el-GR" sz="1600">
                <a:solidFill>
                  <a:schemeClr val="hlink"/>
                </a:solidFill>
              </a:endParaRPr>
            </a:p>
          </p:txBody>
        </p:sp>
        <p:sp>
          <p:nvSpPr>
            <p:cNvPr id="17421" name="Rectangle 12">
              <a:extLst>
                <a:ext uri="{FF2B5EF4-FFF2-40B4-BE49-F238E27FC236}">
                  <a16:creationId xmlns:a16="http://schemas.microsoft.com/office/drawing/2014/main" id="{F05DF88E-64B9-4AB1-5D62-4C9596FCCE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" y="2945"/>
              <a:ext cx="59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22" name="Rectangle 13">
              <a:extLst>
                <a:ext uri="{FF2B5EF4-FFF2-40B4-BE49-F238E27FC236}">
                  <a16:creationId xmlns:a16="http://schemas.microsoft.com/office/drawing/2014/main" id="{3AD8F47C-913A-1295-D5EA-952912F1B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402"/>
              <a:ext cx="1514" cy="27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l-GR" altLang="el-GR" sz="2000">
                  <a:latin typeface="Times New Roman" panose="02020603050405020304" pitchFamily="18" charset="0"/>
                </a:rPr>
                <a:t>πρόταση</a:t>
              </a:r>
              <a:endParaRPr lang="en-GB" altLang="el-GR" sz="2000">
                <a:latin typeface="Times New Roman" panose="02020603050405020304" pitchFamily="18" charset="0"/>
              </a:endParaRPr>
            </a:p>
          </p:txBody>
        </p:sp>
        <p:sp>
          <p:nvSpPr>
            <p:cNvPr id="17423" name="Rectangle 14">
              <a:extLst>
                <a:ext uri="{FF2B5EF4-FFF2-40B4-BE49-F238E27FC236}">
                  <a16:creationId xmlns:a16="http://schemas.microsoft.com/office/drawing/2014/main" id="{89938565-7F9D-291A-FE69-14745FE9E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" y="3400"/>
              <a:ext cx="1442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24" name="Rectangle 15">
              <a:extLst>
                <a:ext uri="{FF2B5EF4-FFF2-40B4-BE49-F238E27FC236}">
                  <a16:creationId xmlns:a16="http://schemas.microsoft.com/office/drawing/2014/main" id="{E38D612D-BBD3-A7FA-C746-C8DA6940A3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" y="3539"/>
              <a:ext cx="114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25" name="Rectangle 16">
              <a:extLst>
                <a:ext uri="{FF2B5EF4-FFF2-40B4-BE49-F238E27FC236}">
                  <a16:creationId xmlns:a16="http://schemas.microsoft.com/office/drawing/2014/main" id="{C9B255BF-BC97-F2FC-5B6E-639720572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539"/>
              <a:ext cx="877" cy="1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26" name="Rectangle 17">
              <a:extLst>
                <a:ext uri="{FF2B5EF4-FFF2-40B4-BE49-F238E27FC236}">
                  <a16:creationId xmlns:a16="http://schemas.microsoft.com/office/drawing/2014/main" id="{783DB298-B255-425B-DAA7-039DC316A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7" y="2878"/>
              <a:ext cx="885" cy="1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27" name="Rectangle 18">
              <a:extLst>
                <a:ext uri="{FF2B5EF4-FFF2-40B4-BE49-F238E27FC236}">
                  <a16:creationId xmlns:a16="http://schemas.microsoft.com/office/drawing/2014/main" id="{B33CD26F-F5AA-F290-1FE0-52CEA9FF8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9" y="2880"/>
              <a:ext cx="79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l-GR" altLang="el-GR" sz="1600">
                  <a:solidFill>
                    <a:schemeClr val="hlink"/>
                  </a:solidFill>
                </a:rPr>
                <a:t>έκφραση 3</a:t>
              </a:r>
              <a:endParaRPr lang="en-GB" altLang="el-GR" sz="1600">
                <a:solidFill>
                  <a:schemeClr val="hlink"/>
                </a:solidFill>
              </a:endParaRPr>
            </a:p>
          </p:txBody>
        </p:sp>
        <p:sp>
          <p:nvSpPr>
            <p:cNvPr id="17428" name="Rectangle 19">
              <a:extLst>
                <a:ext uri="{FF2B5EF4-FFF2-40B4-BE49-F238E27FC236}">
                  <a16:creationId xmlns:a16="http://schemas.microsoft.com/office/drawing/2014/main" id="{A8BC95A3-3C3B-013F-E6A2-59E4DBC1BC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4" y="3787"/>
              <a:ext cx="1170" cy="1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29" name="Rectangle 20">
              <a:extLst>
                <a:ext uri="{FF2B5EF4-FFF2-40B4-BE49-F238E27FC236}">
                  <a16:creationId xmlns:a16="http://schemas.microsoft.com/office/drawing/2014/main" id="{0840BA78-F9A9-7476-B561-8F0382FE04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30" name="Rectangle 21">
              <a:extLst>
                <a:ext uri="{FF2B5EF4-FFF2-40B4-BE49-F238E27FC236}">
                  <a16:creationId xmlns:a16="http://schemas.microsoft.com/office/drawing/2014/main" id="{6A6C61E6-A6B7-1F40-F402-F123CC8995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" y="3815"/>
              <a:ext cx="7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&lt;</a:t>
              </a:r>
              <a:endParaRPr lang="en-GB" altLang="el-GR"/>
            </a:p>
          </p:txBody>
        </p:sp>
        <p:sp>
          <p:nvSpPr>
            <p:cNvPr id="17431" name="Rectangle 22">
              <a:extLst>
                <a:ext uri="{FF2B5EF4-FFF2-40B4-BE49-F238E27FC236}">
                  <a16:creationId xmlns:a16="http://schemas.microsoft.com/office/drawing/2014/main" id="{A38AD922-63BE-0819-621F-DBF7DCFB8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3789"/>
              <a:ext cx="110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32" name="Rectangle 23">
              <a:extLst>
                <a:ext uri="{FF2B5EF4-FFF2-40B4-BE49-F238E27FC236}">
                  <a16:creationId xmlns:a16="http://schemas.microsoft.com/office/drawing/2014/main" id="{442CF21B-E8DC-DED9-6D29-821221647C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9" y="3815"/>
              <a:ext cx="490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επόμενη </a:t>
              </a:r>
              <a:endParaRPr lang="en-GB" altLang="el-GR"/>
            </a:p>
          </p:txBody>
        </p:sp>
        <p:sp>
          <p:nvSpPr>
            <p:cNvPr id="17433" name="Rectangle 24">
              <a:extLst>
                <a:ext uri="{FF2B5EF4-FFF2-40B4-BE49-F238E27FC236}">
                  <a16:creationId xmlns:a16="http://schemas.microsoft.com/office/drawing/2014/main" id="{80D7E952-EE1B-CAFD-55D9-4C9DC66D4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" y="3815"/>
              <a:ext cx="475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πρόταση</a:t>
              </a:r>
              <a:endParaRPr lang="en-GB" altLang="el-GR"/>
            </a:p>
          </p:txBody>
        </p:sp>
        <p:sp>
          <p:nvSpPr>
            <p:cNvPr id="17434" name="Rectangle 25">
              <a:extLst>
                <a:ext uri="{FF2B5EF4-FFF2-40B4-BE49-F238E27FC236}">
                  <a16:creationId xmlns:a16="http://schemas.microsoft.com/office/drawing/2014/main" id="{AED9C07A-304C-9A2F-275F-A516082CE0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789"/>
              <a:ext cx="143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35" name="Rectangle 26">
              <a:extLst>
                <a:ext uri="{FF2B5EF4-FFF2-40B4-BE49-F238E27FC236}">
                  <a16:creationId xmlns:a16="http://schemas.microsoft.com/office/drawing/2014/main" id="{D85D640D-5ED7-360D-23D9-30F5CA44B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" y="3815"/>
              <a:ext cx="77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&gt;</a:t>
              </a:r>
              <a:endParaRPr lang="en-GB" altLang="el-GR"/>
            </a:p>
          </p:txBody>
        </p:sp>
        <p:sp>
          <p:nvSpPr>
            <p:cNvPr id="17436" name="Freeform 27">
              <a:extLst>
                <a:ext uri="{FF2B5EF4-FFF2-40B4-BE49-F238E27FC236}">
                  <a16:creationId xmlns:a16="http://schemas.microsoft.com/office/drawing/2014/main" id="{30537E90-E905-0735-4BA5-58EF6915F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072"/>
              <a:ext cx="12" cy="165"/>
            </a:xfrm>
            <a:custGeom>
              <a:avLst/>
              <a:gdLst>
                <a:gd name="T0" fmla="*/ 11 w 12"/>
                <a:gd name="T1" fmla="*/ 0 h 165"/>
                <a:gd name="T2" fmla="*/ 0 w 12"/>
                <a:gd name="T3" fmla="*/ 0 h 165"/>
                <a:gd name="T4" fmla="*/ 1 w 12"/>
                <a:gd name="T5" fmla="*/ 165 h 165"/>
                <a:gd name="T6" fmla="*/ 12 w 12"/>
                <a:gd name="T7" fmla="*/ 165 h 165"/>
                <a:gd name="T8" fmla="*/ 11 w 12"/>
                <a:gd name="T9" fmla="*/ 0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65"/>
                <a:gd name="T17" fmla="*/ 12 w 12"/>
                <a:gd name="T18" fmla="*/ 165 h 16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65">
                  <a:moveTo>
                    <a:pt x="11" y="0"/>
                  </a:moveTo>
                  <a:lnTo>
                    <a:pt x="0" y="0"/>
                  </a:lnTo>
                  <a:lnTo>
                    <a:pt x="1" y="165"/>
                  </a:lnTo>
                  <a:lnTo>
                    <a:pt x="12" y="16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37" name="Freeform 28">
              <a:extLst>
                <a:ext uri="{FF2B5EF4-FFF2-40B4-BE49-F238E27FC236}">
                  <a16:creationId xmlns:a16="http://schemas.microsoft.com/office/drawing/2014/main" id="{13067C04-A88E-BBC2-1779-3F0158033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207"/>
              <a:ext cx="65" cy="109"/>
            </a:xfrm>
            <a:custGeom>
              <a:avLst/>
              <a:gdLst>
                <a:gd name="T0" fmla="*/ 0 w 65"/>
                <a:gd name="T1" fmla="*/ 0 h 109"/>
                <a:gd name="T2" fmla="*/ 32 w 65"/>
                <a:gd name="T3" fmla="*/ 14 h 109"/>
                <a:gd name="T4" fmla="*/ 65 w 65"/>
                <a:gd name="T5" fmla="*/ 0 h 109"/>
                <a:gd name="T6" fmla="*/ 32 w 65"/>
                <a:gd name="T7" fmla="*/ 109 h 109"/>
                <a:gd name="T8" fmla="*/ 0 w 65"/>
                <a:gd name="T9" fmla="*/ 0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9"/>
                <a:gd name="T17" fmla="*/ 65 w 65"/>
                <a:gd name="T18" fmla="*/ 109 h 10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9">
                  <a:moveTo>
                    <a:pt x="0" y="0"/>
                  </a:moveTo>
                  <a:lnTo>
                    <a:pt x="32" y="14"/>
                  </a:lnTo>
                  <a:lnTo>
                    <a:pt x="65" y="0"/>
                  </a:lnTo>
                  <a:lnTo>
                    <a:pt x="32" y="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38" name="Freeform 29">
              <a:extLst>
                <a:ext uri="{FF2B5EF4-FFF2-40B4-BE49-F238E27FC236}">
                  <a16:creationId xmlns:a16="http://schemas.microsoft.com/office/drawing/2014/main" id="{516A8CFE-FC0B-6D1E-7992-2913427E3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2491"/>
              <a:ext cx="12" cy="131"/>
            </a:xfrm>
            <a:custGeom>
              <a:avLst/>
              <a:gdLst>
                <a:gd name="T0" fmla="*/ 11 w 12"/>
                <a:gd name="T1" fmla="*/ 0 h 131"/>
                <a:gd name="T2" fmla="*/ 0 w 12"/>
                <a:gd name="T3" fmla="*/ 0 h 131"/>
                <a:gd name="T4" fmla="*/ 1 w 12"/>
                <a:gd name="T5" fmla="*/ 131 h 131"/>
                <a:gd name="T6" fmla="*/ 12 w 12"/>
                <a:gd name="T7" fmla="*/ 131 h 131"/>
                <a:gd name="T8" fmla="*/ 11 w 12"/>
                <a:gd name="T9" fmla="*/ 0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1"/>
                <a:gd name="T17" fmla="*/ 12 w 12"/>
                <a:gd name="T18" fmla="*/ 131 h 1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1">
                  <a:moveTo>
                    <a:pt x="11" y="0"/>
                  </a:moveTo>
                  <a:lnTo>
                    <a:pt x="0" y="0"/>
                  </a:lnTo>
                  <a:lnTo>
                    <a:pt x="1" y="131"/>
                  </a:lnTo>
                  <a:lnTo>
                    <a:pt x="12" y="131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39" name="Freeform 30">
              <a:extLst>
                <a:ext uri="{FF2B5EF4-FFF2-40B4-BE49-F238E27FC236}">
                  <a16:creationId xmlns:a16="http://schemas.microsoft.com/office/drawing/2014/main" id="{A9CE60D0-8D09-1A8E-3400-61EBD2DCA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5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0" name="Freeform 31">
              <a:extLst>
                <a:ext uri="{FF2B5EF4-FFF2-40B4-BE49-F238E27FC236}">
                  <a16:creationId xmlns:a16="http://schemas.microsoft.com/office/drawing/2014/main" id="{38C2790B-EE89-FA50-40EE-D60DA6C32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9" y="3190"/>
              <a:ext cx="12" cy="130"/>
            </a:xfrm>
            <a:custGeom>
              <a:avLst/>
              <a:gdLst>
                <a:gd name="T0" fmla="*/ 11 w 12"/>
                <a:gd name="T1" fmla="*/ 0 h 130"/>
                <a:gd name="T2" fmla="*/ 0 w 12"/>
                <a:gd name="T3" fmla="*/ 0 h 130"/>
                <a:gd name="T4" fmla="*/ 1 w 12"/>
                <a:gd name="T5" fmla="*/ 130 h 130"/>
                <a:gd name="T6" fmla="*/ 12 w 12"/>
                <a:gd name="T7" fmla="*/ 130 h 130"/>
                <a:gd name="T8" fmla="*/ 11 w 12"/>
                <a:gd name="T9" fmla="*/ 0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"/>
                <a:gd name="T16" fmla="*/ 0 h 130"/>
                <a:gd name="T17" fmla="*/ 12 w 12"/>
                <a:gd name="T18" fmla="*/ 130 h 1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" h="130">
                  <a:moveTo>
                    <a:pt x="11" y="0"/>
                  </a:moveTo>
                  <a:lnTo>
                    <a:pt x="0" y="0"/>
                  </a:lnTo>
                  <a:lnTo>
                    <a:pt x="1" y="130"/>
                  </a:lnTo>
                  <a:lnTo>
                    <a:pt x="12" y="13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1" name="Freeform 32">
              <a:extLst>
                <a:ext uri="{FF2B5EF4-FFF2-40B4-BE49-F238E27FC236}">
                  <a16:creationId xmlns:a16="http://schemas.microsoft.com/office/drawing/2014/main" id="{9E8BA4EB-7915-9112-50DB-61D064832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3292"/>
              <a:ext cx="65" cy="108"/>
            </a:xfrm>
            <a:custGeom>
              <a:avLst/>
              <a:gdLst>
                <a:gd name="T0" fmla="*/ 0 w 65"/>
                <a:gd name="T1" fmla="*/ 0 h 108"/>
                <a:gd name="T2" fmla="*/ 32 w 65"/>
                <a:gd name="T3" fmla="*/ 13 h 108"/>
                <a:gd name="T4" fmla="*/ 65 w 65"/>
                <a:gd name="T5" fmla="*/ 0 h 108"/>
                <a:gd name="T6" fmla="*/ 32 w 65"/>
                <a:gd name="T7" fmla="*/ 108 h 108"/>
                <a:gd name="T8" fmla="*/ 0 w 65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5"/>
                <a:gd name="T16" fmla="*/ 0 h 108"/>
                <a:gd name="T17" fmla="*/ 65 w 65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5" h="108">
                  <a:moveTo>
                    <a:pt x="0" y="0"/>
                  </a:moveTo>
                  <a:lnTo>
                    <a:pt x="32" y="13"/>
                  </a:lnTo>
                  <a:lnTo>
                    <a:pt x="65" y="0"/>
                  </a:lnTo>
                  <a:lnTo>
                    <a:pt x="32" y="1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2" name="Rectangle 33">
              <a:extLst>
                <a:ext uri="{FF2B5EF4-FFF2-40B4-BE49-F238E27FC236}">
                  <a16:creationId xmlns:a16="http://schemas.microsoft.com/office/drawing/2014/main" id="{8808B8F9-8853-9DEC-474E-C5317C7644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6" y="3499"/>
              <a:ext cx="415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3" name="Rectangle 34">
              <a:extLst>
                <a:ext uri="{FF2B5EF4-FFF2-40B4-BE49-F238E27FC236}">
                  <a16:creationId xmlns:a16="http://schemas.microsoft.com/office/drawing/2014/main" id="{4DED693E-2D3A-4FC4-4B1D-4386EC938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4" y="3130"/>
              <a:ext cx="12" cy="37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4" name="Freeform 35">
              <a:extLst>
                <a:ext uri="{FF2B5EF4-FFF2-40B4-BE49-F238E27FC236}">
                  <a16:creationId xmlns:a16="http://schemas.microsoft.com/office/drawing/2014/main" id="{7F8B8FFB-9467-3729-7B6B-104F95E8F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6" y="3050"/>
              <a:ext cx="67" cy="108"/>
            </a:xfrm>
            <a:custGeom>
              <a:avLst/>
              <a:gdLst>
                <a:gd name="T0" fmla="*/ 67 w 67"/>
                <a:gd name="T1" fmla="*/ 108 h 108"/>
                <a:gd name="T2" fmla="*/ 34 w 67"/>
                <a:gd name="T3" fmla="*/ 95 h 108"/>
                <a:gd name="T4" fmla="*/ 0 w 67"/>
                <a:gd name="T5" fmla="*/ 108 h 108"/>
                <a:gd name="T6" fmla="*/ 34 w 67"/>
                <a:gd name="T7" fmla="*/ 0 h 108"/>
                <a:gd name="T8" fmla="*/ 67 w 67"/>
                <a:gd name="T9" fmla="*/ 108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08"/>
                <a:gd name="T17" fmla="*/ 67 w 67"/>
                <a:gd name="T18" fmla="*/ 108 h 1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08">
                  <a:moveTo>
                    <a:pt x="67" y="108"/>
                  </a:moveTo>
                  <a:lnTo>
                    <a:pt x="34" y="95"/>
                  </a:lnTo>
                  <a:lnTo>
                    <a:pt x="0" y="108"/>
                  </a:lnTo>
                  <a:lnTo>
                    <a:pt x="34" y="0"/>
                  </a:lnTo>
                  <a:lnTo>
                    <a:pt x="67" y="10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5" name="Rectangle 36">
              <a:extLst>
                <a:ext uri="{FF2B5EF4-FFF2-40B4-BE49-F238E27FC236}">
                  <a16:creationId xmlns:a16="http://schemas.microsoft.com/office/drawing/2014/main" id="{1BB28468-21AB-94B5-EF85-8EA42285E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0" y="2940"/>
              <a:ext cx="476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6" name="Freeform 37">
              <a:extLst>
                <a:ext uri="{FF2B5EF4-FFF2-40B4-BE49-F238E27FC236}">
                  <a16:creationId xmlns:a16="http://schemas.microsoft.com/office/drawing/2014/main" id="{ACCED557-51B4-C51B-B56E-714D3DE2F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3" y="2911"/>
              <a:ext cx="106" cy="68"/>
            </a:xfrm>
            <a:custGeom>
              <a:avLst/>
              <a:gdLst>
                <a:gd name="T0" fmla="*/ 106 w 106"/>
                <a:gd name="T1" fmla="*/ 0 h 68"/>
                <a:gd name="T2" fmla="*/ 93 w 106"/>
                <a:gd name="T3" fmla="*/ 34 h 68"/>
                <a:gd name="T4" fmla="*/ 106 w 106"/>
                <a:gd name="T5" fmla="*/ 68 h 68"/>
                <a:gd name="T6" fmla="*/ 0 w 106"/>
                <a:gd name="T7" fmla="*/ 34 h 68"/>
                <a:gd name="T8" fmla="*/ 106 w 106"/>
                <a:gd name="T9" fmla="*/ 0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8"/>
                <a:gd name="T17" fmla="*/ 106 w 106"/>
                <a:gd name="T18" fmla="*/ 68 h 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8">
                  <a:moveTo>
                    <a:pt x="106" y="0"/>
                  </a:moveTo>
                  <a:lnTo>
                    <a:pt x="93" y="34"/>
                  </a:lnTo>
                  <a:lnTo>
                    <a:pt x="106" y="68"/>
                  </a:lnTo>
                  <a:lnTo>
                    <a:pt x="0" y="34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7" name="Rectangle 38">
              <a:extLst>
                <a:ext uri="{FF2B5EF4-FFF2-40B4-BE49-F238E27FC236}">
                  <a16:creationId xmlns:a16="http://schemas.microsoft.com/office/drawing/2014/main" id="{74F54A36-476F-32D0-54A7-719A76B267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940"/>
              <a:ext cx="242" cy="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8" name="Rectangle 39">
              <a:extLst>
                <a:ext uri="{FF2B5EF4-FFF2-40B4-BE49-F238E27FC236}">
                  <a16:creationId xmlns:a16="http://schemas.microsoft.com/office/drawing/2014/main" id="{FB495ACA-364A-B321-55DB-F2F3D4844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" y="2945"/>
              <a:ext cx="12" cy="91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49" name="Freeform 40">
              <a:extLst>
                <a:ext uri="{FF2B5EF4-FFF2-40B4-BE49-F238E27FC236}">
                  <a16:creationId xmlns:a16="http://schemas.microsoft.com/office/drawing/2014/main" id="{551C4C1C-97A3-D048-C4CE-1E95C67E4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" y="3849"/>
              <a:ext cx="197" cy="12"/>
            </a:xfrm>
            <a:custGeom>
              <a:avLst/>
              <a:gdLst>
                <a:gd name="T0" fmla="*/ 0 w 197"/>
                <a:gd name="T1" fmla="*/ 0 h 12"/>
                <a:gd name="T2" fmla="*/ 0 w 197"/>
                <a:gd name="T3" fmla="*/ 11 h 12"/>
                <a:gd name="T4" fmla="*/ 197 w 197"/>
                <a:gd name="T5" fmla="*/ 12 h 12"/>
                <a:gd name="T6" fmla="*/ 197 w 197"/>
                <a:gd name="T7" fmla="*/ 1 h 12"/>
                <a:gd name="T8" fmla="*/ 0 w 197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97"/>
                <a:gd name="T16" fmla="*/ 0 h 12"/>
                <a:gd name="T17" fmla="*/ 197 w 197"/>
                <a:gd name="T18" fmla="*/ 12 h 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97" h="12">
                  <a:moveTo>
                    <a:pt x="0" y="0"/>
                  </a:moveTo>
                  <a:lnTo>
                    <a:pt x="0" y="11"/>
                  </a:lnTo>
                  <a:lnTo>
                    <a:pt x="197" y="12"/>
                  </a:lnTo>
                  <a:lnTo>
                    <a:pt x="197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50" name="Freeform 41">
              <a:extLst>
                <a:ext uri="{FF2B5EF4-FFF2-40B4-BE49-F238E27FC236}">
                  <a16:creationId xmlns:a16="http://schemas.microsoft.com/office/drawing/2014/main" id="{12EBD275-E15C-D80A-DC86-18E0830A1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3821"/>
              <a:ext cx="106" cy="66"/>
            </a:xfrm>
            <a:custGeom>
              <a:avLst/>
              <a:gdLst>
                <a:gd name="T0" fmla="*/ 0 w 106"/>
                <a:gd name="T1" fmla="*/ 66 h 66"/>
                <a:gd name="T2" fmla="*/ 13 w 106"/>
                <a:gd name="T3" fmla="*/ 33 h 66"/>
                <a:gd name="T4" fmla="*/ 0 w 106"/>
                <a:gd name="T5" fmla="*/ 0 h 66"/>
                <a:gd name="T6" fmla="*/ 106 w 106"/>
                <a:gd name="T7" fmla="*/ 33 h 66"/>
                <a:gd name="T8" fmla="*/ 0 w 106"/>
                <a:gd name="T9" fmla="*/ 66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"/>
                <a:gd name="T16" fmla="*/ 0 h 66"/>
                <a:gd name="T17" fmla="*/ 106 w 106"/>
                <a:gd name="T18" fmla="*/ 66 h 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" h="66">
                  <a:moveTo>
                    <a:pt x="0" y="66"/>
                  </a:moveTo>
                  <a:lnTo>
                    <a:pt x="13" y="33"/>
                  </a:lnTo>
                  <a:lnTo>
                    <a:pt x="0" y="0"/>
                  </a:lnTo>
                  <a:lnTo>
                    <a:pt x="106" y="3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51" name="Rectangle 42">
              <a:extLst>
                <a:ext uri="{FF2B5EF4-FFF2-40B4-BE49-F238E27FC236}">
                  <a16:creationId xmlns:a16="http://schemas.microsoft.com/office/drawing/2014/main" id="{06E23E28-6A90-D06E-9E7E-31E16A3C3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04"/>
              <a:ext cx="290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52" name="Rectangle 43">
              <a:extLst>
                <a:ext uri="{FF2B5EF4-FFF2-40B4-BE49-F238E27FC236}">
                  <a16:creationId xmlns:a16="http://schemas.microsoft.com/office/drawing/2014/main" id="{33E97F7D-614A-6E12-07EA-CAEC846F1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3231"/>
              <a:ext cx="211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true</a:t>
              </a:r>
              <a:endParaRPr lang="en-GB" altLang="el-GR"/>
            </a:p>
          </p:txBody>
        </p:sp>
        <p:sp>
          <p:nvSpPr>
            <p:cNvPr id="17453" name="Rectangle 44">
              <a:extLst>
                <a:ext uri="{FF2B5EF4-FFF2-40B4-BE49-F238E27FC236}">
                  <a16:creationId xmlns:a16="http://schemas.microsoft.com/office/drawing/2014/main" id="{A3E26836-678D-95DE-8E07-E1563A794E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784"/>
              <a:ext cx="339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54" name="Rectangle 45">
              <a:extLst>
                <a:ext uri="{FF2B5EF4-FFF2-40B4-BE49-F238E27FC236}">
                  <a16:creationId xmlns:a16="http://schemas.microsoft.com/office/drawing/2014/main" id="{16CFA6FF-5072-0BD9-E2C4-CD343AF77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" y="2811"/>
              <a:ext cx="256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1700">
                  <a:solidFill>
                    <a:srgbClr val="000000"/>
                  </a:solidFill>
                  <a:latin typeface="Times New Roman" panose="02020603050405020304" pitchFamily="18" charset="0"/>
                </a:rPr>
                <a:t>false</a:t>
              </a:r>
              <a:endParaRPr lang="en-GB" altLang="el-GR"/>
            </a:p>
          </p:txBody>
        </p:sp>
        <p:sp>
          <p:nvSpPr>
            <p:cNvPr id="17455" name="Rectangle 46">
              <a:extLst>
                <a:ext uri="{FF2B5EF4-FFF2-40B4-BE49-F238E27FC236}">
                  <a16:creationId xmlns:a16="http://schemas.microsoft.com/office/drawing/2014/main" id="{35CAC43B-DA08-4358-F50E-88D8DDD0ED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083"/>
              <a:ext cx="252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7456" name="Rectangle 47">
              <a:extLst>
                <a:ext uri="{FF2B5EF4-FFF2-40B4-BE49-F238E27FC236}">
                  <a16:creationId xmlns:a16="http://schemas.microsoft.com/office/drawing/2014/main" id="{CAB4AFD4-FEF8-7BCD-7F08-A246EF79D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" y="2110"/>
              <a:ext cx="173" cy="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17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for</a:t>
              </a:r>
              <a:endParaRPr lang="en-GB" altLang="el-GR"/>
            </a:p>
          </p:txBody>
        </p:sp>
      </p:grpSp>
      <p:sp>
        <p:nvSpPr>
          <p:cNvPr id="82992" name="Rectangle 48">
            <a:extLst>
              <a:ext uri="{FF2B5EF4-FFF2-40B4-BE49-F238E27FC236}">
                <a16:creationId xmlns:a16="http://schemas.microsoft.com/office/drawing/2014/main" id="{36BA80A5-BC4C-3930-1175-F6F6D4CDA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743200"/>
            <a:ext cx="50292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l-GR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for (</a:t>
            </a:r>
            <a:r>
              <a:rPr lang="en-US" altLang="el-GR" sz="3200">
                <a:solidFill>
                  <a:schemeClr val="accent1"/>
                </a:solidFill>
                <a:latin typeface="Times New Roman" panose="02020603050405020304" pitchFamily="18" charset="0"/>
              </a:rPr>
              <a:t>initialize </a:t>
            </a:r>
            <a:r>
              <a:rPr lang="en-US" altLang="el-GR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;</a:t>
            </a:r>
            <a:r>
              <a:rPr lang="en-US" altLang="el-GR" sz="3200">
                <a:solidFill>
                  <a:schemeClr val="accent1"/>
                </a:solidFill>
                <a:latin typeface="Times New Roman" panose="02020603050405020304" pitchFamily="18" charset="0"/>
              </a:rPr>
              <a:t> test </a:t>
            </a:r>
            <a:r>
              <a:rPr lang="en-US" altLang="el-GR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; </a:t>
            </a:r>
            <a:r>
              <a:rPr lang="en-US" altLang="el-GR" sz="3200">
                <a:solidFill>
                  <a:schemeClr val="accent1"/>
                </a:solidFill>
                <a:latin typeface="Times New Roman" panose="02020603050405020304" pitchFamily="18" charset="0"/>
              </a:rPr>
              <a:t>update </a:t>
            </a:r>
            <a:r>
              <a:rPr lang="en-US" altLang="el-GR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)</a:t>
            </a:r>
          </a:p>
          <a:p>
            <a:pPr algn="l"/>
            <a:r>
              <a:rPr lang="en-US" altLang="el-GR" sz="3200">
                <a:solidFill>
                  <a:schemeClr val="accent1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πρόταση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82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47" grpId="0" build="p"/>
      <p:bldP spid="829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>
            <a:extLst>
              <a:ext uri="{FF2B5EF4-FFF2-40B4-BE49-F238E27FC236}">
                <a16:creationId xmlns:a16="http://schemas.microsoft.com/office/drawing/2014/main" id="{088EE8BA-B408-E5D0-280C-4E964FB266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Πρόταση </a:t>
            </a:r>
            <a:r>
              <a:rPr lang="en-US" altLang="el-GR"/>
              <a:t>for</a:t>
            </a:r>
            <a:endParaRPr lang="en-GB" altLang="el-GR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28ED406E-2F79-BC64-E831-3AE9DD5B1B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l-GR" altLang="el-GR" sz="2800" b="1">
                <a:solidFill>
                  <a:schemeClr val="folHlink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for</a:t>
            </a:r>
            <a:r>
              <a:rPr lang="el-GR" altLang="el-GR" sz="2400" b="1">
                <a:solidFill>
                  <a:schemeClr val="hlink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(</a:t>
            </a:r>
            <a:r>
              <a:rPr lang="el-GR" altLang="el-GR" sz="2400" b="1">
                <a:latin typeface="Courier New" panose="02070309020205020404" pitchFamily="49" charset="0"/>
                <a:cs typeface="Times New Roman" panose="02020603050405020304" pitchFamily="18" charset="0"/>
              </a:rPr>
              <a:t>count=1</a:t>
            </a:r>
            <a:r>
              <a:rPr lang="el-GR" altLang="el-GR" sz="2400" b="1">
                <a:solidFill>
                  <a:schemeClr val="hlink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;count&lt;max_count;</a:t>
            </a:r>
            <a:r>
              <a:rPr lang="el-GR" altLang="el-GR" sz="2400" b="1">
                <a:solidFill>
                  <a:schemeClr val="accent2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count++</a:t>
            </a:r>
            <a:r>
              <a:rPr lang="el-GR" altLang="el-GR" sz="2400" b="1">
                <a:solidFill>
                  <a:schemeClr val="accent2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sz="2400">
                <a:solidFill>
                  <a:schemeClr val="hlink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)</a:t>
            </a:r>
            <a:r>
              <a:rPr lang="el-GR" altLang="el-GR" sz="2400">
                <a:solidFill>
                  <a:schemeClr val="hlink"/>
                </a:solidFill>
                <a:latin typeface="Courier New" panose="02070309020205020404" pitchFamily="49" charset="0"/>
              </a:rPr>
              <a:t> </a:t>
            </a:r>
            <a:r>
              <a:rPr lang="el-GR" altLang="el-GR" sz="2400" b="1">
                <a:solidFill>
                  <a:schemeClr val="accent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{</a:t>
            </a:r>
            <a:endParaRPr lang="en-AU" altLang="el-GR" sz="2400" b="1">
              <a:solidFill>
                <a:schemeClr val="accent1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l-GR" altLang="el-GR" sz="2400" b="1" i="1">
                <a:solidFill>
                  <a:schemeClr val="accent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printf(“count is %d\n”,count);</a:t>
            </a:r>
            <a:endParaRPr lang="en-AU" altLang="el-GR" sz="2400" b="1">
              <a:solidFill>
                <a:schemeClr val="accent1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l-GR" altLang="el-GR" sz="2400" b="1" i="1">
                <a:solidFill>
                  <a:schemeClr val="accent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&lt; άλλες προτάσεις &gt;</a:t>
            </a:r>
            <a:endParaRPr lang="en-AU" altLang="el-GR" sz="2400" b="1">
              <a:solidFill>
                <a:schemeClr val="accent1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l-GR" altLang="el-GR" sz="2400" b="1" i="1">
                <a:solidFill>
                  <a:schemeClr val="accent1"/>
                </a:solidFill>
                <a:latin typeface="Courier New" panose="02070309020205020404" pitchFamily="49" charset="0"/>
                <a:cs typeface="Times New Roman" panose="02020603050405020304" pitchFamily="18" charset="0"/>
              </a:rPr>
              <a:t>	}</a:t>
            </a:r>
            <a:endParaRPr lang="en-AU" altLang="el-GR" sz="2400" b="1">
              <a:solidFill>
                <a:schemeClr val="accent1"/>
              </a:solidFill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l-GR" altLang="el-GR" sz="2400" i="1">
                <a:latin typeface="Courier New" panose="02070309020205020404" pitchFamily="49" charset="0"/>
                <a:cs typeface="Times New Roman" panose="02020603050405020304" pitchFamily="18" charset="0"/>
              </a:rPr>
              <a:t>&lt; επόμενη πρόταση &gt;</a:t>
            </a:r>
            <a:endParaRPr lang="en-AU" altLang="el-GR" sz="2400">
              <a:latin typeface="Courier New" panose="02070309020205020404" pitchFamily="49" charset="0"/>
              <a:cs typeface="Times New Roman" panose="02020603050405020304" pitchFamily="18" charset="0"/>
            </a:endParaRPr>
          </a:p>
          <a:p>
            <a:pPr eaLnBrk="1" hangingPunct="1"/>
            <a:endParaRPr lang="en-GB" altLang="el-GR" sz="2400">
              <a:latin typeface="Courier New" panose="02070309020205020404" pitchFamily="49" charset="0"/>
            </a:endParaRPr>
          </a:p>
        </p:txBody>
      </p:sp>
      <p:sp>
        <p:nvSpPr>
          <p:cNvPr id="1029" name="Rectangle 4">
            <a:extLst>
              <a:ext uri="{FF2B5EF4-FFF2-40B4-BE49-F238E27FC236}">
                <a16:creationId xmlns:a16="http://schemas.microsoft.com/office/drawing/2014/main" id="{1C2F8D17-3D3E-52A3-7899-6A8CF07E6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300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l-GR" altLang="el-GR"/>
          </a:p>
        </p:txBody>
      </p:sp>
      <p:sp>
        <p:nvSpPr>
          <p:cNvPr id="1030" name="Rectangle 45">
            <a:extLst>
              <a:ext uri="{FF2B5EF4-FFF2-40B4-BE49-F238E27FC236}">
                <a16:creationId xmlns:a16="http://schemas.microsoft.com/office/drawing/2014/main" id="{67CC205F-487A-50A7-D6A9-1C27FB24D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475" y="3306763"/>
            <a:ext cx="400050" cy="32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l-GR" altLang="el-GR"/>
          </a:p>
        </p:txBody>
      </p:sp>
      <p:sp>
        <p:nvSpPr>
          <p:cNvPr id="1031" name="Rectangle 48">
            <a:extLst>
              <a:ext uri="{FF2B5EF4-FFF2-40B4-BE49-F238E27FC236}">
                <a16:creationId xmlns:a16="http://schemas.microsoft.com/office/drawing/2014/main" id="{1B2C95A5-BDD3-006E-D5F6-AD976AD6D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1825" y="2300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l-GR" altLang="el-GR"/>
          </a:p>
        </p:txBody>
      </p:sp>
      <p:graphicFrame>
        <p:nvGraphicFramePr>
          <p:cNvPr id="33839" name="Object 47">
            <a:extLst>
              <a:ext uri="{FF2B5EF4-FFF2-40B4-BE49-F238E27FC236}">
                <a16:creationId xmlns:a16="http://schemas.microsoft.com/office/drawing/2014/main" id="{CB76234E-E2EB-1D46-5388-41467DCA46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59338" y="2852738"/>
          <a:ext cx="4038600" cy="325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01112" imgH="2258568" progId="Word.Picture.8">
                  <p:embed/>
                </p:oleObj>
              </mc:Choice>
              <mc:Fallback>
                <p:oleObj r:id="rId3" imgW="2801112" imgH="2258568" progId="Word.Picture.8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2852738"/>
                        <a:ext cx="4038600" cy="3255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3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1AF5173-DA23-ABBB-6695-5DD98FBECD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Πρόταση </a:t>
            </a:r>
            <a:r>
              <a:rPr lang="en-US" altLang="el-GR"/>
              <a:t>while</a:t>
            </a:r>
            <a:r>
              <a:rPr lang="el-GR" altLang="el-GR"/>
              <a:t> (1)</a:t>
            </a:r>
            <a:endParaRPr lang="en-GB" altLang="el-GR"/>
          </a:p>
        </p:txBody>
      </p:sp>
      <p:sp>
        <p:nvSpPr>
          <p:cNvPr id="34822" name="Rectangle 6">
            <a:extLst>
              <a:ext uri="{FF2B5EF4-FFF2-40B4-BE49-F238E27FC236}">
                <a16:creationId xmlns:a16="http://schemas.microsoft.com/office/drawing/2014/main" id="{7D165232-D9E5-5CF3-2255-2A62BD62A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048000"/>
            <a:ext cx="45720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l-GR" sz="3200" b="1">
                <a:solidFill>
                  <a:schemeClr val="hlink"/>
                </a:solidFill>
                <a:latin typeface="Times New Roman" panose="02020603050405020304" pitchFamily="18" charset="0"/>
              </a:rPr>
              <a:t>while ( </a:t>
            </a:r>
            <a:r>
              <a:rPr lang="en-US" altLang="el-GR" sz="3200">
                <a:solidFill>
                  <a:schemeClr val="hlink"/>
                </a:solidFill>
                <a:latin typeface="Times New Roman" panose="02020603050405020304" pitchFamily="18" charset="0"/>
              </a:rPr>
              <a:t>έκφραση </a:t>
            </a:r>
            <a:r>
              <a:rPr lang="en-US" altLang="el-GR" sz="3200" b="1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endParaRPr lang="en-US" altLang="el-GR" sz="3200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algn="l">
              <a:spcBef>
                <a:spcPct val="50000"/>
              </a:spcBef>
            </a:pPr>
            <a:r>
              <a:rPr lang="en-US" altLang="el-GR" sz="320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sz="3200" b="1">
                <a:solidFill>
                  <a:schemeClr val="hlink"/>
                </a:solidFill>
                <a:latin typeface="Times New Roman" panose="02020603050405020304" pitchFamily="18" charset="0"/>
              </a:rPr>
              <a:t>πρόταση</a:t>
            </a:r>
          </a:p>
        </p:txBody>
      </p:sp>
      <p:sp>
        <p:nvSpPr>
          <p:cNvPr id="18436" name="Rectangle 7">
            <a:extLst>
              <a:ext uri="{FF2B5EF4-FFF2-40B4-BE49-F238E27FC236}">
                <a16:creationId xmlns:a16="http://schemas.microsoft.com/office/drawing/2014/main" id="{3B6CF233-889C-FE28-69A0-589BBFD7D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133600"/>
            <a:ext cx="3479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/>
            <a:r>
              <a:rPr lang="en-US" altLang="el-GR" sz="3200">
                <a:solidFill>
                  <a:schemeClr val="folHlink"/>
                </a:solidFill>
                <a:latin typeface="HellasTimes" charset="0"/>
              </a:rPr>
              <a:t>entry condition loop</a:t>
            </a:r>
            <a:endParaRPr lang="en-GB" altLang="el-GR" sz="3200">
              <a:solidFill>
                <a:schemeClr val="folHlink"/>
              </a:solidFill>
              <a:latin typeface="HellasTimes" charset="0"/>
            </a:endParaRPr>
          </a:p>
        </p:txBody>
      </p:sp>
      <p:sp>
        <p:nvSpPr>
          <p:cNvPr id="18437" name="Rectangle 10">
            <a:extLst>
              <a:ext uri="{FF2B5EF4-FFF2-40B4-BE49-F238E27FC236}">
                <a16:creationId xmlns:a16="http://schemas.microsoft.com/office/drawing/2014/main" id="{6BA4B234-29D8-B6EF-C0E4-83CC942CD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2325" y="23622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l-GR" altLang="el-GR"/>
          </a:p>
        </p:txBody>
      </p:sp>
      <p:grpSp>
        <p:nvGrpSpPr>
          <p:cNvPr id="18438" name="Group 36">
            <a:extLst>
              <a:ext uri="{FF2B5EF4-FFF2-40B4-BE49-F238E27FC236}">
                <a16:creationId xmlns:a16="http://schemas.microsoft.com/office/drawing/2014/main" id="{804AB45B-6465-72A6-1C41-DF4D91E61875}"/>
              </a:ext>
            </a:extLst>
          </p:cNvPr>
          <p:cNvGrpSpPr>
            <a:grpSpLocks/>
          </p:cNvGrpSpPr>
          <p:nvPr/>
        </p:nvGrpSpPr>
        <p:grpSpPr bwMode="auto">
          <a:xfrm>
            <a:off x="4875213" y="2474913"/>
            <a:ext cx="3660775" cy="3300412"/>
            <a:chOff x="3071" y="1559"/>
            <a:chExt cx="2306" cy="2079"/>
          </a:xfrm>
        </p:grpSpPr>
        <p:sp>
          <p:nvSpPr>
            <p:cNvPr id="18439" name="Freeform 12">
              <a:extLst>
                <a:ext uri="{FF2B5EF4-FFF2-40B4-BE49-F238E27FC236}">
                  <a16:creationId xmlns:a16="http://schemas.microsoft.com/office/drawing/2014/main" id="{8FCF58CD-7E59-5DB0-270F-847D1E3B7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875"/>
              <a:ext cx="1322" cy="543"/>
            </a:xfrm>
            <a:custGeom>
              <a:avLst/>
              <a:gdLst>
                <a:gd name="T0" fmla="*/ 1323 w 2644"/>
                <a:gd name="T1" fmla="*/ 0 h 1084"/>
                <a:gd name="T2" fmla="*/ 0 w 2644"/>
                <a:gd name="T3" fmla="*/ 543 h 1084"/>
                <a:gd name="T4" fmla="*/ 1323 w 2644"/>
                <a:gd name="T5" fmla="*/ 1084 h 1084"/>
                <a:gd name="T6" fmla="*/ 2644 w 2644"/>
                <a:gd name="T7" fmla="*/ 543 h 1084"/>
                <a:gd name="T8" fmla="*/ 1323 w 2644"/>
                <a:gd name="T9" fmla="*/ 0 h 10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44"/>
                <a:gd name="T16" fmla="*/ 0 h 1084"/>
                <a:gd name="T17" fmla="*/ 2644 w 2644"/>
                <a:gd name="T18" fmla="*/ 1084 h 10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44" h="1084">
                  <a:moveTo>
                    <a:pt x="1323" y="0"/>
                  </a:moveTo>
                  <a:lnTo>
                    <a:pt x="0" y="543"/>
                  </a:lnTo>
                  <a:lnTo>
                    <a:pt x="1323" y="1084"/>
                  </a:lnTo>
                  <a:lnTo>
                    <a:pt x="2644" y="543"/>
                  </a:lnTo>
                  <a:lnTo>
                    <a:pt x="1323" y="0"/>
                  </a:lnTo>
                  <a:close/>
                </a:path>
              </a:pathLst>
            </a:custGeom>
            <a:solidFill>
              <a:srgbClr val="FFFFFF"/>
            </a:solidFill>
            <a:ln w="1111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8440" name="Rectangle 13">
              <a:extLst>
                <a:ext uri="{FF2B5EF4-FFF2-40B4-BE49-F238E27FC236}">
                  <a16:creationId xmlns:a16="http://schemas.microsoft.com/office/drawing/2014/main" id="{D32E81A3-867A-33D3-F998-19AB8E538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016"/>
              <a:ext cx="690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l-GR" altLang="el-GR">
                  <a:solidFill>
                    <a:schemeClr val="hlink"/>
                  </a:solidFill>
                  <a:latin typeface="Times New Roman" panose="02020603050405020304" pitchFamily="18" charset="0"/>
                </a:rPr>
                <a:t>έκφραση</a:t>
              </a:r>
              <a:endParaRPr lang="en-GB" altLang="el-GR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441" name="Rectangle 14">
              <a:extLst>
                <a:ext uri="{FF2B5EF4-FFF2-40B4-BE49-F238E27FC236}">
                  <a16:creationId xmlns:a16="http://schemas.microsoft.com/office/drawing/2014/main" id="{584C9C33-4E57-5E36-D902-DB4CF18BB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2736"/>
              <a:ext cx="2026" cy="347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r>
                <a:rPr lang="el-GR" altLang="el-GR">
                  <a:solidFill>
                    <a:schemeClr val="hlink"/>
                  </a:solidFill>
                </a:rPr>
                <a:t>Πρόταση</a:t>
              </a:r>
              <a:endParaRPr lang="en-GB" altLang="el-GR">
                <a:solidFill>
                  <a:schemeClr val="hlink"/>
                </a:solidFill>
              </a:endParaRPr>
            </a:p>
          </p:txBody>
        </p:sp>
        <p:sp>
          <p:nvSpPr>
            <p:cNvPr id="18442" name="Rectangle 17">
              <a:extLst>
                <a:ext uri="{FF2B5EF4-FFF2-40B4-BE49-F238E27FC236}">
                  <a16:creationId xmlns:a16="http://schemas.microsoft.com/office/drawing/2014/main" id="{2D4A4755-36A1-08A0-2882-F9E27A07F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6" y="3401"/>
              <a:ext cx="1439" cy="230"/>
            </a:xfrm>
            <a:prstGeom prst="rect">
              <a:avLst/>
            </a:prstGeom>
            <a:solidFill>
              <a:srgbClr val="FFFFFF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8443" name="Rectangle 18">
              <a:extLst>
                <a:ext uri="{FF2B5EF4-FFF2-40B4-BE49-F238E27FC236}">
                  <a16:creationId xmlns:a16="http://schemas.microsoft.com/office/drawing/2014/main" id="{AC04DEC8-AB03-7E07-0DD8-BE4C3860A1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3" y="3423"/>
              <a:ext cx="15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&lt;</a:t>
              </a:r>
              <a:endParaRPr lang="en-GB" altLang="el-GR"/>
            </a:p>
          </p:txBody>
        </p:sp>
        <p:sp>
          <p:nvSpPr>
            <p:cNvPr id="18444" name="Rectangle 19">
              <a:extLst>
                <a:ext uri="{FF2B5EF4-FFF2-40B4-BE49-F238E27FC236}">
                  <a16:creationId xmlns:a16="http://schemas.microsoft.com/office/drawing/2014/main" id="{6B0A08A8-E684-F93B-470D-B1F07D32D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1" y="3423"/>
              <a:ext cx="11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επόμενη πρόταση</a:t>
              </a:r>
              <a:endParaRPr lang="en-GB" altLang="el-GR"/>
            </a:p>
          </p:txBody>
        </p:sp>
        <p:sp>
          <p:nvSpPr>
            <p:cNvPr id="18445" name="Rectangle 20">
              <a:extLst>
                <a:ext uri="{FF2B5EF4-FFF2-40B4-BE49-F238E27FC236}">
                  <a16:creationId xmlns:a16="http://schemas.microsoft.com/office/drawing/2014/main" id="{ED8D5CC5-51C8-A730-4388-334B96331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0" y="3423"/>
              <a:ext cx="19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&gt; </a:t>
              </a:r>
              <a:endParaRPr lang="en-GB" altLang="el-GR"/>
            </a:p>
          </p:txBody>
        </p:sp>
        <p:sp>
          <p:nvSpPr>
            <p:cNvPr id="18446" name="Line 21">
              <a:extLst>
                <a:ext uri="{FF2B5EF4-FFF2-40B4-BE49-F238E27FC236}">
                  <a16:creationId xmlns:a16="http://schemas.microsoft.com/office/drawing/2014/main" id="{ECFB180B-57FC-0F98-5A00-92CD1EBAA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7" y="1559"/>
              <a:ext cx="1" cy="22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8447" name="Freeform 22">
              <a:extLst>
                <a:ext uri="{FF2B5EF4-FFF2-40B4-BE49-F238E27FC236}">
                  <a16:creationId xmlns:a16="http://schemas.microsoft.com/office/drawing/2014/main" id="{123D427D-3829-84DF-56C3-620E5D4F4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1751"/>
              <a:ext cx="75" cy="121"/>
            </a:xfrm>
            <a:custGeom>
              <a:avLst/>
              <a:gdLst>
                <a:gd name="T0" fmla="*/ 0 w 150"/>
                <a:gd name="T1" fmla="*/ 0 h 241"/>
                <a:gd name="T2" fmla="*/ 75 w 150"/>
                <a:gd name="T3" fmla="*/ 29 h 241"/>
                <a:gd name="T4" fmla="*/ 150 w 150"/>
                <a:gd name="T5" fmla="*/ 0 h 241"/>
                <a:gd name="T6" fmla="*/ 75 w 150"/>
                <a:gd name="T7" fmla="*/ 241 h 241"/>
                <a:gd name="T8" fmla="*/ 0 w 150"/>
                <a:gd name="T9" fmla="*/ 0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241"/>
                <a:gd name="T17" fmla="*/ 150 w 150"/>
                <a:gd name="T18" fmla="*/ 241 h 2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241">
                  <a:moveTo>
                    <a:pt x="0" y="0"/>
                  </a:moveTo>
                  <a:lnTo>
                    <a:pt x="75" y="29"/>
                  </a:lnTo>
                  <a:lnTo>
                    <a:pt x="150" y="0"/>
                  </a:lnTo>
                  <a:lnTo>
                    <a:pt x="75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8448" name="Line 23">
              <a:extLst>
                <a:ext uri="{FF2B5EF4-FFF2-40B4-BE49-F238E27FC236}">
                  <a16:creationId xmlns:a16="http://schemas.microsoft.com/office/drawing/2014/main" id="{CF9F7442-A01A-56B8-CB8B-60904E8E96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7" y="2420"/>
              <a:ext cx="1" cy="22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8449" name="Freeform 24">
              <a:extLst>
                <a:ext uri="{FF2B5EF4-FFF2-40B4-BE49-F238E27FC236}">
                  <a16:creationId xmlns:a16="http://schemas.microsoft.com/office/drawing/2014/main" id="{2F2647DD-C8FC-D21C-8915-A045B475E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612"/>
              <a:ext cx="75" cy="121"/>
            </a:xfrm>
            <a:custGeom>
              <a:avLst/>
              <a:gdLst>
                <a:gd name="T0" fmla="*/ 0 w 150"/>
                <a:gd name="T1" fmla="*/ 0 h 241"/>
                <a:gd name="T2" fmla="*/ 75 w 150"/>
                <a:gd name="T3" fmla="*/ 29 h 241"/>
                <a:gd name="T4" fmla="*/ 150 w 150"/>
                <a:gd name="T5" fmla="*/ 0 h 241"/>
                <a:gd name="T6" fmla="*/ 75 w 150"/>
                <a:gd name="T7" fmla="*/ 241 h 241"/>
                <a:gd name="T8" fmla="*/ 0 w 150"/>
                <a:gd name="T9" fmla="*/ 0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50"/>
                <a:gd name="T16" fmla="*/ 0 h 241"/>
                <a:gd name="T17" fmla="*/ 150 w 150"/>
                <a:gd name="T18" fmla="*/ 241 h 24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50" h="241">
                  <a:moveTo>
                    <a:pt x="0" y="0"/>
                  </a:moveTo>
                  <a:lnTo>
                    <a:pt x="75" y="29"/>
                  </a:lnTo>
                  <a:lnTo>
                    <a:pt x="150" y="0"/>
                  </a:lnTo>
                  <a:lnTo>
                    <a:pt x="75" y="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8450" name="Line 25">
              <a:extLst>
                <a:ext uri="{FF2B5EF4-FFF2-40B4-BE49-F238E27FC236}">
                  <a16:creationId xmlns:a16="http://schemas.microsoft.com/office/drawing/2014/main" id="{8309B09D-91D7-26AD-D076-704B62247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0" y="2929"/>
              <a:ext cx="197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8451" name="Line 26">
              <a:extLst>
                <a:ext uri="{FF2B5EF4-FFF2-40B4-BE49-F238E27FC236}">
                  <a16:creationId xmlns:a16="http://schemas.microsoft.com/office/drawing/2014/main" id="{829357E0-F64D-0009-5335-90508FA22D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1" y="2146"/>
              <a:ext cx="576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8452" name="Freeform 27">
              <a:extLst>
                <a:ext uri="{FF2B5EF4-FFF2-40B4-BE49-F238E27FC236}">
                  <a16:creationId xmlns:a16="http://schemas.microsoft.com/office/drawing/2014/main" id="{360838D6-25B8-E5F0-1D69-4F8CC9552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1" y="2109"/>
              <a:ext cx="121" cy="75"/>
            </a:xfrm>
            <a:custGeom>
              <a:avLst/>
              <a:gdLst>
                <a:gd name="T0" fmla="*/ 240 w 240"/>
                <a:gd name="T1" fmla="*/ 0 h 150"/>
                <a:gd name="T2" fmla="*/ 211 w 240"/>
                <a:gd name="T3" fmla="*/ 75 h 150"/>
                <a:gd name="T4" fmla="*/ 240 w 240"/>
                <a:gd name="T5" fmla="*/ 150 h 150"/>
                <a:gd name="T6" fmla="*/ 0 w 240"/>
                <a:gd name="T7" fmla="*/ 75 h 150"/>
                <a:gd name="T8" fmla="*/ 240 w 240"/>
                <a:gd name="T9" fmla="*/ 0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0"/>
                <a:gd name="T16" fmla="*/ 0 h 150"/>
                <a:gd name="T17" fmla="*/ 240 w 240"/>
                <a:gd name="T18" fmla="*/ 150 h 1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0" h="150">
                  <a:moveTo>
                    <a:pt x="240" y="0"/>
                  </a:moveTo>
                  <a:lnTo>
                    <a:pt x="211" y="75"/>
                  </a:lnTo>
                  <a:lnTo>
                    <a:pt x="240" y="150"/>
                  </a:lnTo>
                  <a:lnTo>
                    <a:pt x="0" y="75"/>
                  </a:lnTo>
                  <a:lnTo>
                    <a:pt x="24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8453" name="Line 28">
              <a:extLst>
                <a:ext uri="{FF2B5EF4-FFF2-40B4-BE49-F238E27FC236}">
                  <a16:creationId xmlns:a16="http://schemas.microsoft.com/office/drawing/2014/main" id="{CFEE68BB-FF48-A9B2-8178-C79452131F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75" y="2146"/>
              <a:ext cx="1" cy="784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8454" name="Line 29">
              <a:extLst>
                <a:ext uri="{FF2B5EF4-FFF2-40B4-BE49-F238E27FC236}">
                  <a16:creationId xmlns:a16="http://schemas.microsoft.com/office/drawing/2014/main" id="{81AB1C7C-D1C3-A275-34AB-399A44FABE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71" y="2146"/>
              <a:ext cx="314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8455" name="Line 30">
              <a:extLst>
                <a:ext uri="{FF2B5EF4-FFF2-40B4-BE49-F238E27FC236}">
                  <a16:creationId xmlns:a16="http://schemas.microsoft.com/office/drawing/2014/main" id="{8C6DEF43-15D0-4DBE-0BB9-F316CAC166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2146"/>
              <a:ext cx="1" cy="137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8456" name="Line 31">
              <a:extLst>
                <a:ext uri="{FF2B5EF4-FFF2-40B4-BE49-F238E27FC236}">
                  <a16:creationId xmlns:a16="http://schemas.microsoft.com/office/drawing/2014/main" id="{EA552220-C743-32EE-62A3-622B7C0467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1" y="3516"/>
              <a:ext cx="2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l-GR"/>
            </a:p>
          </p:txBody>
        </p:sp>
        <p:sp>
          <p:nvSpPr>
            <p:cNvPr id="18457" name="Freeform 32">
              <a:extLst>
                <a:ext uri="{FF2B5EF4-FFF2-40B4-BE49-F238E27FC236}">
                  <a16:creationId xmlns:a16="http://schemas.microsoft.com/office/drawing/2014/main" id="{5A009922-0336-3486-8349-04272B044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2" y="3478"/>
              <a:ext cx="121" cy="75"/>
            </a:xfrm>
            <a:custGeom>
              <a:avLst/>
              <a:gdLst>
                <a:gd name="T0" fmla="*/ 0 w 241"/>
                <a:gd name="T1" fmla="*/ 150 h 150"/>
                <a:gd name="T2" fmla="*/ 30 w 241"/>
                <a:gd name="T3" fmla="*/ 75 h 150"/>
                <a:gd name="T4" fmla="*/ 0 w 241"/>
                <a:gd name="T5" fmla="*/ 0 h 150"/>
                <a:gd name="T6" fmla="*/ 241 w 241"/>
                <a:gd name="T7" fmla="*/ 75 h 150"/>
                <a:gd name="T8" fmla="*/ 0 w 241"/>
                <a:gd name="T9" fmla="*/ 150 h 1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1"/>
                <a:gd name="T16" fmla="*/ 0 h 150"/>
                <a:gd name="T17" fmla="*/ 241 w 241"/>
                <a:gd name="T18" fmla="*/ 150 h 1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1" h="150">
                  <a:moveTo>
                    <a:pt x="0" y="150"/>
                  </a:moveTo>
                  <a:lnTo>
                    <a:pt x="30" y="75"/>
                  </a:lnTo>
                  <a:lnTo>
                    <a:pt x="0" y="0"/>
                  </a:lnTo>
                  <a:lnTo>
                    <a:pt x="241" y="75"/>
                  </a:lnTo>
                  <a:lnTo>
                    <a:pt x="0" y="1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/>
              <a:endParaRPr lang="el-GR" altLang="el-GR"/>
            </a:p>
          </p:txBody>
        </p:sp>
        <p:sp>
          <p:nvSpPr>
            <p:cNvPr id="18458" name="Rectangle 33">
              <a:extLst>
                <a:ext uri="{FF2B5EF4-FFF2-40B4-BE49-F238E27FC236}">
                  <a16:creationId xmlns:a16="http://schemas.microsoft.com/office/drawing/2014/main" id="{9B3A9C28-1871-4F75-B17F-3B742964A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620"/>
              <a:ext cx="430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2000" b="1">
                  <a:solidFill>
                    <a:srgbClr val="000000"/>
                  </a:solidFill>
                  <a:latin typeface="Times New Roman" panose="02020603050405020304" pitchFamily="18" charset="0"/>
                </a:rPr>
                <a:t>while</a:t>
              </a:r>
              <a:endParaRPr lang="en-GB" altLang="el-GR"/>
            </a:p>
          </p:txBody>
        </p:sp>
        <p:sp>
          <p:nvSpPr>
            <p:cNvPr id="18459" name="Rectangle 34">
              <a:extLst>
                <a:ext uri="{FF2B5EF4-FFF2-40B4-BE49-F238E27FC236}">
                  <a16:creationId xmlns:a16="http://schemas.microsoft.com/office/drawing/2014/main" id="{0069D744-91FC-902F-9DB2-B5413F5CD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6" y="2476"/>
              <a:ext cx="312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true</a:t>
              </a:r>
              <a:endParaRPr lang="en-GB" altLang="el-GR"/>
            </a:p>
          </p:txBody>
        </p:sp>
        <p:sp>
          <p:nvSpPr>
            <p:cNvPr id="18460" name="Rectangle 35">
              <a:extLst>
                <a:ext uri="{FF2B5EF4-FFF2-40B4-BE49-F238E27FC236}">
                  <a16:creationId xmlns:a16="http://schemas.microsoft.com/office/drawing/2014/main" id="{F99CDE72-F861-060D-8F6B-13D890BA1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1" y="1928"/>
              <a:ext cx="365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 eaLnBrk="1" hangingPunct="1"/>
              <a:r>
                <a:rPr lang="en-GB" altLang="el-GR" sz="2000">
                  <a:solidFill>
                    <a:srgbClr val="000000"/>
                  </a:solidFill>
                  <a:latin typeface="Times New Roman" panose="02020603050405020304" pitchFamily="18" charset="0"/>
                </a:rPr>
                <a:t>false</a:t>
              </a:r>
              <a:endParaRPr lang="en-GB" altLang="el-G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EC90461-3239-E626-53EE-F95595D3A2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Πρόταση </a:t>
            </a:r>
            <a:r>
              <a:rPr lang="en-US" altLang="el-GR"/>
              <a:t>while</a:t>
            </a:r>
            <a:r>
              <a:rPr lang="el-GR" altLang="el-GR"/>
              <a:t> (2)</a:t>
            </a:r>
            <a:endParaRPr lang="en-GB" altLang="el-GR"/>
          </a:p>
        </p:txBody>
      </p:sp>
      <p:sp>
        <p:nvSpPr>
          <p:cNvPr id="19459" name="Rectangle 4">
            <a:extLst>
              <a:ext uri="{FF2B5EF4-FFF2-40B4-BE49-F238E27FC236}">
                <a16:creationId xmlns:a16="http://schemas.microsoft.com/office/drawing/2014/main" id="{49652868-7DB8-C5EA-64C5-8A1C92D4D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1981200"/>
            <a:ext cx="5816600" cy="2103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l-GR" sz="2000">
                <a:latin typeface="Courier New" panose="02070309020205020404" pitchFamily="49" charset="0"/>
              </a:rPr>
              <a:t>while (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count&lt;limit</a:t>
            </a:r>
            <a:r>
              <a:rPr lang="en-US" altLang="el-GR" sz="2000">
                <a:latin typeface="Courier New" panose="02070309020205020404" pitchFamily="49" charset="0"/>
              </a:rPr>
              <a:t>) </a:t>
            </a:r>
            <a:r>
              <a:rPr lang="en-US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{</a:t>
            </a:r>
          </a:p>
          <a:p>
            <a:pPr algn="l"/>
            <a:r>
              <a:rPr lang="el-GR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     </a:t>
            </a:r>
            <a:r>
              <a:rPr lang="en-US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count++;</a:t>
            </a:r>
          </a:p>
          <a:p>
            <a:pPr algn="l"/>
            <a:r>
              <a:rPr lang="el-GR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     </a:t>
            </a:r>
            <a:r>
              <a:rPr lang="en-US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printf(“count is %d\n”,count);	</a:t>
            </a:r>
            <a:endParaRPr lang="el-GR" altLang="el-GR" sz="2000" b="1">
              <a:solidFill>
                <a:schemeClr val="accent1"/>
              </a:solidFill>
              <a:latin typeface="Courier New" panose="02070309020205020404" pitchFamily="49" charset="0"/>
            </a:endParaRPr>
          </a:p>
          <a:p>
            <a:pPr algn="l"/>
            <a:r>
              <a:rPr lang="el-GR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     </a:t>
            </a:r>
            <a:r>
              <a:rPr lang="en-US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}</a:t>
            </a:r>
          </a:p>
          <a:p>
            <a:pPr algn="l"/>
            <a:r>
              <a:rPr lang="en-US" altLang="el-GR" sz="2000">
                <a:latin typeface="Courier New" panose="02070309020205020404" pitchFamily="49" charset="0"/>
              </a:rPr>
              <a:t>&lt; επόμενη πρόταση&gt;	</a:t>
            </a:r>
          </a:p>
          <a:p>
            <a:pPr algn="l" eaLnBrk="1" hangingPunct="1"/>
            <a:endParaRPr lang="en-GB" altLang="el-GR" sz="3200">
              <a:solidFill>
                <a:schemeClr val="folHlink"/>
              </a:solidFill>
              <a:latin typeface="HellasTimes" charset="0"/>
            </a:endParaRPr>
          </a:p>
        </p:txBody>
      </p:sp>
      <p:grpSp>
        <p:nvGrpSpPr>
          <p:cNvPr id="2" name="Group 29">
            <a:extLst>
              <a:ext uri="{FF2B5EF4-FFF2-40B4-BE49-F238E27FC236}">
                <a16:creationId xmlns:a16="http://schemas.microsoft.com/office/drawing/2014/main" id="{3E6EBCDD-356B-CD06-71CF-965F1079646C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2362200"/>
            <a:ext cx="4191000" cy="3803650"/>
            <a:chOff x="38" y="1104"/>
            <a:chExt cx="2890" cy="2540"/>
          </a:xfrm>
        </p:grpSpPr>
        <p:sp>
          <p:nvSpPr>
            <p:cNvPr id="19462" name="AutoShape 30">
              <a:extLst>
                <a:ext uri="{FF2B5EF4-FFF2-40B4-BE49-F238E27FC236}">
                  <a16:creationId xmlns:a16="http://schemas.microsoft.com/office/drawing/2014/main" id="{86213A45-4DAA-3AE8-808A-FA3C46AC9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" y="1492"/>
              <a:ext cx="1624" cy="664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l-GR">
                  <a:latin typeface="Times New Roman" panose="02020603050405020304" pitchFamily="18" charset="0"/>
                </a:rPr>
                <a:t>count&lt;limit;</a:t>
              </a:r>
            </a:p>
          </p:txBody>
        </p:sp>
        <p:sp>
          <p:nvSpPr>
            <p:cNvPr id="19463" name="Rectangle 31">
              <a:extLst>
                <a:ext uri="{FF2B5EF4-FFF2-40B4-BE49-F238E27FC236}">
                  <a16:creationId xmlns:a16="http://schemas.microsoft.com/office/drawing/2014/main" id="{F9F49AA6-35F4-80ED-250D-9AE1F41C2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" y="2548"/>
              <a:ext cx="2488" cy="4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l-GR">
                  <a:latin typeface="Times New Roman" panose="02020603050405020304" pitchFamily="18" charset="0"/>
                </a:rPr>
                <a:t>count++;</a:t>
              </a:r>
            </a:p>
            <a:p>
              <a:r>
                <a:rPr lang="en-US" altLang="el-GR">
                  <a:latin typeface="Times New Roman" panose="02020603050405020304" pitchFamily="18" charset="0"/>
                </a:rPr>
                <a:t>printf(“count is %d\n”,count);</a:t>
              </a:r>
            </a:p>
          </p:txBody>
        </p:sp>
        <p:sp>
          <p:nvSpPr>
            <p:cNvPr id="19464" name="Rectangle 32">
              <a:extLst>
                <a:ext uri="{FF2B5EF4-FFF2-40B4-BE49-F238E27FC236}">
                  <a16:creationId xmlns:a16="http://schemas.microsoft.com/office/drawing/2014/main" id="{D5678B75-3EF1-D66D-BA9B-DCA8F78EE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364"/>
              <a:ext cx="1768" cy="2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l-GR">
                  <a:latin typeface="Times New Roman" panose="02020603050405020304" pitchFamily="18" charset="0"/>
                </a:rPr>
                <a:t>&lt;επόμενη πρόταση&gt; </a:t>
              </a:r>
            </a:p>
          </p:txBody>
        </p:sp>
        <p:sp>
          <p:nvSpPr>
            <p:cNvPr id="19465" name="Line 33">
              <a:extLst>
                <a:ext uri="{FF2B5EF4-FFF2-40B4-BE49-F238E27FC236}">
                  <a16:creationId xmlns:a16="http://schemas.microsoft.com/office/drawing/2014/main" id="{C687C53E-E70C-5588-1437-BC85AAB66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104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19466" name="Line 34">
              <a:extLst>
                <a:ext uri="{FF2B5EF4-FFF2-40B4-BE49-F238E27FC236}">
                  <a16:creationId xmlns:a16="http://schemas.microsoft.com/office/drawing/2014/main" id="{D63DB04F-D6F8-36E0-720F-EA5871CE0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160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19467" name="Line 35">
              <a:extLst>
                <a:ext uri="{FF2B5EF4-FFF2-40B4-BE49-F238E27FC236}">
                  <a16:creationId xmlns:a16="http://schemas.microsoft.com/office/drawing/2014/main" id="{8FDC97CB-F60F-2D7F-CC9E-14B05E9D4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2784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19468" name="Line 36">
              <a:extLst>
                <a:ext uri="{FF2B5EF4-FFF2-40B4-BE49-F238E27FC236}">
                  <a16:creationId xmlns:a16="http://schemas.microsoft.com/office/drawing/2014/main" id="{A6415185-5E1C-EF8E-ADEB-EEDE6C13F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24"/>
              <a:ext cx="81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19469" name="Line 37">
              <a:extLst>
                <a:ext uri="{FF2B5EF4-FFF2-40B4-BE49-F238E27FC236}">
                  <a16:creationId xmlns:a16="http://schemas.microsoft.com/office/drawing/2014/main" id="{ABBD7412-C34F-EE39-6C47-DA8CD7084A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824"/>
              <a:ext cx="0" cy="9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19470" name="Line 38">
              <a:extLst>
                <a:ext uri="{FF2B5EF4-FFF2-40B4-BE49-F238E27FC236}">
                  <a16:creationId xmlns:a16="http://schemas.microsoft.com/office/drawing/2014/main" id="{7F9A0342-C16C-BD34-CDEA-B6AA3BC12F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" y="1824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19471" name="Line 39">
              <a:extLst>
                <a:ext uri="{FF2B5EF4-FFF2-40B4-BE49-F238E27FC236}">
                  <a16:creationId xmlns:a16="http://schemas.microsoft.com/office/drawing/2014/main" id="{6A52A39F-BD07-6B5E-4577-F8AA0C06E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1824"/>
              <a:ext cx="0" cy="16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19472" name="Line 40">
              <a:extLst>
                <a:ext uri="{FF2B5EF4-FFF2-40B4-BE49-F238E27FC236}">
                  <a16:creationId xmlns:a16="http://schemas.microsoft.com/office/drawing/2014/main" id="{06F1FA24-D5CB-B243-25A9-BF23AA2CB6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" y="3504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19473" name="Rectangle 41">
              <a:extLst>
                <a:ext uri="{FF2B5EF4-FFF2-40B4-BE49-F238E27FC236}">
                  <a16:creationId xmlns:a16="http://schemas.microsoft.com/office/drawing/2014/main" id="{783411CB-BE79-905B-D823-1903F6EB3F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1152"/>
              <a:ext cx="1056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el-GR" b="1">
                  <a:latin typeface="Times New Roman" panose="02020603050405020304" pitchFamily="18" charset="0"/>
                </a:rPr>
                <a:t>while</a:t>
              </a:r>
            </a:p>
          </p:txBody>
        </p:sp>
        <p:sp>
          <p:nvSpPr>
            <p:cNvPr id="19474" name="Rectangle 42">
              <a:extLst>
                <a:ext uri="{FF2B5EF4-FFF2-40B4-BE49-F238E27FC236}">
                  <a16:creationId xmlns:a16="http://schemas.microsoft.com/office/drawing/2014/main" id="{8CABC67A-F2BD-4656-1E16-DA086F4C2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" y="2198"/>
              <a:ext cx="453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el-GR">
                  <a:latin typeface="Times New Roman" panose="02020603050405020304" pitchFamily="18" charset="0"/>
                </a:rPr>
                <a:t>true</a:t>
              </a:r>
            </a:p>
          </p:txBody>
        </p:sp>
        <p:sp>
          <p:nvSpPr>
            <p:cNvPr id="19475" name="Rectangle 43">
              <a:extLst>
                <a:ext uri="{FF2B5EF4-FFF2-40B4-BE49-F238E27FC236}">
                  <a16:creationId xmlns:a16="http://schemas.microsoft.com/office/drawing/2014/main" id="{A290B00D-E6F9-6841-14E9-851D54B0B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" y="1526"/>
              <a:ext cx="523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el-GR">
                  <a:latin typeface="Times New Roman" panose="02020603050405020304" pitchFamily="18" charset="0"/>
                </a:rPr>
                <a:t>false</a:t>
              </a:r>
            </a:p>
          </p:txBody>
        </p:sp>
      </p:grpSp>
      <p:sp>
        <p:nvSpPr>
          <p:cNvPr id="35885" name="AutoShape 45">
            <a:extLst>
              <a:ext uri="{FF2B5EF4-FFF2-40B4-BE49-F238E27FC236}">
                <a16:creationId xmlns:a16="http://schemas.microsoft.com/office/drawing/2014/main" id="{A1BC93B3-12D2-3742-FB87-E0BE6C69D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343400"/>
            <a:ext cx="3581400" cy="1447800"/>
          </a:xfrm>
          <a:prstGeom prst="wedgeRoundRectCallout">
            <a:avLst>
              <a:gd name="adj1" fmla="val -43218"/>
              <a:gd name="adj2" fmla="val 69958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80000"/>
              </a:lnSpc>
            </a:pPr>
            <a:r>
              <a:rPr lang="en-US" altLang="el-GR">
                <a:latin typeface="Times New Roman" panose="02020603050405020304" pitchFamily="18" charset="0"/>
              </a:rPr>
              <a:t>Εαν limit = 12 και </a:t>
            </a:r>
            <a:endParaRPr lang="el-GR" altLang="el-GR">
              <a:latin typeface="Times New Roman" panose="02020603050405020304" pitchFamily="18" charset="0"/>
            </a:endParaRPr>
          </a:p>
          <a:p>
            <a:pPr algn="l">
              <a:lnSpc>
                <a:spcPct val="80000"/>
              </a:lnSpc>
            </a:pPr>
            <a:r>
              <a:rPr lang="en-US" altLang="el-GR">
                <a:latin typeface="Times New Roman" panose="02020603050405020304" pitchFamily="18" charset="0"/>
              </a:rPr>
              <a:t>count &gt;= 12</a:t>
            </a:r>
          </a:p>
          <a:p>
            <a:pPr algn="l">
              <a:lnSpc>
                <a:spcPct val="80000"/>
              </a:lnSpc>
            </a:pPr>
            <a:r>
              <a:rPr lang="en-US" altLang="el-GR">
                <a:latin typeface="Times New Roman" panose="02020603050405020304" pitchFamily="18" charset="0"/>
              </a:rPr>
              <a:t>το σώμα του loop δεν εκτελείται</a:t>
            </a:r>
          </a:p>
          <a:p>
            <a:pPr eaLnBrk="1" hangingPunct="1"/>
            <a:endParaRPr lang="en-GB" altLang="el-G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8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5415B8B6-C4EE-8035-D5CA-429F712144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l-GR"/>
              <a:t>Πρόταση do while</a:t>
            </a:r>
            <a:r>
              <a:rPr lang="el-GR" altLang="el-GR"/>
              <a:t> (1)</a:t>
            </a:r>
            <a:endParaRPr lang="en-GB" altLang="el-GR"/>
          </a:p>
        </p:txBody>
      </p:sp>
      <p:sp>
        <p:nvSpPr>
          <p:cNvPr id="20483" name="Rectangle 4">
            <a:extLst>
              <a:ext uri="{FF2B5EF4-FFF2-40B4-BE49-F238E27FC236}">
                <a16:creationId xmlns:a16="http://schemas.microsoft.com/office/drawing/2014/main" id="{8D94EEF7-7524-6DDB-EEB1-C9DF3C4A3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9800"/>
            <a:ext cx="3254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20000"/>
              </a:spcBef>
            </a:pPr>
            <a:r>
              <a:rPr lang="en-US" altLang="el-GR" sz="3200">
                <a:solidFill>
                  <a:schemeClr val="folHlink"/>
                </a:solidFill>
                <a:latin typeface="HellasTimes" charset="0"/>
              </a:rPr>
              <a:t>exit condition loop</a:t>
            </a:r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17F78EDE-8F2C-6A77-0A72-2A662938B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276600"/>
            <a:ext cx="4572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el-GR" sz="3200" b="1">
                <a:solidFill>
                  <a:schemeClr val="hlink"/>
                </a:solidFill>
                <a:latin typeface="Times New Roman" panose="02020603050405020304" pitchFamily="18" charset="0"/>
              </a:rPr>
              <a:t>do</a:t>
            </a:r>
            <a:endParaRPr lang="el-GR" altLang="el-GR" sz="32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el-GR" sz="3200">
                <a:solidFill>
                  <a:schemeClr val="hlink"/>
                </a:solidFill>
                <a:latin typeface="Times New Roman" panose="02020603050405020304" pitchFamily="18" charset="0"/>
              </a:rPr>
              <a:t>	</a:t>
            </a:r>
            <a:r>
              <a:rPr lang="en-US" altLang="el-GR" sz="3200" b="1">
                <a:solidFill>
                  <a:schemeClr val="hlink"/>
                </a:solidFill>
                <a:latin typeface="Times New Roman" panose="02020603050405020304" pitchFamily="18" charset="0"/>
              </a:rPr>
              <a:t>πρόταση</a:t>
            </a:r>
          </a:p>
          <a:p>
            <a:pPr algn="l">
              <a:lnSpc>
                <a:spcPct val="80000"/>
              </a:lnSpc>
              <a:spcBef>
                <a:spcPct val="50000"/>
              </a:spcBef>
            </a:pPr>
            <a:r>
              <a:rPr lang="en-US" altLang="el-GR" sz="3200" b="1">
                <a:solidFill>
                  <a:schemeClr val="hlink"/>
                </a:solidFill>
                <a:latin typeface="Times New Roman" panose="02020603050405020304" pitchFamily="18" charset="0"/>
              </a:rPr>
              <a:t>	 while ( </a:t>
            </a:r>
            <a:r>
              <a:rPr lang="en-US" altLang="el-GR" sz="3200">
                <a:solidFill>
                  <a:schemeClr val="hlink"/>
                </a:solidFill>
                <a:latin typeface="Times New Roman" panose="02020603050405020304" pitchFamily="18" charset="0"/>
              </a:rPr>
              <a:t>έκφραση </a:t>
            </a:r>
            <a:r>
              <a:rPr lang="en-US" altLang="el-GR" sz="3200" b="1">
                <a:solidFill>
                  <a:schemeClr val="hlink"/>
                </a:solidFill>
                <a:latin typeface="Times New Roman" panose="02020603050405020304" pitchFamily="18" charset="0"/>
              </a:rPr>
              <a:t>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30BCE2FC-2640-C772-9CAA-3AFC7CA620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l-GR"/>
              <a:t>Πρόταση do while</a:t>
            </a:r>
            <a:r>
              <a:rPr lang="el-GR" altLang="el-GR"/>
              <a:t> (</a:t>
            </a:r>
            <a:r>
              <a:rPr lang="en-US" altLang="el-GR"/>
              <a:t>2</a:t>
            </a:r>
            <a:r>
              <a:rPr lang="el-GR" altLang="el-GR"/>
              <a:t>)</a:t>
            </a:r>
            <a:endParaRPr lang="en-GB" altLang="el-GR"/>
          </a:p>
        </p:txBody>
      </p:sp>
      <p:sp>
        <p:nvSpPr>
          <p:cNvPr id="21507" name="Rectangle 5">
            <a:extLst>
              <a:ext uri="{FF2B5EF4-FFF2-40B4-BE49-F238E27FC236}">
                <a16:creationId xmlns:a16="http://schemas.microsoft.com/office/drawing/2014/main" id="{7A4A8E09-7DEC-082D-E0BC-CCC34FF5E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981200"/>
            <a:ext cx="647700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</a:rPr>
              <a:t>do</a:t>
            </a:r>
            <a:r>
              <a:rPr lang="en-US" altLang="el-GR" sz="2000"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{</a:t>
            </a:r>
          </a:p>
          <a:p>
            <a:pPr algn="l"/>
            <a:r>
              <a:rPr lang="en-US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	count++;</a:t>
            </a:r>
          </a:p>
          <a:p>
            <a:pPr algn="l"/>
            <a:r>
              <a:rPr lang="en-US" altLang="el-GR" sz="2000" b="1">
                <a:solidFill>
                  <a:schemeClr val="accent1"/>
                </a:solidFill>
                <a:latin typeface="Courier New" panose="02070309020205020404" pitchFamily="49" charset="0"/>
              </a:rPr>
              <a:t>	printf(“count is %d\n”,count);	}</a:t>
            </a:r>
            <a:r>
              <a:rPr lang="en-US" altLang="el-GR" sz="2000">
                <a:latin typeface="Courier New" panose="02070309020205020404" pitchFamily="49" charset="0"/>
              </a:rPr>
              <a:t> </a:t>
            </a:r>
            <a:r>
              <a:rPr lang="en-US" altLang="el-GR" sz="2000" b="1">
                <a:solidFill>
                  <a:schemeClr val="folHlink"/>
                </a:solidFill>
                <a:latin typeface="Courier New" panose="02070309020205020404" pitchFamily="49" charset="0"/>
              </a:rPr>
              <a:t>while</a:t>
            </a:r>
            <a:r>
              <a:rPr lang="en-US" altLang="el-GR" sz="2000">
                <a:latin typeface="Courier New" panose="02070309020205020404" pitchFamily="49" charset="0"/>
              </a:rPr>
              <a:t> (</a:t>
            </a:r>
            <a:r>
              <a:rPr lang="en-US" altLang="el-GR" sz="2000" b="1">
                <a:solidFill>
                  <a:schemeClr val="hlink"/>
                </a:solidFill>
                <a:latin typeface="Courier New" panose="02070309020205020404" pitchFamily="49" charset="0"/>
              </a:rPr>
              <a:t>count&lt;limit</a:t>
            </a:r>
            <a:r>
              <a:rPr lang="en-US" altLang="el-GR" sz="2000">
                <a:latin typeface="Courier New" panose="02070309020205020404" pitchFamily="49" charset="0"/>
              </a:rPr>
              <a:t>) </a:t>
            </a:r>
          </a:p>
          <a:p>
            <a:pPr algn="l"/>
            <a:r>
              <a:rPr lang="en-US" altLang="el-GR" sz="2000">
                <a:latin typeface="Courier New" panose="02070309020205020404" pitchFamily="49" charset="0"/>
              </a:rPr>
              <a:t>&lt; επόμενη πρόταση&gt;	</a:t>
            </a:r>
          </a:p>
        </p:txBody>
      </p:sp>
      <p:grpSp>
        <p:nvGrpSpPr>
          <p:cNvPr id="2" name="Group 6">
            <a:extLst>
              <a:ext uri="{FF2B5EF4-FFF2-40B4-BE49-F238E27FC236}">
                <a16:creationId xmlns:a16="http://schemas.microsoft.com/office/drawing/2014/main" id="{252C800C-8840-20C1-D9B8-9E2306164DF3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895600"/>
            <a:ext cx="3962400" cy="3498850"/>
            <a:chOff x="196" y="1104"/>
            <a:chExt cx="2732" cy="2540"/>
          </a:xfrm>
        </p:grpSpPr>
        <p:sp>
          <p:nvSpPr>
            <p:cNvPr id="21510" name="AutoShape 7">
              <a:extLst>
                <a:ext uri="{FF2B5EF4-FFF2-40B4-BE49-F238E27FC236}">
                  <a16:creationId xmlns:a16="http://schemas.microsoft.com/office/drawing/2014/main" id="{CF81ACB2-CAE6-4B0B-830C-10DCDE994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" y="2308"/>
              <a:ext cx="1624" cy="664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l-GR">
                  <a:solidFill>
                    <a:schemeClr val="hlink"/>
                  </a:solidFill>
                  <a:latin typeface="Times New Roman" panose="02020603050405020304" pitchFamily="18" charset="0"/>
                </a:rPr>
                <a:t>count&lt;limit;</a:t>
              </a:r>
            </a:p>
          </p:txBody>
        </p:sp>
        <p:sp>
          <p:nvSpPr>
            <p:cNvPr id="21511" name="Rectangle 8">
              <a:extLst>
                <a:ext uri="{FF2B5EF4-FFF2-40B4-BE49-F238E27FC236}">
                  <a16:creationId xmlns:a16="http://schemas.microsoft.com/office/drawing/2014/main" id="{D419EC3D-51E2-EAE5-C1C9-30757620D2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" y="1492"/>
              <a:ext cx="2488" cy="42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l-GR">
                  <a:solidFill>
                    <a:schemeClr val="accent1"/>
                  </a:solidFill>
                  <a:latin typeface="Times New Roman" panose="02020603050405020304" pitchFamily="18" charset="0"/>
                </a:rPr>
                <a:t>count++;</a:t>
              </a:r>
            </a:p>
            <a:p>
              <a:r>
                <a:rPr lang="en-US" altLang="el-GR">
                  <a:solidFill>
                    <a:schemeClr val="accent1"/>
                  </a:solidFill>
                  <a:latin typeface="Times New Roman" panose="02020603050405020304" pitchFamily="18" charset="0"/>
                </a:rPr>
                <a:t>printf(“count is %d\n”,count);</a:t>
              </a:r>
            </a:p>
          </p:txBody>
        </p:sp>
        <p:sp>
          <p:nvSpPr>
            <p:cNvPr id="21512" name="Rectangle 9">
              <a:extLst>
                <a:ext uri="{FF2B5EF4-FFF2-40B4-BE49-F238E27FC236}">
                  <a16:creationId xmlns:a16="http://schemas.microsoft.com/office/drawing/2014/main" id="{FB5632C9-0795-18DF-CFD9-1DC5EA57A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" y="3364"/>
              <a:ext cx="1768" cy="2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r>
                <a:rPr lang="en-US" altLang="el-GR">
                  <a:latin typeface="Times New Roman" panose="02020603050405020304" pitchFamily="18" charset="0"/>
                </a:rPr>
                <a:t>&lt;επόμενη πρόταση&gt; </a:t>
              </a:r>
            </a:p>
          </p:txBody>
        </p:sp>
        <p:sp>
          <p:nvSpPr>
            <p:cNvPr id="21513" name="Line 10">
              <a:extLst>
                <a:ext uri="{FF2B5EF4-FFF2-40B4-BE49-F238E27FC236}">
                  <a16:creationId xmlns:a16="http://schemas.microsoft.com/office/drawing/2014/main" id="{6C2A585F-9A5F-9EB7-9DC1-89868E05D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104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21514" name="Line 11">
              <a:extLst>
                <a:ext uri="{FF2B5EF4-FFF2-40B4-BE49-F238E27FC236}">
                  <a16:creationId xmlns:a16="http://schemas.microsoft.com/office/drawing/2014/main" id="{1EB2ABA3-4CD3-E838-EB56-0E424A868A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1920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21515" name="Line 12">
              <a:extLst>
                <a:ext uri="{FF2B5EF4-FFF2-40B4-BE49-F238E27FC236}">
                  <a16:creationId xmlns:a16="http://schemas.microsoft.com/office/drawing/2014/main" id="{3369EAFE-EC0D-D059-69C4-A0AD616C0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640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21516" name="Line 13">
              <a:extLst>
                <a:ext uri="{FF2B5EF4-FFF2-40B4-BE49-F238E27FC236}">
                  <a16:creationId xmlns:a16="http://schemas.microsoft.com/office/drawing/2014/main" id="{1BDA703B-86D6-2246-8DD5-79497CD86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824"/>
              <a:ext cx="24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21517" name="Line 14">
              <a:extLst>
                <a:ext uri="{FF2B5EF4-FFF2-40B4-BE49-F238E27FC236}">
                  <a16:creationId xmlns:a16="http://schemas.microsoft.com/office/drawing/2014/main" id="{9488DA5B-834C-8A6B-C79F-18359E29B0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1824"/>
              <a:ext cx="0" cy="81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21518" name="Line 15">
              <a:extLst>
                <a:ext uri="{FF2B5EF4-FFF2-40B4-BE49-F238E27FC236}">
                  <a16:creationId xmlns:a16="http://schemas.microsoft.com/office/drawing/2014/main" id="{161B8D89-F2AA-6A19-D369-C5E4F4BCA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6" y="2976"/>
              <a:ext cx="0" cy="3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21519" name="Rectangle 16">
              <a:extLst>
                <a:ext uri="{FF2B5EF4-FFF2-40B4-BE49-F238E27FC236}">
                  <a16:creationId xmlns:a16="http://schemas.microsoft.com/office/drawing/2014/main" id="{48712FEA-4EFC-C390-BAD6-29324802B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1104"/>
              <a:ext cx="528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>
                <a:spcBef>
                  <a:spcPct val="50000"/>
                </a:spcBef>
              </a:pPr>
              <a:r>
                <a:rPr lang="en-US" altLang="el-GR" b="1">
                  <a:latin typeface="Times New Roman" panose="02020603050405020304" pitchFamily="18" charset="0"/>
                </a:rPr>
                <a:t>do</a:t>
              </a:r>
            </a:p>
          </p:txBody>
        </p:sp>
        <p:sp>
          <p:nvSpPr>
            <p:cNvPr id="21520" name="Rectangle 17">
              <a:extLst>
                <a:ext uri="{FF2B5EF4-FFF2-40B4-BE49-F238E27FC236}">
                  <a16:creationId xmlns:a16="http://schemas.microsoft.com/office/drawing/2014/main" id="{405DFEE8-EFBD-56AC-1E58-9E6685C8C5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94" y="2390"/>
              <a:ext cx="453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el-GR">
                  <a:latin typeface="Times New Roman" panose="02020603050405020304" pitchFamily="18" charset="0"/>
                </a:rPr>
                <a:t>true</a:t>
              </a:r>
            </a:p>
          </p:txBody>
        </p:sp>
        <p:sp>
          <p:nvSpPr>
            <p:cNvPr id="21521" name="Rectangle 18">
              <a:extLst>
                <a:ext uri="{FF2B5EF4-FFF2-40B4-BE49-F238E27FC236}">
                  <a16:creationId xmlns:a16="http://schemas.microsoft.com/office/drawing/2014/main" id="{DE36C5BB-645A-22EB-270F-F9472A538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6" y="2966"/>
              <a:ext cx="523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el-GR">
                  <a:latin typeface="Times New Roman" panose="02020603050405020304" pitchFamily="18" charset="0"/>
                </a:rPr>
                <a:t>false</a:t>
              </a:r>
            </a:p>
          </p:txBody>
        </p:sp>
        <p:sp>
          <p:nvSpPr>
            <p:cNvPr id="21522" name="Rectangle 19">
              <a:extLst>
                <a:ext uri="{FF2B5EF4-FFF2-40B4-BE49-F238E27FC236}">
                  <a16:creationId xmlns:a16="http://schemas.microsoft.com/office/drawing/2014/main" id="{42CC02A9-D983-41D4-A952-9211A61D9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" y="2054"/>
              <a:ext cx="606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l"/>
              <a:r>
                <a:rPr lang="en-US" altLang="el-GR" b="1">
                  <a:latin typeface="Times New Roman" panose="02020603050405020304" pitchFamily="18" charset="0"/>
                </a:rPr>
                <a:t>while</a:t>
              </a:r>
            </a:p>
          </p:txBody>
        </p:sp>
      </p:grpSp>
      <p:sp>
        <p:nvSpPr>
          <p:cNvPr id="37908" name="AutoShape 20">
            <a:extLst>
              <a:ext uri="{FF2B5EF4-FFF2-40B4-BE49-F238E27FC236}">
                <a16:creationId xmlns:a16="http://schemas.microsoft.com/office/drawing/2014/main" id="{E5B3ED26-ED99-2D7D-A633-FD322791F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495800"/>
            <a:ext cx="4343400" cy="12954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80000"/>
              </a:lnSpc>
            </a:pPr>
            <a:r>
              <a:rPr lang="en-US" altLang="el-GR">
                <a:latin typeface="Times New Roman" panose="02020603050405020304" pitchFamily="18" charset="0"/>
              </a:rPr>
              <a:t>Εαν limit = 12 και count &gt;= 12</a:t>
            </a:r>
          </a:p>
          <a:p>
            <a:pPr algn="l">
              <a:lnSpc>
                <a:spcPct val="80000"/>
              </a:lnSpc>
            </a:pPr>
            <a:r>
              <a:rPr lang="el-GR" altLang="el-GR">
                <a:latin typeface="Times New Roman" panose="02020603050405020304" pitchFamily="18" charset="0"/>
              </a:rPr>
              <a:t>το σώμα του loop εκτελείται μια φορά</a:t>
            </a:r>
          </a:p>
          <a:p>
            <a:pPr eaLnBrk="1" hangingPunct="1"/>
            <a:endParaRPr lang="el-GR" altLang="el-G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7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>
            <a:extLst>
              <a:ext uri="{FF2B5EF4-FFF2-40B4-BE49-F238E27FC236}">
                <a16:creationId xmlns:a16="http://schemas.microsoft.com/office/drawing/2014/main" id="{6CF98FA6-1AAC-A92F-9A10-AD636CEC9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429000"/>
            <a:ext cx="8928100" cy="3024188"/>
          </a:xfrm>
          <a:prstGeom prst="rect">
            <a:avLst/>
          </a:prstGeom>
          <a:solidFill>
            <a:srgbClr val="F9ED0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l-GR" altLang="el-GR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99671BAB-5B73-6FFB-92BC-A46F1AC71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l-GR"/>
              <a:t>Επιλογή loop</a:t>
            </a:r>
            <a:endParaRPr lang="en-GB" altLang="el-GR"/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F09D7E2E-E0EB-A297-02CB-603FA49B9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421687" cy="4114800"/>
          </a:xfrm>
        </p:spPr>
        <p:txBody>
          <a:bodyPr/>
          <a:lstStyle/>
          <a:p>
            <a:pPr eaLnBrk="1" hangingPunct="1"/>
            <a:r>
              <a:rPr lang="el-GR" altLang="el-GR" sz="2800">
                <a:latin typeface="Times New Roman" panose="02020603050405020304" pitchFamily="18" charset="0"/>
              </a:rPr>
              <a:t>Αποφάσισε αν χρειάζεσαι entry-condition ή exit-condition.</a:t>
            </a:r>
            <a:endParaRPr lang="en-US" altLang="el-GR" sz="2800">
              <a:latin typeface="Times New Roman" panose="02020603050405020304" pitchFamily="18" charset="0"/>
            </a:endParaRPr>
          </a:p>
          <a:p>
            <a:pPr eaLnBrk="1" hangingPunct="1"/>
            <a:r>
              <a:rPr lang="el-GR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Προτίμησε γενικά το entry-condition</a:t>
            </a:r>
            <a:endParaRPr lang="en-GB" altLang="el-GR" sz="28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108A5676-0C6F-3B09-0D80-6A5AFF38F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943600"/>
            <a:ext cx="746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l-GR" sz="2800">
                <a:solidFill>
                  <a:srgbClr val="66CCFF"/>
                </a:solidFill>
                <a:latin typeface="Times New Roman" panose="02020603050405020304" pitchFamily="18" charset="0"/>
              </a:rPr>
              <a:t>for (;test;)</a:t>
            </a:r>
            <a:r>
              <a:rPr lang="en-US" altLang="el-GR" sz="2800">
                <a:latin typeface="Times New Roman" panose="02020603050405020304" pitchFamily="18" charset="0"/>
              </a:rPr>
              <a:t>   				</a:t>
            </a:r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while(test)</a:t>
            </a:r>
          </a:p>
        </p:txBody>
      </p:sp>
      <p:sp>
        <p:nvSpPr>
          <p:cNvPr id="39941" name="Rectangle 5">
            <a:extLst>
              <a:ext uri="{FF2B5EF4-FFF2-40B4-BE49-F238E27FC236}">
                <a16:creationId xmlns:a16="http://schemas.microsoft.com/office/drawing/2014/main" id="{75F5371C-1573-BD30-1794-EF787E7E2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3860800"/>
            <a:ext cx="3962400" cy="116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US" altLang="el-GR" sz="2800">
                <a:solidFill>
                  <a:srgbClr val="66CCFF"/>
                </a:solidFill>
                <a:latin typeface="Times New Roman" panose="02020603050405020304" pitchFamily="18" charset="0"/>
              </a:rPr>
              <a:t>for(initialize;test;update)</a:t>
            </a:r>
          </a:p>
          <a:p>
            <a:pPr algn="l">
              <a:spcBef>
                <a:spcPct val="50000"/>
              </a:spcBef>
            </a:pPr>
            <a:r>
              <a:rPr lang="en-US" altLang="el-GR" sz="2800">
                <a:solidFill>
                  <a:srgbClr val="66CCFF"/>
                </a:solidFill>
                <a:latin typeface="Times New Roman" panose="02020603050405020304" pitchFamily="18" charset="0"/>
              </a:rPr>
              <a:t>	statement</a:t>
            </a:r>
          </a:p>
        </p:txBody>
      </p:sp>
      <p:sp>
        <p:nvSpPr>
          <p:cNvPr id="39942" name="Rectangle 6">
            <a:extLst>
              <a:ext uri="{FF2B5EF4-FFF2-40B4-BE49-F238E27FC236}">
                <a16:creationId xmlns:a16="http://schemas.microsoft.com/office/drawing/2014/main" id="{A1EB2731-57D8-2865-D7A3-061F190A1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500438"/>
            <a:ext cx="2457450" cy="2227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initialize;</a:t>
            </a:r>
          </a:p>
          <a:p>
            <a:pPr algn="l"/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while(test) {</a:t>
            </a:r>
          </a:p>
          <a:p>
            <a:pPr algn="l"/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	statement</a:t>
            </a:r>
          </a:p>
          <a:p>
            <a:pPr algn="l"/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	update;</a:t>
            </a:r>
          </a:p>
          <a:p>
            <a:pPr algn="l"/>
            <a:r>
              <a:rPr lang="en-US" altLang="el-GR" sz="2800">
                <a:solidFill>
                  <a:schemeClr val="folHlink"/>
                </a:solidFill>
                <a:latin typeface="Times New Roman" panose="02020603050405020304" pitchFamily="18" charset="0"/>
              </a:rPr>
              <a:t>	}</a:t>
            </a:r>
          </a:p>
        </p:txBody>
      </p:sp>
      <p:sp>
        <p:nvSpPr>
          <p:cNvPr id="39943" name="Line 7">
            <a:extLst>
              <a:ext uri="{FF2B5EF4-FFF2-40B4-BE49-F238E27FC236}">
                <a16:creationId xmlns:a16="http://schemas.microsoft.com/office/drawing/2014/main" id="{7354561E-A5E8-FF55-E4D6-BFB6D7B027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2500" y="4149725"/>
            <a:ext cx="990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l-GR"/>
          </a:p>
        </p:txBody>
      </p:sp>
      <p:sp>
        <p:nvSpPr>
          <p:cNvPr id="39944" name="Line 8">
            <a:extLst>
              <a:ext uri="{FF2B5EF4-FFF2-40B4-BE49-F238E27FC236}">
                <a16:creationId xmlns:a16="http://schemas.microsoft.com/office/drawing/2014/main" id="{52BE1723-0A56-DAAC-A978-91343CE1CB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248400"/>
            <a:ext cx="1447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stealth" w="med" len="lg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l-G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9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9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9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9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9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0" grpId="0" autoUpdateAnimBg="0"/>
      <p:bldP spid="39941" grpId="0" autoUpdateAnimBg="0"/>
      <p:bldP spid="3994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321CC1AF-32CB-1048-B76B-7FB212743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l-GR"/>
              <a:t>Πρόταση if</a:t>
            </a:r>
            <a:endParaRPr lang="en-GB" altLang="el-GR"/>
          </a:p>
        </p:txBody>
      </p:sp>
      <p:sp>
        <p:nvSpPr>
          <p:cNvPr id="23555" name="Rectangle 4">
            <a:extLst>
              <a:ext uri="{FF2B5EF4-FFF2-40B4-BE49-F238E27FC236}">
                <a16:creationId xmlns:a16="http://schemas.microsoft.com/office/drawing/2014/main" id="{2ECA1B46-7B07-A1AD-0377-E77A3FB7C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133600"/>
            <a:ext cx="4572000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l-GR" sz="2800" b="1">
                <a:solidFill>
                  <a:schemeClr val="hlink"/>
                </a:solidFill>
                <a:latin typeface="HellasTimes" charset="0"/>
              </a:rPr>
              <a:t>if ( </a:t>
            </a:r>
            <a:r>
              <a:rPr lang="en-US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έκφραση </a:t>
            </a:r>
            <a:r>
              <a:rPr lang="en-US" altLang="el-GR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  <a:r>
              <a:rPr lang="en-US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</a:p>
          <a:p>
            <a:pPr algn="l"/>
            <a:r>
              <a:rPr lang="en-US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	πρόταση1</a:t>
            </a:r>
          </a:p>
          <a:p>
            <a:pPr algn="l"/>
            <a:r>
              <a:rPr lang="en-US" altLang="el-GR" sz="2800" b="1">
                <a:solidFill>
                  <a:schemeClr val="hlink"/>
                </a:solidFill>
                <a:latin typeface="Times New Roman" panose="02020603050405020304" pitchFamily="18" charset="0"/>
              </a:rPr>
              <a:t>else</a:t>
            </a:r>
          </a:p>
          <a:p>
            <a:pPr algn="l"/>
            <a:r>
              <a:rPr lang="en-US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	πρόταση2</a:t>
            </a: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BABFAB48-2F49-01FF-87C3-66D2546EF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886200"/>
            <a:ext cx="4495800" cy="2347913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tabLst>
                <a:tab pos="18097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just" eaLnBrk="1" hangingPunct="1"/>
            <a:r>
              <a:rPr lang="el-GR" altLang="el-GR" sz="2500">
                <a:latin typeface="Courier New" panose="02070309020205020404" pitchFamily="49" charset="0"/>
                <a:cs typeface="Arial" panose="020B0604020202020204" pitchFamily="34" charset="0"/>
              </a:rPr>
              <a:t>if (light == red)</a:t>
            </a:r>
          </a:p>
          <a:p>
            <a:pPr algn="just"/>
            <a:r>
              <a:rPr lang="el-GR" altLang="el-GR" sz="250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altLang="el-GR" sz="250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l-GR" altLang="el-GR" sz="2500">
                <a:latin typeface="Courier New" panose="02070309020205020404" pitchFamily="49" charset="0"/>
                <a:cs typeface="Arial" panose="020B0604020202020204" pitchFamily="34" charset="0"/>
              </a:rPr>
              <a:t>stop();</a:t>
            </a:r>
          </a:p>
          <a:p>
            <a:pPr algn="just"/>
            <a:r>
              <a:rPr lang="el-GR" altLang="el-GR" sz="2500">
                <a:latin typeface="Courier New" panose="02070309020205020404" pitchFamily="49" charset="0"/>
                <a:cs typeface="Arial" panose="020B0604020202020204" pitchFamily="34" charset="0"/>
              </a:rPr>
              <a:t>else</a:t>
            </a:r>
          </a:p>
          <a:p>
            <a:pPr algn="just"/>
            <a:r>
              <a:rPr lang="el-GR" altLang="el-GR" sz="2500">
                <a:latin typeface="Courier New" panose="02070309020205020404" pitchFamily="49" charset="0"/>
                <a:cs typeface="Arial" panose="020B0604020202020204" pitchFamily="34" charset="0"/>
              </a:rPr>
              <a:t>	</a:t>
            </a:r>
            <a:r>
              <a:rPr lang="en-US" altLang="el-GR" sz="2500">
                <a:latin typeface="Courier New" panose="02070309020205020404" pitchFamily="49" charset="0"/>
                <a:cs typeface="Arial" panose="020B0604020202020204" pitchFamily="34" charset="0"/>
              </a:rPr>
              <a:t>   </a:t>
            </a:r>
            <a:r>
              <a:rPr lang="el-GR" altLang="el-GR" sz="2500">
                <a:latin typeface="Courier New" panose="02070309020205020404" pitchFamily="49" charset="0"/>
                <a:cs typeface="Arial" panose="020B0604020202020204" pitchFamily="34" charset="0"/>
              </a:rPr>
              <a:t>go();</a:t>
            </a:r>
          </a:p>
          <a:p>
            <a:pPr algn="l"/>
            <a:endParaRPr lang="el-GR" altLang="el-GR" sz="4800"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14E2608-168D-F040-1467-046436709B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Άσκηση</a:t>
            </a:r>
            <a:endParaRPr lang="en-GB" altLang="el-GR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D536508-3026-C772-3E38-85B259D655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2819400"/>
            <a:ext cx="7772400" cy="2590800"/>
          </a:xfrm>
        </p:spPr>
        <p:txBody>
          <a:bodyPr/>
          <a:lstStyle/>
          <a:p>
            <a:pPr eaLnBrk="1" hangingPunct="1"/>
            <a:r>
              <a:rPr lang="el-GR" altLang="el-GR">
                <a:cs typeface="Times New Roman" panose="02020603050405020304" pitchFamily="18" charset="0"/>
              </a:rPr>
              <a:t>Δώστε τη δήλωση και τον ορισμό συνάρτησης για τον υπολογισμό του μέγιστου μεταξύ δύο ακέραιων αριθμών.</a:t>
            </a:r>
            <a:r>
              <a:rPr lang="en-GB" altLang="el-GR"/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2DC3F40-CF04-43FB-EA78-327583466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Δήλωση  της </a:t>
            </a:r>
            <a:r>
              <a:rPr lang="en-US" altLang="el-GR"/>
              <a:t>max</a:t>
            </a:r>
            <a:endParaRPr lang="en-GB" altLang="el-GR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40D1D61-DFC4-F124-62C7-156BBAD00D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2133600"/>
            <a:ext cx="7772400" cy="2554288"/>
          </a:xfrm>
        </p:spPr>
        <p:txBody>
          <a:bodyPr/>
          <a:lstStyle/>
          <a:p>
            <a:pPr eaLnBrk="1" hangingPunct="1"/>
            <a:r>
              <a:rPr lang="el-GR" altLang="el-GR">
                <a:solidFill>
                  <a:schemeClr val="hlink"/>
                </a:solidFill>
              </a:rPr>
              <a:t>Δήλωση</a:t>
            </a:r>
            <a:r>
              <a:rPr lang="en-US" altLang="el-GR">
                <a:solidFill>
                  <a:schemeClr val="hlink"/>
                </a:solidFill>
              </a:rPr>
              <a:t> (function prototype)</a:t>
            </a:r>
            <a:endParaRPr lang="el-GR" altLang="el-GR">
              <a:solidFill>
                <a:schemeClr val="hlink"/>
              </a:solidFill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3600" b="1">
                <a:solidFill>
                  <a:schemeClr val="accent1"/>
                </a:solidFill>
                <a:latin typeface="Courier New" panose="02070309020205020404" pitchFamily="49" charset="0"/>
              </a:rPr>
              <a:t>int max(int a, int b);</a:t>
            </a:r>
            <a:r>
              <a:rPr lang="el-GR" altLang="el-GR" sz="3200" b="1">
                <a:solidFill>
                  <a:schemeClr val="accent1"/>
                </a:solidFill>
              </a:rPr>
              <a:t>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l-GR" altLang="el-GR" sz="3200"/>
              <a:t>ή εναλλακτικά</a:t>
            </a:r>
            <a:endParaRPr lang="en-US" altLang="el-GR" sz="320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3600" b="1">
                <a:solidFill>
                  <a:schemeClr val="accent1"/>
                </a:solidFill>
                <a:latin typeface="Courier New" panose="02070309020205020404" pitchFamily="49" charset="0"/>
              </a:rPr>
              <a:t>int max(int, int);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GB" altLang="el-GR" b="1"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4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6CCD711-F156-1BEE-71A6-EFF422A21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Ορισμός της </a:t>
            </a:r>
            <a:r>
              <a:rPr lang="en-US" altLang="el-GR"/>
              <a:t>max</a:t>
            </a:r>
            <a:r>
              <a:rPr lang="el-GR" altLang="el-GR"/>
              <a:t> – έκδοση 1 </a:t>
            </a:r>
            <a:endParaRPr lang="en-GB" altLang="el-GR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8D258CB-53BB-ECDB-4DB5-D4F82FE745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057400"/>
            <a:ext cx="7772400" cy="4114800"/>
          </a:xfrm>
        </p:spPr>
        <p:txBody>
          <a:bodyPr/>
          <a:lstStyle/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l-GR" sz="2400" b="1">
                <a:solidFill>
                  <a:schemeClr val="folHlink"/>
                </a:solidFill>
                <a:latin typeface="Courier New" panose="02070309020205020404" pitchFamily="49" charset="0"/>
              </a:rPr>
              <a:t>int max(int a, int b)</a:t>
            </a:r>
            <a:endParaRPr lang="el-GR" altLang="el-GR" sz="24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l-GR" sz="2400" b="1">
                <a:solidFill>
                  <a:schemeClr val="folHlink"/>
                </a:solidFill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l-GR" sz="2400" b="1">
                <a:solidFill>
                  <a:schemeClr val="folHlink"/>
                </a:solidFill>
                <a:latin typeface="Courier New" panose="02070309020205020404" pitchFamily="49" charset="0"/>
              </a:rPr>
              <a:t>int max;</a:t>
            </a:r>
            <a:endParaRPr lang="el-GR" altLang="el-GR" sz="24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l-GR" altLang="el-GR" sz="24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l-GR" sz="2400" b="1">
                <a:solidFill>
                  <a:schemeClr val="folHlink"/>
                </a:solidFill>
                <a:latin typeface="Courier New" panose="02070309020205020404" pitchFamily="49" charset="0"/>
              </a:rPr>
              <a:t>if(a&gt;b)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l-GR" b="1">
                <a:solidFill>
                  <a:schemeClr val="folHlink"/>
                </a:solidFill>
                <a:latin typeface="Courier New" panose="02070309020205020404" pitchFamily="49" charset="0"/>
              </a:rPr>
              <a:t>max = a;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l-GR" sz="2400" b="1">
                <a:solidFill>
                  <a:schemeClr val="folHlink"/>
                </a:solidFill>
                <a:latin typeface="Courier New" panose="02070309020205020404" pitchFamily="49" charset="0"/>
              </a:rPr>
              <a:t>else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l-GR" b="1">
                <a:solidFill>
                  <a:schemeClr val="folHlink"/>
                </a:solidFill>
                <a:latin typeface="Courier New" panose="02070309020205020404" pitchFamily="49" charset="0"/>
              </a:rPr>
              <a:t>max= b;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l-GR" sz="2400" b="1">
                <a:solidFill>
                  <a:schemeClr val="hlink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l-GR" sz="2400" b="1">
                <a:solidFill>
                  <a:schemeClr val="folHlink"/>
                </a:solidFill>
                <a:latin typeface="Courier New" panose="02070309020205020404" pitchFamily="49" charset="0"/>
              </a:rPr>
              <a:t> max;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l-GR" b="1">
                <a:solidFill>
                  <a:schemeClr val="folHlink"/>
                </a:solidFill>
                <a:latin typeface="Courier New" panose="02070309020205020404" pitchFamily="49" charset="0"/>
              </a:rPr>
              <a:t>}</a:t>
            </a:r>
            <a:endParaRPr lang="en-GB" altLang="el-GR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F36D8B4E-7A72-C95F-81FC-2153FAA767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Ορισμός της </a:t>
            </a:r>
            <a:r>
              <a:rPr lang="en-US" altLang="el-GR"/>
              <a:t>max</a:t>
            </a:r>
            <a:r>
              <a:rPr lang="el-GR" altLang="el-GR"/>
              <a:t> – έκδοση 2 </a:t>
            </a:r>
            <a:endParaRPr lang="en-GB" altLang="el-GR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2666EE22-F10B-6699-391E-BD32A90A6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133600"/>
            <a:ext cx="7772400" cy="41148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int max(int a, int b)</a:t>
            </a:r>
            <a:endParaRPr lang="el-GR" altLang="el-GR" sz="32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l-GR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{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if(a&gt;b)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l-GR" sz="3200" b="1">
                <a:solidFill>
                  <a:schemeClr val="hlink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 a;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else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l-GR" sz="3200" b="1">
                <a:solidFill>
                  <a:schemeClr val="hlink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 b;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}</a:t>
            </a:r>
            <a:endParaRPr lang="en-GB" altLang="el-GR" sz="32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6F20BF72-4EC8-4435-A3E5-FBAE8FCB1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Ορισμός της </a:t>
            </a:r>
            <a:r>
              <a:rPr lang="en-US" altLang="el-GR"/>
              <a:t>max</a:t>
            </a:r>
            <a:r>
              <a:rPr lang="el-GR" altLang="el-GR"/>
              <a:t> – έκδοση </a:t>
            </a:r>
            <a:r>
              <a:rPr lang="en-US" altLang="el-GR"/>
              <a:t>3</a:t>
            </a:r>
            <a:r>
              <a:rPr lang="el-GR" altLang="el-GR"/>
              <a:t> </a:t>
            </a:r>
            <a:endParaRPr lang="en-GB" altLang="el-GR"/>
          </a:p>
        </p:txBody>
      </p:sp>
      <p:sp>
        <p:nvSpPr>
          <p:cNvPr id="28675" name="Rectangle 1027">
            <a:extLst>
              <a:ext uri="{FF2B5EF4-FFF2-40B4-BE49-F238E27FC236}">
                <a16:creationId xmlns:a16="http://schemas.microsoft.com/office/drawing/2014/main" id="{EC9ED33B-2F11-290B-A216-848E9D41B7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7772400" cy="41148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int max(int a, int b)</a:t>
            </a:r>
            <a:endParaRPr lang="el-GR" altLang="el-GR" sz="32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l-GR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{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l-GR" sz="3600" b="1">
                <a:solidFill>
                  <a:schemeClr val="hlink"/>
                </a:solidFill>
                <a:latin typeface="Courier New" panose="02070309020205020404" pitchFamily="49" charset="0"/>
              </a:rPr>
              <a:t>return</a:t>
            </a:r>
            <a:r>
              <a:rPr lang="en-US" altLang="el-GR" sz="3600" b="1">
                <a:solidFill>
                  <a:schemeClr val="folHlink"/>
                </a:solidFill>
                <a:latin typeface="Courier New" panose="02070309020205020404" pitchFamily="49" charset="0"/>
              </a:rPr>
              <a:t> a&gt;b </a:t>
            </a:r>
            <a:r>
              <a:rPr lang="en-US" altLang="el-GR" sz="3600" b="1">
                <a:solidFill>
                  <a:schemeClr val="hlink"/>
                </a:solidFill>
                <a:latin typeface="Courier New" panose="02070309020205020404" pitchFamily="49" charset="0"/>
              </a:rPr>
              <a:t>?</a:t>
            </a:r>
            <a:r>
              <a:rPr lang="en-US" altLang="el-GR" sz="3600" b="1">
                <a:solidFill>
                  <a:schemeClr val="folHlink"/>
                </a:solidFill>
                <a:latin typeface="Courier New" panose="02070309020205020404" pitchFamily="49" charset="0"/>
              </a:rPr>
              <a:t> a </a:t>
            </a:r>
            <a:r>
              <a:rPr lang="en-US" altLang="el-GR" sz="3600" b="1">
                <a:solidFill>
                  <a:schemeClr val="hlink"/>
                </a:solidFill>
                <a:latin typeface="Courier New" panose="02070309020205020404" pitchFamily="49" charset="0"/>
              </a:rPr>
              <a:t>:</a:t>
            </a:r>
            <a:r>
              <a:rPr lang="en-US" altLang="el-GR" sz="3600" b="1">
                <a:solidFill>
                  <a:schemeClr val="folHlink"/>
                </a:solidFill>
                <a:latin typeface="Courier New" panose="02070309020205020404" pitchFamily="49" charset="0"/>
              </a:rPr>
              <a:t> b;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l-GR" sz="3200" b="1">
                <a:solidFill>
                  <a:schemeClr val="folHlink"/>
                </a:solidFill>
                <a:latin typeface="Courier New" panose="02070309020205020404" pitchFamily="49" charset="0"/>
              </a:rPr>
              <a:t>}</a:t>
            </a:r>
            <a:endParaRPr lang="en-GB" altLang="el-GR" sz="32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  <p:sp>
        <p:nvSpPr>
          <p:cNvPr id="28676" name="AutoShape 1032">
            <a:extLst>
              <a:ext uri="{FF2B5EF4-FFF2-40B4-BE49-F238E27FC236}">
                <a16:creationId xmlns:a16="http://schemas.microsoft.com/office/drawing/2014/main" id="{0B35F233-97EB-AA07-0525-54D0E427D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4953000"/>
            <a:ext cx="1828800" cy="533400"/>
          </a:xfrm>
          <a:prstGeom prst="wedgeRoundRectCallout">
            <a:avLst>
              <a:gd name="adj1" fmla="val 43662"/>
              <a:gd name="adj2" fmla="val -225597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/>
              <a:t>έκφραση 1</a:t>
            </a:r>
            <a:endParaRPr lang="en-GB" altLang="el-GR"/>
          </a:p>
        </p:txBody>
      </p:sp>
      <p:sp>
        <p:nvSpPr>
          <p:cNvPr id="28677" name="AutoShape 1033">
            <a:extLst>
              <a:ext uri="{FF2B5EF4-FFF2-40B4-BE49-F238E27FC236}">
                <a16:creationId xmlns:a16="http://schemas.microsoft.com/office/drawing/2014/main" id="{04F38C14-27D1-3E27-BD26-ACA0D4D67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4953000"/>
            <a:ext cx="1828800" cy="533400"/>
          </a:xfrm>
          <a:prstGeom prst="wedgeRoundRectCallout">
            <a:avLst>
              <a:gd name="adj1" fmla="val 14148"/>
              <a:gd name="adj2" fmla="val -236014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/>
              <a:t>έκφραση 2</a:t>
            </a:r>
            <a:endParaRPr lang="en-GB" altLang="el-GR"/>
          </a:p>
        </p:txBody>
      </p:sp>
      <p:sp>
        <p:nvSpPr>
          <p:cNvPr id="28678" name="AutoShape 1034">
            <a:extLst>
              <a:ext uri="{FF2B5EF4-FFF2-40B4-BE49-F238E27FC236}">
                <a16:creationId xmlns:a16="http://schemas.microsoft.com/office/drawing/2014/main" id="{832E2575-53D5-DA61-6749-F0438ADD4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953000"/>
            <a:ext cx="1828800" cy="533400"/>
          </a:xfrm>
          <a:prstGeom prst="wedgeRoundRectCallout">
            <a:avLst>
              <a:gd name="adj1" fmla="val -34722"/>
              <a:gd name="adj2" fmla="val -227681"/>
              <a:gd name="adj3" fmla="val 1666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/>
              <a:t>έκφραση 3</a:t>
            </a:r>
            <a:endParaRPr lang="en-GB" altLang="el-G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08B30D7-A9F7-9A9A-5E4C-F0BFA32807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/>
              <a:t>Ενσωματωμένα</a:t>
            </a:r>
            <a:r>
              <a:rPr lang="en-US" altLang="el-GR"/>
              <a:t> (nested) if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05BF9305-C15E-F857-D8E9-60C5B7C4F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286000"/>
            <a:ext cx="8382000" cy="391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spcBef>
                <a:spcPct val="35000"/>
              </a:spcBef>
            </a:pPr>
            <a:r>
              <a:rPr lang="en-US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l-GR" b="1">
                <a:latin typeface="Times New Roman" panose="02020603050405020304" pitchFamily="18" charset="0"/>
              </a:rPr>
              <a:t>(</a:t>
            </a:r>
            <a:r>
              <a:rPr lang="en-US" altLang="el-GR">
                <a:latin typeface="Times New Roman" panose="02020603050405020304" pitchFamily="18" charset="0"/>
              </a:rPr>
              <a:t>kwh &lt;= BREAK1)</a:t>
            </a:r>
          </a:p>
          <a:p>
            <a:pPr algn="l">
              <a:spcBef>
                <a:spcPct val="35000"/>
              </a:spcBef>
            </a:pPr>
            <a:r>
              <a:rPr lang="en-US" altLang="el-GR">
                <a:latin typeface="Times New Roman" panose="02020603050405020304" pitchFamily="18" charset="0"/>
              </a:rPr>
              <a:t>	bill = RATE1 * kwh;</a:t>
            </a:r>
          </a:p>
          <a:p>
            <a:pPr algn="l">
              <a:spcBef>
                <a:spcPct val="35000"/>
              </a:spcBef>
            </a:pPr>
            <a:r>
              <a:rPr lang="en-US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else</a:t>
            </a:r>
            <a:r>
              <a:rPr lang="en-US" altLang="el-GR" b="1">
                <a:latin typeface="Times New Roman" panose="02020603050405020304" pitchFamily="18" charset="0"/>
              </a:rPr>
              <a:t> </a:t>
            </a:r>
          </a:p>
          <a:p>
            <a:pPr algn="l">
              <a:spcBef>
                <a:spcPct val="35000"/>
              </a:spcBef>
            </a:pPr>
            <a:r>
              <a:rPr lang="en-US" altLang="el-GR" b="1">
                <a:latin typeface="Times New Roman" panose="02020603050405020304" pitchFamily="18" charset="0"/>
              </a:rPr>
              <a:t>	</a:t>
            </a:r>
            <a:r>
              <a:rPr lang="en-US" altLang="el-GR" b="1">
                <a:solidFill>
                  <a:schemeClr val="folHlink"/>
                </a:solidFill>
                <a:latin typeface="Times New Roman" panose="02020603050405020304" pitchFamily="18" charset="0"/>
              </a:rPr>
              <a:t>if</a:t>
            </a:r>
            <a:r>
              <a:rPr lang="en-US" altLang="el-GR" b="1">
                <a:latin typeface="Times New Roman" panose="02020603050405020304" pitchFamily="18" charset="0"/>
              </a:rPr>
              <a:t> (</a:t>
            </a:r>
            <a:r>
              <a:rPr lang="en-US" altLang="el-GR">
                <a:latin typeface="Times New Roman" panose="02020603050405020304" pitchFamily="18" charset="0"/>
              </a:rPr>
              <a:t>kwh &lt;= BREAK2)</a:t>
            </a:r>
          </a:p>
          <a:p>
            <a:pPr algn="l">
              <a:spcBef>
                <a:spcPct val="35000"/>
              </a:spcBef>
            </a:pPr>
            <a:r>
              <a:rPr lang="en-US" altLang="el-GR">
                <a:latin typeface="Times New Roman" panose="02020603050405020304" pitchFamily="18" charset="0"/>
              </a:rPr>
              <a:t>	      bill = BASE1 + RATE2 * (kwh - BREAK1);</a:t>
            </a:r>
          </a:p>
          <a:p>
            <a:pPr algn="l">
              <a:spcBef>
                <a:spcPct val="35000"/>
              </a:spcBef>
            </a:pPr>
            <a:r>
              <a:rPr lang="en-US" altLang="el-GR" b="1">
                <a:latin typeface="Times New Roman" panose="02020603050405020304" pitchFamily="18" charset="0"/>
              </a:rPr>
              <a:t>	</a:t>
            </a:r>
            <a:r>
              <a:rPr lang="en-US" altLang="el-GR" b="1">
                <a:solidFill>
                  <a:schemeClr val="folHlink"/>
                </a:solidFill>
                <a:latin typeface="Times New Roman" panose="02020603050405020304" pitchFamily="18" charset="0"/>
              </a:rPr>
              <a:t>else</a:t>
            </a:r>
            <a:endParaRPr lang="en-US" altLang="el-GR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pPr algn="l">
              <a:spcBef>
                <a:spcPct val="35000"/>
              </a:spcBef>
            </a:pPr>
            <a:r>
              <a:rPr lang="en-US" altLang="el-GR">
                <a:latin typeface="Times New Roman" panose="02020603050405020304" pitchFamily="18" charset="0"/>
              </a:rPr>
              <a:t>	      bill = BASE2 + RATE3 * (kwh - BREAK2);</a:t>
            </a:r>
          </a:p>
          <a:p>
            <a:pPr algn="l">
              <a:spcBef>
                <a:spcPct val="35000"/>
              </a:spcBef>
            </a:pPr>
            <a:endParaRPr lang="en-US" altLang="el-GR">
              <a:latin typeface="Times New Roman" panose="02020603050405020304" pitchFamily="18" charset="0"/>
            </a:endParaRPr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D40A1593-22AC-E254-D5D1-9DF536B71F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19800"/>
            <a:ext cx="9144000" cy="457200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έ</a:t>
            </a:r>
            <a:r>
              <a:rPr lang="en-US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να else </a:t>
            </a:r>
            <a:r>
              <a:rPr lang="el-GR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συσχετίζεται πάντα με το πλησιέστερο προηγούμενο</a:t>
            </a:r>
            <a:r>
              <a:rPr lang="en-US" altLang="el-GR" sz="2800">
                <a:solidFill>
                  <a:schemeClr val="hlink"/>
                </a:solidFill>
                <a:latin typeface="Times New Roman" panose="02020603050405020304" pitchFamily="18" charset="0"/>
              </a:rPr>
              <a:t> if</a:t>
            </a:r>
            <a:endParaRPr lang="en-GB" altLang="el-GR" sz="280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701" name="Group 8">
            <a:extLst>
              <a:ext uri="{FF2B5EF4-FFF2-40B4-BE49-F238E27FC236}">
                <a16:creationId xmlns:a16="http://schemas.microsoft.com/office/drawing/2014/main" id="{16F55D81-B4E1-17C9-8D19-C1C3A8208D9C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4038600"/>
            <a:ext cx="533400" cy="990600"/>
            <a:chOff x="576" y="2544"/>
            <a:chExt cx="336" cy="624"/>
          </a:xfrm>
        </p:grpSpPr>
        <p:sp>
          <p:nvSpPr>
            <p:cNvPr id="29702" name="Line 5">
              <a:extLst>
                <a:ext uri="{FF2B5EF4-FFF2-40B4-BE49-F238E27FC236}">
                  <a16:creationId xmlns:a16="http://schemas.microsoft.com/office/drawing/2014/main" id="{0560DF05-54FB-160A-B0E6-FABA26D491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3168"/>
              <a:ext cx="288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29703" name="Line 6">
              <a:extLst>
                <a:ext uri="{FF2B5EF4-FFF2-40B4-BE49-F238E27FC236}">
                  <a16:creationId xmlns:a16="http://schemas.microsoft.com/office/drawing/2014/main" id="{DA25A18E-0C23-A07B-21A3-DA6F082BF2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6" y="2544"/>
              <a:ext cx="0" cy="624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29704" name="Line 7">
              <a:extLst>
                <a:ext uri="{FF2B5EF4-FFF2-40B4-BE49-F238E27FC236}">
                  <a16:creationId xmlns:a16="http://schemas.microsoft.com/office/drawing/2014/main" id="{F81E08F9-F511-FB6F-8245-58DB36CE82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544"/>
              <a:ext cx="33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C454CFA0-A6EE-01D6-3125-5493A76092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l-GR"/>
              <a:t>Πρόταση switch (1) 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777087E-90EF-0802-AF02-BB2ADA412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557338"/>
            <a:ext cx="6096000" cy="496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l-GR" sz="3200" b="1">
                <a:solidFill>
                  <a:schemeClr val="hlink"/>
                </a:solidFill>
                <a:latin typeface="Times New Roman" panose="02020603050405020304" pitchFamily="18" charset="0"/>
              </a:rPr>
              <a:t>switch</a:t>
            </a:r>
            <a:r>
              <a:rPr lang="en-US" altLang="el-GR" sz="3200" b="1">
                <a:latin typeface="Times New Roman" panose="02020603050405020304" pitchFamily="18" charset="0"/>
              </a:rPr>
              <a:t> </a:t>
            </a:r>
            <a:r>
              <a:rPr lang="en-US" altLang="el-GR" sz="3200">
                <a:latin typeface="Times New Roman" panose="02020603050405020304" pitchFamily="18" charset="0"/>
              </a:rPr>
              <a:t>(έκφραση) {</a:t>
            </a:r>
          </a:p>
          <a:p>
            <a:pPr algn="l"/>
            <a:r>
              <a:rPr lang="en-US" altLang="el-GR" sz="3200">
                <a:latin typeface="Times New Roman" panose="02020603050405020304" pitchFamily="18" charset="0"/>
              </a:rPr>
              <a:t>  </a:t>
            </a:r>
            <a:r>
              <a:rPr lang="el-GR" altLang="el-GR" sz="3200">
                <a:latin typeface="Times New Roman" panose="02020603050405020304" pitchFamily="18" charset="0"/>
              </a:rPr>
              <a:t>	</a:t>
            </a:r>
            <a:r>
              <a:rPr lang="en-US" altLang="el-GR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case</a:t>
            </a:r>
            <a:r>
              <a:rPr lang="en-US" altLang="el-GR" sz="3200">
                <a:latin typeface="Times New Roman" panose="02020603050405020304" pitchFamily="18" charset="0"/>
              </a:rPr>
              <a:t> </a:t>
            </a:r>
            <a:r>
              <a:rPr lang="el-GR" altLang="el-GR" sz="3200">
                <a:latin typeface="Times New Roman" panose="02020603050405020304" pitchFamily="18" charset="0"/>
              </a:rPr>
              <a:t>σταθερά έκφραση </a:t>
            </a:r>
            <a:r>
              <a:rPr lang="en-US" altLang="el-GR" sz="3200">
                <a:latin typeface="Times New Roman" panose="02020603050405020304" pitchFamily="18" charset="0"/>
              </a:rPr>
              <a:t>1 : 	</a:t>
            </a:r>
            <a:r>
              <a:rPr lang="el-GR" altLang="el-GR" sz="3200">
                <a:latin typeface="Times New Roman" panose="02020603050405020304" pitchFamily="18" charset="0"/>
              </a:rPr>
              <a:t>		</a:t>
            </a:r>
            <a:r>
              <a:rPr lang="en-US" altLang="el-GR" sz="3200">
                <a:latin typeface="Times New Roman" panose="02020603050405020304" pitchFamily="18" charset="0"/>
              </a:rPr>
              <a:t>πρόταση1</a:t>
            </a:r>
          </a:p>
          <a:p>
            <a:pPr algn="l"/>
            <a:r>
              <a:rPr lang="en-US" altLang="el-GR" sz="3200">
                <a:latin typeface="Times New Roman" panose="02020603050405020304" pitchFamily="18" charset="0"/>
              </a:rPr>
              <a:t>  </a:t>
            </a:r>
            <a:r>
              <a:rPr lang="el-GR" altLang="el-GR" sz="3200">
                <a:latin typeface="Times New Roman" panose="02020603050405020304" pitchFamily="18" charset="0"/>
              </a:rPr>
              <a:t>	</a:t>
            </a:r>
            <a:r>
              <a:rPr lang="en-US" altLang="el-GR" sz="3200" b="1">
                <a:solidFill>
                  <a:schemeClr val="accent1"/>
                </a:solidFill>
                <a:latin typeface="Times New Roman" panose="02020603050405020304" pitchFamily="18" charset="0"/>
              </a:rPr>
              <a:t>case</a:t>
            </a:r>
            <a:r>
              <a:rPr lang="en-US" altLang="el-GR" sz="3200">
                <a:latin typeface="Times New Roman" panose="02020603050405020304" pitchFamily="18" charset="0"/>
              </a:rPr>
              <a:t> </a:t>
            </a:r>
            <a:r>
              <a:rPr lang="el-GR" altLang="el-GR" sz="3200">
                <a:latin typeface="Times New Roman" panose="02020603050405020304" pitchFamily="18" charset="0"/>
              </a:rPr>
              <a:t>σταθερά έκφραση 2</a:t>
            </a:r>
            <a:r>
              <a:rPr lang="en-US" altLang="el-GR" sz="3200">
                <a:latin typeface="Times New Roman" panose="02020603050405020304" pitchFamily="18" charset="0"/>
              </a:rPr>
              <a:t>: 	</a:t>
            </a:r>
            <a:r>
              <a:rPr lang="el-GR" altLang="el-GR" sz="3200">
                <a:latin typeface="Times New Roman" panose="02020603050405020304" pitchFamily="18" charset="0"/>
              </a:rPr>
              <a:t>		</a:t>
            </a:r>
            <a:r>
              <a:rPr lang="en-US" altLang="el-GR" sz="3200">
                <a:latin typeface="Times New Roman" panose="02020603050405020304" pitchFamily="18" charset="0"/>
              </a:rPr>
              <a:t>πρόταση2</a:t>
            </a:r>
            <a:endParaRPr lang="el-GR" altLang="el-GR" sz="3200">
              <a:latin typeface="Times New Roman" panose="02020603050405020304" pitchFamily="18" charset="0"/>
            </a:endParaRPr>
          </a:p>
          <a:p>
            <a:pPr algn="l"/>
            <a:r>
              <a:rPr lang="el-GR" altLang="el-GR" sz="3200">
                <a:latin typeface="Times New Roman" panose="02020603050405020304" pitchFamily="18" charset="0"/>
              </a:rPr>
              <a:t>	:</a:t>
            </a:r>
            <a:endParaRPr lang="en-US" altLang="el-GR" sz="3200">
              <a:latin typeface="Times New Roman" panose="02020603050405020304" pitchFamily="18" charset="0"/>
            </a:endParaRPr>
          </a:p>
          <a:p>
            <a:pPr algn="l"/>
            <a:r>
              <a:rPr lang="en-US" altLang="el-GR" sz="3200">
                <a:latin typeface="Times New Roman" panose="02020603050405020304" pitchFamily="18" charset="0"/>
              </a:rPr>
              <a:t>	:</a:t>
            </a:r>
          </a:p>
          <a:p>
            <a:pPr algn="l"/>
            <a:r>
              <a:rPr lang="en-US" altLang="el-GR" sz="3200">
                <a:latin typeface="Times New Roman" panose="02020603050405020304" pitchFamily="18" charset="0"/>
              </a:rPr>
              <a:t>  </a:t>
            </a:r>
            <a:r>
              <a:rPr lang="el-GR" altLang="el-GR" sz="3200">
                <a:latin typeface="Times New Roman" panose="02020603050405020304" pitchFamily="18" charset="0"/>
              </a:rPr>
              <a:t>	</a:t>
            </a:r>
            <a:r>
              <a:rPr lang="en-US" altLang="el-GR" sz="3200" b="1">
                <a:solidFill>
                  <a:schemeClr val="folHlink"/>
                </a:solidFill>
                <a:latin typeface="Times New Roman" panose="02020603050405020304" pitchFamily="18" charset="0"/>
              </a:rPr>
              <a:t>default</a:t>
            </a:r>
            <a:r>
              <a:rPr lang="en-US" altLang="el-GR" sz="3200">
                <a:latin typeface="Times New Roman" panose="02020603050405020304" pitchFamily="18" charset="0"/>
              </a:rPr>
              <a:t> :</a:t>
            </a:r>
          </a:p>
          <a:p>
            <a:pPr algn="l"/>
            <a:r>
              <a:rPr lang="en-US" altLang="el-GR" sz="3200">
                <a:latin typeface="Times New Roman" panose="02020603050405020304" pitchFamily="18" charset="0"/>
              </a:rPr>
              <a:t>	</a:t>
            </a:r>
            <a:r>
              <a:rPr lang="el-GR" altLang="el-GR" sz="3200">
                <a:latin typeface="Times New Roman" panose="02020603050405020304" pitchFamily="18" charset="0"/>
              </a:rPr>
              <a:t>	</a:t>
            </a:r>
            <a:r>
              <a:rPr lang="en-US" altLang="el-GR" sz="3200">
                <a:latin typeface="Times New Roman" panose="02020603050405020304" pitchFamily="18" charset="0"/>
              </a:rPr>
              <a:t>πρόταση3</a:t>
            </a:r>
          </a:p>
          <a:p>
            <a:pPr algn="l"/>
            <a:r>
              <a:rPr lang="el-GR" altLang="el-GR" sz="3200">
                <a:latin typeface="HellasTimes" charset="0"/>
              </a:rPr>
              <a:t>	</a:t>
            </a:r>
            <a:r>
              <a:rPr lang="en-US" altLang="el-GR" sz="3200">
                <a:latin typeface="HellasTimes" charset="0"/>
              </a:rPr>
              <a:t>}</a:t>
            </a:r>
          </a:p>
        </p:txBody>
      </p:sp>
      <p:sp>
        <p:nvSpPr>
          <p:cNvPr id="50180" name="AutoShape 4">
            <a:extLst>
              <a:ext uri="{FF2B5EF4-FFF2-40B4-BE49-F238E27FC236}">
                <a16:creationId xmlns:a16="http://schemas.microsoft.com/office/drawing/2014/main" id="{34EE06CF-14F8-1067-03FF-47AF5A869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263" y="1268413"/>
            <a:ext cx="2305050" cy="649287"/>
          </a:xfrm>
          <a:prstGeom prst="wedgeRoundRectCallout">
            <a:avLst>
              <a:gd name="adj1" fmla="val -71074"/>
              <a:gd name="adj2" fmla="val 94255"/>
              <a:gd name="adj3" fmla="val 16667"/>
            </a:avLst>
          </a:prstGeom>
          <a:solidFill>
            <a:srgbClr val="F9ED0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/>
              <a:t>int ή char</a:t>
            </a:r>
            <a:endParaRPr lang="en-US" altLang="el-GR"/>
          </a:p>
        </p:txBody>
      </p:sp>
      <p:sp>
        <p:nvSpPr>
          <p:cNvPr id="50181" name="AutoShape 5">
            <a:extLst>
              <a:ext uri="{FF2B5EF4-FFF2-40B4-BE49-F238E27FC236}">
                <a16:creationId xmlns:a16="http://schemas.microsoft.com/office/drawing/2014/main" id="{E456DC59-02A2-C7B2-EE3A-3FFD9B5D8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9838" y="4005263"/>
            <a:ext cx="5256212" cy="1008062"/>
          </a:xfrm>
          <a:prstGeom prst="wedgeRoundRectCallout">
            <a:avLst>
              <a:gd name="adj1" fmla="val -65856"/>
              <a:gd name="adj2" fmla="val 67954"/>
              <a:gd name="adj3" fmla="val 16667"/>
            </a:avLst>
          </a:prstGeom>
          <a:solidFill>
            <a:srgbClr val="F9ED0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 sz="2000"/>
              <a:t>το default </a:t>
            </a:r>
            <a:r>
              <a:rPr lang="en-US" altLang="el-GR" sz="2000"/>
              <a:t>a) </a:t>
            </a:r>
            <a:r>
              <a:rPr lang="el-GR" altLang="el-GR" sz="2000"/>
              <a:t>εκτελείται όταν καμία από τις case δεν ικανοποιείται</a:t>
            </a:r>
            <a:r>
              <a:rPr lang="en-US" altLang="el-GR" sz="2000"/>
              <a:t>, b) </a:t>
            </a:r>
            <a:r>
              <a:rPr lang="el-GR" altLang="el-GR" sz="2000"/>
              <a:t>δεν είναι απαραίτητα η τελευταία ετικέτα</a:t>
            </a:r>
            <a:endParaRPr lang="en-US" altLang="el-GR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6900"/>
                            </p:stCondLst>
                            <p:childTnLst>
                              <p:par>
                                <p:cTn id="9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autoUpdateAnimBg="0"/>
      <p:bldP spid="50180" grpId="0" animBg="1"/>
      <p:bldP spid="5018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DB6A2EB6-7470-0D8C-D6E0-94A6992370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l-GR"/>
              <a:t>Πρόταση switch (2)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F57A4DD-4D5E-AF15-C200-255C3B9118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773238"/>
            <a:ext cx="8659812" cy="41910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buSzPct val="130000"/>
              <a:buFontTx/>
              <a:buChar char="•"/>
            </a:pPr>
            <a:r>
              <a:rPr lang="el-GR" altLang="el-GR" sz="2800"/>
              <a:t>κάθε case πρέπει να έχει μια int ή char σταθερά ή μια σταθερά έκφραση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SzPct val="130000"/>
              <a:buFontTx/>
              <a:buChar char="•"/>
            </a:pPr>
            <a:r>
              <a:rPr lang="el-GR" altLang="el-GR" sz="2800"/>
              <a:t>δύο case δεν μπορούν να έχουν την ίδια τιμή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SzPct val="130000"/>
              <a:buFontTx/>
              <a:buChar char="•"/>
            </a:pPr>
            <a:r>
              <a:rPr lang="el-GR" altLang="el-GR" sz="2800"/>
              <a:t>case και default μπορούν να μπουν με οποιαδήποτε σειρά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SzPct val="130000"/>
              <a:buFontTx/>
              <a:buChar char="•"/>
            </a:pPr>
            <a:r>
              <a:rPr lang="el-GR" altLang="el-GR" sz="2800"/>
              <a:t>η ροή συνεχίζει από το επιλεχθέν case μέχρι την εμφάνιση μιας πρότασης </a:t>
            </a:r>
            <a:r>
              <a:rPr lang="el-GR" altLang="el-GR" sz="2800" b="1"/>
              <a:t>break</a:t>
            </a:r>
            <a:r>
              <a:rPr lang="el-GR" altLang="el-GR" sz="2800"/>
              <a:t>, </a:t>
            </a:r>
            <a:r>
              <a:rPr lang="el-GR" altLang="el-GR" sz="2800" b="1"/>
              <a:t>return</a:t>
            </a:r>
            <a:r>
              <a:rPr lang="en-US" altLang="el-GR" sz="2800" b="1"/>
              <a:t>,</a:t>
            </a:r>
            <a:r>
              <a:rPr lang="el-GR" altLang="el-GR" sz="2800"/>
              <a:t> </a:t>
            </a:r>
            <a:r>
              <a:rPr lang="el-GR" altLang="el-GR" sz="2800" b="1"/>
              <a:t>goto</a:t>
            </a:r>
            <a:r>
              <a:rPr lang="el-GR" altLang="el-GR" sz="2800"/>
              <a:t> ή το τέλος του switch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buSzPct val="130000"/>
              <a:buFontTx/>
              <a:buChar char="•"/>
            </a:pPr>
            <a:r>
              <a:rPr lang="el-GR" altLang="el-GR" sz="2800"/>
              <a:t>το break μετά τη τελευταία ετικέτα αποτελεί καλή τακτική αν και δεν είναι απαραίτητο 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F813B965-4488-D0A9-108D-D7E8BD468B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/>
              <a:t>Άσκηση με τη</a:t>
            </a:r>
            <a:r>
              <a:rPr lang="en-US" altLang="el-GR"/>
              <a:t> switch</a:t>
            </a:r>
          </a:p>
        </p:txBody>
      </p:sp>
      <p:sp>
        <p:nvSpPr>
          <p:cNvPr id="32771" name="Rectangle 5">
            <a:extLst>
              <a:ext uri="{FF2B5EF4-FFF2-40B4-BE49-F238E27FC236}">
                <a16:creationId xmlns:a16="http://schemas.microsoft.com/office/drawing/2014/main" id="{69852E59-FE5C-4B7B-51A8-6AC09A3A4D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773238"/>
            <a:ext cx="8458200" cy="32004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>
                <a:latin typeface="Times New Roman" panose="02020603050405020304" pitchFamily="18" charset="0"/>
              </a:rPr>
              <a:t>	</a:t>
            </a:r>
            <a:r>
              <a:rPr lang="el-GR" altLang="el-GR">
                <a:latin typeface="Times New Roman" panose="02020603050405020304" pitchFamily="18" charset="0"/>
                <a:cs typeface="Times New Roman" panose="02020603050405020304" pitchFamily="18" charset="0"/>
              </a:rPr>
              <a:t>Να γραφεί πρόγραμμα που να δέχεται ως</a:t>
            </a:r>
            <a:r>
              <a:rPr lang="el-GR" altLang="el-GR">
                <a:latin typeface="Times New Roman" panose="02020603050405020304" pitchFamily="18" charset="0"/>
              </a:rPr>
              <a:t> </a:t>
            </a:r>
            <a:r>
              <a:rPr lang="el-GR" altLang="el-GR">
                <a:latin typeface="Times New Roman" panose="02020603050405020304" pitchFamily="18" charset="0"/>
                <a:cs typeface="Times New Roman" panose="02020603050405020304" pitchFamily="18" charset="0"/>
              </a:rPr>
              <a:t>είσοδο κείμενο, να απαριθμεί </a:t>
            </a:r>
            <a:endParaRPr lang="el-GR" altLang="el-GR"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l-GR" altLang="el-GR" sz="2800">
                <a:latin typeface="Times New Roman" panose="02020603050405020304" pitchFamily="18" charset="0"/>
                <a:cs typeface="Times New Roman" panose="02020603050405020304" pitchFamily="18" charset="0"/>
              </a:rPr>
              <a:t>τις εμφανίσεις των ψηφίων 0-9, </a:t>
            </a:r>
            <a:endParaRPr lang="el-GR" altLang="el-GR" sz="2800"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l-GR" altLang="el-GR" sz="2800">
                <a:latin typeface="Times New Roman" panose="02020603050405020304" pitchFamily="18" charset="0"/>
                <a:cs typeface="Times New Roman" panose="02020603050405020304" pitchFamily="18" charset="0"/>
              </a:rPr>
              <a:t>τα λευκά</a:t>
            </a:r>
            <a:r>
              <a:rPr lang="el-GR" altLang="el-GR" sz="2800">
                <a:latin typeface="Times New Roman" panose="02020603050405020304" pitchFamily="18" charset="0"/>
              </a:rPr>
              <a:t> </a:t>
            </a:r>
            <a:r>
              <a:rPr lang="el-GR" altLang="el-GR" sz="2800">
                <a:latin typeface="Times New Roman" panose="02020603050405020304" pitchFamily="18" charset="0"/>
                <a:cs typeface="Times New Roman" panose="02020603050405020304" pitchFamily="18" charset="0"/>
              </a:rPr>
              <a:t>διαστήματα και </a:t>
            </a:r>
            <a:endParaRPr lang="el-GR" altLang="el-GR" sz="2800">
              <a:latin typeface="Times New Roman" panose="02020603050405020304" pitchFamily="18" charset="0"/>
            </a:endParaRPr>
          </a:p>
          <a:p>
            <a:pPr lvl="2"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el-GR" altLang="el-GR" sz="2800">
                <a:latin typeface="Times New Roman" panose="02020603050405020304" pitchFamily="18" charset="0"/>
                <a:cs typeface="Times New Roman" panose="02020603050405020304" pitchFamily="18" charset="0"/>
              </a:rPr>
              <a:t>τους υπόλοιπους χαρακτήρες </a:t>
            </a:r>
            <a:endParaRPr lang="el-GR" altLang="el-GR" sz="280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el-GR">
                <a:latin typeface="Times New Roman" panose="02020603050405020304" pitchFamily="18" charset="0"/>
              </a:rPr>
              <a:t>	</a:t>
            </a:r>
            <a:r>
              <a:rPr lang="el-GR" altLang="el-GR">
                <a:latin typeface="Times New Roman" panose="02020603050405020304" pitchFamily="18" charset="0"/>
                <a:cs typeface="Times New Roman" panose="02020603050405020304" pitchFamily="18" charset="0"/>
              </a:rPr>
              <a:t>και στη συνέχεια να τυπώνει τα</a:t>
            </a:r>
            <a:r>
              <a:rPr lang="el-GR" altLang="el-GR">
                <a:latin typeface="Times New Roman" panose="02020603050405020304" pitchFamily="18" charset="0"/>
              </a:rPr>
              <a:t> </a:t>
            </a:r>
            <a:r>
              <a:rPr lang="el-GR" altLang="el-GR">
                <a:latin typeface="Times New Roman" panose="02020603050405020304" pitchFamily="18" charset="0"/>
                <a:cs typeface="Times New Roman" panose="02020603050405020304" pitchFamily="18" charset="0"/>
              </a:rPr>
              <a:t>αποτελέσματα.</a:t>
            </a:r>
            <a:endParaRPr lang="en-GB" altLang="el-GR">
              <a:latin typeface="Times New Roman" panose="02020603050405020304" pitchFamily="18" charset="0"/>
            </a:endParaRPr>
          </a:p>
          <a:p>
            <a:pPr eaLnBrk="1" hangingPunct="1"/>
            <a:endParaRPr lang="en-GB" altLang="el-GR">
              <a:latin typeface="Times New Roman" panose="02020603050405020304" pitchFamily="18" charset="0"/>
            </a:endParaRPr>
          </a:p>
        </p:txBody>
      </p:sp>
      <p:sp>
        <p:nvSpPr>
          <p:cNvPr id="32772" name="AutoShape 6">
            <a:extLst>
              <a:ext uri="{FF2B5EF4-FFF2-40B4-BE49-F238E27FC236}">
                <a16:creationId xmlns:a16="http://schemas.microsoft.com/office/drawing/2014/main" id="{1287D78A-99AC-9FB8-1AFC-143DD94BE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5445125"/>
            <a:ext cx="3455988" cy="504825"/>
          </a:xfrm>
          <a:prstGeom prst="wedgeRoundRectCallout">
            <a:avLst>
              <a:gd name="adj1" fmla="val -51931"/>
              <a:gd name="adj2" fmla="val 164778"/>
              <a:gd name="adj3" fmla="val 16667"/>
            </a:avLst>
          </a:prstGeom>
          <a:solidFill>
            <a:srgbClr val="F9ED07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l-GR" altLang="el-GR"/>
              <a:t>Δες παράδειγμα 6-15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DEAFFE2-E3B4-8D15-A257-BA28774EC7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/>
              <a:t>Λεκτική περιγραφή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2C47EA0-8E4D-E5BE-6107-EDBF819956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9388" y="1628775"/>
            <a:ext cx="8704262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l-GR" sz="2800" b="1" i="1">
                <a:solidFill>
                  <a:schemeClr val="hlink"/>
                </a:solidFill>
                <a:latin typeface="Times New Roman" panose="02020603050405020304" pitchFamily="18" charset="0"/>
              </a:rPr>
              <a:t>Για κάθε</a:t>
            </a:r>
            <a:r>
              <a:rPr lang="el-GR" altLang="el-GR" sz="2800" i="1">
                <a:latin typeface="Times New Roman" panose="02020603050405020304" pitchFamily="18" charset="0"/>
              </a:rPr>
              <a:t> χαρακτήρα του κειμένου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l-GR" sz="2800" i="1">
                <a:latin typeface="Times New Roman" panose="02020603050405020304" pitchFamily="18" charset="0"/>
              </a:rPr>
              <a:t>	</a:t>
            </a:r>
            <a:r>
              <a:rPr lang="el-GR" altLang="el-GR" sz="2800" i="1">
                <a:solidFill>
                  <a:schemeClr val="hlink"/>
                </a:solidFill>
                <a:latin typeface="Times New Roman" panose="02020603050405020304" pitchFamily="18" charset="0"/>
              </a:rPr>
              <a:t>έλεγξε</a:t>
            </a:r>
            <a:r>
              <a:rPr lang="el-GR" altLang="el-GR" sz="2800" i="1">
                <a:latin typeface="Times New Roman" panose="02020603050405020304" pitchFamily="18" charset="0"/>
              </a:rPr>
              <a:t> τον τύπο του χαρακτήρα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l-GR" sz="2800" i="1">
                <a:latin typeface="Times New Roman" panose="02020603050405020304" pitchFamily="18" charset="0"/>
              </a:rPr>
              <a:t>	</a:t>
            </a:r>
            <a:r>
              <a:rPr lang="el-GR" altLang="el-GR" sz="2800" i="1">
                <a:solidFill>
                  <a:schemeClr val="hlink"/>
                </a:solidFill>
                <a:latin typeface="Times New Roman" panose="02020603050405020304" pitchFamily="18" charset="0"/>
              </a:rPr>
              <a:t>αν είναι</a:t>
            </a:r>
            <a:r>
              <a:rPr lang="el-GR" altLang="el-GR" sz="2800" i="1">
                <a:latin typeface="Times New Roman" panose="02020603050405020304" pitchFamily="18" charset="0"/>
              </a:rPr>
              <a:t> ένας από τους ‘ ‘,’\</a:t>
            </a:r>
            <a:r>
              <a:rPr lang="en-US" altLang="el-GR" sz="2800" i="1">
                <a:latin typeface="Times New Roman" panose="02020603050405020304" pitchFamily="18" charset="0"/>
              </a:rPr>
              <a:t>t</a:t>
            </a:r>
            <a:r>
              <a:rPr lang="el-GR" altLang="el-GR" sz="2800" i="1">
                <a:latin typeface="Times New Roman" panose="02020603050405020304" pitchFamily="18" charset="0"/>
              </a:rPr>
              <a:t>’ ή ‘\</a:t>
            </a:r>
            <a:r>
              <a:rPr lang="en-US" altLang="el-GR" sz="2800" i="1">
                <a:latin typeface="Times New Roman" panose="02020603050405020304" pitchFamily="18" charset="0"/>
              </a:rPr>
              <a:t>n</a:t>
            </a:r>
            <a:r>
              <a:rPr lang="el-GR" altLang="el-GR" sz="2800" i="1">
                <a:latin typeface="Times New Roman" panose="02020603050405020304" pitchFamily="18" charset="0"/>
              </a:rPr>
              <a:t>’ αύξησε τον απαριθμητή των διαστημάτων,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l-GR" sz="2800" i="1">
                <a:latin typeface="Times New Roman" panose="02020603050405020304" pitchFamily="18" charset="0"/>
              </a:rPr>
              <a:t>	</a:t>
            </a:r>
            <a:r>
              <a:rPr lang="el-GR" altLang="el-GR" sz="2800" i="1">
                <a:solidFill>
                  <a:schemeClr val="hlink"/>
                </a:solidFill>
                <a:latin typeface="Times New Roman" panose="02020603050405020304" pitchFamily="18" charset="0"/>
              </a:rPr>
              <a:t>αν είναι</a:t>
            </a:r>
            <a:r>
              <a:rPr lang="el-GR" altLang="el-GR" sz="2800" i="1">
                <a:latin typeface="Times New Roman" panose="02020603050405020304" pitchFamily="18" charset="0"/>
              </a:rPr>
              <a:t> ψηφίο αύξησε τον απαριθμητή που αντιστοιχεί στο ψηφίο,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l-GR" sz="2800" i="1">
                <a:latin typeface="Times New Roman" panose="02020603050405020304" pitchFamily="18" charset="0"/>
              </a:rPr>
              <a:t>	</a:t>
            </a:r>
            <a:r>
              <a:rPr lang="el-GR" altLang="el-GR" sz="2800" i="1">
                <a:solidFill>
                  <a:schemeClr val="hlink"/>
                </a:solidFill>
                <a:latin typeface="Times New Roman" panose="02020603050405020304" pitchFamily="18" charset="0"/>
              </a:rPr>
              <a:t>σε κάθε άλλη περίπτωση</a:t>
            </a:r>
            <a:r>
              <a:rPr lang="el-GR" altLang="el-GR" sz="2800" i="1">
                <a:latin typeface="Times New Roman" panose="02020603050405020304" pitchFamily="18" charset="0"/>
              </a:rPr>
              <a:t> αύξησε τον απαριθμητή των υπόλοιπων χαρακτήρων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l-GR" altLang="el-GR" sz="2800" i="1">
                <a:latin typeface="Times New Roman" panose="02020603050405020304" pitchFamily="18" charset="0"/>
              </a:rPr>
              <a:t>Τύπωσε τους απαριθμητές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72C91DB-7922-CF56-BFCC-162EE736F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sz="4000">
                <a:solidFill>
                  <a:schemeClr val="folHlink"/>
                </a:solidFill>
              </a:rPr>
              <a:t>Προτάσεις διακλάδωσης </a:t>
            </a:r>
            <a:br>
              <a:rPr lang="el-GR" altLang="el-GR" sz="4000">
                <a:solidFill>
                  <a:schemeClr val="folHlink"/>
                </a:solidFill>
              </a:rPr>
            </a:br>
            <a:r>
              <a:rPr lang="el-GR" altLang="el-GR" sz="4000">
                <a:solidFill>
                  <a:schemeClr val="folHlink"/>
                </a:solidFill>
              </a:rPr>
              <a:t>χωρίς συνθήκη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81C6FC2-60C9-FA8C-CBA3-30FE73F3C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8077200" cy="41910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el-GR" altLang="el-GR">
                <a:latin typeface="Times New Roman" panose="02020603050405020304" pitchFamily="18" charset="0"/>
              </a:rPr>
              <a:t>Διαχείριση ειδικών περιπτώσεων σε προτάσεις επανάληψης</a:t>
            </a:r>
            <a:endParaRPr lang="el-GR" altLang="el-GR" b="1"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el-GR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break</a:t>
            </a:r>
          </a:p>
          <a:p>
            <a:pPr lvl="1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el-GR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continue</a:t>
            </a: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el-GR" altLang="el-GR">
                <a:latin typeface="Times New Roman" panose="02020603050405020304" pitchFamily="18" charset="0"/>
              </a:rPr>
              <a:t>Μεταφορά ελέγχου από συνάρτηση στην καλούσα συνάρτηση</a:t>
            </a:r>
          </a:p>
          <a:p>
            <a:pPr lvl="1" algn="just" eaLnBrk="1" hangingPunct="1">
              <a:lnSpc>
                <a:spcPct val="90000"/>
              </a:lnSpc>
              <a:spcBef>
                <a:spcPts val="600"/>
              </a:spcBef>
            </a:pPr>
            <a:r>
              <a:rPr lang="el-GR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return</a:t>
            </a:r>
          </a:p>
          <a:p>
            <a:pPr algn="just" eaLnBrk="1" hangingPunct="1">
              <a:lnSpc>
                <a:spcPct val="90000"/>
              </a:lnSpc>
            </a:pPr>
            <a:r>
              <a:rPr lang="el-GR" altLang="el-GR">
                <a:latin typeface="Times New Roman" panose="02020603050405020304" pitchFamily="18" charset="0"/>
              </a:rPr>
              <a:t>Ρητή διακλάδωση</a:t>
            </a:r>
            <a:endParaRPr lang="el-GR" altLang="el-GR" b="1"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</a:pPr>
            <a:r>
              <a:rPr lang="el-GR" altLang="el-GR" b="1">
                <a:solidFill>
                  <a:schemeClr val="hlink"/>
                </a:solidFill>
                <a:latin typeface="Times New Roman" panose="02020603050405020304" pitchFamily="18" charset="0"/>
              </a:rPr>
              <a:t>goto &lt;ετικέτα&gt;</a:t>
            </a:r>
            <a:r>
              <a:rPr lang="el-GR" altLang="el-GR" b="1">
                <a:latin typeface="Times New Roman" panose="02020603050405020304" pitchFamily="18" charset="0"/>
              </a:rPr>
              <a:t> </a:t>
            </a:r>
          </a:p>
          <a:p>
            <a:pPr lvl="1" algn="just" eaLnBrk="1" hangingPunct="1">
              <a:lnSpc>
                <a:spcPct val="90000"/>
              </a:lnSpc>
            </a:pPr>
            <a:endParaRPr lang="el-GR" altLang="el-GR" b="1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spcBef>
                <a:spcPts val="600"/>
              </a:spcBef>
            </a:pPr>
            <a:endParaRPr lang="el-GR" altLang="el-GR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6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6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6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6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6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6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63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2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ACEE468A-D490-5B2C-2D2A-1D31373E9D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sz="4000"/>
              <a:t>Διαχείριση ειδικών περιπτώσεων σε προτάσεις επανάληψης</a:t>
            </a:r>
            <a:endParaRPr lang="en-US" altLang="el-GR" sz="4000"/>
          </a:p>
        </p:txBody>
      </p:sp>
      <p:sp>
        <p:nvSpPr>
          <p:cNvPr id="35843" name="Text Box 4">
            <a:extLst>
              <a:ext uri="{FF2B5EF4-FFF2-40B4-BE49-F238E27FC236}">
                <a16:creationId xmlns:a16="http://schemas.microsoft.com/office/drawing/2014/main" id="{B327E17A-E273-83CD-2032-EAD6AFF46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286000"/>
            <a:ext cx="8069263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l-GR" altLang="el-GR" b="1">
                <a:latin typeface="Arial" panose="020B0604020202020204" pitchFamily="34" charset="0"/>
              </a:rPr>
              <a:t>while</a:t>
            </a:r>
            <a:r>
              <a:rPr lang="el-GR" altLang="el-GR">
                <a:latin typeface="Arial" panose="020B0604020202020204" pitchFamily="34" charset="0"/>
              </a:rPr>
              <a:t> (έκφραση) </a:t>
            </a:r>
            <a:r>
              <a:rPr lang="el-GR" altLang="el-GR">
                <a:solidFill>
                  <a:schemeClr val="accent1"/>
                </a:solidFill>
                <a:latin typeface="Arial" panose="020B0604020202020204" pitchFamily="34" charset="0"/>
              </a:rPr>
              <a:t>{</a:t>
            </a:r>
          </a:p>
          <a:p>
            <a:pPr algn="l" eaLnBrk="1" hangingPunct="1">
              <a:lnSpc>
                <a:spcPct val="7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l-GR" altLang="el-GR">
                <a:solidFill>
                  <a:schemeClr val="accent1"/>
                </a:solidFill>
                <a:latin typeface="Arial" panose="020B0604020202020204" pitchFamily="34" charset="0"/>
              </a:rPr>
              <a:t>	</a:t>
            </a:r>
            <a:r>
              <a:rPr lang="el-GR" altLang="el-GR" b="1">
                <a:solidFill>
                  <a:schemeClr val="accent1"/>
                </a:solidFill>
                <a:latin typeface="Arial" panose="020B0604020202020204" pitchFamily="34" charset="0"/>
              </a:rPr>
              <a:t>if</a:t>
            </a:r>
            <a:r>
              <a:rPr lang="el-GR" altLang="el-GR">
                <a:solidFill>
                  <a:schemeClr val="accent1"/>
                </a:solidFill>
                <a:latin typeface="Arial" panose="020B0604020202020204" pitchFamily="34" charset="0"/>
              </a:rPr>
              <a:t> ειδική περίπτωση {</a:t>
            </a:r>
          </a:p>
          <a:p>
            <a:pPr lvl="1" algn="l" eaLnBrk="1" hangingPunct="1">
              <a:lnSpc>
                <a:spcPct val="7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l-GR" altLang="el-GR">
                <a:solidFill>
                  <a:schemeClr val="accent1"/>
                </a:solidFill>
                <a:latin typeface="Arial" panose="020B0604020202020204" pitchFamily="34" charset="0"/>
              </a:rPr>
              <a:t>		προτάσεις επεξεργασίας ειδικής περίπτωσης</a:t>
            </a:r>
          </a:p>
          <a:p>
            <a:pPr lvl="1" algn="l" eaLnBrk="1" hangingPunct="1">
              <a:lnSpc>
                <a:spcPct val="7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l-GR" altLang="el-GR">
                <a:solidFill>
                  <a:schemeClr val="accent1"/>
                </a:solidFill>
                <a:latin typeface="Arial" panose="020B0604020202020204" pitchFamily="34" charset="0"/>
              </a:rPr>
              <a:t>		</a:t>
            </a:r>
            <a:r>
              <a:rPr lang="el-GR" altLang="el-GR" b="1">
                <a:solidFill>
                  <a:schemeClr val="hlink"/>
                </a:solidFill>
                <a:latin typeface="Arial" panose="020B0604020202020204" pitchFamily="34" charset="0"/>
              </a:rPr>
              <a:t>break;</a:t>
            </a:r>
          </a:p>
          <a:p>
            <a:pPr lvl="1" algn="l" eaLnBrk="1" hangingPunct="1">
              <a:lnSpc>
                <a:spcPct val="7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l-GR" altLang="el-GR">
                <a:solidFill>
                  <a:schemeClr val="accent1"/>
                </a:solidFill>
                <a:latin typeface="Arial" panose="020B0604020202020204" pitchFamily="34" charset="0"/>
              </a:rPr>
              <a:t>		}</a:t>
            </a:r>
          </a:p>
          <a:p>
            <a:pPr lvl="1" algn="l" eaLnBrk="1" hangingPunct="1">
              <a:lnSpc>
                <a:spcPct val="7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l-GR" altLang="el-GR">
                <a:solidFill>
                  <a:schemeClr val="accent1"/>
                </a:solidFill>
                <a:latin typeface="Arial" panose="020B0604020202020204" pitchFamily="34" charset="0"/>
              </a:rPr>
              <a:t>	προτάσεις  επεξεργασίας κανονικών περιπτώσεων</a:t>
            </a:r>
          </a:p>
          <a:p>
            <a:pPr lvl="1" algn="l" eaLnBrk="1" hangingPunct="1">
              <a:lnSpc>
                <a:spcPct val="70000"/>
              </a:lnSpc>
              <a:spcBef>
                <a:spcPct val="5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None/>
            </a:pPr>
            <a:r>
              <a:rPr lang="el-GR" altLang="el-GR">
                <a:solidFill>
                  <a:schemeClr val="accent1"/>
                </a:solidFill>
                <a:latin typeface="Arial" panose="020B0604020202020204" pitchFamily="34" charset="0"/>
              </a:rPr>
              <a:t>	}</a:t>
            </a:r>
            <a:endParaRPr lang="el-GR" altLang="el-GR" b="1">
              <a:solidFill>
                <a:schemeClr val="accent1"/>
              </a:solidFill>
            </a:endParaRPr>
          </a:p>
          <a:p>
            <a:pPr algn="l" eaLnBrk="1" hangingPunct="1">
              <a:spcBef>
                <a:spcPct val="50000"/>
              </a:spcBef>
            </a:pPr>
            <a:endParaRPr lang="en-GB" altLang="el-GR">
              <a:solidFill>
                <a:schemeClr val="accent1"/>
              </a:solidFill>
            </a:endParaRPr>
          </a:p>
        </p:txBody>
      </p:sp>
      <p:sp>
        <p:nvSpPr>
          <p:cNvPr id="57355" name="AutoShape 11">
            <a:extLst>
              <a:ext uri="{FF2B5EF4-FFF2-40B4-BE49-F238E27FC236}">
                <a16:creationId xmlns:a16="http://schemas.microsoft.com/office/drawing/2014/main" id="{0D54F593-A1B5-1534-0676-47ABD9326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657600"/>
            <a:ext cx="2133600" cy="2362200"/>
          </a:xfrm>
          <a:prstGeom prst="curvedLeftArrow">
            <a:avLst>
              <a:gd name="adj1" fmla="val 7658"/>
              <a:gd name="adj2" fmla="val 30877"/>
              <a:gd name="adj3" fmla="val 34819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l-GR" altLang="el-G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5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EDC687C-FEC2-EEDD-3E04-68F18BFDD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l-GR" altLang="el-GR" sz="4000"/>
              <a:t>Διαχείριση ειδικών περιπτώσεων σε προτάσεις επανάληψης</a:t>
            </a:r>
            <a:endParaRPr lang="en-US" altLang="el-GR" sz="4000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F61567C4-2C1E-0EAB-92D7-8D3F79669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2438400"/>
            <a:ext cx="7772400" cy="41148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 sz="2400" b="1">
                <a:latin typeface="Arial" panose="020B0604020202020204" pitchFamily="34" charset="0"/>
              </a:rPr>
              <a:t>while</a:t>
            </a:r>
            <a:r>
              <a:rPr lang="el-GR" altLang="el-GR" sz="2400">
                <a:latin typeface="Arial" panose="020B0604020202020204" pitchFamily="34" charset="0"/>
              </a:rPr>
              <a:t> (έκφραση) {</a:t>
            </a: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 sz="2400">
                <a:latin typeface="Arial" panose="020B0604020202020204" pitchFamily="34" charset="0"/>
              </a:rPr>
              <a:t>	</a:t>
            </a:r>
            <a:r>
              <a:rPr lang="el-GR" altLang="el-GR" sz="2400" b="1">
                <a:solidFill>
                  <a:schemeClr val="folHlink"/>
                </a:solidFill>
                <a:latin typeface="Arial" panose="020B0604020202020204" pitchFamily="34" charset="0"/>
              </a:rPr>
              <a:t>if </a:t>
            </a:r>
            <a:r>
              <a:rPr lang="el-GR" altLang="el-GR" sz="2400">
                <a:solidFill>
                  <a:schemeClr val="folHlink"/>
                </a:solidFill>
                <a:latin typeface="Arial" panose="020B0604020202020204" pitchFamily="34" charset="0"/>
              </a:rPr>
              <a:t>κανονική περίπτωση</a:t>
            </a:r>
            <a:r>
              <a:rPr lang="el-GR" altLang="el-GR" sz="2400">
                <a:latin typeface="Arial" panose="020B0604020202020204" pitchFamily="34" charset="0"/>
              </a:rPr>
              <a:t> {</a:t>
            </a:r>
          </a:p>
          <a:p>
            <a:pPr lvl="2" eaLnBrk="1" hangingPunct="1">
              <a:lnSpc>
                <a:spcPct val="7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>
                <a:latin typeface="Arial" panose="020B0604020202020204" pitchFamily="34" charset="0"/>
              </a:rPr>
              <a:t>προτάσεις επεξεργασίας κανονικής περίπτωσης</a:t>
            </a:r>
          </a:p>
          <a:p>
            <a:pPr lvl="2" eaLnBrk="1" hangingPunct="1">
              <a:lnSpc>
                <a:spcPct val="7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 b="1">
                <a:solidFill>
                  <a:schemeClr val="hlink"/>
                </a:solidFill>
                <a:latin typeface="Arial" panose="020B0604020202020204" pitchFamily="34" charset="0"/>
              </a:rPr>
              <a:t>continue</a:t>
            </a:r>
            <a:r>
              <a:rPr lang="el-GR" altLang="el-GR" b="1">
                <a:latin typeface="Arial" panose="020B0604020202020204" pitchFamily="34" charset="0"/>
              </a:rPr>
              <a:t>;</a:t>
            </a:r>
          </a:p>
          <a:p>
            <a:pPr lvl="2" eaLnBrk="1" hangingPunct="1">
              <a:lnSpc>
                <a:spcPct val="7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 b="1">
                <a:latin typeface="Arial" panose="020B0604020202020204" pitchFamily="34" charset="0"/>
              </a:rPr>
              <a:t>}	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 sz="2400">
                <a:latin typeface="Arial" panose="020B0604020202020204" pitchFamily="34" charset="0"/>
              </a:rPr>
              <a:t>προτάσεις  επεξεργασίας ειδικών περιπτώσεων</a:t>
            </a:r>
          </a:p>
          <a:p>
            <a:pPr lvl="1" eaLnBrk="1" hangingPunct="1">
              <a:lnSpc>
                <a:spcPct val="70000"/>
              </a:lnSpc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l-GR" altLang="el-GR">
                <a:latin typeface="Arial" panose="020B0604020202020204" pitchFamily="34" charset="0"/>
              </a:rPr>
              <a:t>}</a:t>
            </a:r>
            <a:endParaRPr lang="en-US" altLang="el-GR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el-GR" sz="2400">
              <a:latin typeface="Arial" panose="020B0604020202020204" pitchFamily="34" charset="0"/>
            </a:endParaRPr>
          </a:p>
          <a:p>
            <a:pPr eaLnBrk="1" hangingPunct="1"/>
            <a:endParaRPr lang="en-US" altLang="el-GR" sz="3600">
              <a:latin typeface="Arial" panose="020B0604020202020204" pitchFamily="34" charset="0"/>
            </a:endParaRP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4D890E57-7CB0-24FC-F66B-04CEA2313F18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2286000"/>
            <a:ext cx="2743200" cy="1905000"/>
            <a:chOff x="1536" y="1440"/>
            <a:chExt cx="1728" cy="1200"/>
          </a:xfrm>
        </p:grpSpPr>
        <p:sp>
          <p:nvSpPr>
            <p:cNvPr id="36869" name="Line 9">
              <a:extLst>
                <a:ext uri="{FF2B5EF4-FFF2-40B4-BE49-F238E27FC236}">
                  <a16:creationId xmlns:a16="http://schemas.microsoft.com/office/drawing/2014/main" id="{83109934-1C2E-D154-72BD-1D111180B5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2640"/>
              <a:ext cx="1200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36870" name="Line 10">
              <a:extLst>
                <a:ext uri="{FF2B5EF4-FFF2-40B4-BE49-F238E27FC236}">
                  <a16:creationId xmlns:a16="http://schemas.microsoft.com/office/drawing/2014/main" id="{3C784B52-E435-2DCD-7550-78A7342B44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64" y="1440"/>
              <a:ext cx="0" cy="120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36871" name="Line 12">
              <a:extLst>
                <a:ext uri="{FF2B5EF4-FFF2-40B4-BE49-F238E27FC236}">
                  <a16:creationId xmlns:a16="http://schemas.microsoft.com/office/drawing/2014/main" id="{7A26C1E9-26B1-6BD4-F25A-23395B8874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36" y="1440"/>
              <a:ext cx="172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36872" name="Line 13">
              <a:extLst>
                <a:ext uri="{FF2B5EF4-FFF2-40B4-BE49-F238E27FC236}">
                  <a16:creationId xmlns:a16="http://schemas.microsoft.com/office/drawing/2014/main" id="{7CEB9745-8307-644E-4B25-07C985715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440"/>
              <a:ext cx="0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E7641B77-58F8-D130-4064-A029862EA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l-GR"/>
              <a:t>Πρόταση break </a:t>
            </a:r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45655BDC-DDC2-9E97-2A9A-07CB2AA2C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2438400"/>
            <a:ext cx="8001000" cy="2209800"/>
          </a:xfrm>
          <a:noFill/>
        </p:spPr>
        <p:txBody>
          <a:bodyPr lIns="92075" tIns="46038" rIns="92075" bIns="46038"/>
          <a:lstStyle/>
          <a:p>
            <a:pPr eaLnBrk="1" hangingPunct="1">
              <a:lnSpc>
                <a:spcPct val="90000"/>
              </a:lnSpc>
            </a:pPr>
            <a:r>
              <a:rPr lang="el-GR" altLang="el-GR">
                <a:latin typeface="Times New Roman" panose="02020603050405020304" pitchFamily="18" charset="0"/>
              </a:rPr>
              <a:t>προκαλεί την έξοδο μόνο από το πιο εσωτερικό βρόχο</a:t>
            </a:r>
            <a:endParaRPr lang="en-US" altLang="el-GR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l-GR" altLang="el-GR">
                <a:solidFill>
                  <a:schemeClr val="hlink"/>
                </a:solidFill>
                <a:latin typeface="Times New Roman" panose="02020603050405020304" pitchFamily="18" charset="0"/>
              </a:rPr>
              <a:t>καταστρέφει τη δόμηση</a:t>
            </a:r>
            <a:r>
              <a:rPr lang="el-GR" altLang="el-GR">
                <a:latin typeface="Times New Roman" panose="02020603050405020304" pitchFamily="18" charset="0"/>
              </a:rPr>
              <a:t> του κώδικα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l-GR">
                <a:latin typeface="Times New Roman" panose="02020603050405020304" pitchFamily="18" charset="0"/>
              </a:rPr>
              <a:t>υπάρχει πάντα τρόπος να γραφεί κώδικας χωρίς τη χρήση της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>
            <a:extLst>
              <a:ext uri="{FF2B5EF4-FFF2-40B4-BE49-F238E27FC236}">
                <a16:creationId xmlns:a16="http://schemas.microsoft.com/office/drawing/2014/main" id="{E48D61C1-7829-2BB5-06C2-DF5F13C99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/>
              <a:t>Παράδειγμα χρήσης</a:t>
            </a:r>
            <a:r>
              <a:rPr lang="en-US" altLang="el-GR"/>
              <a:t> break </a:t>
            </a:r>
          </a:p>
        </p:txBody>
      </p:sp>
      <p:sp>
        <p:nvSpPr>
          <p:cNvPr id="38915" name="AutoShape 14">
            <a:extLst>
              <a:ext uri="{FF2B5EF4-FFF2-40B4-BE49-F238E27FC236}">
                <a16:creationId xmlns:a16="http://schemas.microsoft.com/office/drawing/2014/main" id="{00AF5506-A43D-CBB1-E6A2-C0A8F49C2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133600"/>
            <a:ext cx="7620000" cy="3886200"/>
          </a:xfrm>
          <a:prstGeom prst="bevel">
            <a:avLst>
              <a:gd name="adj" fmla="val 672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l-GR" altLang="el-GR"/>
          </a:p>
        </p:txBody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A779F40B-060C-68E2-7056-BDA96A1D9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90800"/>
            <a:ext cx="6553200" cy="291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for( i = 0 ; i &lt; MAX ; i++) {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    if (num[i] &lt;0) 	/* end loop */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	</a:t>
            </a:r>
            <a:r>
              <a:rPr lang="en-US" altLang="el-GR" sz="3200">
                <a:solidFill>
                  <a:schemeClr val="hlink"/>
                </a:solidFill>
                <a:latin typeface="Times New Roman" panose="02020603050405020304" pitchFamily="18" charset="0"/>
              </a:rPr>
              <a:t>break;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    :	/* process positive elements </a:t>
            </a:r>
            <a:r>
              <a:rPr lang="el-GR" altLang="el-GR" sz="3200">
                <a:latin typeface="Times New Roman" panose="02020603050405020304" pitchFamily="18" charset="0"/>
              </a:rPr>
              <a:t>*</a:t>
            </a:r>
            <a:r>
              <a:rPr lang="en-US" altLang="el-GR" sz="3200">
                <a:latin typeface="Times New Roman" panose="02020603050405020304" pitchFamily="18" charset="0"/>
              </a:rPr>
              <a:t>/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    }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printf(......);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00945375-812F-249D-6101-3A32AA0F513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3810000"/>
            <a:ext cx="3276600" cy="1524000"/>
            <a:chOff x="2064" y="2400"/>
            <a:chExt cx="2064" cy="960"/>
          </a:xfrm>
        </p:grpSpPr>
        <p:sp>
          <p:nvSpPr>
            <p:cNvPr id="38918" name="Line 10">
              <a:extLst>
                <a:ext uri="{FF2B5EF4-FFF2-40B4-BE49-F238E27FC236}">
                  <a16:creationId xmlns:a16="http://schemas.microsoft.com/office/drawing/2014/main" id="{A607450B-C7BB-5D2D-98D5-84BD31963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2400"/>
              <a:ext cx="1872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38919" name="Line 11">
              <a:extLst>
                <a:ext uri="{FF2B5EF4-FFF2-40B4-BE49-F238E27FC236}">
                  <a16:creationId xmlns:a16="http://schemas.microsoft.com/office/drawing/2014/main" id="{FA1BAF48-6D9D-70D7-7A69-1D4C50CEAE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2400"/>
              <a:ext cx="0" cy="96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38920" name="Line 12">
              <a:extLst>
                <a:ext uri="{FF2B5EF4-FFF2-40B4-BE49-F238E27FC236}">
                  <a16:creationId xmlns:a16="http://schemas.microsoft.com/office/drawing/2014/main" id="{79F53326-7562-EB6C-1FD4-5C840B1C83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3360"/>
              <a:ext cx="2064" cy="0"/>
            </a:xfrm>
            <a:prstGeom prst="line">
              <a:avLst/>
            </a:prstGeom>
            <a:noFill/>
            <a:ln w="28575">
              <a:solidFill>
                <a:schemeClr val="hlink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FE3341C-DD96-FFA9-CA95-E3BA755B98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/>
              <a:t>Αποφυγή του</a:t>
            </a:r>
            <a:r>
              <a:rPr lang="en-US" altLang="el-GR"/>
              <a:t> break </a:t>
            </a:r>
          </a:p>
        </p:txBody>
      </p:sp>
      <p:sp>
        <p:nvSpPr>
          <p:cNvPr id="71693" name="AutoShape 13">
            <a:extLst>
              <a:ext uri="{FF2B5EF4-FFF2-40B4-BE49-F238E27FC236}">
                <a16:creationId xmlns:a16="http://schemas.microsoft.com/office/drawing/2014/main" id="{98994D89-3DF6-8866-B0BF-3C54BBA39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33600"/>
            <a:ext cx="8001000" cy="2438400"/>
          </a:xfrm>
          <a:prstGeom prst="bevel">
            <a:avLst>
              <a:gd name="adj" fmla="val 672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80000"/>
              </a:lnSpc>
            </a:pPr>
            <a:r>
              <a:rPr lang="en-US" altLang="el-GR" sz="2800" b="1">
                <a:latin typeface="Courier New" panose="02070309020205020404" pitchFamily="49" charset="0"/>
              </a:rPr>
              <a:t>while (( ch = getchar()) != ‘\n’) {</a:t>
            </a:r>
          </a:p>
          <a:p>
            <a:pPr algn="l">
              <a:lnSpc>
                <a:spcPct val="80000"/>
              </a:lnSpc>
            </a:pPr>
            <a:r>
              <a:rPr lang="en-US" altLang="el-GR" sz="2800" b="1">
                <a:latin typeface="Courier New" panose="02070309020205020404" pitchFamily="49" charset="0"/>
              </a:rPr>
              <a:t>	if (ch == ‘\t’)</a:t>
            </a:r>
          </a:p>
          <a:p>
            <a:pPr algn="l">
              <a:lnSpc>
                <a:spcPct val="80000"/>
              </a:lnSpc>
            </a:pPr>
            <a:r>
              <a:rPr lang="en-US" altLang="el-GR" sz="2800" b="1">
                <a:latin typeface="Courier New" panose="02070309020205020404" pitchFamily="49" charset="0"/>
              </a:rPr>
              <a:t>		</a:t>
            </a:r>
            <a:r>
              <a:rPr lang="en-US" altLang="el-GR" sz="2800" b="1">
                <a:solidFill>
                  <a:schemeClr val="hlink"/>
                </a:solidFill>
                <a:latin typeface="Courier New" panose="02070309020205020404" pitchFamily="49" charset="0"/>
              </a:rPr>
              <a:t>break;</a:t>
            </a:r>
          </a:p>
          <a:p>
            <a:pPr algn="l">
              <a:lnSpc>
                <a:spcPct val="80000"/>
              </a:lnSpc>
            </a:pPr>
            <a:r>
              <a:rPr lang="el-GR" altLang="el-GR" sz="2800" b="1">
                <a:latin typeface="Courier New" panose="02070309020205020404" pitchFamily="49" charset="0"/>
              </a:rPr>
              <a:t>	</a:t>
            </a:r>
            <a:r>
              <a:rPr lang="en-US" altLang="el-GR" sz="2800" b="1">
                <a:latin typeface="Courier New" panose="02070309020205020404" pitchFamily="49" charset="0"/>
              </a:rPr>
              <a:t>putchar(ch);</a:t>
            </a:r>
          </a:p>
          <a:p>
            <a:pPr algn="l">
              <a:lnSpc>
                <a:spcPct val="80000"/>
              </a:lnSpc>
            </a:pPr>
            <a:r>
              <a:rPr lang="el-GR" altLang="el-GR" sz="2800" b="1">
                <a:latin typeface="Courier New" panose="02070309020205020404" pitchFamily="49" charset="0"/>
              </a:rPr>
              <a:t>	</a:t>
            </a:r>
            <a:r>
              <a:rPr lang="en-US" altLang="el-GR" sz="2800" b="1">
                <a:latin typeface="Courier New" panose="02070309020205020404" pitchFamily="49" charset="0"/>
              </a:rPr>
              <a:t>}</a:t>
            </a:r>
            <a:endParaRPr lang="en-GB" altLang="el-GR" sz="3200" b="1">
              <a:latin typeface="Courier New" panose="02070309020205020404" pitchFamily="49" charset="0"/>
            </a:endParaRPr>
          </a:p>
        </p:txBody>
      </p:sp>
      <p:sp>
        <p:nvSpPr>
          <p:cNvPr id="71694" name="AutoShape 14">
            <a:extLst>
              <a:ext uri="{FF2B5EF4-FFF2-40B4-BE49-F238E27FC236}">
                <a16:creationId xmlns:a16="http://schemas.microsoft.com/office/drawing/2014/main" id="{D5CEE9CD-EE63-5B0C-DB7F-CE50486B36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800600"/>
            <a:ext cx="8229600" cy="1447800"/>
          </a:xfrm>
          <a:prstGeom prst="bevel">
            <a:avLst>
              <a:gd name="adj" fmla="val 672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/>
            <a:r>
              <a:rPr lang="en-US" altLang="el-GR" sz="2800" b="1">
                <a:solidFill>
                  <a:schemeClr val="folHlink"/>
                </a:solidFill>
                <a:latin typeface="Courier New" panose="02070309020205020404" pitchFamily="49" charset="0"/>
              </a:rPr>
              <a:t>while((ch=getchar())!=‘\n’&amp;&amp;ch!=‘\t’)</a:t>
            </a:r>
          </a:p>
          <a:p>
            <a:pPr algn="l"/>
            <a:r>
              <a:rPr lang="en-US" altLang="el-GR" sz="2800" b="1">
                <a:solidFill>
                  <a:schemeClr val="folHlink"/>
                </a:solidFill>
                <a:latin typeface="Courier New" panose="02070309020205020404" pitchFamily="49" charset="0"/>
              </a:rPr>
              <a:t>	putchar(ch);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93" grpId="0" animBg="1"/>
      <p:bldP spid="7169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>
            <a:extLst>
              <a:ext uri="{FF2B5EF4-FFF2-40B4-BE49-F238E27FC236}">
                <a16:creationId xmlns:a16="http://schemas.microsoft.com/office/drawing/2014/main" id="{60335665-53C9-60C7-C9EC-1B82547F70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l-GR"/>
              <a:t>Πρόταση continue </a:t>
            </a:r>
          </a:p>
        </p:txBody>
      </p:sp>
      <p:sp>
        <p:nvSpPr>
          <p:cNvPr id="60420" name="Rectangle 4">
            <a:extLst>
              <a:ext uri="{FF2B5EF4-FFF2-40B4-BE49-F238E27FC236}">
                <a16:creationId xmlns:a16="http://schemas.microsoft.com/office/drawing/2014/main" id="{62184A93-7783-4D43-DD7F-277A82FB6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2420938"/>
            <a:ext cx="8001000" cy="23622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 sz="3600">
                <a:latin typeface="Times New Roman" panose="02020603050405020304" pitchFamily="18" charset="0"/>
              </a:rPr>
              <a:t>προκαλεί την έναρξη της επόμενης επανάληψης </a:t>
            </a:r>
            <a:r>
              <a:rPr lang="el-GR" altLang="el-GR" sz="3600" b="1">
                <a:latin typeface="Times New Roman" panose="02020603050405020304" pitchFamily="18" charset="0"/>
              </a:rPr>
              <a:t>for</a:t>
            </a:r>
            <a:r>
              <a:rPr lang="el-GR" altLang="el-GR" sz="3600">
                <a:latin typeface="Times New Roman" panose="02020603050405020304" pitchFamily="18" charset="0"/>
              </a:rPr>
              <a:t>, </a:t>
            </a:r>
            <a:r>
              <a:rPr lang="el-GR" altLang="el-GR" sz="3600" b="1">
                <a:latin typeface="Times New Roman" panose="02020603050405020304" pitchFamily="18" charset="0"/>
              </a:rPr>
              <a:t>while</a:t>
            </a:r>
            <a:r>
              <a:rPr lang="el-GR" altLang="el-GR" sz="3600">
                <a:latin typeface="Times New Roman" panose="02020603050405020304" pitchFamily="18" charset="0"/>
              </a:rPr>
              <a:t> ή  </a:t>
            </a:r>
            <a:r>
              <a:rPr lang="el-GR" altLang="el-GR" sz="3600" b="1">
                <a:latin typeface="Times New Roman" panose="02020603050405020304" pitchFamily="18" charset="0"/>
              </a:rPr>
              <a:t>do</a:t>
            </a:r>
            <a:endParaRPr lang="el-GR" altLang="el-GR" sz="3600">
              <a:latin typeface="Times New Roman" panose="02020603050405020304" pitchFamily="18" charset="0"/>
            </a:endParaRPr>
          </a:p>
          <a:p>
            <a:pPr eaLnBrk="1" hangingPunct="1"/>
            <a:r>
              <a:rPr lang="el-GR" altLang="el-GR" sz="3600">
                <a:solidFill>
                  <a:schemeClr val="hlink"/>
                </a:solidFill>
                <a:latin typeface="Times New Roman" panose="02020603050405020304" pitchFamily="18" charset="0"/>
              </a:rPr>
              <a:t>επηρεάζει μόνο το πιο εσωτερικό βρόχο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04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20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9848A76F-42D6-2099-7DF5-EF78A73B2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l-GR" altLang="el-GR"/>
              <a:t>Παράδειγμα χρήσης</a:t>
            </a:r>
            <a:r>
              <a:rPr lang="en-US" altLang="el-GR"/>
              <a:t> continue </a:t>
            </a:r>
          </a:p>
        </p:txBody>
      </p:sp>
      <p:sp>
        <p:nvSpPr>
          <p:cNvPr id="41987" name="AutoShape 3">
            <a:extLst>
              <a:ext uri="{FF2B5EF4-FFF2-40B4-BE49-F238E27FC236}">
                <a16:creationId xmlns:a16="http://schemas.microsoft.com/office/drawing/2014/main" id="{0CC34BA7-E186-C2D7-2882-576DE7637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133600"/>
            <a:ext cx="8001000" cy="4038600"/>
          </a:xfrm>
          <a:prstGeom prst="bevel">
            <a:avLst>
              <a:gd name="adj" fmla="val 6727"/>
            </a:avLst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l-GR" altLang="el-GR"/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93A2F6DE-7E7B-5BCD-189E-E56FAE6E2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19400"/>
            <a:ext cx="7162800" cy="282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for( i = 0 ; i &lt; MAX ; i++) {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    if (num[i] &lt;0) </a:t>
            </a:r>
            <a:r>
              <a:rPr lang="en-US" altLang="el-GR" sz="2800">
                <a:solidFill>
                  <a:schemeClr val="accent1"/>
                </a:solidFill>
                <a:latin typeface="Times New Roman" panose="02020603050405020304" pitchFamily="18" charset="0"/>
              </a:rPr>
              <a:t>/* skip negative elements */</a:t>
            </a:r>
            <a:r>
              <a:rPr lang="en-US" altLang="el-GR" sz="3200">
                <a:latin typeface="Times New Roman" panose="02020603050405020304" pitchFamily="18" charset="0"/>
              </a:rPr>
              <a:t> 	</a:t>
            </a:r>
            <a:r>
              <a:rPr lang="en-US" altLang="el-GR" sz="3200">
                <a:solidFill>
                  <a:schemeClr val="hlink"/>
                </a:solidFill>
                <a:latin typeface="Times New Roman" panose="02020603050405020304" pitchFamily="18" charset="0"/>
              </a:rPr>
              <a:t>continue;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    :	</a:t>
            </a:r>
            <a:r>
              <a:rPr lang="en-US" altLang="el-GR" sz="2800">
                <a:solidFill>
                  <a:schemeClr val="accent1"/>
                </a:solidFill>
                <a:latin typeface="Times New Roman" panose="02020603050405020304" pitchFamily="18" charset="0"/>
              </a:rPr>
              <a:t>/* process positive elements </a:t>
            </a:r>
            <a:r>
              <a:rPr lang="el-GR" altLang="el-GR" sz="2800">
                <a:solidFill>
                  <a:schemeClr val="accent1"/>
                </a:solidFill>
                <a:latin typeface="Times New Roman" panose="02020603050405020304" pitchFamily="18" charset="0"/>
              </a:rPr>
              <a:t>*</a:t>
            </a:r>
            <a:r>
              <a:rPr lang="en-US" altLang="el-GR" sz="2800">
                <a:solidFill>
                  <a:schemeClr val="accent1"/>
                </a:solidFill>
                <a:latin typeface="Times New Roman" panose="02020603050405020304" pitchFamily="18" charset="0"/>
              </a:rPr>
              <a:t>/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    }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</a:pPr>
            <a:r>
              <a:rPr lang="en-US" altLang="el-GR" sz="3200">
                <a:latin typeface="Times New Roman" panose="02020603050405020304" pitchFamily="18" charset="0"/>
              </a:rPr>
              <a:t>printf(......);</a:t>
            </a:r>
          </a:p>
        </p:txBody>
      </p:sp>
      <p:grpSp>
        <p:nvGrpSpPr>
          <p:cNvPr id="2" name="Group 13">
            <a:extLst>
              <a:ext uri="{FF2B5EF4-FFF2-40B4-BE49-F238E27FC236}">
                <a16:creationId xmlns:a16="http://schemas.microsoft.com/office/drawing/2014/main" id="{4FB4CCA3-B053-4A72-29F4-A0D5A6A7705C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667000"/>
            <a:ext cx="3200400" cy="1295400"/>
            <a:chOff x="2208" y="1536"/>
            <a:chExt cx="2016" cy="816"/>
          </a:xfrm>
        </p:grpSpPr>
        <p:sp>
          <p:nvSpPr>
            <p:cNvPr id="41990" name="Line 9">
              <a:extLst>
                <a:ext uri="{FF2B5EF4-FFF2-40B4-BE49-F238E27FC236}">
                  <a16:creationId xmlns:a16="http://schemas.microsoft.com/office/drawing/2014/main" id="{FF85B7CF-23F8-C40C-8EA2-D452DE98D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352"/>
              <a:ext cx="2016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41991" name="Line 10">
              <a:extLst>
                <a:ext uri="{FF2B5EF4-FFF2-40B4-BE49-F238E27FC236}">
                  <a16:creationId xmlns:a16="http://schemas.microsoft.com/office/drawing/2014/main" id="{9533770E-6C54-5D72-7CE9-58ADB6897C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4" y="1536"/>
              <a:ext cx="0" cy="816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41992" name="Line 11">
              <a:extLst>
                <a:ext uri="{FF2B5EF4-FFF2-40B4-BE49-F238E27FC236}">
                  <a16:creationId xmlns:a16="http://schemas.microsoft.com/office/drawing/2014/main" id="{42B8EE9C-2EFB-DD5A-BE42-6A38B143AB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1536"/>
              <a:ext cx="1248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  <p:sp>
          <p:nvSpPr>
            <p:cNvPr id="41993" name="Line 12">
              <a:extLst>
                <a:ext uri="{FF2B5EF4-FFF2-40B4-BE49-F238E27FC236}">
                  <a16:creationId xmlns:a16="http://schemas.microsoft.com/office/drawing/2014/main" id="{122AE1BC-866C-86CC-B81B-C875362D74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536"/>
              <a:ext cx="0" cy="144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l-GR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69734DF-AD1A-DBB2-1152-2C20552CF1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l-GR"/>
              <a:t>Πρόταση goto</a:t>
            </a:r>
            <a:endParaRPr lang="en-GB" altLang="el-GR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F374C2F-4AC4-5D25-D9E5-7F2DA3F279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7772400" cy="4114800"/>
          </a:xfrm>
        </p:spPr>
        <p:txBody>
          <a:bodyPr/>
          <a:lstStyle/>
          <a:p>
            <a:pPr eaLnBrk="1" hangingPunct="1"/>
            <a:r>
              <a:rPr lang="el-GR" altLang="el-GR" sz="3600">
                <a:solidFill>
                  <a:schemeClr val="hlink"/>
                </a:solidFill>
                <a:latin typeface="Times New Roman" panose="02020603050405020304" pitchFamily="18" charset="0"/>
              </a:rPr>
              <a:t>καταστρέφει την δόμηση του κώδικα</a:t>
            </a:r>
          </a:p>
          <a:p>
            <a:pPr eaLnBrk="1" hangingPunct="1"/>
            <a:r>
              <a:rPr lang="el-GR" altLang="el-GR" sz="3600">
                <a:latin typeface="Times New Roman" panose="02020603050405020304" pitchFamily="18" charset="0"/>
              </a:rPr>
              <a:t>είναι πάντα εύκολο να γράφεις κώδικα χωρίς</a:t>
            </a:r>
            <a:r>
              <a:rPr lang="en-US" altLang="el-GR" sz="3600">
                <a:latin typeface="Times New Roman" panose="02020603050405020304" pitchFamily="18" charset="0"/>
              </a:rPr>
              <a:t> </a:t>
            </a:r>
            <a:r>
              <a:rPr lang="el-GR" altLang="el-GR" sz="3600">
                <a:latin typeface="Times New Roman" panose="02020603050405020304" pitchFamily="18" charset="0"/>
              </a:rPr>
              <a:t>τη χρήση της </a:t>
            </a:r>
            <a:endParaRPr lang="en-GB" altLang="el-GR" sz="3600">
              <a:latin typeface="Times New Roman" panose="02020603050405020304" pitchFamily="18" charset="0"/>
            </a:endParaRPr>
          </a:p>
        </p:txBody>
      </p:sp>
      <p:pic>
        <p:nvPicPr>
          <p:cNvPr id="43012" name="Picture 4">
            <a:extLst>
              <a:ext uri="{FF2B5EF4-FFF2-40B4-BE49-F238E27FC236}">
                <a16:creationId xmlns:a16="http://schemas.microsoft.com/office/drawing/2014/main" id="{B00C488D-7A8E-3B81-327D-E67D91DD13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3357563"/>
            <a:ext cx="8785225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Text Box 5">
            <a:extLst>
              <a:ext uri="{FF2B5EF4-FFF2-40B4-BE49-F238E27FC236}">
                <a16:creationId xmlns:a16="http://schemas.microsoft.com/office/drawing/2014/main" id="{D2D46A2C-B4FD-F2EB-CAD4-7C89A75396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525" y="5734050"/>
            <a:ext cx="31845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l-GR" sz="1800"/>
              <a:t>Source: </a:t>
            </a:r>
            <a:r>
              <a:rPr lang="en-US" altLang="el-GR" sz="1800">
                <a:solidFill>
                  <a:schemeClr val="tx2"/>
                </a:solidFill>
              </a:rPr>
              <a:t>http://xkcd.com/292/</a:t>
            </a:r>
          </a:p>
          <a:p>
            <a:pPr eaLnBrk="1" hangingPunct="1"/>
            <a:endParaRPr lang="en-US" altLang="el-GR" sz="18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880</TotalTime>
  <Words>1523</Words>
  <Application>Microsoft Office PowerPoint</Application>
  <PresentationFormat>On-screen Show (4:3)</PresentationFormat>
  <Paragraphs>337</Paragraphs>
  <Slides>35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Bahnschrift</vt:lpstr>
      <vt:lpstr>Courier New</vt:lpstr>
      <vt:lpstr>HellasTimes</vt:lpstr>
      <vt:lpstr>Tahoma</vt:lpstr>
      <vt:lpstr>Times New Roman</vt:lpstr>
      <vt:lpstr>Wingdings</vt:lpstr>
      <vt:lpstr>Blends</vt:lpstr>
      <vt:lpstr>Microsoft Word Picture</vt:lpstr>
      <vt:lpstr>PowerPoint Presentation</vt:lpstr>
      <vt:lpstr>Βασικές Κατασκευές Γλώσσας Προγραμματισμού</vt:lpstr>
      <vt:lpstr>Βασικές δομές ελέγχου ροής (1)</vt:lpstr>
      <vt:lpstr>Βασικές δομές ελέγχου ροής (2)</vt:lpstr>
      <vt:lpstr>Βασικές δομές ελέγχου ροής (3)</vt:lpstr>
      <vt:lpstr>Δομημένος Προγραμματισμός</vt:lpstr>
      <vt:lpstr>Αναγνωσιμότητα Κώδικα</vt:lpstr>
      <vt:lpstr>Προτάσεις ελέγχου ροής στη C</vt:lpstr>
      <vt:lpstr>Πρόταση for</vt:lpstr>
      <vt:lpstr>Πρόταση for</vt:lpstr>
      <vt:lpstr>Πρόταση while (1)</vt:lpstr>
      <vt:lpstr>Πρόταση while (2)</vt:lpstr>
      <vt:lpstr>Πρόταση do while (1)</vt:lpstr>
      <vt:lpstr>Πρόταση do while (2)</vt:lpstr>
      <vt:lpstr>Επιλογή loop</vt:lpstr>
      <vt:lpstr>Πρόταση if</vt:lpstr>
      <vt:lpstr>Άσκηση</vt:lpstr>
      <vt:lpstr>Δήλωση  της max</vt:lpstr>
      <vt:lpstr>Ορισμός της max – έκδοση 1 </vt:lpstr>
      <vt:lpstr>Ορισμός της max – έκδοση 2 </vt:lpstr>
      <vt:lpstr>Ορισμός της max – έκδοση 3 </vt:lpstr>
      <vt:lpstr>Ενσωματωμένα (nested) if</vt:lpstr>
      <vt:lpstr>Πρόταση switch (1) </vt:lpstr>
      <vt:lpstr>Πρόταση switch (2)</vt:lpstr>
      <vt:lpstr>Άσκηση με τη switch</vt:lpstr>
      <vt:lpstr>Λεκτική περιγραφή</vt:lpstr>
      <vt:lpstr>Προτάσεις διακλάδωσης  χωρίς συνθήκη</vt:lpstr>
      <vt:lpstr>Διαχείριση ειδικών περιπτώσεων σε προτάσεις επανάληψης</vt:lpstr>
      <vt:lpstr>Διαχείριση ειδικών περιπτώσεων σε προτάσεις επανάληψης</vt:lpstr>
      <vt:lpstr>Πρόταση break </vt:lpstr>
      <vt:lpstr>Παράδειγμα χρήσης break </vt:lpstr>
      <vt:lpstr>Αποφυγή του break </vt:lpstr>
      <vt:lpstr>Πρόταση continue </vt:lpstr>
      <vt:lpstr>Παράδειγμα χρήσης continue </vt:lpstr>
      <vt:lpstr>Πρόταση goto</vt:lpstr>
    </vt:vector>
  </TitlesOfParts>
  <Company>UOP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Αρχές και Γλώσσες Προγραμματισμού</dc:title>
  <dc:creator>thrambo</dc:creator>
  <cp:lastModifiedBy>Kleanthis Thramboulidis</cp:lastModifiedBy>
  <cp:revision>45</cp:revision>
  <dcterms:created xsi:type="dcterms:W3CDTF">2002-03-10T17:47:39Z</dcterms:created>
  <dcterms:modified xsi:type="dcterms:W3CDTF">2025-10-11T17:04:32Z</dcterms:modified>
</cp:coreProperties>
</file>