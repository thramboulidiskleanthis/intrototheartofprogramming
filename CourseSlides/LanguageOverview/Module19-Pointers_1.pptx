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8"/>
  </p:notesMasterIdLst>
  <p:sldIdLst>
    <p:sldId id="278" r:id="rId2"/>
    <p:sldId id="265" r:id="rId3"/>
    <p:sldId id="259" r:id="rId4"/>
    <p:sldId id="260" r:id="rId5"/>
    <p:sldId id="262" r:id="rId6"/>
    <p:sldId id="267" r:id="rId7"/>
    <p:sldId id="264" r:id="rId8"/>
    <p:sldId id="268" r:id="rId9"/>
    <p:sldId id="269" r:id="rId10"/>
    <p:sldId id="270" r:id="rId11"/>
    <p:sldId id="274" r:id="rId12"/>
    <p:sldId id="271" r:id="rId13"/>
    <p:sldId id="276" r:id="rId14"/>
    <p:sldId id="277" r:id="rId15"/>
    <p:sldId id="275" r:id="rId16"/>
    <p:sldId id="272" r:id="rId17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 autoAdjust="0"/>
  </p:normalViewPr>
  <p:slideViewPr>
    <p:cSldViewPr>
      <p:cViewPr varScale="1">
        <p:scale>
          <a:sx n="69" d="100"/>
          <a:sy n="69" d="100"/>
        </p:scale>
        <p:origin x="141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74A81501-1E25-AA04-2972-AEAAC4B12E5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 altLang="el-GR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D827BB77-8BBE-8972-F667-F814C05136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 altLang="el-GR"/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A4854E6F-14CD-06DA-81F0-6A010E10276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361324BB-AB2D-54C1-F040-92C4BB89C19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574" y="4861441"/>
            <a:ext cx="5206153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text styles</a:t>
            </a:r>
          </a:p>
          <a:p>
            <a:pPr lvl="1"/>
            <a:r>
              <a:rPr lang="en-GB" altLang="el-GR"/>
              <a:t>Second level</a:t>
            </a:r>
          </a:p>
          <a:p>
            <a:pPr lvl="2"/>
            <a:r>
              <a:rPr lang="en-GB" altLang="el-GR"/>
              <a:t>Third level</a:t>
            </a:r>
          </a:p>
          <a:p>
            <a:pPr lvl="3"/>
            <a:r>
              <a:rPr lang="en-GB" altLang="el-GR"/>
              <a:t>Fourth level</a:t>
            </a:r>
          </a:p>
          <a:p>
            <a:pPr lvl="4"/>
            <a:r>
              <a:rPr lang="en-GB" altLang="el-GR"/>
              <a:t>Fifth level</a:t>
            </a:r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E6450E95-6C10-8525-E85D-55E9AB55947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 altLang="el-GR"/>
          </a:p>
        </p:txBody>
      </p:sp>
      <p:sp>
        <p:nvSpPr>
          <p:cNvPr id="82951" name="Rectangle 7">
            <a:extLst>
              <a:ext uri="{FF2B5EF4-FFF2-40B4-BE49-F238E27FC236}">
                <a16:creationId xmlns:a16="http://schemas.microsoft.com/office/drawing/2014/main" id="{B9676619-15B3-F5AA-D137-6F426BCDE3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9CFE43F5-A1B8-4EB8-A440-7E4A69B3543D}" type="slidenum">
              <a:rPr lang="en-GB" altLang="el-GR"/>
              <a:pPr/>
              <a:t>‹#›</a:t>
            </a:fld>
            <a:endParaRPr lang="en-GB" alt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217515D-3CFB-57C9-053E-C135541311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56D20E-B1E5-459E-AE49-128A55CB1DAD}" type="slidenum">
              <a:rPr lang="en-GB" altLang="el-GR"/>
              <a:pPr/>
              <a:t>2</a:t>
            </a:fld>
            <a:endParaRPr lang="en-GB" altLang="el-GR"/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A3A943B8-3C2B-9DA9-F379-F23D83B3DA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C5CBDF5-C36E-DDEE-EB4F-37001BCD1E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l-G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F094526-7F31-0E10-42FD-B4C5CFB6BB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C61486-1DF1-4D1E-B1EC-206A6EE7E714}" type="slidenum">
              <a:rPr lang="en-GB" altLang="el-GR"/>
              <a:pPr/>
              <a:t>3</a:t>
            </a:fld>
            <a:endParaRPr lang="en-GB" altLang="el-GR"/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9EFA56D0-9B06-8B19-0293-4B15E80306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890588"/>
            <a:ext cx="4781550" cy="35877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92C750C3-6C99-29D9-AF9A-CCCE1B4C0F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59665"/>
            <a:ext cx="5206153" cy="46055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736" tIns="49868" rIns="99736" bIns="49868"/>
          <a:lstStyle/>
          <a:p>
            <a:endParaRPr lang="el-GR" altLang="el-G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EF964B9-6219-5104-3655-127953705E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2BA23C-EACA-4D77-B63E-4954CB02A820}" type="slidenum">
              <a:rPr lang="en-GB" altLang="el-GR"/>
              <a:pPr/>
              <a:t>4</a:t>
            </a:fld>
            <a:endParaRPr lang="en-GB" altLang="el-GR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106DFBF-2C4B-72DD-C53F-4D22CE65B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890588"/>
            <a:ext cx="4781550" cy="35877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D6CB941D-C92F-A996-BC70-83E54ACDB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59665"/>
            <a:ext cx="5206153" cy="46055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736" tIns="49868" rIns="99736" bIns="49868"/>
          <a:lstStyle/>
          <a:p>
            <a:endParaRPr lang="el-GR" altLang="el-G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93F6C26-1115-525D-084B-633FD728A8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562F89-9A3E-4BA5-9CF3-26EFA8C6D271}" type="slidenum">
              <a:rPr lang="en-GB" altLang="el-GR"/>
              <a:pPr/>
              <a:t>5</a:t>
            </a:fld>
            <a:endParaRPr lang="en-GB" altLang="el-GR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40ED4EB8-A1C8-1CF3-C9B6-226251E041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890588"/>
            <a:ext cx="4781550" cy="35877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E531D49F-37FF-9A44-A03E-E57A9BC31B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59665"/>
            <a:ext cx="5206153" cy="46055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736" tIns="49868" rIns="99736" bIns="49868"/>
          <a:lstStyle/>
          <a:p>
            <a:endParaRPr lang="el-GR" altLang="el-G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F78B821-AB12-8754-C639-7C3646A9F1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F0311E-112E-4F97-845F-1B67EF982DF0}" type="slidenum">
              <a:rPr lang="en-GB" altLang="el-GR"/>
              <a:pPr/>
              <a:t>6</a:t>
            </a:fld>
            <a:endParaRPr lang="en-GB" altLang="el-GR"/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F94AD422-357A-F516-6076-39849F446E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967AAAFD-3E55-6BF1-FA36-C8D63036D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734171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F78B821-AB12-8754-C639-7C3646A9F1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F0311E-112E-4F97-845F-1B67EF982DF0}" type="slidenum">
              <a:rPr lang="en-GB" altLang="el-GR"/>
              <a:pPr/>
              <a:t>7</a:t>
            </a:fld>
            <a:endParaRPr lang="en-GB" altLang="el-GR"/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F94AD422-357A-F516-6076-39849F446E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967AAAFD-3E55-6BF1-FA36-C8D63036D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l-G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EF964B9-6219-5104-3655-127953705E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2BA23C-EACA-4D77-B63E-4954CB02A820}" type="slidenum">
              <a:rPr lang="en-GB" altLang="el-GR"/>
              <a:pPr/>
              <a:t>8</a:t>
            </a:fld>
            <a:endParaRPr lang="en-GB" altLang="el-GR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106DFBF-2C4B-72DD-C53F-4D22CE65B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890588"/>
            <a:ext cx="4781550" cy="35877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D6CB941D-C92F-A996-BC70-83E54ACDB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59665"/>
            <a:ext cx="5206153" cy="46055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736" tIns="49868" rIns="99736" bIns="49868"/>
          <a:lstStyle/>
          <a:p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841461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EF964B9-6219-5104-3655-127953705E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2BA23C-EACA-4D77-B63E-4954CB02A820}" type="slidenum">
              <a:rPr lang="en-GB" altLang="el-GR"/>
              <a:pPr/>
              <a:t>9</a:t>
            </a:fld>
            <a:endParaRPr lang="en-GB" altLang="el-GR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106DFBF-2C4B-72DD-C53F-4D22CE65B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890588"/>
            <a:ext cx="4781550" cy="35877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D6CB941D-C92F-A996-BC70-83E54ACDB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59665"/>
            <a:ext cx="5206153" cy="46055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736" tIns="49868" rIns="99736" bIns="49868"/>
          <a:lstStyle/>
          <a:p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417220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EF964B9-6219-5104-3655-127953705E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2BA23C-EACA-4D77-B63E-4954CB02A820}" type="slidenum">
              <a:rPr lang="en-GB" altLang="el-GR"/>
              <a:pPr/>
              <a:t>10</a:t>
            </a:fld>
            <a:endParaRPr lang="en-GB" altLang="el-GR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106DFBF-2C4B-72DD-C53F-4D22CE65B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890588"/>
            <a:ext cx="4781550" cy="35877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D6CB941D-C92F-A996-BC70-83E54ACDB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59665"/>
            <a:ext cx="5206153" cy="46055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736" tIns="49868" rIns="99736" bIns="49868"/>
          <a:lstStyle/>
          <a:p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3494703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93F6C26-1115-525D-084B-633FD728A8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562F89-9A3E-4BA5-9CF3-26EFA8C6D271}" type="slidenum">
              <a:rPr lang="en-GB" altLang="el-GR"/>
              <a:pPr/>
              <a:t>11</a:t>
            </a:fld>
            <a:endParaRPr lang="en-GB" altLang="el-GR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40ED4EB8-A1C8-1CF3-C9B6-226251E041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890588"/>
            <a:ext cx="4781550" cy="35877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E531D49F-37FF-9A44-A03E-E57A9BC31B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59665"/>
            <a:ext cx="5206153" cy="46055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736" tIns="49868" rIns="99736" bIns="49868"/>
          <a:lstStyle/>
          <a:p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1280135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EF964B9-6219-5104-3655-127953705E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2BA23C-EACA-4D77-B63E-4954CB02A820}" type="slidenum">
              <a:rPr lang="en-GB" altLang="el-GR"/>
              <a:pPr/>
              <a:t>12</a:t>
            </a:fld>
            <a:endParaRPr lang="en-GB" altLang="el-GR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106DFBF-2C4B-72DD-C53F-4D22CE65B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890588"/>
            <a:ext cx="4781550" cy="35877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D6CB941D-C92F-A996-BC70-83E54ACDB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59665"/>
            <a:ext cx="5206153" cy="46055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736" tIns="49868" rIns="99736" bIns="49868"/>
          <a:lstStyle/>
          <a:p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510839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EF964B9-6219-5104-3655-127953705E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2BA23C-EACA-4D77-B63E-4954CB02A820}" type="slidenum">
              <a:rPr lang="en-GB" altLang="el-GR"/>
              <a:pPr/>
              <a:t>13</a:t>
            </a:fld>
            <a:endParaRPr lang="en-GB" altLang="el-GR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106DFBF-2C4B-72DD-C53F-4D22CE65B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890588"/>
            <a:ext cx="4781550" cy="35877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D6CB941D-C92F-A996-BC70-83E54ACDB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59665"/>
            <a:ext cx="5206153" cy="46055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736" tIns="49868" rIns="99736" bIns="49868"/>
          <a:lstStyle/>
          <a:p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548280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EF964B9-6219-5104-3655-127953705E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2BA23C-EACA-4D77-B63E-4954CB02A820}" type="slidenum">
              <a:rPr lang="en-GB" altLang="el-GR"/>
              <a:pPr/>
              <a:t>14</a:t>
            </a:fld>
            <a:endParaRPr lang="en-GB" altLang="el-GR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106DFBF-2C4B-72DD-C53F-4D22CE65B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890588"/>
            <a:ext cx="4781550" cy="35877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D6CB941D-C92F-A996-BC70-83E54ACDB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59665"/>
            <a:ext cx="5206153" cy="46055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736" tIns="49868" rIns="99736" bIns="49868"/>
          <a:lstStyle/>
          <a:p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2526619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EF964B9-6219-5104-3655-127953705E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2BA23C-EACA-4D77-B63E-4954CB02A820}" type="slidenum">
              <a:rPr lang="en-GB" altLang="el-GR"/>
              <a:pPr/>
              <a:t>15</a:t>
            </a:fld>
            <a:endParaRPr lang="en-GB" altLang="el-GR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106DFBF-2C4B-72DD-C53F-4D22CE65B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890588"/>
            <a:ext cx="4781550" cy="35877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D6CB941D-C92F-A996-BC70-83E54ACDB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59665"/>
            <a:ext cx="5206153" cy="46055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736" tIns="49868" rIns="99736" bIns="49868"/>
          <a:lstStyle/>
          <a:p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467078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EF964B9-6219-5104-3655-127953705E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2BA23C-EACA-4D77-B63E-4954CB02A820}" type="slidenum">
              <a:rPr lang="en-GB" altLang="el-GR"/>
              <a:pPr/>
              <a:t>16</a:t>
            </a:fld>
            <a:endParaRPr lang="en-GB" altLang="el-GR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106DFBF-2C4B-72DD-C53F-4D22CE65B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890588"/>
            <a:ext cx="4781550" cy="35877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D6CB941D-C92F-A996-BC70-83E54ACDB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59665"/>
            <a:ext cx="5206153" cy="46055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736" tIns="49868" rIns="99736" bIns="49868"/>
          <a:lstStyle/>
          <a:p>
            <a:endParaRPr lang="el-GR" altLang="el-GR"/>
          </a:p>
        </p:txBody>
      </p:sp>
    </p:spTree>
    <p:extLst>
      <p:ext uri="{BB962C8B-B14F-4D97-AF65-F5344CB8AC3E}">
        <p14:creationId xmlns:p14="http://schemas.microsoft.com/office/powerpoint/2010/main" val="2997184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>
            <a:extLst>
              <a:ext uri="{FF2B5EF4-FFF2-40B4-BE49-F238E27FC236}">
                <a16:creationId xmlns:a16="http://schemas.microsoft.com/office/drawing/2014/main" id="{904FC6FB-9EAB-E958-0E07-3645036B718C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4099" name="Group 3">
              <a:extLst>
                <a:ext uri="{FF2B5EF4-FFF2-40B4-BE49-F238E27FC236}">
                  <a16:creationId xmlns:a16="http://schemas.microsoft.com/office/drawing/2014/main" id="{C169F488-5A2B-E72E-2CFB-5D6E6F25D4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100" name="Rectangle 4">
                <a:extLst>
                  <a:ext uri="{FF2B5EF4-FFF2-40B4-BE49-F238E27FC236}">
                    <a16:creationId xmlns:a16="http://schemas.microsoft.com/office/drawing/2014/main" id="{761FD8BB-29A4-C3A6-B14B-3B6E164D1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l-GR"/>
              </a:p>
            </p:txBody>
          </p:sp>
          <p:sp>
            <p:nvSpPr>
              <p:cNvPr id="4101" name="Rectangle 5">
                <a:extLst>
                  <a:ext uri="{FF2B5EF4-FFF2-40B4-BE49-F238E27FC236}">
                    <a16:creationId xmlns:a16="http://schemas.microsoft.com/office/drawing/2014/main" id="{0645AAFB-09FE-C74C-559A-33E61EDF3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l-GR"/>
              </a:p>
            </p:txBody>
          </p:sp>
        </p:grpSp>
        <p:grpSp>
          <p:nvGrpSpPr>
            <p:cNvPr id="4102" name="Group 6">
              <a:extLst>
                <a:ext uri="{FF2B5EF4-FFF2-40B4-BE49-F238E27FC236}">
                  <a16:creationId xmlns:a16="http://schemas.microsoft.com/office/drawing/2014/main" id="{C6B18A45-420D-D8B7-DFFA-2B86023F21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103" name="Rectangle 7">
                <a:extLst>
                  <a:ext uri="{FF2B5EF4-FFF2-40B4-BE49-F238E27FC236}">
                    <a16:creationId xmlns:a16="http://schemas.microsoft.com/office/drawing/2014/main" id="{AAC4647B-DA41-FD02-6BDA-65B5A28BA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l-GR"/>
              </a:p>
            </p:txBody>
          </p:sp>
          <p:sp>
            <p:nvSpPr>
              <p:cNvPr id="4104" name="Rectangle 8">
                <a:extLst>
                  <a:ext uri="{FF2B5EF4-FFF2-40B4-BE49-F238E27FC236}">
                    <a16:creationId xmlns:a16="http://schemas.microsoft.com/office/drawing/2014/main" id="{EB84E09F-8D09-FB34-B57A-D2D9ECDD83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l-GR"/>
              </a:p>
            </p:txBody>
          </p:sp>
        </p:grpSp>
        <p:sp>
          <p:nvSpPr>
            <p:cNvPr id="4105" name="Rectangle 9">
              <a:extLst>
                <a:ext uri="{FF2B5EF4-FFF2-40B4-BE49-F238E27FC236}">
                  <a16:creationId xmlns:a16="http://schemas.microsoft.com/office/drawing/2014/main" id="{D0B74EAD-4B01-89E1-0D1D-A1DC36D9E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4106" name="Rectangle 10">
              <a:extLst>
                <a:ext uri="{FF2B5EF4-FFF2-40B4-BE49-F238E27FC236}">
                  <a16:creationId xmlns:a16="http://schemas.microsoft.com/office/drawing/2014/main" id="{C48C47C8-A589-7C41-F62F-28140BDD8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4107" name="Rectangle 11">
              <a:extLst>
                <a:ext uri="{FF2B5EF4-FFF2-40B4-BE49-F238E27FC236}">
                  <a16:creationId xmlns:a16="http://schemas.microsoft.com/office/drawing/2014/main" id="{708C8DEF-7DB0-E396-C4A0-BFE1BF1B819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</p:grpSp>
      <p:sp>
        <p:nvSpPr>
          <p:cNvPr id="4108" name="Rectangle 12">
            <a:extLst>
              <a:ext uri="{FF2B5EF4-FFF2-40B4-BE49-F238E27FC236}">
                <a16:creationId xmlns:a16="http://schemas.microsoft.com/office/drawing/2014/main" id="{92162715-B049-D661-6816-D6CDEDC97B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altLang="el-GR" noProof="0"/>
              <a:t>Click to edit Master title style</a:t>
            </a:r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CE432F1D-31F2-363B-9B92-04C6F7E7D3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GB" altLang="el-GR" noProof="0"/>
              <a:t>Click to edit Master subtitle style</a:t>
            </a:r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25572094-7011-2F06-1678-3736DC29167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endParaRPr lang="en-GB" altLang="el-GR"/>
          </a:p>
        </p:txBody>
      </p:sp>
      <p:sp>
        <p:nvSpPr>
          <p:cNvPr id="4111" name="Rectangle 15">
            <a:extLst>
              <a:ext uri="{FF2B5EF4-FFF2-40B4-BE49-F238E27FC236}">
                <a16:creationId xmlns:a16="http://schemas.microsoft.com/office/drawing/2014/main" id="{60B975FB-92BF-866E-30D3-4ED41A6B489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endParaRPr lang="en-GB" altLang="el-GR"/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95A80EEA-5FE2-ADB6-3F33-035D9FC9F73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2"/>
                </a:solidFill>
              </a:defRPr>
            </a:lvl1pPr>
          </a:lstStyle>
          <a:p>
            <a:fld id="{281C607D-59A7-4C71-B1B9-1309C53C7336}" type="slidenum">
              <a:rPr lang="en-GB" altLang="el-GR"/>
              <a:pPr/>
              <a:t>‹#›</a:t>
            </a:fld>
            <a:endParaRPr lang="en-GB" altLang="el-G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2154-8C27-5A33-89E1-29ADB060F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293EE-0CE0-A731-AE2F-BF94E6D4F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81230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CCDE-E796-DA22-409F-9EC1F0DA0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11551-0851-DE72-72A5-E53100DEE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242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0356-CD3E-DB60-0B88-8EA14E12D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BDC61-93DA-B031-7CAB-76477E6C3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1AC38-DBF3-CCCD-FF82-EA24DD632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3851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57B51-C48C-EA72-250F-6B69F3283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2BC0-FE35-25B1-1559-9C166E8AE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42325-AE4D-6857-608A-E92DCD695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AA9A9E-41CE-A994-F6E2-D2EB76798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113FF2-859C-458F-FBB2-322A97EF2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941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27D9-14FB-6938-323F-9A50CCE8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97990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78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3229-F75D-6614-DA9A-8A3A4C4AF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28CF6-F5A6-09FC-C0E2-7EB7C24A7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12B16-0654-0B7C-E5A6-74653C5AB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2931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24CC-9861-3563-5110-5472044AB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132DDB-9317-D48D-71BD-F25CC2A69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6A3CE-AEA7-D8EE-DC33-3402A6548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3491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E570C-3E63-39FE-3D6C-CDE2DE39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5EDA1-DA45-1934-AA70-9025DDB96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08479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CE767-906E-5439-40FF-1ABF204E5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31038" y="0"/>
            <a:ext cx="1949450" cy="61325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A6C24-BC69-F4E8-02AC-469456C58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688" y="0"/>
            <a:ext cx="5695950" cy="61325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33030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7" name="Group 25">
            <a:extLst>
              <a:ext uri="{FF2B5EF4-FFF2-40B4-BE49-F238E27FC236}">
                <a16:creationId xmlns:a16="http://schemas.microsoft.com/office/drawing/2014/main" id="{9F8FEA71-9C57-DE48-BF57-0214FE8D892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333375"/>
            <a:ext cx="8542338" cy="1052513"/>
            <a:chOff x="80" y="624"/>
            <a:chExt cx="5381" cy="663"/>
          </a:xfrm>
        </p:grpSpPr>
        <p:sp>
          <p:nvSpPr>
            <p:cNvPr id="3078" name="Rectangle 6">
              <a:extLst>
                <a:ext uri="{FF2B5EF4-FFF2-40B4-BE49-F238E27FC236}">
                  <a16:creationId xmlns:a16="http://schemas.microsoft.com/office/drawing/2014/main" id="{B3D67543-803B-692A-F45C-FF26CDE57666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80" y="912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l-GR" altLang="el-GR"/>
            </a:p>
          </p:txBody>
        </p:sp>
        <p:grpSp>
          <p:nvGrpSpPr>
            <p:cNvPr id="3096" name="Group 24">
              <a:extLst>
                <a:ext uri="{FF2B5EF4-FFF2-40B4-BE49-F238E27FC236}">
                  <a16:creationId xmlns:a16="http://schemas.microsoft.com/office/drawing/2014/main" id="{84FDB730-D099-0889-652D-E9594B17E5C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63" y="624"/>
              <a:ext cx="5198" cy="663"/>
              <a:chOff x="263" y="624"/>
              <a:chExt cx="5198" cy="663"/>
            </a:xfrm>
          </p:grpSpPr>
          <p:sp>
            <p:nvSpPr>
              <p:cNvPr id="3074" name="Rectangle 2">
                <a:extLst>
                  <a:ext uri="{FF2B5EF4-FFF2-40B4-BE49-F238E27FC236}">
                    <a16:creationId xmlns:a16="http://schemas.microsoft.com/office/drawing/2014/main" id="{FAAA8FF3-24A1-472C-D735-B96D67668DF5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63" y="692"/>
                <a:ext cx="276" cy="2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kumimoji="1" lang="el-GR" altLang="el-GR"/>
              </a:p>
            </p:txBody>
          </p:sp>
          <p:sp>
            <p:nvSpPr>
              <p:cNvPr id="3075" name="Rectangle 3">
                <a:extLst>
                  <a:ext uri="{FF2B5EF4-FFF2-40B4-BE49-F238E27FC236}">
                    <a16:creationId xmlns:a16="http://schemas.microsoft.com/office/drawing/2014/main" id="{5E4304BD-798B-75D1-44F4-C40D4B177C68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504" y="692"/>
                <a:ext cx="207" cy="299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kumimoji="1" lang="el-GR" altLang="el-GR"/>
              </a:p>
            </p:txBody>
          </p:sp>
          <p:sp>
            <p:nvSpPr>
              <p:cNvPr id="3076" name="Rectangle 4">
                <a:extLst>
                  <a:ext uri="{FF2B5EF4-FFF2-40B4-BE49-F238E27FC236}">
                    <a16:creationId xmlns:a16="http://schemas.microsoft.com/office/drawing/2014/main" id="{B0CBDC5B-FDFD-C684-5A8E-FD306EE5A647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341" y="958"/>
                <a:ext cx="266" cy="2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kumimoji="1" lang="el-GR" altLang="el-GR"/>
              </a:p>
            </p:txBody>
          </p:sp>
          <p:sp>
            <p:nvSpPr>
              <p:cNvPr id="3077" name="Rectangle 5">
                <a:extLst>
                  <a:ext uri="{FF2B5EF4-FFF2-40B4-BE49-F238E27FC236}">
                    <a16:creationId xmlns:a16="http://schemas.microsoft.com/office/drawing/2014/main" id="{8A22546E-FD32-8E29-148E-5A58673ACB10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574" y="958"/>
                <a:ext cx="232" cy="299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kumimoji="1" lang="el-GR" altLang="el-GR"/>
              </a:p>
            </p:txBody>
          </p:sp>
          <p:sp>
            <p:nvSpPr>
              <p:cNvPr id="3079" name="Rectangle 7">
                <a:extLst>
                  <a:ext uri="{FF2B5EF4-FFF2-40B4-BE49-F238E27FC236}">
                    <a16:creationId xmlns:a16="http://schemas.microsoft.com/office/drawing/2014/main" id="{B1F1D362-D941-1552-C688-58B454A3D90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480" y="624"/>
                <a:ext cx="20" cy="66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kumimoji="1" lang="el-GR" altLang="el-GR"/>
              </a:p>
            </p:txBody>
          </p:sp>
          <p:sp>
            <p:nvSpPr>
              <p:cNvPr id="3080" name="Rectangle 8">
                <a:extLst>
                  <a:ext uri="{FF2B5EF4-FFF2-40B4-BE49-F238E27FC236}">
                    <a16:creationId xmlns:a16="http://schemas.microsoft.com/office/drawing/2014/main" id="{C57EDFA1-ECBB-68E9-6F0E-914F801D14E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79" y="1122"/>
                <a:ext cx="5182" cy="20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kumimoji="1" lang="el-GR" altLang="el-GR"/>
              </a:p>
            </p:txBody>
          </p:sp>
        </p:grpSp>
      </p:grpSp>
      <p:sp>
        <p:nvSpPr>
          <p:cNvPr id="3081" name="Rectangle 9">
            <a:extLst>
              <a:ext uri="{FF2B5EF4-FFF2-40B4-BE49-F238E27FC236}">
                <a16:creationId xmlns:a16="http://schemas.microsoft.com/office/drawing/2014/main" id="{0AD94885-C458-D4C6-5355-33513BC72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87450" y="0"/>
            <a:ext cx="77930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title style</a:t>
            </a:r>
          </a:p>
        </p:txBody>
      </p:sp>
      <p:sp>
        <p:nvSpPr>
          <p:cNvPr id="3082" name="Rectangle 10">
            <a:extLst>
              <a:ext uri="{FF2B5EF4-FFF2-40B4-BE49-F238E27FC236}">
                <a16:creationId xmlns:a16="http://schemas.microsoft.com/office/drawing/2014/main" id="{35B78CBA-9627-C27D-E60F-4406E0D6A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text styles</a:t>
            </a:r>
          </a:p>
          <a:p>
            <a:pPr lvl="1"/>
            <a:r>
              <a:rPr lang="en-GB" altLang="el-GR"/>
              <a:t>Second level</a:t>
            </a:r>
          </a:p>
          <a:p>
            <a:pPr lvl="2"/>
            <a:r>
              <a:rPr lang="en-GB" altLang="el-GR"/>
              <a:t>Third level</a:t>
            </a:r>
          </a:p>
          <a:p>
            <a:pPr lvl="3"/>
            <a:r>
              <a:rPr lang="en-GB" altLang="el-GR"/>
              <a:t>Fourth level</a:t>
            </a:r>
          </a:p>
          <a:p>
            <a:pPr lvl="4"/>
            <a:r>
              <a:rPr lang="en-GB" altLang="el-GR"/>
              <a:t>Fifth level</a:t>
            </a: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C3A9592D-DB2F-BFAE-97A0-1AB09FD510E0}"/>
              </a:ext>
            </a:extLst>
          </p:cNvPr>
          <p:cNvSpPr txBox="1">
            <a:spLocks/>
          </p:cNvSpPr>
          <p:nvPr userDrawn="1"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98553-6D2D-A7CF-462E-8003BF870385}"/>
              </a:ext>
            </a:extLst>
          </p:cNvPr>
          <p:cNvSpPr txBox="1"/>
          <p:nvPr userDrawn="1"/>
        </p:nvSpPr>
        <p:spPr>
          <a:xfrm>
            <a:off x="7284599" y="6536830"/>
            <a:ext cx="1886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100" dirty="0">
                <a:latin typeface="+mn-lt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100" smtClean="0">
                <a:latin typeface="+mn-lt"/>
                <a:cs typeface="Arial" pitchFamily="34" charset="0"/>
              </a:rPr>
              <a:pPr algn="r"/>
              <a:t>‹#›</a:t>
            </a:fld>
            <a:endParaRPr lang="en-US" sz="1100" dirty="0">
              <a:latin typeface="+mn-lt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5E9C77B-35FC-9606-8226-C1EC7097C283}"/>
              </a:ext>
            </a:extLst>
          </p:cNvPr>
          <p:cNvSpPr txBox="1">
            <a:spLocks/>
          </p:cNvSpPr>
          <p:nvPr userDrawn="1"/>
        </p:nvSpPr>
        <p:spPr>
          <a:xfrm>
            <a:off x="3131840" y="6675329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Pointers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sites.google.com/view/i2art-of-programming/home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FB51C6C-4888-EB34-2DA5-8EA251BEF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2" y="2452550"/>
            <a:ext cx="6841527" cy="4343614"/>
          </a:xfrm>
          <a:prstGeom prst="rect">
            <a:avLst/>
          </a:prstGeom>
        </p:spPr>
      </p:pic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12609" y="61836"/>
            <a:ext cx="9144002" cy="937358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l-GR" sz="3000" b="1" dirty="0">
                <a:latin typeface="Bahnschrift" panose="020B0502040204020203" pitchFamily="34" charset="0"/>
              </a:rPr>
              <a:t>Εισαγωγή στον Προγραμματισμό</a:t>
            </a:r>
            <a:br>
              <a:rPr lang="el-GR" sz="3000" b="1" dirty="0">
                <a:latin typeface="Bahnschrift" panose="020B0502040204020203" pitchFamily="34" charset="0"/>
              </a:rPr>
            </a:br>
            <a:r>
              <a:rPr lang="el-GR" sz="3000" b="1" dirty="0">
                <a:latin typeface="Bahnschrift" panose="020B0502040204020203" pitchFamily="34" charset="0"/>
              </a:rPr>
              <a:t>(</a:t>
            </a:r>
            <a:r>
              <a:rPr lang="en-US" sz="3000" b="1" dirty="0">
                <a:latin typeface="Bahnschrift" panose="020B0502040204020203" pitchFamily="34" charset="0"/>
              </a:rPr>
              <a:t>Introduction to</a:t>
            </a:r>
            <a:r>
              <a:rPr lang="el-GR" sz="3000" b="1" dirty="0">
                <a:latin typeface="Bahnschrift" panose="020B0502040204020203" pitchFamily="34" charset="0"/>
              </a:rPr>
              <a:t> </a:t>
            </a:r>
            <a:r>
              <a:rPr lang="el-GR" sz="3000" b="1" dirty="0" err="1">
                <a:latin typeface="Bahnschrift" panose="020B0502040204020203" pitchFamily="34" charset="0"/>
              </a:rPr>
              <a:t>Programming</a:t>
            </a:r>
            <a:r>
              <a:rPr lang="el-GR" sz="3000" b="1" dirty="0">
                <a:latin typeface="Bahnschrift" panose="020B0502040204020203" pitchFamily="34" charset="0"/>
              </a:rPr>
              <a:t>)</a:t>
            </a:r>
            <a:endParaRPr lang="en-US" sz="2100" b="1" dirty="0">
              <a:latin typeface="Bahnschrift" panose="020B0502040204020203" pitchFamily="34" charset="0"/>
            </a:endParaRPr>
          </a:p>
        </p:txBody>
      </p:sp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15991" y="1669805"/>
            <a:ext cx="3667137" cy="709748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l-GR" sz="16000" b="1" dirty="0">
                <a:solidFill>
                  <a:srgbClr val="60D69E"/>
                </a:solidFill>
                <a:latin typeface="Bahnschrift" panose="020B0502040204020203" pitchFamily="34" charset="0"/>
              </a:rPr>
              <a:t>Δείκτες</a:t>
            </a:r>
            <a:endParaRPr lang="el-GR" sz="120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l-GR" sz="9600" b="1" dirty="0">
                <a:solidFill>
                  <a:srgbClr val="60D69E"/>
                </a:solidFill>
                <a:latin typeface="Bahnschrift" panose="020B0502040204020203" pitchFamily="34" charset="0"/>
              </a:rPr>
              <a:t>(</a:t>
            </a:r>
            <a:r>
              <a:rPr lang="en-GB" sz="9600" b="1" dirty="0">
                <a:solidFill>
                  <a:srgbClr val="60D69E"/>
                </a:solidFill>
                <a:latin typeface="Bahnschrift" panose="020B0502040204020203" pitchFamily="34" charset="0"/>
              </a:rPr>
              <a:t>Pointers )</a:t>
            </a:r>
            <a:endParaRPr lang="en-GB" sz="72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-12609" y="1063174"/>
            <a:ext cx="1560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Bahnschrift" panose="020B0502040204020203" pitchFamily="34" charset="0"/>
              </a:rPr>
              <a:t>(CEID_NY131)</a:t>
            </a:r>
            <a:endParaRPr lang="el-GR" sz="1800" b="1" dirty="0">
              <a:latin typeface="Bahnschrift" panose="020B0502040204020203" pitchFamily="34" charset="0"/>
            </a:endParaRPr>
          </a:p>
        </p:txBody>
      </p:sp>
      <p:sp>
        <p:nvSpPr>
          <p:cNvPr id="18" name="Υπότιτλος 2">
            <a:extLst>
              <a:ext uri="{FF2B5EF4-FFF2-40B4-BE49-F238E27FC236}">
                <a16:creationId xmlns:a16="http://schemas.microsoft.com/office/drawing/2014/main" id="{1CC770C9-EFCA-6DAF-8AF4-65DBC6C0060B}"/>
              </a:ext>
            </a:extLst>
          </p:cNvPr>
          <p:cNvSpPr txBox="1">
            <a:spLocks/>
          </p:cNvSpPr>
          <p:nvPr/>
        </p:nvSpPr>
        <p:spPr>
          <a:xfrm>
            <a:off x="6906616" y="3291279"/>
            <a:ext cx="2355114" cy="2733011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3000" b="1" dirty="0">
                <a:solidFill>
                  <a:srgbClr val="C00000"/>
                </a:solidFill>
                <a:latin typeface="Bahnschrift" panose="020B0502040204020203" pitchFamily="34" charset="0"/>
              </a:rPr>
              <a:t>Pointers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104CF0-71DB-277D-FF43-3A47565FC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238" y="877908"/>
            <a:ext cx="1957585" cy="2796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A0368E-6ADC-C0B8-7EA7-E8B85F721C26}"/>
              </a:ext>
            </a:extLst>
          </p:cNvPr>
          <p:cNvSpPr txBox="1"/>
          <p:nvPr/>
        </p:nvSpPr>
        <p:spPr>
          <a:xfrm>
            <a:off x="7174238" y="3667156"/>
            <a:ext cx="19575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/>
              <a:t>Πηγή: </a:t>
            </a:r>
            <a:endParaRPr lang="en-US" sz="1600" dirty="0"/>
          </a:p>
          <a:p>
            <a:pPr algn="ctr"/>
            <a:r>
              <a:rPr lang="el-GR" sz="1600" dirty="0">
                <a:hlinkClick r:id="rId5"/>
              </a:rPr>
              <a:t>Μια Εισαγωγή στην Τέχνη του Προγραμματισμού</a:t>
            </a:r>
            <a:endParaRPr lang="en-GB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45747-ED20-19B3-8190-54D45634BE1F}"/>
              </a:ext>
            </a:extLst>
          </p:cNvPr>
          <p:cNvSpPr txBox="1"/>
          <p:nvPr/>
        </p:nvSpPr>
        <p:spPr>
          <a:xfrm flipH="1">
            <a:off x="2987824" y="2585307"/>
            <a:ext cx="4588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https://sites.google.com/view/i2art-of-programming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18B474-3992-B294-576A-BD1E2E8844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865" y="1026872"/>
            <a:ext cx="2981636" cy="141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AA26683D-0147-A04B-D4BB-E0EED85A3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el-GR"/>
              <a:t>Συχνές ερωτήσεις</a:t>
            </a:r>
            <a:endParaRPr lang="en-GB" altLang="el-GR"/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E0027D1A-EC5E-DDDD-7CB2-D8BD04B5C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550" y="1628775"/>
            <a:ext cx="7772400" cy="4114800"/>
          </a:xfrm>
        </p:spPr>
        <p:txBody>
          <a:bodyPr/>
          <a:lstStyle/>
          <a:p>
            <a:r>
              <a:rPr lang="el-GR" altLang="el-GR">
                <a:solidFill>
                  <a:schemeClr val="hlink"/>
                </a:solidFill>
              </a:rPr>
              <a:t>Τι είναι </a:t>
            </a:r>
            <a:r>
              <a:rPr lang="el-GR" altLang="el-GR" b="1">
                <a:solidFill>
                  <a:schemeClr val="hlink"/>
                </a:solidFill>
              </a:rPr>
              <a:t>διεύθυνση</a:t>
            </a:r>
            <a:r>
              <a:rPr lang="el-GR" altLang="el-GR">
                <a:solidFill>
                  <a:schemeClr val="hlink"/>
                </a:solidFill>
              </a:rPr>
              <a:t>;</a:t>
            </a:r>
          </a:p>
          <a:p>
            <a:r>
              <a:rPr lang="el-GR" altLang="el-GR">
                <a:solidFill>
                  <a:schemeClr val="hlink"/>
                </a:solidFill>
              </a:rPr>
              <a:t>Πώς και πότε μπορώ να πάρω την διεύθυνση μιας μεταβλητής;</a:t>
            </a:r>
          </a:p>
          <a:p>
            <a:r>
              <a:rPr lang="el-GR" altLang="el-GR">
                <a:solidFill>
                  <a:schemeClr val="hlink"/>
                </a:solidFill>
              </a:rPr>
              <a:t>Που αποθηκεύω μια διεύθυνση;</a:t>
            </a:r>
          </a:p>
          <a:p>
            <a:r>
              <a:rPr lang="el-GR" altLang="el-GR">
                <a:solidFill>
                  <a:schemeClr val="hlink"/>
                </a:solidFill>
              </a:rPr>
              <a:t>Τι είναι </a:t>
            </a:r>
            <a:r>
              <a:rPr lang="el-GR" altLang="el-GR" b="1">
                <a:solidFill>
                  <a:schemeClr val="hlink"/>
                </a:solidFill>
              </a:rPr>
              <a:t>δείκτης</a:t>
            </a:r>
            <a:r>
              <a:rPr lang="el-GR" altLang="el-GR">
                <a:solidFill>
                  <a:schemeClr val="hlink"/>
                </a:solidFill>
              </a:rPr>
              <a:t>;</a:t>
            </a:r>
          </a:p>
          <a:p>
            <a:r>
              <a:rPr lang="el-GR" altLang="el-GR">
                <a:solidFill>
                  <a:schemeClr val="hlink"/>
                </a:solidFill>
              </a:rPr>
              <a:t>Πως δηλώνω ένα δείκτη;</a:t>
            </a:r>
          </a:p>
          <a:p>
            <a:r>
              <a:rPr lang="el-GR" altLang="el-GR">
                <a:solidFill>
                  <a:schemeClr val="hlink"/>
                </a:solidFill>
              </a:rPr>
              <a:t>Έχει ένας δείκτης διεύθυνση;</a:t>
            </a:r>
          </a:p>
          <a:p>
            <a:endParaRPr lang="en-GB" altLang="el-GR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>
            <a:extLst>
              <a:ext uri="{FF2B5EF4-FFF2-40B4-BE49-F238E27FC236}">
                <a16:creationId xmlns:a16="http://schemas.microsoft.com/office/drawing/2014/main" id="{3C6FD35B-F27D-3901-82BF-AD2F538DC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br>
              <a:rPr lang="en-GB" altLang="el-GR" dirty="0"/>
            </a:br>
            <a:r>
              <a:rPr lang="el-GR" altLang="el-GR" dirty="0"/>
              <a:t>Διεύθυνση</a:t>
            </a:r>
            <a:endParaRPr lang="el-GR" altLang="el-GR" dirty="0">
              <a:latin typeface="Times New Roman Greek" panose="02020603050405020304" pitchFamily="18" charset="0"/>
            </a:endParaRPr>
          </a:p>
        </p:txBody>
      </p:sp>
      <p:sp>
        <p:nvSpPr>
          <p:cNvPr id="102404" name="Rectangle 4">
            <a:extLst>
              <a:ext uri="{FF2B5EF4-FFF2-40B4-BE49-F238E27FC236}">
                <a16:creationId xmlns:a16="http://schemas.microsoft.com/office/drawing/2014/main" id="{D27F7799-D8CA-83DB-C4DE-0B78BA6C77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484784"/>
            <a:ext cx="8305800" cy="41910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el-GR" altLang="el-GR" dirty="0"/>
              <a:t>Για κάθε μεταβλητή υπάρχει μια μοναδική διεύθυνση που προσδιορίζει το χώρο της μνήμης στον οποίο είναι αποθηκευμένη η τιμή της </a:t>
            </a:r>
            <a:endParaRPr lang="en-US" altLang="el-GR" dirty="0"/>
          </a:p>
          <a:p>
            <a:pPr>
              <a:lnSpc>
                <a:spcPct val="90000"/>
              </a:lnSpc>
            </a:pPr>
            <a:endParaRPr lang="el-GR" altLang="el-GR" dirty="0"/>
          </a:p>
          <a:p>
            <a:pPr>
              <a:lnSpc>
                <a:spcPct val="90000"/>
              </a:lnSpc>
            </a:pPr>
            <a:r>
              <a:rPr lang="el-GR" altLang="el-GR" dirty="0"/>
              <a:t>η διεύθυνση μιας μεταβλητής προκύπτει με την εφαρμογή πάνω στη μεταβλητή του </a:t>
            </a:r>
            <a:r>
              <a:rPr lang="el-GR" altLang="el-GR" dirty="0">
                <a:solidFill>
                  <a:schemeClr val="hlink"/>
                </a:solidFill>
              </a:rPr>
              <a:t>τελεστή άμεσης διεύθυνσης</a:t>
            </a:r>
            <a:r>
              <a:rPr lang="en-GB" altLang="el-GR" dirty="0">
                <a:solidFill>
                  <a:schemeClr val="hlink"/>
                </a:solidFill>
              </a:rPr>
              <a:t> </a:t>
            </a:r>
            <a:r>
              <a:rPr lang="en-GB" altLang="el-GR" b="1" dirty="0">
                <a:solidFill>
                  <a:schemeClr val="hlink"/>
                </a:solidFill>
              </a:rPr>
              <a:t>&amp;</a:t>
            </a:r>
            <a:endParaRPr lang="en-GB" altLang="el-GR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l-GR" b="1" dirty="0">
                <a:solidFill>
                  <a:schemeClr val="hlink"/>
                </a:solidFill>
                <a:latin typeface="Times New Roman Greek" panose="02020603050405020304" pitchFamily="18" charset="0"/>
              </a:rPr>
              <a:t>		</a:t>
            </a:r>
            <a:r>
              <a:rPr lang="el-GR" altLang="el-GR" dirty="0">
                <a:latin typeface="Times New Roman Greek" panose="02020603050405020304" pitchFamily="18" charset="0"/>
              </a:rPr>
              <a:t>π.χ.	</a:t>
            </a:r>
            <a:r>
              <a:rPr lang="el-GR" altLang="el-GR" dirty="0">
                <a:solidFill>
                  <a:srgbClr val="990000"/>
                </a:solidFill>
                <a:latin typeface="Times New Roman Greek" panose="02020603050405020304" pitchFamily="18" charset="0"/>
              </a:rPr>
              <a:t>&amp;</a:t>
            </a:r>
            <a:r>
              <a:rPr lang="en-US" altLang="el-GR" dirty="0">
                <a:solidFill>
                  <a:srgbClr val="990000"/>
                </a:solidFill>
                <a:latin typeface="Times New Roman Greek" panose="02020603050405020304" pitchFamily="18" charset="0"/>
              </a:rPr>
              <a:t>num</a:t>
            </a:r>
            <a:r>
              <a:rPr lang="en-US" altLang="el-GR" dirty="0">
                <a:latin typeface="Times New Roman Greek" panose="02020603050405020304" pitchFamily="18" charset="0"/>
              </a:rPr>
              <a:t>, 	</a:t>
            </a:r>
            <a:r>
              <a:rPr lang="en-US" altLang="el-GR" dirty="0">
                <a:solidFill>
                  <a:srgbClr val="990000"/>
                </a:solidFill>
                <a:latin typeface="Times New Roman Greek" panose="02020603050405020304" pitchFamily="18" charset="0"/>
              </a:rPr>
              <a:t>&amp;</a:t>
            </a:r>
            <a:r>
              <a:rPr lang="en-US" altLang="el-GR" dirty="0" err="1">
                <a:solidFill>
                  <a:srgbClr val="990000"/>
                </a:solidFill>
                <a:latin typeface="Times New Roman Greek" panose="02020603050405020304" pitchFamily="18" charset="0"/>
              </a:rPr>
              <a:t>ch</a:t>
            </a:r>
            <a:endParaRPr lang="en-GB" altLang="el-GR" dirty="0">
              <a:solidFill>
                <a:srgbClr val="990000"/>
              </a:solidFill>
              <a:latin typeface="Times New Roman Greek" panose="02020603050405020304" pitchFamily="18" charset="0"/>
            </a:endParaRP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EECCFDC2-9BB5-B881-09B9-9835B6A4D1EE}"/>
              </a:ext>
            </a:extLst>
          </p:cNvPr>
          <p:cNvSpPr/>
          <p:nvPr/>
        </p:nvSpPr>
        <p:spPr bwMode="auto">
          <a:xfrm>
            <a:off x="3717399" y="5727676"/>
            <a:ext cx="5400600" cy="579784"/>
          </a:xfrm>
          <a:prstGeom prst="borderCallout1">
            <a:avLst>
              <a:gd name="adj1" fmla="val 52719"/>
              <a:gd name="adj2" fmla="val -258"/>
              <a:gd name="adj3" fmla="val 5740"/>
              <a:gd name="adj4" fmla="val -19318"/>
            </a:avLst>
          </a:prstGeom>
          <a:solidFill>
            <a:schemeClr val="accent1"/>
          </a:solidFill>
          <a:ln w="571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l-G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Δίνει τη διεύθυνση της θέσης μνήμης που έχει δεσμευθεί για την μεταβλητή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num</a:t>
            </a: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E49DDC03-BF75-6460-E042-9AA4EFEE5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GB" altLang="el-GR"/>
              <a:t>Δείκτης</a:t>
            </a:r>
            <a:r>
              <a:rPr lang="el-GR" altLang="el-GR"/>
              <a:t>  (</a:t>
            </a:r>
            <a:r>
              <a:rPr lang="en-GB" altLang="el-GR"/>
              <a:t>Pointer</a:t>
            </a:r>
            <a:r>
              <a:rPr lang="el-GR" altLang="el-GR"/>
              <a:t>)</a:t>
            </a:r>
            <a:endParaRPr lang="en-GB" altLang="el-GR"/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AEDC61C5-1158-1A95-D3ED-6B596D221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773238"/>
            <a:ext cx="7772400" cy="4114800"/>
          </a:xfrm>
          <a:noFill/>
          <a:ln/>
        </p:spPr>
        <p:txBody>
          <a:bodyPr lIns="92075" tIns="46038" rIns="92075" bIns="46038"/>
          <a:lstStyle/>
          <a:p>
            <a:r>
              <a:rPr lang="el-GR" altLang="el-GR" sz="4000" b="1" dirty="0">
                <a:solidFill>
                  <a:schemeClr val="hlink"/>
                </a:solidFill>
              </a:rPr>
              <a:t>είναι</a:t>
            </a:r>
            <a:r>
              <a:rPr lang="el-GR" altLang="el-GR" sz="4000" dirty="0"/>
              <a:t> </a:t>
            </a:r>
          </a:p>
          <a:p>
            <a:pPr lvl="1"/>
            <a:r>
              <a:rPr lang="el-GR" altLang="el-GR" sz="3600" dirty="0"/>
              <a:t>μία </a:t>
            </a:r>
            <a:r>
              <a:rPr lang="el-GR" altLang="el-GR" sz="3600" b="1" dirty="0"/>
              <a:t>μεταβλητή</a:t>
            </a:r>
            <a:r>
              <a:rPr lang="el-GR" altLang="el-GR" sz="3600" dirty="0"/>
              <a:t> που χρησιμοποιείται για την αποθήκευση διεύθυνσης μιας άλλης μεταβλητής.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9207971-5140-805A-5A8B-C320C7932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l-GR" altLang="el-GR"/>
              <a:t>Δήλωση </a:t>
            </a:r>
            <a:r>
              <a:rPr lang="en-GB" altLang="el-GR"/>
              <a:t>Δείκτη</a:t>
            </a:r>
            <a:endParaRPr lang="en-GB" altLang="el-GR">
              <a:latin typeface="Times New Roman Greek" panose="02020603050405020304" pitchFamily="18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4D213C1-A80B-E5A3-7014-E23BE4D96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489075"/>
            <a:ext cx="7772400" cy="4114800"/>
          </a:xfrm>
          <a:noFill/>
          <a:ln/>
        </p:spPr>
        <p:txBody>
          <a:bodyPr lIns="92075" tIns="46038" rIns="92075" bIns="46038"/>
          <a:lstStyle/>
          <a:p>
            <a:r>
              <a:rPr lang="el-GR" altLang="el-GR" dirty="0"/>
              <a:t>για τη δήλωση μεταβλητής δείκτη χρησιμοποιείται </a:t>
            </a:r>
          </a:p>
          <a:p>
            <a:pPr lvl="1"/>
            <a:r>
              <a:rPr lang="el-GR" altLang="el-GR" dirty="0"/>
              <a:t>ο </a:t>
            </a:r>
            <a:r>
              <a:rPr lang="el-GR" altLang="el-GR" dirty="0" err="1"/>
              <a:t>μοναδιαίος</a:t>
            </a:r>
            <a:r>
              <a:rPr lang="el-GR" altLang="el-GR" dirty="0"/>
              <a:t> </a:t>
            </a:r>
            <a:r>
              <a:rPr lang="el-GR" altLang="el-GR" dirty="0">
                <a:solidFill>
                  <a:schemeClr val="hlink"/>
                </a:solidFill>
              </a:rPr>
              <a:t>τελεστής άμεσης αναφοράς </a:t>
            </a:r>
            <a:r>
              <a:rPr lang="el-GR" altLang="el-GR" sz="3200" b="1" dirty="0">
                <a:solidFill>
                  <a:schemeClr val="hlink"/>
                </a:solidFill>
              </a:rPr>
              <a:t>*</a:t>
            </a:r>
            <a:endParaRPr lang="el-GR" altLang="el-GR" b="1" dirty="0"/>
          </a:p>
          <a:p>
            <a:r>
              <a:rPr lang="el-GR" altLang="el-GR" dirty="0">
                <a:solidFill>
                  <a:schemeClr val="hlink"/>
                </a:solidFill>
              </a:rPr>
              <a:t>Επιπλέον απαιτείται</a:t>
            </a:r>
            <a:r>
              <a:rPr lang="el-GR" altLang="el-GR" dirty="0"/>
              <a:t> η δήλωση του τύπου του αντικειμένου του οποίου τη διεύθυνση περιέχει ή θα περιέχει.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0CEC6DB-5E76-0D7B-681B-6E03C698B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084763"/>
            <a:ext cx="84343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altLang="el-GR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int *</a:t>
            </a:r>
            <a:r>
              <a:rPr lang="en-GB" altLang="el-GR" sz="2800" b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num_ptr</a:t>
            </a:r>
            <a:r>
              <a:rPr lang="en-GB" altLang="el-GR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;	char *</a:t>
            </a:r>
            <a:r>
              <a:rPr lang="en-GB" altLang="el-GR" sz="2800" b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nameptr</a:t>
            </a:r>
            <a:r>
              <a:rPr lang="en-GB" altLang="el-GR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;		float *</a:t>
            </a:r>
            <a:r>
              <a:rPr lang="en-GB" altLang="el-GR" sz="2800" b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f_ptr</a:t>
            </a:r>
            <a:r>
              <a:rPr lang="en-GB" altLang="el-GR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9B8EFA-9996-D628-88AE-0AE2D933A515}"/>
              </a:ext>
            </a:extLst>
          </p:cNvPr>
          <p:cNvSpPr txBox="1"/>
          <p:nvPr/>
        </p:nvSpPr>
        <p:spPr>
          <a:xfrm>
            <a:off x="107504" y="5603875"/>
            <a:ext cx="2736304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2000" dirty="0"/>
              <a:t>Η </a:t>
            </a:r>
            <a:r>
              <a:rPr lang="en-GB" altLang="el-GR" sz="2000" b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num_ptr</a:t>
            </a:r>
            <a:r>
              <a:rPr lang="en-GB" altLang="el-GR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l-GR" sz="2000" dirty="0"/>
              <a:t>είναι δείκτης σε </a:t>
            </a:r>
            <a:r>
              <a:rPr lang="en-GB" altLang="el-GR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int</a:t>
            </a:r>
            <a:r>
              <a:rPr lang="el-GR" sz="20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E8C77A-2DFE-59E0-8CDE-F9DB7BC2339A}"/>
              </a:ext>
            </a:extLst>
          </p:cNvPr>
          <p:cNvSpPr txBox="1"/>
          <p:nvPr/>
        </p:nvSpPr>
        <p:spPr>
          <a:xfrm>
            <a:off x="3172892" y="5616298"/>
            <a:ext cx="2736304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2000" dirty="0"/>
              <a:t>Η </a:t>
            </a:r>
            <a:r>
              <a:rPr lang="en-GB" altLang="el-GR" sz="2000" b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nameptr</a:t>
            </a:r>
            <a:r>
              <a:rPr lang="en-GB" altLang="el-GR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l-GR" sz="2000" dirty="0"/>
              <a:t>είναι δείκτης σε </a:t>
            </a:r>
            <a:r>
              <a:rPr lang="en-GB" altLang="el-GR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char</a:t>
            </a:r>
            <a:r>
              <a:rPr lang="el-GR" sz="20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C9EE27-221F-F7F1-5C87-99370BA113D3}"/>
              </a:ext>
            </a:extLst>
          </p:cNvPr>
          <p:cNvSpPr txBox="1"/>
          <p:nvPr/>
        </p:nvSpPr>
        <p:spPr>
          <a:xfrm>
            <a:off x="6323891" y="5596007"/>
            <a:ext cx="2736304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2000" dirty="0"/>
              <a:t>Η </a:t>
            </a:r>
            <a:r>
              <a:rPr lang="en-GB" altLang="el-GR" sz="2000" b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f_ptr</a:t>
            </a:r>
            <a:r>
              <a:rPr lang="en-GB" altLang="el-GR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l-GR" sz="2000" dirty="0"/>
              <a:t>είναι δείκτης σε </a:t>
            </a:r>
            <a:r>
              <a:rPr lang="en-GB" altLang="el-GR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float</a:t>
            </a:r>
            <a:r>
              <a:rPr lang="el-GR" sz="2000" dirty="0"/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autoUpdateAnimBg="0"/>
      <p:bldP spid="102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ABD04457-1B1C-6CB0-2F31-7A2DA2526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el-GR" dirty="0"/>
              <a:t>Απαντήσεις</a:t>
            </a:r>
            <a:r>
              <a:rPr lang="en-US" altLang="el-GR" dirty="0"/>
              <a:t> (1/2)</a:t>
            </a:r>
            <a:endParaRPr lang="en-GB" altLang="el-GR" dirty="0"/>
          </a:p>
        </p:txBody>
      </p:sp>
      <p:sp>
        <p:nvSpPr>
          <p:cNvPr id="111620" name="Text Box 4">
            <a:extLst>
              <a:ext uri="{FF2B5EF4-FFF2-40B4-BE49-F238E27FC236}">
                <a16:creationId xmlns:a16="http://schemas.microsoft.com/office/drawing/2014/main" id="{D103639B-C9A2-4ABD-4B38-CC8560C4F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09" y="2708920"/>
            <a:ext cx="2701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l-GR" sz="3200" dirty="0"/>
              <a:t>int num = 12;</a:t>
            </a:r>
            <a:endParaRPr lang="en-GB" altLang="el-GR" sz="3200" dirty="0"/>
          </a:p>
        </p:txBody>
      </p:sp>
      <p:grpSp>
        <p:nvGrpSpPr>
          <p:cNvPr id="111627" name="Group 11">
            <a:extLst>
              <a:ext uri="{FF2B5EF4-FFF2-40B4-BE49-F238E27FC236}">
                <a16:creationId xmlns:a16="http://schemas.microsoft.com/office/drawing/2014/main" id="{68948921-9E78-79EF-5604-B747E0C474D4}"/>
              </a:ext>
            </a:extLst>
          </p:cNvPr>
          <p:cNvGrpSpPr>
            <a:grpSpLocks/>
          </p:cNvGrpSpPr>
          <p:nvPr/>
        </p:nvGrpSpPr>
        <p:grpSpPr bwMode="auto">
          <a:xfrm>
            <a:off x="3873809" y="3242320"/>
            <a:ext cx="1143000" cy="3028950"/>
            <a:chOff x="2544" y="1584"/>
            <a:chExt cx="720" cy="1908"/>
          </a:xfrm>
        </p:grpSpPr>
        <p:grpSp>
          <p:nvGrpSpPr>
            <p:cNvPr id="111625" name="Group 9">
              <a:extLst>
                <a:ext uri="{FF2B5EF4-FFF2-40B4-BE49-F238E27FC236}">
                  <a16:creationId xmlns:a16="http://schemas.microsoft.com/office/drawing/2014/main" id="{AC90979D-EBC7-9F60-5E34-F200C63B57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1584"/>
              <a:ext cx="720" cy="1806"/>
              <a:chOff x="3120" y="1584"/>
              <a:chExt cx="720" cy="1806"/>
            </a:xfrm>
          </p:grpSpPr>
          <p:graphicFrame>
            <p:nvGraphicFramePr>
              <p:cNvPr id="111621" name="Object 5">
                <a:extLst>
                  <a:ext uri="{FF2B5EF4-FFF2-40B4-BE49-F238E27FC236}">
                    <a16:creationId xmlns:a16="http://schemas.microsoft.com/office/drawing/2014/main" id="{3101978F-394D-B93A-D8AA-97B4B70E10B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20" y="1728"/>
              <a:ext cx="701" cy="16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Worksheet" r:id="rId3" imgW="619620" imgH="1467269" progId="Excel.Sheet.8">
                      <p:embed/>
                    </p:oleObj>
                  </mc:Choice>
                  <mc:Fallback>
                    <p:oleObj name="Worksheet" r:id="rId3" imgW="619620" imgH="1467269" progId="Excel.Sheet.8">
                      <p:embed/>
                      <p:pic>
                        <p:nvPicPr>
                          <p:cNvPr id="111621" name="Object 5">
                            <a:extLst>
                              <a:ext uri="{FF2B5EF4-FFF2-40B4-BE49-F238E27FC236}">
                                <a16:creationId xmlns:a16="http://schemas.microsoft.com/office/drawing/2014/main" id="{3101978F-394D-B93A-D8AA-97B4B70E10B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1728"/>
                            <a:ext cx="701" cy="16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1623" name="Object 7">
                <a:extLst>
                  <a:ext uri="{FF2B5EF4-FFF2-40B4-BE49-F238E27FC236}">
                    <a16:creationId xmlns:a16="http://schemas.microsoft.com/office/drawing/2014/main" id="{099B95BB-8AC3-A7C9-A988-CA631EEA8F7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20" y="1584"/>
              <a:ext cx="72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5" imgW="1028844" imgH="266737" progId="Paint.Picture">
                      <p:embed/>
                    </p:oleObj>
                  </mc:Choice>
                  <mc:Fallback>
                    <p:oleObj name="Bitmap Image" r:id="rId5" imgW="1028844" imgH="266737" progId="Paint.Picture">
                      <p:embed/>
                      <p:pic>
                        <p:nvPicPr>
                          <p:cNvPr id="111623" name="Object 7">
                            <a:extLst>
                              <a:ext uri="{FF2B5EF4-FFF2-40B4-BE49-F238E27FC236}">
                                <a16:creationId xmlns:a16="http://schemas.microsoft.com/office/drawing/2014/main" id="{099B95BB-8AC3-A7C9-A988-CA631EEA8F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1584"/>
                            <a:ext cx="720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1624" name="Object 8">
              <a:extLst>
                <a:ext uri="{FF2B5EF4-FFF2-40B4-BE49-F238E27FC236}">
                  <a16:creationId xmlns:a16="http://schemas.microsoft.com/office/drawing/2014/main" id="{7663C7ED-E454-6653-EFAF-EB5C2DC735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4" y="3312"/>
            <a:ext cx="720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7" imgW="1028844" imgH="285866" progId="Paint.Picture">
                    <p:embed/>
                  </p:oleObj>
                </mc:Choice>
                <mc:Fallback>
                  <p:oleObj name="Bitmap Image" r:id="rId7" imgW="1028844" imgH="285866" progId="Paint.Picture">
                    <p:embed/>
                    <p:pic>
                      <p:nvPicPr>
                        <p:cNvPr id="111624" name="Object 8">
                          <a:extLst>
                            <a:ext uri="{FF2B5EF4-FFF2-40B4-BE49-F238E27FC236}">
                              <a16:creationId xmlns:a16="http://schemas.microsoft.com/office/drawing/2014/main" id="{7663C7ED-E454-6653-EFAF-EB5C2DC735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312"/>
                          <a:ext cx="720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1626" name="Text Box 10">
            <a:extLst>
              <a:ext uri="{FF2B5EF4-FFF2-40B4-BE49-F238E27FC236}">
                <a16:creationId xmlns:a16="http://schemas.microsoft.com/office/drawing/2014/main" id="{CA7E718C-03B0-4B8F-A8DD-CD28B8AFB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609" y="2708920"/>
            <a:ext cx="1235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altLang="el-GR" sz="2800"/>
              <a:t>Μνήμη</a:t>
            </a:r>
            <a:endParaRPr lang="en-GB" altLang="el-GR" sz="2800"/>
          </a:p>
        </p:txBody>
      </p:sp>
      <p:sp>
        <p:nvSpPr>
          <p:cNvPr id="111628" name="Text Box 12">
            <a:extLst>
              <a:ext uri="{FF2B5EF4-FFF2-40B4-BE49-F238E27FC236}">
                <a16:creationId xmlns:a16="http://schemas.microsoft.com/office/drawing/2014/main" id="{F787425F-B54E-E544-D757-56E5D5280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3009" y="3169443"/>
            <a:ext cx="2316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altLang="el-GR" sz="2800" b="1" dirty="0">
                <a:solidFill>
                  <a:schemeClr val="hlink"/>
                </a:solidFill>
              </a:rPr>
              <a:t>Διευθύνσεις</a:t>
            </a:r>
            <a:endParaRPr lang="en-GB" altLang="el-GR" sz="2800" b="1" dirty="0">
              <a:solidFill>
                <a:schemeClr val="hlink"/>
              </a:solidFill>
            </a:endParaRPr>
          </a:p>
        </p:txBody>
      </p:sp>
      <p:graphicFrame>
        <p:nvGraphicFramePr>
          <p:cNvPr id="111629" name="Object 13">
            <a:extLst>
              <a:ext uri="{FF2B5EF4-FFF2-40B4-BE49-F238E27FC236}">
                <a16:creationId xmlns:a16="http://schemas.microsoft.com/office/drawing/2014/main" id="{AEEF743B-5CE5-6E05-2889-9A2324C121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150625"/>
              </p:ext>
            </p:extLst>
          </p:nvPr>
        </p:nvGraphicFramePr>
        <p:xfrm>
          <a:off x="5245409" y="3775720"/>
          <a:ext cx="1106488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619620" imgH="981380" progId="Excel.Sheet.8">
                  <p:embed/>
                </p:oleObj>
              </mc:Choice>
              <mc:Fallback>
                <p:oleObj name="Worksheet" r:id="rId9" imgW="619620" imgH="981380" progId="Excel.Sheet.8">
                  <p:embed/>
                  <p:pic>
                    <p:nvPicPr>
                      <p:cNvPr id="111629" name="Object 13">
                        <a:extLst>
                          <a:ext uri="{FF2B5EF4-FFF2-40B4-BE49-F238E27FC236}">
                            <a16:creationId xmlns:a16="http://schemas.microsoft.com/office/drawing/2014/main" id="{AEEF743B-5CE5-6E05-2889-9A2324C121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409" y="3775720"/>
                        <a:ext cx="1106488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3" name="AutoShape 17">
            <a:extLst>
              <a:ext uri="{FF2B5EF4-FFF2-40B4-BE49-F238E27FC236}">
                <a16:creationId xmlns:a16="http://schemas.microsoft.com/office/drawing/2014/main" id="{EC5F9259-23BF-8246-0667-6A37856F4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359" y="1870720"/>
            <a:ext cx="3657600" cy="762000"/>
          </a:xfrm>
          <a:prstGeom prst="curvedDownArrow">
            <a:avLst>
              <a:gd name="adj1" fmla="val 96222"/>
              <a:gd name="adj2" fmla="val 192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l-GR"/>
          </a:p>
        </p:txBody>
      </p:sp>
      <p:sp>
        <p:nvSpPr>
          <p:cNvPr id="111634" name="Text Box 18">
            <a:extLst>
              <a:ext uri="{FF2B5EF4-FFF2-40B4-BE49-F238E27FC236}">
                <a16:creationId xmlns:a16="http://schemas.microsoft.com/office/drawing/2014/main" id="{3132E931-B5E1-C346-6D8A-49C97AF1D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409" y="4385320"/>
            <a:ext cx="1157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altLang="el-GR" sz="2800" b="1" dirty="0">
                <a:solidFill>
                  <a:schemeClr val="hlink"/>
                </a:solidFill>
              </a:rPr>
              <a:t>&amp;</a:t>
            </a:r>
            <a:r>
              <a:rPr lang="en-US" altLang="el-GR" sz="2800" dirty="0"/>
              <a:t>num</a:t>
            </a:r>
            <a:endParaRPr lang="en-GB" altLang="el-GR" sz="2800" dirty="0"/>
          </a:p>
        </p:txBody>
      </p:sp>
      <p:sp>
        <p:nvSpPr>
          <p:cNvPr id="111635" name="Text Box 19">
            <a:extLst>
              <a:ext uri="{FF2B5EF4-FFF2-40B4-BE49-F238E27FC236}">
                <a16:creationId xmlns:a16="http://schemas.microsoft.com/office/drawing/2014/main" id="{C5697C39-E0BB-D34B-86E0-7A6535CC3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09" y="3418533"/>
            <a:ext cx="2379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l-GR" sz="2800"/>
              <a:t>int </a:t>
            </a:r>
            <a:r>
              <a:rPr lang="en-US" altLang="el-GR" sz="2800" b="1">
                <a:solidFill>
                  <a:schemeClr val="hlink"/>
                </a:solidFill>
              </a:rPr>
              <a:t>*</a:t>
            </a:r>
            <a:r>
              <a:rPr lang="en-US" altLang="el-GR" sz="2800"/>
              <a:t>num_ptr;</a:t>
            </a:r>
            <a:endParaRPr lang="en-GB" altLang="el-GR" sz="2800"/>
          </a:p>
        </p:txBody>
      </p:sp>
      <p:sp>
        <p:nvSpPr>
          <p:cNvPr id="111637" name="Freeform 21">
            <a:extLst>
              <a:ext uri="{FF2B5EF4-FFF2-40B4-BE49-F238E27FC236}">
                <a16:creationId xmlns:a16="http://schemas.microsoft.com/office/drawing/2014/main" id="{24A0B5C4-8856-4AAD-19F1-BE15202A5804}"/>
              </a:ext>
            </a:extLst>
          </p:cNvPr>
          <p:cNvSpPr>
            <a:spLocks/>
          </p:cNvSpPr>
          <p:nvPr/>
        </p:nvSpPr>
        <p:spPr bwMode="auto">
          <a:xfrm>
            <a:off x="1664009" y="3851920"/>
            <a:ext cx="2286000" cy="1524000"/>
          </a:xfrm>
          <a:custGeom>
            <a:avLst/>
            <a:gdLst>
              <a:gd name="T0" fmla="*/ 0 w 1440"/>
              <a:gd name="T1" fmla="*/ 0 h 960"/>
              <a:gd name="T2" fmla="*/ 768 w 1440"/>
              <a:gd name="T3" fmla="*/ 336 h 960"/>
              <a:gd name="T4" fmla="*/ 1200 w 1440"/>
              <a:gd name="T5" fmla="*/ 768 h 960"/>
              <a:gd name="T6" fmla="*/ 1440 w 1440"/>
              <a:gd name="T7" fmla="*/ 960 h 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40" h="960">
                <a:moveTo>
                  <a:pt x="0" y="0"/>
                </a:moveTo>
                <a:cubicBezTo>
                  <a:pt x="284" y="104"/>
                  <a:pt x="568" y="208"/>
                  <a:pt x="768" y="336"/>
                </a:cubicBezTo>
                <a:cubicBezTo>
                  <a:pt x="968" y="464"/>
                  <a:pt x="1088" y="664"/>
                  <a:pt x="1200" y="768"/>
                </a:cubicBezTo>
                <a:cubicBezTo>
                  <a:pt x="1312" y="872"/>
                  <a:pt x="1376" y="916"/>
                  <a:pt x="1440" y="960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dash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l-GR"/>
          </a:p>
        </p:txBody>
      </p:sp>
      <p:sp>
        <p:nvSpPr>
          <p:cNvPr id="111638" name="Freeform 22">
            <a:extLst>
              <a:ext uri="{FF2B5EF4-FFF2-40B4-BE49-F238E27FC236}">
                <a16:creationId xmlns:a16="http://schemas.microsoft.com/office/drawing/2014/main" id="{E2B15DDF-D6F6-8636-FF75-1BCCC363E961}"/>
              </a:ext>
            </a:extLst>
          </p:cNvPr>
          <p:cNvSpPr>
            <a:spLocks/>
          </p:cNvSpPr>
          <p:nvPr/>
        </p:nvSpPr>
        <p:spPr bwMode="auto">
          <a:xfrm>
            <a:off x="1587809" y="3242320"/>
            <a:ext cx="2286000" cy="1295400"/>
          </a:xfrm>
          <a:custGeom>
            <a:avLst/>
            <a:gdLst>
              <a:gd name="T0" fmla="*/ 0 w 1440"/>
              <a:gd name="T1" fmla="*/ 0 h 816"/>
              <a:gd name="T2" fmla="*/ 288 w 1440"/>
              <a:gd name="T3" fmla="*/ 144 h 816"/>
              <a:gd name="T4" fmla="*/ 912 w 1440"/>
              <a:gd name="T5" fmla="*/ 96 h 816"/>
              <a:gd name="T6" fmla="*/ 1056 w 1440"/>
              <a:gd name="T7" fmla="*/ 576 h 816"/>
              <a:gd name="T8" fmla="*/ 1440 w 1440"/>
              <a:gd name="T9" fmla="*/ 816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0" h="816">
                <a:moveTo>
                  <a:pt x="0" y="0"/>
                </a:moveTo>
                <a:cubicBezTo>
                  <a:pt x="68" y="64"/>
                  <a:pt x="136" y="128"/>
                  <a:pt x="288" y="144"/>
                </a:cubicBezTo>
                <a:cubicBezTo>
                  <a:pt x="440" y="160"/>
                  <a:pt x="784" y="24"/>
                  <a:pt x="912" y="96"/>
                </a:cubicBezTo>
                <a:cubicBezTo>
                  <a:pt x="1040" y="168"/>
                  <a:pt x="968" y="456"/>
                  <a:pt x="1056" y="576"/>
                </a:cubicBezTo>
                <a:cubicBezTo>
                  <a:pt x="1144" y="696"/>
                  <a:pt x="1292" y="756"/>
                  <a:pt x="1440" y="816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dash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l-GR"/>
          </a:p>
        </p:txBody>
      </p:sp>
      <p:sp>
        <p:nvSpPr>
          <p:cNvPr id="111639" name="Text Box 23">
            <a:extLst>
              <a:ext uri="{FF2B5EF4-FFF2-40B4-BE49-F238E27FC236}">
                <a16:creationId xmlns:a16="http://schemas.microsoft.com/office/drawing/2014/main" id="{BB3E0476-0A17-A05E-B1A4-79A7BE7CF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16" y="4385320"/>
            <a:ext cx="1887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l-GR" sz="2800" dirty="0" err="1"/>
              <a:t>num_ptr</a:t>
            </a:r>
            <a:r>
              <a:rPr lang="en-US" altLang="el-GR" sz="2800" dirty="0"/>
              <a:t> =</a:t>
            </a:r>
            <a:endParaRPr lang="en-GB" altLang="el-GR" sz="2800" dirty="0"/>
          </a:p>
        </p:txBody>
      </p:sp>
      <p:sp>
        <p:nvSpPr>
          <p:cNvPr id="111640" name="Freeform 24">
            <a:extLst>
              <a:ext uri="{FF2B5EF4-FFF2-40B4-BE49-F238E27FC236}">
                <a16:creationId xmlns:a16="http://schemas.microsoft.com/office/drawing/2014/main" id="{8E13FDE4-ECEF-12DB-464F-72621E9A3606}"/>
              </a:ext>
            </a:extLst>
          </p:cNvPr>
          <p:cNvSpPr>
            <a:spLocks/>
          </p:cNvSpPr>
          <p:nvPr/>
        </p:nvSpPr>
        <p:spPr bwMode="auto">
          <a:xfrm>
            <a:off x="1651309" y="4842520"/>
            <a:ext cx="2451100" cy="685800"/>
          </a:xfrm>
          <a:custGeom>
            <a:avLst/>
            <a:gdLst>
              <a:gd name="T0" fmla="*/ 8 w 1544"/>
              <a:gd name="T1" fmla="*/ 0 h 432"/>
              <a:gd name="T2" fmla="*/ 56 w 1544"/>
              <a:gd name="T3" fmla="*/ 240 h 432"/>
              <a:gd name="T4" fmla="*/ 344 w 1544"/>
              <a:gd name="T5" fmla="*/ 240 h 432"/>
              <a:gd name="T6" fmla="*/ 536 w 1544"/>
              <a:gd name="T7" fmla="*/ 384 h 432"/>
              <a:gd name="T8" fmla="*/ 872 w 1544"/>
              <a:gd name="T9" fmla="*/ 432 h 432"/>
              <a:gd name="T10" fmla="*/ 1544 w 1544"/>
              <a:gd name="T11" fmla="*/ 384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44" h="432">
                <a:moveTo>
                  <a:pt x="8" y="0"/>
                </a:moveTo>
                <a:cubicBezTo>
                  <a:pt x="4" y="100"/>
                  <a:pt x="0" y="200"/>
                  <a:pt x="56" y="240"/>
                </a:cubicBezTo>
                <a:cubicBezTo>
                  <a:pt x="112" y="280"/>
                  <a:pt x="264" y="216"/>
                  <a:pt x="344" y="240"/>
                </a:cubicBezTo>
                <a:cubicBezTo>
                  <a:pt x="424" y="264"/>
                  <a:pt x="448" y="352"/>
                  <a:pt x="536" y="384"/>
                </a:cubicBezTo>
                <a:cubicBezTo>
                  <a:pt x="624" y="416"/>
                  <a:pt x="704" y="432"/>
                  <a:pt x="872" y="432"/>
                </a:cubicBezTo>
                <a:cubicBezTo>
                  <a:pt x="1040" y="432"/>
                  <a:pt x="1292" y="408"/>
                  <a:pt x="1544" y="384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dash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l-GR"/>
          </a:p>
        </p:txBody>
      </p:sp>
      <p:sp>
        <p:nvSpPr>
          <p:cNvPr id="111641" name="Text Box 25">
            <a:extLst>
              <a:ext uri="{FF2B5EF4-FFF2-40B4-BE49-F238E27FC236}">
                <a16:creationId xmlns:a16="http://schemas.microsoft.com/office/drawing/2014/main" id="{83AC7534-ED97-D8A1-3398-8880B972A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8609" y="5223520"/>
            <a:ext cx="768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l-GR" sz="1800" b="1">
                <a:solidFill>
                  <a:schemeClr val="accent1"/>
                </a:solidFill>
              </a:rPr>
              <a:t>1004</a:t>
            </a:r>
            <a:endParaRPr lang="en-GB" altLang="el-GR" sz="1800" b="1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83D52F-4C69-AF98-80AB-5E4F0B9A68CA}"/>
              </a:ext>
            </a:extLst>
          </p:cNvPr>
          <p:cNvSpPr txBox="1"/>
          <p:nvPr/>
        </p:nvSpPr>
        <p:spPr>
          <a:xfrm>
            <a:off x="5508104" y="1243992"/>
            <a:ext cx="3384376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800" dirty="0"/>
              <a:t>H </a:t>
            </a:r>
            <a:r>
              <a:rPr lang="el-GR" sz="1800" dirty="0"/>
              <a:t>πρόταση δεσμεύει χώρο στη μνήμη για την αποθήκευση διεύθυνσης μεταβλητής τύπου </a:t>
            </a:r>
            <a:r>
              <a:rPr lang="en-US" sz="1800" dirty="0"/>
              <a:t>int.</a:t>
            </a:r>
            <a:endParaRPr lang="el-GR" sz="1800" dirty="0"/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C088B1AF-685B-FA84-3073-B8A8F493B6FB}"/>
              </a:ext>
            </a:extLst>
          </p:cNvPr>
          <p:cNvSpPr/>
          <p:nvPr/>
        </p:nvSpPr>
        <p:spPr bwMode="auto">
          <a:xfrm>
            <a:off x="368609" y="3509020"/>
            <a:ext cx="2379663" cy="403225"/>
          </a:xfrm>
          <a:prstGeom prst="borderCallout1">
            <a:avLst>
              <a:gd name="adj1" fmla="val 60527"/>
              <a:gd name="adj2" fmla="val 98649"/>
              <a:gd name="adj3" fmla="val -426528"/>
              <a:gd name="adj4" fmla="val 217341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D4149-1C3D-325A-FB72-D167C0E875E7}"/>
              </a:ext>
            </a:extLst>
          </p:cNvPr>
          <p:cNvSpPr txBox="1"/>
          <p:nvPr/>
        </p:nvSpPr>
        <p:spPr>
          <a:xfrm>
            <a:off x="6416043" y="3851920"/>
            <a:ext cx="2664296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800" dirty="0"/>
              <a:t>H </a:t>
            </a:r>
            <a:r>
              <a:rPr lang="el-GR" sz="1800" dirty="0"/>
              <a:t>πρόταση αποδίδει τη διεύθυνση της μεταβλητής </a:t>
            </a:r>
            <a:r>
              <a:rPr lang="en-US" altLang="el-GR" sz="1800" dirty="0">
                <a:solidFill>
                  <a:srgbClr val="C00000"/>
                </a:solidFill>
              </a:rPr>
              <a:t>num</a:t>
            </a:r>
            <a:r>
              <a:rPr lang="el-GR" altLang="el-GR" sz="1800" dirty="0">
                <a:solidFill>
                  <a:srgbClr val="C00000"/>
                </a:solidFill>
              </a:rPr>
              <a:t> </a:t>
            </a:r>
            <a:r>
              <a:rPr lang="el-GR" sz="1800" dirty="0"/>
              <a:t>ως τιμή στη μεταβλητή δείκτη </a:t>
            </a:r>
            <a:r>
              <a:rPr lang="en-US" altLang="el-GR" sz="1800" dirty="0" err="1">
                <a:solidFill>
                  <a:srgbClr val="C00000"/>
                </a:solidFill>
              </a:rPr>
              <a:t>num_ptr</a:t>
            </a:r>
            <a:r>
              <a:rPr lang="el-GR" sz="1800" dirty="0"/>
              <a:t>.</a:t>
            </a:r>
          </a:p>
        </p:txBody>
      </p:sp>
      <p:sp>
        <p:nvSpPr>
          <p:cNvPr id="5" name="Callout: Line 4">
            <a:extLst>
              <a:ext uri="{FF2B5EF4-FFF2-40B4-BE49-F238E27FC236}">
                <a16:creationId xmlns:a16="http://schemas.microsoft.com/office/drawing/2014/main" id="{D1B8FCC6-5F52-463D-8CB6-22F220F8FA3B}"/>
              </a:ext>
            </a:extLst>
          </p:cNvPr>
          <p:cNvSpPr/>
          <p:nvPr/>
        </p:nvSpPr>
        <p:spPr bwMode="auto">
          <a:xfrm>
            <a:off x="128103" y="4466282"/>
            <a:ext cx="2845594" cy="403225"/>
          </a:xfrm>
          <a:prstGeom prst="borderCallout1">
            <a:avLst>
              <a:gd name="adj1" fmla="val 54928"/>
              <a:gd name="adj2" fmla="val 100156"/>
              <a:gd name="adj3" fmla="val -15252"/>
              <a:gd name="adj4" fmla="val 221698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20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1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1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1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 autoUpdateAnimBg="0"/>
      <p:bldP spid="111626" grpId="0" autoUpdateAnimBg="0"/>
      <p:bldP spid="111628" grpId="0" autoUpdateAnimBg="0"/>
      <p:bldP spid="111634" grpId="0" autoUpdateAnimBg="0"/>
      <p:bldP spid="111635" grpId="0" autoUpdateAnimBg="0"/>
      <p:bldP spid="111639" grpId="0" autoUpdateAnimBg="0"/>
      <p:bldP spid="11164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ABD04457-1B1C-6CB0-2F31-7A2DA2526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el-GR" dirty="0"/>
              <a:t>Απαντήσεις</a:t>
            </a:r>
            <a:r>
              <a:rPr lang="en-US" altLang="el-GR" dirty="0"/>
              <a:t> (2/2)</a:t>
            </a:r>
            <a:endParaRPr lang="en-GB" altLang="el-GR" dirty="0"/>
          </a:p>
        </p:txBody>
      </p:sp>
      <p:sp>
        <p:nvSpPr>
          <p:cNvPr id="111620" name="Text Box 4">
            <a:extLst>
              <a:ext uri="{FF2B5EF4-FFF2-40B4-BE49-F238E27FC236}">
                <a16:creationId xmlns:a16="http://schemas.microsoft.com/office/drawing/2014/main" id="{D103639B-C9A2-4ABD-4B38-CC8560C4F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895600"/>
            <a:ext cx="2701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l-GR" sz="3200" dirty="0"/>
              <a:t>int num = 12;</a:t>
            </a:r>
            <a:endParaRPr lang="en-GB" altLang="el-GR" sz="3200" dirty="0"/>
          </a:p>
        </p:txBody>
      </p:sp>
      <p:grpSp>
        <p:nvGrpSpPr>
          <p:cNvPr id="111627" name="Group 11">
            <a:extLst>
              <a:ext uri="{FF2B5EF4-FFF2-40B4-BE49-F238E27FC236}">
                <a16:creationId xmlns:a16="http://schemas.microsoft.com/office/drawing/2014/main" id="{68948921-9E78-79EF-5604-B747E0C474D4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429000"/>
            <a:ext cx="1143000" cy="3028950"/>
            <a:chOff x="2544" y="1584"/>
            <a:chExt cx="720" cy="1908"/>
          </a:xfrm>
        </p:grpSpPr>
        <p:grpSp>
          <p:nvGrpSpPr>
            <p:cNvPr id="111625" name="Group 9">
              <a:extLst>
                <a:ext uri="{FF2B5EF4-FFF2-40B4-BE49-F238E27FC236}">
                  <a16:creationId xmlns:a16="http://schemas.microsoft.com/office/drawing/2014/main" id="{AC90979D-EBC7-9F60-5E34-F200C63B57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1584"/>
              <a:ext cx="720" cy="1806"/>
              <a:chOff x="3120" y="1584"/>
              <a:chExt cx="720" cy="1806"/>
            </a:xfrm>
          </p:grpSpPr>
          <p:graphicFrame>
            <p:nvGraphicFramePr>
              <p:cNvPr id="111621" name="Object 5">
                <a:extLst>
                  <a:ext uri="{FF2B5EF4-FFF2-40B4-BE49-F238E27FC236}">
                    <a16:creationId xmlns:a16="http://schemas.microsoft.com/office/drawing/2014/main" id="{3101978F-394D-B93A-D8AA-97B4B70E10B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20" y="1728"/>
              <a:ext cx="701" cy="16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Worksheet" r:id="rId3" imgW="619620" imgH="1467269" progId="Excel.Sheet.8">
                      <p:embed/>
                    </p:oleObj>
                  </mc:Choice>
                  <mc:Fallback>
                    <p:oleObj name="Worksheet" r:id="rId3" imgW="619620" imgH="1467269" progId="Excel.Sheet.8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1728"/>
                            <a:ext cx="701" cy="16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1623" name="Object 7">
                <a:extLst>
                  <a:ext uri="{FF2B5EF4-FFF2-40B4-BE49-F238E27FC236}">
                    <a16:creationId xmlns:a16="http://schemas.microsoft.com/office/drawing/2014/main" id="{099B95BB-8AC3-A7C9-A988-CA631EEA8F7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20" y="1584"/>
              <a:ext cx="72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5" imgW="1028844" imgH="266737" progId="Paint.Picture">
                      <p:embed/>
                    </p:oleObj>
                  </mc:Choice>
                  <mc:Fallback>
                    <p:oleObj name="Bitmap Image" r:id="rId5" imgW="1028844" imgH="266737" progId="Paint.Picture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1584"/>
                            <a:ext cx="720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1624" name="Object 8">
              <a:extLst>
                <a:ext uri="{FF2B5EF4-FFF2-40B4-BE49-F238E27FC236}">
                  <a16:creationId xmlns:a16="http://schemas.microsoft.com/office/drawing/2014/main" id="{7663C7ED-E454-6653-EFAF-EB5C2DC735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4" y="3312"/>
            <a:ext cx="720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7" imgW="1028844" imgH="285866" progId="Paint.Picture">
                    <p:embed/>
                  </p:oleObj>
                </mc:Choice>
                <mc:Fallback>
                  <p:oleObj name="Bitmap Image" r:id="rId7" imgW="1028844" imgH="285866" progId="Paint.Picture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312"/>
                          <a:ext cx="720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1626" name="Text Box 10">
            <a:extLst>
              <a:ext uri="{FF2B5EF4-FFF2-40B4-BE49-F238E27FC236}">
                <a16:creationId xmlns:a16="http://schemas.microsoft.com/office/drawing/2014/main" id="{CA7E718C-03B0-4B8F-A8DD-CD28B8AFB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895600"/>
            <a:ext cx="1235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altLang="el-GR" sz="2800"/>
              <a:t>Μνήμη</a:t>
            </a:r>
            <a:endParaRPr lang="en-GB" altLang="el-GR" sz="2800"/>
          </a:p>
        </p:txBody>
      </p:sp>
      <p:sp>
        <p:nvSpPr>
          <p:cNvPr id="111628" name="Text Box 12">
            <a:extLst>
              <a:ext uri="{FF2B5EF4-FFF2-40B4-BE49-F238E27FC236}">
                <a16:creationId xmlns:a16="http://schemas.microsoft.com/office/drawing/2014/main" id="{F787425F-B54E-E544-D757-56E5D5280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352800"/>
            <a:ext cx="2316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altLang="el-GR" sz="2800" b="1">
                <a:solidFill>
                  <a:schemeClr val="hlink"/>
                </a:solidFill>
              </a:rPr>
              <a:t>Διευθύνσεις</a:t>
            </a:r>
            <a:endParaRPr lang="en-GB" altLang="el-GR" sz="2800" b="1">
              <a:solidFill>
                <a:schemeClr val="hlink"/>
              </a:solidFill>
            </a:endParaRPr>
          </a:p>
        </p:txBody>
      </p:sp>
      <p:graphicFrame>
        <p:nvGraphicFramePr>
          <p:cNvPr id="111629" name="Object 13">
            <a:extLst>
              <a:ext uri="{FF2B5EF4-FFF2-40B4-BE49-F238E27FC236}">
                <a16:creationId xmlns:a16="http://schemas.microsoft.com/office/drawing/2014/main" id="{AEEF743B-5CE5-6E05-2889-9A2324C121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3962400"/>
          <a:ext cx="1106488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619620" imgH="981380" progId="Excel.Sheet.8">
                  <p:embed/>
                </p:oleObj>
              </mc:Choice>
              <mc:Fallback>
                <p:oleObj name="Worksheet" r:id="rId9" imgW="619620" imgH="981380" progId="Excel.Shee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962400"/>
                        <a:ext cx="1106488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3" name="AutoShape 17">
            <a:extLst>
              <a:ext uri="{FF2B5EF4-FFF2-40B4-BE49-F238E27FC236}">
                <a16:creationId xmlns:a16="http://schemas.microsoft.com/office/drawing/2014/main" id="{EC5F9259-23BF-8246-0667-6A37856F4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981200"/>
            <a:ext cx="3657600" cy="762000"/>
          </a:xfrm>
          <a:prstGeom prst="curvedDownArrow">
            <a:avLst>
              <a:gd name="adj1" fmla="val 96222"/>
              <a:gd name="adj2" fmla="val 192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l-GR"/>
          </a:p>
        </p:txBody>
      </p:sp>
      <p:sp>
        <p:nvSpPr>
          <p:cNvPr id="111634" name="Text Box 18">
            <a:extLst>
              <a:ext uri="{FF2B5EF4-FFF2-40B4-BE49-F238E27FC236}">
                <a16:creationId xmlns:a16="http://schemas.microsoft.com/office/drawing/2014/main" id="{3132E931-B5E1-C346-6D8A-49C97AF1D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4331" y="3938732"/>
            <a:ext cx="134230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l-GR" altLang="el-GR" sz="2800" b="1" dirty="0">
                <a:solidFill>
                  <a:schemeClr val="hlink"/>
                </a:solidFill>
              </a:rPr>
              <a:t>&amp;</a:t>
            </a:r>
            <a:r>
              <a:rPr lang="en-US" altLang="el-GR" sz="2800" dirty="0"/>
              <a:t>num;</a:t>
            </a:r>
            <a:endParaRPr lang="en-GB" altLang="el-GR" sz="2800" dirty="0"/>
          </a:p>
        </p:txBody>
      </p:sp>
      <p:sp>
        <p:nvSpPr>
          <p:cNvPr id="111635" name="Text Box 19">
            <a:extLst>
              <a:ext uri="{FF2B5EF4-FFF2-40B4-BE49-F238E27FC236}">
                <a16:creationId xmlns:a16="http://schemas.microsoft.com/office/drawing/2014/main" id="{C5697C39-E0BB-D34B-86E0-7A6535CC3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457807"/>
            <a:ext cx="2379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l-GR" sz="2800" dirty="0"/>
              <a:t>int </a:t>
            </a:r>
            <a:r>
              <a:rPr lang="en-US" altLang="el-GR" sz="2800" b="1" dirty="0">
                <a:solidFill>
                  <a:schemeClr val="hlink"/>
                </a:solidFill>
              </a:rPr>
              <a:t>*</a:t>
            </a:r>
            <a:r>
              <a:rPr lang="en-US" altLang="el-GR" sz="2800" dirty="0" err="1"/>
              <a:t>num_ptr</a:t>
            </a:r>
            <a:r>
              <a:rPr lang="en-US" altLang="el-GR" sz="2800" dirty="0"/>
              <a:t>;</a:t>
            </a:r>
            <a:endParaRPr lang="en-GB" altLang="el-GR" sz="2800" dirty="0"/>
          </a:p>
        </p:txBody>
      </p:sp>
      <p:sp>
        <p:nvSpPr>
          <p:cNvPr id="111639" name="Text Box 23">
            <a:extLst>
              <a:ext uri="{FF2B5EF4-FFF2-40B4-BE49-F238E27FC236}">
                <a16:creationId xmlns:a16="http://schemas.microsoft.com/office/drawing/2014/main" id="{BB3E0476-0A17-A05E-B1A4-79A7BE7CF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09" y="3932382"/>
            <a:ext cx="1887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l-GR" sz="2800" dirty="0" err="1"/>
              <a:t>num_ptr</a:t>
            </a:r>
            <a:r>
              <a:rPr lang="en-US" altLang="el-GR" sz="2800" dirty="0"/>
              <a:t> =</a:t>
            </a:r>
            <a:endParaRPr lang="en-GB" altLang="el-GR" sz="2800" dirty="0"/>
          </a:p>
        </p:txBody>
      </p:sp>
      <p:sp>
        <p:nvSpPr>
          <p:cNvPr id="111641" name="Text Box 25">
            <a:extLst>
              <a:ext uri="{FF2B5EF4-FFF2-40B4-BE49-F238E27FC236}">
                <a16:creationId xmlns:a16="http://schemas.microsoft.com/office/drawing/2014/main" id="{83AC7534-ED97-D8A1-3398-8880B972A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410200"/>
            <a:ext cx="768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l-GR" sz="1800" b="1">
                <a:solidFill>
                  <a:schemeClr val="accent1"/>
                </a:solidFill>
              </a:rPr>
              <a:t>1004</a:t>
            </a:r>
            <a:endParaRPr lang="en-GB" altLang="el-GR" sz="1800" b="1">
              <a:solidFill>
                <a:schemeClr val="accent1"/>
              </a:solidFill>
            </a:endParaRPr>
          </a:p>
        </p:txBody>
      </p:sp>
      <p:sp>
        <p:nvSpPr>
          <p:cNvPr id="111642" name="Text Box 26">
            <a:extLst>
              <a:ext uri="{FF2B5EF4-FFF2-40B4-BE49-F238E27FC236}">
                <a16:creationId xmlns:a16="http://schemas.microsoft.com/office/drawing/2014/main" id="{BDEAACA2-4F5B-BBED-C7A8-A56D79729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216" y="5227638"/>
            <a:ext cx="1563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altLang="el-GR" b="1" dirty="0">
                <a:solidFill>
                  <a:schemeClr val="hlink"/>
                </a:solidFill>
              </a:rPr>
              <a:t>&amp;</a:t>
            </a:r>
            <a:r>
              <a:rPr lang="en-US" altLang="el-GR" dirty="0" err="1"/>
              <a:t>num_ptr</a:t>
            </a:r>
            <a:endParaRPr lang="en-GB" altLang="el-G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83D52F-4C69-AF98-80AB-5E4F0B9A68CA}"/>
              </a:ext>
            </a:extLst>
          </p:cNvPr>
          <p:cNvSpPr txBox="1"/>
          <p:nvPr/>
        </p:nvSpPr>
        <p:spPr>
          <a:xfrm>
            <a:off x="5229312" y="1215868"/>
            <a:ext cx="3384376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dirty="0"/>
              <a:t>Η έκφραση έχει ως τιμή την</a:t>
            </a:r>
            <a:r>
              <a:rPr lang="en-US" sz="1800" dirty="0"/>
              <a:t> </a:t>
            </a:r>
            <a:r>
              <a:rPr lang="el-GR" sz="1800" dirty="0"/>
              <a:t>τιμή της ακέραιας μεταβλητής που είναι αποθηκευμένη</a:t>
            </a:r>
            <a:r>
              <a:rPr lang="en-US" sz="1800" dirty="0"/>
              <a:t> </a:t>
            </a:r>
            <a:r>
              <a:rPr lang="el-GR" sz="1800" dirty="0"/>
              <a:t>στη θέση μνήμης στην οποία δείχνει ο δείκτης </a:t>
            </a:r>
            <a:r>
              <a:rPr lang="en-US" altLang="el-GR" sz="1800" dirty="0" err="1">
                <a:solidFill>
                  <a:srgbClr val="C00000"/>
                </a:solidFill>
              </a:rPr>
              <a:t>num_ptr</a:t>
            </a:r>
            <a:r>
              <a:rPr lang="el-GR" sz="1800" dirty="0"/>
              <a:t>. Δηλαδή 12.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C088B1AF-685B-FA84-3073-B8A8F493B6FB}"/>
              </a:ext>
            </a:extLst>
          </p:cNvPr>
          <p:cNvSpPr/>
          <p:nvPr/>
        </p:nvSpPr>
        <p:spPr bwMode="auto">
          <a:xfrm>
            <a:off x="344791" y="4529484"/>
            <a:ext cx="2222197" cy="403225"/>
          </a:xfrm>
          <a:prstGeom prst="borderCallout1">
            <a:avLst>
              <a:gd name="adj1" fmla="val 52128"/>
              <a:gd name="adj2" fmla="val 99598"/>
              <a:gd name="adj3" fmla="val -600106"/>
              <a:gd name="adj4" fmla="val 213545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B3C587B3-7594-F206-762B-18F650D79BF8}"/>
              </a:ext>
            </a:extLst>
          </p:cNvPr>
          <p:cNvSpPr/>
          <p:nvPr/>
        </p:nvSpPr>
        <p:spPr bwMode="auto">
          <a:xfrm>
            <a:off x="344791" y="5274566"/>
            <a:ext cx="2379663" cy="403225"/>
          </a:xfrm>
          <a:prstGeom prst="borderCallout1">
            <a:avLst>
              <a:gd name="adj1" fmla="val 57728"/>
              <a:gd name="adj2" fmla="val 98175"/>
              <a:gd name="adj3" fmla="val -321229"/>
              <a:gd name="adj4" fmla="val 288098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A4AE1-B8D5-B74C-A9E2-E0C5224FC75A}"/>
              </a:ext>
            </a:extLst>
          </p:cNvPr>
          <p:cNvSpPr txBox="1"/>
          <p:nvPr/>
        </p:nvSpPr>
        <p:spPr>
          <a:xfrm>
            <a:off x="6921500" y="3864769"/>
            <a:ext cx="1960216" cy="107721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600" dirty="0"/>
              <a:t>Η έκφραση έχει ως τιμή τη διεύθυνση της μεταβλητής δείκτη </a:t>
            </a:r>
            <a:r>
              <a:rPr lang="en-US" altLang="el-GR" sz="1600" dirty="0" err="1">
                <a:solidFill>
                  <a:srgbClr val="C00000"/>
                </a:solidFill>
              </a:rPr>
              <a:t>num_ptr</a:t>
            </a:r>
            <a:r>
              <a:rPr lang="el-GR" sz="16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C54DB0-5134-72B2-3D86-D29D5AEBA259}"/>
              </a:ext>
            </a:extLst>
          </p:cNvPr>
          <p:cNvSpPr txBox="1"/>
          <p:nvPr/>
        </p:nvSpPr>
        <p:spPr>
          <a:xfrm>
            <a:off x="6430169" y="4976812"/>
            <a:ext cx="2683669" cy="138499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400" dirty="0"/>
              <a:t>Για την αποθήκευση της διεύθυνσης της</a:t>
            </a:r>
            <a:r>
              <a:rPr lang="en-US" altLang="el-GR" sz="1400" dirty="0">
                <a:solidFill>
                  <a:srgbClr val="C00000"/>
                </a:solidFill>
              </a:rPr>
              <a:t> </a:t>
            </a:r>
            <a:r>
              <a:rPr lang="en-US" altLang="el-GR" sz="1400" dirty="0" err="1">
                <a:solidFill>
                  <a:srgbClr val="C00000"/>
                </a:solidFill>
              </a:rPr>
              <a:t>num_ptr</a:t>
            </a:r>
            <a:r>
              <a:rPr lang="el-GR" sz="1400" dirty="0"/>
              <a:t> απαιτείται η δήλωση μιας μεταβλητής δείκτη σε δείκτη σε </a:t>
            </a:r>
            <a:r>
              <a:rPr lang="en-US" sz="1400" dirty="0"/>
              <a:t>int. i.e., int **</a:t>
            </a:r>
            <a:r>
              <a:rPr lang="en-US" sz="1400" dirty="0" err="1"/>
              <a:t>ptr</a:t>
            </a:r>
            <a:r>
              <a:rPr lang="en-US" sz="1400" dirty="0"/>
              <a:t>;</a:t>
            </a:r>
          </a:p>
          <a:p>
            <a:r>
              <a:rPr lang="en-US" sz="1400" dirty="0" err="1"/>
              <a:t>ptr</a:t>
            </a:r>
            <a:r>
              <a:rPr lang="en-US" sz="1400" dirty="0"/>
              <a:t>= &amp;</a:t>
            </a:r>
            <a:r>
              <a:rPr lang="en-US" sz="1400" dirty="0" err="1"/>
              <a:t>num_ptr</a:t>
            </a:r>
            <a:r>
              <a:rPr lang="en-US" sz="1400" dirty="0"/>
              <a:t>;</a:t>
            </a:r>
            <a:endParaRPr lang="el-GR" sz="1400" dirty="0"/>
          </a:p>
        </p:txBody>
      </p:sp>
      <p:sp>
        <p:nvSpPr>
          <p:cNvPr id="9" name="Text Box 19">
            <a:extLst>
              <a:ext uri="{FF2B5EF4-FFF2-40B4-BE49-F238E27FC236}">
                <a16:creationId xmlns:a16="http://schemas.microsoft.com/office/drawing/2014/main" id="{483A8885-F46F-4F3B-F1A2-1816DF34B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851" y="4457700"/>
            <a:ext cx="17604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l-GR" sz="2800" b="1" dirty="0">
                <a:solidFill>
                  <a:schemeClr val="hlink"/>
                </a:solidFill>
              </a:rPr>
              <a:t>*</a:t>
            </a:r>
            <a:r>
              <a:rPr lang="en-US" altLang="el-GR" sz="2800" dirty="0" err="1"/>
              <a:t>num_ptr</a:t>
            </a:r>
            <a:endParaRPr lang="en-GB" altLang="el-GR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1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 autoUpdateAnimBg="0"/>
      <p:bldP spid="111626" grpId="0" autoUpdateAnimBg="0"/>
      <p:bldP spid="111628" grpId="0" autoUpdateAnimBg="0"/>
      <p:bldP spid="111634" grpId="0" autoUpdateAnimBg="0"/>
      <p:bldP spid="111635" grpId="0" autoUpdateAnimBg="0"/>
      <p:bldP spid="111639" grpId="0" autoUpdateAnimBg="0"/>
      <p:bldP spid="111641" grpId="0" autoUpdateAnimBg="0"/>
      <p:bldP spid="111642" grpId="0" autoUpdateAnimBg="0"/>
      <p:bldP spid="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E49DDC03-BF75-6460-E042-9AA4EFEE5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l-GR" altLang="el-GR" dirty="0"/>
              <a:t>Παράδειγμα 1 (1/3)</a:t>
            </a:r>
            <a:endParaRPr lang="en-GB" altLang="el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F2B29-337A-6463-DD01-1E78DC20D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484784"/>
            <a:ext cx="5904524" cy="43229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BFAD2C-4080-8EC2-D0AC-682AD1F0A16E}"/>
              </a:ext>
            </a:extLst>
          </p:cNvPr>
          <p:cNvSpPr txBox="1"/>
          <p:nvPr/>
        </p:nvSpPr>
        <p:spPr>
          <a:xfrm>
            <a:off x="5868144" y="2936163"/>
            <a:ext cx="2683669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400" dirty="0"/>
              <a:t>Η </a:t>
            </a:r>
            <a:r>
              <a:rPr lang="en-US" sz="1400" b="1" dirty="0" err="1">
                <a:solidFill>
                  <a:srgbClr val="C00000"/>
                </a:solidFill>
              </a:rPr>
              <a:t>ptr</a:t>
            </a:r>
            <a:r>
              <a:rPr lang="el-GR" sz="1400" dirty="0"/>
              <a:t> είναι μεταβλητή δείκτη που δείχνει σε δείκτη σε </a:t>
            </a:r>
            <a:r>
              <a:rPr lang="en-US" sz="1400" dirty="0"/>
              <a:t>int</a:t>
            </a:r>
            <a:endParaRPr lang="el-G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5E7588-61C0-6693-16E9-B6AA881BA676}"/>
              </a:ext>
            </a:extLst>
          </p:cNvPr>
          <p:cNvSpPr txBox="1"/>
          <p:nvPr/>
        </p:nvSpPr>
        <p:spPr>
          <a:xfrm>
            <a:off x="5868143" y="2071159"/>
            <a:ext cx="2683669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400" dirty="0"/>
              <a:t>Η </a:t>
            </a:r>
            <a:r>
              <a:rPr lang="en-US" sz="1400" b="1" dirty="0" err="1">
                <a:solidFill>
                  <a:srgbClr val="C00000"/>
                </a:solidFill>
              </a:rPr>
              <a:t>num_ptr</a:t>
            </a:r>
            <a:r>
              <a:rPr lang="el-GR" sz="1400" dirty="0"/>
              <a:t> είναι μεταβλητή δείκτη που δείχνει σε </a:t>
            </a:r>
            <a:r>
              <a:rPr lang="en-US" sz="1400" dirty="0"/>
              <a:t>int</a:t>
            </a:r>
            <a:endParaRPr lang="el-GR" sz="1400" dirty="0"/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91205A04-B74B-BF8B-4876-84D19E88225D}"/>
              </a:ext>
            </a:extLst>
          </p:cNvPr>
          <p:cNvSpPr/>
          <p:nvPr/>
        </p:nvSpPr>
        <p:spPr bwMode="auto">
          <a:xfrm>
            <a:off x="971600" y="3068960"/>
            <a:ext cx="1944216" cy="288032"/>
          </a:xfrm>
          <a:prstGeom prst="borderCallout1">
            <a:avLst>
              <a:gd name="adj1" fmla="val 46185"/>
              <a:gd name="adj2" fmla="val 101408"/>
              <a:gd name="adj3" fmla="val -251997"/>
              <a:gd name="adj4" fmla="val 253729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E8EB24F5-0ACA-D6A1-A1AD-27998B581527}"/>
              </a:ext>
            </a:extLst>
          </p:cNvPr>
          <p:cNvSpPr/>
          <p:nvPr/>
        </p:nvSpPr>
        <p:spPr bwMode="auto">
          <a:xfrm>
            <a:off x="955044" y="3366498"/>
            <a:ext cx="1944216" cy="288032"/>
          </a:xfrm>
          <a:prstGeom prst="borderCallout1">
            <a:avLst>
              <a:gd name="adj1" fmla="val 46185"/>
              <a:gd name="adj2" fmla="val 101408"/>
              <a:gd name="adj3" fmla="val -67789"/>
              <a:gd name="adj4" fmla="val 253148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725158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E49DDC03-BF75-6460-E042-9AA4EFEE5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l-GR" altLang="el-GR" dirty="0"/>
              <a:t>Παράδειγμα 1 (2/3)</a:t>
            </a:r>
            <a:endParaRPr lang="en-GB" altLang="el-G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23D170-B644-C27C-D2CC-24B322A17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4" y="1556792"/>
            <a:ext cx="8573243" cy="426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96860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4DA272-65E8-79D3-0F4D-06D400488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924944"/>
            <a:ext cx="6035563" cy="3238781"/>
          </a:xfrm>
          <a:prstGeom prst="rect">
            <a:avLst/>
          </a:prstGeom>
        </p:spPr>
      </p:pic>
      <p:sp>
        <p:nvSpPr>
          <p:cNvPr id="104450" name="Rectangle 2">
            <a:extLst>
              <a:ext uri="{FF2B5EF4-FFF2-40B4-BE49-F238E27FC236}">
                <a16:creationId xmlns:a16="http://schemas.microsoft.com/office/drawing/2014/main" id="{E49DDC03-BF75-6460-E042-9AA4EFEE5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l-GR" altLang="el-GR" dirty="0"/>
              <a:t>Παράδειγμα 1 (3/3)</a:t>
            </a:r>
            <a:endParaRPr lang="en-GB" altLang="el-G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23D170-B644-C27C-D2CC-24B322A17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256" y="1143000"/>
            <a:ext cx="4773744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295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9207971-5140-805A-5A8B-C320C7932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5164" y="10160"/>
            <a:ext cx="7793038" cy="1143000"/>
          </a:xfrm>
          <a:noFill/>
          <a:ln/>
        </p:spPr>
        <p:txBody>
          <a:bodyPr lIns="92075" tIns="46038" rIns="92075" bIns="46038"/>
          <a:lstStyle/>
          <a:p>
            <a:r>
              <a:rPr lang="en-GB" altLang="el-GR" sz="4000" dirty="0" err="1"/>
              <a:t>Δείκ</a:t>
            </a:r>
            <a:r>
              <a:rPr lang="el-GR" altLang="el-GR" sz="4000"/>
              <a:t>της σε πίνακα - </a:t>
            </a:r>
            <a:br>
              <a:rPr lang="el-GR" altLang="el-GR" sz="4000" dirty="0"/>
            </a:br>
            <a:r>
              <a:rPr lang="el-GR" altLang="el-GR" sz="4000" dirty="0"/>
              <a:t>Αριθμητική Δεικτών</a:t>
            </a:r>
            <a:endParaRPr lang="en-GB" altLang="el-GR" sz="4000" dirty="0">
              <a:latin typeface="Times New Roman Greek" panose="02020603050405020304" pitchFamily="18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4D213C1-A80B-E5A3-7014-E23BE4D96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04975"/>
            <a:ext cx="8952691" cy="1265312"/>
          </a:xfrm>
          <a:noFill/>
          <a:ln/>
        </p:spPr>
        <p:txBody>
          <a:bodyPr lIns="92075" tIns="46038" rIns="92075" bIns="46038"/>
          <a:lstStyle/>
          <a:p>
            <a:r>
              <a:rPr lang="el-GR" altLang="el-GR" sz="2800" dirty="0"/>
              <a:t>Το όνομα του πίνακα </a:t>
            </a:r>
            <a:r>
              <a:rPr lang="en-US" altLang="el-GR" sz="2800" dirty="0"/>
              <a:t>(</a:t>
            </a:r>
            <a:r>
              <a:rPr lang="en-US" altLang="el-GR" sz="2800" b="1" dirty="0" err="1"/>
              <a:t>ar</a:t>
            </a:r>
            <a:r>
              <a:rPr lang="en-US" altLang="el-GR" sz="2800" dirty="0"/>
              <a:t>) </a:t>
            </a:r>
            <a:r>
              <a:rPr lang="el-GR" altLang="el-GR" sz="2800" dirty="0"/>
              <a:t>είναι δείκτης στο πρώτο στοιχείο του πίνακα. </a:t>
            </a:r>
            <a:endParaRPr lang="en-US" altLang="el-GR" sz="2800" dirty="0"/>
          </a:p>
          <a:p>
            <a:pPr lvl="1"/>
            <a:r>
              <a:rPr lang="el-GR" altLang="el-GR" sz="2400" dirty="0"/>
              <a:t>Αυτός είναι ο λόγος που οι πίνακες ως ορίσματα συναρτήσεων</a:t>
            </a:r>
            <a:r>
              <a:rPr lang="en-US" altLang="el-GR" sz="2400" dirty="0"/>
              <a:t> </a:t>
            </a:r>
            <a:r>
              <a:rPr lang="el-GR" altLang="el-GR" sz="2400" dirty="0"/>
              <a:t>περνάνε </a:t>
            </a:r>
            <a:r>
              <a:rPr lang="en-US" altLang="el-GR" sz="2400" dirty="0"/>
              <a:t>by reference.</a:t>
            </a:r>
            <a:endParaRPr lang="el-GR" altLang="el-GR" sz="2400" dirty="0"/>
          </a:p>
          <a:p>
            <a:pPr marL="0" indent="0">
              <a:buNone/>
            </a:pPr>
            <a:r>
              <a:rPr lang="el-GR" altLang="el-GR" sz="2800" dirty="0"/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3FB2F-53E1-956E-6B9B-7247FB22C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275" y="1153160"/>
            <a:ext cx="7637231" cy="82201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AD3C5D3-7F3A-3ABA-CB8C-FC8C7BB43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8520" y="3581978"/>
            <a:ext cx="8952691" cy="1883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altLang="el-GR" sz="2400" dirty="0"/>
              <a:t>Αν αυξήσουμε τον </a:t>
            </a:r>
            <a:r>
              <a:rPr lang="en-US" altLang="el-GR" sz="2400" b="1" dirty="0" err="1"/>
              <a:t>arPtr</a:t>
            </a:r>
            <a:r>
              <a:rPr lang="en-US" altLang="el-GR" sz="2400" dirty="0"/>
              <a:t> </a:t>
            </a:r>
            <a:r>
              <a:rPr lang="el-GR" altLang="el-GR" sz="2400" dirty="0"/>
              <a:t>κατά ένα θα δείχνει στο δεύτερο στοιχείο του πίνακα, δηλαδή στο </a:t>
            </a:r>
            <a:r>
              <a:rPr lang="en-US" altLang="el-GR" sz="2400" b="1" dirty="0" err="1"/>
              <a:t>ar</a:t>
            </a:r>
            <a:r>
              <a:rPr lang="en-US" altLang="el-GR" sz="2400" b="1" dirty="0"/>
              <a:t>[1]</a:t>
            </a:r>
            <a:r>
              <a:rPr lang="en-US" altLang="el-GR" sz="2400" dirty="0"/>
              <a:t>.</a:t>
            </a:r>
          </a:p>
          <a:p>
            <a:pPr lvl="1"/>
            <a:r>
              <a:rPr lang="el-GR" altLang="el-GR" sz="2000" dirty="0"/>
              <a:t>Αυτό μας επιτρέπει να αναφερθούμε στο δεύτερο στοιχείο του πίνακα με την έκφραση  </a:t>
            </a:r>
            <a:r>
              <a:rPr lang="el-GR" altLang="el-GR" sz="2000" b="1" dirty="0"/>
              <a:t>*(</a:t>
            </a:r>
            <a:r>
              <a:rPr lang="en-US" altLang="el-GR" sz="2000" b="1" dirty="0"/>
              <a:t>arPtr+1)</a:t>
            </a:r>
            <a:r>
              <a:rPr lang="el-GR" altLang="el-GR" sz="2000" b="1" dirty="0"/>
              <a:t> </a:t>
            </a:r>
            <a:r>
              <a:rPr lang="el-GR" altLang="el-GR" sz="2000" dirty="0"/>
              <a:t>η την</a:t>
            </a:r>
            <a:r>
              <a:rPr lang="en-US" altLang="el-GR" sz="2000" dirty="0"/>
              <a:t> </a:t>
            </a:r>
            <a:r>
              <a:rPr lang="en-US" altLang="el-GR" sz="2000" b="1" dirty="0"/>
              <a:t>*(++</a:t>
            </a:r>
            <a:r>
              <a:rPr lang="en-US" altLang="el-GR" sz="2000" b="1" dirty="0" err="1"/>
              <a:t>arPtr</a:t>
            </a:r>
            <a:r>
              <a:rPr lang="en-US" altLang="el-GR" sz="2000" b="1" dirty="0"/>
              <a:t>) </a:t>
            </a:r>
            <a:r>
              <a:rPr lang="el-GR" altLang="el-GR" sz="2000" dirty="0"/>
              <a:t>η την </a:t>
            </a:r>
            <a:r>
              <a:rPr lang="en-US" altLang="el-GR" sz="2000" b="1" dirty="0"/>
              <a:t>*(ar+1). </a:t>
            </a:r>
            <a:r>
              <a:rPr lang="el-GR" altLang="el-GR" sz="2000" dirty="0"/>
              <a:t>Προσέξτε! η έκφραση </a:t>
            </a:r>
            <a:r>
              <a:rPr lang="en-US" altLang="el-GR" sz="2000" b="1" dirty="0">
                <a:solidFill>
                  <a:srgbClr val="FF0000"/>
                </a:solidFill>
              </a:rPr>
              <a:t>*(++</a:t>
            </a:r>
            <a:r>
              <a:rPr lang="en-US" altLang="el-GR" sz="2000" b="1" dirty="0" err="1">
                <a:solidFill>
                  <a:srgbClr val="FF0000"/>
                </a:solidFill>
              </a:rPr>
              <a:t>ar</a:t>
            </a:r>
            <a:r>
              <a:rPr lang="en-US" altLang="el-GR" sz="2000" b="1" dirty="0">
                <a:solidFill>
                  <a:srgbClr val="FF0000"/>
                </a:solidFill>
              </a:rPr>
              <a:t>) </a:t>
            </a:r>
            <a:r>
              <a:rPr lang="el-GR" altLang="el-GR" sz="2000" dirty="0">
                <a:solidFill>
                  <a:srgbClr val="FF0000"/>
                </a:solidFill>
              </a:rPr>
              <a:t>δεν είναι αποδεκτή </a:t>
            </a:r>
            <a:r>
              <a:rPr lang="el-GR" altLang="el-GR" sz="2000" dirty="0"/>
              <a:t>καθώς η </a:t>
            </a:r>
            <a:r>
              <a:rPr lang="en-US" altLang="el-GR" sz="2000" dirty="0" err="1"/>
              <a:t>ar</a:t>
            </a:r>
            <a:r>
              <a:rPr lang="en-US" altLang="el-GR" sz="2000" dirty="0"/>
              <a:t> </a:t>
            </a:r>
            <a:r>
              <a:rPr lang="el-GR" altLang="el-GR" sz="2000" dirty="0"/>
              <a:t>είναι σταθερά.</a:t>
            </a:r>
            <a:endParaRPr lang="en-US" altLang="el-GR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3D768-B68C-FD99-E0F0-D557340FA25A}"/>
              </a:ext>
            </a:extLst>
          </p:cNvPr>
          <p:cNvSpPr txBox="1"/>
          <p:nvPr/>
        </p:nvSpPr>
        <p:spPr>
          <a:xfrm>
            <a:off x="-29557" y="5704840"/>
            <a:ext cx="9144000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altLang="el-GR" sz="2000" dirty="0"/>
              <a:t>Έτσι αν η τιμή του </a:t>
            </a:r>
            <a:r>
              <a:rPr lang="en-US" altLang="el-GR" sz="2000" dirty="0" err="1"/>
              <a:t>arPtr</a:t>
            </a:r>
            <a:r>
              <a:rPr lang="en-US" altLang="el-GR" sz="2000" dirty="0"/>
              <a:t> </a:t>
            </a:r>
            <a:r>
              <a:rPr lang="el-GR" altLang="el-GR" sz="2000" dirty="0"/>
              <a:t>είναι 1000 η τιμή του </a:t>
            </a:r>
            <a:r>
              <a:rPr lang="en-US" altLang="el-GR" sz="2000" dirty="0"/>
              <a:t>arPtr+1 </a:t>
            </a:r>
            <a:r>
              <a:rPr lang="el-GR" altLang="el-GR" sz="2000" dirty="0"/>
              <a:t>δεν θα είναι 1001 αλλά η διεύθυνση του επόμενου ακέραιου στην μνήμη (</a:t>
            </a:r>
            <a:r>
              <a:rPr lang="el-GR" altLang="el-GR" sz="2000" b="1" dirty="0"/>
              <a:t>αριθμητική δεικτών</a:t>
            </a:r>
            <a:r>
              <a:rPr lang="el-GR" altLang="el-GR" sz="20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01647961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autoUpdateAnimBg="0"/>
      <p:bldP spid="4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3B0D02-3AD5-88D8-E4A9-F89AC8F6B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051" y="1156271"/>
            <a:ext cx="6305878" cy="5018058"/>
          </a:xfrm>
          <a:prstGeom prst="rect">
            <a:avLst/>
          </a:prstGeom>
        </p:spPr>
      </p:pic>
      <p:sp>
        <p:nvSpPr>
          <p:cNvPr id="104450" name="Rectangle 2">
            <a:extLst>
              <a:ext uri="{FF2B5EF4-FFF2-40B4-BE49-F238E27FC236}">
                <a16:creationId xmlns:a16="http://schemas.microsoft.com/office/drawing/2014/main" id="{E49DDC03-BF75-6460-E042-9AA4EFEE5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l-GR" altLang="el-GR" dirty="0"/>
              <a:t>Παράδειγμα 2 (1/3)</a:t>
            </a:r>
            <a:endParaRPr lang="en-GB" alt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FAD2C-4080-8EC2-D0AC-682AD1F0A16E}"/>
              </a:ext>
            </a:extLst>
          </p:cNvPr>
          <p:cNvSpPr txBox="1"/>
          <p:nvPr/>
        </p:nvSpPr>
        <p:spPr>
          <a:xfrm>
            <a:off x="6044379" y="2915909"/>
            <a:ext cx="3000045" cy="310854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400" dirty="0"/>
              <a:t>Η πρόταση </a:t>
            </a:r>
            <a:r>
              <a:rPr lang="en-US" sz="1400" dirty="0"/>
              <a:t>for </a:t>
            </a:r>
            <a:r>
              <a:rPr lang="el-GR" sz="1400" dirty="0"/>
              <a:t>καλεί την </a:t>
            </a:r>
            <a:r>
              <a:rPr lang="en-US" sz="1400" dirty="0" err="1"/>
              <a:t>printArray</a:t>
            </a:r>
            <a:r>
              <a:rPr lang="en-US" sz="1400" dirty="0"/>
              <a:t> </a:t>
            </a:r>
            <a:r>
              <a:rPr lang="el-GR" sz="1400" dirty="0"/>
              <a:t>για να τυπώσει τα στοιχεία του πίνακα από το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l-GR" sz="1400" dirty="0"/>
              <a:t>στοιχείο</a:t>
            </a:r>
            <a:r>
              <a:rPr lang="en-US" sz="1400" dirty="0"/>
              <a:t> </a:t>
            </a:r>
            <a:r>
              <a:rPr lang="el-GR" sz="1400" dirty="0"/>
              <a:t>μέχρι το τελευταίο.</a:t>
            </a:r>
          </a:p>
          <a:p>
            <a:pPr marL="342900" indent="-342900">
              <a:buAutoNum type="arabicParenBoth"/>
            </a:pPr>
            <a:r>
              <a:rPr lang="el-GR" sz="1400" dirty="0"/>
              <a:t>Περνάει ως όρισμα την διεύθυνση του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l-GR" sz="1400" dirty="0"/>
              <a:t>στοιχείου του πίνακα</a:t>
            </a:r>
          </a:p>
          <a:p>
            <a:pPr marL="342900" indent="-342900">
              <a:buAutoNum type="arabicParenBoth"/>
            </a:pPr>
            <a:r>
              <a:rPr lang="el-GR" sz="1400" dirty="0"/>
              <a:t>Περνάει ως όρισμα τον δείκτη στο πρώτο στοιχείο του πίνακα αυξημένο κατά </a:t>
            </a:r>
            <a:r>
              <a:rPr lang="en-US" sz="1400" dirty="0" err="1"/>
              <a:t>i</a:t>
            </a:r>
            <a:r>
              <a:rPr lang="en-US" sz="1400" dirty="0"/>
              <a:t>.</a:t>
            </a:r>
            <a:r>
              <a:rPr lang="el-GR" sz="1400" dirty="0"/>
              <a:t> </a:t>
            </a:r>
            <a:endParaRPr lang="en-US" sz="1400" dirty="0"/>
          </a:p>
          <a:p>
            <a:pPr marL="342900" indent="-342900">
              <a:buAutoNum type="arabicParenBoth"/>
            </a:pPr>
            <a:r>
              <a:rPr lang="el-GR" sz="1400" dirty="0"/>
              <a:t>Περνάει ως όρισμα τον δείκτη</a:t>
            </a:r>
            <a:r>
              <a:rPr lang="en-US" sz="1400" dirty="0"/>
              <a:t> </a:t>
            </a:r>
            <a:r>
              <a:rPr lang="en-US" sz="1400" dirty="0" err="1"/>
              <a:t>arPtr</a:t>
            </a:r>
            <a:r>
              <a:rPr lang="en-US" sz="1400" dirty="0"/>
              <a:t> </a:t>
            </a:r>
            <a:r>
              <a:rPr lang="el-GR" sz="1400" dirty="0"/>
              <a:t>ο οποίο έχει αυξηθεί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l-GR" sz="1400" dirty="0"/>
              <a:t>φορές κατά 1 και άρα δείχνει στο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l-GR" sz="1400" dirty="0"/>
              <a:t>στοιχείο του πίνακα </a:t>
            </a:r>
            <a:r>
              <a:rPr lang="en-US" sz="1400" dirty="0"/>
              <a:t>ar.</a:t>
            </a:r>
            <a:endParaRPr lang="el-G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5E7588-61C0-6693-16E9-B6AA881BA676}"/>
              </a:ext>
            </a:extLst>
          </p:cNvPr>
          <p:cNvSpPr txBox="1"/>
          <p:nvPr/>
        </p:nvSpPr>
        <p:spPr>
          <a:xfrm>
            <a:off x="6319515" y="116632"/>
            <a:ext cx="2683669" cy="138499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400" dirty="0"/>
              <a:t>Η </a:t>
            </a:r>
            <a:r>
              <a:rPr lang="en-US" sz="1400" b="1" dirty="0" err="1">
                <a:solidFill>
                  <a:srgbClr val="C00000"/>
                </a:solidFill>
              </a:rPr>
              <a:t>arPtr</a:t>
            </a:r>
            <a:r>
              <a:rPr lang="el-GR" sz="1400" b="1" dirty="0">
                <a:solidFill>
                  <a:srgbClr val="C00000"/>
                </a:solidFill>
              </a:rPr>
              <a:t> </a:t>
            </a:r>
            <a:r>
              <a:rPr lang="el-GR" sz="1400" dirty="0"/>
              <a:t>είναι μεταβλητή δείκτη</a:t>
            </a:r>
          </a:p>
          <a:p>
            <a:r>
              <a:rPr lang="el-GR" sz="1400" dirty="0"/>
              <a:t>σε ακέραιο και την βάλαμε να δείχνει το πρώτο στοιχείο του πίνακα </a:t>
            </a:r>
            <a:r>
              <a:rPr lang="en-US" sz="1400" b="1" dirty="0" err="1">
                <a:solidFill>
                  <a:srgbClr val="FF0000"/>
                </a:solidFill>
              </a:rPr>
              <a:t>ar</a:t>
            </a:r>
            <a:r>
              <a:rPr lang="en-US" sz="1400" dirty="0"/>
              <a:t>, </a:t>
            </a:r>
            <a:r>
              <a:rPr lang="el-GR" sz="1400" dirty="0"/>
              <a:t>καθώς το </a:t>
            </a:r>
            <a:r>
              <a:rPr lang="en-US" sz="1400" dirty="0" err="1"/>
              <a:t>ar</a:t>
            </a:r>
            <a:r>
              <a:rPr lang="en-US" sz="1400" dirty="0"/>
              <a:t> </a:t>
            </a:r>
            <a:r>
              <a:rPr lang="el-GR" sz="1400" dirty="0"/>
              <a:t>είναι δείκτης στο πρώτο στοιχείο του πίνακα.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91205A04-B74B-BF8B-4876-84D19E88225D}"/>
              </a:ext>
            </a:extLst>
          </p:cNvPr>
          <p:cNvSpPr/>
          <p:nvPr/>
        </p:nvSpPr>
        <p:spPr bwMode="auto">
          <a:xfrm>
            <a:off x="1152034" y="2741647"/>
            <a:ext cx="1528724" cy="402573"/>
          </a:xfrm>
          <a:prstGeom prst="borderCallout1">
            <a:avLst>
              <a:gd name="adj1" fmla="val 46185"/>
              <a:gd name="adj2" fmla="val 101408"/>
              <a:gd name="adj3" fmla="val -393608"/>
              <a:gd name="adj4" fmla="val 338133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E8EB24F5-0ACA-D6A1-A1AD-27998B581527}"/>
              </a:ext>
            </a:extLst>
          </p:cNvPr>
          <p:cNvSpPr/>
          <p:nvPr/>
        </p:nvSpPr>
        <p:spPr bwMode="auto">
          <a:xfrm>
            <a:off x="558872" y="5203191"/>
            <a:ext cx="5453288" cy="917560"/>
          </a:xfrm>
          <a:prstGeom prst="borderCallout1">
            <a:avLst>
              <a:gd name="adj1" fmla="val -433"/>
              <a:gd name="adj2" fmla="val 50145"/>
              <a:gd name="adj3" fmla="val -111419"/>
              <a:gd name="adj4" fmla="val 101432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BCB63F48-DB38-AFB6-7AC4-3D28815EEADB}"/>
              </a:ext>
            </a:extLst>
          </p:cNvPr>
          <p:cNvSpPr/>
          <p:nvPr/>
        </p:nvSpPr>
        <p:spPr bwMode="auto">
          <a:xfrm>
            <a:off x="1259632" y="3350049"/>
            <a:ext cx="1567620" cy="315251"/>
          </a:xfrm>
          <a:prstGeom prst="borderCallout1">
            <a:avLst>
              <a:gd name="adj1" fmla="val 102208"/>
              <a:gd name="adj2" fmla="val 97851"/>
              <a:gd name="adj3" fmla="val -357766"/>
              <a:gd name="adj4" fmla="val 325885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ADD654-FB51-A687-7684-823CE9421E0D}"/>
              </a:ext>
            </a:extLst>
          </p:cNvPr>
          <p:cNvSpPr txBox="1"/>
          <p:nvPr/>
        </p:nvSpPr>
        <p:spPr>
          <a:xfrm>
            <a:off x="6328787" y="1623535"/>
            <a:ext cx="2683669" cy="116955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400" dirty="0"/>
              <a:t>Η </a:t>
            </a:r>
            <a:r>
              <a:rPr lang="en-US" sz="1400" b="1" dirty="0" err="1">
                <a:solidFill>
                  <a:srgbClr val="C00000"/>
                </a:solidFill>
              </a:rPr>
              <a:t>printArray</a:t>
            </a:r>
            <a:r>
              <a:rPr lang="el-GR" sz="1400" b="1" dirty="0">
                <a:solidFill>
                  <a:srgbClr val="C00000"/>
                </a:solidFill>
              </a:rPr>
              <a:t> </a:t>
            </a:r>
            <a:r>
              <a:rPr lang="el-GR" sz="1400" dirty="0"/>
              <a:t>είναι συνάρτηση που δέχεται ως 1</a:t>
            </a:r>
            <a:r>
              <a:rPr lang="el-GR" sz="1400" baseline="30000" dirty="0"/>
              <a:t>ο</a:t>
            </a:r>
            <a:r>
              <a:rPr lang="el-GR" sz="1400" dirty="0"/>
              <a:t>  όρισμα ένα πίνακα ακεραίων και ως 2</a:t>
            </a:r>
            <a:r>
              <a:rPr lang="el-GR" sz="1400" baseline="30000" dirty="0"/>
              <a:t>ο</a:t>
            </a:r>
            <a:r>
              <a:rPr lang="el-GR" sz="1400" dirty="0"/>
              <a:t> τον αριθμό των στοιχείων του και τυπώνει τα στοιχεία του.</a:t>
            </a:r>
          </a:p>
        </p:txBody>
      </p:sp>
    </p:spTree>
    <p:extLst>
      <p:ext uri="{BB962C8B-B14F-4D97-AF65-F5344CB8AC3E}">
        <p14:creationId xmlns:p14="http://schemas.microsoft.com/office/powerpoint/2010/main" val="2453747179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7F2EF8-F932-F776-BF8A-C920A1341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0" y="1216150"/>
            <a:ext cx="6411936" cy="5093169"/>
          </a:xfrm>
          <a:prstGeom prst="rect">
            <a:avLst/>
          </a:prstGeom>
        </p:spPr>
      </p:pic>
      <p:sp>
        <p:nvSpPr>
          <p:cNvPr id="104450" name="Rectangle 2">
            <a:extLst>
              <a:ext uri="{FF2B5EF4-FFF2-40B4-BE49-F238E27FC236}">
                <a16:creationId xmlns:a16="http://schemas.microsoft.com/office/drawing/2014/main" id="{E49DDC03-BF75-6460-E042-9AA4EFEE5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l-GR" altLang="el-GR" dirty="0"/>
              <a:t>Παράδειγμα 2 (2/3)</a:t>
            </a:r>
            <a:endParaRPr lang="en-GB" alt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FAD2C-4080-8EC2-D0AC-682AD1F0A16E}"/>
              </a:ext>
            </a:extLst>
          </p:cNvPr>
          <p:cNvSpPr txBox="1"/>
          <p:nvPr/>
        </p:nvSpPr>
        <p:spPr>
          <a:xfrm>
            <a:off x="6161326" y="2624714"/>
            <a:ext cx="3000045" cy="37548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400" dirty="0"/>
              <a:t>Η πρόταση </a:t>
            </a:r>
            <a:r>
              <a:rPr lang="en-US" sz="1400" dirty="0"/>
              <a:t>for </a:t>
            </a:r>
            <a:r>
              <a:rPr lang="el-GR" sz="1400" dirty="0"/>
              <a:t>καλεί την </a:t>
            </a:r>
            <a:r>
              <a:rPr lang="en-US" sz="1400" dirty="0" err="1"/>
              <a:t>printf</a:t>
            </a:r>
            <a:r>
              <a:rPr lang="en-US" sz="1400" dirty="0"/>
              <a:t> </a:t>
            </a:r>
            <a:r>
              <a:rPr lang="el-GR" sz="1400" dirty="0"/>
              <a:t>για να τυπώσει τα στοιχεία του πίνακα που η </a:t>
            </a:r>
            <a:r>
              <a:rPr lang="en-US" sz="1400" dirty="0" err="1"/>
              <a:t>printArray</a:t>
            </a:r>
            <a:r>
              <a:rPr lang="en-US" sz="1400" dirty="0"/>
              <a:t> </a:t>
            </a:r>
            <a:r>
              <a:rPr lang="el-GR" sz="1400" dirty="0"/>
              <a:t>δέχεται ως όρισμα από το πρώτο</a:t>
            </a:r>
            <a:r>
              <a:rPr lang="en-US" sz="1400" dirty="0"/>
              <a:t> </a:t>
            </a:r>
            <a:r>
              <a:rPr lang="el-GR" sz="1400" dirty="0"/>
              <a:t>στοιχείο</a:t>
            </a:r>
            <a:r>
              <a:rPr lang="en-US" sz="1400" dirty="0"/>
              <a:t> </a:t>
            </a:r>
            <a:r>
              <a:rPr lang="el-GR" sz="1400" dirty="0"/>
              <a:t>του μέχρι το τελευταίο.</a:t>
            </a:r>
          </a:p>
          <a:p>
            <a:pPr marL="342900" indent="-342900">
              <a:buAutoNum type="arabicParenBoth"/>
            </a:pPr>
            <a:r>
              <a:rPr lang="el-GR" sz="1400" dirty="0"/>
              <a:t>Περνάει ως όρισμα το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l-GR" sz="1400" dirty="0"/>
              <a:t>στοιχείο του πίνακα </a:t>
            </a:r>
            <a:r>
              <a:rPr lang="en-US" sz="1400" dirty="0"/>
              <a:t>ar. </a:t>
            </a:r>
            <a:endParaRPr lang="el-GR" sz="1400" dirty="0"/>
          </a:p>
          <a:p>
            <a:pPr marL="342900" indent="-342900">
              <a:buAutoNum type="arabicParenBoth"/>
            </a:pPr>
            <a:r>
              <a:rPr lang="el-GR" sz="1400" dirty="0"/>
              <a:t>Περνάει ως όρισμα το περιεχόμενο που δείχνει ο δείκτης που προκύπτει από την πρόσθεση στον δείκτη </a:t>
            </a:r>
            <a:r>
              <a:rPr lang="en-US" sz="1400" dirty="0" err="1"/>
              <a:t>ar</a:t>
            </a:r>
            <a:r>
              <a:rPr lang="en-US" sz="1400" dirty="0"/>
              <a:t> </a:t>
            </a:r>
            <a:r>
              <a:rPr lang="el-GR" sz="1400" dirty="0"/>
              <a:t>του </a:t>
            </a:r>
            <a:r>
              <a:rPr lang="en-US" sz="1400" dirty="0"/>
              <a:t>I, </a:t>
            </a:r>
            <a:r>
              <a:rPr lang="el-GR" sz="1400" dirty="0"/>
              <a:t>δηλαδή το στοιχείο </a:t>
            </a:r>
            <a:r>
              <a:rPr lang="en-US" sz="1400" dirty="0" err="1"/>
              <a:t>ar</a:t>
            </a:r>
            <a:r>
              <a:rPr lang="en-US" sz="1400" dirty="0"/>
              <a:t>[</a:t>
            </a:r>
            <a:r>
              <a:rPr lang="en-US" sz="1400" dirty="0" err="1"/>
              <a:t>i</a:t>
            </a:r>
            <a:r>
              <a:rPr lang="en-US" sz="1400" dirty="0"/>
              <a:t>].</a:t>
            </a:r>
            <a:r>
              <a:rPr lang="el-GR" sz="1400" dirty="0"/>
              <a:t> </a:t>
            </a:r>
            <a:endParaRPr lang="en-US" sz="1400" dirty="0"/>
          </a:p>
          <a:p>
            <a:pPr marL="342900" indent="-342900">
              <a:buAutoNum type="arabicParenBoth"/>
            </a:pPr>
            <a:r>
              <a:rPr lang="el-GR" sz="1400" dirty="0"/>
              <a:t>Περνάει ως όρισμα το περιεχόμενο του δείκτη</a:t>
            </a:r>
            <a:r>
              <a:rPr lang="en-US" sz="1400" dirty="0"/>
              <a:t> </a:t>
            </a:r>
            <a:r>
              <a:rPr lang="en-US" sz="1400" dirty="0" err="1"/>
              <a:t>arPtr</a:t>
            </a:r>
            <a:r>
              <a:rPr lang="en-US" sz="1400" dirty="0"/>
              <a:t> </a:t>
            </a:r>
            <a:r>
              <a:rPr lang="el-GR" sz="1400" dirty="0"/>
              <a:t>ο οποίο έχει αυξηθεί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l-GR" sz="1400" dirty="0"/>
              <a:t>φορές κατά 1 και άρα δείχνει στο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l-GR" sz="1400" dirty="0"/>
              <a:t>στοιχείο του πίνακα </a:t>
            </a:r>
            <a:r>
              <a:rPr lang="en-US" sz="1400" dirty="0"/>
              <a:t>ar.</a:t>
            </a:r>
            <a:endParaRPr lang="el-G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5E7588-61C0-6693-16E9-B6AA881BA676}"/>
              </a:ext>
            </a:extLst>
          </p:cNvPr>
          <p:cNvSpPr txBox="1"/>
          <p:nvPr/>
        </p:nvSpPr>
        <p:spPr>
          <a:xfrm>
            <a:off x="6319515" y="116632"/>
            <a:ext cx="2683669" cy="138499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400" dirty="0"/>
              <a:t>Η </a:t>
            </a:r>
            <a:r>
              <a:rPr lang="en-US" sz="1400" b="1" dirty="0" err="1">
                <a:solidFill>
                  <a:srgbClr val="C00000"/>
                </a:solidFill>
              </a:rPr>
              <a:t>arPtr</a:t>
            </a:r>
            <a:r>
              <a:rPr lang="el-GR" sz="1400" b="1" dirty="0">
                <a:solidFill>
                  <a:srgbClr val="C00000"/>
                </a:solidFill>
              </a:rPr>
              <a:t> </a:t>
            </a:r>
            <a:r>
              <a:rPr lang="el-GR" sz="1400" dirty="0"/>
              <a:t>είναι τοπική μεταβλητή δείκτη σε ακέραιο και την βάζουμε να δείχνει το πρώτο στοιχείο του πίνακα </a:t>
            </a:r>
            <a:r>
              <a:rPr lang="en-US" sz="1400" b="1" dirty="0" err="1">
                <a:solidFill>
                  <a:srgbClr val="FF0000"/>
                </a:solidFill>
              </a:rPr>
              <a:t>ar</a:t>
            </a:r>
            <a:r>
              <a:rPr lang="en-US" sz="1400" dirty="0"/>
              <a:t>, </a:t>
            </a:r>
            <a:r>
              <a:rPr lang="el-GR" sz="1400" dirty="0"/>
              <a:t>που δέχεται ως όρισμα η </a:t>
            </a:r>
            <a:r>
              <a:rPr lang="en-US" sz="1400" dirty="0" err="1"/>
              <a:t>printArray</a:t>
            </a:r>
            <a:r>
              <a:rPr lang="en-US" sz="1400" dirty="0"/>
              <a:t>()</a:t>
            </a:r>
            <a:r>
              <a:rPr lang="el-GR" sz="1400" dirty="0"/>
              <a:t>.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91205A04-B74B-BF8B-4876-84D19E88225D}"/>
              </a:ext>
            </a:extLst>
          </p:cNvPr>
          <p:cNvSpPr/>
          <p:nvPr/>
        </p:nvSpPr>
        <p:spPr bwMode="auto">
          <a:xfrm>
            <a:off x="1115616" y="4077072"/>
            <a:ext cx="2232248" cy="393108"/>
          </a:xfrm>
          <a:prstGeom prst="borderCallout1">
            <a:avLst>
              <a:gd name="adj1" fmla="val 46185"/>
              <a:gd name="adj2" fmla="val 101408"/>
              <a:gd name="adj3" fmla="val -817471"/>
              <a:gd name="adj4" fmla="val 233449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E8EB24F5-0ACA-D6A1-A1AD-27998B581527}"/>
              </a:ext>
            </a:extLst>
          </p:cNvPr>
          <p:cNvSpPr/>
          <p:nvPr/>
        </p:nvSpPr>
        <p:spPr bwMode="auto">
          <a:xfrm>
            <a:off x="558872" y="4725144"/>
            <a:ext cx="5453288" cy="1008113"/>
          </a:xfrm>
          <a:prstGeom prst="borderCallout1">
            <a:avLst>
              <a:gd name="adj1" fmla="val -452"/>
              <a:gd name="adj2" fmla="val 73062"/>
              <a:gd name="adj3" fmla="val -58600"/>
              <a:gd name="adj4" fmla="val 102922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586008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E49DDC03-BF75-6460-E042-9AA4EFEE5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l-GR" altLang="el-GR" dirty="0"/>
              <a:t>Παράδειγμα 2 (3/3)</a:t>
            </a:r>
            <a:endParaRPr lang="en-GB" alt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B0D63-9D77-F6CC-E43D-C121D7EFA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" y="1340768"/>
            <a:ext cx="7887801" cy="3458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A7D8E3-A0AF-9990-A8C4-356E247BF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776" y="2852936"/>
            <a:ext cx="4480168" cy="355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6512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A1A60A7-0BAF-AA45-0609-0CD1E66F1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0007"/>
            <a:ext cx="5982218" cy="3977985"/>
          </a:xfrm>
          <a:prstGeom prst="rect">
            <a:avLst/>
          </a:prstGeom>
        </p:spPr>
      </p:pic>
      <p:sp>
        <p:nvSpPr>
          <p:cNvPr id="104450" name="Rectangle 2">
            <a:extLst>
              <a:ext uri="{FF2B5EF4-FFF2-40B4-BE49-F238E27FC236}">
                <a16:creationId xmlns:a16="http://schemas.microsoft.com/office/drawing/2014/main" id="{E49DDC03-BF75-6460-E042-9AA4EFEE5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l-GR" altLang="el-GR" dirty="0"/>
              <a:t>Παράδειγμα 3 (1/2)</a:t>
            </a:r>
            <a:endParaRPr lang="en-GB" alt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FAD2C-4080-8EC2-D0AC-682AD1F0A16E}"/>
              </a:ext>
            </a:extLst>
          </p:cNvPr>
          <p:cNvSpPr txBox="1"/>
          <p:nvPr/>
        </p:nvSpPr>
        <p:spPr>
          <a:xfrm>
            <a:off x="6012160" y="4754496"/>
            <a:ext cx="2683669" cy="73866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400" dirty="0"/>
              <a:t>Η πρόταση τυπώνει μόνο τις παραμέτρους με τις οποίες κλήθηκε το πρόγραμμα.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5E7588-61C0-6693-16E9-B6AA881BA676}"/>
              </a:ext>
            </a:extLst>
          </p:cNvPr>
          <p:cNvSpPr txBox="1"/>
          <p:nvPr/>
        </p:nvSpPr>
        <p:spPr>
          <a:xfrm>
            <a:off x="5891335" y="1904549"/>
            <a:ext cx="2683669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400" dirty="0"/>
              <a:t>Η </a:t>
            </a:r>
            <a:r>
              <a:rPr lang="en-US" sz="1400" b="1" dirty="0" err="1">
                <a:solidFill>
                  <a:srgbClr val="C00000"/>
                </a:solidFill>
              </a:rPr>
              <a:t>argv</a:t>
            </a:r>
            <a:r>
              <a:rPr lang="el-GR" sz="1400" b="1" dirty="0">
                <a:solidFill>
                  <a:srgbClr val="C00000"/>
                </a:solidFill>
              </a:rPr>
              <a:t> </a:t>
            </a:r>
            <a:r>
              <a:rPr lang="el-GR" sz="1400" dirty="0"/>
              <a:t>είναι πίνακας δεικτών σε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C00000"/>
                </a:solidFill>
              </a:rPr>
              <a:t>char</a:t>
            </a:r>
            <a:r>
              <a:rPr lang="en-US" sz="1400" dirty="0"/>
              <a:t>.</a:t>
            </a:r>
            <a:endParaRPr lang="el-GR" sz="1400" dirty="0"/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91205A04-B74B-BF8B-4876-84D19E88225D}"/>
              </a:ext>
            </a:extLst>
          </p:cNvPr>
          <p:cNvSpPr/>
          <p:nvPr/>
        </p:nvSpPr>
        <p:spPr bwMode="auto">
          <a:xfrm>
            <a:off x="2899260" y="2450362"/>
            <a:ext cx="1528724" cy="402573"/>
          </a:xfrm>
          <a:prstGeom prst="borderCallout1">
            <a:avLst>
              <a:gd name="adj1" fmla="val 46185"/>
              <a:gd name="adj2" fmla="val 101408"/>
              <a:gd name="adj3" fmla="val -27662"/>
              <a:gd name="adj4" fmla="val 193914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E8EB24F5-0ACA-D6A1-A1AD-27998B581527}"/>
              </a:ext>
            </a:extLst>
          </p:cNvPr>
          <p:cNvSpPr/>
          <p:nvPr/>
        </p:nvSpPr>
        <p:spPr bwMode="auto">
          <a:xfrm>
            <a:off x="1043608" y="4333650"/>
            <a:ext cx="4883005" cy="579937"/>
          </a:xfrm>
          <a:prstGeom prst="borderCallout1">
            <a:avLst>
              <a:gd name="adj1" fmla="val 100330"/>
              <a:gd name="adj2" fmla="val 48655"/>
              <a:gd name="adj3" fmla="val 218552"/>
              <a:gd name="adj4" fmla="val 47961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BCB63F48-DB38-AFB6-7AC4-3D28815EEADB}"/>
              </a:ext>
            </a:extLst>
          </p:cNvPr>
          <p:cNvSpPr/>
          <p:nvPr/>
        </p:nvSpPr>
        <p:spPr bwMode="auto">
          <a:xfrm>
            <a:off x="1691680" y="2533887"/>
            <a:ext cx="1008112" cy="288033"/>
          </a:xfrm>
          <a:prstGeom prst="borderCallout1">
            <a:avLst>
              <a:gd name="adj1" fmla="val 102208"/>
              <a:gd name="adj2" fmla="val 97851"/>
              <a:gd name="adj3" fmla="val 283577"/>
              <a:gd name="adj4" fmla="val 384215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ADD654-FB51-A687-7684-823CE9421E0D}"/>
              </a:ext>
            </a:extLst>
          </p:cNvPr>
          <p:cNvSpPr txBox="1"/>
          <p:nvPr/>
        </p:nvSpPr>
        <p:spPr>
          <a:xfrm>
            <a:off x="5570452" y="2651648"/>
            <a:ext cx="2683669" cy="138499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400" dirty="0"/>
              <a:t>Η </a:t>
            </a:r>
            <a:r>
              <a:rPr lang="en-US" sz="1400" b="1" dirty="0" err="1">
                <a:solidFill>
                  <a:srgbClr val="C00000"/>
                </a:solidFill>
              </a:rPr>
              <a:t>argc</a:t>
            </a:r>
            <a:r>
              <a:rPr lang="el-GR" sz="1400" b="1" dirty="0">
                <a:solidFill>
                  <a:srgbClr val="C00000"/>
                </a:solidFill>
              </a:rPr>
              <a:t> </a:t>
            </a:r>
            <a:r>
              <a:rPr lang="el-GR" sz="1400" dirty="0"/>
              <a:t>είναι μεταβλητή με τιμή τον αριθμό των παραμέτρων της γραμμής διαταγών για την κλίση του προγράμματος, συμπεριλαμβανομένου του ονόματος του προγράμματος. </a:t>
            </a:r>
          </a:p>
        </p:txBody>
      </p:sp>
      <p:sp>
        <p:nvSpPr>
          <p:cNvPr id="14" name="Callout: Line 13">
            <a:extLst>
              <a:ext uri="{FF2B5EF4-FFF2-40B4-BE49-F238E27FC236}">
                <a16:creationId xmlns:a16="http://schemas.microsoft.com/office/drawing/2014/main" id="{A667E6B7-7DE9-C201-330A-E62D18A775F6}"/>
              </a:ext>
            </a:extLst>
          </p:cNvPr>
          <p:cNvSpPr/>
          <p:nvPr/>
        </p:nvSpPr>
        <p:spPr bwMode="auto">
          <a:xfrm>
            <a:off x="1043607" y="3264880"/>
            <a:ext cx="3528393" cy="579937"/>
          </a:xfrm>
          <a:prstGeom prst="borderCallout1">
            <a:avLst>
              <a:gd name="adj1" fmla="val 44681"/>
              <a:gd name="adj2" fmla="val 99705"/>
              <a:gd name="adj3" fmla="val 255651"/>
              <a:gd name="adj4" fmla="val 166039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E6FFB6-6F0F-E821-BD26-BAFA508AECBF}"/>
              </a:ext>
            </a:extLst>
          </p:cNvPr>
          <p:cNvSpPr txBox="1"/>
          <p:nvPr/>
        </p:nvSpPr>
        <p:spPr>
          <a:xfrm>
            <a:off x="2195736" y="5568327"/>
            <a:ext cx="2683669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400" dirty="0"/>
              <a:t>Η πρόταση τυπώνει όλα τα στοιχεία του πίνακα </a:t>
            </a:r>
            <a:r>
              <a:rPr lang="en-US" sz="1400" b="1" dirty="0" err="1">
                <a:solidFill>
                  <a:srgbClr val="C00000"/>
                </a:solidFill>
              </a:rPr>
              <a:t>argv</a:t>
            </a:r>
            <a:r>
              <a:rPr lang="el-G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2019373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1444EA-3B10-5340-8772-654762228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55" y="1458792"/>
            <a:ext cx="8712322" cy="1538160"/>
          </a:xfrm>
          <a:prstGeom prst="rect">
            <a:avLst/>
          </a:prstGeom>
        </p:spPr>
      </p:pic>
      <p:sp>
        <p:nvSpPr>
          <p:cNvPr id="104450" name="Rectangle 2">
            <a:extLst>
              <a:ext uri="{FF2B5EF4-FFF2-40B4-BE49-F238E27FC236}">
                <a16:creationId xmlns:a16="http://schemas.microsoft.com/office/drawing/2014/main" id="{E49DDC03-BF75-6460-E042-9AA4EFEE5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l-GR" altLang="el-GR" sz="3600" dirty="0"/>
              <a:t>Παράδειγμα 3 (2/2)</a:t>
            </a:r>
            <a:br>
              <a:rPr lang="el-GR" altLang="el-GR" sz="3600" dirty="0"/>
            </a:br>
            <a:r>
              <a:rPr lang="el-GR" altLang="el-GR" sz="3600" dirty="0"/>
              <a:t>Έξοδος Προγράμματος</a:t>
            </a:r>
            <a:endParaRPr lang="en-GB" altLang="el-GR" sz="3600" dirty="0"/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E8EB24F5-0ACA-D6A1-A1AD-27998B581527}"/>
              </a:ext>
            </a:extLst>
          </p:cNvPr>
          <p:cNvSpPr/>
          <p:nvPr/>
        </p:nvSpPr>
        <p:spPr bwMode="auto">
          <a:xfrm>
            <a:off x="5148064" y="1458792"/>
            <a:ext cx="3528392" cy="288032"/>
          </a:xfrm>
          <a:prstGeom prst="borderCallout1">
            <a:avLst>
              <a:gd name="adj1" fmla="val 102208"/>
              <a:gd name="adj2" fmla="val 49078"/>
              <a:gd name="adj3" fmla="val 430195"/>
              <a:gd name="adj4" fmla="val 50873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15EE7C-D276-D42F-B82C-89B1807D927A}"/>
              </a:ext>
            </a:extLst>
          </p:cNvPr>
          <p:cNvSpPr txBox="1"/>
          <p:nvPr/>
        </p:nvSpPr>
        <p:spPr>
          <a:xfrm>
            <a:off x="5076056" y="2708920"/>
            <a:ext cx="3808421" cy="107721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Command line </a:t>
            </a:r>
            <a:r>
              <a:rPr lang="el-GR" sz="1600" dirty="0"/>
              <a:t>για την κλήση του προγράμματος από την γραμμή διαταγών με δύο παραμέτρους, τις </a:t>
            </a:r>
            <a:r>
              <a:rPr lang="en-US" sz="1600" dirty="0"/>
              <a:t>Hello </a:t>
            </a:r>
            <a:r>
              <a:rPr lang="el-GR" sz="1600" dirty="0"/>
              <a:t>και </a:t>
            </a:r>
            <a:r>
              <a:rPr lang="en-US" sz="1600" dirty="0"/>
              <a:t>World.</a:t>
            </a:r>
            <a:endParaRPr lang="el-GR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F11031-089C-C528-4D58-AC031F285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44" y="3247529"/>
            <a:ext cx="4211960" cy="2800820"/>
          </a:xfrm>
          <a:prstGeom prst="rect">
            <a:avLst/>
          </a:prstGeom>
        </p:spPr>
      </p:pic>
      <p:sp>
        <p:nvSpPr>
          <p:cNvPr id="13" name="Callout: Line 12">
            <a:extLst>
              <a:ext uri="{FF2B5EF4-FFF2-40B4-BE49-F238E27FC236}">
                <a16:creationId xmlns:a16="http://schemas.microsoft.com/office/drawing/2014/main" id="{CCDFC8BE-FFA2-C3E4-B407-8DBFA1C52088}"/>
              </a:ext>
            </a:extLst>
          </p:cNvPr>
          <p:cNvSpPr/>
          <p:nvPr/>
        </p:nvSpPr>
        <p:spPr bwMode="auto">
          <a:xfrm>
            <a:off x="172155" y="1746824"/>
            <a:ext cx="1807557" cy="242016"/>
          </a:xfrm>
          <a:prstGeom prst="borderCallout1">
            <a:avLst>
              <a:gd name="adj1" fmla="val 102208"/>
              <a:gd name="adj2" fmla="val 49078"/>
              <a:gd name="adj3" fmla="val 1145102"/>
              <a:gd name="adj4" fmla="val 70215"/>
            </a:avLst>
          </a:prstGeom>
          <a:solidFill>
            <a:schemeClr val="accent1">
              <a:alpha val="1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DFB382-37F5-5184-AF19-E0E428E8B8AC}"/>
              </a:ext>
            </a:extLst>
          </p:cNvPr>
          <p:cNvSpPr/>
          <p:nvPr/>
        </p:nvSpPr>
        <p:spPr bwMode="auto">
          <a:xfrm>
            <a:off x="1043608" y="4509120"/>
            <a:ext cx="2520280" cy="432048"/>
          </a:xfrm>
          <a:prstGeom prst="rect">
            <a:avLst/>
          </a:prstGeom>
          <a:solidFill>
            <a:schemeClr val="tx2">
              <a:lumMod val="40000"/>
              <a:lumOff val="60000"/>
              <a:alpha val="2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8146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l-G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l-G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1432</TotalTime>
  <Words>930</Words>
  <Application>Microsoft Office PowerPoint</Application>
  <PresentationFormat>On-screen Show (4:3)</PresentationFormat>
  <Paragraphs>106</Paragraphs>
  <Slides>16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Bahnschrift</vt:lpstr>
      <vt:lpstr>Tahoma</vt:lpstr>
      <vt:lpstr>Times New Roman</vt:lpstr>
      <vt:lpstr>Times New Roman Greek</vt:lpstr>
      <vt:lpstr>Wingdings</vt:lpstr>
      <vt:lpstr>Blends</vt:lpstr>
      <vt:lpstr>Worksheet</vt:lpstr>
      <vt:lpstr>Bitmap Image</vt:lpstr>
      <vt:lpstr>PowerPoint Presentation</vt:lpstr>
      <vt:lpstr>Συχνές ερωτήσεις</vt:lpstr>
      <vt:lpstr> Διεύθυνση</vt:lpstr>
      <vt:lpstr>Δείκτης  (Pointer)</vt:lpstr>
      <vt:lpstr>Δήλωση Δείκτη</vt:lpstr>
      <vt:lpstr>Απαντήσεις (1/2)</vt:lpstr>
      <vt:lpstr>Απαντήσεις (2/2)</vt:lpstr>
      <vt:lpstr>Παράδειγμα 1 (1/3)</vt:lpstr>
      <vt:lpstr>Παράδειγμα 1 (2/3)</vt:lpstr>
      <vt:lpstr>Παράδειγμα 1 (3/3)</vt:lpstr>
      <vt:lpstr>Δείκτης σε πίνακα -  Αριθμητική Δεικτών</vt:lpstr>
      <vt:lpstr>Παράδειγμα 2 (1/3)</vt:lpstr>
      <vt:lpstr>Παράδειγμα 2 (2/3)</vt:lpstr>
      <vt:lpstr>Παράδειγμα 2 (3/3)</vt:lpstr>
      <vt:lpstr>Παράδειγμα 3 (1/2)</vt:lpstr>
      <vt:lpstr>Παράδειγμα 3 (2/2) Έξοδος Προγράμματος</vt:lpstr>
    </vt:vector>
  </TitlesOfParts>
  <Company>UOP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Δείκτες (Pointers)</dc:title>
  <dc:creator>Kleanthis Thramboulidis</dc:creator>
  <cp:lastModifiedBy>Kleanthis Thramboulidis</cp:lastModifiedBy>
  <cp:revision>55</cp:revision>
  <cp:lastPrinted>2022-12-14T18:00:56Z</cp:lastPrinted>
  <dcterms:created xsi:type="dcterms:W3CDTF">2002-03-10T17:47:39Z</dcterms:created>
  <dcterms:modified xsi:type="dcterms:W3CDTF">2025-10-11T17:07:12Z</dcterms:modified>
</cp:coreProperties>
</file>