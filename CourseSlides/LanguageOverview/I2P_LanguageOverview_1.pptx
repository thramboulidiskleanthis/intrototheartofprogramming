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"/>
  </p:notesMasterIdLst>
  <p:sldIdLst>
    <p:sldId id="262" r:id="rId2"/>
    <p:sldId id="277" r:id="rId3"/>
    <p:sldId id="287" r:id="rId4"/>
    <p:sldId id="288" r:id="rId5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rambo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5FC62"/>
    <a:srgbClr val="FFE15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1" autoAdjust="0"/>
    <p:restoredTop sz="85214" autoAdjust="0"/>
  </p:normalViewPr>
  <p:slideViewPr>
    <p:cSldViewPr>
      <p:cViewPr varScale="1">
        <p:scale>
          <a:sx n="58" d="100"/>
          <a:sy n="58" d="100"/>
        </p:scale>
        <p:origin x="174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1" d="100"/>
          <a:sy n="101" d="100"/>
        </p:scale>
        <p:origin x="-199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9637286-9F77-D7B7-7D7E-1512E9AB29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CB6F0B0-95E4-8528-3C1C-70FC1B5FE69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A17B205-8238-1A29-D9AE-F7CDF503372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46C101D2-2523-EE3C-5F65-004539B084D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C8E0AC6F-2F6F-1C9E-C296-9B0786436F6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F0E950A0-253C-83E8-6ADB-E00D762D7E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9A6BBCB8-99AA-4A07-BFC6-5049F0080A0C}" type="slidenum">
              <a:rPr lang="en-GB" altLang="el-GR"/>
              <a:pPr>
                <a:defRPr/>
              </a:pPr>
              <a:t>‹#›</a:t>
            </a:fld>
            <a:endParaRPr lang="en-GB" alt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A22EE042-CAAB-46AB-385E-D63FE423D0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4E232D2-81F8-46E3-A070-7878D455B09B}" type="slidenum">
              <a:rPr lang="en-GB" altLang="el-GR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GB" altLang="el-GR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2A1F5136-8797-9535-939E-8EA1979229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ln w="12700" cap="flat">
            <a:solidFill>
              <a:schemeClr val="tx1"/>
            </a:solidFill>
          </a:ln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DC2A0D32-463F-DB95-C9AD-D4D4519C8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6038" rIns="90488" bIns="46038"/>
          <a:lstStyle/>
          <a:p>
            <a:pPr defTabSz="904875" eaLnBrk="1" hangingPunct="1"/>
            <a:endParaRPr lang="el-GR" altLang="el-G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A22EE042-CAAB-46AB-385E-D63FE423D0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4E232D2-81F8-46E3-A070-7878D455B09B}" type="slidenum">
              <a:rPr lang="en-GB" altLang="el-GR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GB" altLang="el-GR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2A1F5136-8797-9535-939E-8EA1979229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ln w="12700" cap="flat">
            <a:solidFill>
              <a:schemeClr val="tx1"/>
            </a:solidFill>
          </a:ln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DC2A0D32-463F-DB95-C9AD-D4D4519C8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6038" rIns="90488" bIns="46038"/>
          <a:lstStyle/>
          <a:p>
            <a:pPr defTabSz="904875" eaLnBrk="1" hangingPunct="1"/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374929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A22EE042-CAAB-46AB-385E-D63FE423D0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4E232D2-81F8-46E3-A070-7878D455B09B}" type="slidenum">
              <a:rPr lang="en-GB" altLang="el-GR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GB" altLang="el-GR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2A1F5136-8797-9535-939E-8EA1979229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ln w="12700" cap="flat">
            <a:solidFill>
              <a:schemeClr val="tx1"/>
            </a:solidFill>
          </a:ln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DC2A0D32-463F-DB95-C9AD-D4D4519C8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6038" rIns="90488" bIns="46038"/>
          <a:lstStyle/>
          <a:p>
            <a:pPr defTabSz="904875" eaLnBrk="1" hangingPunct="1"/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4045450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89B0A15-C2EE-DD30-6BA4-588ECF0567CE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E27ABE2-A7EC-5A22-E9D2-E361C6FEA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1CFF33B6-8CD4-9377-3DD4-317B14BAAD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l-GR" altLang="el-GR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8B497D5B-1AE7-0050-2193-6EC0D87A6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l-GR" altLang="el-GR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78EECEE-582D-9934-405A-DBE3E0F486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51B35AC-40F4-9EA2-A552-74FBBAFEB5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l-GR" altLang="el-GR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27F9C0C-59B3-D462-48D8-D9400AF4E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l-GR" altLang="el-GR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E97BD019-0758-C164-5531-142CACB90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161BD2EC-041E-9CAC-BF83-475985EF8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3F34A4B2-24C4-2197-D4F7-BEB30B8CA1C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184C617A-D07C-CDE5-13D9-323653FAE8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12F264A2-1BF9-92D3-D6D5-F11BD1A93B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7AB47AAD-3825-3C1E-150A-944B244FFD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E0F7CF37-0EE7-4697-8BE7-1F866991ED40}" type="slidenum">
              <a:rPr lang="en-GB" altLang="el-GR"/>
              <a:pPr>
                <a:defRPr/>
              </a:pPr>
              <a:t>‹#›</a:t>
            </a:fld>
            <a:endParaRPr lang="en-GB" altLang="el-GR"/>
          </a:p>
        </p:txBody>
      </p:sp>
    </p:spTree>
    <p:extLst>
      <p:ext uri="{BB962C8B-B14F-4D97-AF65-F5344CB8AC3E}">
        <p14:creationId xmlns:p14="http://schemas.microsoft.com/office/powerpoint/2010/main" val="3126362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84182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8796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951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747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3850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189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95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l-G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9216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5105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1513" y="115888"/>
            <a:ext cx="1947862" cy="6016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338" y="115888"/>
            <a:ext cx="5692775" cy="6016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2681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A50B063-BE87-4B36-E678-AEB89ADE765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42913" y="463550"/>
            <a:ext cx="43815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l-GR" altLang="el-GR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AC9DF06-F7C0-70B1-93ED-CD67802D56A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25500" y="463550"/>
            <a:ext cx="328613" cy="3810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l-GR" altLang="el-GR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39A6451-FC80-459B-5734-6E5F432B73F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66738" y="885825"/>
            <a:ext cx="422275" cy="3810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l-GR" altLang="el-G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7C82FC-0D38-84A0-D24B-19E8490AAD7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36625" y="885825"/>
            <a:ext cx="368300" cy="38100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l-GR" altLang="el-G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60FD445-5A9C-EEBD-0C84-ECE74BAA7B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52400" y="803275"/>
            <a:ext cx="560388" cy="3381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l-GR" altLang="el-GR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AC40E85-6858-8256-77CD-DAD7EEFB622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7400" y="471488"/>
            <a:ext cx="31750" cy="84296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l-GR" altLang="el-GR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A2CE8421-D6FB-14B0-8362-FFDBDA211C0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68313" y="1014413"/>
            <a:ext cx="8226425" cy="698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l-GR" altLang="el-GR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A38D5B9E-4DE8-C73B-78EE-9CB76DED52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76338" y="115888"/>
            <a:ext cx="7793037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l-GR"/>
              <a:t>Click to edit Master title style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B05B5757-33ED-7F0D-A6DD-757E739348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l-GR"/>
              <a:t>Click to edit Master text styles</a:t>
            </a:r>
          </a:p>
          <a:p>
            <a:pPr lvl="1"/>
            <a:r>
              <a:rPr lang="en-GB" altLang="el-GR"/>
              <a:t>Second level</a:t>
            </a:r>
          </a:p>
          <a:p>
            <a:pPr lvl="2"/>
            <a:r>
              <a:rPr lang="en-GB" altLang="el-GR"/>
              <a:t>Third level</a:t>
            </a:r>
          </a:p>
          <a:p>
            <a:pPr lvl="3"/>
            <a:r>
              <a:rPr lang="en-GB" altLang="el-GR"/>
              <a:t>Fourth level</a:t>
            </a:r>
          </a:p>
          <a:p>
            <a:pPr lvl="4"/>
            <a:r>
              <a:rPr lang="en-GB" altLang="el-GR"/>
              <a:t>Fifth level</a:t>
            </a:r>
          </a:p>
        </p:txBody>
      </p:sp>
      <p:sp>
        <p:nvSpPr>
          <p:cNvPr id="2" name="Θέση υποσέλιδου 4">
            <a:extLst>
              <a:ext uri="{FF2B5EF4-FFF2-40B4-BE49-F238E27FC236}">
                <a16:creationId xmlns:a16="http://schemas.microsoft.com/office/drawing/2014/main" id="{B4403BA1-E0F0-403D-B67C-E7585A4E267F}"/>
              </a:ext>
            </a:extLst>
          </p:cNvPr>
          <p:cNvSpPr txBox="1">
            <a:spLocks/>
          </p:cNvSpPr>
          <p:nvPr userDrawn="1"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ECE6C-11AD-2C5A-E902-E1093D940C5C}"/>
              </a:ext>
            </a:extLst>
          </p:cNvPr>
          <p:cNvSpPr txBox="1"/>
          <p:nvPr userDrawn="1"/>
        </p:nvSpPr>
        <p:spPr>
          <a:xfrm>
            <a:off x="7257540" y="6589725"/>
            <a:ext cx="1886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100" dirty="0">
                <a:latin typeface="+mn-lt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100" smtClean="0">
                <a:latin typeface="+mn-lt"/>
                <a:cs typeface="Arial" pitchFamily="34" charset="0"/>
              </a:rPr>
              <a:pPr algn="r"/>
              <a:t>‹#›</a:t>
            </a:fld>
            <a:endParaRPr lang="en-US" sz="1100" dirty="0">
              <a:latin typeface="+mn-lt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5ED1361-5732-91B6-020F-6CF005F76222}"/>
              </a:ext>
            </a:extLst>
          </p:cNvPr>
          <p:cNvSpPr txBox="1">
            <a:spLocks/>
          </p:cNvSpPr>
          <p:nvPr userDrawn="1"/>
        </p:nvSpPr>
        <p:spPr>
          <a:xfrm>
            <a:off x="3131840" y="6675329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 Language Overview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ites.google.com/view/i2art-of-programming/hom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Υπότιτλος 2">
            <a:extLst>
              <a:ext uri="{FF2B5EF4-FFF2-40B4-BE49-F238E27FC236}">
                <a16:creationId xmlns:a16="http://schemas.microsoft.com/office/drawing/2014/main" id="{999AB7B1-2CA7-4F2E-91BE-62A4C3CC57D6}"/>
              </a:ext>
            </a:extLst>
          </p:cNvPr>
          <p:cNvSpPr txBox="1">
            <a:spLocks/>
          </p:cNvSpPr>
          <p:nvPr/>
        </p:nvSpPr>
        <p:spPr>
          <a:xfrm>
            <a:off x="-12609" y="61836"/>
            <a:ext cx="9144002" cy="937358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l-GR" sz="3000" b="1" dirty="0">
                <a:latin typeface="Bahnschrift" panose="020B0502040204020203" pitchFamily="34" charset="0"/>
              </a:rPr>
              <a:t>Εισαγωγή στον Προγραμματισμό</a:t>
            </a:r>
            <a:br>
              <a:rPr lang="el-GR" sz="3000" b="1" dirty="0">
                <a:latin typeface="Bahnschrift" panose="020B0502040204020203" pitchFamily="34" charset="0"/>
              </a:rPr>
            </a:br>
            <a:r>
              <a:rPr lang="el-GR" sz="3000" b="1" dirty="0">
                <a:latin typeface="Bahnschrift" panose="020B0502040204020203" pitchFamily="34" charset="0"/>
              </a:rPr>
              <a:t>(</a:t>
            </a:r>
            <a:r>
              <a:rPr lang="en-US" sz="3000" b="1" dirty="0">
                <a:latin typeface="Bahnschrift" panose="020B0502040204020203" pitchFamily="34" charset="0"/>
              </a:rPr>
              <a:t>Introduction to</a:t>
            </a:r>
            <a:r>
              <a:rPr lang="el-GR" sz="3000" b="1" dirty="0">
                <a:latin typeface="Bahnschrift" panose="020B0502040204020203" pitchFamily="34" charset="0"/>
              </a:rPr>
              <a:t> </a:t>
            </a:r>
            <a:r>
              <a:rPr lang="el-GR" sz="3000" b="1" dirty="0" err="1">
                <a:latin typeface="Bahnschrift" panose="020B0502040204020203" pitchFamily="34" charset="0"/>
              </a:rPr>
              <a:t>Programming</a:t>
            </a:r>
            <a:r>
              <a:rPr lang="el-GR" sz="3000" b="1" dirty="0">
                <a:latin typeface="Bahnschrift" panose="020B0502040204020203" pitchFamily="34" charset="0"/>
              </a:rPr>
              <a:t>)</a:t>
            </a:r>
            <a:endParaRPr lang="en-US" sz="2100" b="1" dirty="0">
              <a:latin typeface="Bahnschrift" panose="020B0502040204020203" pitchFamily="34" charset="0"/>
            </a:endParaRPr>
          </a:p>
        </p:txBody>
      </p:sp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15991" y="1669805"/>
            <a:ext cx="6648773" cy="709748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l-GR" sz="12000" b="1" dirty="0">
                <a:solidFill>
                  <a:srgbClr val="60D69E"/>
                </a:solidFill>
                <a:latin typeface="Bahnschrift" panose="020B0502040204020203" pitchFamily="34" charset="0"/>
              </a:rPr>
              <a:t>Βασικά Στοιχεία</a:t>
            </a:r>
            <a:r>
              <a:rPr lang="en-US" sz="12000" b="1" dirty="0">
                <a:solidFill>
                  <a:srgbClr val="60D69E"/>
                </a:solidFill>
                <a:latin typeface="Bahnschrift" panose="020B0502040204020203" pitchFamily="34" charset="0"/>
              </a:rPr>
              <a:t> </a:t>
            </a:r>
            <a:r>
              <a:rPr lang="el-GR" sz="12000" b="1" dirty="0">
                <a:solidFill>
                  <a:srgbClr val="60D69E"/>
                </a:solidFill>
                <a:latin typeface="Bahnschrift" panose="020B0502040204020203" pitchFamily="34" charset="0"/>
              </a:rPr>
              <a:t>της Γλώσσας C</a:t>
            </a:r>
            <a:endParaRPr lang="en-US" sz="120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9600" b="1" dirty="0">
                <a:solidFill>
                  <a:srgbClr val="60D69E"/>
                </a:solidFill>
                <a:latin typeface="Bahnschrift" panose="020B0502040204020203" pitchFamily="34" charset="0"/>
              </a:rPr>
              <a:t>Language Overview</a:t>
            </a:r>
            <a:endParaRPr lang="en-GB" sz="72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6E0A-62C8-F25D-25D5-595B0B27A6B1}"/>
              </a:ext>
            </a:extLst>
          </p:cNvPr>
          <p:cNvSpPr txBox="1"/>
          <p:nvPr/>
        </p:nvSpPr>
        <p:spPr>
          <a:xfrm>
            <a:off x="-12609" y="1063174"/>
            <a:ext cx="1560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Bahnschrift" panose="020B0502040204020203" pitchFamily="34" charset="0"/>
              </a:rPr>
              <a:t>(CEID_NY131)</a:t>
            </a:r>
            <a:endParaRPr lang="el-GR" sz="1800" b="1" dirty="0">
              <a:latin typeface="Bahnschrift" panose="020B0502040204020203" pitchFamily="34" charset="0"/>
            </a:endParaRPr>
          </a:p>
        </p:txBody>
      </p:sp>
      <p:sp>
        <p:nvSpPr>
          <p:cNvPr id="18" name="Υπότιτλος 2">
            <a:extLst>
              <a:ext uri="{FF2B5EF4-FFF2-40B4-BE49-F238E27FC236}">
                <a16:creationId xmlns:a16="http://schemas.microsoft.com/office/drawing/2014/main" id="{1CC770C9-EFCA-6DAF-8AF4-65DBC6C0060B}"/>
              </a:ext>
            </a:extLst>
          </p:cNvPr>
          <p:cNvSpPr txBox="1">
            <a:spLocks/>
          </p:cNvSpPr>
          <p:nvPr/>
        </p:nvSpPr>
        <p:spPr>
          <a:xfrm>
            <a:off x="5883023" y="3702136"/>
            <a:ext cx="3339560" cy="2733011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3000" b="1" dirty="0">
                <a:solidFill>
                  <a:srgbClr val="C00000"/>
                </a:solidFill>
                <a:latin typeface="Bahnschrift" panose="020B0502040204020203" pitchFamily="34" charset="0"/>
              </a:rPr>
              <a:t>C Language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3000" b="1" dirty="0">
                <a:solidFill>
                  <a:srgbClr val="C00000"/>
                </a:solidFill>
                <a:latin typeface="Bahnschrift" panose="020B0502040204020203" pitchFamily="34" charset="0"/>
              </a:rPr>
              <a:t>overview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104CF0-71DB-277D-FF43-3A47565FC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238" y="877908"/>
            <a:ext cx="1957585" cy="2796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A0368E-6ADC-C0B8-7EA7-E8B85F721C26}"/>
              </a:ext>
            </a:extLst>
          </p:cNvPr>
          <p:cNvSpPr txBox="1"/>
          <p:nvPr/>
        </p:nvSpPr>
        <p:spPr>
          <a:xfrm>
            <a:off x="7174238" y="3667156"/>
            <a:ext cx="19575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/>
              <a:t>Πηγή: </a:t>
            </a:r>
            <a:r>
              <a:rPr lang="el-GR" sz="1600" dirty="0">
                <a:hlinkClick r:id="rId4"/>
              </a:rPr>
              <a:t>Μια Εισαγωγή στην Τέχνη του Προγραμματισμού</a:t>
            </a:r>
            <a:endParaRPr lang="en-GB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645747-ED20-19B3-8190-54D45634BE1F}"/>
              </a:ext>
            </a:extLst>
          </p:cNvPr>
          <p:cNvSpPr txBox="1"/>
          <p:nvPr/>
        </p:nvSpPr>
        <p:spPr>
          <a:xfrm flipH="1">
            <a:off x="2953304" y="2883067"/>
            <a:ext cx="4588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https://sites.google.com/view/i2art-of-programming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AD408-0C90-DBB2-5CDE-55D18D69DF8F}"/>
              </a:ext>
            </a:extLst>
          </p:cNvPr>
          <p:cNvSpPr txBox="1"/>
          <p:nvPr/>
        </p:nvSpPr>
        <p:spPr>
          <a:xfrm>
            <a:off x="200753" y="3578166"/>
            <a:ext cx="55915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C00000"/>
                </a:solidFill>
              </a:rPr>
              <a:t>Στόχος η υποστήριξη στην διαδικασία ανάπτυξης των προγραμμάτων </a:t>
            </a:r>
          </a:p>
          <a:p>
            <a:r>
              <a:rPr lang="el-GR" altLang="el-GR" dirty="0">
                <a:solidFill>
                  <a:srgbClr val="00B050"/>
                </a:solidFill>
                <a:latin typeface="Times New Roman" panose="02020603050405020304" pitchFamily="18" charset="0"/>
              </a:rPr>
              <a:t>κ</a:t>
            </a:r>
            <a:r>
              <a:rPr lang="el-GR" altLang="el-GR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αι η καταγραφή των βασικών στοιχείων</a:t>
            </a:r>
            <a:r>
              <a:rPr lang="en-GB" altLang="el-GR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 </a:t>
            </a:r>
            <a:r>
              <a:rPr lang="el-GR" altLang="el-GR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της </a:t>
            </a:r>
            <a:r>
              <a:rPr lang="en-GB" altLang="el-GR" dirty="0">
                <a:solidFill>
                  <a:srgbClr val="00B050"/>
                </a:solidFill>
                <a:latin typeface="Times New Roman" panose="02020603050405020304" pitchFamily="18" charset="0"/>
              </a:rPr>
              <a:t>C</a:t>
            </a:r>
            <a:endParaRPr lang="el-GR" altLang="el-GR" sz="2400" dirty="0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540AF3B-EE37-9C17-C4DD-FB29B7A706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0"/>
            <a:ext cx="7793037" cy="915987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l-GR" altLang="el-GR" dirty="0">
                <a:latin typeface="Times New Roman Greek" panose="02020603050405020304" pitchFamily="18" charset="0"/>
              </a:rPr>
              <a:t>Βασικές έννοιες</a:t>
            </a:r>
            <a:endParaRPr lang="en-GB" altLang="el-GR" dirty="0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4F13E9EE-A5D0-5C48-BC0D-2717D5316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68760"/>
            <a:ext cx="9144000" cy="3816424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l-GR" altLang="el-GR" sz="2800" b="1" dirty="0">
                <a:latin typeface="+mj-lt"/>
              </a:rPr>
              <a:t>Το κίνητρο</a:t>
            </a:r>
          </a:p>
          <a:p>
            <a:pPr lvl="1" eaLnBrk="1" hangingPunct="1"/>
            <a:r>
              <a:rPr lang="el-GR" altLang="el-GR" sz="2400" dirty="0">
                <a:latin typeface="+mj-lt"/>
              </a:rPr>
              <a:t>Ανάθεση έργου στον υπολογιστή</a:t>
            </a:r>
          </a:p>
          <a:p>
            <a:pPr eaLnBrk="1" hangingPunct="1"/>
            <a:r>
              <a:rPr lang="el-GR" altLang="el-GR" sz="2800" b="1" dirty="0">
                <a:latin typeface="+mj-lt"/>
              </a:rPr>
              <a:t>Το έργο</a:t>
            </a:r>
          </a:p>
          <a:p>
            <a:pPr lvl="1" eaLnBrk="1" hangingPunct="1"/>
            <a:r>
              <a:rPr lang="el-GR" altLang="el-GR" sz="2400" dirty="0">
                <a:latin typeface="+mj-lt"/>
              </a:rPr>
              <a:t>Εκτέλεση υπολογιστικών διεργασιών</a:t>
            </a:r>
          </a:p>
          <a:p>
            <a:pPr eaLnBrk="1" hangingPunct="1"/>
            <a:r>
              <a:rPr lang="el-GR" altLang="el-GR" sz="2800" b="1" dirty="0">
                <a:latin typeface="+mj-lt"/>
              </a:rPr>
              <a:t>Υπολογιστική διεργασία</a:t>
            </a:r>
          </a:p>
          <a:p>
            <a:pPr lvl="1" eaLnBrk="1" hangingPunct="1"/>
            <a:r>
              <a:rPr lang="el-GR" altLang="el-GR" sz="2400" dirty="0">
                <a:latin typeface="+mj-lt"/>
              </a:rPr>
              <a:t>Διεργασία που επεξεργάζεται δεδομένα (είσοδος) και παράγει δεδομένα (έξοδος).</a:t>
            </a:r>
          </a:p>
          <a:p>
            <a:pPr eaLnBrk="1" hangingPunct="1"/>
            <a:r>
              <a:rPr lang="el-GR" altLang="el-GR" sz="2800" b="1" dirty="0">
                <a:latin typeface="+mj-lt"/>
              </a:rPr>
              <a:t>Πρόγραμμα</a:t>
            </a:r>
          </a:p>
          <a:p>
            <a:pPr lvl="1" eaLnBrk="1" hangingPunct="1"/>
            <a:r>
              <a:rPr lang="el-GR" altLang="el-GR" sz="2400" dirty="0">
                <a:latin typeface="+mj-lt"/>
              </a:rPr>
              <a:t>Ένα σύνολο από προτάσεις που περιγράφουν τη διεργασία και τα δεδομένα που αυτή επεξεργάζεται.</a:t>
            </a:r>
            <a:endParaRPr lang="en-US" altLang="el-GR" sz="2400" dirty="0">
              <a:latin typeface="+mj-lt"/>
            </a:endParaRPr>
          </a:p>
          <a:p>
            <a:pPr eaLnBrk="1" hangingPunct="1"/>
            <a:r>
              <a:rPr lang="el-GR" altLang="el-GR" sz="2800" b="1" dirty="0">
                <a:latin typeface="+mj-lt"/>
              </a:rPr>
              <a:t>Πρόταση</a:t>
            </a:r>
            <a:r>
              <a:rPr lang="el-GR" altLang="el-GR" sz="2800" dirty="0">
                <a:latin typeface="+mj-lt"/>
              </a:rPr>
              <a:t> (</a:t>
            </a:r>
            <a:r>
              <a:rPr lang="en-US" altLang="el-GR" sz="2800" dirty="0">
                <a:latin typeface="+mj-lt"/>
              </a:rPr>
              <a:t>Statement) – </a:t>
            </a:r>
            <a:r>
              <a:rPr lang="el-GR" altLang="el-GR" sz="2800" b="1" dirty="0">
                <a:latin typeface="+mj-lt"/>
              </a:rPr>
              <a:t>Έκφραση</a:t>
            </a:r>
            <a:r>
              <a:rPr lang="el-GR" altLang="el-GR" sz="2800" dirty="0">
                <a:latin typeface="+mj-lt"/>
              </a:rPr>
              <a:t> (</a:t>
            </a:r>
            <a:r>
              <a:rPr lang="en-US" altLang="el-GR" sz="2800" dirty="0">
                <a:latin typeface="+mj-lt"/>
              </a:rPr>
              <a:t>Expression)</a:t>
            </a:r>
            <a:endParaRPr lang="el-GR" altLang="el-GR" sz="2800" dirty="0">
              <a:latin typeface="+mj-lt"/>
            </a:endParaRPr>
          </a:p>
          <a:p>
            <a:pPr eaLnBrk="1" hangingPunct="1"/>
            <a:endParaRPr lang="el-GR" altLang="el-GR" sz="2800" dirty="0">
              <a:latin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l-GR" altLang="el-GR" sz="2800" dirty="0">
              <a:latin typeface="Times New Roman" panose="02020603050405020304" pitchFamily="18" charset="0"/>
            </a:endParaRPr>
          </a:p>
          <a:p>
            <a:pPr eaLnBrk="1" hangingPunct="1"/>
            <a:endParaRPr lang="el-GR" altLang="el-GR" sz="2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l-GR" altLang="el-GR" sz="28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540AF3B-EE37-9C17-C4DD-FB29B7A706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0"/>
            <a:ext cx="7793037" cy="915987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l-GR" altLang="el-GR" dirty="0">
                <a:latin typeface="Times New Roman Greek" panose="02020603050405020304" pitchFamily="18" charset="0"/>
              </a:rPr>
              <a:t>Συνθετικά </a:t>
            </a:r>
            <a:r>
              <a:rPr lang="en-US" altLang="el-GR" dirty="0">
                <a:latin typeface="Times New Roman Greek" panose="02020603050405020304" pitchFamily="18" charset="0"/>
              </a:rPr>
              <a:t>C </a:t>
            </a:r>
            <a:r>
              <a:rPr lang="el-GR" altLang="el-GR" dirty="0">
                <a:latin typeface="Times New Roman Greek" panose="02020603050405020304" pitchFamily="18" charset="0"/>
              </a:rPr>
              <a:t>Προγράμματος</a:t>
            </a:r>
            <a:endParaRPr lang="en-GB" altLang="el-GR" dirty="0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4F13E9EE-A5D0-5C48-BC0D-2717D5316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68760"/>
            <a:ext cx="9144000" cy="3816424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l-GR" altLang="el-G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Αποτελείται από</a:t>
            </a:r>
          </a:p>
          <a:p>
            <a:pPr lvl="1" eaLnBrk="1" hangingPunct="1"/>
            <a:r>
              <a:rPr lang="el-GR" altLang="el-G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Συναρτήσεις</a:t>
            </a:r>
            <a:r>
              <a:rPr lang="el-GR" alt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</a:p>
          <a:p>
            <a:pPr lvl="1" eaLnBrk="1" hangingPunct="1"/>
            <a:r>
              <a:rPr lang="el-GR" alt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Δηλώσεις </a:t>
            </a:r>
            <a:r>
              <a:rPr lang="el-GR" altLang="el-G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μεταβλητών</a:t>
            </a:r>
            <a:r>
              <a:rPr lang="en-US" altLang="el-G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</a:p>
          <a:p>
            <a:pPr lvl="1" eaLnBrk="1" hangingPunct="1"/>
            <a:r>
              <a:rPr lang="el-GR" altLang="el-G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Ορισμούς τύπων δεδομένων, </a:t>
            </a:r>
            <a:r>
              <a:rPr lang="el-GR" alt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και</a:t>
            </a:r>
          </a:p>
          <a:p>
            <a:pPr lvl="1" eaLnBrk="1" hangingPunct="1"/>
            <a:r>
              <a:rPr lang="el-GR" alt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Προτάσεις </a:t>
            </a:r>
            <a:r>
              <a:rPr lang="el-GR" altLang="el-GR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προεπεξεργαστή</a:t>
            </a:r>
            <a:endParaRPr lang="el-GR" altLang="el-G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/>
            <a:r>
              <a:rPr lang="el-GR" alt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Σχόλια</a:t>
            </a:r>
          </a:p>
          <a:p>
            <a:pPr lvl="1" eaLnBrk="1" hangingPunct="1"/>
            <a:endParaRPr lang="el-GR" altLang="el-G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el-GR" altLang="el-G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Η γλώσσα παρέχει μεταξύ άλλων</a:t>
            </a:r>
          </a:p>
          <a:p>
            <a:pPr lvl="1" eaLnBrk="1" hangingPunct="1"/>
            <a:r>
              <a:rPr lang="el-GR" alt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Σύνολο </a:t>
            </a:r>
            <a:r>
              <a:rPr lang="el-GR" altLang="el-G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τύπων δεδομένων</a:t>
            </a:r>
          </a:p>
          <a:p>
            <a:pPr lvl="1" eaLnBrk="1" hangingPunct="1"/>
            <a:r>
              <a:rPr lang="el-GR" altLang="el-G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Τελεστές</a:t>
            </a:r>
          </a:p>
          <a:p>
            <a:pPr lvl="1" eaLnBrk="1" hangingPunct="1"/>
            <a:r>
              <a:rPr lang="el-GR" alt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Προτάσεις ελέγχου της ροής εκτέλεσης του προγράμματος</a:t>
            </a:r>
          </a:p>
          <a:p>
            <a:pPr lvl="1" eaLnBrk="1" hangingPunct="1"/>
            <a:endParaRPr lang="el-GR" altLang="el-GR" sz="2400" dirty="0">
              <a:latin typeface="Times New Roman Greek" panose="02020603050405020304" pitchFamily="18" charset="0"/>
            </a:endParaRPr>
          </a:p>
          <a:p>
            <a:pPr lvl="2" eaLnBrk="1" hangingPunct="1"/>
            <a:endParaRPr lang="el-GR" altLang="el-GR" sz="2000" b="1" dirty="0">
              <a:latin typeface="Times New Roman Greek" panose="02020603050405020304" pitchFamily="18" charset="0"/>
            </a:endParaRPr>
          </a:p>
          <a:p>
            <a:pPr eaLnBrk="1" hangingPunct="1"/>
            <a:endParaRPr lang="el-GR" altLang="el-GR" sz="2800" dirty="0">
              <a:latin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l-GR" altLang="el-GR" sz="2800" dirty="0">
              <a:latin typeface="Times New Roman" panose="02020603050405020304" pitchFamily="18" charset="0"/>
            </a:endParaRPr>
          </a:p>
          <a:p>
            <a:pPr eaLnBrk="1" hangingPunct="1"/>
            <a:endParaRPr lang="el-GR" altLang="el-GR" sz="2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l-GR" altLang="el-GR" sz="28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57796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 bldLvl="2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540AF3B-EE37-9C17-C4DD-FB29B7A706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0"/>
            <a:ext cx="7793037" cy="915987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l-GR" altLang="el-GR" dirty="0">
                <a:latin typeface="Times New Roman Greek" panose="02020603050405020304" pitchFamily="18" charset="0"/>
              </a:rPr>
              <a:t>Γιατί έχω …</a:t>
            </a:r>
            <a:endParaRPr lang="en-GB" altLang="el-GR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902AD5C9-F5DE-2F1E-AFC8-B06661F17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973613"/>
              </p:ext>
            </p:extLst>
          </p:nvPr>
        </p:nvGraphicFramePr>
        <p:xfrm>
          <a:off x="0" y="1124744"/>
          <a:ext cx="9144000" cy="4913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1960">
                  <a:extLst>
                    <a:ext uri="{9D8B030D-6E8A-4147-A177-3AD203B41FA5}">
                      <a16:colId xmlns:a16="http://schemas.microsoft.com/office/drawing/2014/main" val="1802219870"/>
                    </a:ext>
                  </a:extLst>
                </a:gridCol>
                <a:gridCol w="4932040">
                  <a:extLst>
                    <a:ext uri="{9D8B030D-6E8A-4147-A177-3AD203B41FA5}">
                      <a16:colId xmlns:a16="http://schemas.microsoft.com/office/drawing/2014/main" val="4150675785"/>
                    </a:ext>
                  </a:extLst>
                </a:gridCol>
              </a:tblGrid>
              <a:tr h="373174">
                <a:tc>
                  <a:txBody>
                    <a:bodyPr/>
                    <a:lstStyle/>
                    <a:p>
                      <a:r>
                        <a:rPr lang="el-GR" dirty="0"/>
                        <a:t>Γιατί έχω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Αρχείο Διαφανειών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188475"/>
                  </a:ext>
                </a:extLst>
              </a:tr>
              <a:tr h="355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τις μεταβλητές</a:t>
                      </a:r>
                      <a:r>
                        <a:rPr lang="en-US" altLang="el-GR" sz="1800" dirty="0">
                          <a:latin typeface="Times New Roman Greek" panose="02020603050405020304" pitchFamily="18" charset="0"/>
                        </a:rPr>
                        <a:t> (variables)</a:t>
                      </a: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 Greek" panose="02020603050405020304" pitchFamily="18" charset="0"/>
                          <a:ea typeface="+mn-ea"/>
                          <a:cs typeface="+mn-cs"/>
                        </a:rPr>
                        <a:t>Module13A-Variables&amp;DataTypes</a:t>
                      </a:r>
                      <a:endParaRPr lang="el-GR" sz="1800" kern="1200" dirty="0">
                        <a:solidFill>
                          <a:schemeClr val="dk1"/>
                        </a:solidFill>
                        <a:latin typeface="Times New Roman Greek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69379"/>
                  </a:ext>
                </a:extLst>
              </a:tr>
              <a:tr h="355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τους τύπους δεδομένων</a:t>
                      </a:r>
                      <a:r>
                        <a:rPr lang="en-US" altLang="el-GR" sz="1800" dirty="0">
                          <a:latin typeface="Times New Roman Greek" panose="02020603050405020304" pitchFamily="18" charset="0"/>
                        </a:rPr>
                        <a:t> (data types)</a:t>
                      </a: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 Greek" panose="02020603050405020304" pitchFamily="18" charset="0"/>
                          <a:ea typeface="+mn-ea"/>
                          <a:cs typeface="+mn-cs"/>
                        </a:rPr>
                        <a:t>Module13A-Variables&amp;DataTypes</a:t>
                      </a:r>
                      <a:endParaRPr lang="el-GR" sz="1800" kern="1200" dirty="0">
                        <a:solidFill>
                          <a:schemeClr val="dk1"/>
                        </a:solidFill>
                        <a:latin typeface="Times New Roman Greek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304011"/>
                  </a:ext>
                </a:extLst>
              </a:tr>
              <a:tr h="355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τους τελεστές</a:t>
                      </a:r>
                      <a:r>
                        <a:rPr lang="en-US" altLang="el-GR" sz="1800" dirty="0">
                          <a:latin typeface="Times New Roman Greek" panose="02020603050405020304" pitchFamily="18" charset="0"/>
                        </a:rPr>
                        <a:t> (operators)</a:t>
                      </a: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l-GR" sz="1800" dirty="0">
                          <a:latin typeface="Times New Roman Greek" panose="02020603050405020304" pitchFamily="18" charset="0"/>
                        </a:rPr>
                        <a:t>Module14-OperatorsExpressionsStatements</a:t>
                      </a:r>
                      <a:endParaRPr lang="el-GR" sz="1800" kern="1200" dirty="0">
                        <a:solidFill>
                          <a:schemeClr val="dk1"/>
                        </a:solidFill>
                        <a:latin typeface="Times New Roman Greek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795439"/>
                  </a:ext>
                </a:extLst>
              </a:tr>
              <a:tr h="355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τις εκφράσεις</a:t>
                      </a:r>
                      <a:r>
                        <a:rPr lang="en-US" altLang="el-GR" sz="1800" dirty="0">
                          <a:latin typeface="Times New Roman Greek" panose="02020603050405020304" pitchFamily="18" charset="0"/>
                        </a:rPr>
                        <a:t> (expressions)</a:t>
                      </a: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l-GR" sz="1800" dirty="0">
                          <a:latin typeface="Times New Roman Greek" panose="02020603050405020304" pitchFamily="18" charset="0"/>
                        </a:rPr>
                        <a:t>Module14-OperatorsExpressionsStatements</a:t>
                      </a:r>
                      <a:endParaRPr lang="el-GR" sz="1800" kern="1200" dirty="0">
                        <a:solidFill>
                          <a:schemeClr val="dk1"/>
                        </a:solidFill>
                        <a:latin typeface="Times New Roman Greek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389982"/>
                  </a:ext>
                </a:extLst>
              </a:tr>
              <a:tr h="355456">
                <a:tc>
                  <a:txBody>
                    <a:bodyPr/>
                    <a:lstStyle/>
                    <a:p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τις προτάσεις</a:t>
                      </a:r>
                      <a:r>
                        <a:rPr lang="en-US" altLang="el-GR" sz="1800" dirty="0">
                          <a:latin typeface="Times New Roman Greek" panose="02020603050405020304" pitchFamily="18" charset="0"/>
                        </a:rPr>
                        <a:t> (statements)</a:t>
                      </a: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;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l-GR" sz="1800" dirty="0">
                          <a:latin typeface="Times New Roman Greek" panose="02020603050405020304" pitchFamily="18" charset="0"/>
                        </a:rPr>
                        <a:t>I2P_statementsInBrief</a:t>
                      </a:r>
                      <a:endParaRPr lang="el-GR" altLang="el-GR" sz="1800" dirty="0">
                        <a:latin typeface="Times New Roman Greek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454509"/>
                  </a:ext>
                </a:extLst>
              </a:tr>
              <a:tr h="4008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τις προτάσεις ελέγχου ροής εκτέλεσης;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 Greek" panose="02020603050405020304" pitchFamily="18" charset="0"/>
                          <a:ea typeface="+mn-ea"/>
                          <a:cs typeface="+mn-cs"/>
                        </a:rPr>
                        <a:t>Module15-ControlFlowStatements</a:t>
                      </a:r>
                      <a:endParaRPr lang="el-GR" sz="1800" kern="1200" dirty="0">
                        <a:solidFill>
                          <a:schemeClr val="dk1"/>
                        </a:solidFill>
                        <a:latin typeface="Times New Roman Greek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962256"/>
                  </a:ext>
                </a:extLst>
              </a:tr>
              <a:tr h="4212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την κατασκευή της συνάρτησης;</a:t>
                      </a:r>
                      <a:endParaRPr lang="en-US" altLang="el-GR" sz="1800" dirty="0">
                        <a:latin typeface="Times New Roman Greek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 Greek" panose="02020603050405020304" pitchFamily="18" charset="0"/>
                          <a:ea typeface="+mn-ea"/>
                          <a:cs typeface="+mn-cs"/>
                        </a:rPr>
                        <a:t>Module16-ProceduralAbstraction-Functions</a:t>
                      </a:r>
                      <a:endParaRPr lang="el-GR" sz="1800" kern="1200" dirty="0">
                        <a:solidFill>
                          <a:schemeClr val="dk1"/>
                        </a:solidFill>
                        <a:latin typeface="Times New Roman Greek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545380"/>
                  </a:ext>
                </a:extLst>
              </a:tr>
              <a:tr h="1529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τις συναρτήσεις της βασικής βιβλιοθήκης;</a:t>
                      </a:r>
                      <a:endParaRPr lang="en-US" altLang="el-GR" sz="1800" dirty="0">
                        <a:latin typeface="Times New Roman Greek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 Greek" panose="02020603050405020304" pitchFamily="18" charset="0"/>
                          <a:ea typeface="+mn-ea"/>
                          <a:cs typeface="+mn-cs"/>
                        </a:rPr>
                        <a:t>Module16-ProceduralAbstraction-Functions</a:t>
                      </a:r>
                      <a:endParaRPr lang="el-GR" sz="1800" kern="1200" dirty="0">
                        <a:solidFill>
                          <a:schemeClr val="dk1"/>
                        </a:solidFill>
                        <a:latin typeface="Times New Roman Greek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324708"/>
                  </a:ext>
                </a:extLst>
              </a:tr>
              <a:tr h="355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τη </a:t>
                      </a:r>
                      <a:r>
                        <a:rPr lang="en-US" altLang="el-GR" sz="1800" dirty="0">
                          <a:latin typeface="Times New Roman Greek" panose="02020603050405020304" pitchFamily="18" charset="0"/>
                        </a:rPr>
                        <a:t>main()</a:t>
                      </a: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 Greek" panose="02020603050405020304" pitchFamily="18" charset="0"/>
                          <a:ea typeface="+mn-ea"/>
                          <a:cs typeface="+mn-cs"/>
                        </a:rPr>
                        <a:t>Module16-ProceduralAbstraction-Functions</a:t>
                      </a:r>
                      <a:endParaRPr lang="el-GR" sz="1800" kern="1200" dirty="0">
                        <a:solidFill>
                          <a:schemeClr val="dk1"/>
                        </a:solidFill>
                        <a:latin typeface="Times New Roman Greek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309763"/>
                  </a:ext>
                </a:extLst>
              </a:tr>
              <a:tr h="4266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την κατασκευή του πίνακα</a:t>
                      </a:r>
                      <a:r>
                        <a:rPr lang="en-US" altLang="el-GR" sz="1800" dirty="0">
                          <a:latin typeface="Times New Roman Greek" panose="02020603050405020304" pitchFamily="18" charset="0"/>
                        </a:rPr>
                        <a:t> (array)</a:t>
                      </a: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 Greek" panose="02020603050405020304" pitchFamily="18" charset="0"/>
                          <a:ea typeface="+mn-ea"/>
                          <a:cs typeface="+mn-cs"/>
                        </a:rPr>
                        <a:t>Module13B-Arrays</a:t>
                      </a:r>
                      <a:endParaRPr lang="el-GR" sz="1800" kern="1200" dirty="0">
                        <a:solidFill>
                          <a:schemeClr val="dk1"/>
                        </a:solidFill>
                        <a:latin typeface="Times New Roman Greek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99726"/>
                  </a:ext>
                </a:extLst>
              </a:tr>
              <a:tr h="311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την κατασκευή της δομής (</a:t>
                      </a:r>
                      <a:r>
                        <a:rPr lang="en-US" altLang="el-GR" sz="1800" dirty="0">
                          <a:latin typeface="Times New Roman Greek" panose="02020603050405020304" pitchFamily="18" charset="0"/>
                        </a:rPr>
                        <a:t>struct</a:t>
                      </a: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 Greek" panose="02020603050405020304" pitchFamily="18" charset="0"/>
                          <a:ea typeface="+mn-ea"/>
                          <a:cs typeface="+mn-cs"/>
                        </a:rPr>
                        <a:t>Module17-Structures</a:t>
                      </a:r>
                      <a:endParaRPr lang="el-GR" sz="1800" kern="1200" dirty="0">
                        <a:solidFill>
                          <a:schemeClr val="dk1"/>
                        </a:solidFill>
                        <a:latin typeface="Times New Roman Greek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908909"/>
                  </a:ext>
                </a:extLst>
              </a:tr>
              <a:tr h="311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el-GR" sz="1800" dirty="0">
                          <a:latin typeface="Times New Roman Greek" panose="02020603050405020304" pitchFamily="18" charset="0"/>
                        </a:rPr>
                        <a:t>τον τύπο του Δείκτη (</a:t>
                      </a:r>
                      <a:r>
                        <a:rPr lang="en-US" altLang="el-GR" sz="1800" dirty="0">
                          <a:latin typeface="Times New Roman Greek" panose="02020603050405020304" pitchFamily="18" charset="0"/>
                        </a:rPr>
                        <a:t>pointer)</a:t>
                      </a:r>
                      <a:endParaRPr lang="el-GR" altLang="el-GR" sz="1800" dirty="0">
                        <a:latin typeface="Times New Roman Greek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 Greek" panose="02020603050405020304" pitchFamily="18" charset="0"/>
                          <a:ea typeface="+mn-ea"/>
                          <a:cs typeface="+mn-cs"/>
                        </a:rPr>
                        <a:t>Module19-Pointers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313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956637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3834</TotalTime>
  <Words>251</Words>
  <Application>Microsoft Office PowerPoint</Application>
  <PresentationFormat>On-screen Show (4:3)</PresentationFormat>
  <Paragraphs>69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Bahnschrift</vt:lpstr>
      <vt:lpstr>Tahoma</vt:lpstr>
      <vt:lpstr>Times New Roman</vt:lpstr>
      <vt:lpstr>Times New Roman Greek</vt:lpstr>
      <vt:lpstr>Wingdings</vt:lpstr>
      <vt:lpstr>Blends</vt:lpstr>
      <vt:lpstr>PowerPoint Presentation</vt:lpstr>
      <vt:lpstr>Βασικές έννοιες</vt:lpstr>
      <vt:lpstr>Συνθετικά C Προγράμματος</vt:lpstr>
      <vt:lpstr>Γιατί έχω …</vt:lpstr>
    </vt:vector>
  </TitlesOfParts>
  <Company>UOP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Βασικά Στοιχεία της C</dc:title>
  <dc:creator>Kleanthis Thramboulidis</dc:creator>
  <cp:lastModifiedBy>Kleanthis Thramboulidis</cp:lastModifiedBy>
  <cp:revision>56</cp:revision>
  <dcterms:created xsi:type="dcterms:W3CDTF">2002-03-10T17:47:39Z</dcterms:created>
  <dcterms:modified xsi:type="dcterms:W3CDTF">2025-10-11T17:33:03Z</dcterms:modified>
</cp:coreProperties>
</file>