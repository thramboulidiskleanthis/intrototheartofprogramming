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868" r:id="rId2"/>
    <p:sldId id="845" r:id="rId3"/>
    <p:sldId id="272" r:id="rId4"/>
    <p:sldId id="846" r:id="rId5"/>
    <p:sldId id="847" r:id="rId6"/>
    <p:sldId id="848" r:id="rId7"/>
    <p:sldId id="849" r:id="rId8"/>
    <p:sldId id="850" r:id="rId9"/>
    <p:sldId id="851" r:id="rId10"/>
    <p:sldId id="852" r:id="rId11"/>
    <p:sldId id="853" r:id="rId12"/>
    <p:sldId id="854" r:id="rId13"/>
    <p:sldId id="856" r:id="rId14"/>
    <p:sldId id="855" r:id="rId15"/>
    <p:sldId id="857" r:id="rId16"/>
    <p:sldId id="858" r:id="rId17"/>
    <p:sldId id="861" r:id="rId18"/>
    <p:sldId id="864" r:id="rId19"/>
    <p:sldId id="862" r:id="rId20"/>
    <p:sldId id="859" r:id="rId21"/>
    <p:sldId id="860" r:id="rId22"/>
    <p:sldId id="866" r:id="rId23"/>
    <p:sldId id="867" r:id="rId24"/>
    <p:sldId id="865" r:id="rId25"/>
  </p:sldIdLst>
  <p:sldSz cx="12192000" cy="6858000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leanthis Thramboulidis" initials="KT" lastIdx="16" clrIdx="0"/>
  <p:cmAuthor id="2" name="thrambo" initials="t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33CC"/>
    <a:srgbClr val="EBFD03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9" autoAdjust="0"/>
    <p:restoredTop sz="92996" autoAdjust="0"/>
  </p:normalViewPr>
  <p:slideViewPr>
    <p:cSldViewPr>
      <p:cViewPr varScale="1">
        <p:scale>
          <a:sx n="68" d="100"/>
          <a:sy n="68" d="100"/>
        </p:scale>
        <p:origin x="138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214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BF0ED6D-65BA-45E9-A52E-CB2F8A900F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6F2D781-B9B5-4719-AB2A-2DDF8706006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1A18FE09-12FC-4E62-9212-079BB1A56EC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9C6F3924-BE63-4CCA-B883-C0C4742C806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DFFA317-7F6E-4938-8851-F8B7BFED3F4B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03D83BB-39C7-42F9-AC4C-0C2C0063AA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6AC85B3-1E6C-469C-A4C8-DA590B2690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26A5D51-5D23-4619-A29B-E5C2435C736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1EE0DD98-E270-4BE8-BF16-5AB7011580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 noProof="0"/>
              <a:t>Click to edit Master text styles</a:t>
            </a:r>
          </a:p>
          <a:p>
            <a:pPr lvl="1"/>
            <a:r>
              <a:rPr lang="el-GR" noProof="0"/>
              <a:t>Second level</a:t>
            </a:r>
          </a:p>
          <a:p>
            <a:pPr lvl="2"/>
            <a:r>
              <a:rPr lang="el-GR" noProof="0"/>
              <a:t>Third level</a:t>
            </a:r>
          </a:p>
          <a:p>
            <a:pPr lvl="3"/>
            <a:r>
              <a:rPr lang="el-GR" noProof="0"/>
              <a:t>Fourth level</a:t>
            </a:r>
          </a:p>
          <a:p>
            <a:pPr lvl="4"/>
            <a:r>
              <a:rPr lang="el-GR" noProof="0"/>
              <a:t>Fifth level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CA1EBE04-973A-4C30-B360-513B65C817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4988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E18EF117-1B90-4A7E-966E-78B428A0DA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8C14322-B13F-46DC-9759-9CE5EC314D09}" type="slidenum">
              <a:rPr lang="el-GR" altLang="el-GR"/>
              <a:pPr>
                <a:defRPr/>
              </a:pPr>
              <a:t>‹#›</a:t>
            </a:fld>
            <a:endParaRPr lang="el-GR" alt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84FAB-E985-6F2E-9134-7A9646AE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9A73639-925E-B729-F5D5-A7C602822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2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D86DFD7-E942-937E-F267-9B1815E6F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443B431-F84F-7391-04B0-6245DC610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576706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AB558EB-5B15-D52E-4933-E1FDFBB561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03A2CFC-CE30-5623-2F8E-1321C80EF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2004754-3D74-9EF3-D785-32FB52FF8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8906-4E6C-C6F4-120B-B1558780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FB2298C-4106-D4F8-9C2E-A509C18295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9D5197E-6CDE-ECAA-D425-BE84763477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610F699-6482-6B85-1321-7CD9015AA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2259038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79FB-6C27-6C0E-7AF0-B71D8532B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85C2C5FF-1BAB-E770-24DE-FC743916B0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5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464A800-17CB-F253-CE9D-8EAA5B222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699D78D-7E82-FBCA-2D2E-6B7E7C32E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845178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31AF-59FE-A97A-9ABB-3E2DCC01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02F45842-81A0-019F-3DB2-09758EFE98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0E82D4F-358F-3979-F37D-82737BA95D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2F39F2B-CAAD-F4AA-F81E-D4C5F205D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907565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B78C-A134-E92A-FFB3-97176558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0CD417C-C768-92FB-A446-15B8415DD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FFC5EDB-568A-A0D8-AA89-BA9A8F1A99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8255E1D-1E60-439C-B307-4E2E492AD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481588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55005-49BC-0C03-E0CB-7E5831281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3BB4C13-EC6E-C781-5638-CDC6DCF21D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BBD8E04-ADAC-B534-A94E-D7388D10A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D667461-DD39-4F10-5D0E-E81C62787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2293894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3A0F-B527-FE28-8BC4-8695BB6EE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C26D1E9-7743-E822-335D-8BB73EDFD7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888E874-4C3B-4225-00D9-D53225DAF2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0F5CC33-1AA4-1DA0-CC0F-9AAD3B41D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802594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FCAF-07F1-D5D6-CBD4-7074FAF1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58DFBB18-3EBD-663A-3116-2BCE3DF517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2823ED4-9628-666D-5508-5EF9E85CC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372EF9C-8FE6-98D6-3847-553F758DE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776993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B6A88-8DD0-4075-615A-98CD47B78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9BDB8AE6-5448-F618-6E9D-72F94E28F5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11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CABF313-FF48-6064-C9D9-263CDBE3E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E115693-95CE-6BA8-DA76-0B17F21DE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965514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64D1-957F-7D60-9599-D65F8C6A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1D19DFD9-E68A-A4CB-08AF-14A67A0928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0FF9B73-34E5-2148-6142-0D0A600CB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171C16D-CA32-BDF8-78FD-90CC3DF55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226596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34234-89C6-980E-0D58-549B50AB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074C2AC-1EAB-0B22-3E2D-EC8A30B67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13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FF40D29-6A5F-5B01-5216-FC4B91BD9B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0C11B37-9EC5-02B3-0E79-08F67F0BB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375734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8E7D6-3E4A-439B-BDF3-9E881EB4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483BDA6-70FD-8BAA-4C2A-3A15B5784E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14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48C3D25-E511-0619-882D-0E3B702416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5A60EE5-1A02-293D-37AD-6BF27E1DF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2026835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83E9-9C41-CAA1-2D45-0A1FA226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473F30CC-DD9D-B962-5D3F-7EBB36FC1D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6039240-51AA-03CB-71D8-3B849D9BC1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A142B50-F522-AE3C-0A57-2BD8E6822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625033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9E35-06D7-1591-1B90-6C794AEA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92600AE0-0411-93F1-D301-98FA50AD39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BC7D099-2585-62EA-B42E-49A2146BAB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D456D5F-E2DF-E241-6835-43A846410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995391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0F93-AA32-FA11-5D4E-5C9C5B46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3227F18D-1B92-F2DB-0BD0-1C87C39DCC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6598FA3-1F31-2793-1BAE-5E325093FA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3F9BF27-367A-9D38-162D-B0B05EA435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3974785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17E4-B367-4173-CD6C-7F2700944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04482692-DCF0-F9E7-B7C0-689306F20B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18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7DDE71D-007B-FB98-EB89-CC85F4CC9D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FC343C4-D033-91C0-DD8B-C11B41957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2202508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5E30-DCC1-ACCD-A899-3F04ABF3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C30E482E-F1CE-1A1C-CE96-1D928C686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BF02E43-07CA-F660-5F49-FA7E9E25E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CF2F85B-82CB-6F27-5519-5CCE3A303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968894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3D76-D7A3-D931-26FE-011813DF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8D9BD9B5-94F5-3A45-29E1-A281CA26F3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9FA4CB1-816A-E522-C5FF-B7D2781DC2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5C8C3D1-2A0D-339A-04B7-4CFBE508F1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9663925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54E6-CB8F-0B5F-765F-4412080C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471F19A5-0CEE-DAD8-AB25-9932F769CC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82F5717-1287-5515-23A6-623C2C40BA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456581C-9CEF-42D2-B37E-E6E880DE5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559488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FC893-A26F-1F92-E6A5-A466D325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CEFBC1A3-6570-8C2C-9464-EF12CC8EB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2DAE126-575A-C21D-EC1F-F5383E461D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BF1F31C-F5A0-F348-5897-5B5425940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9793964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0BCD-6C16-3CE0-2D4B-DA7601AB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CCD2A9C0-E45A-8746-C56A-6349CE13B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23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1FE291E-A34B-30AC-F99D-3D5E86559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CADAB8F-A5C1-A779-984D-1D0303FE1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1661187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A05F-35E7-2B8A-DF5E-889B5185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C70389F-67F9-3C41-99FF-F0A5E2D38A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3916" indent="-286121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4486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2280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60075" indent="-228897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7869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5663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33458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91252" indent="-228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C39DD0-9D03-4B9D-A583-AFCC7A99D7AB}" type="slidenum">
              <a:rPr lang="en-US" altLang="el-GR" sz="1200">
                <a:latin typeface="Times New Roman" panose="02020603050405020304" pitchFamily="18" charset="0"/>
              </a:rPr>
              <a:pPr eaLnBrk="1" hangingPunct="1"/>
              <a:t>24</a:t>
            </a:fld>
            <a:endParaRPr lang="en-US" altLang="el-GR" sz="120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9656C8C-9FFA-887E-7434-F76C1F8E0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98E77EA-EDE4-3A27-FF8C-C44F61241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  <p:extLst>
      <p:ext uri="{BB962C8B-B14F-4D97-AF65-F5344CB8AC3E}">
        <p14:creationId xmlns:p14="http://schemas.microsoft.com/office/powerpoint/2010/main" val="2329822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6DCB7D4-515F-4811-ADB4-E5359A856559}"/>
              </a:ext>
            </a:extLst>
          </p:cNvPr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C87158C-491E-4FCE-952F-A067EBA97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00D43A29-E011-4AEF-B717-12379BBA2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6EB064FA-09A2-4408-9939-8658068DA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6DCE594-2B75-4CCC-98F0-6E9380BFD8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C1FB446F-4B03-454C-A712-355558AAA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91E81030-29B5-46DE-A1A4-B6C8DE180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l-GR" altLang="el-GR" sz="240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BF0174-69EE-4475-B82D-D8E65CF60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E13443-174B-480F-921E-557F6B9C9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FB0F06-1309-4F8D-913B-26C252401D6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l-GR" altLang="el-GR" sz="2400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F1565AD5-3AD0-4D6A-AC8D-794C83AE9E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A73A2BA-29EF-4A6E-B0D7-A2ABA8E0E0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B9BD1C6-1D55-4E87-8902-E32C9A031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F8B9E34-30FA-4027-8D37-1B5BB2D16EF4}" type="slidenum">
              <a:rPr lang="en-GB" altLang="el-GR"/>
              <a:pPr>
                <a:defRPr/>
              </a:pPr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323957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390717" cy="69269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102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0151" y="16287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3351" y="16287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7850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348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A393E5B8-978F-4EB7-8FB4-432FCD21B2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3" y="70129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l-GR" altLang="el-GR" sz="2400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2D10D995-D4BB-4980-8C4D-AE847D089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0390717" cy="6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 dirty="0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ED210DF-0BB5-43BA-A3F0-175A84942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0151" y="1628775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sp>
        <p:nvSpPr>
          <p:cNvPr id="2" name="Θέση υποσέλιδου 4">
            <a:extLst>
              <a:ext uri="{FF2B5EF4-FFF2-40B4-BE49-F238E27FC236}">
                <a16:creationId xmlns:a16="http://schemas.microsoft.com/office/drawing/2014/main" id="{B62148B4-8F87-D235-5068-0EB88C875DB6}"/>
              </a:ext>
            </a:extLst>
          </p:cNvPr>
          <p:cNvSpPr txBox="1">
            <a:spLocks/>
          </p:cNvSpPr>
          <p:nvPr userDrawn="1"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0F85E-DA4B-2075-6BBA-14FD271DE152}"/>
              </a:ext>
            </a:extLst>
          </p:cNvPr>
          <p:cNvSpPr txBox="1"/>
          <p:nvPr userDrawn="1"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‹#›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06981EA8-9EF4-3564-6E34-3F3CA3F3C185}"/>
              </a:ext>
            </a:extLst>
          </p:cNvPr>
          <p:cNvSpPr txBox="1">
            <a:spLocks/>
          </p:cNvSpPr>
          <p:nvPr userDrawn="1"/>
        </p:nvSpPr>
        <p:spPr>
          <a:xfrm>
            <a:off x="3719657" y="6670189"/>
            <a:ext cx="4631713" cy="287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Data Abstraction - Structures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2" r:id="rId2"/>
    <p:sldLayoutId id="2147484144" r:id="rId3"/>
    <p:sldLayoutId id="2147484145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sites.google.com/view/i2art-of-programming/hom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latin typeface="Bahnschrift" panose="020B0502040204020203" pitchFamily="34" charset="0"/>
              </a:rPr>
              <a:t>Εισαγωγή στον Προγραμματισμό</a:t>
            </a:r>
            <a:br>
              <a:rPr lang="el-GR" sz="4000" b="1" dirty="0">
                <a:latin typeface="Bahnschrift" panose="020B0502040204020203" pitchFamily="34" charset="0"/>
              </a:rPr>
            </a:br>
            <a:r>
              <a:rPr lang="el-GR" sz="4000" b="1" dirty="0">
                <a:latin typeface="Bahnschrift" panose="020B0502040204020203" pitchFamily="34" charset="0"/>
              </a:rPr>
              <a:t>(</a:t>
            </a:r>
            <a:r>
              <a:rPr lang="en-US" sz="4000" b="1" dirty="0">
                <a:latin typeface="Bahnschrift" panose="020B0502040204020203" pitchFamily="34" charset="0"/>
              </a:rPr>
              <a:t>Introduction to</a:t>
            </a:r>
            <a:r>
              <a:rPr lang="el-GR" sz="4000" b="1" dirty="0"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latin typeface="Bahnschrift" panose="020B0502040204020203" pitchFamily="34" charset="0"/>
              </a:rPr>
              <a:t>)</a:t>
            </a:r>
            <a:endParaRPr lang="en-US" sz="2800" b="1" dirty="0">
              <a:latin typeface="Bahnschrift" panose="020B0502040204020203" pitchFamily="34" charset="0"/>
            </a:endParaRPr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6237" y="1648085"/>
            <a:ext cx="8865031" cy="9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Ορισμός νέων Τύπων</a:t>
            </a:r>
            <a:b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</a:br>
            <a:r>
              <a:rPr lang="el-GR" sz="11200" b="1" dirty="0">
                <a:solidFill>
                  <a:srgbClr val="60D69E"/>
                </a:solidFill>
                <a:latin typeface="Bahnschrift" panose="020B0502040204020203" pitchFamily="34" charset="0"/>
              </a:rPr>
              <a:t>Δομές (</a:t>
            </a:r>
            <a:r>
              <a:rPr lang="el-GR" sz="11200" b="1" dirty="0" err="1">
                <a:solidFill>
                  <a:srgbClr val="60D69E"/>
                </a:solidFill>
                <a:latin typeface="Bahnschrift" panose="020B0502040204020203" pitchFamily="34" charset="0"/>
              </a:rPr>
              <a:t>Structures</a:t>
            </a:r>
            <a:r>
              <a:rPr lang="el-GR" sz="11200" b="1" dirty="0">
                <a:solidFill>
                  <a:srgbClr val="60D69E"/>
                </a:solidFill>
                <a:latin typeface="Bahnschrift" panose="020B0502040204020203" pitchFamily="34" charset="0"/>
              </a:rPr>
              <a:t>)</a:t>
            </a:r>
            <a:endParaRPr lang="en-US" sz="72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2351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Bahnschrift" panose="020B0502040204020203" pitchFamily="34" charset="0"/>
              </a:rPr>
              <a:t>(CEID_NY131)</a:t>
            </a:r>
            <a:endParaRPr lang="el-GR" b="1" dirty="0"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7896200" y="2945196"/>
            <a:ext cx="3425457" cy="3644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Data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Abstraction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Structures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4007768" y="2220003"/>
            <a:ext cx="5370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https://sites.google.com/view/i2art-of-programming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9565650" y="3746541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dirty="0"/>
              <a:t>Πηγή: </a:t>
            </a:r>
            <a:r>
              <a:rPr lang="el-GR" sz="1800" dirty="0">
                <a:hlinkClick r:id="rId4"/>
              </a:rPr>
              <a:t>Μια Εισαγωγή στην Τέχνη του Προγραμματισμού</a:t>
            </a:r>
            <a:endParaRPr lang="en-GB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1D5C0F-1E37-B42D-F9A1-84CE5B4CC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5" y="2543194"/>
            <a:ext cx="7833459" cy="4264026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511A8C1C-952E-8749-A804-0EAC5335B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311" y="589501"/>
            <a:ext cx="1948499" cy="1368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b="1" kern="0" dirty="0">
                <a:solidFill>
                  <a:schemeClr val="hlink"/>
                </a:solidFill>
              </a:rPr>
              <a:t>typedef </a:t>
            </a:r>
            <a:r>
              <a:rPr lang="en-US" altLang="el-GR" sz="1400" kern="0" dirty="0">
                <a:solidFill>
                  <a:schemeClr val="hlink"/>
                </a:solidFill>
              </a:rPr>
              <a:t>struct </a:t>
            </a:r>
            <a:r>
              <a:rPr lang="en-US" altLang="el-GR" sz="1400" kern="0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kern="0" dirty="0"/>
              <a:t>	char </a:t>
            </a:r>
            <a:r>
              <a:rPr lang="en-US" altLang="el-GR" sz="1400" kern="0" dirty="0" err="1"/>
              <a:t>fname</a:t>
            </a:r>
            <a:r>
              <a:rPr lang="en-US" altLang="el-GR" sz="1400" kern="0" dirty="0"/>
              <a:t>[20];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kern="0" dirty="0"/>
              <a:t>    char </a:t>
            </a:r>
            <a:r>
              <a:rPr lang="en-US" altLang="el-GR" sz="1400" kern="0" dirty="0" err="1"/>
              <a:t>lname</a:t>
            </a:r>
            <a:r>
              <a:rPr lang="en-US" altLang="el-GR" sz="1400" kern="0" dirty="0"/>
              <a:t>[30];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kern="0" dirty="0"/>
              <a:t>	int am;</a:t>
            </a:r>
          </a:p>
          <a:p>
            <a:pPr eaLnBrk="1" hangingPunct="1">
              <a:buNone/>
            </a:pPr>
            <a:r>
              <a:rPr lang="en-US" altLang="el-GR" sz="1400" kern="0" dirty="0"/>
              <a:t>}</a:t>
            </a:r>
            <a:r>
              <a:rPr lang="en-US" altLang="el-GR" sz="1400" b="1" kern="0" dirty="0"/>
              <a:t> Student</a:t>
            </a:r>
            <a:r>
              <a:rPr lang="en-US" altLang="el-GR" sz="1400" kern="0" dirty="0"/>
              <a:t>;</a:t>
            </a:r>
            <a:endParaRPr lang="el-GR" altLang="el-GR" sz="1400" kern="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2CD5D56-BBD3-52A6-F4F0-2098C4782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442" y="2884450"/>
            <a:ext cx="1872208" cy="136866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kern="0" dirty="0">
                <a:solidFill>
                  <a:schemeClr val="hlink"/>
                </a:solidFill>
              </a:rPr>
              <a:t>struct student</a:t>
            </a:r>
            <a:r>
              <a:rPr lang="en-US" altLang="el-GR" sz="1400" kern="0" dirty="0"/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kern="0" dirty="0"/>
              <a:t>	char </a:t>
            </a:r>
            <a:r>
              <a:rPr lang="en-US" altLang="el-GR" sz="1400" kern="0" dirty="0" err="1"/>
              <a:t>fname</a:t>
            </a:r>
            <a:r>
              <a:rPr lang="en-US" altLang="el-GR" sz="1400" kern="0" dirty="0"/>
              <a:t>[20];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kern="0" dirty="0"/>
              <a:t>    char </a:t>
            </a:r>
            <a:r>
              <a:rPr lang="en-US" altLang="el-GR" sz="1400" kern="0" dirty="0" err="1"/>
              <a:t>lname</a:t>
            </a:r>
            <a:r>
              <a:rPr lang="en-US" altLang="el-GR" sz="1400" kern="0" dirty="0"/>
              <a:t>[30];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1400" kern="0" dirty="0"/>
              <a:t>	int am;</a:t>
            </a:r>
          </a:p>
          <a:p>
            <a:pPr eaLnBrk="1" hangingPunct="1">
              <a:buNone/>
            </a:pPr>
            <a:r>
              <a:rPr lang="en-US" altLang="el-GR" sz="1400" kern="0" dirty="0"/>
              <a:t>};</a:t>
            </a:r>
            <a:endParaRPr lang="el-GR" altLang="el-GR" sz="1400" kern="0" dirty="0"/>
          </a:p>
        </p:txBody>
      </p:sp>
    </p:spTree>
    <p:extLst>
      <p:ext uri="{BB962C8B-B14F-4D97-AF65-F5344CB8AC3E}">
        <p14:creationId xmlns:p14="http://schemas.microsoft.com/office/powerpoint/2010/main" val="305560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AA7A1D-1168-F50B-F9E0-2EE227CD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685AA779-F1CA-F1B5-644D-4D362E3F71F8}"/>
              </a:ext>
            </a:extLst>
          </p:cNvPr>
          <p:cNvSpPr/>
          <p:nvPr/>
        </p:nvSpPr>
        <p:spPr bwMode="auto">
          <a:xfrm>
            <a:off x="77148" y="1649946"/>
            <a:ext cx="2938711" cy="803508"/>
          </a:xfrm>
          <a:prstGeom prst="wedgeRoundRectCallout">
            <a:avLst>
              <a:gd name="adj1" fmla="val 49693"/>
              <a:gd name="adj2" fmla="val 10339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00B0F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Δώσε μου τη διεύθυνση σου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1EEEFD68-B027-D115-F5CB-D88CA9F88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 err="1"/>
              <a:t>Αφαιρετικότητα</a:t>
            </a:r>
            <a:r>
              <a:rPr lang="el-GR" altLang="el-GR" dirty="0"/>
              <a:t> στα Δεδομένα</a:t>
            </a:r>
            <a:endParaRPr lang="en-GB" altLang="el-G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7B376-20B1-C492-02C2-32BC3512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6" y="3410704"/>
            <a:ext cx="1552792" cy="1390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88E2B4-BB6F-3319-C2FD-A85BE97D6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859" y="2224180"/>
            <a:ext cx="1444713" cy="25773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D1DAB8-1186-DF69-343E-55DAF0B81BF6}"/>
              </a:ext>
            </a:extLst>
          </p:cNvPr>
          <p:cNvSpPr txBox="1"/>
          <p:nvPr/>
        </p:nvSpPr>
        <p:spPr>
          <a:xfrm>
            <a:off x="5015880" y="935211"/>
            <a:ext cx="6996642" cy="193899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Χρησιμοποιούμε τον όρο </a:t>
            </a:r>
            <a:r>
              <a:rPr lang="el-GR" b="1" dirty="0"/>
              <a:t>Διεύθυνση</a:t>
            </a:r>
            <a:r>
              <a:rPr lang="el-GR" dirty="0"/>
              <a:t> για να αναφερθούμε σε ένα σύνολο από στοιχεία </a:t>
            </a:r>
            <a:r>
              <a:rPr lang="en-US" dirty="0"/>
              <a:t>(</a:t>
            </a:r>
            <a:r>
              <a:rPr lang="el-GR" dirty="0"/>
              <a:t>όνομα, επώνυμο, οδό, αριθμό, ταχυδρομικό κώδικα, πόλη</a:t>
            </a:r>
            <a:r>
              <a:rPr lang="en-US" dirty="0"/>
              <a:t>)</a:t>
            </a:r>
            <a:r>
              <a:rPr lang="el-GR" dirty="0"/>
              <a:t>. </a:t>
            </a:r>
            <a:r>
              <a:rPr lang="el-GR" dirty="0" err="1"/>
              <a:t>Αποφευγουμε</a:t>
            </a:r>
            <a:r>
              <a:rPr lang="el-GR" dirty="0"/>
              <a:t> με τον τρόπο αυτό τη λεπτομερή αναφορά σε καθένα από αυτά.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877482-1974-F815-964C-EF182F89454F}"/>
              </a:ext>
            </a:extLst>
          </p:cNvPr>
          <p:cNvSpPr txBox="1"/>
          <p:nvPr/>
        </p:nvSpPr>
        <p:spPr>
          <a:xfrm>
            <a:off x="4722849" y="3512864"/>
            <a:ext cx="74691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«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address book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(…)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is a book, </a:t>
            </a:r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(…)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used for storing entries,</a:t>
            </a:r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called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contacts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Each 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contact entry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usually consists of a few standard 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fields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(for example: first name, last name, company name, address, 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telephone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number, 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email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address, 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fax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number, 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mobile phone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number).</a:t>
            </a:r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»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wikipedia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50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49044F11-A630-2D9F-2C4C-6BF332FD5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953" y="957881"/>
            <a:ext cx="7322628" cy="23049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l-GR" altLang="el-GR" sz="2800" dirty="0">
                <a:latin typeface="Times New Roman" panose="02020603050405020304" pitchFamily="18" charset="0"/>
              </a:rPr>
              <a:t>Αναπτύξτε ένα πρόγραμμα για τη διαχείριση Ν αριθμού αστυνομικών ταυτοτήτων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63967B-1509-702A-7B25-82D9D7298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02" y="1874976"/>
            <a:ext cx="3463195" cy="23049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4F1403-6897-3DF8-1772-DC8BC15E8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2027982"/>
            <a:ext cx="4836694" cy="23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Ονοματεπώνυμο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Αριθμός ταυτότητας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Ημερομηνία έκδοσης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Αρχή Έκδοσης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Ύψος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Χρώμα ματιών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Εθνικότητα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1800" kern="0" dirty="0">
                <a:latin typeface="Times New Roman" panose="02020603050405020304" pitchFamily="18" charset="0"/>
              </a:rPr>
              <a:t>…..</a:t>
            </a: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0F758-8967-AB9F-CEAB-5D42CB341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0" y="87489"/>
            <a:ext cx="3262261" cy="5548754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F815E4BF-AF3C-CC5C-D9EA-4C94A154EA9D}"/>
              </a:ext>
            </a:extLst>
          </p:cNvPr>
          <p:cNvSpPr/>
          <p:nvPr/>
        </p:nvSpPr>
        <p:spPr bwMode="auto">
          <a:xfrm>
            <a:off x="312716" y="4570704"/>
            <a:ext cx="7128395" cy="542753"/>
          </a:xfrm>
          <a:prstGeom prst="wedgeRoundRectCallout">
            <a:avLst>
              <a:gd name="adj1" fmla="val -43847"/>
              <a:gd name="adj2" fmla="val 121774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Πως θα οργανώσετε τα δεδομένα Ν ταυτοτήτων;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8BEB5-5988-048B-9828-52DF0A02F974}"/>
              </a:ext>
            </a:extLst>
          </p:cNvPr>
          <p:cNvSpPr txBox="1"/>
          <p:nvPr/>
        </p:nvSpPr>
        <p:spPr>
          <a:xfrm>
            <a:off x="8162330" y="5602202"/>
            <a:ext cx="287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gov.gr  wallet</a:t>
            </a:r>
            <a:endParaRPr lang="el-GR" dirty="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E1500C37-BCB8-BA9F-15F3-4470323CA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Άσκηση [</a:t>
            </a:r>
            <a:r>
              <a:rPr lang="en-US" altLang="el-GR" dirty="0"/>
              <a:t>gov.gr wallet]</a:t>
            </a:r>
            <a:r>
              <a:rPr lang="el-GR" altLang="el-GR" dirty="0"/>
              <a:t> </a:t>
            </a:r>
            <a:endParaRPr lang="en-GB" alt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7B016-5DA8-AA59-DDA9-BE0E61E9B313}"/>
              </a:ext>
            </a:extLst>
          </p:cNvPr>
          <p:cNvSpPr txBox="1"/>
          <p:nvPr/>
        </p:nvSpPr>
        <p:spPr>
          <a:xfrm>
            <a:off x="312716" y="5833034"/>
            <a:ext cx="7142865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Η κατασκευή της Δομής (</a:t>
            </a:r>
            <a:r>
              <a:rPr lang="en-US" dirty="0"/>
              <a:t>struct</a:t>
            </a:r>
            <a:r>
              <a:rPr lang="el-GR" dirty="0"/>
              <a:t>)</a:t>
            </a:r>
            <a:r>
              <a:rPr lang="en-US" dirty="0"/>
              <a:t> </a:t>
            </a:r>
            <a:r>
              <a:rPr lang="el-GR" dirty="0"/>
              <a:t>μας δίνει τη λύση.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4" grpId="0"/>
      <p:bldP spid="8" grpId="0" animBg="1"/>
      <p:bldP spid="9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37F7F4D-0781-A457-CA48-64E120E39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03EE42-1B56-8422-C709-AA320BA7F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Δομή</a:t>
            </a:r>
            <a:r>
              <a:rPr lang="en-US" altLang="el-GR" dirty="0"/>
              <a:t> - Struct</a:t>
            </a:r>
            <a:endParaRPr lang="en-GB" altLang="el-GR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B69306-B7D0-6B0D-E5F7-F49158270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80" y="836712"/>
            <a:ext cx="12026419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l-GR" altLang="el-GR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επιτρέπει</a:t>
            </a:r>
            <a:r>
              <a:rPr lang="el-GR" altLang="el-GR" kern="0" dirty="0">
                <a:latin typeface="Times New Roman" panose="02020603050405020304" pitchFamily="18" charset="0"/>
              </a:rPr>
              <a:t> α) την ομαδοποίηση μεταβλητών (πιθανόν διαφορετικού τύπου) οι οποίες αναπαριστούν ένα σύνολο χαρακτηριστικών μιας οντότητας,</a:t>
            </a:r>
            <a:r>
              <a:rPr lang="en-US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>
                <a:latin typeface="Times New Roman" panose="02020603050405020304" pitchFamily="18" charset="0"/>
              </a:rPr>
              <a:t>και, β) την αναφορά στην ομάδα αυτή των μεταβλητών με ένα όνομα. 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Δηλώνει</a:t>
            </a:r>
            <a:r>
              <a:rPr lang="el-GR" altLang="el-GR" kern="0" dirty="0">
                <a:latin typeface="Times New Roman" panose="02020603050405020304" pitchFamily="18" charset="0"/>
              </a:rPr>
              <a:t>, στην ουσία, ένα νέο τύπο δεδομένων </a:t>
            </a:r>
            <a:r>
              <a:rPr lang="el-GR" altLang="el-GR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και ορίζει </a:t>
            </a:r>
            <a:r>
              <a:rPr lang="el-GR" altLang="el-GR" kern="0" dirty="0">
                <a:latin typeface="Times New Roman" panose="02020603050405020304" pitchFamily="18" charset="0"/>
              </a:rPr>
              <a:t>τη σύνθεση των μεταβλητών του τύπου αυτού.</a:t>
            </a:r>
          </a:p>
          <a:p>
            <a:pPr eaLnBrk="1" hangingPunct="1">
              <a:lnSpc>
                <a:spcPct val="9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l-GR" altLang="el-GR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έχει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ένα </a:t>
            </a:r>
            <a:r>
              <a:rPr lang="el-GR" altLang="el-GR" b="1" kern="0" dirty="0">
                <a:latin typeface="Times New Roman" panose="02020603050405020304" pitchFamily="18" charset="0"/>
              </a:rPr>
              <a:t>όνομα </a:t>
            </a:r>
            <a:r>
              <a:rPr lang="el-GR" altLang="el-GR" kern="0" dirty="0">
                <a:latin typeface="Times New Roman" panose="02020603050405020304" pitchFamily="18" charset="0"/>
              </a:rPr>
              <a:t>(</a:t>
            </a:r>
            <a:r>
              <a:rPr lang="en-US" altLang="el-GR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struct student</a:t>
            </a:r>
            <a:r>
              <a:rPr lang="el-GR" altLang="el-GR" kern="0" dirty="0">
                <a:latin typeface="Times New Roman" panose="02020603050405020304" pitchFamily="18" charset="0"/>
              </a:rPr>
              <a:t>), και,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ένα σύνολο από </a:t>
            </a:r>
            <a:r>
              <a:rPr lang="el-GR" altLang="el-GR" b="1" kern="0" dirty="0">
                <a:latin typeface="Times New Roman" panose="02020603050405020304" pitchFamily="18" charset="0"/>
              </a:rPr>
              <a:t>μέλη</a:t>
            </a:r>
            <a:r>
              <a:rPr lang="en-US" altLang="el-GR" b="1" kern="0" dirty="0">
                <a:latin typeface="Times New Roman" panose="02020603050405020304" pitchFamily="18" charset="0"/>
              </a:rPr>
              <a:t> </a:t>
            </a:r>
            <a:r>
              <a:rPr lang="en-US" altLang="el-GR" kern="0" dirty="0">
                <a:latin typeface="Times New Roman" panose="02020603050405020304" pitchFamily="18" charset="0"/>
              </a:rPr>
              <a:t>(</a:t>
            </a:r>
            <a:r>
              <a:rPr lang="en-US" altLang="el-GR" kern="0" dirty="0" err="1">
                <a:latin typeface="Times New Roman" panose="02020603050405020304" pitchFamily="18" charset="0"/>
              </a:rPr>
              <a:t>fname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n-US" altLang="el-GR" kern="0" dirty="0" err="1">
                <a:latin typeface="Times New Roman" panose="02020603050405020304" pitchFamily="18" charset="0"/>
              </a:rPr>
              <a:t>lname</a:t>
            </a:r>
            <a:r>
              <a:rPr lang="en-US" altLang="el-GR" kern="0" dirty="0">
                <a:latin typeface="Times New Roman" panose="02020603050405020304" pitchFamily="18" charset="0"/>
              </a:rPr>
              <a:t>, am).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l-GR" altLang="el-GR" kern="0" dirty="0">
                <a:latin typeface="Times New Roman" panose="02020603050405020304" pitchFamily="18" charset="0"/>
              </a:rPr>
              <a:t>Κάθε μέλος της δομής έχει όνομα και τύπο.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B9F5B3C-D955-0DCD-6438-7BBD6D29A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9053" y="3250887"/>
            <a:ext cx="4313844" cy="248718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b="1" kern="0" dirty="0">
                <a:solidFill>
                  <a:schemeClr val="hlink"/>
                </a:solidFill>
              </a:rPr>
              <a:t>struct student</a:t>
            </a:r>
            <a:r>
              <a:rPr lang="en-US" altLang="el-GR" sz="2800" kern="0" dirty="0"/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	char </a:t>
            </a:r>
            <a:r>
              <a:rPr lang="en-US" altLang="el-GR" sz="2800" kern="0" dirty="0" err="1"/>
              <a:t>fname</a:t>
            </a:r>
            <a:r>
              <a:rPr lang="en-US" altLang="el-GR" sz="2800" kern="0" dirty="0"/>
              <a:t>[20];        char </a:t>
            </a:r>
            <a:r>
              <a:rPr lang="en-US" altLang="el-GR" sz="2800" kern="0" dirty="0" err="1"/>
              <a:t>lname</a:t>
            </a:r>
            <a:r>
              <a:rPr lang="en-US" altLang="el-GR" sz="2800" kern="0" dirty="0"/>
              <a:t>[30];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	int am;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};</a:t>
            </a:r>
            <a:endParaRPr lang="el-GR" altLang="el-GR" sz="2800" kern="0" dirty="0"/>
          </a:p>
        </p:txBody>
      </p:sp>
    </p:spTree>
    <p:extLst>
      <p:ext uri="{BB962C8B-B14F-4D97-AF65-F5344CB8AC3E}">
        <p14:creationId xmlns:p14="http://schemas.microsoft.com/office/powerpoint/2010/main" val="141028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8972C2E-8AF1-5179-0BDA-3B08F781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DA5971-55B7-C6B0-43B6-D90B006E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16996"/>
            <a:ext cx="10363200" cy="4114800"/>
          </a:xfrm>
        </p:spPr>
        <p:txBody>
          <a:bodyPr/>
          <a:lstStyle/>
          <a:p>
            <a:r>
              <a:rPr lang="el-GR" dirty="0"/>
              <a:t>Δήλωση δομής</a:t>
            </a:r>
          </a:p>
          <a:p>
            <a:r>
              <a:rPr lang="el-GR" dirty="0"/>
              <a:t>Ένθεση δομών</a:t>
            </a:r>
          </a:p>
          <a:p>
            <a:r>
              <a:rPr lang="el-GR" dirty="0"/>
              <a:t>Χρήση δομών</a:t>
            </a:r>
          </a:p>
          <a:p>
            <a:pPr lvl="1"/>
            <a:r>
              <a:rPr lang="el-GR" dirty="0"/>
              <a:t>Δήλωση μεταβλητών τύπου δομής</a:t>
            </a:r>
          </a:p>
          <a:p>
            <a:pPr lvl="1"/>
            <a:r>
              <a:rPr lang="el-GR" dirty="0"/>
              <a:t>Απόδοση αρχικών τιμών</a:t>
            </a:r>
          </a:p>
          <a:p>
            <a:pPr lvl="1"/>
            <a:r>
              <a:rPr lang="el-GR" dirty="0"/>
              <a:t>Αναφορά σε μέλη δομής</a:t>
            </a:r>
          </a:p>
          <a:p>
            <a:r>
              <a:rPr lang="el-GR" dirty="0"/>
              <a:t>Πίνακες δομών</a:t>
            </a:r>
          </a:p>
          <a:p>
            <a:r>
              <a:rPr lang="el-GR" dirty="0"/>
              <a:t>Δομή ως όρισμα και επιστρεφόμενη τιμή</a:t>
            </a:r>
            <a:endParaRPr lang="en-US" dirty="0"/>
          </a:p>
          <a:p>
            <a:pPr lvl="1"/>
            <a:r>
              <a:rPr lang="el-GR" dirty="0"/>
              <a:t>Παραδείγματα</a:t>
            </a:r>
          </a:p>
          <a:p>
            <a:r>
              <a:rPr lang="el-GR" dirty="0"/>
              <a:t>Δείκτες σε δομές</a:t>
            </a:r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99203-6827-C79C-5722-368A47109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1" y="0"/>
            <a:ext cx="12192000" cy="69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l-GR" altLang="el-GR" sz="4000" kern="0" dirty="0"/>
              <a:t>Οργάνωση</a:t>
            </a:r>
            <a:r>
              <a:rPr lang="en-US" altLang="el-GR" sz="4000" kern="0" dirty="0"/>
              <a:t> </a:t>
            </a:r>
            <a:r>
              <a:rPr lang="el-GR" altLang="el-GR" sz="4000" kern="0" dirty="0"/>
              <a:t>Διάλεξης</a:t>
            </a:r>
          </a:p>
        </p:txBody>
      </p:sp>
    </p:spTree>
    <p:extLst>
      <p:ext uri="{BB962C8B-B14F-4D97-AF65-F5344CB8AC3E}">
        <p14:creationId xmlns:p14="http://schemas.microsoft.com/office/powerpoint/2010/main" val="328373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EFCFDBA-CE49-1ABE-4E03-E3086CEA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BA26A2B-4C70-9F47-163C-FA14133BE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Δήλωση δομής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61CFC575-5601-130C-F2C2-9610BB07B35C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l-GR" sz="1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A03F726-4705-F278-F6EE-0B5BF2ED4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144" y="1080603"/>
            <a:ext cx="3816350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b="1" kern="0" dirty="0">
                <a:solidFill>
                  <a:schemeClr val="hlink"/>
                </a:solidFill>
              </a:rPr>
              <a:t>struct rectangle</a:t>
            </a:r>
            <a:r>
              <a:rPr lang="en-US" altLang="el-GR" kern="0" dirty="0"/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 dirty="0"/>
              <a:t>	int x1,y1;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 dirty="0"/>
              <a:t>	int x2,y2;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 dirty="0"/>
              <a:t>};</a:t>
            </a:r>
            <a:endParaRPr lang="el-GR" altLang="el-GR" kern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0DE94-0F1C-6CFB-280A-924A2FBC556B}"/>
              </a:ext>
            </a:extLst>
          </p:cNvPr>
          <p:cNvSpPr txBox="1"/>
          <p:nvPr/>
        </p:nvSpPr>
        <p:spPr>
          <a:xfrm>
            <a:off x="7302351" y="4091385"/>
            <a:ext cx="3995936" cy="156966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Δηλώνει μια δομή με όνομα </a:t>
            </a:r>
            <a:r>
              <a:rPr lang="en-US" b="1" dirty="0"/>
              <a:t>rectangle</a:t>
            </a:r>
            <a:r>
              <a:rPr lang="en-US" dirty="0"/>
              <a:t> </a:t>
            </a:r>
            <a:r>
              <a:rPr lang="el-GR" dirty="0"/>
              <a:t>η οποία απαρτίζεται από 4 μέλη τα οποία είναι όλα ίδιου τύπου.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568F8-EA7F-733C-CE4E-782D7677C32E}"/>
              </a:ext>
            </a:extLst>
          </p:cNvPr>
          <p:cNvSpPr txBox="1"/>
          <p:nvPr/>
        </p:nvSpPr>
        <p:spPr>
          <a:xfrm>
            <a:off x="255619" y="4077072"/>
            <a:ext cx="3995936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Δηλώνει μια δομή με όνομα </a:t>
            </a:r>
            <a:r>
              <a:rPr lang="en-US" b="1" dirty="0"/>
              <a:t>student</a:t>
            </a:r>
            <a:r>
              <a:rPr lang="en-US" dirty="0"/>
              <a:t> </a:t>
            </a:r>
            <a:r>
              <a:rPr lang="el-GR" dirty="0"/>
              <a:t>η οποία απαρτίζεται από 3 μέλη</a:t>
            </a:r>
            <a:r>
              <a:rPr lang="en-US" dirty="0"/>
              <a:t>, </a:t>
            </a:r>
            <a:r>
              <a:rPr lang="el-GR" dirty="0"/>
              <a:t>δύο αλφαριθμητικά (</a:t>
            </a:r>
            <a:r>
              <a:rPr lang="en-US" dirty="0" err="1"/>
              <a:t>fname</a:t>
            </a:r>
            <a:r>
              <a:rPr lang="en-US" dirty="0"/>
              <a:t> </a:t>
            </a:r>
            <a:r>
              <a:rPr lang="el-GR" dirty="0"/>
              <a:t>και </a:t>
            </a:r>
            <a:r>
              <a:rPr lang="en-US" dirty="0" err="1"/>
              <a:t>lname</a:t>
            </a:r>
            <a:r>
              <a:rPr lang="el-GR" dirty="0"/>
              <a:t>) και ένα </a:t>
            </a:r>
            <a:r>
              <a:rPr lang="en-US" dirty="0"/>
              <a:t>int (am).</a:t>
            </a:r>
            <a:r>
              <a:rPr lang="el-GR" dirty="0"/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7B6420A-7192-B61D-D97B-DD3FAFFFE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18" y="1057350"/>
            <a:ext cx="4313844" cy="248718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b="1" kern="0" dirty="0">
                <a:solidFill>
                  <a:schemeClr val="hlink"/>
                </a:solidFill>
              </a:rPr>
              <a:t>struct student</a:t>
            </a:r>
            <a:r>
              <a:rPr lang="en-US" altLang="el-GR" sz="2800" kern="0" dirty="0"/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	char </a:t>
            </a:r>
            <a:r>
              <a:rPr lang="en-US" altLang="el-GR" sz="2800" kern="0" dirty="0" err="1"/>
              <a:t>fname</a:t>
            </a:r>
            <a:r>
              <a:rPr lang="en-US" altLang="el-GR" sz="2800" kern="0" dirty="0"/>
              <a:t>[20];        char </a:t>
            </a:r>
            <a:r>
              <a:rPr lang="en-US" altLang="el-GR" sz="2800" kern="0" dirty="0" err="1"/>
              <a:t>lname</a:t>
            </a:r>
            <a:r>
              <a:rPr lang="en-US" altLang="el-GR" sz="2800" kern="0" dirty="0"/>
              <a:t>[30];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	int am;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};</a:t>
            </a:r>
            <a:endParaRPr lang="el-GR" altLang="el-GR" sz="2800" kern="0" dirty="0"/>
          </a:p>
        </p:txBody>
      </p:sp>
    </p:spTree>
    <p:extLst>
      <p:ext uri="{BB962C8B-B14F-4D97-AF65-F5344CB8AC3E}">
        <p14:creationId xmlns:p14="http://schemas.microsoft.com/office/powerpoint/2010/main" val="377747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F3A3FB7-4D6D-0AB8-403E-7058A713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ACFE380-E1D5-3560-3A5D-D4D73DD6AF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pPr eaLnBrk="1" hangingPunct="1"/>
            <a:r>
              <a:rPr lang="el-GR" altLang="el-GR" dirty="0"/>
              <a:t>Δήλωση δομής με χρήση της</a:t>
            </a:r>
            <a:r>
              <a:rPr lang="en-US" altLang="el-GR" dirty="0"/>
              <a:t> </a:t>
            </a:r>
            <a:r>
              <a:rPr lang="el-GR" altLang="el-GR" b="1" dirty="0" err="1"/>
              <a:t>typedef</a:t>
            </a:r>
            <a:endParaRPr lang="en-GB" altLang="el-GR" b="1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0BA527D-661A-57E4-AC28-20D2BA9D2FB1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l-GR" sz="1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FF64831-B8B9-39EA-FF7A-BC096EECD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136" y="877249"/>
            <a:ext cx="4175810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b="1" kern="0" dirty="0">
                <a:solidFill>
                  <a:srgbClr val="C00000"/>
                </a:solidFill>
              </a:rPr>
              <a:t>typedef</a:t>
            </a:r>
            <a:r>
              <a:rPr lang="en-US" altLang="el-GR" sz="2400" b="1" kern="0" dirty="0">
                <a:solidFill>
                  <a:schemeClr val="hlink"/>
                </a:solidFill>
              </a:rPr>
              <a:t> </a:t>
            </a:r>
            <a:r>
              <a:rPr lang="en-US" altLang="el-GR" sz="2400" kern="0" dirty="0">
                <a:solidFill>
                  <a:schemeClr val="hlink"/>
                </a:solidFill>
              </a:rPr>
              <a:t>struct </a:t>
            </a:r>
            <a:r>
              <a:rPr lang="en-US" altLang="el-GR" sz="2400" kern="0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kern="0" dirty="0"/>
              <a:t>	int x1,y1;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kern="0" dirty="0"/>
              <a:t>	int x2,y2;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kern="0" dirty="0"/>
              <a:t>} </a:t>
            </a:r>
            <a:r>
              <a:rPr lang="en-US" altLang="el-GR" sz="2400" b="1" kern="0" dirty="0"/>
              <a:t>Rectangle</a:t>
            </a:r>
            <a:r>
              <a:rPr lang="en-US" altLang="el-GR" sz="2400" kern="0" dirty="0"/>
              <a:t>;</a:t>
            </a:r>
            <a:endParaRPr lang="el-GR" altLang="el-GR" sz="2400" kern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3439D-6AE7-6606-1982-C8B0E24472E0}"/>
              </a:ext>
            </a:extLst>
          </p:cNvPr>
          <p:cNvSpPr txBox="1"/>
          <p:nvPr/>
        </p:nvSpPr>
        <p:spPr>
          <a:xfrm>
            <a:off x="6015096" y="3018979"/>
            <a:ext cx="5845299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Δηλώνει μια δομή και ορίζει τη λέξη </a:t>
            </a:r>
            <a:r>
              <a:rPr lang="en-GB" b="1" dirty="0"/>
              <a:t>Rectangle</a:t>
            </a:r>
            <a:r>
              <a:rPr lang="en-GB" dirty="0"/>
              <a:t> </a:t>
            </a:r>
            <a:r>
              <a:rPr lang="el-GR" dirty="0"/>
              <a:t>για αναφορά στον τύπο αυτό.</a:t>
            </a:r>
          </a:p>
          <a:p>
            <a:pPr algn="ctr"/>
            <a:r>
              <a:rPr lang="el-GR" dirty="0"/>
              <a:t>Το όνομα του νέου τύπου χρησιμοποιείται για να ορίσει μεταβλητές του τύπου αυτού.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37D10-40AE-0A99-8E2D-C6485333DB5E}"/>
              </a:ext>
            </a:extLst>
          </p:cNvPr>
          <p:cNvSpPr txBox="1"/>
          <p:nvPr/>
        </p:nvSpPr>
        <p:spPr>
          <a:xfrm>
            <a:off x="331605" y="3676495"/>
            <a:ext cx="526730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Δηλώνει μια δομή και ορίζει τη λέξη </a:t>
            </a:r>
            <a:r>
              <a:rPr lang="en-US" altLang="el-GR" sz="2400" b="1" kern="0" dirty="0"/>
              <a:t>Student</a:t>
            </a:r>
            <a:r>
              <a:rPr lang="en-GB" dirty="0"/>
              <a:t> </a:t>
            </a:r>
            <a:r>
              <a:rPr lang="el-GR" dirty="0"/>
              <a:t>για αναφορά στον τύπο αυτό.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52C1E-0B84-FB74-4311-90CB0F84E160}"/>
              </a:ext>
            </a:extLst>
          </p:cNvPr>
          <p:cNvSpPr txBox="1"/>
          <p:nvPr/>
        </p:nvSpPr>
        <p:spPr>
          <a:xfrm>
            <a:off x="0" y="5491042"/>
            <a:ext cx="12192000" cy="76944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typedef</a:t>
            </a:r>
            <a:r>
              <a:rPr lang="en-GB" sz="2000" dirty="0"/>
              <a:t> </a:t>
            </a:r>
            <a:r>
              <a:rPr lang="el-GR" sz="2000" dirty="0"/>
              <a:t>είναι δεσμευμένη λέξη στην </a:t>
            </a:r>
            <a:r>
              <a:rPr lang="en-GB" sz="2000" dirty="0"/>
              <a:t>C </a:t>
            </a:r>
            <a:r>
              <a:rPr lang="el-GR" sz="2000" dirty="0"/>
              <a:t>και χρησιμοποιείται για </a:t>
            </a:r>
            <a:r>
              <a:rPr lang="el-GR" sz="2000" b="1" dirty="0"/>
              <a:t>να ορίσει ένα νέο όνομα </a:t>
            </a:r>
            <a:r>
              <a:rPr lang="el-GR" sz="2000" dirty="0"/>
              <a:t>σε ένα τύπο δεδομένων. </a:t>
            </a:r>
            <a:r>
              <a:rPr lang="el-GR" sz="2000" b="1" dirty="0"/>
              <a:t>Δεν δημιουργεί τύπο.</a:t>
            </a:r>
            <a:endParaRPr lang="en-GB" sz="2000" b="1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CDDED66-B251-2F64-C34F-BDF496DCE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38" y="822276"/>
            <a:ext cx="4991549" cy="248718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b="1" kern="0" dirty="0">
                <a:solidFill>
                  <a:schemeClr val="hlink"/>
                </a:solidFill>
              </a:rPr>
              <a:t>typedef </a:t>
            </a:r>
            <a:r>
              <a:rPr lang="en-US" altLang="el-GR" sz="2800" kern="0" dirty="0">
                <a:solidFill>
                  <a:schemeClr val="hlink"/>
                </a:solidFill>
              </a:rPr>
              <a:t>struct </a:t>
            </a:r>
            <a:r>
              <a:rPr lang="en-US" altLang="el-GR" sz="2800" kern="0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	char </a:t>
            </a:r>
            <a:r>
              <a:rPr lang="en-US" altLang="el-GR" sz="2800" kern="0" dirty="0" err="1"/>
              <a:t>fname</a:t>
            </a:r>
            <a:r>
              <a:rPr lang="en-US" altLang="el-GR" sz="2800" kern="0" dirty="0"/>
              <a:t>[20];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   char </a:t>
            </a:r>
            <a:r>
              <a:rPr lang="en-US" altLang="el-GR" sz="2800" kern="0" dirty="0" err="1"/>
              <a:t>lname</a:t>
            </a:r>
            <a:r>
              <a:rPr lang="en-US" altLang="el-GR" sz="2800" kern="0" dirty="0"/>
              <a:t>[30];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kern="0" dirty="0"/>
              <a:t>	int am;</a:t>
            </a:r>
          </a:p>
          <a:p>
            <a:pPr eaLnBrk="1" hangingPunct="1">
              <a:buNone/>
            </a:pPr>
            <a:r>
              <a:rPr lang="en-US" altLang="el-GR" sz="2800" kern="0" dirty="0"/>
              <a:t>}</a:t>
            </a:r>
            <a:r>
              <a:rPr lang="en-US" altLang="el-GR" sz="2800" b="1" kern="0" dirty="0"/>
              <a:t> Student</a:t>
            </a:r>
            <a:r>
              <a:rPr lang="en-US" altLang="el-GR" sz="2800" kern="0" dirty="0"/>
              <a:t>;</a:t>
            </a:r>
            <a:endParaRPr lang="el-GR" altLang="el-GR" sz="2800" kern="0" dirty="0"/>
          </a:p>
        </p:txBody>
      </p:sp>
    </p:spTree>
    <p:extLst>
      <p:ext uri="{BB962C8B-B14F-4D97-AF65-F5344CB8AC3E}">
        <p14:creationId xmlns:p14="http://schemas.microsoft.com/office/powerpoint/2010/main" val="175785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8431B5C-E257-8239-2598-9860E754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593ED89-B51A-986D-B03C-A385410BD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400" dirty="0"/>
              <a:t>Δήλωση δομής</a:t>
            </a:r>
            <a:r>
              <a:rPr lang="en-US" altLang="el-GR" sz="4400" dirty="0"/>
              <a:t> </a:t>
            </a:r>
            <a:r>
              <a:rPr lang="el-GR" altLang="el-GR" sz="4400" dirty="0"/>
              <a:t>με βάση άλλη δομή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D764290-C1AA-69DB-0A3C-605780A7EB2A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l-GR" sz="1400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1305DB1-F56B-F2B7-CB43-CFBE5AC4A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81" y="872175"/>
            <a:ext cx="410438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b="1" dirty="0">
                <a:solidFill>
                  <a:srgbClr val="800000"/>
                </a:solidFill>
              </a:rPr>
              <a:t>struct point {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b="1" dirty="0">
                <a:solidFill>
                  <a:schemeClr val="hlink"/>
                </a:solidFill>
              </a:rPr>
              <a:t>	</a:t>
            </a:r>
            <a:r>
              <a:rPr lang="en-US" altLang="el-GR" sz="3200" dirty="0"/>
              <a:t>int x;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dirty="0"/>
              <a:t>	int y;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dirty="0"/>
              <a:t>	};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b="1" dirty="0">
                <a:solidFill>
                  <a:srgbClr val="800000"/>
                </a:solidFill>
              </a:rPr>
              <a:t>struct rectangle2</a:t>
            </a:r>
            <a:r>
              <a:rPr lang="en-US" altLang="el-GR" sz="3200" dirty="0"/>
              <a:t> {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dirty="0"/>
              <a:t>	</a:t>
            </a:r>
            <a:r>
              <a:rPr lang="en-US" altLang="el-GR" sz="3200" dirty="0">
                <a:solidFill>
                  <a:schemeClr val="hlink"/>
                </a:solidFill>
              </a:rPr>
              <a:t>struct point</a:t>
            </a:r>
            <a:r>
              <a:rPr lang="en-US" altLang="el-GR" sz="3200" dirty="0"/>
              <a:t> p1;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dirty="0"/>
              <a:t>	struct point p2;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l-GR" sz="3200" dirty="0"/>
              <a:t>	};</a:t>
            </a:r>
            <a:endParaRPr lang="el-GR" altLang="el-GR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746BA-9D96-D49A-458E-88BA5A53328E}"/>
              </a:ext>
            </a:extLst>
          </p:cNvPr>
          <p:cNvSpPr txBox="1"/>
          <p:nvPr/>
        </p:nvSpPr>
        <p:spPr>
          <a:xfrm>
            <a:off x="1775520" y="1484784"/>
            <a:ext cx="3669310" cy="156966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Δηλώνει τη δομή </a:t>
            </a:r>
            <a:r>
              <a:rPr lang="en-US" b="1" dirty="0"/>
              <a:t>point</a:t>
            </a:r>
            <a:r>
              <a:rPr lang="en-US" dirty="0"/>
              <a:t> </a:t>
            </a:r>
            <a:r>
              <a:rPr lang="el-GR" dirty="0"/>
              <a:t>η οποία απαρτίζεται από δύο μέλη, τα </a:t>
            </a:r>
            <a:r>
              <a:rPr lang="en-US" dirty="0"/>
              <a:t>x </a:t>
            </a:r>
            <a:r>
              <a:rPr lang="el-GR" dirty="0"/>
              <a:t>και </a:t>
            </a:r>
            <a:r>
              <a:rPr lang="en-US" dirty="0"/>
              <a:t>y</a:t>
            </a:r>
            <a:r>
              <a:rPr lang="el-GR" dirty="0"/>
              <a:t> τα οποία είναι τύπου </a:t>
            </a:r>
            <a:r>
              <a:rPr lang="en-US" dirty="0"/>
              <a:t>int.</a:t>
            </a:r>
            <a:endParaRPr 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0D965-5675-8F03-45F2-1CC5390FF18B}"/>
              </a:ext>
            </a:extLst>
          </p:cNvPr>
          <p:cNvSpPr txBox="1"/>
          <p:nvPr/>
        </p:nvSpPr>
        <p:spPr>
          <a:xfrm>
            <a:off x="785139" y="4999419"/>
            <a:ext cx="5650072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Δηλώνει τη δομή </a:t>
            </a:r>
            <a:r>
              <a:rPr lang="en-US" b="1" dirty="0"/>
              <a:t>rectangle</a:t>
            </a:r>
            <a:r>
              <a:rPr lang="en-US" dirty="0"/>
              <a:t> </a:t>
            </a:r>
            <a:r>
              <a:rPr lang="el-GR" dirty="0"/>
              <a:t>η οποία απαρτίζεται από δύο μέλη, τα </a:t>
            </a:r>
            <a:r>
              <a:rPr lang="en-US" dirty="0"/>
              <a:t>p1 </a:t>
            </a:r>
            <a:r>
              <a:rPr lang="el-GR" dirty="0"/>
              <a:t>και </a:t>
            </a:r>
            <a:r>
              <a:rPr lang="en-US" dirty="0"/>
              <a:t>p2</a:t>
            </a:r>
            <a:r>
              <a:rPr lang="el-GR" dirty="0"/>
              <a:t> τα οποία είναι τύπου </a:t>
            </a:r>
            <a:r>
              <a:rPr lang="en-US" b="1" dirty="0"/>
              <a:t>struct point</a:t>
            </a:r>
            <a:r>
              <a:rPr lang="en-US" dirty="0"/>
              <a:t>.</a:t>
            </a:r>
            <a:endParaRPr lang="el-GR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B741AA-2694-7159-08D8-DF0032CAD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977" y="872175"/>
            <a:ext cx="3168352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None/>
            </a:pPr>
            <a:r>
              <a:rPr lang="en-US" altLang="el-GR" sz="2400" b="1" kern="0" dirty="0">
                <a:solidFill>
                  <a:srgbClr val="C00000"/>
                </a:solidFill>
              </a:rPr>
              <a:t>typedef</a:t>
            </a:r>
            <a:r>
              <a:rPr lang="en-US" altLang="el-GR" sz="2400" b="1" kern="0" dirty="0">
                <a:solidFill>
                  <a:schemeClr val="hlink"/>
                </a:solidFill>
              </a:rPr>
              <a:t> </a:t>
            </a:r>
            <a:r>
              <a:rPr lang="en-US" altLang="el-GR" sz="2400" kern="0" dirty="0">
                <a:solidFill>
                  <a:schemeClr val="hlink"/>
                </a:solidFill>
              </a:rPr>
              <a:t>struct </a:t>
            </a:r>
            <a:r>
              <a:rPr lang="en-US" altLang="el-GR" sz="2400" kern="0" dirty="0"/>
              <a:t>{</a:t>
            </a:r>
          </a:p>
          <a:p>
            <a:pPr eaLnBrk="1" hangingPunct="1">
              <a:buNone/>
            </a:pPr>
            <a:r>
              <a:rPr lang="en-US" altLang="el-GR" sz="2400" kern="0" dirty="0"/>
              <a:t>	int x;</a:t>
            </a:r>
          </a:p>
          <a:p>
            <a:pPr eaLnBrk="1" hangingPunct="1">
              <a:buNone/>
            </a:pPr>
            <a:r>
              <a:rPr lang="en-US" altLang="el-GR" sz="2400" kern="0" dirty="0"/>
              <a:t>	int y;</a:t>
            </a:r>
          </a:p>
          <a:p>
            <a:pPr eaLnBrk="1" hangingPunct="1">
              <a:buNone/>
            </a:pPr>
            <a:r>
              <a:rPr lang="en-US" altLang="el-GR" sz="2400" kern="0" dirty="0"/>
              <a:t>} </a:t>
            </a:r>
            <a:r>
              <a:rPr lang="en-US" altLang="el-GR" sz="2400" b="1" kern="0" dirty="0"/>
              <a:t>Point</a:t>
            </a:r>
            <a:r>
              <a:rPr lang="en-US" altLang="el-GR" sz="2400" kern="0" dirty="0"/>
              <a:t>;</a:t>
            </a:r>
          </a:p>
          <a:p>
            <a:pPr eaLnBrk="1" hangingPunct="1">
              <a:buNone/>
            </a:pPr>
            <a:endParaRPr lang="el-GR" altLang="el-GR" sz="2400" kern="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b="1" kern="0" dirty="0">
                <a:solidFill>
                  <a:srgbClr val="C00000"/>
                </a:solidFill>
              </a:rPr>
              <a:t>typedef</a:t>
            </a:r>
            <a:r>
              <a:rPr lang="en-US" altLang="el-GR" sz="2400" b="1" kern="0" dirty="0">
                <a:solidFill>
                  <a:schemeClr val="hlink"/>
                </a:solidFill>
              </a:rPr>
              <a:t> </a:t>
            </a:r>
            <a:r>
              <a:rPr lang="en-US" altLang="el-GR" sz="2400" kern="0" dirty="0">
                <a:solidFill>
                  <a:schemeClr val="hlink"/>
                </a:solidFill>
              </a:rPr>
              <a:t>struct </a:t>
            </a:r>
            <a:r>
              <a:rPr lang="en-US" altLang="el-GR" sz="2400" kern="0" dirty="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kern="0" dirty="0"/>
              <a:t>	Point p1;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kern="0" dirty="0"/>
              <a:t>	Point p2;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400" kern="0" dirty="0"/>
              <a:t>} </a:t>
            </a:r>
            <a:r>
              <a:rPr lang="en-US" altLang="el-GR" sz="2400" b="1" kern="0" dirty="0"/>
              <a:t>Rectangle</a:t>
            </a:r>
            <a:r>
              <a:rPr lang="el-GR" altLang="el-GR" sz="2400" b="1" kern="0" dirty="0"/>
              <a:t>2</a:t>
            </a:r>
            <a:r>
              <a:rPr lang="en-US" altLang="el-GR" sz="2400" kern="0" dirty="0"/>
              <a:t>;</a:t>
            </a:r>
            <a:endParaRPr lang="el-GR" altLang="el-GR" sz="2400" kern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3D560-1DCC-282E-E7E1-53717DC99653}"/>
              </a:ext>
            </a:extLst>
          </p:cNvPr>
          <p:cNvSpPr txBox="1"/>
          <p:nvPr/>
        </p:nvSpPr>
        <p:spPr>
          <a:xfrm>
            <a:off x="8064306" y="1268760"/>
            <a:ext cx="4127694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2000" dirty="0"/>
              <a:t>Δηλώνει τη λέξη </a:t>
            </a:r>
            <a:r>
              <a:rPr lang="en-US" sz="2000" b="1" dirty="0"/>
              <a:t>Point</a:t>
            </a:r>
            <a:r>
              <a:rPr lang="en-US" sz="2000" dirty="0"/>
              <a:t> </a:t>
            </a:r>
            <a:r>
              <a:rPr lang="el-GR" sz="2000" dirty="0"/>
              <a:t>για αναφορά στον νέο τύπο που ορίζει η δομή. </a:t>
            </a:r>
            <a:endParaRPr lang="en-US" sz="2000" dirty="0"/>
          </a:p>
          <a:p>
            <a:pPr algn="ctr"/>
            <a:r>
              <a:rPr lang="el-GR" sz="2000" dirty="0"/>
              <a:t>Ο τύπος αυτός απαρτίζεται από 2 μέλη </a:t>
            </a:r>
            <a:r>
              <a:rPr lang="en-US" sz="2000" dirty="0"/>
              <a:t>(x </a:t>
            </a:r>
            <a:r>
              <a:rPr lang="el-GR" sz="2000" dirty="0"/>
              <a:t>και </a:t>
            </a:r>
            <a:r>
              <a:rPr lang="en-US" sz="2000" dirty="0"/>
              <a:t>y) </a:t>
            </a:r>
            <a:r>
              <a:rPr lang="el-GR" sz="2000" dirty="0"/>
              <a:t>που είναι τύπου </a:t>
            </a:r>
            <a:r>
              <a:rPr lang="en-US" sz="2000" dirty="0"/>
              <a:t>int.</a:t>
            </a:r>
            <a:endParaRPr lang="el-G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971971-D56C-7693-72CF-2087DB51837F}"/>
              </a:ext>
            </a:extLst>
          </p:cNvPr>
          <p:cNvSpPr txBox="1"/>
          <p:nvPr/>
        </p:nvSpPr>
        <p:spPr>
          <a:xfrm>
            <a:off x="7632673" y="4783975"/>
            <a:ext cx="435046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2000" dirty="0"/>
              <a:t>Δηλώνει τη λέξη </a:t>
            </a:r>
            <a:r>
              <a:rPr lang="en-US" altLang="el-GR" sz="2000" b="1" kern="0" dirty="0"/>
              <a:t>Rectangle</a:t>
            </a:r>
            <a:r>
              <a:rPr lang="en-US" sz="2000" dirty="0"/>
              <a:t> </a:t>
            </a:r>
            <a:r>
              <a:rPr lang="el-GR" sz="2000" dirty="0"/>
              <a:t>για αναφορά στον νέο τύπο που ορίζει η δομή. </a:t>
            </a:r>
            <a:endParaRPr lang="en-US" sz="2000" dirty="0"/>
          </a:p>
          <a:p>
            <a:pPr algn="ctr"/>
            <a:r>
              <a:rPr lang="el-GR" sz="2000" dirty="0"/>
              <a:t>Ο τύπος αυτός απαρτίζεται από 2 μέλη </a:t>
            </a:r>
            <a:r>
              <a:rPr lang="en-US" sz="2000" dirty="0"/>
              <a:t>(p1,p2) </a:t>
            </a:r>
            <a:r>
              <a:rPr lang="el-GR" sz="2000" dirty="0"/>
              <a:t>που είναι τύπου </a:t>
            </a:r>
            <a:r>
              <a:rPr lang="en-US" sz="2000" dirty="0"/>
              <a:t>Point.</a:t>
            </a:r>
            <a:endParaRPr lang="el-GR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768D14-58D0-4A02-A687-67A6B72A63E6}"/>
              </a:ext>
            </a:extLst>
          </p:cNvPr>
          <p:cNvSpPr/>
          <p:nvPr/>
        </p:nvSpPr>
        <p:spPr bwMode="auto">
          <a:xfrm>
            <a:off x="6642292" y="872175"/>
            <a:ext cx="76685" cy="554301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0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 animBg="1"/>
      <p:bldP spid="5" grpId="0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082FEE7-91A8-568E-FAC7-064DF3CB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36711F4-8894-8F31-2ABE-A6D59035F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Δήλωση μεταβλητής τύπου δομής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C183371-A0C9-E6D4-83D0-6D80EC620EA5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l-GR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579DA1-0FF3-B04D-F205-6ACBD3C1C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2" y="723913"/>
            <a:ext cx="12046896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kern="0" dirty="0">
                <a:latin typeface="Times New Roman" panose="02020603050405020304" pitchFamily="18" charset="0"/>
              </a:rPr>
              <a:t>Ακολουθεί τον γενικό κανόνα. Ορίζει τον τύπο και στη συνέχεια το όνομα της μεταβλητής.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l-GR" altLang="el-GR" kern="0" dirty="0"/>
              <a:t>	 </a:t>
            </a:r>
            <a:r>
              <a:rPr lang="en-US" altLang="el-GR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struct rectangle rect1;</a:t>
            </a:r>
            <a:r>
              <a:rPr lang="el-GR" altLang="el-GR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b="1" kern="0" dirty="0">
                <a:latin typeface="Courier New" panose="02070309020205020404" pitchFamily="49" charset="0"/>
              </a:rPr>
              <a:t>ή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l-GR" altLang="el-GR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  </a:t>
            </a:r>
            <a:r>
              <a:rPr lang="en-GB" altLang="el-GR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Rectangle rect1;</a:t>
            </a:r>
            <a:endParaRPr lang="en-US" altLang="el-GR" b="1" kern="0" dirty="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l-GR" kern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D2D2C27-D075-F90B-7D78-DE21A64B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9" y="3140968"/>
            <a:ext cx="12046896" cy="2736304"/>
          </a:xfrm>
          <a:solidFill>
            <a:srgbClr val="92D050"/>
          </a:solidFill>
        </p:spPr>
        <p:txBody>
          <a:bodyPr/>
          <a:lstStyle/>
          <a:p>
            <a:pPr marL="0" indent="0">
              <a:buNone/>
            </a:pPr>
            <a:r>
              <a:rPr lang="el-GR" sz="2400" b="1" dirty="0"/>
              <a:t>Η πρόταση δήλωσης </a:t>
            </a:r>
            <a:endParaRPr lang="en-US" sz="2400" b="1" dirty="0"/>
          </a:p>
          <a:p>
            <a:r>
              <a:rPr lang="el-GR" sz="2400" b="1" dirty="0"/>
              <a:t>δηλώνει</a:t>
            </a:r>
            <a:r>
              <a:rPr lang="el-GR" sz="2400" dirty="0"/>
              <a:t> την </a:t>
            </a:r>
            <a:r>
              <a:rPr lang="en-US" sz="2400" dirty="0"/>
              <a:t>rect1 </a:t>
            </a:r>
            <a:r>
              <a:rPr lang="el-GR" sz="2400" dirty="0"/>
              <a:t>ως μεταβλητή τύπου </a:t>
            </a:r>
            <a:r>
              <a:rPr lang="en-US" altLang="el-GR" sz="2400" dirty="0">
                <a:solidFill>
                  <a:schemeClr val="hlink"/>
                </a:solidFill>
                <a:latin typeface="Courier New" panose="02070309020205020404" pitchFamily="49" charset="0"/>
              </a:rPr>
              <a:t>struct rectangle</a:t>
            </a:r>
            <a:r>
              <a:rPr lang="el-GR" sz="2400" dirty="0"/>
              <a:t>, που έχει τη δομή που ορίζει ο τύπος </a:t>
            </a:r>
            <a:r>
              <a:rPr lang="en-US" altLang="el-GR" sz="2400" dirty="0">
                <a:solidFill>
                  <a:schemeClr val="hlink"/>
                </a:solidFill>
                <a:latin typeface="Courier New" panose="02070309020205020404" pitchFamily="49" charset="0"/>
              </a:rPr>
              <a:t>struct rectangle </a:t>
            </a:r>
            <a:r>
              <a:rPr lang="el-GR" altLang="el-GR" sz="2400" dirty="0"/>
              <a:t>ή</a:t>
            </a:r>
            <a:r>
              <a:rPr lang="el-GR" altLang="el-GR" sz="2400" dirty="0">
                <a:latin typeface="Courier New" panose="02070309020205020404" pitchFamily="49" charset="0"/>
              </a:rPr>
              <a:t> </a:t>
            </a:r>
            <a:r>
              <a:rPr lang="el-GR" altLang="el-GR" sz="2400" dirty="0"/>
              <a:t>αλλιώ</a:t>
            </a:r>
            <a:r>
              <a:rPr lang="el-GR" altLang="el-GR" sz="2400" dirty="0">
                <a:latin typeface="Courier New" panose="02070309020205020404" pitchFamily="49" charset="0"/>
              </a:rPr>
              <a:t>ς </a:t>
            </a:r>
            <a:r>
              <a:rPr lang="en-GB" altLang="el-GR" sz="2400" dirty="0">
                <a:solidFill>
                  <a:schemeClr val="hlink"/>
                </a:solidFill>
                <a:latin typeface="Courier New" panose="02070309020205020404" pitchFamily="49" charset="0"/>
              </a:rPr>
              <a:t>Rectangle</a:t>
            </a:r>
            <a:r>
              <a:rPr lang="el-GR" altLang="el-GR" sz="2400" dirty="0">
                <a:solidFill>
                  <a:schemeClr val="hlink"/>
                </a:solidFill>
                <a:latin typeface="Courier New" panose="02070309020205020404" pitchFamily="49" charset="0"/>
              </a:rPr>
              <a:t>.</a:t>
            </a:r>
            <a:endParaRPr lang="el-GR" sz="2400" dirty="0"/>
          </a:p>
          <a:p>
            <a:endParaRPr lang="el-GR" sz="2400" dirty="0"/>
          </a:p>
          <a:p>
            <a:r>
              <a:rPr lang="el-GR" sz="2400" b="1" dirty="0"/>
              <a:t>έχει</a:t>
            </a:r>
            <a:r>
              <a:rPr lang="el-GR" sz="2400" dirty="0"/>
              <a:t> ως αποτέλεσμα τη δέσμευση τόσης μνήμης όσης απαιτείται για την αποθήκευση των μελών της δομής που δηλώνει ο τύπος </a:t>
            </a:r>
            <a:r>
              <a:rPr lang="en-US" altLang="el-GR" sz="2400" dirty="0">
                <a:solidFill>
                  <a:schemeClr val="hlink"/>
                </a:solidFill>
                <a:latin typeface="Courier New" panose="02070309020205020404" pitchFamily="49" charset="0"/>
              </a:rPr>
              <a:t>struct rectangle</a:t>
            </a:r>
            <a:r>
              <a:rPr lang="el-GR" altLang="el-GR" sz="2400" dirty="0">
                <a:solidFill>
                  <a:schemeClr val="hlink"/>
                </a:solidFill>
                <a:latin typeface="Courier New" panose="02070309020205020404" pitchFamily="49" charset="0"/>
              </a:rPr>
              <a:t>.</a:t>
            </a:r>
            <a:r>
              <a:rPr lang="en-US" altLang="el-GR" sz="2400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endParaRPr lang="el-GR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3314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19F5606-FCE8-991C-191B-C4B0B029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9A73BCF-55CE-2708-6E89-C674FF92D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Απόδοση αρχικής τιμής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4E1137F-E66E-91AB-BE3C-53B75E71E982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l-GR" sz="1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508353E-255D-49FE-EECD-082C9B249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58" y="1151334"/>
            <a:ext cx="914400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kern="0" dirty="0"/>
              <a:t>	</a:t>
            </a:r>
            <a:r>
              <a:rPr lang="en-US" altLang="el-GR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Rectangle </a:t>
            </a:r>
            <a:r>
              <a:rPr lang="en-US" altLang="el-GR" b="1" kern="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rect</a:t>
            </a:r>
            <a:r>
              <a:rPr lang="en-US" altLang="el-GR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l-GR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= {10,10,30,20};</a:t>
            </a:r>
            <a:endParaRPr lang="el-GR" altLang="el-GR" kern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l-GR" kern="0" dirty="0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B8AC3-6312-96A1-F7FE-E6D23F79F0E4}"/>
              </a:ext>
            </a:extLst>
          </p:cNvPr>
          <p:cNvSpPr txBox="1"/>
          <p:nvPr/>
        </p:nvSpPr>
        <p:spPr>
          <a:xfrm>
            <a:off x="251520" y="4162475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l-GR" dirty="0"/>
          </a:p>
          <a:p>
            <a:endParaRPr lang="el-GR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F18399-DF28-4BE4-B8AC-3F0E469CC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78" y="2106924"/>
            <a:ext cx="12120338" cy="14669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l-GR" altLang="el-GR" sz="2800" kern="0" dirty="0">
                <a:latin typeface="Times New Roman" panose="02020603050405020304" pitchFamily="18" charset="0"/>
              </a:rPr>
              <a:t>Είναι μια </a:t>
            </a:r>
            <a:r>
              <a:rPr lang="el-GR" altLang="el-GR" sz="2800" b="1" kern="0" dirty="0">
                <a:latin typeface="Times New Roman" panose="02020603050405020304" pitchFamily="18" charset="0"/>
              </a:rPr>
              <a:t>πρόταση δήλωσης που αποδίδει και αρχικές τιμές</a:t>
            </a:r>
            <a:r>
              <a:rPr lang="el-GR" altLang="el-GR" sz="2800" kern="0" dirty="0">
                <a:latin typeface="Times New Roman" panose="02020603050405020304" pitchFamily="18" charset="0"/>
              </a:rPr>
              <a:t>.</a:t>
            </a:r>
            <a:r>
              <a:rPr lang="en-US" altLang="el-GR" sz="2800" kern="0" dirty="0">
                <a:latin typeface="Times New Roman" panose="02020603050405020304" pitchFamily="18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l-GR" altLang="el-GR" sz="2800" kern="0" dirty="0">
                <a:latin typeface="Times New Roman" panose="02020603050405020304" pitchFamily="18" charset="0"/>
              </a:rPr>
              <a:t>Αποδίδει αρχικές τιμές στα μέλη της μεταβλητής </a:t>
            </a:r>
            <a:r>
              <a:rPr lang="el-GR" altLang="el-GR" sz="2800" b="1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rect</a:t>
            </a:r>
            <a:r>
              <a:rPr lang="el-GR" altLang="el-GR" sz="2800" kern="0" dirty="0">
                <a:latin typeface="Times New Roman" panose="02020603050405020304" pitchFamily="18" charset="0"/>
              </a:rPr>
              <a:t> τα οποία είναι τα x1,y1, x2 και y2 όπως ακριβώς τα ορίζει ο τύπος </a:t>
            </a:r>
            <a:r>
              <a:rPr lang="en-US" altLang="el-GR" sz="28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l-GR" altLang="el-GR" sz="2800" b="1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ectangle</a:t>
            </a:r>
            <a:r>
              <a:rPr lang="el-GR" altLang="el-GR" sz="2800" kern="0" dirty="0">
                <a:latin typeface="Times New Roman" panose="02020603050405020304" pitchFamily="18" charset="0"/>
              </a:rPr>
              <a:t>.</a:t>
            </a:r>
            <a:r>
              <a:rPr lang="el-GR" altLang="el-GR" sz="2800" kern="0" dirty="0"/>
              <a:t>	</a:t>
            </a:r>
            <a:endParaRPr lang="en-US" altLang="el-GR" sz="2800" kern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A57FFF9-DB84-D0BB-315B-2206A5F72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05" y="4027218"/>
            <a:ext cx="914400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l-GR" kern="0" dirty="0"/>
              <a:t>	</a:t>
            </a:r>
            <a:r>
              <a:rPr lang="en-US" altLang="el-GR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Rectangle2 </a:t>
            </a:r>
            <a:r>
              <a:rPr lang="en-US" altLang="el-GR" b="1" kern="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myRect</a:t>
            </a:r>
            <a:r>
              <a:rPr lang="en-US" altLang="el-GR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 = { {1,2},{3,4} };</a:t>
            </a:r>
            <a:endParaRPr lang="el-GR" altLang="el-GR" kern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l-GR" kern="0" dirty="0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65EEACB-5AB7-2C71-8031-9610CCF38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53242"/>
            <a:ext cx="12120338" cy="142985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l-GR" altLang="el-GR" sz="2800" kern="0" dirty="0">
                <a:latin typeface="Times New Roman" panose="02020603050405020304" pitchFamily="18" charset="0"/>
              </a:rPr>
              <a:t>Η πρόταση αποδίδει αρχικές τιμές στα μέλη της μεταβλητής </a:t>
            </a:r>
            <a:r>
              <a:rPr lang="en-US" altLang="el-GR" sz="2800" b="1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myR</a:t>
            </a:r>
            <a:r>
              <a:rPr lang="el-GR" altLang="el-GR" sz="2800" b="1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ect</a:t>
            </a:r>
            <a:r>
              <a:rPr lang="el-GR" altLang="el-GR" sz="2800" kern="0" dirty="0">
                <a:latin typeface="Times New Roman" panose="02020603050405020304" pitchFamily="18" charset="0"/>
              </a:rPr>
              <a:t> τα οποία είναι τα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p1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και </a:t>
            </a:r>
            <a:r>
              <a:rPr lang="en-GB" altLang="el-GR" sz="2800" kern="0" dirty="0">
                <a:latin typeface="Times New Roman" panose="02020603050405020304" pitchFamily="18" charset="0"/>
              </a:rPr>
              <a:t>p2 (</a:t>
            </a:r>
            <a:r>
              <a:rPr lang="el-GR" altLang="el-GR" sz="2800" kern="0" dirty="0">
                <a:latin typeface="Times New Roman" panose="02020603050405020304" pitchFamily="18" charset="0"/>
              </a:rPr>
              <a:t>με επιμέρους μέλη </a:t>
            </a:r>
            <a:r>
              <a:rPr lang="en-US" altLang="el-GR" sz="2800" kern="0" dirty="0">
                <a:latin typeface="Times New Roman" panose="02020603050405020304" pitchFamily="18" charset="0"/>
              </a:rPr>
              <a:t>p</a:t>
            </a:r>
            <a:r>
              <a:rPr lang="el-GR" altLang="el-GR" sz="2800" kern="0" dirty="0">
                <a:latin typeface="Times New Roman" panose="02020603050405020304" pitchFamily="18" charset="0"/>
              </a:rPr>
              <a:t>1</a:t>
            </a:r>
            <a:r>
              <a:rPr lang="en-US" altLang="el-GR" sz="2800" kern="0" dirty="0">
                <a:latin typeface="Times New Roman" panose="02020603050405020304" pitchFamily="18" charset="0"/>
              </a:rPr>
              <a:t>.x</a:t>
            </a:r>
            <a:r>
              <a:rPr lang="el-GR" altLang="el-GR" sz="2800" kern="0" dirty="0">
                <a:latin typeface="Times New Roman" panose="02020603050405020304" pitchFamily="18" charset="0"/>
              </a:rPr>
              <a:t>,</a:t>
            </a:r>
            <a:r>
              <a:rPr lang="en-US" altLang="el-GR" sz="2800" kern="0" dirty="0">
                <a:latin typeface="Times New Roman" panose="02020603050405020304" pitchFamily="18" charset="0"/>
              </a:rPr>
              <a:t> p1.y</a:t>
            </a:r>
            <a:r>
              <a:rPr lang="el-GR" altLang="el-GR" sz="2800" kern="0" dirty="0">
                <a:latin typeface="Times New Roman" panose="02020603050405020304" pitchFamily="18" charset="0"/>
              </a:rPr>
              <a:t>, και </a:t>
            </a:r>
            <a:r>
              <a:rPr lang="en-US" altLang="el-GR" sz="2800" kern="0" dirty="0">
                <a:latin typeface="Times New Roman" panose="02020603050405020304" pitchFamily="18" charset="0"/>
              </a:rPr>
              <a:t>p</a:t>
            </a:r>
            <a:r>
              <a:rPr lang="el-GR" altLang="el-GR" sz="2800" kern="0" dirty="0">
                <a:latin typeface="Times New Roman" panose="02020603050405020304" pitchFamily="18" charset="0"/>
              </a:rPr>
              <a:t>2</a:t>
            </a:r>
            <a:r>
              <a:rPr lang="en-US" altLang="el-GR" sz="2800" kern="0" dirty="0">
                <a:latin typeface="Times New Roman" panose="02020603050405020304" pitchFamily="18" charset="0"/>
              </a:rPr>
              <a:t>.x</a:t>
            </a:r>
            <a:r>
              <a:rPr lang="el-GR" altLang="el-GR" sz="2800" kern="0" dirty="0">
                <a:latin typeface="Times New Roman" panose="02020603050405020304" pitchFamily="18" charset="0"/>
              </a:rPr>
              <a:t>, </a:t>
            </a:r>
            <a:r>
              <a:rPr lang="en-US" altLang="el-GR" sz="2800" kern="0" dirty="0">
                <a:latin typeface="Times New Roman" panose="02020603050405020304" pitchFamily="18" charset="0"/>
              </a:rPr>
              <a:t>p</a:t>
            </a:r>
            <a:r>
              <a:rPr lang="el-GR" altLang="el-GR" sz="2800" kern="0" dirty="0">
                <a:latin typeface="Times New Roman" panose="02020603050405020304" pitchFamily="18" charset="0"/>
              </a:rPr>
              <a:t>2</a:t>
            </a:r>
            <a:r>
              <a:rPr lang="en-US" altLang="el-GR" sz="2800" kern="0" dirty="0">
                <a:latin typeface="Times New Roman" panose="02020603050405020304" pitchFamily="18" charset="0"/>
              </a:rPr>
              <a:t>.y</a:t>
            </a:r>
            <a:r>
              <a:rPr lang="el-GR" altLang="el-GR" sz="2800" kern="0" dirty="0">
                <a:latin typeface="Times New Roman" panose="02020603050405020304" pitchFamily="18" charset="0"/>
              </a:rPr>
              <a:t> αντίστοιχα) όπως ακριβώς τα ορίζει ο τύπος </a:t>
            </a:r>
            <a:r>
              <a:rPr lang="en-US" altLang="el-GR" sz="28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l-GR" altLang="el-GR" sz="2800" b="1" kern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ectangle</a:t>
            </a:r>
            <a:r>
              <a:rPr lang="en-US" altLang="el-GR" sz="28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l-GR" altLang="el-GR" sz="2800" kern="0" dirty="0">
                <a:latin typeface="Times New Roman" panose="02020603050405020304" pitchFamily="18" charset="0"/>
              </a:rPr>
              <a:t>.</a:t>
            </a:r>
            <a:r>
              <a:rPr lang="el-GR" altLang="el-GR" sz="2800" kern="0" dirty="0"/>
              <a:t>	</a:t>
            </a:r>
            <a:endParaRPr lang="en-US" altLang="el-GR" sz="2800" kern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0B4874-6520-7337-1FA5-C974D5481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" y="728188"/>
            <a:ext cx="1962726" cy="1356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35A15E-0A51-E9C5-C7F0-EC490F807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5625"/>
            <a:ext cx="1967689" cy="137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3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C139003-B5F6-3C6A-F28B-816FBC1A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52B7F04-3786-63B2-3775-AD8F80CD3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Αναφορά στα μέλη της δομής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2E4D785-4172-FB9B-8C31-B3EBECE0760E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l-GR" sz="1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1CD9E75-17E8-A41E-8FAC-722609306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3424091"/>
            <a:ext cx="3431704" cy="73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3600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rect.x1</a:t>
            </a:r>
            <a:endParaRPr lang="el-GR" altLang="el-GR" kern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l-GR" kern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1700F-3D1B-FE75-4481-113CF63E4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617" y="1036098"/>
            <a:ext cx="12215233" cy="171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kern="0" dirty="0">
                <a:latin typeface="Times New Roman" panose="02020603050405020304" pitchFamily="18" charset="0"/>
              </a:rPr>
              <a:t>Για αναφορά σε μέλος της δομής </a:t>
            </a:r>
            <a:r>
              <a:rPr lang="el-GR" altLang="el-GR" b="1" kern="0" dirty="0">
                <a:latin typeface="Times New Roman" panose="02020603050405020304" pitchFamily="18" charset="0"/>
              </a:rPr>
              <a:t>χρησιμοποιείται ο τελεστής τελεία </a:t>
            </a:r>
            <a:r>
              <a:rPr lang="el-GR" altLang="el-GR" kern="0" dirty="0">
                <a:latin typeface="Times New Roman" panose="02020603050405020304" pitchFamily="18" charset="0"/>
              </a:rPr>
              <a:t>(</a:t>
            </a:r>
            <a:r>
              <a:rPr lang="el-GR" altLang="el-GR" b="1" kern="0" dirty="0">
                <a:latin typeface="Times New Roman" panose="02020603050405020304" pitchFamily="18" charset="0"/>
              </a:rPr>
              <a:t>.</a:t>
            </a:r>
            <a:r>
              <a:rPr lang="el-GR" altLang="el-GR" kern="0" dirty="0">
                <a:latin typeface="Times New Roman" panose="02020603050405020304" pitchFamily="18" charset="0"/>
              </a:rPr>
              <a:t>)</a:t>
            </a:r>
            <a:r>
              <a:rPr lang="el-GR" altLang="el-GR" b="1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>
                <a:latin typeface="Times New Roman" panose="02020603050405020304" pitchFamily="18" charset="0"/>
              </a:rPr>
              <a:t>ανάμεσα στο όνομα της μεταβλητής και το όνομα του μέλους, όπως το ορίζει ο αντίστοιχος τύπος της μεταβλητής.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7C158-3716-BADB-4899-905C9CFF7849}"/>
              </a:ext>
            </a:extLst>
          </p:cNvPr>
          <p:cNvSpPr txBox="1"/>
          <p:nvPr/>
        </p:nvSpPr>
        <p:spPr>
          <a:xfrm>
            <a:off x="2783632" y="3379078"/>
            <a:ext cx="8122973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Αναφέρεται στο μέλος </a:t>
            </a:r>
            <a:r>
              <a:rPr lang="en-US" dirty="0"/>
              <a:t>x1 </a:t>
            </a:r>
            <a:r>
              <a:rPr lang="el-GR" dirty="0"/>
              <a:t>της δομής </a:t>
            </a:r>
            <a:r>
              <a:rPr lang="en-US" altLang="el-GR" dirty="0" err="1"/>
              <a:t>rect</a:t>
            </a:r>
            <a:r>
              <a:rPr lang="en-US" altLang="el-GR" dirty="0"/>
              <a:t> </a:t>
            </a:r>
            <a:r>
              <a:rPr lang="el-GR" altLang="el-GR" dirty="0"/>
              <a:t>καθώς αυτή είναι τύπου </a:t>
            </a:r>
            <a:r>
              <a:rPr lang="en-US" altLang="el-GR" b="1" dirty="0">
                <a:solidFill>
                  <a:schemeClr val="hlink"/>
                </a:solidFill>
                <a:latin typeface="Courier New" panose="02070309020205020404" pitchFamily="49" charset="0"/>
              </a:rPr>
              <a:t>Rectangle</a:t>
            </a:r>
            <a:r>
              <a:rPr lang="el-GR" altLang="el-GR" b="1" dirty="0">
                <a:solidFill>
                  <a:schemeClr val="hlink"/>
                </a:solidFill>
                <a:latin typeface="Courier New" panose="02070309020205020404" pitchFamily="49" charset="0"/>
              </a:rPr>
              <a:t>.</a:t>
            </a:r>
            <a:endParaRPr lang="en-US" altLang="el-GR" b="1" dirty="0">
              <a:solidFill>
                <a:schemeClr val="hlink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D1194-C67A-9B25-04A8-4E36EBDB2341}"/>
              </a:ext>
            </a:extLst>
          </p:cNvPr>
          <p:cNvSpPr txBox="1"/>
          <p:nvPr/>
        </p:nvSpPr>
        <p:spPr>
          <a:xfrm>
            <a:off x="3863753" y="5307957"/>
            <a:ext cx="830467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Αναφέρεται στο μέλος </a:t>
            </a:r>
            <a:r>
              <a:rPr lang="en-US" dirty="0"/>
              <a:t>x </a:t>
            </a:r>
            <a:r>
              <a:rPr lang="el-GR" dirty="0"/>
              <a:t>της μεταβλητής </a:t>
            </a:r>
            <a:r>
              <a:rPr lang="en-GB" dirty="0"/>
              <a:t>p1</a:t>
            </a:r>
            <a:r>
              <a:rPr lang="el-GR" dirty="0"/>
              <a:t> (η οποία είναι τύπου </a:t>
            </a:r>
            <a:r>
              <a:rPr lang="en-US" altLang="el-GR" b="1" dirty="0">
                <a:solidFill>
                  <a:schemeClr val="hlink"/>
                </a:solidFill>
                <a:latin typeface="Courier New" panose="02070309020205020404" pitchFamily="49" charset="0"/>
              </a:rPr>
              <a:t>Point</a:t>
            </a:r>
            <a:r>
              <a:rPr lang="el-GR" dirty="0"/>
              <a:t>)</a:t>
            </a:r>
            <a:r>
              <a:rPr lang="en-GB" dirty="0"/>
              <a:t> </a:t>
            </a:r>
            <a:r>
              <a:rPr lang="el-GR" dirty="0"/>
              <a:t>η οποία </a:t>
            </a:r>
            <a:r>
              <a:rPr lang="en-GB" dirty="0"/>
              <a:t>p1</a:t>
            </a:r>
            <a:r>
              <a:rPr lang="el-GR" dirty="0"/>
              <a:t> είναι μέλος της μεταβλητής </a:t>
            </a:r>
            <a:r>
              <a:rPr lang="en-GB" altLang="el-GR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myRect</a:t>
            </a:r>
            <a:r>
              <a:rPr lang="el-GR" altLang="el-GR" b="1" dirty="0">
                <a:solidFill>
                  <a:schemeClr val="hlink"/>
                </a:solidFill>
                <a:latin typeface="Courier New" panose="02070309020205020404" pitchFamily="49" charset="0"/>
              </a:rPr>
              <a:t>,</a:t>
            </a:r>
            <a:r>
              <a:rPr lang="el-GR" altLang="el-GR" dirty="0"/>
              <a:t> </a:t>
            </a:r>
            <a:r>
              <a:rPr lang="en-GB" altLang="el-GR" dirty="0"/>
              <a:t> </a:t>
            </a:r>
            <a:r>
              <a:rPr lang="el-GR" altLang="el-GR" dirty="0"/>
              <a:t>η οποία είναι τύπου </a:t>
            </a:r>
            <a:r>
              <a:rPr lang="en-US" altLang="el-GR" b="1" dirty="0">
                <a:solidFill>
                  <a:schemeClr val="hlink"/>
                </a:solidFill>
                <a:latin typeface="Courier New" panose="02070309020205020404" pitchFamily="49" charset="0"/>
              </a:rPr>
              <a:t>Rectangle</a:t>
            </a:r>
            <a:r>
              <a:rPr lang="el-GR" altLang="el-GR" b="1" dirty="0">
                <a:solidFill>
                  <a:schemeClr val="hlink"/>
                </a:solidFill>
                <a:latin typeface="Courier New" panose="02070309020205020404" pitchFamily="49" charset="0"/>
              </a:rPr>
              <a:t>2</a:t>
            </a:r>
            <a:r>
              <a:rPr lang="el-GR" altLang="el-GR" sz="2400" dirty="0"/>
              <a:t>. </a:t>
            </a:r>
            <a:endParaRPr lang="el-GR" altLang="el-GR" b="1" dirty="0">
              <a:solidFill>
                <a:schemeClr val="hlink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0ECFC-2A14-0990-D4DF-9D6FEC7D8D27}"/>
              </a:ext>
            </a:extLst>
          </p:cNvPr>
          <p:cNvSpPr txBox="1"/>
          <p:nvPr/>
        </p:nvSpPr>
        <p:spPr>
          <a:xfrm>
            <a:off x="244878" y="4982141"/>
            <a:ext cx="2824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l-GR" b="1" kern="0" dirty="0">
                <a:latin typeface="Times New Roman" panose="02020603050405020304" pitchFamily="18" charset="0"/>
              </a:rPr>
              <a:t>Rectangle2 </a:t>
            </a:r>
            <a:r>
              <a:rPr lang="en-US" altLang="el-GR" b="1" kern="0" dirty="0" err="1">
                <a:latin typeface="Times New Roman" panose="02020603050405020304" pitchFamily="18" charset="0"/>
              </a:rPr>
              <a:t>myRect</a:t>
            </a:r>
            <a:r>
              <a:rPr lang="en-US" altLang="el-GR" b="1" kern="0" dirty="0">
                <a:latin typeface="Times New Roman" panose="02020603050405020304" pitchFamily="18" charset="0"/>
              </a:rPr>
              <a:t>;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A4AE9-CF10-A510-E277-7EA35C3ED37F}"/>
              </a:ext>
            </a:extLst>
          </p:cNvPr>
          <p:cNvSpPr txBox="1"/>
          <p:nvPr/>
        </p:nvSpPr>
        <p:spPr>
          <a:xfrm>
            <a:off x="263352" y="2954959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l-GR" b="1" kern="0" dirty="0">
                <a:latin typeface="Times New Roman" panose="02020603050405020304" pitchFamily="18" charset="0"/>
              </a:rPr>
              <a:t>Rectangle </a:t>
            </a:r>
            <a:r>
              <a:rPr lang="en-US" altLang="el-GR" b="1" kern="0" dirty="0" err="1">
                <a:latin typeface="Times New Roman" panose="02020603050405020304" pitchFamily="18" charset="0"/>
              </a:rPr>
              <a:t>rect</a:t>
            </a:r>
            <a:r>
              <a:rPr lang="en-US" altLang="el-GR" b="1" kern="0" dirty="0">
                <a:latin typeface="Times New Roman" panose="02020603050405020304" pitchFamily="18" charset="0"/>
              </a:rPr>
              <a:t>;</a:t>
            </a:r>
            <a:endParaRPr lang="en-GB" b="1" kern="0" dirty="0">
              <a:latin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ACA1C0C-4097-EBB9-6B33-BA05E2589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5579999"/>
            <a:ext cx="3431704" cy="656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myR</a:t>
            </a:r>
            <a:r>
              <a:rPr lang="en-US" altLang="el-GR" sz="3600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ect.p1.x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l-GR" kern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C9013F-04E2-657C-BD42-AA015B5B2F63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 flipV="1">
            <a:off x="1715852" y="3794003"/>
            <a:ext cx="1067780" cy="57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FF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A81D48-8733-FD74-D977-13ACDAC60ED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9616" y="5908121"/>
            <a:ext cx="1239811" cy="1040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FF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1837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EE31D0B-E2A1-D21A-B2CE-62992C1E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3421B1-F935-B01C-70EE-8DEF6E3C7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Αντιγραφή δομής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840FA74-9701-8B90-67D8-9D57D5A05DB2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l-GR" sz="1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2C405D6-FA24-858C-0278-5541DE649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259" y="2631529"/>
            <a:ext cx="8655539" cy="3179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l-GR" altLang="el-GR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l-GR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Rectangle2 rect21 = { {1,2},{3,4} };</a:t>
            </a:r>
            <a:endParaRPr lang="el-GR" altLang="el-GR" kern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l-GR" altLang="el-GR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 Rectangle2 rect22;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l-GR" kern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	 </a:t>
            </a:r>
            <a:r>
              <a:rPr lang="en-US" altLang="el-GR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rect22 = rect21;</a:t>
            </a:r>
            <a:endParaRPr lang="en-US" altLang="el-GR" b="1" kern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endParaRPr lang="en-US" altLang="el-GR" kern="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 kern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4DEB91-C1BB-A5AF-68E0-1A4897777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941" y="1047353"/>
            <a:ext cx="12095897" cy="158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kern="0" dirty="0">
                <a:latin typeface="Times New Roman" panose="02020603050405020304" pitchFamily="18" charset="0"/>
              </a:rPr>
              <a:t>Ο τελεστής </a:t>
            </a:r>
            <a:r>
              <a:rPr lang="el-GR" altLang="el-GR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l-GR" altLang="el-GR" kern="0" dirty="0">
                <a:latin typeface="Times New Roman" panose="02020603050405020304" pitchFamily="18" charset="0"/>
              </a:rPr>
              <a:t> μπορεί να χρησιμοποιηθεί για να αναθέσει  σε μία μεταβλητή δομής την τιμή μιας άλλης μεταβλητής του ίδιου τύπου.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27265-0137-5839-8888-56343BD21CF7}"/>
              </a:ext>
            </a:extLst>
          </p:cNvPr>
          <p:cNvSpPr txBox="1"/>
          <p:nvPr/>
        </p:nvSpPr>
        <p:spPr>
          <a:xfrm>
            <a:off x="3419873" y="4365104"/>
            <a:ext cx="717886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Τα μέλη της μεταβλητής </a:t>
            </a:r>
            <a:r>
              <a:rPr lang="en-US" dirty="0"/>
              <a:t>rect22 </a:t>
            </a:r>
            <a:r>
              <a:rPr lang="el-GR" dirty="0"/>
              <a:t>θα πάρουν τις τιμές των αντίστοιχων μελών της </a:t>
            </a:r>
            <a:r>
              <a:rPr lang="en-US" dirty="0"/>
              <a:t>rect21.</a:t>
            </a:r>
            <a:r>
              <a:rPr lang="el-GR" dirty="0"/>
              <a:t> </a:t>
            </a:r>
            <a:endParaRPr lang="en-US" altLang="el-GR" sz="1800" dirty="0"/>
          </a:p>
        </p:txBody>
      </p:sp>
    </p:spTree>
    <p:extLst>
      <p:ext uri="{BB962C8B-B14F-4D97-AF65-F5344CB8AC3E}">
        <p14:creationId xmlns:p14="http://schemas.microsoft.com/office/powerpoint/2010/main" val="364426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2442D30-6795-76C9-B0B3-BF00F702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1810D41-B76B-427E-58BC-238933B44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pPr eaLnBrk="1" hangingPunct="1"/>
            <a:r>
              <a:rPr lang="el-GR" altLang="el-GR" sz="4000" dirty="0"/>
              <a:t>Δομή ως όρισμα και επιστρεφόμενη τιμή συνάρτησης</a:t>
            </a:r>
            <a:endParaRPr lang="en-GB" altLang="el-GR" sz="400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CBE3093-CCDC-6132-CE1F-F62A99DF81A1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l-GR" sz="1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1AF0545-DFE9-DAA3-F8C4-764AB4EF4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68" y="917947"/>
            <a:ext cx="11889988" cy="158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kern="0" dirty="0">
                <a:latin typeface="Times New Roman" panose="02020603050405020304" pitchFamily="18" charset="0"/>
              </a:rPr>
              <a:t>Μια δομή </a:t>
            </a:r>
            <a:r>
              <a:rPr lang="el-GR" altLang="el-GR" b="1" kern="0" dirty="0">
                <a:latin typeface="Times New Roman" panose="02020603050405020304" pitchFamily="18" charset="0"/>
              </a:rPr>
              <a:t>μπορεί να προσδιορίζει</a:t>
            </a:r>
            <a:r>
              <a:rPr lang="el-GR" altLang="el-GR" kern="0" dirty="0">
                <a:latin typeface="Times New Roman" panose="02020603050405020304" pitchFamily="18" charset="0"/>
              </a:rPr>
              <a:t> τον τύπο </a:t>
            </a:r>
          </a:p>
          <a:p>
            <a:pPr lvl="1" eaLnBrk="1" hangingPunct="1"/>
            <a:r>
              <a:rPr lang="el-GR" altLang="el-GR" kern="0" dirty="0">
                <a:latin typeface="Times New Roman" panose="02020603050405020304" pitchFamily="18" charset="0"/>
              </a:rPr>
              <a:t>Ορίσματος συνάρτησης</a:t>
            </a:r>
          </a:p>
          <a:p>
            <a:pPr lvl="1" eaLnBrk="1" hangingPunct="1"/>
            <a:r>
              <a:rPr lang="el-GR" altLang="el-GR" kern="0" dirty="0">
                <a:latin typeface="Times New Roman" panose="02020603050405020304" pitchFamily="18" charset="0"/>
              </a:rPr>
              <a:t>Επιστρεφόμενης τιμής συνάρτησης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D3674-9276-0347-C70D-6B046A1FADBC}"/>
              </a:ext>
            </a:extLst>
          </p:cNvPr>
          <p:cNvSpPr txBox="1"/>
          <p:nvPr/>
        </p:nvSpPr>
        <p:spPr>
          <a:xfrm>
            <a:off x="110668" y="3984606"/>
            <a:ext cx="1154576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Η συνάρτηση </a:t>
            </a:r>
            <a:r>
              <a:rPr lang="en-US" b="1" dirty="0" err="1"/>
              <a:t>printRectangle</a:t>
            </a:r>
            <a:r>
              <a:rPr lang="en-US" dirty="0"/>
              <a:t> </a:t>
            </a:r>
            <a:r>
              <a:rPr lang="el-GR" dirty="0"/>
              <a:t>δέχεται ένα όρισμα τύπου </a:t>
            </a:r>
            <a:r>
              <a:rPr lang="en-US" dirty="0">
                <a:solidFill>
                  <a:srgbClr val="FF0000"/>
                </a:solidFill>
              </a:rPr>
              <a:t>struct rectangle2</a:t>
            </a:r>
            <a:r>
              <a:rPr lang="el-GR" dirty="0"/>
              <a:t>.</a:t>
            </a:r>
            <a:endParaRPr lang="en-US" altLang="el-GR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61E8E-1012-B5C9-B587-3B48227AB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2" y="2816572"/>
            <a:ext cx="8972674" cy="792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451689-4835-BAA4-F434-2B91AE3A9BE1}"/>
              </a:ext>
            </a:extLst>
          </p:cNvPr>
          <p:cNvSpPr txBox="1"/>
          <p:nvPr/>
        </p:nvSpPr>
        <p:spPr>
          <a:xfrm>
            <a:off x="110668" y="4822217"/>
            <a:ext cx="11545762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dirty="0"/>
              <a:t>Η συνάρτηση </a:t>
            </a:r>
            <a:r>
              <a:rPr lang="en-US" b="1" dirty="0" err="1"/>
              <a:t>doubleRect</a:t>
            </a:r>
            <a:r>
              <a:rPr lang="en-US" dirty="0"/>
              <a:t> </a:t>
            </a:r>
            <a:r>
              <a:rPr lang="el-GR" dirty="0"/>
              <a:t>δέχεται ένα όρισμα τύπου </a:t>
            </a:r>
            <a:r>
              <a:rPr lang="en-US" dirty="0"/>
              <a:t>struct rectangle2</a:t>
            </a:r>
            <a:r>
              <a:rPr lang="el-GR" dirty="0"/>
              <a:t> και επιστρέφει τιμή τύπου </a:t>
            </a:r>
            <a:r>
              <a:rPr lang="en-US" dirty="0">
                <a:solidFill>
                  <a:srgbClr val="FF0000"/>
                </a:solidFill>
              </a:rPr>
              <a:t>struct rectangle2</a:t>
            </a:r>
            <a:r>
              <a:rPr lang="el-GR" dirty="0"/>
              <a:t>.</a:t>
            </a:r>
            <a:endParaRPr lang="en-US" altLang="el-GR" sz="1800" dirty="0"/>
          </a:p>
        </p:txBody>
      </p:sp>
    </p:spTree>
    <p:extLst>
      <p:ext uri="{BB962C8B-B14F-4D97-AF65-F5344CB8AC3E}">
        <p14:creationId xmlns:p14="http://schemas.microsoft.com/office/powerpoint/2010/main" val="40232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6F83CB8-2627-5525-ACA2-4A426697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C98E219-04F8-EDE7-A044-842E46531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Πίνακες δομών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635150F0-576C-7910-F3E5-D7817C405858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l-GR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DA046A-146F-850D-E139-A49EB64EF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9" y="841413"/>
            <a:ext cx="6843474" cy="97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b="1" kern="0" dirty="0">
                <a:latin typeface="Times New Roman" panose="02020603050405020304" pitchFamily="18" charset="0"/>
              </a:rPr>
              <a:t>Δήλωση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400" kern="0" dirty="0"/>
              <a:t>	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struct rectangle </a:t>
            </a:r>
            <a:r>
              <a:rPr lang="en-US" altLang="el-GR" sz="24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[10]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7FEEC-77DF-B9D4-F703-A743E2177987}"/>
              </a:ext>
            </a:extLst>
          </p:cNvPr>
          <p:cNvSpPr txBox="1"/>
          <p:nvPr/>
        </p:nvSpPr>
        <p:spPr>
          <a:xfrm>
            <a:off x="5524689" y="1172033"/>
            <a:ext cx="657259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Δηλώνεται η </a:t>
            </a:r>
            <a:r>
              <a:rPr lang="en-US" altLang="el-GR" sz="1800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</a:t>
            </a:r>
            <a:r>
              <a:rPr lang="en-US" altLang="el-GR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sz="1800" dirty="0"/>
              <a:t>ως ένας πίνακας 10 στοιχείων όπου το κάθε στοιχείο είναι τύπου </a:t>
            </a:r>
            <a:r>
              <a:rPr lang="en-US" altLang="el-GR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struct rectangle</a:t>
            </a:r>
            <a:r>
              <a:rPr lang="el-GR" sz="1800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BCC26-8CD8-43E7-202E-8C94E355216D}"/>
              </a:ext>
            </a:extLst>
          </p:cNvPr>
          <p:cNvSpPr txBox="1"/>
          <p:nvPr/>
        </p:nvSpPr>
        <p:spPr>
          <a:xfrm>
            <a:off x="5147396" y="2751797"/>
            <a:ext cx="6572591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Δηλώνεται η </a:t>
            </a:r>
            <a:r>
              <a:rPr lang="en-US" altLang="el-GR" sz="1800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rectArr</a:t>
            </a:r>
            <a:r>
              <a:rPr lang="en-US" altLang="el-GR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sz="1800" dirty="0"/>
              <a:t>ως ένας πίνακας 10 στοιχείων τύπου </a:t>
            </a:r>
            <a:r>
              <a:rPr lang="en-US" altLang="el-GR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struct rectangle2</a:t>
            </a:r>
            <a:r>
              <a:rPr lang="el-GR" sz="1800" dirty="0"/>
              <a:t> και αποδίδονται αρχικές τιμές στα δύο πρώτα  στοιχεία του.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EB71A-06A6-6B5E-CFDC-37EF1FA2BB2D}"/>
              </a:ext>
            </a:extLst>
          </p:cNvPr>
          <p:cNvSpPr txBox="1"/>
          <p:nvPr/>
        </p:nvSpPr>
        <p:spPr>
          <a:xfrm>
            <a:off x="6528047" y="4429218"/>
            <a:ext cx="5560043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Αναφέρεται στο μέλος </a:t>
            </a:r>
            <a:r>
              <a:rPr lang="en-GB" sz="1800" b="1" dirty="0">
                <a:solidFill>
                  <a:srgbClr val="FF0000"/>
                </a:solidFill>
              </a:rPr>
              <a:t>x1</a:t>
            </a:r>
            <a:r>
              <a:rPr lang="en-GB" sz="1800" dirty="0"/>
              <a:t> (</a:t>
            </a:r>
            <a:r>
              <a:rPr lang="el-GR" sz="1800" dirty="0"/>
              <a:t>όπως το ορίζει η δομή τύπου </a:t>
            </a:r>
            <a:r>
              <a:rPr lang="en-GB" sz="1800" dirty="0">
                <a:solidFill>
                  <a:srgbClr val="FF0000"/>
                </a:solidFill>
              </a:rPr>
              <a:t>struct rectangle </a:t>
            </a:r>
            <a:r>
              <a:rPr lang="el-GR" sz="1800" dirty="0">
                <a:solidFill>
                  <a:srgbClr val="FF0000"/>
                </a:solidFill>
              </a:rPr>
              <a:t> </a:t>
            </a:r>
            <a:r>
              <a:rPr lang="en-GB" sz="1800" dirty="0"/>
              <a:t>) </a:t>
            </a:r>
            <a:r>
              <a:rPr lang="el-GR" sz="1800" dirty="0"/>
              <a:t>του πρώτου στοιχείου του πίνακα </a:t>
            </a:r>
            <a:r>
              <a:rPr lang="en-GB" sz="1800" b="1" dirty="0"/>
              <a:t>rect</a:t>
            </a:r>
            <a:r>
              <a:rPr lang="en-GB" sz="1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C60EB-7BF8-7D9B-559A-A42BF9506A3F}"/>
              </a:ext>
            </a:extLst>
          </p:cNvPr>
          <p:cNvSpPr txBox="1"/>
          <p:nvPr/>
        </p:nvSpPr>
        <p:spPr>
          <a:xfrm>
            <a:off x="103909" y="5867506"/>
            <a:ext cx="1198418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Αναφέρεται στο μέλος </a:t>
            </a:r>
            <a:r>
              <a:rPr lang="en-GB" sz="1800" b="1" dirty="0">
                <a:solidFill>
                  <a:srgbClr val="FF0000"/>
                </a:solidFill>
              </a:rPr>
              <a:t>x</a:t>
            </a:r>
            <a:r>
              <a:rPr lang="en-GB" sz="1800" dirty="0"/>
              <a:t> (</a:t>
            </a:r>
            <a:r>
              <a:rPr lang="el-GR" sz="1800" dirty="0"/>
              <a:t>όπως το ορίζει η δομή τύπου </a:t>
            </a:r>
            <a:r>
              <a:rPr lang="en-GB" sz="1800" dirty="0">
                <a:solidFill>
                  <a:srgbClr val="FF0000"/>
                </a:solidFill>
              </a:rPr>
              <a:t>struct point</a:t>
            </a:r>
            <a:r>
              <a:rPr lang="en-GB" sz="1800" dirty="0"/>
              <a:t>) </a:t>
            </a:r>
            <a:r>
              <a:rPr lang="el-GR" sz="1800" dirty="0"/>
              <a:t>του μέλους </a:t>
            </a:r>
            <a:r>
              <a:rPr lang="en-GB" sz="1800" b="1" dirty="0">
                <a:solidFill>
                  <a:srgbClr val="FF0000"/>
                </a:solidFill>
              </a:rPr>
              <a:t>p1</a:t>
            </a:r>
            <a:r>
              <a:rPr lang="en-GB" sz="1800" dirty="0"/>
              <a:t> (</a:t>
            </a:r>
            <a:r>
              <a:rPr lang="el-GR" sz="1800" dirty="0"/>
              <a:t>όπως το ορίζει η δομή τύπου </a:t>
            </a:r>
            <a:r>
              <a:rPr lang="en-GB" sz="1800" dirty="0">
                <a:solidFill>
                  <a:srgbClr val="FF0000"/>
                </a:solidFill>
              </a:rPr>
              <a:t>struct rectangle2 </a:t>
            </a:r>
            <a:r>
              <a:rPr lang="el-GR" sz="1800" dirty="0">
                <a:solidFill>
                  <a:srgbClr val="FF0000"/>
                </a:solidFill>
              </a:rPr>
              <a:t> </a:t>
            </a:r>
            <a:r>
              <a:rPr lang="en-GB" sz="1800" dirty="0"/>
              <a:t>) </a:t>
            </a:r>
            <a:r>
              <a:rPr lang="el-GR" sz="1800" dirty="0"/>
              <a:t>του πρώτου στοιχείου του πίνακα </a:t>
            </a:r>
            <a:r>
              <a:rPr lang="en-GB" sz="1800" b="1" dirty="0" err="1"/>
              <a:t>rectArr</a:t>
            </a:r>
            <a:r>
              <a:rPr lang="en-GB" sz="1800" dirty="0"/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B56932-25B4-CB04-3C32-040CB2A5B329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 flipV="1">
            <a:off x="1919536" y="4890883"/>
            <a:ext cx="4608511" cy="26630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33FF33-B346-9802-D355-B2A55294E8D5}"/>
              </a:ext>
            </a:extLst>
          </p:cNvPr>
          <p:cNvCxnSpPr>
            <a:cxnSpLocks/>
            <a:endCxn id="9" idx="0"/>
          </p:cNvCxnSpPr>
          <p:nvPr/>
        </p:nvCxnSpPr>
        <p:spPr bwMode="auto">
          <a:xfrm>
            <a:off x="2639616" y="5517232"/>
            <a:ext cx="3456384" cy="350274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9CB2846-BE65-EBBE-9B1F-D60D5BBEF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2" y="2841150"/>
            <a:ext cx="4863574" cy="1061833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E4224383-F967-DA20-9D62-FCD203481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9" y="4106203"/>
            <a:ext cx="3587997" cy="2233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b="1" kern="0" dirty="0">
                <a:latin typeface="Times New Roman" panose="02020603050405020304" pitchFamily="18" charset="0"/>
              </a:rPr>
              <a:t>Αναφορά σε μέλη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400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endParaRPr lang="en-US" altLang="el-GR" sz="2400" kern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l-GR" sz="24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2400" b="1" kern="0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rect</a:t>
            </a:r>
            <a:r>
              <a:rPr lang="el-GR" altLang="el-GR" sz="24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[0]</a:t>
            </a:r>
            <a:r>
              <a:rPr lang="en-US" altLang="el-GR" sz="24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.x1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l-GR" sz="24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2400" b="1" kern="0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rectArr</a:t>
            </a:r>
            <a:r>
              <a:rPr lang="el-GR" altLang="el-GR" sz="24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[0]</a:t>
            </a:r>
            <a:r>
              <a:rPr lang="en-US" altLang="el-GR" sz="24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.p1.x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l-GR" sz="2400" b="1" kern="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l-GR" altLang="el-GR" sz="2400" kern="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3BC70BC-6FE4-9223-8876-7F9115756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9" y="2189570"/>
            <a:ext cx="6843474" cy="695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b="1" kern="0" dirty="0">
                <a:latin typeface="Times New Roman" panose="02020603050405020304" pitchFamily="18" charset="0"/>
              </a:rPr>
              <a:t>Αρχικοποίηση</a:t>
            </a:r>
            <a:endParaRPr lang="el-GR" altLang="el-GR" sz="2400" b="1" kern="0" dirty="0"/>
          </a:p>
        </p:txBody>
      </p:sp>
    </p:spTree>
    <p:extLst>
      <p:ext uri="{BB962C8B-B14F-4D97-AF65-F5344CB8AC3E}">
        <p14:creationId xmlns:p14="http://schemas.microsoft.com/office/powerpoint/2010/main" val="15787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0CB725-96CF-7B03-C896-8F4A4637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A853A7-198E-57A4-470F-952F2DC8C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Παράδειγμα 1</a:t>
            </a:r>
            <a:r>
              <a:rPr lang="el-GR" altLang="el-GR" baseline="30000" dirty="0"/>
              <a:t>ο</a:t>
            </a:r>
            <a:r>
              <a:rPr lang="el-GR" altLang="el-GR" dirty="0"/>
              <a:t>  Δομή ως Όρισμα    1/2 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40428E7-8735-03F2-816F-E63096818A1E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l-GR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7BE88-A094-3CA1-CE73-4BDFD4D7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623"/>
            <a:ext cx="7140559" cy="5616427"/>
          </a:xfrm>
          <a:prstGeom prst="rect">
            <a:avLst/>
          </a:prstGeom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87E7029E-86AA-4C58-413D-3FA3A2551E57}"/>
              </a:ext>
            </a:extLst>
          </p:cNvPr>
          <p:cNvSpPr/>
          <p:nvPr/>
        </p:nvSpPr>
        <p:spPr bwMode="auto">
          <a:xfrm>
            <a:off x="539552" y="1700808"/>
            <a:ext cx="3096344" cy="2232248"/>
          </a:xfrm>
          <a:prstGeom prst="borderCallout1">
            <a:avLst>
              <a:gd name="adj1" fmla="val 17545"/>
              <a:gd name="adj2" fmla="val 101108"/>
              <a:gd name="adj3" fmla="val 30546"/>
              <a:gd name="adj4" fmla="val 201883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56F9B-1803-092F-03CA-C907DB628A69}"/>
              </a:ext>
            </a:extLst>
          </p:cNvPr>
          <p:cNvSpPr txBox="1"/>
          <p:nvPr/>
        </p:nvSpPr>
        <p:spPr>
          <a:xfrm>
            <a:off x="6892279" y="2202149"/>
            <a:ext cx="244827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Δήλωση δομών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3F76F1FC-40C9-41D6-7ED7-2159A260556D}"/>
              </a:ext>
            </a:extLst>
          </p:cNvPr>
          <p:cNvSpPr/>
          <p:nvPr/>
        </p:nvSpPr>
        <p:spPr bwMode="auto">
          <a:xfrm>
            <a:off x="539552" y="4077072"/>
            <a:ext cx="5616624" cy="288032"/>
          </a:xfrm>
          <a:prstGeom prst="borderCallout1">
            <a:avLst>
              <a:gd name="adj1" fmla="val -490"/>
              <a:gd name="adj2" fmla="val 93295"/>
              <a:gd name="adj3" fmla="val -154616"/>
              <a:gd name="adj4" fmla="val 119127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D8DBF09E-F530-9DC9-8B18-FBCF93938F4E}"/>
              </a:ext>
            </a:extLst>
          </p:cNvPr>
          <p:cNvSpPr/>
          <p:nvPr/>
        </p:nvSpPr>
        <p:spPr bwMode="auto">
          <a:xfrm>
            <a:off x="539552" y="4869160"/>
            <a:ext cx="5400600" cy="1379742"/>
          </a:xfrm>
          <a:prstGeom prst="borderCallout1">
            <a:avLst>
              <a:gd name="adj1" fmla="val 7704"/>
              <a:gd name="adj2" fmla="val 100725"/>
              <a:gd name="adj3" fmla="val 39788"/>
              <a:gd name="adj4" fmla="val 118540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AA241-E911-6711-D4D1-339BD44C2C6E}"/>
              </a:ext>
            </a:extLst>
          </p:cNvPr>
          <p:cNvSpPr txBox="1"/>
          <p:nvPr/>
        </p:nvSpPr>
        <p:spPr>
          <a:xfrm>
            <a:off x="7203053" y="3057325"/>
            <a:ext cx="3812233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Δήλωση συνάρτησης </a:t>
            </a:r>
          </a:p>
          <a:p>
            <a:r>
              <a:rPr lang="el-GR" sz="1800" b="1" dirty="0"/>
              <a:t>(</a:t>
            </a:r>
            <a:r>
              <a:rPr lang="en-US" sz="1800" b="1" dirty="0"/>
              <a:t>Function prototype</a:t>
            </a:r>
            <a:r>
              <a:rPr lang="el-GR" sz="1800" b="1" dirty="0"/>
              <a:t>)</a:t>
            </a:r>
          </a:p>
          <a:p>
            <a:r>
              <a:rPr lang="el-GR" sz="1800" dirty="0"/>
              <a:t>Η συνάρτηση δέχεται το όρισμα </a:t>
            </a:r>
            <a:r>
              <a:rPr lang="en-US" sz="1800" dirty="0" err="1"/>
              <a:t>rect</a:t>
            </a:r>
            <a:r>
              <a:rPr lang="en-US" sz="1800" dirty="0"/>
              <a:t> </a:t>
            </a:r>
            <a:r>
              <a:rPr lang="el-GR" sz="1800" dirty="0"/>
              <a:t>το οποίο είναι τύπου δομής </a:t>
            </a:r>
            <a:r>
              <a:rPr lang="en-US" sz="1800" dirty="0"/>
              <a:t>struct rectangle2</a:t>
            </a:r>
            <a:endParaRPr lang="el-GR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D2823E-157A-2941-05DA-D217B4DDE688}"/>
              </a:ext>
            </a:extLst>
          </p:cNvPr>
          <p:cNvSpPr txBox="1"/>
          <p:nvPr/>
        </p:nvSpPr>
        <p:spPr>
          <a:xfrm>
            <a:off x="6960915" y="4804896"/>
            <a:ext cx="476436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Απόδοση αρχικών τιμών </a:t>
            </a:r>
            <a:r>
              <a:rPr lang="el-GR" sz="1800" dirty="0"/>
              <a:t>σε </a:t>
            </a:r>
            <a:endParaRPr lang="en-US" sz="1800" dirty="0"/>
          </a:p>
          <a:p>
            <a:r>
              <a:rPr lang="el-GR" sz="1800" dirty="0"/>
              <a:t>α) μεταβλητή τύπου δομής, και</a:t>
            </a:r>
            <a:r>
              <a:rPr lang="en-US" sz="1800" dirty="0"/>
              <a:t>,</a:t>
            </a:r>
            <a:endParaRPr lang="el-GR" sz="1800" dirty="0"/>
          </a:p>
          <a:p>
            <a:r>
              <a:rPr lang="el-GR" sz="1800" dirty="0"/>
              <a:t>β) σε πίνακα 2 στοιχείων τύπου δομής </a:t>
            </a:r>
            <a:r>
              <a:rPr lang="en-US" sz="1800" dirty="0"/>
              <a:t>rectangle2.</a:t>
            </a: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15479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0E741C6-CFD2-B920-2537-369E0825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BBA6000-3F9E-031E-AB83-FF3D72025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Παράδειγμα 1</a:t>
            </a:r>
            <a:r>
              <a:rPr lang="el-GR" altLang="el-GR" baseline="30000" dirty="0"/>
              <a:t>ο</a:t>
            </a:r>
            <a:r>
              <a:rPr lang="el-GR" altLang="el-GR" dirty="0"/>
              <a:t> Δομή ως Όρισμα    2/2 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A9F30DC-9C5B-35DE-66E1-845187824D83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l-GR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86D9A2-8A3E-2114-4183-A473BABB1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915819"/>
            <a:ext cx="8558002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80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F220C5D-0A6F-33A7-CDFA-DE6169D6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C004119-6D1D-5BEF-E372-343C25F567AE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l-GR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1F7ACD-1B38-ACA2-221A-09BF7BB8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2" y="1412776"/>
            <a:ext cx="6562410" cy="4320480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34A4FE91-A745-7922-2363-579ED639D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929"/>
            <a:ext cx="12192000" cy="620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l-GR" altLang="el-GR" kern="0" dirty="0"/>
              <a:t>Παράδειγμα 2</a:t>
            </a:r>
            <a:r>
              <a:rPr lang="el-GR" altLang="el-GR" kern="0" baseline="30000" dirty="0"/>
              <a:t>ο</a:t>
            </a:r>
            <a:r>
              <a:rPr lang="el-GR" altLang="el-GR" kern="0" dirty="0"/>
              <a:t> </a:t>
            </a:r>
            <a:r>
              <a:rPr lang="el-GR" altLang="el-GR" dirty="0"/>
              <a:t>Δομή ως επιστρεφόμενη τιμή </a:t>
            </a:r>
            <a:r>
              <a:rPr lang="el-GR" altLang="el-GR" kern="0" dirty="0"/>
              <a:t>1/</a:t>
            </a:r>
            <a:r>
              <a:rPr lang="en-US" altLang="el-GR" kern="0" dirty="0"/>
              <a:t>3</a:t>
            </a:r>
            <a:r>
              <a:rPr lang="el-GR" altLang="el-GR" kern="0" dirty="0"/>
              <a:t> 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5D5C1CE4-0556-6F87-784F-9DA950A93F0E}"/>
              </a:ext>
            </a:extLst>
          </p:cNvPr>
          <p:cNvSpPr/>
          <p:nvPr/>
        </p:nvSpPr>
        <p:spPr bwMode="auto">
          <a:xfrm>
            <a:off x="539552" y="1700808"/>
            <a:ext cx="3096344" cy="2304256"/>
          </a:xfrm>
          <a:prstGeom prst="borderCallout1">
            <a:avLst>
              <a:gd name="adj1" fmla="val 17545"/>
              <a:gd name="adj2" fmla="val 101108"/>
              <a:gd name="adj3" fmla="val 19091"/>
              <a:gd name="adj4" fmla="val 220722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3ED45-E619-DD3D-B7F7-0BF0C133DEB6}"/>
              </a:ext>
            </a:extLst>
          </p:cNvPr>
          <p:cNvSpPr txBox="1"/>
          <p:nvPr/>
        </p:nvSpPr>
        <p:spPr>
          <a:xfrm>
            <a:off x="7380312" y="1919138"/>
            <a:ext cx="244827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Δήλωση δομών</a:t>
            </a:r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4E3FD8FC-23FC-9B0B-1345-CF0704208721}"/>
              </a:ext>
            </a:extLst>
          </p:cNvPr>
          <p:cNvSpPr/>
          <p:nvPr/>
        </p:nvSpPr>
        <p:spPr bwMode="auto">
          <a:xfrm>
            <a:off x="539552" y="4077072"/>
            <a:ext cx="5832648" cy="738852"/>
          </a:xfrm>
          <a:prstGeom prst="borderCallout1">
            <a:avLst>
              <a:gd name="adj1" fmla="val -490"/>
              <a:gd name="adj2" fmla="val 93295"/>
              <a:gd name="adj3" fmla="val -169952"/>
              <a:gd name="adj4" fmla="val 83619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E9D3E-79E7-3ED3-98F0-16452BD1280F}"/>
              </a:ext>
            </a:extLst>
          </p:cNvPr>
          <p:cNvSpPr txBox="1"/>
          <p:nvPr/>
        </p:nvSpPr>
        <p:spPr>
          <a:xfrm>
            <a:off x="5139182" y="2489403"/>
            <a:ext cx="288032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800" b="1" dirty="0"/>
              <a:t>Function prototypes</a:t>
            </a:r>
            <a:endParaRPr lang="el-GR" sz="1800" b="1" dirty="0"/>
          </a:p>
        </p:txBody>
      </p:sp>
      <p:sp>
        <p:nvSpPr>
          <p:cNvPr id="16" name="Callout: Line 15">
            <a:extLst>
              <a:ext uri="{FF2B5EF4-FFF2-40B4-BE49-F238E27FC236}">
                <a16:creationId xmlns:a16="http://schemas.microsoft.com/office/drawing/2014/main" id="{3184FE9C-D9C6-8FBE-FB43-8CB8872B4D4C}"/>
              </a:ext>
            </a:extLst>
          </p:cNvPr>
          <p:cNvSpPr/>
          <p:nvPr/>
        </p:nvSpPr>
        <p:spPr bwMode="auto">
          <a:xfrm>
            <a:off x="539552" y="4869160"/>
            <a:ext cx="5976664" cy="369332"/>
          </a:xfrm>
          <a:prstGeom prst="borderCallout1">
            <a:avLst>
              <a:gd name="adj1" fmla="val 7704"/>
              <a:gd name="adj2" fmla="val 100725"/>
              <a:gd name="adj3" fmla="val 92974"/>
              <a:gd name="adj4" fmla="val 122599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83B4EF-0A80-8911-8554-02E75A3B92C3}"/>
              </a:ext>
            </a:extLst>
          </p:cNvPr>
          <p:cNvSpPr txBox="1"/>
          <p:nvPr/>
        </p:nvSpPr>
        <p:spPr>
          <a:xfrm>
            <a:off x="7793037" y="4809926"/>
            <a:ext cx="3672408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Απόδοση αρχικών τιμών </a:t>
            </a:r>
            <a:r>
              <a:rPr lang="el-GR" sz="1800" dirty="0"/>
              <a:t>σε μεταβλητή τύπου δομής</a:t>
            </a:r>
            <a:r>
              <a:rPr lang="en-US" sz="1800" dirty="0"/>
              <a:t> rectangle2.</a:t>
            </a:r>
            <a:endParaRPr lang="el-GR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E7C9E-BDF9-4464-9F39-21F990A4E434}"/>
              </a:ext>
            </a:extLst>
          </p:cNvPr>
          <p:cNvSpPr txBox="1"/>
          <p:nvPr/>
        </p:nvSpPr>
        <p:spPr>
          <a:xfrm>
            <a:off x="7635710" y="3055920"/>
            <a:ext cx="3812233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Η συνάρτηση </a:t>
            </a:r>
            <a:r>
              <a:rPr lang="en-US" sz="1800" dirty="0" err="1"/>
              <a:t>doubleRect</a:t>
            </a:r>
            <a:r>
              <a:rPr lang="en-US" sz="1800" dirty="0"/>
              <a:t> </a:t>
            </a:r>
            <a:r>
              <a:rPr lang="el-GR" sz="1800" dirty="0"/>
              <a:t>δέχεται ένα όρισμα το οποίο είναι τύπου δομής </a:t>
            </a:r>
            <a:r>
              <a:rPr lang="en-US" sz="1800" dirty="0"/>
              <a:t>struct rectangle2</a:t>
            </a:r>
            <a:r>
              <a:rPr lang="el-GR" sz="1800" dirty="0"/>
              <a:t> και έχει επιστρεφόμενη τιμή του ίδιου τύπου.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F33CC6-5D67-1625-F5EE-A39CE64773AF}"/>
              </a:ext>
            </a:extLst>
          </p:cNvPr>
          <p:cNvCxnSpPr>
            <a:endCxn id="3" idx="1"/>
          </p:cNvCxnSpPr>
          <p:nvPr/>
        </p:nvCxnSpPr>
        <p:spPr bwMode="auto">
          <a:xfrm flipV="1">
            <a:off x="6240016" y="3794584"/>
            <a:ext cx="1395694" cy="77494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6603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7925F2-0410-DCCA-711E-CE46CD5C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7BC900-4393-8E5E-9CD3-0977B6FA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0" y="908720"/>
            <a:ext cx="7380312" cy="5360117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8BDFB94-EF9A-A444-734F-319ADC3D8DBF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l-GR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3728C-6B7C-4612-C163-E1C002D17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20786"/>
          </a:xfrm>
        </p:spPr>
        <p:txBody>
          <a:bodyPr/>
          <a:lstStyle/>
          <a:p>
            <a:pPr eaLnBrk="1" hangingPunct="1"/>
            <a:r>
              <a:rPr lang="el-GR" altLang="el-GR" dirty="0"/>
              <a:t>Παράδειγμα 2</a:t>
            </a:r>
            <a:r>
              <a:rPr lang="el-GR" altLang="el-GR" baseline="30000" dirty="0"/>
              <a:t>ο</a:t>
            </a:r>
            <a:r>
              <a:rPr lang="el-GR" altLang="el-GR" dirty="0"/>
              <a:t> Δομή ως επιστρεφόμενη τιμή 2/</a:t>
            </a:r>
            <a:r>
              <a:rPr lang="en-US" altLang="el-GR" dirty="0"/>
              <a:t>3</a:t>
            </a:r>
            <a:r>
              <a:rPr lang="el-GR" altLang="el-GR" dirty="0"/>
              <a:t> 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7A59B495-F8EC-4BC1-0513-A59854A5FAE9}"/>
              </a:ext>
            </a:extLst>
          </p:cNvPr>
          <p:cNvSpPr/>
          <p:nvPr/>
        </p:nvSpPr>
        <p:spPr bwMode="auto">
          <a:xfrm>
            <a:off x="1043608" y="1772816"/>
            <a:ext cx="1800200" cy="216024"/>
          </a:xfrm>
          <a:prstGeom prst="borderCallout1">
            <a:avLst>
              <a:gd name="adj1" fmla="val 47517"/>
              <a:gd name="adj2" fmla="val 100637"/>
              <a:gd name="adj3" fmla="val -293357"/>
              <a:gd name="adj4" fmla="val 304840"/>
            </a:avLst>
          </a:prstGeom>
          <a:solidFill>
            <a:schemeClr val="accent1">
              <a:alpha val="1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8417577A-0A7A-4183-A3F4-34BB36715FF2}"/>
              </a:ext>
            </a:extLst>
          </p:cNvPr>
          <p:cNvSpPr/>
          <p:nvPr/>
        </p:nvSpPr>
        <p:spPr bwMode="auto">
          <a:xfrm>
            <a:off x="1043608" y="2060750"/>
            <a:ext cx="3888432" cy="216024"/>
          </a:xfrm>
          <a:prstGeom prst="borderCallout1">
            <a:avLst>
              <a:gd name="adj1" fmla="val 68065"/>
              <a:gd name="adj2" fmla="val 100480"/>
              <a:gd name="adj3" fmla="val 9406"/>
              <a:gd name="adj4" fmla="val 122213"/>
            </a:avLst>
          </a:prstGeom>
          <a:solidFill>
            <a:schemeClr val="accent1">
              <a:alpha val="1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2E4A1-D837-6499-B9F6-61170448799E}"/>
              </a:ext>
            </a:extLst>
          </p:cNvPr>
          <p:cNvSpPr txBox="1"/>
          <p:nvPr/>
        </p:nvSpPr>
        <p:spPr>
          <a:xfrm>
            <a:off x="6488606" y="790674"/>
            <a:ext cx="536803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Τα μέλη της </a:t>
            </a:r>
            <a:r>
              <a:rPr lang="en-US" sz="1800" dirty="0"/>
              <a:t>rect3 </a:t>
            </a:r>
            <a:r>
              <a:rPr lang="el-GR" sz="1800" dirty="0"/>
              <a:t>παίρνουν τις τιμές των μελών της </a:t>
            </a:r>
            <a:r>
              <a:rPr lang="en-US" sz="1800" dirty="0"/>
              <a:t>rect2.</a:t>
            </a:r>
            <a:endParaRPr lang="el-GR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E3754-7D64-86C1-93AF-F006FAE2F90A}"/>
              </a:ext>
            </a:extLst>
          </p:cNvPr>
          <p:cNvSpPr txBox="1"/>
          <p:nvPr/>
        </p:nvSpPr>
        <p:spPr>
          <a:xfrm>
            <a:off x="5791705" y="1876041"/>
            <a:ext cx="606493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Αποδίδεται η τιμή </a:t>
            </a:r>
            <a:r>
              <a:rPr lang="en-US" sz="1800" dirty="0"/>
              <a:t>Yellow </a:t>
            </a:r>
            <a:r>
              <a:rPr lang="el-GR" sz="1800" dirty="0"/>
              <a:t>στην μεταβλητή </a:t>
            </a:r>
            <a:r>
              <a:rPr lang="en-US" sz="1800" dirty="0"/>
              <a:t>color </a:t>
            </a:r>
            <a:r>
              <a:rPr lang="el-GR" sz="1800" dirty="0"/>
              <a:t>της </a:t>
            </a:r>
            <a:r>
              <a:rPr lang="en-US" sz="1800" dirty="0"/>
              <a:t>rect3.</a:t>
            </a:r>
            <a:endParaRPr lang="el-GR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DFFAC-7623-7706-688E-73016AA41255}"/>
              </a:ext>
            </a:extLst>
          </p:cNvPr>
          <p:cNvSpPr txBox="1"/>
          <p:nvPr/>
        </p:nvSpPr>
        <p:spPr>
          <a:xfrm>
            <a:off x="5709348" y="2946933"/>
            <a:ext cx="6291308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Καλείται η συνάρτηση </a:t>
            </a:r>
            <a:r>
              <a:rPr lang="en-US" sz="1800" dirty="0" err="1"/>
              <a:t>doubleRect</a:t>
            </a:r>
            <a:r>
              <a:rPr lang="en-US" sz="1800" dirty="0"/>
              <a:t> </a:t>
            </a:r>
            <a:r>
              <a:rPr lang="el-GR" sz="1800" dirty="0"/>
              <a:t>με όρισμα την </a:t>
            </a:r>
            <a:r>
              <a:rPr lang="en-US" sz="1800" dirty="0"/>
              <a:t>rect2</a:t>
            </a:r>
          </a:p>
          <a:p>
            <a:r>
              <a:rPr lang="el-GR" sz="1800" dirty="0"/>
              <a:t>και η επιστρεφόμενη τιμή της αποδίδεται στο πρώτο στοιχείο του πίνακα </a:t>
            </a:r>
            <a:r>
              <a:rPr lang="en-US" sz="1800" dirty="0" err="1"/>
              <a:t>rectArr</a:t>
            </a:r>
            <a:r>
              <a:rPr lang="en-US" sz="1800" dirty="0"/>
              <a:t>.</a:t>
            </a:r>
            <a:r>
              <a:rPr lang="el-GR" sz="1800" dirty="0"/>
              <a:t> 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0FBEA1A0-1DFB-F611-1903-3B9E823095E9}"/>
              </a:ext>
            </a:extLst>
          </p:cNvPr>
          <p:cNvSpPr/>
          <p:nvPr/>
        </p:nvSpPr>
        <p:spPr bwMode="auto">
          <a:xfrm>
            <a:off x="1043608" y="2903192"/>
            <a:ext cx="3960440" cy="237678"/>
          </a:xfrm>
          <a:prstGeom prst="borderCallout1">
            <a:avLst>
              <a:gd name="adj1" fmla="val 68065"/>
              <a:gd name="adj2" fmla="val 100480"/>
              <a:gd name="adj3" fmla="val 100545"/>
              <a:gd name="adj4" fmla="val 117143"/>
            </a:avLst>
          </a:prstGeom>
          <a:solidFill>
            <a:schemeClr val="accent1">
              <a:alpha val="1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BC5C71-595D-460C-AF70-F42DDDAA4FD1}"/>
              </a:ext>
            </a:extLst>
          </p:cNvPr>
          <p:cNvSpPr txBox="1"/>
          <p:nvPr/>
        </p:nvSpPr>
        <p:spPr>
          <a:xfrm>
            <a:off x="3559355" y="5487615"/>
            <a:ext cx="8632645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Οι μεταβλητές τύπου δομής</a:t>
            </a:r>
            <a:r>
              <a:rPr lang="en-US" sz="1800" dirty="0"/>
              <a:t>, </a:t>
            </a:r>
            <a:r>
              <a:rPr lang="el-GR" sz="1800" dirty="0"/>
              <a:t>όπως η </a:t>
            </a:r>
            <a:r>
              <a:rPr lang="en-US" sz="1800" dirty="0"/>
              <a:t>r, </a:t>
            </a:r>
            <a:r>
              <a:rPr lang="el-GR" sz="1800" dirty="0"/>
              <a:t> περνιούνται ως ορίσματα </a:t>
            </a:r>
            <a:r>
              <a:rPr lang="en-US" sz="1800" dirty="0"/>
              <a:t>by value (</a:t>
            </a:r>
            <a:r>
              <a:rPr lang="el-GR" sz="1800" dirty="0"/>
              <a:t>με τιμή) έτσι η αλλαγή των τιμών των μελών τους δεν επηρεάζει τα πραγματικά ορίσματα</a:t>
            </a:r>
            <a:r>
              <a:rPr lang="en-US" sz="1800" dirty="0"/>
              <a:t> (Actual Parameter)</a:t>
            </a:r>
            <a:r>
              <a:rPr lang="el-GR" sz="1800" dirty="0"/>
              <a:t>.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6184A44B-1E90-2797-3207-BD7AD2A4155C}"/>
              </a:ext>
            </a:extLst>
          </p:cNvPr>
          <p:cNvSpPr/>
          <p:nvPr/>
        </p:nvSpPr>
        <p:spPr bwMode="auto">
          <a:xfrm>
            <a:off x="4423553" y="4801199"/>
            <a:ext cx="2520280" cy="334143"/>
          </a:xfrm>
          <a:prstGeom prst="borderCallout1">
            <a:avLst>
              <a:gd name="adj1" fmla="val 96047"/>
              <a:gd name="adj2" fmla="val 99299"/>
              <a:gd name="adj3" fmla="val 204625"/>
              <a:gd name="adj4" fmla="val 115340"/>
            </a:avLst>
          </a:prstGeom>
          <a:solidFill>
            <a:schemeClr val="accent1">
              <a:alpha val="1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97E18F0D-977C-29A9-D319-3392495A3569}"/>
              </a:ext>
            </a:extLst>
          </p:cNvPr>
          <p:cNvSpPr/>
          <p:nvPr/>
        </p:nvSpPr>
        <p:spPr bwMode="auto">
          <a:xfrm>
            <a:off x="971600" y="5135342"/>
            <a:ext cx="1944216" cy="597914"/>
          </a:xfrm>
          <a:prstGeom prst="borderCallout1">
            <a:avLst>
              <a:gd name="adj1" fmla="val 68065"/>
              <a:gd name="adj2" fmla="val 100480"/>
              <a:gd name="adj3" fmla="val 124759"/>
              <a:gd name="adj4" fmla="val 130094"/>
            </a:avLst>
          </a:prstGeom>
          <a:solidFill>
            <a:schemeClr val="accent1">
              <a:alpha val="1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86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5043424-C87B-91D9-D6E7-2A42B76A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F78064A-F6A3-E177-9FB0-861941EC0B85}"/>
              </a:ext>
            </a:extLst>
          </p:cNvPr>
          <p:cNvGrpSpPr/>
          <p:nvPr/>
        </p:nvGrpSpPr>
        <p:grpSpPr>
          <a:xfrm>
            <a:off x="107593" y="1412776"/>
            <a:ext cx="11976814" cy="4861981"/>
            <a:chOff x="0" y="607848"/>
            <a:chExt cx="11976814" cy="486198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A203BD-61D4-51EA-A80D-2FE7778C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76" y="607848"/>
              <a:ext cx="6149873" cy="4861981"/>
            </a:xfrm>
            <a:prstGeom prst="rect">
              <a:avLst/>
            </a:prstGeom>
          </p:spPr>
        </p:pic>
        <p:sp>
          <p:nvSpPr>
            <p:cNvPr id="15" name="Callout: Line 14">
              <a:extLst>
                <a:ext uri="{FF2B5EF4-FFF2-40B4-BE49-F238E27FC236}">
                  <a16:creationId xmlns:a16="http://schemas.microsoft.com/office/drawing/2014/main" id="{C031C2AF-4DC2-9FEB-EE4A-156D7F7B4C33}"/>
                </a:ext>
              </a:extLst>
            </p:cNvPr>
            <p:cNvSpPr/>
            <p:nvPr/>
          </p:nvSpPr>
          <p:spPr bwMode="auto">
            <a:xfrm>
              <a:off x="71500" y="2060750"/>
              <a:ext cx="1800200" cy="432145"/>
            </a:xfrm>
            <a:prstGeom prst="borderCallout1">
              <a:avLst>
                <a:gd name="adj1" fmla="val 47517"/>
                <a:gd name="adj2" fmla="val 100637"/>
                <a:gd name="adj3" fmla="val 9955"/>
                <a:gd name="adj4" fmla="val 312016"/>
              </a:avLst>
            </a:prstGeom>
            <a:solidFill>
              <a:schemeClr val="accent1">
                <a:alpha val="1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l-G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6" name="Callout: Line 15">
              <a:extLst>
                <a:ext uri="{FF2B5EF4-FFF2-40B4-BE49-F238E27FC236}">
                  <a16:creationId xmlns:a16="http://schemas.microsoft.com/office/drawing/2014/main" id="{10A007EB-B699-F4A6-FE84-321BCEB20F53}"/>
                </a:ext>
              </a:extLst>
            </p:cNvPr>
            <p:cNvSpPr/>
            <p:nvPr/>
          </p:nvSpPr>
          <p:spPr bwMode="auto">
            <a:xfrm>
              <a:off x="71500" y="1810261"/>
              <a:ext cx="2340260" cy="216024"/>
            </a:xfrm>
            <a:prstGeom prst="borderCallout1">
              <a:avLst>
                <a:gd name="adj1" fmla="val 68065"/>
                <a:gd name="adj2" fmla="val 100480"/>
                <a:gd name="adj3" fmla="val -290593"/>
                <a:gd name="adj4" fmla="val 220313"/>
              </a:avLst>
            </a:prstGeom>
            <a:solidFill>
              <a:schemeClr val="accent1">
                <a:alpha val="1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l-G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C4126D-6053-C8B6-E939-7E9F4A931828}"/>
                </a:ext>
              </a:extLst>
            </p:cNvPr>
            <p:cNvSpPr txBox="1"/>
            <p:nvPr/>
          </p:nvSpPr>
          <p:spPr>
            <a:xfrm>
              <a:off x="5702268" y="1918273"/>
              <a:ext cx="5999776" cy="70788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l-GR" sz="2000" dirty="0"/>
                <a:t>Τα μέλη της </a:t>
              </a:r>
              <a:r>
                <a:rPr lang="en-US" sz="2000" dirty="0"/>
                <a:t>rect3 </a:t>
              </a:r>
              <a:r>
                <a:rPr lang="el-GR" sz="2000" dirty="0"/>
                <a:t>πήραν τις τιμές των μελών της </a:t>
              </a:r>
              <a:r>
                <a:rPr lang="en-US" sz="2000" dirty="0"/>
                <a:t>rect2.</a:t>
              </a:r>
              <a:endParaRPr lang="el-GR" sz="2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16E71C-1840-435E-066D-59ED8F38F55A}"/>
                </a:ext>
              </a:extLst>
            </p:cNvPr>
            <p:cNvSpPr txBox="1"/>
            <p:nvPr/>
          </p:nvSpPr>
          <p:spPr>
            <a:xfrm>
              <a:off x="5213657" y="942554"/>
              <a:ext cx="6637387" cy="70788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l-GR" sz="2000" dirty="0"/>
                <a:t>Αποδόθηκε η τιμή </a:t>
              </a:r>
              <a:r>
                <a:rPr lang="en-US" sz="2000" dirty="0"/>
                <a:t>Yellow </a:t>
              </a:r>
              <a:r>
                <a:rPr lang="el-GR" sz="2000" dirty="0"/>
                <a:t>στην μεταβλητή </a:t>
              </a:r>
              <a:r>
                <a:rPr lang="en-US" sz="2000" dirty="0"/>
                <a:t>color </a:t>
              </a:r>
              <a:r>
                <a:rPr lang="el-GR" sz="2000" dirty="0"/>
                <a:t>της </a:t>
              </a:r>
              <a:r>
                <a:rPr lang="en-US" sz="2000" dirty="0"/>
                <a:t>rect3.</a:t>
              </a:r>
              <a:endParaRPr lang="el-GR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3BEE56-0897-3853-59A9-1CE13AD0773B}"/>
                </a:ext>
              </a:extLst>
            </p:cNvPr>
            <p:cNvSpPr txBox="1"/>
            <p:nvPr/>
          </p:nvSpPr>
          <p:spPr>
            <a:xfrm>
              <a:off x="4464407" y="2912104"/>
              <a:ext cx="7512407" cy="175432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l-GR" sz="1800" dirty="0"/>
                <a:t>Κλήθηκε η συνάρτηση </a:t>
              </a:r>
              <a:r>
                <a:rPr lang="en-US" sz="1800" dirty="0" err="1"/>
                <a:t>doubleRect</a:t>
              </a:r>
              <a:r>
                <a:rPr lang="en-US" sz="1800" dirty="0"/>
                <a:t> </a:t>
              </a:r>
              <a:r>
                <a:rPr lang="el-GR" sz="1800" dirty="0"/>
                <a:t>με όρισμα την </a:t>
              </a:r>
              <a:r>
                <a:rPr lang="en-US" sz="1800" dirty="0"/>
                <a:t>rect2</a:t>
              </a:r>
              <a:r>
                <a:rPr lang="el-GR" sz="1800" dirty="0"/>
                <a:t> και η επιστρεφόμενη τιμή της αποδόθηκε στο πρώτο στοιχείο του πίνακα </a:t>
              </a:r>
              <a:r>
                <a:rPr lang="en-US" sz="1800" dirty="0" err="1"/>
                <a:t>rectArr</a:t>
              </a:r>
              <a:r>
                <a:rPr lang="en-US" sz="1800" dirty="0"/>
                <a:t>.</a:t>
              </a:r>
              <a:endParaRPr lang="el-GR" sz="1800" dirty="0"/>
            </a:p>
            <a:p>
              <a:r>
                <a:rPr lang="el-GR" sz="1800" dirty="0"/>
                <a:t>Οι τιμές των μελών του πρώτου στοιχείου δεν άλλαξαν από την χρήση του ως πραγματικού ορίσματος στην κλήση της συνάρτησης </a:t>
              </a:r>
              <a:r>
                <a:rPr lang="en-US" sz="1800" dirty="0" err="1"/>
                <a:t>doubleRect</a:t>
              </a:r>
              <a:r>
                <a:rPr lang="el-GR" sz="1800" dirty="0"/>
                <a:t> γιατί η μεταβλητή τύπου δομής περνιέται </a:t>
              </a:r>
              <a:r>
                <a:rPr lang="en-US" sz="1800" dirty="0"/>
                <a:t>by value (</a:t>
              </a:r>
              <a:r>
                <a:rPr lang="el-GR" sz="1800" dirty="0"/>
                <a:t>με τιμή</a:t>
              </a:r>
              <a:r>
                <a:rPr lang="en-US" sz="1800" dirty="0"/>
                <a:t>)</a:t>
              </a:r>
              <a:r>
                <a:rPr lang="el-GR" sz="1800" dirty="0"/>
                <a:t>. </a:t>
              </a:r>
            </a:p>
          </p:txBody>
        </p:sp>
        <p:sp>
          <p:nvSpPr>
            <p:cNvPr id="20" name="Callout: Line 19">
              <a:extLst>
                <a:ext uri="{FF2B5EF4-FFF2-40B4-BE49-F238E27FC236}">
                  <a16:creationId xmlns:a16="http://schemas.microsoft.com/office/drawing/2014/main" id="{C8B4E8ED-2269-04A2-51C4-B72A17E51EBA}"/>
                </a:ext>
              </a:extLst>
            </p:cNvPr>
            <p:cNvSpPr/>
            <p:nvPr/>
          </p:nvSpPr>
          <p:spPr bwMode="auto">
            <a:xfrm>
              <a:off x="0" y="2746146"/>
              <a:ext cx="3960440" cy="682853"/>
            </a:xfrm>
            <a:prstGeom prst="borderCallout1">
              <a:avLst>
                <a:gd name="adj1" fmla="val 68065"/>
                <a:gd name="adj2" fmla="val 100480"/>
                <a:gd name="adj3" fmla="val 68043"/>
                <a:gd name="adj4" fmla="val 116022"/>
              </a:avLst>
            </a:prstGeom>
            <a:solidFill>
              <a:schemeClr val="accent1">
                <a:alpha val="13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l-G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CA23A7F-27EB-0DDB-0CFB-D062C2A8D5A6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l-GR" sz="14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18402B2-BC91-14B2-A291-B0F0C772E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33" y="15528"/>
            <a:ext cx="12184467" cy="677388"/>
          </a:xfrm>
        </p:spPr>
        <p:txBody>
          <a:bodyPr/>
          <a:lstStyle/>
          <a:p>
            <a:pPr eaLnBrk="1" hangingPunct="1"/>
            <a:r>
              <a:rPr lang="el-GR" altLang="el-GR" dirty="0"/>
              <a:t>Παράδειγμα 2</a:t>
            </a:r>
            <a:r>
              <a:rPr lang="el-GR" altLang="el-GR" baseline="30000" dirty="0"/>
              <a:t>ο</a:t>
            </a:r>
            <a:r>
              <a:rPr lang="el-GR" altLang="el-GR" dirty="0"/>
              <a:t> Δομή ως επιστρεφόμενη τιμή </a:t>
            </a:r>
            <a:r>
              <a:rPr lang="en-US" altLang="el-GR" dirty="0"/>
              <a:t>3</a:t>
            </a:r>
            <a:r>
              <a:rPr lang="el-GR" altLang="el-GR" dirty="0"/>
              <a:t>/</a:t>
            </a:r>
            <a:r>
              <a:rPr lang="en-US" altLang="el-GR" dirty="0"/>
              <a:t>3</a:t>
            </a:r>
            <a:endParaRPr lang="el-GR" altLang="el-G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E1562-19FA-C847-BF77-A9A881F6A0C4}"/>
              </a:ext>
            </a:extLst>
          </p:cNvPr>
          <p:cNvSpPr txBox="1"/>
          <p:nvPr/>
        </p:nvSpPr>
        <p:spPr>
          <a:xfrm>
            <a:off x="65209" y="787856"/>
            <a:ext cx="4908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el-GR" sz="3200" dirty="0"/>
              <a:t>Έξοδος Προγράμματος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6819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D596F2D-E44B-1FC0-079F-A1A9C06E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E69482B-FD96-9D68-6514-5A7C2889B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Παράδειγμα 3</a:t>
            </a:r>
            <a:r>
              <a:rPr lang="el-GR" altLang="el-GR" baseline="30000" dirty="0"/>
              <a:t>ο </a:t>
            </a:r>
            <a:r>
              <a:rPr lang="el-GR" altLang="el-GR" dirty="0"/>
              <a:t> -</a:t>
            </a:r>
            <a:r>
              <a:rPr lang="en-US" altLang="el-GR" dirty="0"/>
              <a:t> </a:t>
            </a:r>
            <a:r>
              <a:rPr lang="el-GR" altLang="el-GR" dirty="0"/>
              <a:t>Άσκηση </a:t>
            </a:r>
            <a:r>
              <a:rPr lang="en-US" altLang="el-GR" dirty="0"/>
              <a:t>Orders      </a:t>
            </a:r>
            <a:r>
              <a:rPr lang="el-GR" altLang="el-GR" dirty="0"/>
              <a:t>1/2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9E9EC53-DB73-E823-A40E-6EA26273E4A6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l-GR" sz="1400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944BD2C-9D32-EB71-C358-88069657C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52736"/>
            <a:ext cx="1000911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l-GR" sz="2400" kern="0" dirty="0">
                <a:ea typeface="Times New Roman" panose="02020603050405020304" pitchFamily="18" charset="0"/>
              </a:rPr>
              <a:t>Ένα εργοστάσιο παρασκευάζει μικρά και μεγάλα μπουκάλια εμφιάλωσης. Τα μικρά κοστίζουν 0.008€ και τα μεγάλα 0.02€.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l-GR" sz="2400" kern="0" dirty="0">
                <a:ea typeface="Times New Roman" panose="02020603050405020304" pitchFamily="18" charset="0"/>
              </a:rPr>
              <a:t>Για παραγγελίες μεγαλύτερες από 200€ ή 3000 μπουκάλια, υπάρχει έκπτωση 8%. Για παραγγελίες μεγαλύτερες από 600€, η έκπτωση είναι 20%. </a:t>
            </a:r>
            <a:endParaRPr lang="en-GB" sz="2400" kern="0" dirty="0"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l-GR" sz="2400" kern="0" dirty="0"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l-GR" sz="2400" kern="0" dirty="0">
                <a:ea typeface="Times New Roman" panose="02020603050405020304" pitchFamily="18" charset="0"/>
              </a:rPr>
              <a:t>Να γραφεί ένα πρόγραμμα το οποίο να δέχεται το πλήθος των μικρών και μεγάλων μπουκαλιών μίας παραγγελίας και να εμφανίζει το συνολικό κόστος υπολογίζοντας την έκπτωση.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l-GR" sz="2400" kern="0" dirty="0"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l-GR" sz="2400" kern="0" dirty="0">
                <a:ea typeface="Times New Roman" panose="02020603050405020304" pitchFamily="18" charset="0"/>
              </a:rPr>
              <a:t>Δώστε στον χρήστη τη δυνατότητα επιλογής της προς εκτέλεση λειτουργίας</a:t>
            </a:r>
            <a:endParaRPr lang="en-GB" sz="2400" kern="0" dirty="0">
              <a:ea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GB" altLang="el-GR" sz="2400" kern="0" dirty="0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6FB8CEF5-A0B2-5870-63C0-51C7B7669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920" y="5357943"/>
            <a:ext cx="4397996" cy="894641"/>
          </a:xfrm>
          <a:prstGeom prst="wedgeRoundRectCallout">
            <a:avLst>
              <a:gd name="adj1" fmla="val -82256"/>
              <a:gd name="adj2" fmla="val 73324"/>
              <a:gd name="adj3" fmla="val 16667"/>
            </a:avLst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 dirty="0"/>
              <a:t>Δες Άσκηση 4, Κεφάλαιο 11</a:t>
            </a:r>
          </a:p>
          <a:p>
            <a:pPr algn="ctr" eaLnBrk="1" hangingPunct="1"/>
            <a:r>
              <a:rPr lang="el-GR" altLang="el-GR" sz="1800" dirty="0"/>
              <a:t>Για ορισμό κύριας ροής του προγράμματος</a:t>
            </a:r>
          </a:p>
        </p:txBody>
      </p:sp>
    </p:spTree>
    <p:extLst>
      <p:ext uri="{BB962C8B-B14F-4D97-AF65-F5344CB8AC3E}">
        <p14:creationId xmlns:p14="http://schemas.microsoft.com/office/powerpoint/2010/main" val="331327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2D70F1B-EA5A-19E3-9F0A-94539FBF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31A65-194A-DD94-BACC-D3C9AF78E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6" y="1149096"/>
            <a:ext cx="4996291" cy="5189655"/>
          </a:xfrm>
          <a:prstGeom prst="rect">
            <a:avLst/>
          </a:prstGeom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BDCFF291-9DFB-D145-1D5C-0664CDB67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dirty="0"/>
              <a:t>Παράδειγμα </a:t>
            </a:r>
            <a:r>
              <a:rPr lang="en-US" altLang="el-GR" dirty="0"/>
              <a:t>3</a:t>
            </a:r>
            <a:r>
              <a:rPr lang="el-GR" altLang="el-GR" baseline="30000" dirty="0"/>
              <a:t>ο</a:t>
            </a:r>
            <a:r>
              <a:rPr lang="el-GR" altLang="el-GR" dirty="0"/>
              <a:t> - Άσκηση </a:t>
            </a:r>
            <a:r>
              <a:rPr lang="en-US" altLang="el-GR" dirty="0"/>
              <a:t>Orders</a:t>
            </a:r>
            <a:r>
              <a:rPr lang="el-GR" altLang="el-GR" dirty="0"/>
              <a:t>     2/2</a:t>
            </a:r>
            <a:endParaRPr lang="en-GB" altLang="el-GR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6868642-E058-4714-47CE-5DF4BA385D63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l-GR" sz="1400" dirty="0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F1E50A81-D530-F592-D570-141C8F5D586E}"/>
              </a:ext>
            </a:extLst>
          </p:cNvPr>
          <p:cNvSpPr/>
          <p:nvPr/>
        </p:nvSpPr>
        <p:spPr bwMode="auto">
          <a:xfrm>
            <a:off x="796894" y="2431173"/>
            <a:ext cx="3096344" cy="1600783"/>
          </a:xfrm>
          <a:prstGeom prst="borderCallout1">
            <a:avLst>
              <a:gd name="adj1" fmla="val 17545"/>
              <a:gd name="adj2" fmla="val 101108"/>
              <a:gd name="adj3" fmla="val 3155"/>
              <a:gd name="adj4" fmla="val 169546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CB334-B699-533E-D563-39C225BC7E31}"/>
              </a:ext>
            </a:extLst>
          </p:cNvPr>
          <p:cNvSpPr txBox="1"/>
          <p:nvPr/>
        </p:nvSpPr>
        <p:spPr>
          <a:xfrm>
            <a:off x="6053478" y="2172794"/>
            <a:ext cx="280831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Δήλωση δομής </a:t>
            </a:r>
            <a:r>
              <a:rPr lang="en-US" sz="1800" b="1" dirty="0"/>
              <a:t>order</a:t>
            </a:r>
            <a:endParaRPr lang="el-GR" sz="1800" b="1" dirty="0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36C5094E-A581-A784-F472-B34A948F2869}"/>
              </a:ext>
            </a:extLst>
          </p:cNvPr>
          <p:cNvSpPr/>
          <p:nvPr/>
        </p:nvSpPr>
        <p:spPr bwMode="auto">
          <a:xfrm>
            <a:off x="846768" y="5476841"/>
            <a:ext cx="4514369" cy="861909"/>
          </a:xfrm>
          <a:prstGeom prst="borderCallout1">
            <a:avLst>
              <a:gd name="adj1" fmla="val -490"/>
              <a:gd name="adj2" fmla="val 93295"/>
              <a:gd name="adj3" fmla="val -17837"/>
              <a:gd name="adj4" fmla="val 120924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664AF9FE-62D2-B369-8D00-178B3614F275}"/>
              </a:ext>
            </a:extLst>
          </p:cNvPr>
          <p:cNvSpPr/>
          <p:nvPr/>
        </p:nvSpPr>
        <p:spPr bwMode="auto">
          <a:xfrm>
            <a:off x="846768" y="4178158"/>
            <a:ext cx="3982574" cy="1152482"/>
          </a:xfrm>
          <a:prstGeom prst="borderCallout1">
            <a:avLst>
              <a:gd name="adj1" fmla="val 7704"/>
              <a:gd name="adj2" fmla="val 100725"/>
              <a:gd name="adj3" fmla="val -45804"/>
              <a:gd name="adj4" fmla="val 139454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2E4CD-DDA6-A619-2773-FAC3C82F6064}"/>
              </a:ext>
            </a:extLst>
          </p:cNvPr>
          <p:cNvSpPr txBox="1"/>
          <p:nvPr/>
        </p:nvSpPr>
        <p:spPr>
          <a:xfrm>
            <a:off x="6245221" y="5145974"/>
            <a:ext cx="302433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800" b="1" dirty="0"/>
              <a:t>Function prototypes</a:t>
            </a:r>
            <a:endParaRPr lang="el-GR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699ED-1B93-E7AB-0511-B434B296CFB1}"/>
              </a:ext>
            </a:extLst>
          </p:cNvPr>
          <p:cNvSpPr txBox="1"/>
          <p:nvPr/>
        </p:nvSpPr>
        <p:spPr>
          <a:xfrm>
            <a:off x="6341510" y="3048113"/>
            <a:ext cx="288032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Απόδοση αρχικών τιμών </a:t>
            </a:r>
            <a:r>
              <a:rPr lang="el-GR" sz="1800" dirty="0"/>
              <a:t>σε </a:t>
            </a:r>
            <a:r>
              <a:rPr lang="en-US" sz="1800" dirty="0"/>
              <a:t>3 </a:t>
            </a:r>
            <a:r>
              <a:rPr lang="el-GR" sz="1800" dirty="0"/>
              <a:t>στοιχεία πίνακα 10 στοιχείων τύπου δομής </a:t>
            </a:r>
            <a:r>
              <a:rPr lang="en-US" sz="1800" dirty="0"/>
              <a:t>order.</a:t>
            </a: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127819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BA2FD58-47DC-0A65-204A-7E114789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E51224A-0498-3887-E386-F97F266B6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54" y="5340938"/>
            <a:ext cx="6435544" cy="4767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23DA72-6EE7-7763-D91F-0D949FE96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54" y="1210110"/>
            <a:ext cx="4990025" cy="3345584"/>
          </a:xfrm>
          <a:prstGeom prst="rect">
            <a:avLst/>
          </a:prstGeom>
        </p:spPr>
      </p:pic>
      <p:sp>
        <p:nvSpPr>
          <p:cNvPr id="8" name="Callout: Line 7">
            <a:extLst>
              <a:ext uri="{FF2B5EF4-FFF2-40B4-BE49-F238E27FC236}">
                <a16:creationId xmlns:a16="http://schemas.microsoft.com/office/drawing/2014/main" id="{7351EAC0-CF48-1D05-3ED4-8916A397B285}"/>
              </a:ext>
            </a:extLst>
          </p:cNvPr>
          <p:cNvSpPr/>
          <p:nvPr/>
        </p:nvSpPr>
        <p:spPr bwMode="auto">
          <a:xfrm>
            <a:off x="108476" y="5268899"/>
            <a:ext cx="6579622" cy="620786"/>
          </a:xfrm>
          <a:prstGeom prst="borderCallout1">
            <a:avLst>
              <a:gd name="adj1" fmla="val 49441"/>
              <a:gd name="adj2" fmla="val 99797"/>
              <a:gd name="adj3" fmla="val -84508"/>
              <a:gd name="adj4" fmla="val 117065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13748CB-4C36-F0E6-7274-5F693C72BA04}"/>
              </a:ext>
            </a:extLst>
          </p:cNvPr>
          <p:cNvSpPr txBox="1">
            <a:spLocks/>
          </p:cNvSpPr>
          <p:nvPr/>
        </p:nvSpPr>
        <p:spPr bwMode="auto">
          <a:xfrm>
            <a:off x="11798847" y="6106054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l-GR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47B117-2604-8D37-C341-E324640E23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240"/>
            <a:ext cx="11798847" cy="620786"/>
          </a:xfrm>
        </p:spPr>
        <p:txBody>
          <a:bodyPr/>
          <a:lstStyle/>
          <a:p>
            <a:pPr eaLnBrk="1" hangingPunct="1"/>
            <a:r>
              <a:rPr lang="el-GR" altLang="el-GR" dirty="0"/>
              <a:t>Παράδειγμα </a:t>
            </a:r>
            <a:r>
              <a:rPr lang="en-US" altLang="el-GR" dirty="0"/>
              <a:t>4</a:t>
            </a:r>
            <a:r>
              <a:rPr lang="el-GR" altLang="el-GR" baseline="30000" dirty="0"/>
              <a:t>ο</a:t>
            </a:r>
            <a:r>
              <a:rPr lang="el-GR" altLang="el-GR" dirty="0"/>
              <a:t>  </a:t>
            </a:r>
            <a:r>
              <a:rPr lang="en-GB" altLang="el-GR" dirty="0"/>
              <a:t>- </a:t>
            </a:r>
            <a:r>
              <a:rPr lang="el-GR" altLang="el-GR" dirty="0"/>
              <a:t>Άσκηση </a:t>
            </a:r>
            <a:r>
              <a:rPr lang="en-GB" altLang="el-GR" dirty="0"/>
              <a:t>Fractions</a:t>
            </a:r>
            <a:r>
              <a:rPr lang="el-GR" altLang="el-GR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D441A-9E4D-934D-1146-BDF4F577A3C9}"/>
              </a:ext>
            </a:extLst>
          </p:cNvPr>
          <p:cNvSpPr txBox="1"/>
          <p:nvPr/>
        </p:nvSpPr>
        <p:spPr>
          <a:xfrm>
            <a:off x="7032104" y="2249939"/>
            <a:ext cx="3800618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Ορισμός</a:t>
            </a:r>
            <a:r>
              <a:rPr lang="en-GB" sz="1800" b="1" dirty="0"/>
              <a:t> </a:t>
            </a:r>
            <a:r>
              <a:rPr lang="el-GR" sz="1800" b="1" dirty="0"/>
              <a:t>των τύπων</a:t>
            </a:r>
          </a:p>
          <a:p>
            <a:r>
              <a:rPr lang="en-GB" sz="1800" b="1" dirty="0">
                <a:solidFill>
                  <a:srgbClr val="C00000"/>
                </a:solidFill>
              </a:rPr>
              <a:t>Fraction</a:t>
            </a:r>
            <a:r>
              <a:rPr lang="en-GB" sz="1800" b="1" dirty="0"/>
              <a:t> </a:t>
            </a:r>
            <a:r>
              <a:rPr lang="el-GR" sz="1800" b="1" dirty="0"/>
              <a:t> και </a:t>
            </a:r>
            <a:r>
              <a:rPr lang="en-GB" sz="1800" b="1" dirty="0">
                <a:solidFill>
                  <a:srgbClr val="C00000"/>
                </a:solidFill>
              </a:rPr>
              <a:t>Expression</a:t>
            </a:r>
            <a:r>
              <a:rPr lang="el-GR" sz="1800" b="1" dirty="0">
                <a:solidFill>
                  <a:srgbClr val="C00000"/>
                </a:solidFill>
              </a:rPr>
              <a:t> </a:t>
            </a:r>
            <a:endParaRPr lang="en-US" sz="1800" b="1" dirty="0">
              <a:solidFill>
                <a:srgbClr val="C00000"/>
              </a:solidFill>
            </a:endParaRPr>
          </a:p>
          <a:p>
            <a:r>
              <a:rPr lang="el-GR" sz="1800" dirty="0"/>
              <a:t>(Βρίσκεται στο αρχείο </a:t>
            </a:r>
            <a:r>
              <a:rPr lang="en-US" sz="1800" dirty="0"/>
              <a:t>i2p.h</a:t>
            </a:r>
            <a:r>
              <a:rPr lang="el-GR" sz="18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6E003-135A-C8B7-F3BF-F4A0D5E8395A}"/>
              </a:ext>
            </a:extLst>
          </p:cNvPr>
          <p:cNvSpPr txBox="1"/>
          <p:nvPr/>
        </p:nvSpPr>
        <p:spPr>
          <a:xfrm>
            <a:off x="7752184" y="4397951"/>
            <a:ext cx="338437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800" b="1" dirty="0"/>
              <a:t>Function prototype </a:t>
            </a:r>
            <a:r>
              <a:rPr lang="el-GR" sz="1800" b="1" dirty="0"/>
              <a:t>της </a:t>
            </a:r>
          </a:p>
          <a:p>
            <a:r>
              <a:rPr lang="el-GR" sz="1800" b="1" dirty="0"/>
              <a:t>συνάρτησης </a:t>
            </a:r>
            <a:r>
              <a:rPr lang="en-US" sz="1800" b="1" dirty="0">
                <a:solidFill>
                  <a:srgbClr val="C00000"/>
                </a:solidFill>
              </a:rPr>
              <a:t>get</a:t>
            </a:r>
            <a:r>
              <a:rPr lang="en-GB" sz="1800" b="1" dirty="0">
                <a:solidFill>
                  <a:srgbClr val="C00000"/>
                </a:solidFill>
              </a:rPr>
              <a:t>ExpressionV2()</a:t>
            </a:r>
            <a:endParaRPr lang="el-GR" sz="1800" b="1" dirty="0">
              <a:solidFill>
                <a:srgbClr val="C00000"/>
              </a:solidFill>
            </a:endParaRPr>
          </a:p>
          <a:p>
            <a:r>
              <a:rPr lang="el-GR" sz="1800" dirty="0"/>
              <a:t>(Βρίσκεται στο αρχείο </a:t>
            </a:r>
            <a:r>
              <a:rPr lang="en-US" sz="1800" dirty="0"/>
              <a:t>i2p.h</a:t>
            </a:r>
            <a:r>
              <a:rPr lang="el-GR" sz="1800" dirty="0"/>
              <a:t>)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BABA4E2B-80E2-6106-F8CD-A1EDDFA7F97C}"/>
              </a:ext>
            </a:extLst>
          </p:cNvPr>
          <p:cNvSpPr/>
          <p:nvPr/>
        </p:nvSpPr>
        <p:spPr bwMode="auto">
          <a:xfrm>
            <a:off x="108476" y="1012896"/>
            <a:ext cx="5278180" cy="3640239"/>
          </a:xfrm>
          <a:prstGeom prst="borderCallout1">
            <a:avLst>
              <a:gd name="adj1" fmla="val 49972"/>
              <a:gd name="adj2" fmla="val 99933"/>
              <a:gd name="adj3" fmla="val 45682"/>
              <a:gd name="adj4" fmla="val 129065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6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28415DE-76D4-DAC8-86C8-E254E96F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0366D9F-FEEE-F609-2E12-3EC58B819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1" y="2965813"/>
            <a:ext cx="9956981" cy="646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78DCC4-82DB-C312-2AFF-EBF3D78E8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962433"/>
            <a:ext cx="5634191" cy="1749868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695219E-D529-75B0-8378-7B02B3A6DF69}"/>
              </a:ext>
            </a:extLst>
          </p:cNvPr>
          <p:cNvSpPr txBox="1">
            <a:spLocks/>
          </p:cNvSpPr>
          <p:nvPr/>
        </p:nvSpPr>
        <p:spPr bwMode="auto">
          <a:xfrm>
            <a:off x="11798847" y="6106054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l-GR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23A537-898F-F722-E931-6B19C0FB5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240"/>
            <a:ext cx="11798847" cy="620786"/>
          </a:xfrm>
        </p:spPr>
        <p:txBody>
          <a:bodyPr/>
          <a:lstStyle/>
          <a:p>
            <a:pPr eaLnBrk="1" hangingPunct="1"/>
            <a:r>
              <a:rPr lang="el-GR" altLang="el-GR" dirty="0"/>
              <a:t>Παράδειγμα 5</a:t>
            </a:r>
            <a:r>
              <a:rPr lang="el-GR" altLang="el-GR" baseline="30000" dirty="0"/>
              <a:t>ο</a:t>
            </a:r>
            <a:r>
              <a:rPr lang="el-GR" altLang="el-GR" dirty="0"/>
              <a:t>  </a:t>
            </a:r>
            <a:r>
              <a:rPr lang="en-GB" altLang="el-GR" dirty="0"/>
              <a:t>- </a:t>
            </a:r>
            <a:r>
              <a:rPr lang="el-GR" altLang="el-GR" dirty="0"/>
              <a:t>Άσκηση </a:t>
            </a:r>
            <a:r>
              <a:rPr lang="en-US" altLang="el-GR" dirty="0" err="1"/>
              <a:t>wordsHandling</a:t>
            </a:r>
            <a:r>
              <a:rPr lang="el-GR" altLang="el-GR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B5F9C-71EC-EEF0-95BE-829A158580DD}"/>
              </a:ext>
            </a:extLst>
          </p:cNvPr>
          <p:cNvSpPr txBox="1"/>
          <p:nvPr/>
        </p:nvSpPr>
        <p:spPr>
          <a:xfrm>
            <a:off x="8272046" y="1395881"/>
            <a:ext cx="380061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b="1" dirty="0"/>
              <a:t>Δήλωση</a:t>
            </a:r>
            <a:r>
              <a:rPr lang="en-GB" sz="1800" b="1" dirty="0"/>
              <a:t> </a:t>
            </a:r>
            <a:r>
              <a:rPr lang="el-GR" sz="1800" b="1" dirty="0"/>
              <a:t>του τύπου </a:t>
            </a:r>
            <a:r>
              <a:rPr lang="en-US" sz="1800" b="1" dirty="0" err="1">
                <a:solidFill>
                  <a:srgbClr val="C00000"/>
                </a:solidFill>
              </a:rPr>
              <a:t>WordStatistics</a:t>
            </a:r>
            <a:endParaRPr lang="el-GR" sz="18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0DEF6-01C9-AD2C-FD88-EA262D215357}"/>
              </a:ext>
            </a:extLst>
          </p:cNvPr>
          <p:cNvSpPr txBox="1"/>
          <p:nvPr/>
        </p:nvSpPr>
        <p:spPr>
          <a:xfrm>
            <a:off x="4223792" y="3635902"/>
            <a:ext cx="784887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1800" dirty="0"/>
              <a:t>Η </a:t>
            </a:r>
            <a:r>
              <a:rPr lang="en-GB" sz="1800" dirty="0"/>
              <a:t>initializeWordStatsV2</a:t>
            </a:r>
            <a:r>
              <a:rPr lang="el-GR" sz="1800" dirty="0"/>
              <a:t> έχει </a:t>
            </a:r>
            <a:r>
              <a:rPr lang="el-GR" sz="1800" b="1" dirty="0">
                <a:solidFill>
                  <a:srgbClr val="A50021"/>
                </a:solidFill>
              </a:rPr>
              <a:t>επιστρεφόμενη τιμή </a:t>
            </a:r>
            <a:r>
              <a:rPr lang="el-GR" sz="1800" dirty="0">
                <a:solidFill>
                  <a:srgbClr val="A50021"/>
                </a:solidFill>
              </a:rPr>
              <a:t>τύπου </a:t>
            </a:r>
            <a:r>
              <a:rPr lang="en-GB" sz="1800" dirty="0" err="1">
                <a:solidFill>
                  <a:srgbClr val="A50021"/>
                </a:solidFill>
              </a:rPr>
              <a:t>WordStatistics</a:t>
            </a:r>
            <a:r>
              <a:rPr lang="el-GR" sz="1800" dirty="0">
                <a:solidFill>
                  <a:srgbClr val="A50021"/>
                </a:solidFill>
              </a:rPr>
              <a:t> </a:t>
            </a:r>
          </a:p>
          <a:p>
            <a:r>
              <a:rPr lang="el-GR" sz="1800" dirty="0"/>
              <a:t>Η </a:t>
            </a:r>
            <a:r>
              <a:rPr lang="en-GB" sz="1800" dirty="0"/>
              <a:t>displayWordStatsV2</a:t>
            </a:r>
            <a:r>
              <a:rPr lang="el-GR" sz="1800" dirty="0"/>
              <a:t> </a:t>
            </a:r>
            <a:r>
              <a:rPr lang="el-GR" sz="1800" b="1" dirty="0">
                <a:solidFill>
                  <a:srgbClr val="A50021"/>
                </a:solidFill>
              </a:rPr>
              <a:t>δέχεται όρισμα</a:t>
            </a:r>
            <a:r>
              <a:rPr lang="el-GR" sz="1800" dirty="0">
                <a:solidFill>
                  <a:srgbClr val="A50021"/>
                </a:solidFill>
              </a:rPr>
              <a:t> τύπου </a:t>
            </a:r>
            <a:r>
              <a:rPr lang="en-GB" sz="1800" dirty="0" err="1">
                <a:solidFill>
                  <a:srgbClr val="A50021"/>
                </a:solidFill>
              </a:rPr>
              <a:t>WordStatistics</a:t>
            </a:r>
            <a:endParaRPr lang="el-GR" sz="1800" dirty="0">
              <a:solidFill>
                <a:srgbClr val="A50021"/>
              </a:solidFill>
            </a:endParaRP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AFFCEBA2-E933-2FAF-C1D3-D934022D586B}"/>
              </a:ext>
            </a:extLst>
          </p:cNvPr>
          <p:cNvSpPr/>
          <p:nvPr/>
        </p:nvSpPr>
        <p:spPr bwMode="auto">
          <a:xfrm>
            <a:off x="111766" y="940130"/>
            <a:ext cx="7878893" cy="1772171"/>
          </a:xfrm>
          <a:prstGeom prst="borderCallout1">
            <a:avLst>
              <a:gd name="adj1" fmla="val 9086"/>
              <a:gd name="adj2" fmla="val 99776"/>
              <a:gd name="adj3" fmla="val 28079"/>
              <a:gd name="adj4" fmla="val 132589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B6398482-2793-CB36-0C92-B9EB82EC8ED4}"/>
              </a:ext>
            </a:extLst>
          </p:cNvPr>
          <p:cNvSpPr/>
          <p:nvPr/>
        </p:nvSpPr>
        <p:spPr bwMode="auto">
          <a:xfrm>
            <a:off x="101436" y="2942053"/>
            <a:ext cx="10225136" cy="670089"/>
          </a:xfrm>
          <a:prstGeom prst="borderCallout1">
            <a:avLst>
              <a:gd name="adj1" fmla="val 101698"/>
              <a:gd name="adj2" fmla="val 30342"/>
              <a:gd name="adj3" fmla="val 139051"/>
              <a:gd name="adj4" fmla="val 40024"/>
            </a:avLst>
          </a:prstGeom>
          <a:solidFill>
            <a:schemeClr val="accent1">
              <a:alpha val="23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5E8B64-0049-5C27-2BE3-0777DA7FD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84" y="4712862"/>
            <a:ext cx="11001951" cy="140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5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5DA7A1-9A88-A5CE-6B06-8AD237C6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F530092-204F-ABF4-515E-BBE7375B16F6}"/>
              </a:ext>
            </a:extLst>
          </p:cNvPr>
          <p:cNvSpPr txBox="1">
            <a:spLocks/>
          </p:cNvSpPr>
          <p:nvPr/>
        </p:nvSpPr>
        <p:spPr bwMode="auto">
          <a:xfrm>
            <a:off x="11725275" y="6524625"/>
            <a:ext cx="4667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CDAD6-5096-4D13-B91F-F0E7E946FA42}" type="slidenum">
              <a:rPr lang="en-US" altLang="el-G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l-GR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9F1F5A-E971-BE38-E9BB-D14E3EA06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24" y="36007"/>
            <a:ext cx="7793037" cy="707886"/>
          </a:xfrm>
        </p:spPr>
        <p:txBody>
          <a:bodyPr/>
          <a:lstStyle/>
          <a:p>
            <a:pPr eaLnBrk="1" hangingPunct="1"/>
            <a:r>
              <a:rPr lang="el-GR" altLang="el-GR"/>
              <a:t>Δείκτες σε δομές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DCCA45-E1A6-2EF2-64A0-7E6B8BF12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826465"/>
            <a:ext cx="8785225" cy="112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800" b="1" kern="0" dirty="0">
                <a:latin typeface="Times New Roman" panose="02020603050405020304" pitchFamily="18" charset="0"/>
              </a:rPr>
              <a:t>Δήλωση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000" kern="0" dirty="0"/>
              <a:t>	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Rectangle 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*</a:t>
            </a:r>
            <a:r>
              <a:rPr lang="en-US" altLang="el-GR" sz="24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el-GR" sz="24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Ptr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;</a:t>
            </a:r>
            <a:endParaRPr lang="el-GR" altLang="el-GR" sz="2400" b="1" kern="0" dirty="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Rectangle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2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*</a:t>
            </a:r>
            <a:r>
              <a:rPr lang="en-US" altLang="el-GR" sz="24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rectPtr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[10]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l-GR" altLang="el-GR" sz="2000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C13A8-C2AE-C126-9947-504B666DB4CC}"/>
              </a:ext>
            </a:extLst>
          </p:cNvPr>
          <p:cNvSpPr txBox="1"/>
          <p:nvPr/>
        </p:nvSpPr>
        <p:spPr>
          <a:xfrm>
            <a:off x="4583873" y="1216748"/>
            <a:ext cx="7428210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000" dirty="0"/>
              <a:t>Η </a:t>
            </a:r>
            <a:r>
              <a:rPr lang="en-US" sz="2000" dirty="0"/>
              <a:t>rect1Ptr </a:t>
            </a:r>
            <a:r>
              <a:rPr lang="el-GR" sz="2000" dirty="0"/>
              <a:t>είναι δείκτης σε μεταβλητή τύπου </a:t>
            </a:r>
            <a:r>
              <a:rPr lang="en-US" sz="2000" dirty="0"/>
              <a:t>Rectangle</a:t>
            </a:r>
            <a:endParaRPr lang="el-GR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DBA01-1D8C-56B8-B871-F1F093920000}"/>
              </a:ext>
            </a:extLst>
          </p:cNvPr>
          <p:cNvSpPr txBox="1"/>
          <p:nvPr/>
        </p:nvSpPr>
        <p:spPr>
          <a:xfrm>
            <a:off x="762699" y="1942495"/>
            <a:ext cx="11277119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 </a:t>
            </a:r>
            <a:r>
              <a:rPr lang="en-US" altLang="el-GR" sz="2400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rectPtr</a:t>
            </a:r>
            <a:r>
              <a:rPr lang="en-US" altLang="el-GR" sz="24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sz="2000" dirty="0"/>
              <a:t>είναι πίνακας 10 στοιχειών που το καθένα είναι δείκτης σε </a:t>
            </a:r>
            <a:r>
              <a:rPr lang="en-GB" altLang="el-GR" sz="2000" dirty="0"/>
              <a:t>Rectangle2</a:t>
            </a:r>
            <a:r>
              <a:rPr lang="el-GR" altLang="el-GR" sz="2000" dirty="0"/>
              <a:t>.</a:t>
            </a:r>
            <a:endParaRPr lang="el-GR" sz="2000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E74D958-E880-6756-C718-714ABA936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304" y="5918850"/>
            <a:ext cx="2445333" cy="584776"/>
          </a:xfrm>
          <a:prstGeom prst="wedgeRoundRectCallout">
            <a:avLst>
              <a:gd name="adj1" fmla="val -76266"/>
              <a:gd name="adj2" fmla="val 76583"/>
              <a:gd name="adj3" fmla="val 16667"/>
            </a:avLst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 sz="1400" dirty="0"/>
              <a:t>Δες Άσκηση 6, Κεφάλαιο 11</a:t>
            </a:r>
          </a:p>
          <a:p>
            <a:pPr eaLnBrk="1" hangingPunct="1"/>
            <a:r>
              <a:rPr lang="el-GR" altLang="el-GR" sz="1400" dirty="0"/>
              <a:t>Βιβλίο Διευθύνσεων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A6BC4CB-8844-B029-7428-FBD7D026F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58" y="2688235"/>
            <a:ext cx="8785225" cy="1134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800" b="1" kern="0" dirty="0">
                <a:latin typeface="Times New Roman" panose="02020603050405020304" pitchFamily="18" charset="0"/>
              </a:rPr>
              <a:t>Αρχικοποίηση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Rectangle 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*</a:t>
            </a:r>
            <a:r>
              <a:rPr lang="en-US" altLang="el-GR" sz="24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el-GR" sz="24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Ptr</a:t>
            </a:r>
            <a:r>
              <a:rPr lang="el-GR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 =</a:t>
            </a:r>
            <a:r>
              <a:rPr lang="en-US" altLang="el-GR" sz="24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 &amp;rect1;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BBB9084-3AC7-BBB0-1217-55910A3F7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1" y="4639064"/>
            <a:ext cx="3467770" cy="1803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800" b="1" kern="0" dirty="0">
                <a:latin typeface="Times New Roman" panose="02020603050405020304" pitchFamily="18" charset="0"/>
              </a:rPr>
              <a:t>Αναφορά σε μέλη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l-GR" altLang="el-GR" sz="2000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28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rect1Ptr-&gt;x1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l-GR" sz="28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2800" b="1" kern="0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rectPtr</a:t>
            </a:r>
            <a:r>
              <a:rPr lang="el-GR" altLang="el-GR" sz="28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[0]</a:t>
            </a:r>
            <a:r>
              <a:rPr lang="en-US" altLang="el-GR" sz="28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-&gt;p1.x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l-GR" sz="2400" b="1" kern="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l-GR" altLang="el-GR" sz="2000" kern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F8FBC-1CC0-A7A3-79A0-3CE69A250476}"/>
              </a:ext>
            </a:extLst>
          </p:cNvPr>
          <p:cNvSpPr txBox="1"/>
          <p:nvPr/>
        </p:nvSpPr>
        <p:spPr>
          <a:xfrm>
            <a:off x="2351584" y="3488672"/>
            <a:ext cx="9721329" cy="10156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000" dirty="0"/>
              <a:t>Δηλώνεται η μεταβλητή </a:t>
            </a:r>
            <a:r>
              <a:rPr lang="en-US" altLang="el-GR" sz="2000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</a:t>
            </a:r>
            <a:r>
              <a:rPr lang="el-GR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el-GR" sz="2000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Ptr</a:t>
            </a:r>
            <a:r>
              <a:rPr lang="el-GR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sz="2000" dirty="0"/>
              <a:t>ως δείκτης σε </a:t>
            </a:r>
            <a:r>
              <a:rPr lang="en-US" sz="2000" dirty="0"/>
              <a:t>Rectangle </a:t>
            </a:r>
            <a:r>
              <a:rPr lang="el-GR" sz="2000" dirty="0"/>
              <a:t>και της ανατίθεται ως τιμή η διεύθυνση της μεταβλητής </a:t>
            </a:r>
            <a:r>
              <a:rPr lang="en-US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rect1</a:t>
            </a:r>
            <a:r>
              <a:rPr lang="el-GR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sz="2000" dirty="0"/>
              <a:t>η οποία έχει δηλωθεί ως τύπου </a:t>
            </a:r>
            <a:r>
              <a:rPr lang="en-US" sz="2000" dirty="0"/>
              <a:t>Rectangle</a:t>
            </a:r>
            <a:r>
              <a:rPr lang="el-GR" sz="2000" dirty="0"/>
              <a:t>.</a:t>
            </a:r>
          </a:p>
          <a:p>
            <a:r>
              <a:rPr lang="el-GR" sz="2000" dirty="0"/>
              <a:t>Λέμε πως η </a:t>
            </a:r>
            <a:r>
              <a:rPr lang="en-US" altLang="el-GR" sz="2000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</a:t>
            </a:r>
            <a:r>
              <a:rPr lang="el-GR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el-GR" sz="2000" b="1" dirty="0" err="1">
                <a:solidFill>
                  <a:schemeClr val="hlink"/>
                </a:solidFill>
                <a:latin typeface="Courier New" panose="02070309020205020404" pitchFamily="49" charset="0"/>
              </a:rPr>
              <a:t>Ptr</a:t>
            </a:r>
            <a:r>
              <a:rPr lang="el-GR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sz="2000" dirty="0"/>
              <a:t>δείχνει στην </a:t>
            </a:r>
            <a:r>
              <a:rPr lang="en-US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rect1</a:t>
            </a:r>
            <a:r>
              <a:rPr lang="el-GR" altLang="el-GR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.</a:t>
            </a:r>
            <a:endParaRPr lang="el-GR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8B2EFA-F6DD-C719-400C-C92AC481939E}"/>
              </a:ext>
            </a:extLst>
          </p:cNvPr>
          <p:cNvSpPr txBox="1"/>
          <p:nvPr/>
        </p:nvSpPr>
        <p:spPr>
          <a:xfrm>
            <a:off x="3061259" y="5019202"/>
            <a:ext cx="8929240" cy="33855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1600" dirty="0"/>
              <a:t>Αναφέρεται στο μέλος </a:t>
            </a:r>
            <a:r>
              <a:rPr lang="en-US" sz="1600" dirty="0"/>
              <a:t>x1 </a:t>
            </a:r>
            <a:r>
              <a:rPr lang="el-GR" sz="1600" dirty="0"/>
              <a:t>της μεταβλητής που δείχνει ο δείκτης </a:t>
            </a:r>
            <a:r>
              <a:rPr lang="en-US" altLang="el-GR" sz="16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rect</a:t>
            </a:r>
            <a:r>
              <a:rPr lang="el-GR" altLang="el-GR" sz="16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el-GR" sz="1600" b="1" kern="0" dirty="0" err="1">
                <a:solidFill>
                  <a:schemeClr val="hlink"/>
                </a:solidFill>
                <a:latin typeface="Courier New" panose="02070309020205020404" pitchFamily="49" charset="0"/>
              </a:rPr>
              <a:t>Ptr</a:t>
            </a:r>
            <a:r>
              <a:rPr lang="el-GR" altLang="el-GR" sz="1600" b="1" kern="0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sz="1600" dirty="0"/>
              <a:t>δηλαδή της </a:t>
            </a:r>
            <a:r>
              <a:rPr lang="en-US" altLang="el-GR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rect1</a:t>
            </a:r>
            <a:r>
              <a:rPr lang="el-GR" altLang="el-GR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.</a:t>
            </a:r>
            <a:r>
              <a:rPr lang="en-US" altLang="el-GR" sz="16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endParaRPr lang="el-GR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56946F-B424-5568-6F45-74F40A50B288}"/>
              </a:ext>
            </a:extLst>
          </p:cNvPr>
          <p:cNvSpPr txBox="1"/>
          <p:nvPr/>
        </p:nvSpPr>
        <p:spPr>
          <a:xfrm>
            <a:off x="45135" y="5893224"/>
            <a:ext cx="9361040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el-GR" sz="1600" b="1" kern="0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rectPtr</a:t>
            </a:r>
            <a:r>
              <a:rPr lang="el-GR" altLang="el-GR" sz="1600" b="1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[0] </a:t>
            </a:r>
            <a:r>
              <a:rPr lang="el-GR" sz="1600" dirty="0"/>
              <a:t>είναι το 1</a:t>
            </a:r>
            <a:r>
              <a:rPr lang="el-GR" sz="1600" baseline="30000" dirty="0"/>
              <a:t>ο</a:t>
            </a:r>
            <a:r>
              <a:rPr lang="el-GR" sz="1600" dirty="0"/>
              <a:t> στοιχείο του πίνακα το οποίο είναι δείκτης σε τύπο </a:t>
            </a:r>
            <a:r>
              <a:rPr lang="en-US" sz="1600" dirty="0"/>
              <a:t>Rectangle</a:t>
            </a:r>
            <a:r>
              <a:rPr lang="el-GR" sz="1600" dirty="0"/>
              <a:t>2. Ή έκφραση αναφέρεται στο μέλος </a:t>
            </a:r>
            <a:r>
              <a:rPr lang="en-US" sz="1600" dirty="0"/>
              <a:t>x </a:t>
            </a:r>
            <a:r>
              <a:rPr lang="el-GR" sz="1600" dirty="0"/>
              <a:t>του μέλους </a:t>
            </a:r>
            <a:r>
              <a:rPr lang="en-US" sz="1600" dirty="0"/>
              <a:t>p1</a:t>
            </a:r>
            <a:r>
              <a:rPr lang="el-GR" sz="1600" dirty="0"/>
              <a:t> της μεταβλητής στην οποία δείχνει το 1</a:t>
            </a:r>
            <a:r>
              <a:rPr lang="el-GR" sz="1600" baseline="30000" dirty="0"/>
              <a:t>ο</a:t>
            </a:r>
            <a:r>
              <a:rPr lang="el-GR" sz="1600" dirty="0"/>
              <a:t> στοιχείο του πίνακα.</a:t>
            </a:r>
            <a:r>
              <a:rPr lang="en-US" sz="1600" dirty="0"/>
              <a:t> </a:t>
            </a:r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369727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7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60151</TotalTime>
  <Words>1930</Words>
  <Application>Microsoft Office PowerPoint</Application>
  <PresentationFormat>Widescreen</PresentationFormat>
  <Paragraphs>265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Bahnschrift</vt:lpstr>
      <vt:lpstr>Bahnschrift Light</vt:lpstr>
      <vt:lpstr>Courier New</vt:lpstr>
      <vt:lpstr>Tahoma</vt:lpstr>
      <vt:lpstr>Times New Roman</vt:lpstr>
      <vt:lpstr>Wingdings</vt:lpstr>
      <vt:lpstr>Blends</vt:lpstr>
      <vt:lpstr>PowerPoint Presentation</vt:lpstr>
      <vt:lpstr>Αφαιρετικότητα στα Δεδομένα</vt:lpstr>
      <vt:lpstr>Άσκηση [gov.gr wallet] </vt:lpstr>
      <vt:lpstr>Δομή - Struct</vt:lpstr>
      <vt:lpstr>PowerPoint Presentation</vt:lpstr>
      <vt:lpstr>Δήλωση δομής</vt:lpstr>
      <vt:lpstr>Δήλωση δομής με χρήση της typedef</vt:lpstr>
      <vt:lpstr>Δήλωση δομής με βάση άλλη δομή</vt:lpstr>
      <vt:lpstr>Δήλωση μεταβλητής τύπου δομής</vt:lpstr>
      <vt:lpstr>Απόδοση αρχικής τιμής</vt:lpstr>
      <vt:lpstr>Αναφορά στα μέλη της δομής</vt:lpstr>
      <vt:lpstr>Αντιγραφή δομής</vt:lpstr>
      <vt:lpstr>Δομή ως όρισμα και επιστρεφόμενη τιμή συνάρτησης</vt:lpstr>
      <vt:lpstr>Πίνακες δομών</vt:lpstr>
      <vt:lpstr>Παράδειγμα 1ο  Δομή ως Όρισμα    1/2 </vt:lpstr>
      <vt:lpstr>Παράδειγμα 1ο Δομή ως Όρισμα    2/2 </vt:lpstr>
      <vt:lpstr>PowerPoint Presentation</vt:lpstr>
      <vt:lpstr>Παράδειγμα 2ο Δομή ως επιστρεφόμενη τιμή 2/3 </vt:lpstr>
      <vt:lpstr>Παράδειγμα 2ο Δομή ως επιστρεφόμενη τιμή 3/3</vt:lpstr>
      <vt:lpstr>Παράδειγμα 3ο  - Άσκηση Orders      1/2</vt:lpstr>
      <vt:lpstr>Παράδειγμα 3ο - Άσκηση Orders     2/2</vt:lpstr>
      <vt:lpstr>Παράδειγμα 4ο  - Άσκηση Fractions </vt:lpstr>
      <vt:lpstr>Παράδειγμα 5ο  - Άσκηση wordsHandling </vt:lpstr>
      <vt:lpstr>Δείκτες σε δομές</vt:lpstr>
    </vt:vector>
  </TitlesOfParts>
  <Company>UOP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Δομές (struct)</dc:title>
  <dc:creator>Kleanthis Thramboulidis</dc:creator>
  <cp:lastModifiedBy>Kleanthis Thramboulidis</cp:lastModifiedBy>
  <cp:revision>486</cp:revision>
  <cp:lastPrinted>2023-10-10T16:49:22Z</cp:lastPrinted>
  <dcterms:created xsi:type="dcterms:W3CDTF">2002-03-10T17:47:39Z</dcterms:created>
  <dcterms:modified xsi:type="dcterms:W3CDTF">2025-10-11T17:00:02Z</dcterms:modified>
</cp:coreProperties>
</file>