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262" r:id="rId2"/>
    <p:sldId id="271" r:id="rId3"/>
    <p:sldId id="273" r:id="rId4"/>
    <p:sldId id="275" r:id="rId5"/>
    <p:sldId id="276" r:id="rId6"/>
    <p:sldId id="274" r:id="rId7"/>
    <p:sldId id="279" r:id="rId8"/>
    <p:sldId id="277" r:id="rId9"/>
    <p:sldId id="278" r:id="rId10"/>
    <p:sldId id="280" r:id="rId11"/>
    <p:sldId id="281" r:id="rId12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1" autoAdjust="0"/>
    <p:restoredTop sz="87354" autoAdjust="0"/>
  </p:normalViewPr>
  <p:slideViewPr>
    <p:cSldViewPr>
      <p:cViewPr varScale="1">
        <p:scale>
          <a:sx n="60" d="100"/>
          <a:sy n="60" d="100"/>
        </p:scale>
        <p:origin x="168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0E25949-1D02-9659-8260-327D772DA66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GB" altLang="el-GR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33B97D8-762E-AD6A-510F-71148138887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GB" altLang="el-GR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3451317F-041D-40CB-299E-FADD585C070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GB" altLang="el-GR"/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8D1D496E-E1E5-75A2-DB00-6450157D044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C4A164DA-FAEF-4B0B-B8F2-99298D8074D8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6C8FEDB-5B76-5FA5-E547-C4899015AE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GB" altLang="el-GR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C4E37D8-81D7-1B87-040C-041D9B4DC9D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GB" altLang="el-G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A5F2326-33F2-64F6-DE56-3239D1E65AB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7BB8CF8E-36AF-4012-DD47-C4E971F755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 noProof="0"/>
              <a:t>Click to edit Master text styles</a:t>
            </a:r>
          </a:p>
          <a:p>
            <a:pPr lvl="1"/>
            <a:r>
              <a:rPr lang="en-GB" altLang="el-GR" noProof="0"/>
              <a:t>Second level</a:t>
            </a:r>
          </a:p>
          <a:p>
            <a:pPr lvl="2"/>
            <a:r>
              <a:rPr lang="en-GB" altLang="el-GR" noProof="0"/>
              <a:t>Third level</a:t>
            </a:r>
          </a:p>
          <a:p>
            <a:pPr lvl="3"/>
            <a:r>
              <a:rPr lang="en-GB" altLang="el-GR" noProof="0"/>
              <a:t>Fourth level</a:t>
            </a:r>
          </a:p>
          <a:p>
            <a:pPr lvl="4"/>
            <a:r>
              <a:rPr lang="en-GB" altLang="el-GR" noProof="0"/>
              <a:t>Fifth level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7E75EC44-4BA9-5EA1-5C98-CDF213EE94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GB" altLang="el-GR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70EA808C-C4A3-55CB-E466-95654364FC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8AC5F6E3-120A-45B8-9BCB-D81AF006C09D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115B8A1-39E6-EC09-77CC-3E73AD4B21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841E861-C5D3-47AA-8732-6952D0FE9492}" type="slidenum">
              <a:rPr lang="en-GB" altLang="el-GR" sz="1300" smtClean="0"/>
              <a:pPr/>
              <a:t>2</a:t>
            </a:fld>
            <a:endParaRPr lang="en-GB" altLang="el-GR" sz="13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44AC36A-6D7B-D017-457A-049316FCD6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7288" y="892175"/>
            <a:ext cx="4784725" cy="358775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2CAE77C-52BE-BA65-E1BE-A5ABDA801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3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017" tIns="49868" rIns="98017" bIns="49868"/>
          <a:lstStyle/>
          <a:p>
            <a:pPr defTabSz="904875"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CF412FB6-FE1E-9019-0430-30AFD9C87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524E72E-E945-48F2-B178-7611119A90E6}" type="slidenum">
              <a:rPr lang="en-GB" altLang="el-GR" sz="1300" smtClean="0"/>
              <a:pPr/>
              <a:t>10</a:t>
            </a:fld>
            <a:endParaRPr lang="en-GB" altLang="el-GR" sz="1300"/>
          </a:p>
        </p:txBody>
      </p:sp>
      <p:sp>
        <p:nvSpPr>
          <p:cNvPr id="17411" name="Rectangle 1026">
            <a:extLst>
              <a:ext uri="{FF2B5EF4-FFF2-40B4-BE49-F238E27FC236}">
                <a16:creationId xmlns:a16="http://schemas.microsoft.com/office/drawing/2014/main" id="{67487E83-7F35-14C4-20D0-01C03E37F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7412" name="Rectangle 1027">
            <a:extLst>
              <a:ext uri="{FF2B5EF4-FFF2-40B4-BE49-F238E27FC236}">
                <a16:creationId xmlns:a16="http://schemas.microsoft.com/office/drawing/2014/main" id="{AC3C24B8-13F7-7175-D830-05A4A22D1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F1CF1E-A0F2-6DD0-8F24-9B333AE2A7B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2F04B6A0-EB40-7A92-F81F-87A8927FFE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B5ED3C61-5D3A-DD5B-56B9-08ECAB23C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B128401-6C01-69FD-DA78-24FA25141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7A128A1-A077-BBF4-95E0-A9D228A399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918FD76-FF42-EB37-EFA6-E3623FFFCF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E115BF0-95DE-DBEC-5A69-3FEC27E63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123BA6E5-711E-2A41-42FF-117FD49C4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l-GR" altLang="el-G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09269DFC-9C48-78C8-E294-9A311F79B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l-GR" altLang="el-G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E5FAF39-A9FF-9FF8-17C1-0ACCA63A2B3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l-GR" altLang="el-G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el-GR" noProof="0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GB" altLang="el-GR" noProof="0"/>
              <a:t>Click to edit Master subtitle style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ACD01961-DA7B-44D2-97F2-BC7A27CEE8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 altLang="el-G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B66F8B12-FC38-4495-3D20-C82BBF2738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 altLang="el-G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76556627-EFF3-6765-40A6-C8217D575A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16060512-5808-4F99-80F1-4DC956968E5D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3120595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6295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213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4292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4819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7335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34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914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l-G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02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876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6162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">
            <a:extLst>
              <a:ext uri="{FF2B5EF4-FFF2-40B4-BE49-F238E27FC236}">
                <a16:creationId xmlns:a16="http://schemas.microsoft.com/office/drawing/2014/main" id="{BDB5511E-47FA-6299-A80E-9A7210B5BA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23825" y="19050"/>
            <a:ext cx="8542338" cy="1106488"/>
            <a:chOff x="127000" y="990600"/>
            <a:chExt cx="8542338" cy="1052513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8DDD3E11-7430-CF7E-AF58-85440A2A9B3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17513" y="1097815"/>
              <a:ext cx="438150" cy="4756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l-GR" altLang="el-GR"/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7FFE7A1-1449-8A10-D157-88F2DB95711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800100" y="1097815"/>
              <a:ext cx="328613" cy="47566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l-GR" altLang="el-G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DE869F-728E-98EC-C38F-E57E3ADA4A7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41338" y="1520632"/>
              <a:ext cx="422275" cy="47415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l-GR" altLang="el-GR"/>
            </a:p>
          </p:txBody>
        </p:sp>
        <p:sp>
          <p:nvSpPr>
            <p:cNvPr id="1029" name="Rectangle 5">
              <a:extLst>
                <a:ext uri="{FF2B5EF4-FFF2-40B4-BE49-F238E27FC236}">
                  <a16:creationId xmlns:a16="http://schemas.microsoft.com/office/drawing/2014/main" id="{ACD645D1-48E4-1CA1-5487-7E269273646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911225" y="1520632"/>
              <a:ext cx="368300" cy="47415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l-GR" altLang="el-GR"/>
            </a:p>
          </p:txBody>
        </p:sp>
        <p:sp>
          <p:nvSpPr>
            <p:cNvPr id="1030" name="Rectangle 6">
              <a:extLst>
                <a:ext uri="{FF2B5EF4-FFF2-40B4-BE49-F238E27FC236}">
                  <a16:creationId xmlns:a16="http://schemas.microsoft.com/office/drawing/2014/main" id="{8F3309CE-08B8-465E-8A09-7F29A219413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27000" y="1448149"/>
              <a:ext cx="560388" cy="421307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l-GR" altLang="el-GR"/>
            </a:p>
          </p:txBody>
        </p:sp>
        <p:sp>
          <p:nvSpPr>
            <p:cNvPr id="1031" name="Rectangle 7">
              <a:extLst>
                <a:ext uri="{FF2B5EF4-FFF2-40B4-BE49-F238E27FC236}">
                  <a16:creationId xmlns:a16="http://schemas.microsoft.com/office/drawing/2014/main" id="{0FBCCC13-FAA4-10C6-73D6-7CAFD9B2D7F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62000" y="9906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l-GR" altLang="el-GR"/>
            </a:p>
          </p:txBody>
        </p:sp>
        <p:sp>
          <p:nvSpPr>
            <p:cNvPr id="1032" name="Rectangle 8">
              <a:extLst>
                <a:ext uri="{FF2B5EF4-FFF2-40B4-BE49-F238E27FC236}">
                  <a16:creationId xmlns:a16="http://schemas.microsoft.com/office/drawing/2014/main" id="{AD7F183C-5FAB-49D3-BFD1-7EB8E5A6D75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2913" y="1781872"/>
              <a:ext cx="8226425" cy="317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l-GR" altLang="el-GR"/>
            </a:p>
          </p:txBody>
        </p:sp>
      </p:grpSp>
      <p:sp>
        <p:nvSpPr>
          <p:cNvPr id="1027" name="Rectangle 9">
            <a:extLst>
              <a:ext uri="{FF2B5EF4-FFF2-40B4-BE49-F238E27FC236}">
                <a16:creationId xmlns:a16="http://schemas.microsoft.com/office/drawing/2014/main" id="{31B5508E-4E14-06D5-1A31-18FDB8928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09675" y="19050"/>
            <a:ext cx="7793038" cy="76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856A209F-8407-F727-B39B-DBB7AC367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text styles</a:t>
            </a:r>
          </a:p>
          <a:p>
            <a:pPr lvl="1"/>
            <a:r>
              <a:rPr lang="en-GB" altLang="el-GR"/>
              <a:t>Second level</a:t>
            </a:r>
          </a:p>
          <a:p>
            <a:pPr lvl="2"/>
            <a:r>
              <a:rPr lang="en-GB" altLang="el-GR"/>
              <a:t>Third level</a:t>
            </a:r>
          </a:p>
          <a:p>
            <a:pPr lvl="3"/>
            <a:r>
              <a:rPr lang="en-GB" altLang="el-GR"/>
              <a:t>Fourth level</a:t>
            </a:r>
          </a:p>
          <a:p>
            <a:pPr lvl="4"/>
            <a:r>
              <a:rPr lang="en-GB" altLang="el-GR"/>
              <a:t>Fifth level</a:t>
            </a:r>
          </a:p>
        </p:txBody>
      </p:sp>
      <p:sp>
        <p:nvSpPr>
          <p:cNvPr id="6" name="Θέση υποσέλιδου 4">
            <a:extLst>
              <a:ext uri="{FF2B5EF4-FFF2-40B4-BE49-F238E27FC236}">
                <a16:creationId xmlns:a16="http://schemas.microsoft.com/office/drawing/2014/main" id="{935FC977-30A8-6D3F-12A4-E9806919E809}"/>
              </a:ext>
            </a:extLst>
          </p:cNvPr>
          <p:cNvSpPr txBox="1">
            <a:spLocks/>
          </p:cNvSpPr>
          <p:nvPr userDrawn="1"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0D3952-BB96-75AB-429D-76A36B201477}"/>
              </a:ext>
            </a:extLst>
          </p:cNvPr>
          <p:cNvSpPr txBox="1"/>
          <p:nvPr userDrawn="1"/>
        </p:nvSpPr>
        <p:spPr>
          <a:xfrm>
            <a:off x="7257540" y="6589725"/>
            <a:ext cx="1886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100" dirty="0">
                <a:latin typeface="+mn-lt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100" smtClean="0">
                <a:latin typeface="+mn-lt"/>
                <a:cs typeface="Arial" pitchFamily="34" charset="0"/>
              </a:rPr>
              <a:pPr algn="r"/>
              <a:t>‹#›</a:t>
            </a:fld>
            <a:endParaRPr lang="en-US" sz="1100" dirty="0">
              <a:latin typeface="+mn-lt"/>
              <a:cs typeface="Arial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9DB9B33-297C-17F8-1B72-F788D4AD5F8F}"/>
              </a:ext>
            </a:extLst>
          </p:cNvPr>
          <p:cNvSpPr txBox="1">
            <a:spLocks/>
          </p:cNvSpPr>
          <p:nvPr userDrawn="1"/>
        </p:nvSpPr>
        <p:spPr>
          <a:xfrm>
            <a:off x="3199694" y="6589725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Statements in brief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hyperlink" Target="https://sites.google.com/view/i2art-of-programming/hom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12609" y="61836"/>
            <a:ext cx="9144002" cy="937358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3000" b="1" dirty="0">
                <a:latin typeface="Bahnschrift" panose="020B0502040204020203" pitchFamily="34" charset="0"/>
              </a:rPr>
              <a:t>Εισαγωγή στον Προγραμματισμό</a:t>
            </a:r>
            <a:br>
              <a:rPr lang="el-GR" sz="3000" b="1" dirty="0">
                <a:latin typeface="Bahnschrift" panose="020B0502040204020203" pitchFamily="34" charset="0"/>
              </a:rPr>
            </a:br>
            <a:r>
              <a:rPr lang="el-GR" sz="3000" b="1" dirty="0">
                <a:latin typeface="Bahnschrift" panose="020B0502040204020203" pitchFamily="34" charset="0"/>
              </a:rPr>
              <a:t>(</a:t>
            </a:r>
            <a:r>
              <a:rPr lang="en-US" sz="3000" b="1" dirty="0">
                <a:latin typeface="Bahnschrift" panose="020B0502040204020203" pitchFamily="34" charset="0"/>
              </a:rPr>
              <a:t>Introduction to</a:t>
            </a:r>
            <a:r>
              <a:rPr lang="el-GR" sz="3000" b="1" dirty="0">
                <a:latin typeface="Bahnschrift" panose="020B0502040204020203" pitchFamily="34" charset="0"/>
              </a:rPr>
              <a:t> </a:t>
            </a:r>
            <a:r>
              <a:rPr lang="el-GR" sz="3000" b="1" dirty="0" err="1">
                <a:latin typeface="Bahnschrift" panose="020B0502040204020203" pitchFamily="34" charset="0"/>
              </a:rPr>
              <a:t>Programming</a:t>
            </a:r>
            <a:r>
              <a:rPr lang="el-GR" sz="3000" b="1" dirty="0">
                <a:latin typeface="Bahnschrift" panose="020B0502040204020203" pitchFamily="34" charset="0"/>
              </a:rPr>
              <a:t>)</a:t>
            </a:r>
            <a:endParaRPr lang="en-US" sz="2100" b="1" dirty="0">
              <a:latin typeface="Bahnschrift" panose="020B0502040204020203" pitchFamily="34" charset="0"/>
            </a:endParaRPr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5991" y="1669805"/>
            <a:ext cx="6648773" cy="709748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Προτάσεις</a:t>
            </a:r>
            <a:r>
              <a:rPr lang="en-US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 </a:t>
            </a: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στην γλώσσα </a:t>
            </a:r>
            <a:r>
              <a:rPr lang="en-US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C</a:t>
            </a: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 </a:t>
            </a:r>
            <a:br>
              <a:rPr lang="el-GR" sz="12000" b="1" dirty="0">
                <a:solidFill>
                  <a:srgbClr val="60D69E"/>
                </a:solidFill>
                <a:latin typeface="Bahnschrift" panose="020B0502040204020203" pitchFamily="34" charset="0"/>
              </a:rPr>
            </a:br>
            <a:r>
              <a:rPr lang="el-GR" sz="12000" b="1" dirty="0">
                <a:solidFill>
                  <a:srgbClr val="60D69E"/>
                </a:solidFill>
                <a:latin typeface="Bahnschrift" panose="020B0502040204020203" pitchFamily="34" charset="0"/>
              </a:rPr>
              <a:t>(</a:t>
            </a:r>
            <a:r>
              <a:rPr lang="en-GB" sz="12000" b="1" dirty="0">
                <a:solidFill>
                  <a:srgbClr val="60D69E"/>
                </a:solidFill>
                <a:latin typeface="Bahnschrift" panose="020B0502040204020203" pitchFamily="34" charset="0"/>
              </a:rPr>
              <a:t>Statements) </a:t>
            </a:r>
            <a:endParaRPr lang="en-GB" sz="72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-12609" y="1063174"/>
            <a:ext cx="156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Bahnschrift" panose="020B0502040204020203" pitchFamily="34" charset="0"/>
              </a:rPr>
              <a:t>(CEID_NY131)</a:t>
            </a:r>
            <a:endParaRPr lang="el-GR" sz="1800" b="1" dirty="0"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6168735" y="3681009"/>
            <a:ext cx="3339560" cy="2733011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b="1" dirty="0">
                <a:solidFill>
                  <a:srgbClr val="C00000"/>
                </a:solidFill>
                <a:latin typeface="Bahnschrift" panose="020B0502040204020203" pitchFamily="34" charset="0"/>
              </a:rPr>
              <a:t>C Statements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b="1" dirty="0">
                <a:solidFill>
                  <a:srgbClr val="C00000"/>
                </a:solidFill>
                <a:latin typeface="Bahnschrift" panose="020B0502040204020203" pitchFamily="34" charset="0"/>
              </a:rPr>
              <a:t>In brief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238" y="877908"/>
            <a:ext cx="1957585" cy="2796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A0368E-6ADC-C0B8-7EA7-E8B85F721C26}"/>
              </a:ext>
            </a:extLst>
          </p:cNvPr>
          <p:cNvSpPr txBox="1"/>
          <p:nvPr/>
        </p:nvSpPr>
        <p:spPr>
          <a:xfrm>
            <a:off x="7174238" y="3667156"/>
            <a:ext cx="19575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/>
              <a:t>Πηγή: </a:t>
            </a:r>
            <a:r>
              <a:rPr lang="el-GR" sz="1600" dirty="0">
                <a:hlinkClick r:id="rId4"/>
              </a:rPr>
              <a:t>Μια Εισαγωγή στην Τέχνη του Προγραμματισμού</a:t>
            </a:r>
            <a:endParaRPr lang="en-GB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45747-ED20-19B3-8190-54D45634BE1F}"/>
              </a:ext>
            </a:extLst>
          </p:cNvPr>
          <p:cNvSpPr txBox="1"/>
          <p:nvPr/>
        </p:nvSpPr>
        <p:spPr>
          <a:xfrm flipH="1">
            <a:off x="2953304" y="2883067"/>
            <a:ext cx="4588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https://sites.google.com/view/i2art-of-programming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E945AC39-3A0B-CE69-9EF2-10EE9AB73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01" y="3651010"/>
            <a:ext cx="806956" cy="2062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0D2ED911-1876-FCD1-8107-A3EDD7746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485" y="3651010"/>
            <a:ext cx="2034892" cy="240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4D5CA1B8-F4A3-6190-90A6-0245F3C35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311" y="3472521"/>
            <a:ext cx="2328414" cy="343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104150A-0A11-7EED-85B5-5F7E62B38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GB" altLang="el-GR"/>
              <a:t>Προτάσεις</a:t>
            </a:r>
            <a:r>
              <a:rPr lang="el-GR" altLang="el-GR"/>
              <a:t>  (</a:t>
            </a:r>
            <a:r>
              <a:rPr lang="en-GB" altLang="el-GR"/>
              <a:t>Statements</a:t>
            </a:r>
            <a:r>
              <a:rPr lang="el-GR" altLang="el-GR"/>
              <a:t>)</a:t>
            </a:r>
            <a:endParaRPr lang="en-GB" altLang="el-GR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60BEB2-7879-3048-C0FC-31568B448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1556792"/>
            <a:ext cx="8077200" cy="2808287"/>
          </a:xfrm>
          <a:noFill/>
        </p:spPr>
        <p:txBody>
          <a:bodyPr lIns="92075" tIns="46038" rIns="92075" bIns="46038"/>
          <a:lstStyle/>
          <a:p>
            <a:pPr>
              <a:buClrTx/>
              <a:buSzTx/>
              <a:buFontTx/>
              <a:buChar char="•"/>
            </a:pPr>
            <a:r>
              <a:rPr lang="el-GR" altLang="el-GR" dirty="0">
                <a:latin typeface="Times New Roman" panose="02020603050405020304" pitchFamily="18" charset="0"/>
              </a:rPr>
              <a:t>η πρόταση</a:t>
            </a:r>
            <a:endParaRPr lang="en-US" altLang="el-GR" dirty="0">
              <a:latin typeface="Times New Roman" panose="02020603050405020304" pitchFamily="18" charset="0"/>
            </a:endParaRPr>
          </a:p>
          <a:p>
            <a:pPr lvl="1">
              <a:buClrTx/>
              <a:buSzTx/>
              <a:buFontTx/>
              <a:buChar char="•"/>
            </a:pPr>
            <a:r>
              <a:rPr lang="el-GR" altLang="el-GR" dirty="0">
                <a:latin typeface="Times New Roman" panose="02020603050405020304" pitchFamily="18" charset="0"/>
              </a:rPr>
              <a:t>περιγράφει μια ενέργεια προς εκτέλεση </a:t>
            </a:r>
            <a:endParaRPr lang="en-US" altLang="el-GR" dirty="0">
              <a:latin typeface="Times New Roman" panose="02020603050405020304" pitchFamily="18" charset="0"/>
            </a:endParaRPr>
          </a:p>
          <a:p>
            <a:pPr>
              <a:buClrTx/>
              <a:buSzTx/>
              <a:buFontTx/>
              <a:buChar char="•"/>
            </a:pPr>
            <a:r>
              <a:rPr lang="el-GR" altLang="el-GR" dirty="0">
                <a:latin typeface="Times New Roman" panose="02020603050405020304" pitchFamily="18" charset="0"/>
              </a:rPr>
              <a:t>Κάθε πρόταση τελειώνει με το </a:t>
            </a:r>
            <a:r>
              <a:rPr lang="el-GR" altLang="el-GR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;</a:t>
            </a:r>
            <a:endParaRPr lang="en-US" altLang="el-GR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buClrTx/>
              <a:buSzTx/>
              <a:buFontTx/>
              <a:buChar char="•"/>
            </a:pPr>
            <a:r>
              <a:rPr lang="el-GR" altLang="el-GR" dirty="0">
                <a:latin typeface="Times New Roman" panose="02020603050405020304" pitchFamily="18" charset="0"/>
              </a:rPr>
              <a:t>Απλή πρόταση</a:t>
            </a:r>
          </a:p>
          <a:p>
            <a:pPr>
              <a:buClrTx/>
              <a:buSzTx/>
              <a:buFontTx/>
              <a:buChar char="•"/>
            </a:pPr>
            <a:r>
              <a:rPr lang="el-GR" altLang="el-GR" dirty="0">
                <a:latin typeface="Times New Roman" panose="02020603050405020304" pitchFamily="18" charset="0"/>
              </a:rPr>
              <a:t>Σύνθετη πρόταση </a:t>
            </a:r>
          </a:p>
          <a:p>
            <a:pPr lvl="1">
              <a:buClrTx/>
              <a:buSzTx/>
              <a:buFontTx/>
              <a:buChar char="•"/>
            </a:pPr>
            <a:r>
              <a:rPr lang="el-GR" altLang="el-GR" dirty="0">
                <a:latin typeface="Times New Roman" panose="02020603050405020304" pitchFamily="18" charset="0"/>
              </a:rPr>
              <a:t>Σύνολο προτάσεων που περικλείονται σε { }</a:t>
            </a:r>
          </a:p>
          <a:p>
            <a:pPr eaLnBrk="1" hangingPunct="1"/>
            <a:endParaRPr lang="en-GB" altLang="el-GR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3" name="AutoShape 9">
            <a:extLst>
              <a:ext uri="{FF2B5EF4-FFF2-40B4-BE49-F238E27FC236}">
                <a16:creationId xmlns:a16="http://schemas.microsoft.com/office/drawing/2014/main" id="{E863DBB7-60A5-5601-ACB9-11D6C9BDF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3789363"/>
            <a:ext cx="3124200" cy="1447800"/>
          </a:xfrm>
          <a:prstGeom prst="wedgeRoundRectCallout">
            <a:avLst>
              <a:gd name="adj1" fmla="val 132759"/>
              <a:gd name="adj2" fmla="val 2727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6287BA4-13D4-77C3-7079-744828185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Είδη προτάσεων</a:t>
            </a:r>
            <a:r>
              <a:rPr lang="en-US" altLang="el-GR"/>
              <a:t> – </a:t>
            </a:r>
            <a:r>
              <a:rPr lang="el-GR" altLang="el-GR"/>
              <a:t>Παράδειγμα</a:t>
            </a:r>
            <a:endParaRPr lang="en-GB" altLang="el-GR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288B562C-B470-CC2F-53F3-F1E64F95B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316038"/>
            <a:ext cx="7467600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DFD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180975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80975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809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809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809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809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809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809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dirty="0">
                <a:latin typeface="Courier New" panose="02070309020205020404" pitchFamily="49" charset="0"/>
                <a:cs typeface="Arial" panose="020B0604020202020204" pitchFamily="34" charset="0"/>
              </a:rPr>
              <a:t>#include &lt;</a:t>
            </a:r>
            <a:r>
              <a:rPr lang="el-GR" altLang="el-GR" sz="2000" dirty="0" err="1">
                <a:latin typeface="Courier New" panose="02070309020205020404" pitchFamily="49" charset="0"/>
                <a:cs typeface="Arial" panose="020B0604020202020204" pitchFamily="34" charset="0"/>
              </a:rPr>
              <a:t>stdio.h</a:t>
            </a:r>
            <a:r>
              <a:rPr lang="el-GR" altLang="el-GR" sz="2000" dirty="0">
                <a:latin typeface="Courier New" panose="02070309020205020404" pitchFamily="49" charset="0"/>
                <a:cs typeface="Arial" panose="020B0604020202020204" pitchFamily="34" charset="0"/>
              </a:rPr>
              <a:t>&gt;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l-GR" altLang="el-GR" sz="2000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l-GR" altLang="el-GR" sz="2000" b="1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l-GR" altLang="el-GR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ch</a:t>
            </a:r>
            <a:r>
              <a:rPr lang="el-GR" altLang="el-GR" sz="2000" b="1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l-GR" altLang="el-GR" sz="2000" b="1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l-GR" altLang="el-GR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num</a:t>
            </a:r>
            <a:r>
              <a:rPr lang="en-US" altLang="el-GR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OfS</a:t>
            </a:r>
            <a:r>
              <a:rPr lang="el-GR" altLang="el-GR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paces</a:t>
            </a:r>
            <a:r>
              <a:rPr lang="el-GR" altLang="el-GR" sz="2000" b="1" dirty="0">
                <a:solidFill>
                  <a:schemeClr val="accent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dirty="0">
                <a:latin typeface="Courier New" panose="02070309020205020404" pitchFamily="49" charset="0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main</a:t>
            </a:r>
            <a:r>
              <a:rPr lang="el-GR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()</a:t>
            </a:r>
            <a:r>
              <a:rPr lang="el-GR" altLang="el-GR" sz="2000" dirty="0">
                <a:latin typeface="Courier New" panose="02070309020205020404" pitchFamily="49" charset="0"/>
                <a:cs typeface="Arial" panose="020B0604020202020204" pitchFamily="34" charset="0"/>
              </a:rPr>
              <a:t>{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l-GR" altLang="el-GR" sz="2000" dirty="0">
              <a:solidFill>
                <a:schemeClr val="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dirty="0" err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printf</a:t>
            </a:r>
            <a:r>
              <a:rPr lang="el-GR" altLang="el-GR" sz="2000" dirty="0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(“</a:t>
            </a:r>
            <a:r>
              <a:rPr lang="el-GR" altLang="el-GR" sz="1600" dirty="0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Δώσε μια πρόταση</a:t>
            </a:r>
            <a:r>
              <a:rPr lang="el-GR" altLang="el-GR" sz="2000" dirty="0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\n”);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 err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ch</a:t>
            </a:r>
            <a:r>
              <a:rPr lang="el-GR" altLang="el-GR" sz="2000" b="1" dirty="0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= </a:t>
            </a:r>
            <a:r>
              <a:rPr lang="el-GR" altLang="el-GR" sz="2000" b="1" dirty="0" err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getchar</a:t>
            </a:r>
            <a:r>
              <a:rPr lang="el-GR" altLang="el-GR" sz="2000" b="1" dirty="0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();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dirty="0">
                <a:latin typeface="Courier New" panose="02070309020205020404" pitchFamily="49" charset="0"/>
                <a:cs typeface="Arial" panose="020B0604020202020204" pitchFamily="34" charset="0"/>
              </a:rPr>
              <a:t> 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while</a:t>
            </a:r>
            <a:r>
              <a:rPr lang="el-GR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(</a:t>
            </a:r>
            <a:r>
              <a:rPr lang="el-GR" altLang="el-GR" sz="20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ch</a:t>
            </a:r>
            <a:r>
              <a:rPr lang="el-GR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 != ‘\n’)</a:t>
            </a:r>
            <a:r>
              <a:rPr lang="en-US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l-GR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{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</a:t>
            </a:r>
            <a:r>
              <a:rPr lang="el-GR" altLang="el-GR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</a:t>
            </a:r>
            <a:r>
              <a:rPr lang="el-GR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(</a:t>
            </a:r>
            <a:r>
              <a:rPr lang="el-GR" altLang="el-GR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ch</a:t>
            </a:r>
            <a:r>
              <a:rPr lang="el-GR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= = ‘ ‘))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	</a:t>
            </a:r>
            <a:r>
              <a:rPr lang="el-GR" altLang="el-GR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num</a:t>
            </a:r>
            <a:r>
              <a:rPr lang="en-US" altLang="el-GR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OfS</a:t>
            </a:r>
            <a:r>
              <a:rPr lang="el-GR" altLang="el-GR" sz="2000" b="1" dirty="0" err="1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paces</a:t>
            </a:r>
            <a:r>
              <a:rPr lang="el-GR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++;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</a:t>
            </a:r>
            <a:r>
              <a:rPr lang="el-GR" altLang="el-GR" sz="2000" b="1" dirty="0" err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ch</a:t>
            </a:r>
            <a:r>
              <a:rPr lang="el-GR" altLang="el-GR" sz="2000" b="1" dirty="0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= </a:t>
            </a:r>
            <a:r>
              <a:rPr lang="el-GR" altLang="el-GR" sz="2000" b="1" dirty="0" err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getchar</a:t>
            </a:r>
            <a:r>
              <a:rPr lang="el-GR" altLang="el-GR" sz="2000" b="1" dirty="0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();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</a:t>
            </a:r>
            <a:r>
              <a:rPr lang="el-GR" altLang="el-GR" sz="2000" b="1" dirty="0">
                <a:solidFill>
                  <a:schemeClr val="accent2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}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dirty="0" err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printf</a:t>
            </a:r>
            <a:r>
              <a:rPr lang="el-GR" altLang="el-GR" sz="2000" dirty="0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(“</a:t>
            </a:r>
            <a:r>
              <a:rPr lang="el-GR" altLang="el-GR" sz="1800" dirty="0">
                <a:solidFill>
                  <a:schemeClr val="hlink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Ο αριθμός των κενών είναι</a:t>
            </a:r>
            <a:r>
              <a:rPr lang="el-GR" altLang="el-GR" sz="2000" dirty="0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%d\n”,</a:t>
            </a:r>
            <a:r>
              <a:rPr lang="el-GR" altLang="el-GR" sz="2000" dirty="0" err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num</a:t>
            </a:r>
            <a:r>
              <a:rPr lang="en-US" altLang="el-GR" sz="2000" dirty="0" err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OfS</a:t>
            </a:r>
            <a:r>
              <a:rPr lang="el-GR" altLang="el-GR" sz="2000" dirty="0" err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paces</a:t>
            </a:r>
            <a:r>
              <a:rPr lang="el-GR" altLang="el-GR" sz="2000" dirty="0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);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dirty="0">
                <a:latin typeface="Courier New" panose="02070309020205020404" pitchFamily="49" charset="0"/>
                <a:cs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l-GR" altLang="el-GR" sz="2000" dirty="0">
              <a:latin typeface="Courier New" panose="02070309020205020404" pitchFamily="49" charset="0"/>
            </a:endParaRPr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F1C6EADB-A8EB-A58C-0077-2CFB7F93F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75" y="1555750"/>
            <a:ext cx="2393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>
                <a:solidFill>
                  <a:schemeClr val="accent1"/>
                </a:solidFill>
              </a:rPr>
              <a:t>Προτάσεις δήλωσης</a:t>
            </a:r>
            <a:endParaRPr lang="en-GB" altLang="el-GR" sz="2000">
              <a:solidFill>
                <a:schemeClr val="accent1"/>
              </a:solidFill>
            </a:endParaRPr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797396E1-EC03-9E68-7AA2-71756484D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538" y="2387600"/>
            <a:ext cx="3492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>
                <a:solidFill>
                  <a:schemeClr val="hlink"/>
                </a:solidFill>
              </a:rPr>
              <a:t>Πρόταση κλήσης συνάρτησης</a:t>
            </a:r>
            <a:endParaRPr lang="en-GB" altLang="el-GR" sz="2000">
              <a:solidFill>
                <a:schemeClr val="hlink"/>
              </a:solidFill>
            </a:endParaRPr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30C9F757-BE99-6FAB-3032-A5501B84C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763" y="3314700"/>
            <a:ext cx="2327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>
                <a:solidFill>
                  <a:schemeClr val="folHlink"/>
                </a:solidFill>
              </a:rPr>
              <a:t>Πρόταση ανάθεσης</a:t>
            </a:r>
            <a:endParaRPr lang="en-GB" altLang="el-GR" sz="2000">
              <a:solidFill>
                <a:schemeClr val="folHlink"/>
              </a:solidFill>
            </a:endParaRPr>
          </a:p>
        </p:txBody>
      </p:sp>
      <p:sp>
        <p:nvSpPr>
          <p:cNvPr id="31752" name="Text Box 8">
            <a:extLst>
              <a:ext uri="{FF2B5EF4-FFF2-40B4-BE49-F238E27FC236}">
                <a16:creationId xmlns:a16="http://schemas.microsoft.com/office/drawing/2014/main" id="{A7FB4235-A9AB-8456-7BC2-CF7836975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313" y="4011613"/>
            <a:ext cx="24352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>
                <a:solidFill>
                  <a:schemeClr val="accent2"/>
                </a:solidFill>
              </a:rPr>
              <a:t>Σύνθετη πρόταση</a:t>
            </a:r>
            <a:endParaRPr lang="en-GB" altLang="el-GR" sz="2000" b="1">
              <a:solidFill>
                <a:schemeClr val="accent2"/>
              </a:solidFill>
            </a:endParaRPr>
          </a:p>
        </p:txBody>
      </p:sp>
      <p:sp>
        <p:nvSpPr>
          <p:cNvPr id="31755" name="Text Box 11">
            <a:extLst>
              <a:ext uri="{FF2B5EF4-FFF2-40B4-BE49-F238E27FC236}">
                <a16:creationId xmlns:a16="http://schemas.microsoft.com/office/drawing/2014/main" id="{AF67C9A9-64A3-9987-9AD4-2F200B82D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4681538"/>
            <a:ext cx="2762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/>
              <a:t>Πρόταση ελέγχου ροής</a:t>
            </a:r>
            <a:endParaRPr lang="en-GB" altLang="el-GR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 animBg="1" autoUpdateAnimBg="0"/>
      <p:bldP spid="31749" grpId="0" autoUpdateAnimBg="0"/>
      <p:bldP spid="31750" grpId="0" autoUpdateAnimBg="0"/>
      <p:bldP spid="31751" grpId="0" autoUpdateAnimBg="0"/>
      <p:bldP spid="31752" grpId="0" autoUpdateAnimBg="0"/>
      <p:bldP spid="3175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573F3A4-621E-CA9B-2595-64AA5EA10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sz="4000"/>
              <a:t>Δομημένος Προγραμματισμός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66B7CB1-4C2E-1E67-DC9A-44988284B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83366"/>
            <a:ext cx="7772400" cy="2501454"/>
          </a:xfrm>
        </p:spPr>
        <p:txBody>
          <a:bodyPr/>
          <a:lstStyle/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l-GR" altLang="el-GR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Η δομή του πηγαίου κώδικα θα πρέπει να μας βοηθά να κατανοήσουμε 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l-GR" altLang="el-GR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τι κάνει το πρόγραμμα</a:t>
            </a:r>
            <a:endParaRPr lang="el-GR" altLang="el-GR" b="1" dirty="0"/>
          </a:p>
          <a:p>
            <a:pPr eaLnBrk="1" hangingPunct="1">
              <a:defRPr/>
            </a:pPr>
            <a:endParaRPr lang="en-GB" altLang="el-GR" dirty="0"/>
          </a:p>
        </p:txBody>
      </p:sp>
      <p:sp>
        <p:nvSpPr>
          <p:cNvPr id="38916" name="AutoShape 4">
            <a:extLst>
              <a:ext uri="{FF2B5EF4-FFF2-40B4-BE49-F238E27FC236}">
                <a16:creationId xmlns:a16="http://schemas.microsoft.com/office/drawing/2014/main" id="{8DC13B27-789E-EF89-DC99-D25C5C5D2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5" y="3584820"/>
            <a:ext cx="8281739" cy="1524000"/>
          </a:xfrm>
          <a:prstGeom prst="wedgeRoundRectCallout">
            <a:avLst>
              <a:gd name="adj1" fmla="val -43319"/>
              <a:gd name="adj2" fmla="val 72292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800" dirty="0">
                <a:latin typeface="Times New Roman" panose="02020603050405020304" pitchFamily="18" charset="0"/>
              </a:rPr>
              <a:t>Ο αναγνώστης του δομημένου πηγαίου κώδικα μπορεί </a:t>
            </a:r>
            <a:r>
              <a:rPr lang="el-GR" altLang="el-GR" sz="2800" b="1" dirty="0">
                <a:latin typeface="Times New Roman" panose="02020603050405020304" pitchFamily="18" charset="0"/>
              </a:rPr>
              <a:t>εύκολα να κατανοήσει</a:t>
            </a:r>
            <a:r>
              <a:rPr lang="el-GR" altLang="el-GR" sz="2800" dirty="0">
                <a:latin typeface="Times New Roman" panose="02020603050405020304" pitchFamily="18" charset="0"/>
              </a:rPr>
              <a:t> τι συμβαίνει όταν το πρόγραμμα εκτελείται.</a:t>
            </a:r>
            <a:endParaRPr lang="en-GB" altLang="el-GR" sz="2800" dirty="0">
              <a:latin typeface="Times New Roman" panose="02020603050405020304" pitchFamily="18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6ECF806D-5F54-D3C1-C102-C0400197C709}"/>
              </a:ext>
            </a:extLst>
          </p:cNvPr>
          <p:cNvSpPr/>
          <p:nvPr/>
        </p:nvSpPr>
        <p:spPr bwMode="auto">
          <a:xfrm>
            <a:off x="4407782" y="5401326"/>
            <a:ext cx="4320480" cy="594890"/>
          </a:xfrm>
          <a:prstGeom prst="wedgeRoundRectCallout">
            <a:avLst>
              <a:gd name="adj1" fmla="val -47452"/>
              <a:gd name="adj2" fmla="val 97362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Δεν χρησιμοποιούμε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goto</a:t>
            </a:r>
            <a:endParaRPr kumimoji="0" lang="el-G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A2DA31B-6F5E-1D78-44FB-8FB050048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Αναγνωσιμότητα Κώδικα</a:t>
            </a:r>
            <a:endParaRPr lang="en-GB" altLang="el-GR"/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ED4D8ED8-2B86-2677-3157-F697992B3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1628775"/>
            <a:ext cx="4451350" cy="435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int max(int a, int b, int c)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{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if(a&gt;b)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if(a&gt;c) 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return a;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return c;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if(b&gt;c)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return b;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return c;</a:t>
            </a:r>
            <a:endParaRPr lang="el-GR" altLang="el-GR" sz="20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 dirty="0">
                <a:latin typeface="Courier New" panose="02070309020205020404" pitchFamily="49" charset="0"/>
                <a:cs typeface="Arial" panose="020B060402020202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l-GR" sz="2000" b="1" dirty="0">
              <a:latin typeface="Courier New" panose="02070309020205020404" pitchFamily="49" charset="0"/>
            </a:endParaRP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7F2F8A98-19DE-004A-5961-885A44E41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88" y="1627188"/>
            <a:ext cx="4451350" cy="40544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int max(int a, int b, int c)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{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if(a&gt;b)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>
                <a:latin typeface="Courier New" panose="02070309020205020404" pitchFamily="49" charset="0"/>
              </a:rPr>
              <a:t>   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if(a&gt;c) </a:t>
            </a:r>
            <a:endParaRPr lang="el-GR" altLang="el-GR" sz="2000" b="1">
              <a:solidFill>
                <a:schemeClr val="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l-GR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return a;</a:t>
            </a:r>
            <a:endParaRPr lang="el-GR" altLang="el-GR" sz="2000" b="1">
              <a:solidFill>
                <a:schemeClr val="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   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>
              <a:solidFill>
                <a:schemeClr val="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l-GR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return c;</a:t>
            </a:r>
            <a:endParaRPr lang="el-GR" altLang="el-GR" sz="2000" b="1">
              <a:solidFill>
                <a:schemeClr val="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>
                <a:latin typeface="Courier New" panose="02070309020205020404" pitchFamily="49" charset="0"/>
              </a:rPr>
              <a:t>    </a:t>
            </a: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if(b&gt;c)</a:t>
            </a:r>
            <a:endParaRPr lang="el-GR" altLang="el-GR" sz="2000" b="1">
              <a:solidFill>
                <a:schemeClr val="fol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l-GR" altLang="el-GR" sz="2000" b="1">
                <a:solidFill>
                  <a:schemeClr val="fol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return b;</a:t>
            </a:r>
            <a:endParaRPr lang="el-GR" altLang="el-GR" sz="2000" b="1">
              <a:solidFill>
                <a:schemeClr val="fol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2000" b="1">
                <a:solidFill>
                  <a:schemeClr val="folHlink"/>
                </a:solidFill>
                <a:latin typeface="Courier New" panose="02070309020205020404" pitchFamily="49" charset="0"/>
              </a:rPr>
              <a:t>    </a:t>
            </a: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>
              <a:solidFill>
                <a:schemeClr val="fol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l-GR" altLang="el-GR" sz="2000" b="1">
                <a:solidFill>
                  <a:schemeClr val="fol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return c;</a:t>
            </a:r>
            <a:endParaRPr lang="el-GR" altLang="el-GR" sz="2000" b="1">
              <a:solidFill>
                <a:schemeClr val="fol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l-GR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8C82BF57-B8F5-ECC1-AB33-67590AB756AF}"/>
              </a:ext>
            </a:extLst>
          </p:cNvPr>
          <p:cNvSpPr/>
          <p:nvPr/>
        </p:nvSpPr>
        <p:spPr bwMode="auto">
          <a:xfrm>
            <a:off x="1835696" y="4005063"/>
            <a:ext cx="2088232" cy="1224161"/>
          </a:xfrm>
          <a:prstGeom prst="wedgeRoundRectCallout">
            <a:avLst>
              <a:gd name="adj1" fmla="val -73722"/>
              <a:gd name="adj2" fmla="val 129971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Ο κώδικας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l-GR" dirty="0"/>
              <a:t>αυτός οδηγεί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σε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fail</a:t>
            </a:r>
            <a:endParaRPr kumimoji="0" lang="el-G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67FC6B-218F-4EB6-7608-CE89A3FEDAE6}"/>
              </a:ext>
            </a:extLst>
          </p:cNvPr>
          <p:cNvCxnSpPr/>
          <p:nvPr/>
        </p:nvCxnSpPr>
        <p:spPr bwMode="auto">
          <a:xfrm flipH="1">
            <a:off x="395536" y="1268760"/>
            <a:ext cx="3744416" cy="468052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197EF3-0F37-94F2-CA28-A01D0552099E}"/>
              </a:ext>
            </a:extLst>
          </p:cNvPr>
          <p:cNvCxnSpPr/>
          <p:nvPr/>
        </p:nvCxnSpPr>
        <p:spPr bwMode="auto">
          <a:xfrm>
            <a:off x="223838" y="1484784"/>
            <a:ext cx="4235326" cy="410445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3F01CEE-712D-D8B0-5140-7001C7DD91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l-GR" altLang="el-GR" sz="5400" b="1">
                <a:solidFill>
                  <a:schemeClr val="hlink"/>
                </a:solidFill>
                <a:latin typeface="Times New Roman" panose="02020603050405020304" pitchFamily="18" charset="0"/>
              </a:rPr>
              <a:t>Προτάσεις ελέγχου ροής</a:t>
            </a:r>
            <a:endParaRPr lang="en-GB" altLang="el-GR" sz="54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C352BD6-3DAD-2DAA-B69D-7BE865196F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3505200"/>
            <a:ext cx="8610600" cy="1752600"/>
          </a:xfrm>
        </p:spPr>
        <p:txBody>
          <a:bodyPr/>
          <a:lstStyle/>
          <a:p>
            <a:pPr eaLnBrk="1" hangingPunct="1"/>
            <a:r>
              <a:rPr lang="el-GR" altLang="el-GR" sz="4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l-GR" sz="40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(Control Flow Statements )</a:t>
            </a:r>
            <a:endParaRPr lang="en-GB" altLang="el-GR" sz="40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422412E8-0F08-9449-68EF-22D811BEF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3" y="2662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20A3A57A-2695-4C4A-D30E-84E03C67A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343400"/>
            <a:ext cx="6000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6">
            <a:extLst>
              <a:ext uri="{FF2B5EF4-FFF2-40B4-BE49-F238E27FC236}">
                <a16:creationId xmlns:a16="http://schemas.microsoft.com/office/drawing/2014/main" id="{8D46694E-858B-7F0B-38A4-7ADA39ED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2552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/>
          </a:p>
        </p:txBody>
      </p:sp>
      <p:pic>
        <p:nvPicPr>
          <p:cNvPr id="10247" name="Picture 7">
            <a:extLst>
              <a:ext uri="{FF2B5EF4-FFF2-40B4-BE49-F238E27FC236}">
                <a16:creationId xmlns:a16="http://schemas.microsoft.com/office/drawing/2014/main" id="{1A5C9EB9-46CD-A8EF-DF27-7835C630C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04800"/>
            <a:ext cx="8397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Rectangle 8">
            <a:extLst>
              <a:ext uri="{FF2B5EF4-FFF2-40B4-BE49-F238E27FC236}">
                <a16:creationId xmlns:a16="http://schemas.microsoft.com/office/drawing/2014/main" id="{21CF663D-EFDB-65BC-2D5D-128282857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/>
          </a:p>
        </p:txBody>
      </p:sp>
      <p:pic>
        <p:nvPicPr>
          <p:cNvPr id="10249" name="Picture 9">
            <a:extLst>
              <a:ext uri="{FF2B5EF4-FFF2-40B4-BE49-F238E27FC236}">
                <a16:creationId xmlns:a16="http://schemas.microsoft.com/office/drawing/2014/main" id="{87D657EF-0F08-F94C-86F9-030A7ADAC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114800"/>
            <a:ext cx="1447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0" name="Rectangle 10">
            <a:extLst>
              <a:ext uri="{FF2B5EF4-FFF2-40B4-BE49-F238E27FC236}">
                <a16:creationId xmlns:a16="http://schemas.microsoft.com/office/drawing/2014/main" id="{D89C9956-63D7-F867-EA87-12ECEB5BD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647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/>
          </a:p>
        </p:txBody>
      </p:sp>
      <p:pic>
        <p:nvPicPr>
          <p:cNvPr id="10251" name="Picture 11">
            <a:extLst>
              <a:ext uri="{FF2B5EF4-FFF2-40B4-BE49-F238E27FC236}">
                <a16:creationId xmlns:a16="http://schemas.microsoft.com/office/drawing/2014/main" id="{F6ACB488-99DF-8FD9-F6B8-AA078DB9E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953000"/>
            <a:ext cx="12954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2" name="Text Box 13">
            <a:extLst>
              <a:ext uri="{FF2B5EF4-FFF2-40B4-BE49-F238E27FC236}">
                <a16:creationId xmlns:a16="http://schemas.microsoft.com/office/drawing/2014/main" id="{641A00F5-3F3B-7874-667F-AEEEF2FF6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8750"/>
            <a:ext cx="3367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 sz="1600" b="1">
                <a:solidFill>
                  <a:schemeClr val="tx2"/>
                </a:solidFill>
                <a:latin typeface="Times New Roman" panose="02020603050405020304" pitchFamily="18" charset="0"/>
              </a:rPr>
              <a:t>Διδάσκων: Κλεάνθης Θραμπουλίδης</a:t>
            </a:r>
            <a:endParaRPr lang="en-GB" altLang="el-GR" sz="16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3" name="Footer Placeholder 1">
            <a:extLst>
              <a:ext uri="{FF2B5EF4-FFF2-40B4-BE49-F238E27FC236}">
                <a16:creationId xmlns:a16="http://schemas.microsoft.com/office/drawing/2014/main" id="{F7E97C64-6FC9-B20B-4F20-F59FD4D14E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l-GR" sz="1400">
              <a:solidFill>
                <a:schemeClr val="bg2"/>
              </a:solidFill>
            </a:endParaRPr>
          </a:p>
        </p:txBody>
      </p:sp>
      <p:sp>
        <p:nvSpPr>
          <p:cNvPr id="10254" name="Slide Number Placeholder 2">
            <a:extLst>
              <a:ext uri="{FF2B5EF4-FFF2-40B4-BE49-F238E27FC236}">
                <a16:creationId xmlns:a16="http://schemas.microsoft.com/office/drawing/2014/main" id="{01367DE5-13B4-40C6-671F-6A97CB423B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C194D2-2CD2-41D1-94DF-083D6C7C5110}" type="slidenum">
              <a:rPr lang="en-GB" altLang="el-GR" sz="1400" smtClean="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GB" altLang="el-GR" sz="140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8B04E18-BEC3-1EAA-1354-F19D4463C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Πρόταση </a:t>
            </a:r>
            <a:r>
              <a:rPr lang="en-US" altLang="el-GR"/>
              <a:t>while</a:t>
            </a:r>
            <a:r>
              <a:rPr lang="el-GR" altLang="el-GR"/>
              <a:t> (1)</a:t>
            </a:r>
            <a:endParaRPr lang="en-GB" altLang="el-GR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89FCC9D-6A3D-FA82-D637-EA679BD72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048000"/>
            <a:ext cx="4572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while ( </a:t>
            </a:r>
            <a:r>
              <a:rPr lang="en-US" altLang="el-GR">
                <a:solidFill>
                  <a:schemeClr val="hlink"/>
                </a:solidFill>
                <a:latin typeface="Times New Roman" panose="02020603050405020304" pitchFamily="18" charset="0"/>
              </a:rPr>
              <a:t>έκφραση </a:t>
            </a:r>
            <a:r>
              <a:rPr lang="en-US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endParaRPr lang="en-US" altLang="el-GR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l-GR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πρόταση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7B39EC12-2308-0119-1556-EF2D30D4B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133600"/>
            <a:ext cx="3479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>
                <a:solidFill>
                  <a:schemeClr val="folHlink"/>
                </a:solidFill>
                <a:latin typeface="HellasTimes" charset="0"/>
              </a:rPr>
              <a:t>entry condition loop</a:t>
            </a:r>
            <a:endParaRPr lang="en-GB" altLang="el-GR">
              <a:solidFill>
                <a:schemeClr val="folHlink"/>
              </a:solidFill>
              <a:latin typeface="HellasTimes" charset="0"/>
            </a:endParaRP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519B6F87-CA2F-FE13-88A7-CF375DBB8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/>
          </a:p>
        </p:txBody>
      </p:sp>
      <p:grpSp>
        <p:nvGrpSpPr>
          <p:cNvPr id="43014" name="Group 6">
            <a:extLst>
              <a:ext uri="{FF2B5EF4-FFF2-40B4-BE49-F238E27FC236}">
                <a16:creationId xmlns:a16="http://schemas.microsoft.com/office/drawing/2014/main" id="{92ACEBEE-19DA-C0D4-35DC-E08D8CF40F54}"/>
              </a:ext>
            </a:extLst>
          </p:cNvPr>
          <p:cNvGrpSpPr>
            <a:grpSpLocks/>
          </p:cNvGrpSpPr>
          <p:nvPr/>
        </p:nvGrpSpPr>
        <p:grpSpPr bwMode="auto">
          <a:xfrm>
            <a:off x="4875213" y="2474913"/>
            <a:ext cx="3660775" cy="3300412"/>
            <a:chOff x="3071" y="1559"/>
            <a:chExt cx="2306" cy="2079"/>
          </a:xfrm>
        </p:grpSpPr>
        <p:sp>
          <p:nvSpPr>
            <p:cNvPr id="13320" name="Freeform 7">
              <a:extLst>
                <a:ext uri="{FF2B5EF4-FFF2-40B4-BE49-F238E27FC236}">
                  <a16:creationId xmlns:a16="http://schemas.microsoft.com/office/drawing/2014/main" id="{EF42EDAB-534C-A492-99C3-B8E65CA92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875"/>
              <a:ext cx="1322" cy="543"/>
            </a:xfrm>
            <a:custGeom>
              <a:avLst/>
              <a:gdLst>
                <a:gd name="T0" fmla="*/ 166 w 2644"/>
                <a:gd name="T1" fmla="*/ 0 h 1084"/>
                <a:gd name="T2" fmla="*/ 0 w 2644"/>
                <a:gd name="T3" fmla="*/ 68 h 1084"/>
                <a:gd name="T4" fmla="*/ 166 w 2644"/>
                <a:gd name="T5" fmla="*/ 136 h 1084"/>
                <a:gd name="T6" fmla="*/ 331 w 2644"/>
                <a:gd name="T7" fmla="*/ 68 h 1084"/>
                <a:gd name="T8" fmla="*/ 166 w 2644"/>
                <a:gd name="T9" fmla="*/ 0 h 10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44" h="1084">
                  <a:moveTo>
                    <a:pt x="1323" y="0"/>
                  </a:moveTo>
                  <a:lnTo>
                    <a:pt x="0" y="543"/>
                  </a:lnTo>
                  <a:lnTo>
                    <a:pt x="1323" y="1084"/>
                  </a:lnTo>
                  <a:lnTo>
                    <a:pt x="2644" y="543"/>
                  </a:lnTo>
                  <a:lnTo>
                    <a:pt x="1323" y="0"/>
                  </a:lnTo>
                  <a:close/>
                </a:path>
              </a:pathLst>
            </a:custGeom>
            <a:solidFill>
              <a:srgbClr val="FFFFFF"/>
            </a:solidFill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321" name="Rectangle 8">
              <a:extLst>
                <a:ext uri="{FF2B5EF4-FFF2-40B4-BE49-F238E27FC236}">
                  <a16:creationId xmlns:a16="http://schemas.microsoft.com/office/drawing/2014/main" id="{14743B3F-DB87-5835-FECD-9422EC634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016"/>
              <a:ext cx="69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el-GR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έκφραση</a:t>
              </a:r>
              <a:endParaRPr lang="en-GB" altLang="el-GR" sz="24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22" name="Rectangle 9">
              <a:extLst>
                <a:ext uri="{FF2B5EF4-FFF2-40B4-BE49-F238E27FC236}">
                  <a16:creationId xmlns:a16="http://schemas.microsoft.com/office/drawing/2014/main" id="{3053B722-67DB-C973-C94F-E1AC48EBB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736"/>
              <a:ext cx="2026" cy="347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el-GR" sz="2400">
                  <a:solidFill>
                    <a:schemeClr val="hlink"/>
                  </a:solidFill>
                </a:rPr>
                <a:t>Πρόταση</a:t>
              </a:r>
              <a:endParaRPr lang="en-GB" altLang="el-GR" sz="2400">
                <a:solidFill>
                  <a:schemeClr val="hlink"/>
                </a:solidFill>
              </a:endParaRPr>
            </a:p>
          </p:txBody>
        </p:sp>
        <p:sp>
          <p:nvSpPr>
            <p:cNvPr id="13323" name="Rectangle 10">
              <a:extLst>
                <a:ext uri="{FF2B5EF4-FFF2-40B4-BE49-F238E27FC236}">
                  <a16:creationId xmlns:a16="http://schemas.microsoft.com/office/drawing/2014/main" id="{16F834A3-ACF8-61E5-F694-70AD2F4FF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3401"/>
              <a:ext cx="1439" cy="23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3324" name="Rectangle 11">
              <a:extLst>
                <a:ext uri="{FF2B5EF4-FFF2-40B4-BE49-F238E27FC236}">
                  <a16:creationId xmlns:a16="http://schemas.microsoft.com/office/drawing/2014/main" id="{A7D298DA-5666-0B31-7E1C-70450AF8F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3423"/>
              <a:ext cx="15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&lt;</a:t>
              </a:r>
              <a:endParaRPr lang="en-GB" altLang="el-GR" sz="2400"/>
            </a:p>
          </p:txBody>
        </p:sp>
        <p:sp>
          <p:nvSpPr>
            <p:cNvPr id="13325" name="Rectangle 12">
              <a:extLst>
                <a:ext uri="{FF2B5EF4-FFF2-40B4-BE49-F238E27FC236}">
                  <a16:creationId xmlns:a16="http://schemas.microsoft.com/office/drawing/2014/main" id="{97C35925-7639-58F0-2712-C6C58CDF5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" y="3423"/>
              <a:ext cx="1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επόμενη πρόταση</a:t>
              </a:r>
              <a:endParaRPr lang="en-GB" altLang="el-GR" sz="2400"/>
            </a:p>
          </p:txBody>
        </p:sp>
        <p:sp>
          <p:nvSpPr>
            <p:cNvPr id="13326" name="Rectangle 13">
              <a:extLst>
                <a:ext uri="{FF2B5EF4-FFF2-40B4-BE49-F238E27FC236}">
                  <a16:creationId xmlns:a16="http://schemas.microsoft.com/office/drawing/2014/main" id="{21FE05FB-D03E-0A32-CF9D-3612F5E55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3423"/>
              <a:ext cx="19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&gt; </a:t>
              </a:r>
              <a:endParaRPr lang="en-GB" altLang="el-GR" sz="2400"/>
            </a:p>
          </p:txBody>
        </p:sp>
        <p:sp>
          <p:nvSpPr>
            <p:cNvPr id="13327" name="Line 14">
              <a:extLst>
                <a:ext uri="{FF2B5EF4-FFF2-40B4-BE49-F238E27FC236}">
                  <a16:creationId xmlns:a16="http://schemas.microsoft.com/office/drawing/2014/main" id="{3AD06305-63CD-32C7-BCEA-A10C2B89D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7" y="1559"/>
              <a:ext cx="1" cy="22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28" name="Freeform 15">
              <a:extLst>
                <a:ext uri="{FF2B5EF4-FFF2-40B4-BE49-F238E27FC236}">
                  <a16:creationId xmlns:a16="http://schemas.microsoft.com/office/drawing/2014/main" id="{58234515-E765-6179-AC52-81F6AD2C3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1751"/>
              <a:ext cx="75" cy="121"/>
            </a:xfrm>
            <a:custGeom>
              <a:avLst/>
              <a:gdLst>
                <a:gd name="T0" fmla="*/ 0 w 150"/>
                <a:gd name="T1" fmla="*/ 0 h 241"/>
                <a:gd name="T2" fmla="*/ 10 w 150"/>
                <a:gd name="T3" fmla="*/ 4 h 241"/>
                <a:gd name="T4" fmla="*/ 19 w 150"/>
                <a:gd name="T5" fmla="*/ 0 h 241"/>
                <a:gd name="T6" fmla="*/ 10 w 150"/>
                <a:gd name="T7" fmla="*/ 31 h 241"/>
                <a:gd name="T8" fmla="*/ 0 w 150"/>
                <a:gd name="T9" fmla="*/ 0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0" h="241">
                  <a:moveTo>
                    <a:pt x="0" y="0"/>
                  </a:moveTo>
                  <a:lnTo>
                    <a:pt x="75" y="29"/>
                  </a:lnTo>
                  <a:lnTo>
                    <a:pt x="150" y="0"/>
                  </a:lnTo>
                  <a:lnTo>
                    <a:pt x="75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29" name="Line 16">
              <a:extLst>
                <a:ext uri="{FF2B5EF4-FFF2-40B4-BE49-F238E27FC236}">
                  <a16:creationId xmlns:a16="http://schemas.microsoft.com/office/drawing/2014/main" id="{5CAEFAC3-F79A-4D37-48C1-E1A97BDD6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7" y="2420"/>
              <a:ext cx="1" cy="22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0" name="Freeform 17">
              <a:extLst>
                <a:ext uri="{FF2B5EF4-FFF2-40B4-BE49-F238E27FC236}">
                  <a16:creationId xmlns:a16="http://schemas.microsoft.com/office/drawing/2014/main" id="{313B3111-9EFD-7894-816E-F09163F36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612"/>
              <a:ext cx="75" cy="121"/>
            </a:xfrm>
            <a:custGeom>
              <a:avLst/>
              <a:gdLst>
                <a:gd name="T0" fmla="*/ 0 w 150"/>
                <a:gd name="T1" fmla="*/ 0 h 241"/>
                <a:gd name="T2" fmla="*/ 10 w 150"/>
                <a:gd name="T3" fmla="*/ 4 h 241"/>
                <a:gd name="T4" fmla="*/ 19 w 150"/>
                <a:gd name="T5" fmla="*/ 0 h 241"/>
                <a:gd name="T6" fmla="*/ 10 w 150"/>
                <a:gd name="T7" fmla="*/ 31 h 241"/>
                <a:gd name="T8" fmla="*/ 0 w 150"/>
                <a:gd name="T9" fmla="*/ 0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0" h="241">
                  <a:moveTo>
                    <a:pt x="0" y="0"/>
                  </a:moveTo>
                  <a:lnTo>
                    <a:pt x="75" y="29"/>
                  </a:lnTo>
                  <a:lnTo>
                    <a:pt x="150" y="0"/>
                  </a:lnTo>
                  <a:lnTo>
                    <a:pt x="75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1" name="Line 18">
              <a:extLst>
                <a:ext uri="{FF2B5EF4-FFF2-40B4-BE49-F238E27FC236}">
                  <a16:creationId xmlns:a16="http://schemas.microsoft.com/office/drawing/2014/main" id="{409847EF-3439-0B9C-47E8-082DCBE1C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2929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2" name="Line 19">
              <a:extLst>
                <a:ext uri="{FF2B5EF4-FFF2-40B4-BE49-F238E27FC236}">
                  <a16:creationId xmlns:a16="http://schemas.microsoft.com/office/drawing/2014/main" id="{4FEAE547-8EC5-A24F-9054-EBDE69AD5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146"/>
              <a:ext cx="576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3" name="Freeform 20">
              <a:extLst>
                <a:ext uri="{FF2B5EF4-FFF2-40B4-BE49-F238E27FC236}">
                  <a16:creationId xmlns:a16="http://schemas.microsoft.com/office/drawing/2014/main" id="{16652B86-933B-0C44-F253-F34BEC58B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" y="2109"/>
              <a:ext cx="121" cy="75"/>
            </a:xfrm>
            <a:custGeom>
              <a:avLst/>
              <a:gdLst>
                <a:gd name="T0" fmla="*/ 31 w 240"/>
                <a:gd name="T1" fmla="*/ 0 h 150"/>
                <a:gd name="T2" fmla="*/ 27 w 240"/>
                <a:gd name="T3" fmla="*/ 10 h 150"/>
                <a:gd name="T4" fmla="*/ 31 w 240"/>
                <a:gd name="T5" fmla="*/ 19 h 150"/>
                <a:gd name="T6" fmla="*/ 0 w 240"/>
                <a:gd name="T7" fmla="*/ 10 h 150"/>
                <a:gd name="T8" fmla="*/ 31 w 240"/>
                <a:gd name="T9" fmla="*/ 0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150">
                  <a:moveTo>
                    <a:pt x="240" y="0"/>
                  </a:moveTo>
                  <a:lnTo>
                    <a:pt x="211" y="75"/>
                  </a:lnTo>
                  <a:lnTo>
                    <a:pt x="240" y="150"/>
                  </a:lnTo>
                  <a:lnTo>
                    <a:pt x="0" y="75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4" name="Line 21">
              <a:extLst>
                <a:ext uri="{FF2B5EF4-FFF2-40B4-BE49-F238E27FC236}">
                  <a16:creationId xmlns:a16="http://schemas.microsoft.com/office/drawing/2014/main" id="{0D67ED00-764D-9C20-BDD4-8784E4BEC4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5" y="2146"/>
              <a:ext cx="1" cy="78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5" name="Line 22">
              <a:extLst>
                <a:ext uri="{FF2B5EF4-FFF2-40B4-BE49-F238E27FC236}">
                  <a16:creationId xmlns:a16="http://schemas.microsoft.com/office/drawing/2014/main" id="{B55A43A7-3785-65ED-AED1-ED2F299E2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1" y="2146"/>
              <a:ext cx="31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6" name="Line 23">
              <a:extLst>
                <a:ext uri="{FF2B5EF4-FFF2-40B4-BE49-F238E27FC236}">
                  <a16:creationId xmlns:a16="http://schemas.microsoft.com/office/drawing/2014/main" id="{E61CAFB2-FBE9-F26F-E961-B3F5BF3C6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2146"/>
              <a:ext cx="1" cy="137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7" name="Line 24">
              <a:extLst>
                <a:ext uri="{FF2B5EF4-FFF2-40B4-BE49-F238E27FC236}">
                  <a16:creationId xmlns:a16="http://schemas.microsoft.com/office/drawing/2014/main" id="{72E432E4-D7A4-BBBC-ED2E-40CEB362B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3516"/>
              <a:ext cx="2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8" name="Freeform 25">
              <a:extLst>
                <a:ext uri="{FF2B5EF4-FFF2-40B4-BE49-F238E27FC236}">
                  <a16:creationId xmlns:a16="http://schemas.microsoft.com/office/drawing/2014/main" id="{D450FBEE-FF17-6809-BBDB-BF836C32A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" y="3478"/>
              <a:ext cx="121" cy="75"/>
            </a:xfrm>
            <a:custGeom>
              <a:avLst/>
              <a:gdLst>
                <a:gd name="T0" fmla="*/ 0 w 241"/>
                <a:gd name="T1" fmla="*/ 19 h 150"/>
                <a:gd name="T2" fmla="*/ 4 w 241"/>
                <a:gd name="T3" fmla="*/ 10 h 150"/>
                <a:gd name="T4" fmla="*/ 0 w 241"/>
                <a:gd name="T5" fmla="*/ 0 h 150"/>
                <a:gd name="T6" fmla="*/ 31 w 241"/>
                <a:gd name="T7" fmla="*/ 10 h 150"/>
                <a:gd name="T8" fmla="*/ 0 w 241"/>
                <a:gd name="T9" fmla="*/ 19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1" h="150">
                  <a:moveTo>
                    <a:pt x="0" y="150"/>
                  </a:moveTo>
                  <a:lnTo>
                    <a:pt x="30" y="75"/>
                  </a:lnTo>
                  <a:lnTo>
                    <a:pt x="0" y="0"/>
                  </a:lnTo>
                  <a:lnTo>
                    <a:pt x="241" y="75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3339" name="Rectangle 26">
              <a:extLst>
                <a:ext uri="{FF2B5EF4-FFF2-40B4-BE49-F238E27FC236}">
                  <a16:creationId xmlns:a16="http://schemas.microsoft.com/office/drawing/2014/main" id="{00ECBA40-809A-C241-929D-21FE3F1B8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620"/>
              <a:ext cx="43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while</a:t>
              </a:r>
              <a:endParaRPr lang="en-GB" altLang="el-GR" sz="2400"/>
            </a:p>
          </p:txBody>
        </p:sp>
        <p:sp>
          <p:nvSpPr>
            <p:cNvPr id="13340" name="Rectangle 27">
              <a:extLst>
                <a:ext uri="{FF2B5EF4-FFF2-40B4-BE49-F238E27FC236}">
                  <a16:creationId xmlns:a16="http://schemas.microsoft.com/office/drawing/2014/main" id="{CBF4710B-EECD-6604-4E3C-90C936674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6" y="2476"/>
              <a:ext cx="312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true</a:t>
              </a:r>
              <a:endParaRPr lang="en-GB" altLang="el-GR" sz="2400"/>
            </a:p>
          </p:txBody>
        </p:sp>
        <p:sp>
          <p:nvSpPr>
            <p:cNvPr id="13341" name="Rectangle 28">
              <a:extLst>
                <a:ext uri="{FF2B5EF4-FFF2-40B4-BE49-F238E27FC236}">
                  <a16:creationId xmlns:a16="http://schemas.microsoft.com/office/drawing/2014/main" id="{8BB86AFC-D6F6-F86C-7FF3-1011EFA9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1928"/>
              <a:ext cx="36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false</a:t>
              </a:r>
              <a:endParaRPr lang="en-GB" altLang="el-GR" sz="2400"/>
            </a:p>
          </p:txBody>
        </p:sp>
      </p:grpSp>
      <p:sp>
        <p:nvSpPr>
          <p:cNvPr id="13319" name="Slide Number Placeholder 4">
            <a:extLst>
              <a:ext uri="{FF2B5EF4-FFF2-40B4-BE49-F238E27FC236}">
                <a16:creationId xmlns:a16="http://schemas.microsoft.com/office/drawing/2014/main" id="{B698DBBF-8DDC-3D5B-0B8E-C4C29C610722}"/>
              </a:ext>
            </a:extLst>
          </p:cNvPr>
          <p:cNvSpPr txBox="1">
            <a:spLocks/>
          </p:cNvSpPr>
          <p:nvPr/>
        </p:nvSpPr>
        <p:spPr bwMode="auto">
          <a:xfrm>
            <a:off x="8677275" y="6524625"/>
            <a:ext cx="466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796B40-3473-43AD-9E5D-1A23450F4484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l-GR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E8CF5A9-7566-0A23-470B-B8B56A2F8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Πρόταση </a:t>
            </a:r>
            <a:r>
              <a:rPr lang="en-US" altLang="el-GR"/>
              <a:t>for</a:t>
            </a:r>
            <a:endParaRPr lang="en-GB" altLang="el-GR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4A31AD8-A208-4BBF-3636-D4A687C30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b="1">
                <a:latin typeface="Times New Roman" panose="02020603050405020304" pitchFamily="18" charset="0"/>
              </a:rPr>
              <a:t>for (</a:t>
            </a:r>
            <a:r>
              <a:rPr lang="en-US" altLang="el-GR">
                <a:latin typeface="Times New Roman" panose="02020603050405020304" pitchFamily="18" charset="0"/>
              </a:rPr>
              <a:t>έκφραση1 </a:t>
            </a:r>
            <a:r>
              <a:rPr lang="en-US" altLang="el-GR" b="1">
                <a:latin typeface="Times New Roman" panose="02020603050405020304" pitchFamily="18" charset="0"/>
              </a:rPr>
              <a:t>;</a:t>
            </a:r>
            <a:r>
              <a:rPr lang="en-US" altLang="el-GR">
                <a:latin typeface="Times New Roman" panose="02020603050405020304" pitchFamily="18" charset="0"/>
              </a:rPr>
              <a:t> έκφραση2</a:t>
            </a:r>
            <a:r>
              <a:rPr lang="en-US" altLang="el-GR" b="1">
                <a:latin typeface="Times New Roman" panose="02020603050405020304" pitchFamily="18" charset="0"/>
              </a:rPr>
              <a:t> ; </a:t>
            </a:r>
            <a:r>
              <a:rPr lang="en-US" altLang="el-GR">
                <a:latin typeface="Times New Roman" panose="02020603050405020304" pitchFamily="18" charset="0"/>
              </a:rPr>
              <a:t>έκφραση3 </a:t>
            </a:r>
            <a:r>
              <a:rPr lang="en-US" altLang="el-GR" b="1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>
                <a:latin typeface="Times New Roman" panose="02020603050405020304" pitchFamily="18" charset="0"/>
              </a:rPr>
              <a:t>	</a:t>
            </a:r>
            <a:r>
              <a:rPr lang="en-US" altLang="el-GR" b="1">
                <a:latin typeface="Times New Roman" panose="02020603050405020304" pitchFamily="18" charset="0"/>
              </a:rPr>
              <a:t>πρόταση</a:t>
            </a:r>
          </a:p>
          <a:p>
            <a:pPr eaLnBrk="1" hangingPunct="1"/>
            <a:endParaRPr lang="en-GB" altLang="el-G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3F4E394A-07F6-EA9B-38E2-EC724A9F1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300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l-GR" altLang="el-GR" sz="2400"/>
          </a:p>
        </p:txBody>
      </p:sp>
      <p:grpSp>
        <p:nvGrpSpPr>
          <p:cNvPr id="40965" name="Group 5">
            <a:extLst>
              <a:ext uri="{FF2B5EF4-FFF2-40B4-BE49-F238E27FC236}">
                <a16:creationId xmlns:a16="http://schemas.microsoft.com/office/drawing/2014/main" id="{3A2EF940-2501-44F5-501E-E1FBAFCB5FF7}"/>
              </a:ext>
            </a:extLst>
          </p:cNvPr>
          <p:cNvGrpSpPr>
            <a:grpSpLocks/>
          </p:cNvGrpSpPr>
          <p:nvPr/>
        </p:nvGrpSpPr>
        <p:grpSpPr bwMode="auto">
          <a:xfrm>
            <a:off x="668338" y="3289300"/>
            <a:ext cx="4208462" cy="3081338"/>
            <a:chOff x="421" y="2072"/>
            <a:chExt cx="2651" cy="1941"/>
          </a:xfrm>
        </p:grpSpPr>
        <p:sp>
          <p:nvSpPr>
            <p:cNvPr id="14344" name="Rectangle 6">
              <a:extLst>
                <a:ext uri="{FF2B5EF4-FFF2-40B4-BE49-F238E27FC236}">
                  <a16:creationId xmlns:a16="http://schemas.microsoft.com/office/drawing/2014/main" id="{AE3E519D-A315-A3DE-E1B8-FBDDD6EC5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" y="2319"/>
              <a:ext cx="618" cy="1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45" name="Rectangle 7">
              <a:extLst>
                <a:ext uri="{FF2B5EF4-FFF2-40B4-BE49-F238E27FC236}">
                  <a16:creationId xmlns:a16="http://schemas.microsoft.com/office/drawing/2014/main" id="{4C4A29C0-D28E-5D90-69D0-97F9B0DE0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320"/>
              <a:ext cx="62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46" name="Rectangle 8">
              <a:extLst>
                <a:ext uri="{FF2B5EF4-FFF2-40B4-BE49-F238E27FC236}">
                  <a16:creationId xmlns:a16="http://schemas.microsoft.com/office/drawing/2014/main" id="{2D6D31F8-092F-CB2F-9F2C-08C34F146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304"/>
              <a:ext cx="58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el-GR" sz="1700">
                  <a:solidFill>
                    <a:schemeClr val="hlink"/>
                  </a:solidFill>
                  <a:latin typeface="Times New Roman" panose="02020603050405020304" pitchFamily="18" charset="0"/>
                </a:rPr>
                <a:t>έκφραση 1</a:t>
              </a:r>
              <a:endParaRPr lang="en-GB" altLang="el-GR" sz="2400">
                <a:solidFill>
                  <a:schemeClr val="hlink"/>
                </a:solidFill>
              </a:endParaRPr>
            </a:p>
          </p:txBody>
        </p:sp>
        <p:sp>
          <p:nvSpPr>
            <p:cNvPr id="14347" name="Freeform 9">
              <a:extLst>
                <a:ext uri="{FF2B5EF4-FFF2-40B4-BE49-F238E27FC236}">
                  <a16:creationId xmlns:a16="http://schemas.microsoft.com/office/drawing/2014/main" id="{B7F14C15-AB0C-E20A-0808-E0C77F2E8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2704"/>
              <a:ext cx="994" cy="483"/>
            </a:xfrm>
            <a:custGeom>
              <a:avLst/>
              <a:gdLst>
                <a:gd name="T0" fmla="*/ 496 w 994"/>
                <a:gd name="T1" fmla="*/ 0 h 483"/>
                <a:gd name="T2" fmla="*/ 0 w 994"/>
                <a:gd name="T3" fmla="*/ 241 h 483"/>
                <a:gd name="T4" fmla="*/ 496 w 994"/>
                <a:gd name="T5" fmla="*/ 483 h 483"/>
                <a:gd name="T6" fmla="*/ 994 w 994"/>
                <a:gd name="T7" fmla="*/ 241 h 483"/>
                <a:gd name="T8" fmla="*/ 496 w 994"/>
                <a:gd name="T9" fmla="*/ 0 h 4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4" h="483">
                  <a:moveTo>
                    <a:pt x="496" y="0"/>
                  </a:moveTo>
                  <a:lnTo>
                    <a:pt x="0" y="241"/>
                  </a:lnTo>
                  <a:lnTo>
                    <a:pt x="496" y="483"/>
                  </a:lnTo>
                  <a:lnTo>
                    <a:pt x="994" y="241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348" name="Rectangle 10">
              <a:extLst>
                <a:ext uri="{FF2B5EF4-FFF2-40B4-BE49-F238E27FC236}">
                  <a16:creationId xmlns:a16="http://schemas.microsoft.com/office/drawing/2014/main" id="{F565A790-8F96-26ED-7F85-8161789BF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" y="2806"/>
              <a:ext cx="37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49" name="Rectangle 11">
              <a:extLst>
                <a:ext uri="{FF2B5EF4-FFF2-40B4-BE49-F238E27FC236}">
                  <a16:creationId xmlns:a16="http://schemas.microsoft.com/office/drawing/2014/main" id="{00128020-21B0-EB60-1354-7369EA45E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880"/>
              <a:ext cx="60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el-GR" sz="1600">
                  <a:solidFill>
                    <a:schemeClr val="hlink"/>
                  </a:solidFill>
                </a:rPr>
                <a:t>έκφραση 2</a:t>
              </a:r>
              <a:endParaRPr lang="en-GB" altLang="el-GR" sz="1600">
                <a:solidFill>
                  <a:schemeClr val="hlink"/>
                </a:solidFill>
              </a:endParaRPr>
            </a:p>
          </p:txBody>
        </p:sp>
        <p:sp>
          <p:nvSpPr>
            <p:cNvPr id="14350" name="Rectangle 12">
              <a:extLst>
                <a:ext uri="{FF2B5EF4-FFF2-40B4-BE49-F238E27FC236}">
                  <a16:creationId xmlns:a16="http://schemas.microsoft.com/office/drawing/2014/main" id="{08B77D63-E3FE-588D-F3EB-9ACC02723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945"/>
              <a:ext cx="59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51" name="Rectangle 13">
              <a:extLst>
                <a:ext uri="{FF2B5EF4-FFF2-40B4-BE49-F238E27FC236}">
                  <a16:creationId xmlns:a16="http://schemas.microsoft.com/office/drawing/2014/main" id="{D70CE983-2E37-C149-96BB-988D33573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402"/>
              <a:ext cx="1514" cy="2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el-GR" sz="2000">
                  <a:latin typeface="Times New Roman" panose="02020603050405020304" pitchFamily="18" charset="0"/>
                </a:rPr>
                <a:t>πρόταση</a:t>
              </a:r>
              <a:endParaRPr lang="en-GB" altLang="el-GR" sz="2000">
                <a:latin typeface="Times New Roman" panose="02020603050405020304" pitchFamily="18" charset="0"/>
              </a:endParaRPr>
            </a:p>
          </p:txBody>
        </p:sp>
        <p:sp>
          <p:nvSpPr>
            <p:cNvPr id="14352" name="Rectangle 14">
              <a:extLst>
                <a:ext uri="{FF2B5EF4-FFF2-40B4-BE49-F238E27FC236}">
                  <a16:creationId xmlns:a16="http://schemas.microsoft.com/office/drawing/2014/main" id="{D4D86E80-204B-3970-E96D-F52617EB9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" y="3400"/>
              <a:ext cx="144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53" name="Rectangle 15">
              <a:extLst>
                <a:ext uri="{FF2B5EF4-FFF2-40B4-BE49-F238E27FC236}">
                  <a16:creationId xmlns:a16="http://schemas.microsoft.com/office/drawing/2014/main" id="{FF27AB26-F15F-FC5D-2A8B-AABAADE96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3539"/>
              <a:ext cx="11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54" name="Rectangle 16">
              <a:extLst>
                <a:ext uri="{FF2B5EF4-FFF2-40B4-BE49-F238E27FC236}">
                  <a16:creationId xmlns:a16="http://schemas.microsoft.com/office/drawing/2014/main" id="{57335CB9-912B-A29C-2D1D-03089461B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539"/>
              <a:ext cx="877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55" name="Rectangle 17">
              <a:extLst>
                <a:ext uri="{FF2B5EF4-FFF2-40B4-BE49-F238E27FC236}">
                  <a16:creationId xmlns:a16="http://schemas.microsoft.com/office/drawing/2014/main" id="{0EEE9F2D-DA5A-9E8E-D023-E5C1ED8DE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2878"/>
              <a:ext cx="885" cy="1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56" name="Rectangle 18">
              <a:extLst>
                <a:ext uri="{FF2B5EF4-FFF2-40B4-BE49-F238E27FC236}">
                  <a16:creationId xmlns:a16="http://schemas.microsoft.com/office/drawing/2014/main" id="{C881279D-23CC-EA50-9663-56AB812D3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2880"/>
              <a:ext cx="79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el-GR" sz="1600">
                  <a:solidFill>
                    <a:schemeClr val="hlink"/>
                  </a:solidFill>
                </a:rPr>
                <a:t>έκφραση 3</a:t>
              </a:r>
              <a:endParaRPr lang="en-GB" altLang="el-GR" sz="1600">
                <a:solidFill>
                  <a:schemeClr val="hlink"/>
                </a:solidFill>
              </a:endParaRPr>
            </a:p>
          </p:txBody>
        </p:sp>
        <p:sp>
          <p:nvSpPr>
            <p:cNvPr id="14357" name="Rectangle 19">
              <a:extLst>
                <a:ext uri="{FF2B5EF4-FFF2-40B4-BE49-F238E27FC236}">
                  <a16:creationId xmlns:a16="http://schemas.microsoft.com/office/drawing/2014/main" id="{5E81A91E-B0D5-F8CA-4A8A-C3E984A48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3787"/>
              <a:ext cx="1170" cy="1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58" name="Rectangle 20">
              <a:extLst>
                <a:ext uri="{FF2B5EF4-FFF2-40B4-BE49-F238E27FC236}">
                  <a16:creationId xmlns:a16="http://schemas.microsoft.com/office/drawing/2014/main" id="{953F3080-2293-6186-2720-2C1990270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59" name="Rectangle 21">
              <a:extLst>
                <a:ext uri="{FF2B5EF4-FFF2-40B4-BE49-F238E27FC236}">
                  <a16:creationId xmlns:a16="http://schemas.microsoft.com/office/drawing/2014/main" id="{A372D8B2-36F0-4950-1CD0-4E4555355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3815"/>
              <a:ext cx="13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&lt;</a:t>
              </a:r>
              <a:endParaRPr lang="en-GB" altLang="el-GR" sz="2400"/>
            </a:p>
          </p:txBody>
        </p:sp>
        <p:sp>
          <p:nvSpPr>
            <p:cNvPr id="14360" name="Rectangle 22">
              <a:extLst>
                <a:ext uri="{FF2B5EF4-FFF2-40B4-BE49-F238E27FC236}">
                  <a16:creationId xmlns:a16="http://schemas.microsoft.com/office/drawing/2014/main" id="{6E50B39D-9FAB-A6DC-73E1-86B2514D4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3789"/>
              <a:ext cx="110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61" name="Rectangle 23">
              <a:extLst>
                <a:ext uri="{FF2B5EF4-FFF2-40B4-BE49-F238E27FC236}">
                  <a16:creationId xmlns:a16="http://schemas.microsoft.com/office/drawing/2014/main" id="{EAF39955-1F6B-5B9E-3D45-9999D3382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3815"/>
              <a:ext cx="49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επόμενη </a:t>
              </a:r>
              <a:endParaRPr lang="en-GB" altLang="el-GR" sz="2400"/>
            </a:p>
          </p:txBody>
        </p:sp>
        <p:sp>
          <p:nvSpPr>
            <p:cNvPr id="14362" name="Rectangle 24">
              <a:extLst>
                <a:ext uri="{FF2B5EF4-FFF2-40B4-BE49-F238E27FC236}">
                  <a16:creationId xmlns:a16="http://schemas.microsoft.com/office/drawing/2014/main" id="{E9F9964C-70F9-9E9D-EC0A-36031AD87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" y="3815"/>
              <a:ext cx="4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πρόταση</a:t>
              </a:r>
              <a:endParaRPr lang="en-GB" altLang="el-GR" sz="2400"/>
            </a:p>
          </p:txBody>
        </p:sp>
        <p:sp>
          <p:nvSpPr>
            <p:cNvPr id="14363" name="Rectangle 25">
              <a:extLst>
                <a:ext uri="{FF2B5EF4-FFF2-40B4-BE49-F238E27FC236}">
                  <a16:creationId xmlns:a16="http://schemas.microsoft.com/office/drawing/2014/main" id="{DD13FAF2-795A-B320-61D5-3DE2FB8A4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64" name="Rectangle 26">
              <a:extLst>
                <a:ext uri="{FF2B5EF4-FFF2-40B4-BE49-F238E27FC236}">
                  <a16:creationId xmlns:a16="http://schemas.microsoft.com/office/drawing/2014/main" id="{26D4843C-8861-E7D1-931F-FBCF3A931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815"/>
              <a:ext cx="13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&gt;</a:t>
              </a:r>
              <a:endParaRPr lang="en-GB" altLang="el-GR" sz="2400"/>
            </a:p>
          </p:txBody>
        </p:sp>
        <p:sp>
          <p:nvSpPr>
            <p:cNvPr id="14365" name="Freeform 27">
              <a:extLst>
                <a:ext uri="{FF2B5EF4-FFF2-40B4-BE49-F238E27FC236}">
                  <a16:creationId xmlns:a16="http://schemas.microsoft.com/office/drawing/2014/main" id="{A120E2EB-7375-534A-C29E-357789E84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072"/>
              <a:ext cx="12" cy="165"/>
            </a:xfrm>
            <a:custGeom>
              <a:avLst/>
              <a:gdLst>
                <a:gd name="T0" fmla="*/ 11 w 12"/>
                <a:gd name="T1" fmla="*/ 0 h 165"/>
                <a:gd name="T2" fmla="*/ 0 w 12"/>
                <a:gd name="T3" fmla="*/ 0 h 165"/>
                <a:gd name="T4" fmla="*/ 1 w 12"/>
                <a:gd name="T5" fmla="*/ 165 h 165"/>
                <a:gd name="T6" fmla="*/ 12 w 12"/>
                <a:gd name="T7" fmla="*/ 165 h 165"/>
                <a:gd name="T8" fmla="*/ 11 w 12"/>
                <a:gd name="T9" fmla="*/ 0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65">
                  <a:moveTo>
                    <a:pt x="11" y="0"/>
                  </a:moveTo>
                  <a:lnTo>
                    <a:pt x="0" y="0"/>
                  </a:lnTo>
                  <a:lnTo>
                    <a:pt x="1" y="165"/>
                  </a:lnTo>
                  <a:lnTo>
                    <a:pt x="12" y="16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66" name="Freeform 28">
              <a:extLst>
                <a:ext uri="{FF2B5EF4-FFF2-40B4-BE49-F238E27FC236}">
                  <a16:creationId xmlns:a16="http://schemas.microsoft.com/office/drawing/2014/main" id="{9806BB5E-72D0-B19A-1611-3B3DB33EE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207"/>
              <a:ext cx="65" cy="109"/>
            </a:xfrm>
            <a:custGeom>
              <a:avLst/>
              <a:gdLst>
                <a:gd name="T0" fmla="*/ 0 w 65"/>
                <a:gd name="T1" fmla="*/ 0 h 109"/>
                <a:gd name="T2" fmla="*/ 32 w 65"/>
                <a:gd name="T3" fmla="*/ 14 h 109"/>
                <a:gd name="T4" fmla="*/ 65 w 65"/>
                <a:gd name="T5" fmla="*/ 0 h 109"/>
                <a:gd name="T6" fmla="*/ 32 w 65"/>
                <a:gd name="T7" fmla="*/ 109 h 109"/>
                <a:gd name="T8" fmla="*/ 0 w 65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09">
                  <a:moveTo>
                    <a:pt x="0" y="0"/>
                  </a:moveTo>
                  <a:lnTo>
                    <a:pt x="32" y="14"/>
                  </a:lnTo>
                  <a:lnTo>
                    <a:pt x="65" y="0"/>
                  </a:lnTo>
                  <a:lnTo>
                    <a:pt x="32" y="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67" name="Freeform 29">
              <a:extLst>
                <a:ext uri="{FF2B5EF4-FFF2-40B4-BE49-F238E27FC236}">
                  <a16:creationId xmlns:a16="http://schemas.microsoft.com/office/drawing/2014/main" id="{5AE37771-DA64-8A24-A403-261547815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491"/>
              <a:ext cx="12" cy="131"/>
            </a:xfrm>
            <a:custGeom>
              <a:avLst/>
              <a:gdLst>
                <a:gd name="T0" fmla="*/ 11 w 12"/>
                <a:gd name="T1" fmla="*/ 0 h 131"/>
                <a:gd name="T2" fmla="*/ 0 w 12"/>
                <a:gd name="T3" fmla="*/ 0 h 131"/>
                <a:gd name="T4" fmla="*/ 1 w 12"/>
                <a:gd name="T5" fmla="*/ 131 h 131"/>
                <a:gd name="T6" fmla="*/ 12 w 12"/>
                <a:gd name="T7" fmla="*/ 131 h 131"/>
                <a:gd name="T8" fmla="*/ 11 w 1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1">
                  <a:moveTo>
                    <a:pt x="11" y="0"/>
                  </a:moveTo>
                  <a:lnTo>
                    <a:pt x="0" y="0"/>
                  </a:lnTo>
                  <a:lnTo>
                    <a:pt x="1" y="131"/>
                  </a:lnTo>
                  <a:lnTo>
                    <a:pt x="12" y="13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68" name="Freeform 30">
              <a:extLst>
                <a:ext uri="{FF2B5EF4-FFF2-40B4-BE49-F238E27FC236}">
                  <a16:creationId xmlns:a16="http://schemas.microsoft.com/office/drawing/2014/main" id="{33A47F9B-89B7-E166-C865-821103E28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5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69" name="Freeform 31">
              <a:extLst>
                <a:ext uri="{FF2B5EF4-FFF2-40B4-BE49-F238E27FC236}">
                  <a16:creationId xmlns:a16="http://schemas.microsoft.com/office/drawing/2014/main" id="{B6284382-4C7D-9C16-8781-1EAD104D5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190"/>
              <a:ext cx="12" cy="130"/>
            </a:xfrm>
            <a:custGeom>
              <a:avLst/>
              <a:gdLst>
                <a:gd name="T0" fmla="*/ 11 w 12"/>
                <a:gd name="T1" fmla="*/ 0 h 130"/>
                <a:gd name="T2" fmla="*/ 0 w 12"/>
                <a:gd name="T3" fmla="*/ 0 h 130"/>
                <a:gd name="T4" fmla="*/ 1 w 12"/>
                <a:gd name="T5" fmla="*/ 130 h 130"/>
                <a:gd name="T6" fmla="*/ 12 w 12"/>
                <a:gd name="T7" fmla="*/ 130 h 130"/>
                <a:gd name="T8" fmla="*/ 11 w 12"/>
                <a:gd name="T9" fmla="*/ 0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0">
                  <a:moveTo>
                    <a:pt x="11" y="0"/>
                  </a:moveTo>
                  <a:lnTo>
                    <a:pt x="0" y="0"/>
                  </a:lnTo>
                  <a:lnTo>
                    <a:pt x="1" y="130"/>
                  </a:lnTo>
                  <a:lnTo>
                    <a:pt x="12" y="13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70" name="Freeform 32">
              <a:extLst>
                <a:ext uri="{FF2B5EF4-FFF2-40B4-BE49-F238E27FC236}">
                  <a16:creationId xmlns:a16="http://schemas.microsoft.com/office/drawing/2014/main" id="{107075C2-98F2-5EB4-41D7-4ABA7F273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32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71" name="Rectangle 33">
              <a:extLst>
                <a:ext uri="{FF2B5EF4-FFF2-40B4-BE49-F238E27FC236}">
                  <a16:creationId xmlns:a16="http://schemas.microsoft.com/office/drawing/2014/main" id="{EA157DA3-C0DD-D7EE-D6CF-405863F85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499"/>
              <a:ext cx="41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72" name="Rectangle 34">
              <a:extLst>
                <a:ext uri="{FF2B5EF4-FFF2-40B4-BE49-F238E27FC236}">
                  <a16:creationId xmlns:a16="http://schemas.microsoft.com/office/drawing/2014/main" id="{D694E3C4-2D2A-F8EC-5075-661236370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4" y="3130"/>
              <a:ext cx="12" cy="37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73" name="Freeform 35">
              <a:extLst>
                <a:ext uri="{FF2B5EF4-FFF2-40B4-BE49-F238E27FC236}">
                  <a16:creationId xmlns:a16="http://schemas.microsoft.com/office/drawing/2014/main" id="{D5A5BCB8-DFC0-30C3-8E75-476B20053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3050"/>
              <a:ext cx="67" cy="108"/>
            </a:xfrm>
            <a:custGeom>
              <a:avLst/>
              <a:gdLst>
                <a:gd name="T0" fmla="*/ 67 w 67"/>
                <a:gd name="T1" fmla="*/ 108 h 108"/>
                <a:gd name="T2" fmla="*/ 34 w 67"/>
                <a:gd name="T3" fmla="*/ 95 h 108"/>
                <a:gd name="T4" fmla="*/ 0 w 67"/>
                <a:gd name="T5" fmla="*/ 108 h 108"/>
                <a:gd name="T6" fmla="*/ 34 w 67"/>
                <a:gd name="T7" fmla="*/ 0 h 108"/>
                <a:gd name="T8" fmla="*/ 67 w 67"/>
                <a:gd name="T9" fmla="*/ 108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108">
                  <a:moveTo>
                    <a:pt x="67" y="108"/>
                  </a:moveTo>
                  <a:lnTo>
                    <a:pt x="34" y="95"/>
                  </a:lnTo>
                  <a:lnTo>
                    <a:pt x="0" y="108"/>
                  </a:lnTo>
                  <a:lnTo>
                    <a:pt x="34" y="0"/>
                  </a:lnTo>
                  <a:lnTo>
                    <a:pt x="67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74" name="Rectangle 36">
              <a:extLst>
                <a:ext uri="{FF2B5EF4-FFF2-40B4-BE49-F238E27FC236}">
                  <a16:creationId xmlns:a16="http://schemas.microsoft.com/office/drawing/2014/main" id="{E0004EB2-C297-59FF-6797-B9C2E2ADB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940"/>
              <a:ext cx="47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75" name="Freeform 37">
              <a:extLst>
                <a:ext uri="{FF2B5EF4-FFF2-40B4-BE49-F238E27FC236}">
                  <a16:creationId xmlns:a16="http://schemas.microsoft.com/office/drawing/2014/main" id="{5F6AA349-1C65-372B-F8C9-D36C7CF66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2911"/>
              <a:ext cx="106" cy="68"/>
            </a:xfrm>
            <a:custGeom>
              <a:avLst/>
              <a:gdLst>
                <a:gd name="T0" fmla="*/ 106 w 106"/>
                <a:gd name="T1" fmla="*/ 0 h 68"/>
                <a:gd name="T2" fmla="*/ 93 w 106"/>
                <a:gd name="T3" fmla="*/ 34 h 68"/>
                <a:gd name="T4" fmla="*/ 106 w 106"/>
                <a:gd name="T5" fmla="*/ 68 h 68"/>
                <a:gd name="T6" fmla="*/ 0 w 106"/>
                <a:gd name="T7" fmla="*/ 34 h 68"/>
                <a:gd name="T8" fmla="*/ 106 w 106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68">
                  <a:moveTo>
                    <a:pt x="106" y="0"/>
                  </a:moveTo>
                  <a:lnTo>
                    <a:pt x="93" y="34"/>
                  </a:lnTo>
                  <a:lnTo>
                    <a:pt x="106" y="68"/>
                  </a:lnTo>
                  <a:lnTo>
                    <a:pt x="0" y="34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76" name="Rectangle 38">
              <a:extLst>
                <a:ext uri="{FF2B5EF4-FFF2-40B4-BE49-F238E27FC236}">
                  <a16:creationId xmlns:a16="http://schemas.microsoft.com/office/drawing/2014/main" id="{2EEDC0EF-126D-968D-F64A-AAB5EDF23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940"/>
              <a:ext cx="24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77" name="Rectangle 39">
              <a:extLst>
                <a:ext uri="{FF2B5EF4-FFF2-40B4-BE49-F238E27FC236}">
                  <a16:creationId xmlns:a16="http://schemas.microsoft.com/office/drawing/2014/main" id="{7C43C610-5264-060E-840C-534AE52DC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" y="2945"/>
              <a:ext cx="12" cy="9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78" name="Freeform 40">
              <a:extLst>
                <a:ext uri="{FF2B5EF4-FFF2-40B4-BE49-F238E27FC236}">
                  <a16:creationId xmlns:a16="http://schemas.microsoft.com/office/drawing/2014/main" id="{03C25003-E49B-2435-73A8-E6DED86E5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3849"/>
              <a:ext cx="197" cy="12"/>
            </a:xfrm>
            <a:custGeom>
              <a:avLst/>
              <a:gdLst>
                <a:gd name="T0" fmla="*/ 0 w 197"/>
                <a:gd name="T1" fmla="*/ 0 h 12"/>
                <a:gd name="T2" fmla="*/ 0 w 197"/>
                <a:gd name="T3" fmla="*/ 11 h 12"/>
                <a:gd name="T4" fmla="*/ 197 w 197"/>
                <a:gd name="T5" fmla="*/ 12 h 12"/>
                <a:gd name="T6" fmla="*/ 197 w 197"/>
                <a:gd name="T7" fmla="*/ 1 h 12"/>
                <a:gd name="T8" fmla="*/ 0 w 197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2">
                  <a:moveTo>
                    <a:pt x="0" y="0"/>
                  </a:moveTo>
                  <a:lnTo>
                    <a:pt x="0" y="11"/>
                  </a:lnTo>
                  <a:lnTo>
                    <a:pt x="197" y="12"/>
                  </a:lnTo>
                  <a:lnTo>
                    <a:pt x="197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79" name="Freeform 41">
              <a:extLst>
                <a:ext uri="{FF2B5EF4-FFF2-40B4-BE49-F238E27FC236}">
                  <a16:creationId xmlns:a16="http://schemas.microsoft.com/office/drawing/2014/main" id="{06EFD358-82AF-AE08-E9EE-9831AC244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3821"/>
              <a:ext cx="106" cy="66"/>
            </a:xfrm>
            <a:custGeom>
              <a:avLst/>
              <a:gdLst>
                <a:gd name="T0" fmla="*/ 0 w 106"/>
                <a:gd name="T1" fmla="*/ 66 h 66"/>
                <a:gd name="T2" fmla="*/ 13 w 106"/>
                <a:gd name="T3" fmla="*/ 33 h 66"/>
                <a:gd name="T4" fmla="*/ 0 w 106"/>
                <a:gd name="T5" fmla="*/ 0 h 66"/>
                <a:gd name="T6" fmla="*/ 106 w 106"/>
                <a:gd name="T7" fmla="*/ 33 h 66"/>
                <a:gd name="T8" fmla="*/ 0 w 106"/>
                <a:gd name="T9" fmla="*/ 66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66">
                  <a:moveTo>
                    <a:pt x="0" y="66"/>
                  </a:moveTo>
                  <a:lnTo>
                    <a:pt x="13" y="33"/>
                  </a:lnTo>
                  <a:lnTo>
                    <a:pt x="0" y="0"/>
                  </a:lnTo>
                  <a:lnTo>
                    <a:pt x="106" y="3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4380" name="Rectangle 42">
              <a:extLst>
                <a:ext uri="{FF2B5EF4-FFF2-40B4-BE49-F238E27FC236}">
                  <a16:creationId xmlns:a16="http://schemas.microsoft.com/office/drawing/2014/main" id="{7FF2E5B7-305D-4188-10B1-3B7D3E8D1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04"/>
              <a:ext cx="29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81" name="Rectangle 43">
              <a:extLst>
                <a:ext uri="{FF2B5EF4-FFF2-40B4-BE49-F238E27FC236}">
                  <a16:creationId xmlns:a16="http://schemas.microsoft.com/office/drawing/2014/main" id="{C29FDE30-9A68-86DC-E239-18B8B5D98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31"/>
              <a:ext cx="28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true</a:t>
              </a:r>
              <a:endParaRPr lang="en-GB" altLang="el-GR" sz="2400"/>
            </a:p>
          </p:txBody>
        </p:sp>
        <p:sp>
          <p:nvSpPr>
            <p:cNvPr id="14382" name="Rectangle 44">
              <a:extLst>
                <a:ext uri="{FF2B5EF4-FFF2-40B4-BE49-F238E27FC236}">
                  <a16:creationId xmlns:a16="http://schemas.microsoft.com/office/drawing/2014/main" id="{A4C479F4-6E69-25EA-BFEC-CBC7B1FA6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784"/>
              <a:ext cx="33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83" name="Rectangle 45">
              <a:extLst>
                <a:ext uri="{FF2B5EF4-FFF2-40B4-BE49-F238E27FC236}">
                  <a16:creationId xmlns:a16="http://schemas.microsoft.com/office/drawing/2014/main" id="{F1CF57B0-4D44-3348-7EA1-830F915DE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811"/>
              <a:ext cx="32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false</a:t>
              </a:r>
              <a:endParaRPr lang="en-GB" altLang="el-GR" sz="2400"/>
            </a:p>
          </p:txBody>
        </p:sp>
        <p:sp>
          <p:nvSpPr>
            <p:cNvPr id="14384" name="Rectangle 46">
              <a:extLst>
                <a:ext uri="{FF2B5EF4-FFF2-40B4-BE49-F238E27FC236}">
                  <a16:creationId xmlns:a16="http://schemas.microsoft.com/office/drawing/2014/main" id="{59AA9101-FCE9-DA92-D507-EAC145697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083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l-GR" altLang="el-GR" sz="2400"/>
            </a:p>
          </p:txBody>
        </p:sp>
        <p:sp>
          <p:nvSpPr>
            <p:cNvPr id="14385" name="Rectangle 47">
              <a:extLst>
                <a:ext uri="{FF2B5EF4-FFF2-40B4-BE49-F238E27FC236}">
                  <a16:creationId xmlns:a16="http://schemas.microsoft.com/office/drawing/2014/main" id="{DCE6DD86-853F-66C6-294E-7B68B6779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110"/>
              <a:ext cx="24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l-GR" sz="17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for</a:t>
              </a:r>
              <a:endParaRPr lang="en-GB" altLang="el-GR" sz="2400"/>
            </a:p>
          </p:txBody>
        </p:sp>
      </p:grpSp>
      <p:sp>
        <p:nvSpPr>
          <p:cNvPr id="41008" name="Rectangle 48">
            <a:extLst>
              <a:ext uri="{FF2B5EF4-FFF2-40B4-BE49-F238E27FC236}">
                <a16:creationId xmlns:a16="http://schemas.microsoft.com/office/drawing/2014/main" id="{2C81EBB6-71F6-DAD6-F8EE-8AD0EA5B1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743200"/>
            <a:ext cx="5029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b="1">
                <a:solidFill>
                  <a:schemeClr val="accent1"/>
                </a:solidFill>
                <a:latin typeface="Times New Roman" panose="02020603050405020304" pitchFamily="18" charset="0"/>
              </a:rPr>
              <a:t>for (</a:t>
            </a:r>
            <a:r>
              <a:rPr lang="en-US" altLang="el-GR">
                <a:solidFill>
                  <a:schemeClr val="accent1"/>
                </a:solidFill>
                <a:latin typeface="Times New Roman" panose="02020603050405020304" pitchFamily="18" charset="0"/>
              </a:rPr>
              <a:t>initialize </a:t>
            </a:r>
            <a:r>
              <a:rPr lang="en-US" altLang="el-GR" b="1">
                <a:solidFill>
                  <a:schemeClr val="accent1"/>
                </a:solidFill>
                <a:latin typeface="Times New Roman" panose="02020603050405020304" pitchFamily="18" charset="0"/>
              </a:rPr>
              <a:t>;</a:t>
            </a:r>
            <a:r>
              <a:rPr lang="en-US" altLang="el-GR">
                <a:solidFill>
                  <a:schemeClr val="accent1"/>
                </a:solidFill>
                <a:latin typeface="Times New Roman" panose="02020603050405020304" pitchFamily="18" charset="0"/>
              </a:rPr>
              <a:t> test </a:t>
            </a:r>
            <a:r>
              <a:rPr lang="en-US" altLang="el-GR" b="1">
                <a:solidFill>
                  <a:schemeClr val="accent1"/>
                </a:solidFill>
                <a:latin typeface="Times New Roman" panose="02020603050405020304" pitchFamily="18" charset="0"/>
              </a:rPr>
              <a:t>; </a:t>
            </a:r>
            <a:r>
              <a:rPr lang="en-US" altLang="el-GR">
                <a:solidFill>
                  <a:schemeClr val="accent1"/>
                </a:solidFill>
                <a:latin typeface="Times New Roman" panose="02020603050405020304" pitchFamily="18" charset="0"/>
              </a:rPr>
              <a:t>update </a:t>
            </a:r>
            <a:r>
              <a:rPr lang="en-US" altLang="el-GR" b="1">
                <a:solidFill>
                  <a:schemeClr val="accent1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>
                <a:solidFill>
                  <a:schemeClr val="accent1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b="1">
                <a:solidFill>
                  <a:schemeClr val="accent1"/>
                </a:solidFill>
                <a:latin typeface="Times New Roman" panose="02020603050405020304" pitchFamily="18" charset="0"/>
              </a:rPr>
              <a:t>πρόταση</a:t>
            </a:r>
          </a:p>
        </p:txBody>
      </p:sp>
      <p:sp>
        <p:nvSpPr>
          <p:cNvPr id="14343" name="Slide Number Placeholder 4">
            <a:extLst>
              <a:ext uri="{FF2B5EF4-FFF2-40B4-BE49-F238E27FC236}">
                <a16:creationId xmlns:a16="http://schemas.microsoft.com/office/drawing/2014/main" id="{DA612667-5F77-DDAE-6F28-7C89EF3ACCAE}"/>
              </a:ext>
            </a:extLst>
          </p:cNvPr>
          <p:cNvSpPr txBox="1">
            <a:spLocks/>
          </p:cNvSpPr>
          <p:nvPr/>
        </p:nvSpPr>
        <p:spPr bwMode="auto">
          <a:xfrm>
            <a:off x="8677275" y="6524625"/>
            <a:ext cx="466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19EBA0-BAF7-49CA-BF44-7B4BC24A47A4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l-GR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3487D02-D665-CA4B-6201-EBAECD932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l-GR"/>
              <a:t>Επιλογή loop</a:t>
            </a:r>
            <a:endParaRPr lang="en-GB" altLang="el-GR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32BDFCA-A097-F77E-18B0-A5F2B0949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017713"/>
            <a:ext cx="8421688" cy="4114800"/>
          </a:xfrm>
        </p:spPr>
        <p:txBody>
          <a:bodyPr/>
          <a:lstStyle/>
          <a:p>
            <a:pPr eaLnBrk="1" hangingPunct="1"/>
            <a:r>
              <a:rPr lang="el-GR" altLang="el-GR" sz="2800">
                <a:latin typeface="Times New Roman" panose="02020603050405020304" pitchFamily="18" charset="0"/>
              </a:rPr>
              <a:t>Αποφάσισε αν χρειάζεσαι entry-condition ή exit-condition.</a:t>
            </a:r>
            <a:endParaRPr lang="en-US" altLang="el-GR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el-GR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Προτίμησε γενικά το entry-condition</a:t>
            </a:r>
            <a:endParaRPr lang="en-GB" altLang="el-GR" sz="28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E3D544A3-34EB-2BE2-CDBC-DE927F4B3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943600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l-GR" sz="2800">
                <a:solidFill>
                  <a:srgbClr val="66CCFF"/>
                </a:solidFill>
                <a:latin typeface="Times New Roman" panose="02020603050405020304" pitchFamily="18" charset="0"/>
              </a:rPr>
              <a:t>for (;test;)</a:t>
            </a:r>
            <a:r>
              <a:rPr lang="en-US" altLang="el-GR" sz="2800">
                <a:latin typeface="Times New Roman" panose="02020603050405020304" pitchFamily="18" charset="0"/>
              </a:rPr>
              <a:t>   				</a:t>
            </a:r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while(test)</a:t>
            </a:r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D9217A3A-5479-3C3F-E302-DE7110BE0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39624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l-GR" sz="2800">
                <a:solidFill>
                  <a:srgbClr val="66CCFF"/>
                </a:solidFill>
                <a:latin typeface="Times New Roman" panose="02020603050405020304" pitchFamily="18" charset="0"/>
              </a:rPr>
              <a:t>for(initialize;test;update)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l-GR" sz="2800">
                <a:solidFill>
                  <a:srgbClr val="66CCFF"/>
                </a:solidFill>
                <a:latin typeface="Times New Roman" panose="02020603050405020304" pitchFamily="18" charset="0"/>
              </a:rPr>
              <a:t>	statement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A3FB4DD8-B842-42E8-2993-8EDA4CCF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25" y="3443288"/>
            <a:ext cx="245745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initialize;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while(test)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	statement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	update;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	}</a:t>
            </a:r>
          </a:p>
        </p:txBody>
      </p:sp>
      <p:sp>
        <p:nvSpPr>
          <p:cNvPr id="41991" name="Line 7">
            <a:extLst>
              <a:ext uri="{FF2B5EF4-FFF2-40B4-BE49-F238E27FC236}">
                <a16:creationId xmlns:a16="http://schemas.microsoft.com/office/drawing/2014/main" id="{38753F7D-E69B-04DB-6CA7-9F8CF7C8E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7338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l-GR"/>
          </a:p>
        </p:txBody>
      </p:sp>
      <p:sp>
        <p:nvSpPr>
          <p:cNvPr id="41992" name="Line 8">
            <a:extLst>
              <a:ext uri="{FF2B5EF4-FFF2-40B4-BE49-F238E27FC236}">
                <a16:creationId xmlns:a16="http://schemas.microsoft.com/office/drawing/2014/main" id="{6E269358-A935-5E15-D5CE-7E8DEB902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248400"/>
            <a:ext cx="144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l-GR"/>
          </a:p>
        </p:txBody>
      </p:sp>
      <p:sp>
        <p:nvSpPr>
          <p:cNvPr id="15369" name="Slide Number Placeholder 4">
            <a:extLst>
              <a:ext uri="{FF2B5EF4-FFF2-40B4-BE49-F238E27FC236}">
                <a16:creationId xmlns:a16="http://schemas.microsoft.com/office/drawing/2014/main" id="{A1AC77C4-3AA9-E66F-DEAD-A445E00748AC}"/>
              </a:ext>
            </a:extLst>
          </p:cNvPr>
          <p:cNvSpPr txBox="1">
            <a:spLocks/>
          </p:cNvSpPr>
          <p:nvPr/>
        </p:nvSpPr>
        <p:spPr bwMode="auto">
          <a:xfrm>
            <a:off x="8677275" y="6524625"/>
            <a:ext cx="466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AA219D-A658-4911-9BE1-51FB250AA874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l-GR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utoUpdateAnimBg="0"/>
      <p:bldP spid="41989" grpId="0" autoUpdateAnimBg="0"/>
      <p:bldP spid="4199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A1A0841-A216-4C38-3702-A5893D298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l-GR"/>
              <a:t>Πρόταση switch (1) 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9C98B552-3180-FEAB-85B8-D973EFE4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189038"/>
            <a:ext cx="6096000" cy="447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switch</a:t>
            </a:r>
            <a:r>
              <a:rPr lang="en-US" altLang="el-GR" b="1">
                <a:latin typeface="Times New Roman" panose="02020603050405020304" pitchFamily="18" charset="0"/>
              </a:rPr>
              <a:t> </a:t>
            </a:r>
            <a:r>
              <a:rPr lang="en-US" altLang="el-GR">
                <a:latin typeface="Times New Roman" panose="02020603050405020304" pitchFamily="18" charset="0"/>
              </a:rPr>
              <a:t>(έκφραση)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>
                <a:latin typeface="Times New Roman" panose="02020603050405020304" pitchFamily="18" charset="0"/>
              </a:rPr>
              <a:t>  </a:t>
            </a:r>
            <a:r>
              <a:rPr lang="el-GR" altLang="el-GR">
                <a:latin typeface="Times New Roman" panose="02020603050405020304" pitchFamily="18" charset="0"/>
              </a:rPr>
              <a:t>	</a:t>
            </a:r>
            <a:r>
              <a:rPr lang="en-US" altLang="el-GR" b="1">
                <a:solidFill>
                  <a:schemeClr val="accent1"/>
                </a:solidFill>
                <a:latin typeface="Times New Roman" panose="02020603050405020304" pitchFamily="18" charset="0"/>
              </a:rPr>
              <a:t>case</a:t>
            </a:r>
            <a:r>
              <a:rPr lang="en-US" altLang="el-GR">
                <a:latin typeface="Times New Roman" panose="02020603050405020304" pitchFamily="18" charset="0"/>
              </a:rPr>
              <a:t> </a:t>
            </a:r>
            <a:r>
              <a:rPr lang="el-GR" altLang="el-GR">
                <a:latin typeface="Times New Roman" panose="02020603050405020304" pitchFamily="18" charset="0"/>
              </a:rPr>
              <a:t>σταθερά έκφραση </a:t>
            </a:r>
            <a:r>
              <a:rPr lang="en-US" altLang="el-GR">
                <a:latin typeface="Times New Roman" panose="02020603050405020304" pitchFamily="18" charset="0"/>
              </a:rPr>
              <a:t>1 : 	</a:t>
            </a:r>
            <a:r>
              <a:rPr lang="el-GR" altLang="el-GR">
                <a:latin typeface="Times New Roman" panose="02020603050405020304" pitchFamily="18" charset="0"/>
              </a:rPr>
              <a:t>		</a:t>
            </a:r>
            <a:r>
              <a:rPr lang="en-US" altLang="el-GR">
                <a:latin typeface="Times New Roman" panose="02020603050405020304" pitchFamily="18" charset="0"/>
              </a:rPr>
              <a:t>πρόταση1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>
                <a:latin typeface="Times New Roman" panose="02020603050405020304" pitchFamily="18" charset="0"/>
              </a:rPr>
              <a:t>  </a:t>
            </a:r>
            <a:r>
              <a:rPr lang="el-GR" altLang="el-GR">
                <a:latin typeface="Times New Roman" panose="02020603050405020304" pitchFamily="18" charset="0"/>
              </a:rPr>
              <a:t>	</a:t>
            </a:r>
            <a:r>
              <a:rPr lang="en-US" altLang="el-GR" b="1">
                <a:solidFill>
                  <a:schemeClr val="accent1"/>
                </a:solidFill>
                <a:latin typeface="Times New Roman" panose="02020603050405020304" pitchFamily="18" charset="0"/>
              </a:rPr>
              <a:t>case</a:t>
            </a:r>
            <a:r>
              <a:rPr lang="en-US" altLang="el-GR">
                <a:latin typeface="Times New Roman" panose="02020603050405020304" pitchFamily="18" charset="0"/>
              </a:rPr>
              <a:t> </a:t>
            </a:r>
            <a:r>
              <a:rPr lang="el-GR" altLang="el-GR">
                <a:latin typeface="Times New Roman" panose="02020603050405020304" pitchFamily="18" charset="0"/>
              </a:rPr>
              <a:t>σταθερά έκφραση 2</a:t>
            </a:r>
            <a:r>
              <a:rPr lang="en-US" altLang="el-GR">
                <a:latin typeface="Times New Roman" panose="02020603050405020304" pitchFamily="18" charset="0"/>
              </a:rPr>
              <a:t>: 	</a:t>
            </a:r>
            <a:r>
              <a:rPr lang="el-GR" altLang="el-GR">
                <a:latin typeface="Times New Roman" panose="02020603050405020304" pitchFamily="18" charset="0"/>
              </a:rPr>
              <a:t>		</a:t>
            </a:r>
            <a:r>
              <a:rPr lang="en-US" altLang="el-GR">
                <a:latin typeface="Times New Roman" panose="02020603050405020304" pitchFamily="18" charset="0"/>
              </a:rPr>
              <a:t>πρόταση2</a:t>
            </a:r>
            <a:endParaRPr lang="el-GR" altLang="el-GR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>
                <a:latin typeface="Times New Roman" panose="02020603050405020304" pitchFamily="18" charset="0"/>
              </a:rPr>
              <a:t>	:</a:t>
            </a:r>
            <a:endParaRPr lang="en-US" altLang="el-GR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>
                <a:latin typeface="Times New Roman" panose="02020603050405020304" pitchFamily="18" charset="0"/>
              </a:rPr>
              <a:t>  </a:t>
            </a:r>
            <a:r>
              <a:rPr lang="el-GR" altLang="el-GR">
                <a:latin typeface="Times New Roman" panose="02020603050405020304" pitchFamily="18" charset="0"/>
              </a:rPr>
              <a:t>	</a:t>
            </a:r>
            <a:r>
              <a:rPr lang="en-US" altLang="el-GR" b="1">
                <a:solidFill>
                  <a:schemeClr val="folHlink"/>
                </a:solidFill>
                <a:latin typeface="Times New Roman" panose="02020603050405020304" pitchFamily="18" charset="0"/>
              </a:rPr>
              <a:t>default</a:t>
            </a:r>
            <a:r>
              <a:rPr lang="en-US" altLang="el-GR">
                <a:latin typeface="Times New Roman" panose="02020603050405020304" pitchFamily="18" charset="0"/>
              </a:rPr>
              <a:t> 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>
                <a:latin typeface="Times New Roman" panose="02020603050405020304" pitchFamily="18" charset="0"/>
              </a:rPr>
              <a:t>	</a:t>
            </a:r>
            <a:r>
              <a:rPr lang="el-GR" altLang="el-GR">
                <a:latin typeface="Times New Roman" panose="02020603050405020304" pitchFamily="18" charset="0"/>
              </a:rPr>
              <a:t>	</a:t>
            </a:r>
            <a:r>
              <a:rPr lang="en-US" altLang="el-GR">
                <a:latin typeface="Times New Roman" panose="02020603050405020304" pitchFamily="18" charset="0"/>
              </a:rPr>
              <a:t>πρόταση3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>
                <a:latin typeface="HellasTimes" charset="0"/>
              </a:rPr>
              <a:t>	</a:t>
            </a:r>
            <a:r>
              <a:rPr lang="en-US" altLang="el-GR">
                <a:latin typeface="HellasTimes" charset="0"/>
              </a:rPr>
              <a:t>}</a:t>
            </a:r>
          </a:p>
        </p:txBody>
      </p:sp>
      <p:sp>
        <p:nvSpPr>
          <p:cNvPr id="16388" name="Slide Number Placeholder 4">
            <a:extLst>
              <a:ext uri="{FF2B5EF4-FFF2-40B4-BE49-F238E27FC236}">
                <a16:creationId xmlns:a16="http://schemas.microsoft.com/office/drawing/2014/main" id="{80531248-B811-F152-1993-56AC5BDF1AF8}"/>
              </a:ext>
            </a:extLst>
          </p:cNvPr>
          <p:cNvSpPr txBox="1">
            <a:spLocks/>
          </p:cNvSpPr>
          <p:nvPr/>
        </p:nvSpPr>
        <p:spPr bwMode="auto">
          <a:xfrm>
            <a:off x="8677275" y="6524625"/>
            <a:ext cx="466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85686A-12B8-4831-BD15-97D16D29E160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l-GR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42C9635-57C4-89D7-2789-11A078627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l-GR"/>
              <a:t>Πρόταση goto</a:t>
            </a:r>
            <a:endParaRPr lang="en-GB" altLang="el-GR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80E0B9B-DA1C-8085-AA82-660BB38B9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743200"/>
            <a:ext cx="7772400" cy="4114800"/>
          </a:xfrm>
        </p:spPr>
        <p:txBody>
          <a:bodyPr/>
          <a:lstStyle/>
          <a:p>
            <a:pPr eaLnBrk="1" hangingPunct="1"/>
            <a:r>
              <a:rPr lang="el-GR" altLang="el-GR" sz="3600">
                <a:solidFill>
                  <a:schemeClr val="hlink"/>
                </a:solidFill>
                <a:latin typeface="Times New Roman" panose="02020603050405020304" pitchFamily="18" charset="0"/>
              </a:rPr>
              <a:t>καταστρέφει την δόμηση του κώδικα</a:t>
            </a:r>
          </a:p>
          <a:p>
            <a:pPr eaLnBrk="1" hangingPunct="1"/>
            <a:r>
              <a:rPr lang="el-GR" altLang="el-GR" sz="3600">
                <a:latin typeface="Times New Roman" panose="02020603050405020304" pitchFamily="18" charset="0"/>
              </a:rPr>
              <a:t>είναι πάντα εύκολο να γράφεις κώδικα χωρίς</a:t>
            </a:r>
            <a:r>
              <a:rPr lang="en-US" altLang="el-GR" sz="3600">
                <a:latin typeface="Times New Roman" panose="02020603050405020304" pitchFamily="18" charset="0"/>
              </a:rPr>
              <a:t> </a:t>
            </a:r>
            <a:r>
              <a:rPr lang="el-GR" altLang="el-GR" sz="3600">
                <a:latin typeface="Times New Roman" panose="02020603050405020304" pitchFamily="18" charset="0"/>
              </a:rPr>
              <a:t>τη χρήση της </a:t>
            </a:r>
            <a:endParaRPr lang="en-GB" altLang="el-GR" sz="3600">
              <a:latin typeface="Times New Roman" panose="02020603050405020304" pitchFamily="18" charset="0"/>
            </a:endParaRPr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B4862205-141C-0E26-CFC0-576A0837CBEC}"/>
              </a:ext>
            </a:extLst>
          </p:cNvPr>
          <p:cNvSpPr txBox="1">
            <a:spLocks/>
          </p:cNvSpPr>
          <p:nvPr/>
        </p:nvSpPr>
        <p:spPr bwMode="auto">
          <a:xfrm>
            <a:off x="8677275" y="6524625"/>
            <a:ext cx="466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0134DE-92E1-4FEA-94A8-79935FEB3309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l-GR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l-G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l-G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792</TotalTime>
  <Words>513</Words>
  <Application>Microsoft Office PowerPoint</Application>
  <PresentationFormat>On-screen Show (4:3)</PresentationFormat>
  <Paragraphs>134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Bahnschrift</vt:lpstr>
      <vt:lpstr>Courier New</vt:lpstr>
      <vt:lpstr>HellasTimes</vt:lpstr>
      <vt:lpstr>Tahoma</vt:lpstr>
      <vt:lpstr>Times New Roman</vt:lpstr>
      <vt:lpstr>Wingdings</vt:lpstr>
      <vt:lpstr>Blends</vt:lpstr>
      <vt:lpstr>PowerPoint Presentation</vt:lpstr>
      <vt:lpstr>Προτάσεις  (Statements)</vt:lpstr>
      <vt:lpstr>Είδη προτάσεων – Παράδειγμα</vt:lpstr>
      <vt:lpstr>Δομημένος Προγραμματισμός</vt:lpstr>
      <vt:lpstr>Αναγνωσιμότητα Κώδικα</vt:lpstr>
      <vt:lpstr>Προτάσεις ελέγχου ροής</vt:lpstr>
      <vt:lpstr>Πρόταση while (1)</vt:lpstr>
      <vt:lpstr>Πρόταση for</vt:lpstr>
      <vt:lpstr>Επιλογή loop</vt:lpstr>
      <vt:lpstr>Πρόταση switch (1) </vt:lpstr>
      <vt:lpstr>Πρόταση goto</vt:lpstr>
    </vt:vector>
  </TitlesOfParts>
  <Company>UOP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Γενικά για Προτάσεις</dc:title>
  <dc:creator>thrambo</dc:creator>
  <cp:lastModifiedBy>Kleanthis Thramboulidis</cp:lastModifiedBy>
  <cp:revision>35</cp:revision>
  <cp:lastPrinted>2022-11-29T17:14:06Z</cp:lastPrinted>
  <dcterms:created xsi:type="dcterms:W3CDTF">2002-03-10T17:47:39Z</dcterms:created>
  <dcterms:modified xsi:type="dcterms:W3CDTF">2025-10-11T17:37:00Z</dcterms:modified>
</cp:coreProperties>
</file>