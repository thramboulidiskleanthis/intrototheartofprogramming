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8"/>
  </p:notesMasterIdLst>
  <p:sldIdLst>
    <p:sldId id="262" r:id="rId3"/>
    <p:sldId id="911" r:id="rId4"/>
    <p:sldId id="975" r:id="rId5"/>
    <p:sldId id="974" r:id="rId6"/>
    <p:sldId id="976" r:id="rId7"/>
    <p:sldId id="972" r:id="rId8"/>
    <p:sldId id="977" r:id="rId9"/>
    <p:sldId id="979" r:id="rId10"/>
    <p:sldId id="978" r:id="rId11"/>
    <p:sldId id="981" r:id="rId12"/>
    <p:sldId id="983" r:id="rId13"/>
    <p:sldId id="984" r:id="rId14"/>
    <p:sldId id="985" r:id="rId15"/>
    <p:sldId id="986" r:id="rId16"/>
    <p:sldId id="987" r:id="rId17"/>
    <p:sldId id="999" r:id="rId18"/>
    <p:sldId id="988" r:id="rId19"/>
    <p:sldId id="980" r:id="rId20"/>
    <p:sldId id="990" r:id="rId21"/>
    <p:sldId id="991" r:id="rId22"/>
    <p:sldId id="992" r:id="rId23"/>
    <p:sldId id="995" r:id="rId24"/>
    <p:sldId id="993" r:id="rId25"/>
    <p:sldId id="997" r:id="rId26"/>
    <p:sldId id="998" r:id="rId2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412" autoAdjust="0"/>
    <p:restoredTop sz="93969" autoAdjust="0"/>
  </p:normalViewPr>
  <p:slideViewPr>
    <p:cSldViewPr snapToGrid="0">
      <p:cViewPr varScale="1">
        <p:scale>
          <a:sx n="67" d="100"/>
          <a:sy n="67" d="100"/>
        </p:scale>
        <p:origin x="43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C587-13AD-0AC3-F832-2B41FDA71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99C51617-DBCB-002E-028B-D92668ACA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8A7D6180-706D-9B7B-F2F9-F0AF2D5F2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7FB4202-9F8F-3E2F-0448-41544215A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98483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5A744-4790-1448-B28A-9C5A03F1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8108417-DD27-1BEA-4468-E2832BC49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9AE508F-FAE4-02E7-FAA5-BA93BCDD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5DF28DF7-EBBA-D90D-604B-35C82ED18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2537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BC05-20E9-4085-37A9-32EB9BBB8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6D30F12-8173-D84F-CE6A-07A2FFDE6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5C14E72-40C3-6DC8-BE8F-81F4F9233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4E55CCE-26AD-7D16-83EF-81D00152A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08923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A59F4-0C8F-919D-7ED7-D5E78E548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74ADB08D-FA80-2DB1-33A3-BCE595ADB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0B380E3E-5D5B-EA95-B756-0D7894E29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D3363B7-BE86-8CFA-5070-F9E28E60B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2872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0FB71-AB9E-30BB-71E2-46B2F1B1A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B693C80-3C6C-8DEB-82B8-49DE92688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369BBFC-9627-B55B-C7B4-6393B5474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BEC7E23-60C2-5929-DAB0-899E1931E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68300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9B99-6068-7C71-EEF1-A2690C0C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1C1FB74-0EA5-69BF-4B41-EFA8D9D31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087C284-E0E5-B3B5-223F-EC85BEB03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01CC3E7-8ACA-DC44-40C9-6A2172EE1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7181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9818-B155-CBF5-0D18-F4D7B738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4681C9B-0664-CD69-B4ED-9CD1EAB3C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0C1EE13-8B24-2C84-6BAA-52AA14912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DD52FFF-A36C-CEE2-8A8F-22B31B6A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655313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9B446-9ACA-A4AA-642D-C535DBE9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C9E1BED-8A47-368C-B05A-AE7EBADAD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F34FAC6-D865-C743-FAEA-84EEE6557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9BD51FA-CCD4-613F-40C6-61F4B8658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167764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8719-7D4A-B286-C941-00467C69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A34F326-9A33-7120-9A27-6E2A7AFF0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45B8D32-FDBE-A76B-86F3-95B6DF922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229F9F7-4D3C-5B3A-88EE-2B4374E4C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4535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A660C-16D7-B67D-FDD8-429EF561C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4A7AC9E-7C7A-CE4A-B08C-E8D2EE797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42F0304D-FEEB-78EE-1388-151B7D60C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058B0B2-422B-5EDE-A953-1B9853D4C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65053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9C667-E028-2FCD-42D0-EC4A2F63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01B4FD6-C95A-7986-7751-B2C53FDBD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CF4FC0B-FD55-14E6-43D6-51001AB28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D2690E3-05F5-D104-FF58-A8930D3F7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91940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195C-DE1A-0A7E-8553-17722286E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9DE4306-0AB2-2B4A-9F73-BCC6CAA0F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9DFE3A4-448A-E61C-BB4B-96604D65C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4381C1D-67EA-ADF9-E7E2-6A4A4160A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65612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2E337-9D40-7B84-1835-D85F821D0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FDBA503-3822-C422-50FA-2E58E0306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0A0BCC3-7D8A-931F-3D4B-FD62B5F23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611B996-47C6-A10F-6EA2-12B722683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28879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EAFC-B16A-2718-4E66-8FEC4D544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BC45BA9-9198-13FF-2AF1-E31AD98E6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7C60A38B-9139-5E26-CFDB-43808AD7D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ED524DCA-8324-F68C-1371-AE207603E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55435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D7F09-C5E9-FB32-AEA3-EDD6B303B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B3E8E0A-2F85-AB90-F1C6-4B88BB1F6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C76A71CB-3994-CD62-B3F4-EEA81AE0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C7942E2-CA0D-9517-2B05-8D5E718C2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12014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5CC4-4C00-A97A-A948-3718DCD5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B5EE57B-7C59-B7B3-F2D0-5B911FB2B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5AD31892-884E-A77C-29C5-BE9CE875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8AA9E71-2D8C-124B-CB20-E7B8E9811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557962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DEB17-F5A7-6E69-8DD4-45569455E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B63EA1D7-41D7-E651-FAE3-03E9F473C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0A3C525-4C80-CBEE-33EB-7D32BE900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D2910AD-114D-5F43-A7AC-73C0368F4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88143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4D99D-C176-E28D-9A50-92A34CED6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5EC8B2E-7A84-6631-CD1A-F1010950D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2ADFFE1-09C9-DB9D-1FAB-EF423BE76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422A56D-04CD-0A95-9744-103886DD1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72544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6BED5-FDB7-7110-BC3A-795FF76A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E54174D0-33ED-B9CD-50A1-6A76E3879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7B526D8-D379-3D42-A367-E5D5BF8A2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0AFA2066-E21D-DCBB-6F92-1434CDCA6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763931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37521-35B7-D055-5E25-B21E3F28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02B8732-E5C2-F6E9-3E5C-888CF6397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577FC9C-8ADB-157F-E85B-02F74DB9F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74E0E58-6395-9717-78C9-D86303E1C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65332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6D9B-064A-9CBD-132C-95788CBC2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46C0F21-1458-8078-DFD6-63C96AC81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DC1942B-AF18-A9FA-73EE-7311F0FCC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76C08DF-B45C-269D-5117-7CF1F14BAB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67869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393E8-2FD2-A34B-880B-28543231F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F2AAB153-8AB5-71D4-4416-BBB7C00EC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DA3E51D-9B30-64C4-04A8-D9C02D5C4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C759E55-0A81-6721-48B6-CAC274997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48627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7CCD-529A-C36D-ABFF-95C55DEF5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15FC8DC8-FF80-AC29-78CD-5D7911F27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BA7731D-D9A5-AD4D-58AD-90EB41D62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BF8CCC9-B105-90AC-BA76-571577430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3866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7F7F3-3238-6586-EB9B-9A55D8BAB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9A7A249-8A3D-AA3B-D036-E2E9E3E3D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FAF52CA-C1EF-943C-3467-86BDD8E48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E2A57FC-89C5-9A93-12BE-90D764F31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25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081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14/10/2025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sites.google.com/view/i2art-of-programming/hom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/c_operators.ph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cppreference.com/w/c/language/operator_precedence.htm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8.wm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6237" y="1648085"/>
            <a:ext cx="8865031" cy="9463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16000" b="1" dirty="0">
                <a:solidFill>
                  <a:srgbClr val="60D69E"/>
                </a:solidFill>
                <a:latin typeface="Bahnschrift" panose="020B0502040204020203" pitchFamily="34" charset="0"/>
              </a:rPr>
              <a:t>Τελεστές, Εκφράσεις, Προτάσεις</a:t>
            </a:r>
            <a:endParaRPr lang="en-US" sz="16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7420598" y="2904201"/>
            <a:ext cx="4452747" cy="3644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Operators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Expressions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C00000"/>
                </a:solidFill>
                <a:latin typeface="Bahnschrift" panose="020B0502040204020203" pitchFamily="34" charset="0"/>
              </a:rPr>
              <a:t>Statements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650" y="27543"/>
            <a:ext cx="2610113" cy="37287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4554512" y="2416145"/>
            <a:ext cx="537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https://sites.google.com/view/i2art-of-programming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9565650" y="3746541"/>
            <a:ext cx="2610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Πηγή: </a:t>
            </a:r>
            <a:r>
              <a:rPr lang="el-GR" dirty="0">
                <a:hlinkClick r:id="rId4"/>
              </a:rPr>
              <a:t>Μια Εισαγωγή στην Τέχνη του Προγραμματισμού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5DB31F-5C7D-926F-D1F2-F13CCB7A9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7" y="2805341"/>
            <a:ext cx="7216687" cy="4091213"/>
          </a:xfrm>
          <a:prstGeom prst="rect">
            <a:avLst/>
          </a:prstGeom>
        </p:spPr>
      </p:pic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D08D588F-788D-76BC-9743-6F9314255FFB}"/>
              </a:ext>
            </a:extLst>
          </p:cNvPr>
          <p:cNvSpPr txBox="1">
            <a:spLocks/>
          </p:cNvSpPr>
          <p:nvPr/>
        </p:nvSpPr>
        <p:spPr>
          <a:xfrm>
            <a:off x="-16239" y="-1461"/>
            <a:ext cx="12192002" cy="16396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Εισαγωγή στην Τέχνη του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l-GR" sz="4800" b="1" dirty="0">
                <a:latin typeface="Bahnschrift" panose="020B0502040204020203" pitchFamily="34" charset="0"/>
              </a:rPr>
              <a:t>Προγραμματισμού (με τη </a:t>
            </a:r>
            <a:r>
              <a:rPr lang="en-US" sz="4800" b="1" dirty="0">
                <a:latin typeface="Bahnschrift" panose="020B0502040204020203" pitchFamily="34" charset="0"/>
              </a:rPr>
              <a:t>C</a:t>
            </a:r>
            <a:r>
              <a:rPr lang="el-GR" sz="4800" b="1" dirty="0">
                <a:latin typeface="Bahnschrift" panose="020B0502040204020203" pitchFamily="34" charset="0"/>
              </a:rPr>
              <a:t>)</a:t>
            </a:r>
            <a:endParaRPr lang="en-US" sz="3200" b="1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A465-FD08-1A1D-B033-573F5663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8983A4-8924-9752-3540-744FE8E54A51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DC3CDDB-9460-7CC9-9108-943C37EC7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7F9E7D2-68EA-62C0-B24F-A283A12102E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8A300D-ECEF-45F7-2ADB-74244DD7439B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1775F-640D-BCCF-612D-91C87341055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239DB-63A9-5E03-D2DF-29A6E9914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63" y="943538"/>
            <a:ext cx="9732908" cy="4003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Τελεστής (</a:t>
            </a:r>
            <a:r>
              <a:rPr lang="en-US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Operator)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kern="0" dirty="0"/>
              <a:t>Κατηγορίες Τελεστών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kern="0" dirty="0"/>
              <a:t>Προτεραιότητα - </a:t>
            </a:r>
            <a:r>
              <a:rPr lang="el-GR" altLang="el-GR" kern="0" dirty="0" err="1"/>
              <a:t>Προσεταιριστικότητα</a:t>
            </a:r>
            <a:r>
              <a:rPr lang="el-GR" altLang="el-GR" kern="0" dirty="0"/>
              <a:t> τελεστών</a:t>
            </a:r>
            <a:endParaRPr lang="en-US" altLang="el-GR" kern="0" dirty="0"/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Έκφραση</a:t>
            </a:r>
            <a:r>
              <a:rPr lang="en-US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(expression)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kern="0" dirty="0"/>
              <a:t>Απλές – Σύνθετες Εκφράσεις</a:t>
            </a:r>
            <a:endParaRPr lang="en-US" kern="0" dirty="0"/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kern="0" dirty="0"/>
              <a:t>Υπολογισμός τιμής έκφρασης </a:t>
            </a:r>
          </a:p>
          <a:p>
            <a:pPr lvl="1"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kern="0" dirty="0"/>
              <a:t>Συμβολισμοί σχηματισμού εκφράσεων</a:t>
            </a: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</a:t>
            </a:r>
            <a:r>
              <a:rPr lang="en-US" alt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 (Statement)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Τελεστές της </a:t>
            </a:r>
            <a:r>
              <a:rPr lang="en-US" b="1" dirty="0">
                <a:solidFill>
                  <a:srgbClr val="F9853D"/>
                </a:solidFill>
                <a:latin typeface="Bahnschrift" panose="020B0502040204020203" pitchFamily="34" charset="0"/>
              </a:rPr>
              <a:t>C</a:t>
            </a:r>
            <a:endParaRPr 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endParaRPr lang="en-US" b="1" dirty="0">
              <a:solidFill>
                <a:srgbClr val="F9853D"/>
              </a:solidFill>
              <a:latin typeface="Bahnschrift" panose="020B0502040204020203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070C0"/>
              </a:buClr>
            </a:pPr>
            <a:r>
              <a:rPr lang="el-GR" b="1" dirty="0">
                <a:solidFill>
                  <a:srgbClr val="F9853D"/>
                </a:solidFill>
                <a:latin typeface="Bahnschrift" panose="020B0502040204020203" pitchFamily="34" charset="0"/>
              </a:rPr>
              <a:t>Μετατροπές Τύπων</a:t>
            </a:r>
            <a:endParaRPr lang="el-GR" alt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EEF96FA-AEA3-A737-B1F5-6EAA14E0A3B6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82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A4F0F-6993-A0F3-451C-9542E400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7C3AFA-32A0-7DC2-1D19-7A6CCE4D5248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E72B11B-D583-6EC6-7530-E3ED5B16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Τελεστής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Operator)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B87C42B-F205-74EA-7D1D-68D7A603502B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9FD39-7B25-F3CA-FF3A-6424AD21AE9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8B463-B1B6-EF3D-C4A7-CE4554CE71D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B44C0C0-2650-F6E5-617D-95C3C0060F55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40C8D3-71DC-D002-647D-1A3EBF70A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48" y="2304229"/>
            <a:ext cx="3499883" cy="2774859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953E6C62-1E38-2552-4006-2A95B65EE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359" y="943538"/>
            <a:ext cx="7689933" cy="456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lnSpc>
                <a:spcPct val="90000"/>
              </a:lnSpc>
              <a:buClr>
                <a:srgbClr val="3333CC"/>
              </a:buClr>
            </a:pPr>
            <a:r>
              <a:rPr lang="el-GR" altLang="el-GR" sz="3600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είναι </a:t>
            </a:r>
          </a:p>
          <a:p>
            <a:pPr lvl="1" eaLnBrk="1" hangingPunct="1">
              <a:lnSpc>
                <a:spcPct val="90000"/>
              </a:lnSpc>
              <a:buClr>
                <a:srgbClr val="3333CC"/>
              </a:buClr>
            </a:pPr>
            <a:r>
              <a:rPr lang="el-GR" altLang="el-GR" sz="3200" kern="0" dirty="0">
                <a:latin typeface="Times New Roman" panose="02020603050405020304" pitchFamily="18" charset="0"/>
              </a:rPr>
              <a:t>ένα σύμβολο ή  μια λέξη της γλώσσας προγραμματισμού.</a:t>
            </a:r>
          </a:p>
          <a:p>
            <a:pPr lvl="0" eaLnBrk="1" hangingPunct="1">
              <a:lnSpc>
                <a:spcPct val="90000"/>
              </a:lnSpc>
              <a:buClr>
                <a:srgbClr val="3333CC"/>
              </a:buClr>
            </a:pPr>
            <a:r>
              <a:rPr lang="el-GR" altLang="el-GR" sz="3600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αναπαριστά </a:t>
            </a:r>
          </a:p>
          <a:p>
            <a:pPr lvl="1" eaLnBrk="1" hangingPunct="1">
              <a:lnSpc>
                <a:spcPct val="90000"/>
              </a:lnSpc>
              <a:buClr>
                <a:srgbClr val="3333CC"/>
              </a:buClr>
            </a:pPr>
            <a:r>
              <a:rPr lang="el-GR" altLang="el-GR" sz="3200" kern="0" dirty="0">
                <a:latin typeface="Times New Roman" panose="02020603050405020304" pitchFamily="18" charset="0"/>
              </a:rPr>
              <a:t>συγκεκριμένη διεργασία, που εκτελείται πάνω σε ένα ή περισσότερα δεδομένα (</a:t>
            </a:r>
            <a:r>
              <a:rPr lang="el-GR" altLang="el-GR" sz="3200" kern="0" dirty="0" err="1">
                <a:latin typeface="Times New Roman" panose="02020603050405020304" pitchFamily="18" charset="0"/>
              </a:rPr>
              <a:t>τελεστέους</a:t>
            </a:r>
            <a:r>
              <a:rPr lang="el-GR" altLang="el-GR" sz="3200" kern="0" dirty="0">
                <a:latin typeface="Times New Roman" panose="02020603050405020304" pitchFamily="18" charset="0"/>
              </a:rPr>
              <a:t> -</a:t>
            </a:r>
            <a:r>
              <a:rPr lang="el-GR" altLang="el-GR" sz="3200" kern="0" dirty="0" err="1">
                <a:latin typeface="Times New Roman" panose="02020603050405020304" pitchFamily="18" charset="0"/>
              </a:rPr>
              <a:t>operands</a:t>
            </a:r>
            <a:r>
              <a:rPr lang="el-GR" altLang="el-GR" sz="3200" kern="0" dirty="0">
                <a:latin typeface="Times New Roman" panose="02020603050405020304" pitchFamily="18" charset="0"/>
              </a:rPr>
              <a:t>)</a:t>
            </a:r>
          </a:p>
          <a:p>
            <a:pPr lvl="0" eaLnBrk="1" hangingPunct="1">
              <a:lnSpc>
                <a:spcPct val="90000"/>
              </a:lnSpc>
              <a:buClr>
                <a:srgbClr val="3333CC"/>
              </a:buClr>
            </a:pPr>
            <a:r>
              <a:rPr lang="el-GR" altLang="el-GR" sz="3600" b="1" kern="0" dirty="0">
                <a:solidFill>
                  <a:srgbClr val="C00000"/>
                </a:solidFill>
                <a:latin typeface="Times New Roman" panose="02020603050405020304" pitchFamily="18" charset="0"/>
              </a:rPr>
              <a:t>χρησιμοποιείται </a:t>
            </a:r>
          </a:p>
          <a:p>
            <a:pPr lvl="1" eaLnBrk="1" hangingPunct="1">
              <a:lnSpc>
                <a:spcPct val="90000"/>
              </a:lnSpc>
              <a:buClr>
                <a:srgbClr val="3333CC"/>
              </a:buClr>
            </a:pPr>
            <a:r>
              <a:rPr lang="el-GR" altLang="el-GR" sz="3200" kern="0" dirty="0">
                <a:latin typeface="Times New Roman" panose="02020603050405020304" pitchFamily="18" charset="0"/>
              </a:rPr>
              <a:t>για τον σχηματισμό εκφράσεων (</a:t>
            </a:r>
            <a:r>
              <a:rPr lang="el-GR" altLang="el-GR" sz="3200" kern="0" dirty="0" err="1">
                <a:latin typeface="Times New Roman" panose="02020603050405020304" pitchFamily="18" charset="0"/>
              </a:rPr>
              <a:t>expressions</a:t>
            </a:r>
            <a:r>
              <a:rPr lang="el-GR" altLang="el-GR" sz="3200" kern="0" dirty="0">
                <a:latin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151123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44B7B-7F6A-03CA-6784-7AB45A267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EAFEBA4-C13A-151A-AD4F-8C6E38E7189D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7ED57E-E1F6-8CAE-4EF9-42C034B6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Έκφραση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Expression)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537AC24-875B-23EF-E544-959A598B144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5C2BF6-82CC-8888-23A4-03A88CD5E46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42B92F-D9A5-DF53-CC1D-81C52237334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59C1E6D-99BD-9AE5-CE1F-4FF0859B8204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388AA24-78ED-DB79-F7EC-82DD263D9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85" y="1145163"/>
            <a:ext cx="7689933" cy="456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Είναι</a:t>
            </a:r>
            <a:r>
              <a:rPr kumimoji="0" lang="el-GR" altLang="el-GR" sz="3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l-GR" sz="36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lvl="1" indent="-342900" eaLnBrk="1" hangingPunct="1">
              <a:lnSpc>
                <a:spcPct val="90000"/>
              </a:lnSpc>
              <a:buClr>
                <a:srgbClr val="3333CC"/>
              </a:buClr>
              <a:buSzPct val="60000"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ένα τμήμα πηγαίου κώδικα που παράγει μια προσωρινή τιμή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αποτελείται</a:t>
            </a:r>
            <a:r>
              <a:rPr kumimoji="0" lang="el-GR" altLang="el-GR" sz="36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endParaRPr kumimoji="0" lang="en-US" altLang="el-GR" sz="36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lvl="1" indent="-342900" eaLnBrk="1" hangingPunct="1">
              <a:lnSpc>
                <a:spcPct val="90000"/>
              </a:lnSpc>
              <a:buClr>
                <a:srgbClr val="3333CC"/>
              </a:buClr>
              <a:buSzPct val="60000"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από ένα συνδυασμό </a:t>
            </a:r>
            <a:r>
              <a:rPr kumimoji="0" lang="el-GR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τελεστέων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και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τελεστών 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(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optional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)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Έχει ως δομικά στοιχεία</a:t>
            </a:r>
            <a:endParaRPr lang="en-US" altLang="el-GR" sz="3600" kern="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 indent="-342900" eaLnBrk="1" hangingPunct="1">
              <a:lnSpc>
                <a:spcPct val="90000"/>
              </a:lnSpc>
              <a:buClr>
                <a:srgbClr val="3333CC"/>
              </a:buClr>
              <a:buSzPct val="60000"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σταθερές, </a:t>
            </a:r>
            <a:endParaRPr lang="en-US" altLang="el-GR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 indent="-342900" eaLnBrk="1" hangingPunct="1">
              <a:lnSpc>
                <a:spcPct val="90000"/>
              </a:lnSpc>
              <a:buClr>
                <a:srgbClr val="3333CC"/>
              </a:buClr>
              <a:buSzPct val="60000"/>
            </a:pPr>
            <a:r>
              <a:rPr lang="el-GR" altLang="el-GR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μεταβλητές, και </a:t>
            </a:r>
            <a:endParaRPr lang="en-US" altLang="el-GR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R="0" lvl="1" indent="-342900" eaLnBrk="1" hangingPunct="1">
              <a:lnSpc>
                <a:spcPct val="90000"/>
              </a:lnSpc>
              <a:buClr>
                <a:srgbClr val="3333CC"/>
              </a:buClr>
              <a:buSzPct val="60000"/>
              <a:tabLst/>
              <a:defRPr/>
            </a:pPr>
            <a:r>
              <a:rPr lang="el-GR" altLang="el-GR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κλήσεις συναρτήσεων.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6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75EE1-7B14-AFE2-5BFB-E54A7ECBE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218" y="2578208"/>
            <a:ext cx="3874578" cy="213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7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3467-7A36-947F-50C3-25C6E27EB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7B994DE-2B6D-0F40-7057-0E3221FDCEC9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8DEF9AB-A457-8E75-C871-C17E07935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Παραδείγματα τελεστών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A0D09DE0-8179-C35F-31DF-A16B3F669C2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01896-7BD7-C0C3-5490-7CDFC3D5E97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8A1CD7-15F0-98C4-0FB2-48B8CFE217E9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F8B0E3E-F589-A049-ACFA-C8D6B1854588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3E3DA7-814F-4CF7-9F06-EAED9320A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63" y="1058027"/>
            <a:ext cx="9496610" cy="4871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Ο τελεστής </a:t>
            </a:r>
            <a:r>
              <a:rPr kumimoji="0" lang="el-GR" altLang="el-GR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kumimoji="0" lang="el-GR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endParaRPr kumimoji="0" lang="el-GR" altLang="el-GR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όταν εφαρμόζεται σε δύο τελεστέους, </a:t>
            </a: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αναπαριστά την διεργασία του πολλαπλασιασμού</a:t>
            </a: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num1 * num3</a:t>
            </a:r>
            <a:endParaRPr kumimoji="0" lang="el-GR" altLang="el-GR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Όταν εφαρμόζεται σε ένα τελεστέο που είναι δείκτης μας επιτρέπει να αναφερθούμε στο περιεχόμενο  που δείχνει ο δείκτης </a:t>
            </a:r>
            <a:r>
              <a:rPr kumimoji="0" lang="el-GR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*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num_ptr</a:t>
            </a:r>
            <a:endParaRPr kumimoji="0" lang="el-GR" altLang="el-GR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Ο τελεστής </a:t>
            </a:r>
            <a:r>
              <a:rPr kumimoji="0" lang="el-GR" altLang="el-GR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&amp;</a:t>
            </a:r>
            <a:r>
              <a:rPr kumimoji="0" lang="el-GR" altLang="el-GR" sz="3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εφαρμόζεται σε μία μεταβλητή και η προκύπτουσα έκφραση έχει ως τιμή την διεύθυνση μνήμης στην οποία αναφέρεται η μεταβλητή</a:t>
            </a:r>
            <a:endParaRPr kumimoji="0" lang="en-US" altLang="el-GR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AU" altLang="el-GR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&amp;num1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63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81FE0-A32A-B7DB-2568-ECCA38BDB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40B076A-A2C7-841E-1650-8C1C277A5589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EDC127D-B49C-170A-980D-E7377483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Κατηγορίες Τελεστών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E95390F8-F2C1-EDE7-3C28-D6C808E4643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EDFDEF-12E8-C070-714C-B762F1A3E08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4E6DE4-C2E6-645D-FEA1-B2FC24BD1314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B496DF3-670A-2590-900A-A03FFF90886E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9EA263E-30E2-3EAE-8AD9-FFCDA35F1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0" y="943538"/>
            <a:ext cx="5108321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ανάλογα με τον αριθμό των </a:t>
            </a:r>
            <a:r>
              <a:rPr kumimoji="0" lang="el-GR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τελεστέων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στους οποίους δρουν, σε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μοναδιαίους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unary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 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π.χ.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-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 (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cast)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Tahom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δυαδικούς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binary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   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π.χ.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+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-</a:t>
            </a: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Tahom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τριαδικούς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ternary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  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π.χ.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? 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0EE56E9-4AE9-03B2-9390-6A0AED9E5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6330" y="943538"/>
            <a:ext cx="537008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ανάλογα με την διεργασία που εκτελούν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Αριθμητικοί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+ 	- 	* 	/ 	%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Λογικοί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&amp;&amp; 	||	!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Συσχετιστικοί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&gt; 	&gt;= 	== 	!=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Διαχείρισης ψηφίων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&gt;&gt;	&amp;	|	^	~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</a:rPr>
              <a:t>Διαχείρισης μνήμης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&amp;		[]	.	-&gt;</a:t>
            </a:r>
            <a:endParaRPr kumimoji="0" lang="en-US" altLang="el-GR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FA6EC-D900-B38F-283A-801B944C8CE1}"/>
              </a:ext>
            </a:extLst>
          </p:cNvPr>
          <p:cNvSpPr txBox="1"/>
          <p:nvPr/>
        </p:nvSpPr>
        <p:spPr>
          <a:xfrm>
            <a:off x="8160327" y="5546811"/>
            <a:ext cx="4269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1400" dirty="0">
                <a:solidFill>
                  <a:srgbClr val="000000"/>
                </a:solidFill>
                <a:latin typeface="Tahoma" panose="020B0604030504040204" pitchFamily="34" charset="0"/>
                <a:hlinkClick r:id="rId3"/>
              </a:rPr>
              <a:t>https://www.w3schools.com/c/c_operators.php</a:t>
            </a:r>
            <a:endParaRPr lang="en-GB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3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7DE2-1CBA-8709-6BF3-98F4B13E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5A04E57-39C3-2ADD-665A-CEF35DA5C56A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F014163-12B8-F68B-417E-421AE9E5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Απλές – Σύνθετες Εκφράσεις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80EFE1C3-2564-189B-719D-44C2E43AC63F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0A1EBF-5E08-C420-DD89-03BA100FF2C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D5015A-C073-E387-083E-015E8448686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E4911E5-602F-D4C8-E24D-8DD61D905365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6C5E0D-EB8A-5739-BB7E-B8FA356D1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1" y="1046420"/>
            <a:ext cx="1079269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lang="en-US" altLang="el-GR" sz="2800" b="1" kern="0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kumimoji="0" lang="el-GR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πλές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εκφράσεις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 δομικά στοιχεία (</a:t>
            </a:r>
            <a:r>
              <a:rPr kumimoji="0" lang="el-GR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τελεστέοι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αποτελούν από μόνα τους εκφράσεις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1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2C09403-68AE-E6DC-9A09-3074DDDD7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539" y="4552609"/>
            <a:ext cx="3962400" cy="1945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1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12 * 20</a:t>
            </a:r>
          </a:p>
          <a:p>
            <a:pPr marL="0" marR="0" lvl="1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count + 1	 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        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</a:p>
          <a:p>
            <a:pPr marL="0" marR="0" lvl="1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num</a:t>
            </a: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 / (count + 1)	</a:t>
            </a:r>
          </a:p>
          <a:p>
            <a:pPr marL="0" marR="0" lvl="1" indent="0" defTabSz="91440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func</a:t>
            </a: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() / 4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30EB185A-F7D9-2ACC-494B-A24FD353A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574" y="2247199"/>
            <a:ext cx="6324600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1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8		 count</a:t>
            </a:r>
            <a:r>
              <a:rPr kumimoji="0" lang="en-US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GB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func</a:t>
            </a:r>
            <a:r>
              <a:rPr kumimoji="0" lang="en-GB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()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 </a:t>
            </a: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n-GB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endParaRPr kumimoji="0" lang="en-GB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B124CB1-A3ED-44A8-1185-1DF08109A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39208"/>
            <a:ext cx="9344906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fontAlgn="base">
              <a:lnSpc>
                <a:spcPct val="90000"/>
              </a:lnSpc>
              <a:spcAft>
                <a:spcPct val="0"/>
              </a:spcAft>
              <a:buClr>
                <a:srgbClr val="3333CC"/>
              </a:buClr>
            </a:pPr>
            <a:r>
              <a:rPr lang="el-GR" altLang="el-GR" sz="2800" b="1" dirty="0">
                <a:solidFill>
                  <a:srgbClr val="C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Σύνθετες εκφράσεις</a:t>
            </a:r>
            <a:r>
              <a:rPr lang="el-GR" altLang="el-GR" sz="2800" dirty="0">
                <a:solidFill>
                  <a:srgbClr val="C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en-US" altLang="el-GR" sz="2800" dirty="0">
              <a:solidFill>
                <a:srgbClr val="C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base">
              <a:lnSpc>
                <a:spcPct val="90000"/>
              </a:lnSpc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altLang="el-GR" sz="2800" dirty="0">
                <a:solidFill>
                  <a:srgbClr val="3333CC"/>
                </a:solidFill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l-GR" altLang="el-GR" sz="280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Σχηματίζονται συνδυάζοντας τα δομικά στοιχεία με τους τελεστές 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  <a:buClr>
                <a:srgbClr val="3333CC"/>
              </a:buClr>
              <a:buFont typeface="Wingdings" panose="05000000000000000000" pitchFamily="2" charset="2"/>
              <a:buNone/>
            </a:pPr>
            <a:endParaRPr lang="en-GB" altLang="el-GR" dirty="0">
              <a:solidFill>
                <a:srgbClr val="000000"/>
              </a:solidFill>
              <a:latin typeface="Times New Roman Greek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ABC576-9A71-C229-DFBB-AA66A03E4547}"/>
              </a:ext>
            </a:extLst>
          </p:cNvPr>
          <p:cNvSpPr txBox="1"/>
          <p:nvPr/>
        </p:nvSpPr>
        <p:spPr>
          <a:xfrm>
            <a:off x="3704281" y="2766260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800" dirty="0">
                <a:solidFill>
                  <a:srgbClr val="000000"/>
                </a:solidFill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3F1995-76CB-9EFF-45D7-A79C181CA798}"/>
              </a:ext>
            </a:extLst>
          </p:cNvPr>
          <p:cNvSpPr txBox="1"/>
          <p:nvPr/>
        </p:nvSpPr>
        <p:spPr>
          <a:xfrm>
            <a:off x="5593012" y="2686035"/>
            <a:ext cx="2159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Η τιμή της μεταβλητής</a:t>
            </a:r>
            <a:endParaRPr lang="en-GB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96171-F14C-DD08-484C-5626ECB2C86F}"/>
              </a:ext>
            </a:extLst>
          </p:cNvPr>
          <p:cNvSpPr txBox="1"/>
          <p:nvPr/>
        </p:nvSpPr>
        <p:spPr>
          <a:xfrm>
            <a:off x="8255267" y="2709738"/>
            <a:ext cx="2878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Η επιστρεφόμενη τιμή της συνάρτησης</a:t>
            </a:r>
            <a:endParaRPr lang="en-GB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8C873A-0E09-6EB6-1FB6-EADCA6E0A018}"/>
              </a:ext>
            </a:extLst>
          </p:cNvPr>
          <p:cNvSpPr txBox="1"/>
          <p:nvPr/>
        </p:nvSpPr>
        <p:spPr>
          <a:xfrm>
            <a:off x="447050" y="2816339"/>
            <a:ext cx="263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τιμή της έκφρασης</a:t>
            </a:r>
            <a:endParaRPr lang="en-GB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65A6206-C4D9-0D32-6847-8CDFAF40A13A}"/>
              </a:ext>
            </a:extLst>
          </p:cNvPr>
          <p:cNvSpPr/>
          <p:nvPr/>
        </p:nvSpPr>
        <p:spPr bwMode="auto">
          <a:xfrm>
            <a:off x="2851442" y="2900672"/>
            <a:ext cx="540195" cy="278612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C92965-D8C8-4E59-9E3F-298600B11AB1}"/>
              </a:ext>
            </a:extLst>
          </p:cNvPr>
          <p:cNvSpPr txBox="1"/>
          <p:nvPr/>
        </p:nvSpPr>
        <p:spPr>
          <a:xfrm>
            <a:off x="1523999" y="2253389"/>
            <a:ext cx="1243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l-GR" sz="2000" dirty="0">
                <a:solidFill>
                  <a:srgbClr val="000000"/>
                </a:solidFill>
                <a:latin typeface="Tahoma" panose="020B0604030504040204" pitchFamily="34" charset="0"/>
              </a:rPr>
              <a:t>Έκφραση</a:t>
            </a:r>
            <a:endParaRPr lang="en-GB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0921A36-3778-954E-0505-D13CA10F9A8E}"/>
              </a:ext>
            </a:extLst>
          </p:cNvPr>
          <p:cNvSpPr/>
          <p:nvPr/>
        </p:nvSpPr>
        <p:spPr bwMode="auto">
          <a:xfrm>
            <a:off x="2843648" y="2357766"/>
            <a:ext cx="540195" cy="278612"/>
          </a:xfrm>
          <a:prstGeom prst="righ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90A200BB-7603-787F-CCF2-7CC2DA305E1F}"/>
              </a:ext>
            </a:extLst>
          </p:cNvPr>
          <p:cNvSpPr/>
          <p:nvPr/>
        </p:nvSpPr>
        <p:spPr bwMode="auto">
          <a:xfrm>
            <a:off x="7789640" y="4603149"/>
            <a:ext cx="2878360" cy="1328023"/>
          </a:xfrm>
          <a:prstGeom prst="wedgeRoundRectCallout">
            <a:avLst>
              <a:gd name="adj1" fmla="val -66426"/>
              <a:gd name="adj2" fmla="val 78557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Περιγράψτε την τιμή της κάθε έκφρασης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44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F621-ECAB-7C1C-1CA3-F127C863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15C9A134-F4B2-802A-070F-C66AEE71E589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4F41F8E-2C09-D795-4E17-6955505B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Συμβολισμοί σχηματισμού εκφράσεων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5971252-06E8-BD81-B5D1-E777BD851CF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FA3CC8-B353-054D-C486-B8BE445EAA8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15C81-CE59-9165-181C-1DB4B358F8CF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8D70CD19-892E-F32C-8FEF-7B999456E0CD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1529A8-A38A-FE12-5E04-56FF1E7E4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871" y="1333500"/>
            <a:ext cx="10242874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σημειολογία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ένθεσης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ή ένθετου τελεστή (</a:t>
            </a:r>
            <a:r>
              <a:rPr kumimoji="0" lang="el-GR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infix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notation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y * y - 2 * x * z</a:t>
            </a:r>
            <a:endParaRPr kumimoji="0" lang="el-GR" altLang="el-GR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σημειολογία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επίθεσης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ή παρελκόμενου  τελεστή (</a:t>
            </a:r>
            <a:r>
              <a:rPr kumimoji="0" lang="el-GR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postfix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notation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y </a:t>
            </a:r>
            <a:r>
              <a:rPr kumimoji="0" lang="el-GR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y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 * 2 x * z * -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σημειολογία </a:t>
            </a: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πρόθεσης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ή προπορευόμενου τελεστή (</a:t>
            </a:r>
            <a:r>
              <a:rPr kumimoji="0" lang="el-GR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prefix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altLang="el-GR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notation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- * y </a:t>
            </a:r>
            <a:r>
              <a:rPr kumimoji="0" lang="el-GR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y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 * * 2 x z</a:t>
            </a:r>
          </a:p>
        </p:txBody>
      </p:sp>
    </p:spTree>
    <p:extLst>
      <p:ext uri="{BB962C8B-B14F-4D97-AF65-F5344CB8AC3E}">
        <p14:creationId xmlns:p14="http://schemas.microsoft.com/office/powerpoint/2010/main" val="7289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4C612-5133-60EA-002F-D47695D9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BE168BC6-00C1-5103-E9AB-47DD4B895612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D326810-A0AC-C83C-21EF-35B289B8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Τιμή έκφρασης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0A67D238-5F6B-A46E-2823-F4463EAB1AFC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A6E668-C226-88CD-E363-CD60AF0FD0A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3473DA-DF19-1E96-3DBC-BED2B592320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98C58C0-E95A-752F-F4D5-046B89419BC0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EC7F2-32DB-75C6-F498-41C5DB8DB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113" y="106882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4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κάθε έκφραση έχει μια τιμή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sz="40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έκφρ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αση		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τιμή</a:t>
            </a: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-4 + 6 			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2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c=3+8			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11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5&gt;3			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true (1)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8&lt;1			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false (0)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6 + (c=3+8)		17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(5&gt; 1) &amp;&amp; (6&gt;7)	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	?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GB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45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B195B-4451-53C1-4EB2-64BC2A7C4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EDFB3CE-3A84-138C-AF2C-43A468E7EB9D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9C6F622-86D2-DFC5-585D-DF1BEC59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Υπολογισμός απλής έκφρασης 		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07A720E-16F7-4106-FA6E-6BC1B0590915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2980A-825F-F676-2B02-1A374172614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E2F2D1-4BBE-71E0-9ABB-25F11193AC0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F1F98D1-B16C-6486-1B2B-B269C504CCBE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8DD6A0-D4BD-970F-FD63-F88FFDD08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623038"/>
            <a:ext cx="9428457" cy="1766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εφαρμοστική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σειρά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</a:t>
            </a:r>
            <a:r>
              <a:rPr kumimoji="0" lang="en-GB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applicative order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Υπολογίζονται οι εκφρ1 και εκφρ2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Εφαρμόζεται ο τελεστής	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64C328E6-BB83-D8C9-C9C4-A2B30627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30126"/>
            <a:ext cx="783361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4000" b="0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εκφρ1 </a:t>
            </a:r>
            <a:r>
              <a:rPr kumimoji="0" lang="el-GR" altLang="el-GR" sz="4000" b="1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τελεστής</a:t>
            </a:r>
            <a:r>
              <a:rPr kumimoji="0" lang="el-GR" altLang="el-GR" sz="4000" b="0" i="1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  εκφρ2</a:t>
            </a:r>
            <a:endParaRPr kumimoji="0" lang="en-GB" altLang="el-GR" sz="4000" b="0" i="1" u="none" strike="noStrike" kern="0" cap="none" spc="0" normalizeH="0" baseline="0" noProof="0" dirty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7" name="Picture 8" descr="BD06663_">
            <a:extLst>
              <a:ext uri="{FF2B5EF4-FFF2-40B4-BE49-F238E27FC236}">
                <a16:creationId xmlns:a16="http://schemas.microsoft.com/office/drawing/2014/main" id="{514F2605-F074-BED5-72B0-0CB38120B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89" y="787754"/>
            <a:ext cx="2743200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774DBD-BB63-F44D-6C12-4C1ABCC09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500287"/>
            <a:ext cx="10632346" cy="27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5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350E-DBCB-7181-2EE7-A41261AB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396DB0BD-264B-5DF6-B20D-2DCD110F2578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2D6BA23-24CB-427B-2A15-FD8A8783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Υπολογισμός σύνθετης έκφρασης 	1/2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B899109-2D1E-ACF7-C562-F1669B88F18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88D36-A7FB-5248-54C2-16E2E3FC1F5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CF3023-BF16-30EA-C524-2D1F3795A5E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F199DDA-5451-228D-FD07-776B01CE4D51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DD7FAAC2-4B75-FE91-DA43-CBA96D09D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839" y="2247070"/>
            <a:ext cx="1895531" cy="217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8C8F32E-387B-36E1-5AEE-FD465B770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882" y="4618547"/>
            <a:ext cx="11871449" cy="10673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Για τον υπολογισμό της τιμής η γλώσσα ορίζει την </a:t>
            </a: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Προτεραιότητα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και  </a:t>
            </a:r>
            <a:r>
              <a:rPr kumimoji="0" lang="el-GR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Προσεταιριστικότητα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στην εφαρμογή των τελεστών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4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33E8C2B3-7D61-E667-239F-54F01F016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315" y="2100561"/>
            <a:ext cx="42830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2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y * y - 2 * x * z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1F73F8D9-4FF0-AD99-FFDB-56E349678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1369" y="943538"/>
            <a:ext cx="3009357" cy="1268043"/>
          </a:xfrm>
          <a:prstGeom prst="cloudCallout">
            <a:avLst>
              <a:gd name="adj1" fmla="val -73462"/>
              <a:gd name="adj2" fmla="val 57079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anose="020B0604030504040204" pitchFamily="34" charset="0"/>
              </a:rPr>
              <a:t>Πως υπολογίζω την τιμή;</a:t>
            </a:r>
            <a:endParaRPr kumimoji="0" lang="en-GB" altLang="el-GR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F59AC-8CAC-CEC2-DABC-11F62F34572C}"/>
              </a:ext>
            </a:extLst>
          </p:cNvPr>
          <p:cNvSpPr txBox="1"/>
          <p:nvPr/>
        </p:nvSpPr>
        <p:spPr>
          <a:xfrm>
            <a:off x="5528082" y="5802611"/>
            <a:ext cx="4573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0000"/>
                </a:solidFill>
                <a:latin typeface="Tahoma" panose="020B0604030504040204" pitchFamily="34" charset="0"/>
                <a:hlinkClick r:id="rId4"/>
              </a:rPr>
              <a:t>C Operator Precedence Table </a:t>
            </a:r>
            <a:endParaRPr lang="en-GB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72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4A12E-0357-FBB9-0824-F1CAA3224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2FDA293-A4E1-E205-BFBC-C5FF24DAE169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3AF67EF-CACC-3373-37A1-F4E6AE68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Προτεραιότητα -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Προσεταιριστικότητα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τελεστών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CAFACB27-ADFF-FE64-63B9-68EB90F19C83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47E058-E8BF-66E8-F5E8-80E0C175AF03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22279-54AC-6A6A-1013-8A59508EBBF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C1885CC-6EE7-3685-20D4-A75A9596F38A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 Box 1027">
            <a:extLst>
              <a:ext uri="{FF2B5EF4-FFF2-40B4-BE49-F238E27FC236}">
                <a16:creationId xmlns:a16="http://schemas.microsoft.com/office/drawing/2014/main" id="{CF54075C-4276-28BD-A4B1-4BA2A9888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818" y="1740273"/>
            <a:ext cx="3949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count = x + y – k *2;</a:t>
            </a:r>
            <a:endParaRPr kumimoji="0" lang="en-GB" altLang="el-GR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Text Box 1028">
            <a:extLst>
              <a:ext uri="{FF2B5EF4-FFF2-40B4-BE49-F238E27FC236}">
                <a16:creationId xmlns:a16="http://schemas.microsoft.com/office/drawing/2014/main" id="{BC626ACC-EA03-2E8B-22E2-5E53BB92C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619" y="4788273"/>
            <a:ext cx="3808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num1 = num2 = 12;</a:t>
            </a:r>
            <a:endParaRPr kumimoji="0" lang="en-GB" altLang="el-GR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AutoShape 1030">
            <a:extLst>
              <a:ext uri="{FF2B5EF4-FFF2-40B4-BE49-F238E27FC236}">
                <a16:creationId xmlns:a16="http://schemas.microsoft.com/office/drawing/2014/main" id="{28DFAEBD-949F-959F-021F-D3CE80A28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218" y="1435472"/>
            <a:ext cx="2362200" cy="1219200"/>
          </a:xfrm>
          <a:prstGeom prst="cloudCallout">
            <a:avLst>
              <a:gd name="adj1" fmla="val -52958"/>
              <a:gd name="adj2" fmla="val 71875"/>
            </a:avLst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4800" b="1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  <a:endParaRPr kumimoji="0" lang="en-GB" altLang="el-GR" sz="4800" b="1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9" name="Picture 1031" descr="BD04924_">
            <a:extLst>
              <a:ext uri="{FF2B5EF4-FFF2-40B4-BE49-F238E27FC236}">
                <a16:creationId xmlns:a16="http://schemas.microsoft.com/office/drawing/2014/main" id="{CA2C41F8-B28B-1682-6F8E-031F4D1DB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219" y="1511672"/>
            <a:ext cx="7905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1032">
            <a:extLst>
              <a:ext uri="{FF2B5EF4-FFF2-40B4-BE49-F238E27FC236}">
                <a16:creationId xmlns:a16="http://schemas.microsoft.com/office/drawing/2014/main" id="{1BC78A92-4A80-5B43-463E-9FA56027F2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79818" y="2121272"/>
            <a:ext cx="1295400" cy="1143000"/>
          </a:xfrm>
          <a:prstGeom prst="line">
            <a:avLst/>
          </a:prstGeom>
          <a:noFill/>
          <a:ln w="28575">
            <a:solidFill>
              <a:srgbClr val="00E4A8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Line 1033">
            <a:extLst>
              <a:ext uri="{FF2B5EF4-FFF2-40B4-BE49-F238E27FC236}">
                <a16:creationId xmlns:a16="http://schemas.microsoft.com/office/drawing/2014/main" id="{295F267C-839B-615B-CA16-D5964C528D6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08218" y="2197472"/>
            <a:ext cx="2667000" cy="1143000"/>
          </a:xfrm>
          <a:prstGeom prst="line">
            <a:avLst/>
          </a:prstGeom>
          <a:noFill/>
          <a:ln w="28575">
            <a:solidFill>
              <a:srgbClr val="00E4A8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Line 1034">
            <a:extLst>
              <a:ext uri="{FF2B5EF4-FFF2-40B4-BE49-F238E27FC236}">
                <a16:creationId xmlns:a16="http://schemas.microsoft.com/office/drawing/2014/main" id="{30F4032D-517C-CCC6-7882-BD55404A19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94018" y="2121272"/>
            <a:ext cx="1981200" cy="1219200"/>
          </a:xfrm>
          <a:prstGeom prst="line">
            <a:avLst/>
          </a:prstGeom>
          <a:noFill/>
          <a:ln w="28575">
            <a:solidFill>
              <a:srgbClr val="00E4A8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5" name="Line 1035">
            <a:extLst>
              <a:ext uri="{FF2B5EF4-FFF2-40B4-BE49-F238E27FC236}">
                <a16:creationId xmlns:a16="http://schemas.microsoft.com/office/drawing/2014/main" id="{8EFDAAD5-C894-8565-21F6-D2A94EAD93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70218" y="3873872"/>
            <a:ext cx="1905000" cy="1066800"/>
          </a:xfrm>
          <a:prstGeom prst="line">
            <a:avLst/>
          </a:prstGeom>
          <a:noFill/>
          <a:ln w="28575">
            <a:solidFill>
              <a:srgbClr val="00E4A8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6" name="Line 1036">
            <a:extLst>
              <a:ext uri="{FF2B5EF4-FFF2-40B4-BE49-F238E27FC236}">
                <a16:creationId xmlns:a16="http://schemas.microsoft.com/office/drawing/2014/main" id="{5A7F3255-8622-18F4-682F-B174577247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46218" y="3797672"/>
            <a:ext cx="3429000" cy="1143000"/>
          </a:xfrm>
          <a:prstGeom prst="line">
            <a:avLst/>
          </a:prstGeom>
          <a:noFill/>
          <a:ln w="28575">
            <a:solidFill>
              <a:srgbClr val="00E4A8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7" name="Text Box 1037">
            <a:extLst>
              <a:ext uri="{FF2B5EF4-FFF2-40B4-BE49-F238E27FC236}">
                <a16:creationId xmlns:a16="http://schemas.microsoft.com/office/drawing/2014/main" id="{24D082B8-8E28-DED2-2EB5-A57197D4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019" y="227367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1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Text Box 1038">
            <a:extLst>
              <a:ext uri="{FF2B5EF4-FFF2-40B4-BE49-F238E27FC236}">
                <a16:creationId xmlns:a16="http://schemas.microsoft.com/office/drawing/2014/main" id="{3E2410AF-6637-D9F5-B4A6-BF820BDFA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819" y="242607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2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9" name="Text Box 1039">
            <a:extLst>
              <a:ext uri="{FF2B5EF4-FFF2-40B4-BE49-F238E27FC236}">
                <a16:creationId xmlns:a16="http://schemas.microsoft.com/office/drawing/2014/main" id="{9CA740F2-80C2-91F9-DEA9-72E26836B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6419" y="219747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3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0" name="Text Box 1040">
            <a:extLst>
              <a:ext uri="{FF2B5EF4-FFF2-40B4-BE49-F238E27FC236}">
                <a16:creationId xmlns:a16="http://schemas.microsoft.com/office/drawing/2014/main" id="{13D5CAB4-B753-BD8F-070A-D1A24322D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019" y="425487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1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1" name="Text Box 1041">
            <a:extLst>
              <a:ext uri="{FF2B5EF4-FFF2-40B4-BE49-F238E27FC236}">
                <a16:creationId xmlns:a16="http://schemas.microsoft.com/office/drawing/2014/main" id="{CC58C39F-BC96-4BE0-66A0-EC6D247E5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5019" y="3950073"/>
            <a:ext cx="322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2</a:t>
            </a: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22" name="Object 1042">
            <a:extLst>
              <a:ext uri="{FF2B5EF4-FFF2-40B4-BE49-F238E27FC236}">
                <a16:creationId xmlns:a16="http://schemas.microsoft.com/office/drawing/2014/main" id="{B4CA1896-4026-857F-CCCB-4A6869F494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947560"/>
              </p:ext>
            </p:extLst>
          </p:nvPr>
        </p:nvGraphicFramePr>
        <p:xfrm>
          <a:off x="1046018" y="2730872"/>
          <a:ext cx="3276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3858164" imgH="1019048" progId="Paint.Picture">
                  <p:embed/>
                </p:oleObj>
              </mc:Choice>
              <mc:Fallback>
                <p:oleObj name="Bitmap Image" r:id="rId4" imgW="3858164" imgH="1019048" progId="Paint.Picture">
                  <p:embed/>
                  <p:pic>
                    <p:nvPicPr>
                      <p:cNvPr id="136210" name="Object 1042">
                        <a:extLst>
                          <a:ext uri="{FF2B5EF4-FFF2-40B4-BE49-F238E27FC236}">
                            <a16:creationId xmlns:a16="http://schemas.microsoft.com/office/drawing/2014/main" id="{ACFF4344-21E5-4442-4C04-188C51A2CB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018" y="2730872"/>
                        <a:ext cx="32766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43">
            <a:extLst>
              <a:ext uri="{FF2B5EF4-FFF2-40B4-BE49-F238E27FC236}">
                <a16:creationId xmlns:a16="http://schemas.microsoft.com/office/drawing/2014/main" id="{5668D2C9-81D1-F931-E1E6-8477F2218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833290"/>
              </p:ext>
            </p:extLst>
          </p:nvPr>
        </p:nvGraphicFramePr>
        <p:xfrm>
          <a:off x="1046018" y="3569073"/>
          <a:ext cx="32385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3467584" imgH="800212" progId="Paint.Picture">
                  <p:embed/>
                </p:oleObj>
              </mc:Choice>
              <mc:Fallback>
                <p:oleObj name="Bitmap Image" r:id="rId6" imgW="3467584" imgH="800212" progId="Paint.Picture">
                  <p:embed/>
                  <p:pic>
                    <p:nvPicPr>
                      <p:cNvPr id="136211" name="Object 1043">
                        <a:extLst>
                          <a:ext uri="{FF2B5EF4-FFF2-40B4-BE49-F238E27FC236}">
                            <a16:creationId xmlns:a16="http://schemas.microsoft.com/office/drawing/2014/main" id="{1C9DD272-F099-8A37-1659-4AA8A43685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018" y="3569073"/>
                        <a:ext cx="323850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44">
            <a:extLst>
              <a:ext uri="{FF2B5EF4-FFF2-40B4-BE49-F238E27FC236}">
                <a16:creationId xmlns:a16="http://schemas.microsoft.com/office/drawing/2014/main" id="{BA971B4B-E652-0C60-846E-112EDCB399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551517"/>
              </p:ext>
            </p:extLst>
          </p:nvPr>
        </p:nvGraphicFramePr>
        <p:xfrm>
          <a:off x="5237019" y="5016873"/>
          <a:ext cx="44481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8" imgW="4447619" imgH="638264" progId="Paint.Picture">
                  <p:embed/>
                </p:oleObj>
              </mc:Choice>
              <mc:Fallback>
                <p:oleObj name="Bitmap Image" r:id="rId8" imgW="4447619" imgH="638264" progId="Paint.Picture">
                  <p:embed/>
                  <p:pic>
                    <p:nvPicPr>
                      <p:cNvPr id="136212" name="Object 1044">
                        <a:extLst>
                          <a:ext uri="{FF2B5EF4-FFF2-40B4-BE49-F238E27FC236}">
                            <a16:creationId xmlns:a16="http://schemas.microsoft.com/office/drawing/2014/main" id="{64F0E06A-ED1B-B446-FD66-DC48951633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7019" y="5016873"/>
                        <a:ext cx="444817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2">
            <a:extLst>
              <a:ext uri="{FF2B5EF4-FFF2-40B4-BE49-F238E27FC236}">
                <a16:creationId xmlns:a16="http://schemas.microsoft.com/office/drawing/2014/main" id="{CCF85105-1533-8AA7-5C11-F83E7700B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557" y="2988048"/>
            <a:ext cx="1462087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295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animBg="1" autoUpdateAnimBg="0"/>
      <p:bldP spid="17" grpId="0" autoUpdateAnimBg="0"/>
      <p:bldP spid="18" grpId="0" autoUpdateAnimBg="0"/>
      <p:bldP spid="19" grpId="0" autoUpdateAnimBg="0"/>
      <p:bldP spid="20" grpId="0" autoUpdateAnimBg="0"/>
      <p:bldP spid="2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09B7A-1804-A3BF-39A6-1CEAED3A4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D995E18-22A2-0F8F-1568-3818DB9F379D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8C948BF-C7A9-8033-E03C-2ED315CB8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Υπολογισμός σύνθετης έκφρασης 		2/2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3C4AB02A-A754-C31C-93D8-0FD63E3CC55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99C02-6745-6FBD-FAD2-AF2262295740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D1F301-B50D-777B-5969-FB63478F7D8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6923A1C-FD3B-1439-00ED-74D7463BDFEC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C05D290-44A8-EAC1-C6F0-64DCF354E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" y="2640509"/>
            <a:ext cx="4283075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2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y * y - 2 * x * z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GB" altLang="el-GR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8AAB284F-D224-57E2-C5D8-DCC167164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267200"/>
            <a:ext cx="14097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8B922F6-F02B-4A12-289F-8D8518511AA2}"/>
              </a:ext>
            </a:extLst>
          </p:cNvPr>
          <p:cNvGrpSpPr/>
          <p:nvPr/>
        </p:nvGrpSpPr>
        <p:grpSpPr>
          <a:xfrm>
            <a:off x="5915890" y="679644"/>
            <a:ext cx="5382491" cy="3438525"/>
            <a:chOff x="5714999" y="1173163"/>
            <a:chExt cx="5382491" cy="34385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id="{B49AF702-7471-C639-0D00-6D2B6DFCC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4999" y="1447800"/>
              <a:ext cx="5382491" cy="3163888"/>
            </a:xfrm>
            <a:prstGeom prst="cloudCallout">
              <a:avLst>
                <a:gd name="adj1" fmla="val -58139"/>
                <a:gd name="adj2" fmla="val 62134"/>
              </a:avLst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graphicFrame>
          <p:nvGraphicFramePr>
            <p:cNvPr id="9" name="Object 6">
              <a:extLst>
                <a:ext uri="{FF2B5EF4-FFF2-40B4-BE49-F238E27FC236}">
                  <a16:creationId xmlns:a16="http://schemas.microsoft.com/office/drawing/2014/main" id="{6434D2AE-BB53-AB00-8F0C-50443909F7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3119053"/>
                </p:ext>
              </p:extLst>
            </p:nvPr>
          </p:nvGraphicFramePr>
          <p:xfrm>
            <a:off x="6261100" y="1173163"/>
            <a:ext cx="3810000" cy="3163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4" imgW="1886712" imgH="1566672" progId="Word.Document.8">
                    <p:embed/>
                  </p:oleObj>
                </mc:Choice>
                <mc:Fallback>
                  <p:oleObj name="Document" r:id="rId4" imgW="1886712" imgH="1566672" progId="Word.Document.8">
                    <p:embed/>
                    <p:pic>
                      <p:nvPicPr>
                        <p:cNvPr id="34822" name="Object 6">
                          <a:extLst>
                            <a:ext uri="{FF2B5EF4-FFF2-40B4-BE49-F238E27FC236}">
                              <a16:creationId xmlns:a16="http://schemas.microsoft.com/office/drawing/2014/main" id="{BDB44BE2-F92B-CE04-93C6-B9AA3AB25B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61100" y="1173163"/>
                          <a:ext cx="3810000" cy="3163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11">
            <a:extLst>
              <a:ext uri="{FF2B5EF4-FFF2-40B4-BE49-F238E27FC236}">
                <a16:creationId xmlns:a16="http://schemas.microsoft.com/office/drawing/2014/main" id="{2E2B9C2B-8568-9972-E3A8-CED76BB5D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1338" y="4876801"/>
            <a:ext cx="4805362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Αφαιρετικό δένδρο σύνταξης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	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</a:rPr>
              <a:t>(abstract syntax tree)</a:t>
            </a:r>
            <a:endParaRPr kumimoji="0" lang="el-GR" altLang="el-GR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GB" altLang="el-GR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59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77CD-1182-D965-218D-430BC0737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2223A88E-7A59-10B1-AC8A-81808B23D8D3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4DD1F9B-548D-5E85-5EF2-FA82BAF9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Παράδειγμα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E258CF5-F0CC-4CAC-AE71-8D28E077C7D8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146A02-3CAE-ED4B-EE9C-CA79ABD5846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1B6404-A723-6A9B-CB1C-739C5E7AEF8C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8139E4F-322C-6302-0874-67BFC3DD0376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52D757-A37F-55A6-17C6-63A557916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5063" y="943538"/>
            <a:ext cx="10363200" cy="1083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 + ((4 +2)/(7-5) - 6)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9AD07D25-78F8-867B-D817-79AD2D626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5372773"/>
              </p:ext>
            </p:extLst>
          </p:nvPr>
        </p:nvGraphicFramePr>
        <p:xfrm>
          <a:off x="1925782" y="1085386"/>
          <a:ext cx="7675418" cy="5315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4439412" imgH="3073908" progId="Word.Document.8">
                  <p:embed/>
                </p:oleObj>
              </mc:Choice>
              <mc:Fallback>
                <p:oleObj name="Document" r:id="rId3" imgW="4439412" imgH="3073908" progId="Word.Document.8">
                  <p:embed/>
                  <p:pic>
                    <p:nvPicPr>
                      <p:cNvPr id="36868" name="Object 4">
                        <a:extLst>
                          <a:ext uri="{FF2B5EF4-FFF2-40B4-BE49-F238E27FC236}">
                            <a16:creationId xmlns:a16="http://schemas.microsoft.com/office/drawing/2014/main" id="{F74715CD-519E-C236-0D57-E05A331492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782" y="1085386"/>
                        <a:ext cx="7675418" cy="5315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8950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246A-C629-4D5E-2608-E8C9448E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8B57416-004C-83DF-267E-CC900660DC8B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6C429C2-3BC1-EE71-2BF9-57D8DA32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Πρόταση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5D999EE-22FE-8215-3679-3E607EE591D0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F5FE17-3727-0EF6-C599-9EED1B7029A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17A72C-E3D3-F462-FD08-B25F252E053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4DEEA42-786D-93E2-A026-5158E6F116F8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6E6076-DCA2-76F0-6D13-7C1822A72D9C}"/>
              </a:ext>
            </a:extLst>
          </p:cNvPr>
          <p:cNvSpPr txBox="1"/>
          <p:nvPr/>
        </p:nvSpPr>
        <p:spPr>
          <a:xfrm>
            <a:off x="239843" y="932805"/>
            <a:ext cx="11677337" cy="181588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2800" dirty="0"/>
              <a:t>Η πρόταση είναι μία πλήρης εντολή (</a:t>
            </a:r>
            <a:r>
              <a:rPr lang="el-GR" sz="2800" dirty="0" err="1"/>
              <a:t>command</a:t>
            </a:r>
            <a:r>
              <a:rPr lang="el-GR" sz="2800" dirty="0"/>
              <a:t>) προς τον υπολογιστή και προσδιορίζει την εκτέλεση συγκεκριμένου έργου. </a:t>
            </a:r>
            <a:endParaRPr lang="en-US" sz="2800" dirty="0"/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2800" dirty="0"/>
              <a:t>Κάθε πρόταση έχει στο τέλος της το Ελληνικό ερωτηματικό (;). </a:t>
            </a:r>
            <a:endParaRPr lang="en-US" sz="2800" dirty="0"/>
          </a:p>
          <a:p>
            <a:pPr marL="457200" indent="-4572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l-GR" sz="2800" dirty="0"/>
              <a:t>Παραθέτοντας το ; σε μια έκφραση</a:t>
            </a:r>
            <a:r>
              <a:rPr lang="en-US" sz="2800" dirty="0"/>
              <a:t> </a:t>
            </a:r>
            <a:r>
              <a:rPr lang="el-GR" sz="2800" dirty="0"/>
              <a:t>δημιουργούμε μια πρόταση. </a:t>
            </a:r>
            <a:endParaRPr lang="en-GB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F85B8A-0E09-EA22-9F04-142063D9A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842" y="3095473"/>
            <a:ext cx="6365581" cy="31104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78951F-CC2F-D72A-3D54-C4E4F13D5A7A}"/>
              </a:ext>
            </a:extLst>
          </p:cNvPr>
          <p:cNvSpPr txBox="1"/>
          <p:nvPr/>
        </p:nvSpPr>
        <p:spPr>
          <a:xfrm>
            <a:off x="6925454" y="2962161"/>
            <a:ext cx="4991726" cy="138499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Η C ομαδοποιεί τις προτάσεις περικλείοντας αυτές με τα σύμβολα { και }.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B00265-01CB-8B9B-33E1-23F4BF678D1A}"/>
              </a:ext>
            </a:extLst>
          </p:cNvPr>
          <p:cNvSpPr txBox="1"/>
          <p:nvPr/>
        </p:nvSpPr>
        <p:spPr>
          <a:xfrm>
            <a:off x="6895475" y="4650700"/>
            <a:ext cx="5021705" cy="1815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// </a:t>
            </a:r>
            <a:r>
              <a:rPr lang="el-G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σύνθετη πρόταση</a:t>
            </a:r>
            <a:endParaRPr lang="en-GB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</a:t>
            </a:r>
            <a:r>
              <a:rPr lang="en-GB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int count = 1;</a:t>
            </a:r>
          </a:p>
          <a:p>
            <a:r>
              <a:rPr lang="en-GB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GB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99CE-FF53-60F3-B716-BEA27F12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6826433A-FEDF-6A80-C163-586B2A43B8CC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85E7CC9-0D50-A330-263B-6D47C368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Τελεστές της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908A671D-A902-0E87-0F7F-3F7C87A08F8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D8613-0887-B33B-13B9-3850998FC45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16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CD5CD-5A07-4983-0F4E-312747CC0FA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07ECD96-6CFE-E869-D0AE-1F6F0ACEE2D8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E00CA8-0629-CFCF-46BA-DAB85693D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32" y="1333500"/>
            <a:ext cx="9690821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μοναδιαίοι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+</a:t>
            </a: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και</a:t>
            </a: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</a:t>
            </a: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τελεστές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δυαδικοί αριθμητικοί τελεστές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+ - * / %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αριθμητικοί τελεστές ανάθεσης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= += -= *=</a:t>
            </a: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...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αύξησης, ελάττωσης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++   --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λογικοί τελεστές 	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&amp;&amp;	||    !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συσχετιστικοί (relational)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&lt;  &gt;  &lt;=  &gt;=  ==  !=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bit-manipulation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&gt;&gt;  &lt;&lt;  &amp;  |   ^  ~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memory operators   </a:t>
            </a:r>
            <a:r>
              <a:rPr kumimoji="0" lang="en-US" altLang="el-GR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&amp;  *  []  .  -&gt;</a:t>
            </a:r>
            <a:endParaRPr kumimoji="0" lang="en-US" altLang="el-G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73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6A010-71A1-D346-42B5-0CBEB0CA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5583B494-BE47-1A24-699A-4BDBF0274648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30AF110-3D45-D421-4B2A-C115EEF54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Increment-Decrement Operators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EB62AB3-F06C-2ED6-F057-D8DF9959220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1996A3-43E3-7C90-274E-8EF694C2A7AA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17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CBAE34-C824-00E0-7D06-581222CBE98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424320D-F4C3-198A-A223-1E5A8724A499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AutoShape 14">
            <a:extLst>
              <a:ext uri="{FF2B5EF4-FFF2-40B4-BE49-F238E27FC236}">
                <a16:creationId xmlns:a16="http://schemas.microsoft.com/office/drawing/2014/main" id="{EA771A9D-9030-6108-1909-120A602B8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018" y="3285925"/>
            <a:ext cx="2438400" cy="457200"/>
          </a:xfrm>
          <a:prstGeom prst="wedgeRectCallout">
            <a:avLst>
              <a:gd name="adj1" fmla="val 94532"/>
              <a:gd name="adj2" fmla="val -181944"/>
            </a:avLst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F394CF94-52FE-28EE-8553-75F064D0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018" y="2142925"/>
            <a:ext cx="2514600" cy="457200"/>
          </a:xfrm>
          <a:prstGeom prst="wedgeRectCallout">
            <a:avLst>
              <a:gd name="adj1" fmla="val 89394"/>
              <a:gd name="adj2" fmla="val 59722"/>
            </a:avLst>
          </a:prstGeom>
          <a:solidFill>
            <a:srgbClr val="FFFF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B5F55B9-9498-98FB-82A0-31211F6D6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618" y="1533327"/>
            <a:ext cx="7772400" cy="246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ροθεμ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ατικός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num = 18 *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++count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μετ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αθεματικός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num = 18 *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count++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;</a:t>
            </a:r>
          </a:p>
        </p:txBody>
      </p:sp>
      <p:grpSp>
        <p:nvGrpSpPr>
          <p:cNvPr id="9" name="Group 10">
            <a:extLst>
              <a:ext uri="{FF2B5EF4-FFF2-40B4-BE49-F238E27FC236}">
                <a16:creationId xmlns:a16="http://schemas.microsoft.com/office/drawing/2014/main" id="{1DB1026B-6FE8-655B-37A7-018E80335FEC}"/>
              </a:ext>
            </a:extLst>
          </p:cNvPr>
          <p:cNvGrpSpPr>
            <a:grpSpLocks/>
          </p:cNvGrpSpPr>
          <p:nvPr/>
        </p:nvGrpSpPr>
        <p:grpSpPr bwMode="auto">
          <a:xfrm>
            <a:off x="9558194" y="3298626"/>
            <a:ext cx="2438400" cy="661988"/>
            <a:chOff x="4464" y="1248"/>
            <a:chExt cx="1536" cy="417"/>
          </a:xfrm>
        </p:grpSpPr>
        <p:sp>
          <p:nvSpPr>
            <p:cNvPr id="12" name="Line 4">
              <a:extLst>
                <a:ext uri="{FF2B5EF4-FFF2-40B4-BE49-F238E27FC236}">
                  <a16:creationId xmlns:a16="http://schemas.microsoft.com/office/drawing/2014/main" id="{0D7ED174-269A-B2CB-6115-DEF8EF0DE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248"/>
              <a:ext cx="528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3" name="Line 5">
              <a:extLst>
                <a:ext uri="{FF2B5EF4-FFF2-40B4-BE49-F238E27FC236}">
                  <a16:creationId xmlns:a16="http://schemas.microsoft.com/office/drawing/2014/main" id="{B05E278F-BCF1-92EE-E8B5-AD7662489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1248"/>
              <a:ext cx="528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6">
              <a:extLst>
                <a:ext uri="{FF2B5EF4-FFF2-40B4-BE49-F238E27FC236}">
                  <a16:creationId xmlns:a16="http://schemas.microsoft.com/office/drawing/2014/main" id="{1FEE10C2-8E65-5932-47A4-FA00FF456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296"/>
              <a:ext cx="1536" cy="36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l-GR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(x*y)++</a:t>
              </a:r>
            </a:p>
          </p:txBody>
        </p:sp>
      </p:grpSp>
      <p:sp>
        <p:nvSpPr>
          <p:cNvPr id="16" name="Text Box 11">
            <a:extLst>
              <a:ext uri="{FF2B5EF4-FFF2-40B4-BE49-F238E27FC236}">
                <a16:creationId xmlns:a16="http://schemas.microsoft.com/office/drawing/2014/main" id="{A17FF6C3-410D-2EB6-CC24-065F9ECE0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143" y="2352475"/>
            <a:ext cx="28082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Τιμή έκφρασης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= </a:t>
            </a:r>
            <a:r>
              <a:rPr kumimoji="0" lang="en-US" altLang="el-GR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  <a:endParaRPr kumimoji="0" lang="el-GR" altLang="el-GR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Τιμή </a:t>
            </a: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count = </a:t>
            </a:r>
            <a:r>
              <a:rPr kumimoji="0" lang="en-US" altLang="el-GR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  <a:endParaRPr kumimoji="0" lang="en-GB" altLang="el-GR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246008-7F17-0885-F8C3-8B723AB8ABFF}"/>
              </a:ext>
            </a:extLst>
          </p:cNvPr>
          <p:cNvSpPr txBox="1"/>
          <p:nvPr/>
        </p:nvSpPr>
        <p:spPr>
          <a:xfrm>
            <a:off x="1274618" y="4488873"/>
            <a:ext cx="8354291" cy="13388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altLang="el-GR" sz="4000" kern="0" dirty="0">
                <a:latin typeface="Courier New" panose="02070309020205020404" pitchFamily="49" charset="0"/>
              </a:rPr>
              <a:t>while(</a:t>
            </a:r>
            <a:r>
              <a:rPr lang="en-US" altLang="el-GR" sz="4000" b="1" kern="0" dirty="0">
                <a:latin typeface="Courier New" panose="02070309020205020404" pitchFamily="49" charset="0"/>
              </a:rPr>
              <a:t> ++count</a:t>
            </a:r>
            <a:r>
              <a:rPr lang="en-US" altLang="el-GR" sz="4000" kern="0" dirty="0">
                <a:latin typeface="Courier New" panose="02070309020205020404" pitchFamily="49" charset="0"/>
              </a:rPr>
              <a:t>&lt;18.5);</a:t>
            </a:r>
          </a:p>
          <a:p>
            <a:pPr lv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altLang="el-GR" sz="4000" kern="0" dirty="0">
                <a:latin typeface="Courier New" panose="02070309020205020404" pitchFamily="49" charset="0"/>
              </a:rPr>
              <a:t>while(</a:t>
            </a:r>
            <a:r>
              <a:rPr lang="en-US" altLang="el-GR" sz="4000" b="1" kern="0" dirty="0">
                <a:latin typeface="Courier New" panose="02070309020205020404" pitchFamily="49" charset="0"/>
              </a:rPr>
              <a:t>count++</a:t>
            </a:r>
            <a:r>
              <a:rPr lang="en-US" altLang="el-GR" sz="4000" kern="0" dirty="0">
                <a:latin typeface="Courier New" panose="02070309020205020404" pitchFamily="49" charset="0"/>
              </a:rPr>
              <a:t>&lt;18.5);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78056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6627A-351E-B620-B195-5F136513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6F0AA20-41FA-CCFC-3D0A-2FCB5185D841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3AE5EB0-EAD7-6584-92DE-1CDC87AC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Τελεστές Αντικατάστασης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7EDC2CD8-112A-C276-F605-5F215F2120BD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856B4-20D8-9B89-D133-C5CFB68450C6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18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3D19DE-27E5-CFD5-EBD3-7BCAB0DFB9F1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92AB8239-6198-9FE7-4D76-517526FBF733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D426B2-FD53-4E61-64A2-22E27249C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153" y="1269568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εκφρ1 </a:t>
            </a:r>
            <a:r>
              <a:rPr kumimoji="0" lang="en-US" altLang="el-GR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=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(εκφρ1) </a:t>
            </a:r>
            <a:r>
              <a:rPr kumimoji="0" lang="en-US" altLang="el-GR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τελ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(εκφρ2)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εκφρ1</a:t>
            </a:r>
            <a:r>
              <a:rPr kumimoji="0" lang="en-US" altLang="el-GR" sz="32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τελ =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εκφρ2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36A17877-9277-9148-1571-DE99B1D7B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036" y="1842655"/>
            <a:ext cx="215900" cy="596900"/>
          </a:xfrm>
          <a:prstGeom prst="downArrow">
            <a:avLst>
              <a:gd name="adj1" fmla="val 50000"/>
              <a:gd name="adj2" fmla="val 138248"/>
            </a:avLst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DA4B2E87-1467-8112-AF86-902F95C08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636" y="1842655"/>
            <a:ext cx="215900" cy="596900"/>
          </a:xfrm>
          <a:prstGeom prst="upArrow">
            <a:avLst>
              <a:gd name="adj1" fmla="val 50000"/>
              <a:gd name="adj2" fmla="val 138222"/>
            </a:avLst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07EDEE17-CBC8-1CC0-3830-AC01BB312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466" y="2098321"/>
            <a:ext cx="3992611" cy="1981200"/>
          </a:xfrm>
          <a:prstGeom prst="wedgeRoundRectCallout">
            <a:avLst>
              <a:gd name="adj1" fmla="val -55639"/>
              <a:gd name="adj2" fmla="val 71796"/>
              <a:gd name="adj3" fmla="val 16667"/>
            </a:avLst>
          </a:prstGeom>
          <a:solidFill>
            <a:srgbClr val="FFFF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lasTimes" charset="0"/>
              </a:rPr>
              <a:t>Δίνουν συνήθως πιο ευανάγνωστο και αποτελεσματικό κώδικα</a:t>
            </a:r>
            <a:endParaRPr kumimoji="0" lang="en-GB" altLang="el-GR" sz="2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lasTimes" charset="0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0A5DD7B5-D4D1-2DA7-500B-6191BA701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4837" y="3290455"/>
            <a:ext cx="1406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i = i + k</a:t>
            </a:r>
            <a:endParaRPr kumimoji="0" lang="en-GB" altLang="el-GR" sz="2400" b="1" i="0" u="none" strike="noStrike" kern="0" cap="none" spc="0" normalizeH="0" baseline="0" noProof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138BD3ED-9036-8D15-EBDF-BA45182B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5036" y="3519055"/>
            <a:ext cx="1143000" cy="0"/>
          </a:xfrm>
          <a:prstGeom prst="line">
            <a:avLst/>
          </a:prstGeom>
          <a:noFill/>
          <a:ln w="38100">
            <a:solidFill>
              <a:srgbClr val="FFCF0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35384658-4A38-2282-23E0-B61601C4D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236" y="3290455"/>
            <a:ext cx="1136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i += k</a:t>
            </a:r>
            <a:endParaRPr kumimoji="0" lang="en-GB" altLang="el-GR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BCC62AAC-3BFC-78EB-3DB3-B10654347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4837" y="3976255"/>
            <a:ext cx="1350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i = i * k</a:t>
            </a:r>
            <a:endParaRPr kumimoji="0" lang="en-GB" altLang="el-GR" sz="2400" b="1" i="0" u="none" strike="noStrike" kern="0" cap="none" spc="0" normalizeH="0" baseline="0" noProof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D62881DE-1DB0-D94C-E55C-5C0597A7E3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5036" y="4204855"/>
            <a:ext cx="1143000" cy="0"/>
          </a:xfrm>
          <a:prstGeom prst="line">
            <a:avLst/>
          </a:prstGeom>
          <a:noFill/>
          <a:ln w="38100">
            <a:solidFill>
              <a:srgbClr val="FFCF0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4996CFC8-F869-3F6D-5C86-69F6E1010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236" y="3976255"/>
            <a:ext cx="1081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i *= k</a:t>
            </a:r>
            <a:endParaRPr kumimoji="0" lang="en-GB" altLang="el-GR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E88DF0BD-2271-99CB-33EA-7ECD2DE0C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2436" y="5119255"/>
            <a:ext cx="338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m = (m + ((n+x)-y))</a:t>
            </a:r>
            <a:endParaRPr kumimoji="0" lang="en-GB" altLang="el-GR" sz="2400" b="1" i="0" u="none" strike="noStrike" kern="0" cap="none" spc="0" normalizeH="0" baseline="0" noProof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3E3961BC-2B5E-857B-3549-8ACE4AA2B5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0036" y="5424055"/>
            <a:ext cx="1143000" cy="0"/>
          </a:xfrm>
          <a:prstGeom prst="line">
            <a:avLst/>
          </a:prstGeom>
          <a:noFill/>
          <a:ln w="38100">
            <a:solidFill>
              <a:srgbClr val="FFCF0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7D81FE58-729A-2FAE-8322-E2616FE5F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7837" y="5119255"/>
            <a:ext cx="2087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m += n+x-y</a:t>
            </a:r>
            <a:endParaRPr kumimoji="0" lang="en-GB" altLang="el-GR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68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 animBg="1"/>
      <p:bldP spid="7" grpId="0" animBg="1"/>
      <p:bldP spid="9" grpId="0" animBg="1" autoUpdateAnimBg="0"/>
      <p:bldP spid="12" grpId="0" autoUpdateAnimBg="0"/>
      <p:bldP spid="14" grpId="0" autoUpdateAnimBg="0"/>
      <p:bldP spid="15" grpId="0" autoUpdateAnimBg="0"/>
      <p:bldP spid="17" grpId="0" autoUpdateAnimBg="0"/>
      <p:bldP spid="18" grpId="0" autoUpdateAnimBg="0"/>
      <p:bldP spid="2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5696-62B9-7329-E9FC-13F54FD9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D9E4FAFF-A41C-87A9-5221-60E0E8CABEB6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4FFD913-DCAF-44DC-1199-1A292A19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Conditional Operator   ? :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A2A4234-61AF-8D3F-40CD-95FB66AF9EFE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457F4D-1988-BF6E-B7A8-DD0B9B42F49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19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815D04-2E18-F572-DD75-41B76A4736F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3281FBE-7106-AF37-8CBA-47A1FAF117A8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8F96D30-F2C9-93F3-E1FC-9183B20C3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2307" y="2923274"/>
            <a:ext cx="4911437" cy="747951"/>
          </a:xfrm>
          <a:prstGeom prst="octagon">
            <a:avLst>
              <a:gd name="adj" fmla="val 34375"/>
            </a:avLst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3333CC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Tx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εκφρ1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εκφρ2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36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: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E4A8"/>
                </a:solidFill>
                <a:effectLst/>
                <a:uLnTx/>
                <a:uFillTx/>
                <a:latin typeface="Tahoma" panose="020B0604030504040204" pitchFamily="34" charset="0"/>
              </a:rPr>
              <a:t>εκφρ3</a:t>
            </a:r>
            <a:endParaRPr kumimoji="0" lang="en-GB" altLang="el-GR" sz="2800" b="0" i="0" u="none" strike="noStrike" kern="0" cap="none" spc="0" normalizeH="0" baseline="0" noProof="0">
              <a:ln>
                <a:noFill/>
              </a:ln>
              <a:solidFill>
                <a:srgbClr val="00E4A8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5BD1C23-61BF-55B0-6FA2-A53CD160F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982" y="1274170"/>
            <a:ext cx="1015538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σύντομος τρόπος έκφρασης της απλής μορφής πρότασης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if else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αποτελεί το μόνο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ternary operator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		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3A62024-8EB4-1737-CD2E-0DC235CC9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257800"/>
            <a:ext cx="1054100" cy="215900"/>
          </a:xfrm>
          <a:prstGeom prst="rightArrow">
            <a:avLst>
              <a:gd name="adj1" fmla="val 50000"/>
              <a:gd name="adj2" fmla="val 244140"/>
            </a:avLst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139A15-BF53-A94D-E0E3-1262AECF98DB}"/>
              </a:ext>
            </a:extLst>
          </p:cNvPr>
          <p:cNvSpPr txBox="1"/>
          <p:nvPr/>
        </p:nvSpPr>
        <p:spPr>
          <a:xfrm>
            <a:off x="498764" y="4613782"/>
            <a:ext cx="3560618" cy="14927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2800" b="1" kern="0" dirty="0">
                <a:latin typeface="Courier New" panose="02070309020205020404" pitchFamily="49" charset="0"/>
              </a:rPr>
              <a:t>if (a&gt;b)</a:t>
            </a:r>
          </a:p>
          <a:p>
            <a:pPr lv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2800" b="1" kern="0" dirty="0">
                <a:latin typeface="Courier New" panose="02070309020205020404" pitchFamily="49" charset="0"/>
              </a:rPr>
              <a:t>   max = a;</a:t>
            </a:r>
          </a:p>
          <a:p>
            <a:pPr lv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2800" b="1" kern="0" dirty="0">
                <a:latin typeface="Courier New" panose="02070309020205020404" pitchFamily="49" charset="0"/>
              </a:rPr>
              <a:t>else</a:t>
            </a:r>
          </a:p>
          <a:p>
            <a:pPr lv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2800" b="1" kern="0" dirty="0">
                <a:latin typeface="Courier New" panose="02070309020205020404" pitchFamily="49" charset="0"/>
              </a:rPr>
              <a:t>   max = b;</a:t>
            </a:r>
            <a:endParaRPr lang="en-GB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CCC3E3-10B4-AEEB-6051-9F0CAF956EF0}"/>
              </a:ext>
            </a:extLst>
          </p:cNvPr>
          <p:cNvSpPr txBox="1"/>
          <p:nvPr/>
        </p:nvSpPr>
        <p:spPr>
          <a:xfrm>
            <a:off x="6291119" y="5098530"/>
            <a:ext cx="5212162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l-GR" sz="3200" kern="0" dirty="0">
                <a:solidFill>
                  <a:srgbClr val="000000"/>
                </a:solidFill>
                <a:latin typeface="Courier New" panose="02070309020205020404" pitchFamily="49" charset="0"/>
              </a:rPr>
              <a:t>max = </a:t>
            </a:r>
            <a:r>
              <a:rPr lang="en-US" altLang="el-GR" sz="32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(a&gt;b) ? a : b;</a:t>
            </a:r>
          </a:p>
        </p:txBody>
      </p:sp>
    </p:spTree>
    <p:extLst>
      <p:ext uri="{BB962C8B-B14F-4D97-AF65-F5344CB8AC3E}">
        <p14:creationId xmlns:p14="http://schemas.microsoft.com/office/powerpoint/2010/main" val="363175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7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21C9-79A2-F55D-722B-471C6AB4C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CF1E085D-2EE0-9F61-04F1-09DD75A89D1D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C4906E4-0F53-8F5B-C4FD-075405EA7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Συσχετιστικοί τελεστές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Relational operators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110C25EE-228A-0B18-535A-7CB8AC75264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E403B-ED0D-373E-F8C2-593B8040D59F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20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2AAF0F-A186-7185-E86B-1DBBBFAE214B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8423246-9A38-1630-4EBF-AEFB72E2EEE1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FA35E91-5EC7-B050-782F-36A1CA095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455" y="1012756"/>
            <a:ext cx="80489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&lt;	  &gt;	  &lt;=		&gt;=		==		!=</a:t>
            </a:r>
            <a:endParaRPr kumimoji="0" lang="en-GB" altLang="el-G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2" name="AutoShape 11">
            <a:extLst>
              <a:ext uri="{FF2B5EF4-FFF2-40B4-BE49-F238E27FC236}">
                <a16:creationId xmlns:a16="http://schemas.microsoft.com/office/drawing/2014/main" id="{D49CB3C6-0FEB-AE9B-9F62-CE469642B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8873" y="2173660"/>
            <a:ext cx="7562458" cy="1077696"/>
          </a:xfrm>
          <a:prstGeom prst="cloudCallout">
            <a:avLst>
              <a:gd name="adj1" fmla="val -73060"/>
              <a:gd name="adj2" fmla="val 92014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</a:rPr>
              <a:t>((++j) == m) != (y *2)</a:t>
            </a:r>
            <a:endParaRPr kumimoji="0" lang="en-GB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</a:endParaRPr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3437B05C-D189-3226-194A-DC7F69ECE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8241" y="4145344"/>
            <a:ext cx="4364303" cy="646331"/>
          </a:xfrm>
          <a:prstGeom prst="wedgeRoundRectCallout">
            <a:avLst>
              <a:gd name="adj1" fmla="val -70299"/>
              <a:gd name="adj2" fmla="val 146471"/>
              <a:gd name="adj3" fmla="val 16667"/>
            </a:avLst>
          </a:prstGeom>
          <a:solidFill>
            <a:srgbClr val="FFFF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HellasTimes" charset="0"/>
              </a:rPr>
              <a:t>Προσοχή! στην έκφραση</a:t>
            </a:r>
            <a:endParaRPr kumimoji="0" lang="en-GB" altLang="el-GR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HellasTimes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C5C3A6-BAB2-0FB9-DC4D-956E84328079}"/>
              </a:ext>
            </a:extLst>
          </p:cNvPr>
          <p:cNvSpPr txBox="1"/>
          <p:nvPr/>
        </p:nvSpPr>
        <p:spPr>
          <a:xfrm>
            <a:off x="232184" y="1716048"/>
            <a:ext cx="449580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l-GR" sz="36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l-GR" altLang="el-GR" sz="36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+= (</a:t>
            </a:r>
            <a:r>
              <a:rPr lang="en-US" altLang="el-GR" sz="36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l-GR" altLang="el-GR" sz="36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&gt;=</a:t>
            </a:r>
            <a:r>
              <a:rPr lang="en-US" altLang="el-GR" sz="36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n)</a:t>
            </a:r>
            <a:endParaRPr lang="en-GB" altLang="el-GR" sz="3600" b="1" kern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268CED-4DC3-70E4-C8AF-B6637C46F43E}"/>
              </a:ext>
            </a:extLst>
          </p:cNvPr>
          <p:cNvSpPr txBox="1"/>
          <p:nvPr/>
        </p:nvSpPr>
        <p:spPr>
          <a:xfrm>
            <a:off x="235527" y="3697660"/>
            <a:ext cx="5555673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l-GR" sz="36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++j == m != y * 2</a:t>
            </a:r>
            <a:endParaRPr lang="en-GB" altLang="el-GR" sz="3600" b="1" kern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2F3D65-F54D-FF59-8092-B8BBD6F125A7}"/>
              </a:ext>
            </a:extLst>
          </p:cNvPr>
          <p:cNvSpPr txBox="1"/>
          <p:nvPr/>
        </p:nvSpPr>
        <p:spPr>
          <a:xfrm>
            <a:off x="2331640" y="5399242"/>
            <a:ext cx="6965915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l-GR" sz="3600" kern="0" dirty="0">
                <a:solidFill>
                  <a:srgbClr val="000000"/>
                </a:solidFill>
                <a:latin typeface="Courier New" panose="02070309020205020404" pitchFamily="49" charset="0"/>
              </a:rPr>
              <a:t>if(</a:t>
            </a:r>
            <a:r>
              <a:rPr lang="en-US" altLang="el-GR" sz="3600" b="1" kern="0" dirty="0">
                <a:solidFill>
                  <a:srgbClr val="FF0000"/>
                </a:solidFill>
                <a:latin typeface="Courier New" panose="02070309020205020404" pitchFamily="49" charset="0"/>
              </a:rPr>
              <a:t>count = MAX_COUNT</a:t>
            </a:r>
            <a:r>
              <a:rPr lang="en-US" altLang="el-GR" sz="3600" kern="0" dirty="0">
                <a:solidFill>
                  <a:srgbClr val="000000"/>
                </a:solidFill>
                <a:latin typeface="Courier New" panose="02070309020205020404" pitchFamily="49" charset="0"/>
              </a:rPr>
              <a:t>){</a:t>
            </a:r>
            <a:endParaRPr lang="en-GB" altLang="el-GR" sz="3600" kern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346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  <p:bldP spid="13" grpId="0" animBg="1" autoUpdateAnimBg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FABEB-8264-EDA1-5667-5A8AF6DAE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E507EA59-F44D-CE54-0976-46B9CEC2EF53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2B7B2AF-975B-5A63-9068-C79CA825E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Λογικοί τελεστές 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Logical operators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D0499242-2291-D718-205C-C791246F9E8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2F3523-19AE-A969-F77D-F1722463BAAD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21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44B795-8B29-D625-15D4-C846C1B7D8AA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F79276B-6884-BB71-CE4B-EC6932CD3998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B61023F-5513-E629-8567-ACB835063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462908"/>
            <a:ext cx="2336800" cy="1498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3333CC"/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E5BDA01-F940-5783-C033-4335F515F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386709"/>
            <a:ext cx="6781800" cy="157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rgbClr val="FF0000"/>
                </a:solidFill>
                <a:latin typeface="Times New Roman" panose="02020603050405020304" pitchFamily="18" charset="0"/>
              </a:rPr>
              <a:t>&amp;&amp;</a:t>
            </a:r>
            <a:r>
              <a:rPr lang="en-US" altLang="el-GR" sz="2400">
                <a:solidFill>
                  <a:srgbClr val="000000"/>
                </a:solidFill>
                <a:latin typeface="Times New Roman" panose="02020603050405020304" pitchFamily="18" charset="0"/>
              </a:rPr>
              <a:t>	AND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rgbClr val="FF0000"/>
                </a:solidFill>
                <a:latin typeface="Times New Roman" panose="02020603050405020304" pitchFamily="18" charset="0"/>
              </a:rPr>
              <a:t>||</a:t>
            </a:r>
            <a:r>
              <a:rPr lang="en-US" altLang="el-GR" sz="2400">
                <a:solidFill>
                  <a:srgbClr val="000000"/>
                </a:solidFill>
                <a:latin typeface="Times New Roman" panose="02020603050405020304" pitchFamily="18" charset="0"/>
              </a:rPr>
              <a:t>	OR</a:t>
            </a:r>
          </a:p>
          <a:p>
            <a:pPr eaLnBrk="0" fontAlgn="base" hangingPunct="0"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rgbClr val="FF0000"/>
                </a:solidFill>
                <a:latin typeface="Times New Roman" panose="02020603050405020304" pitchFamily="18" charset="0"/>
              </a:rPr>
              <a:t>!</a:t>
            </a:r>
            <a:r>
              <a:rPr lang="en-US" altLang="el-GR" sz="2400">
                <a:solidFill>
                  <a:srgbClr val="000000"/>
                </a:solidFill>
                <a:latin typeface="Times New Roman" panose="02020603050405020304" pitchFamily="18" charset="0"/>
              </a:rPr>
              <a:t>	NOT</a:t>
            </a:r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037F10BC-E50D-524A-9171-44DBC9603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7591" y="5114158"/>
            <a:ext cx="990600" cy="292100"/>
          </a:xfrm>
          <a:prstGeom prst="rightArrow">
            <a:avLst>
              <a:gd name="adj1" fmla="val 33694"/>
              <a:gd name="adj2" fmla="val 169565"/>
            </a:avLst>
          </a:prstGeom>
          <a:solidFill>
            <a:srgbClr val="FFFF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4F78D46-C7AB-A1E5-40FB-E86B78219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1081908"/>
            <a:ext cx="3962400" cy="914400"/>
          </a:xfrm>
          <a:prstGeom prst="wedgeRoundRectCallout">
            <a:avLst>
              <a:gd name="adj1" fmla="val -70833"/>
              <a:gd name="adj2" fmla="val 61981"/>
              <a:gd name="adj3" fmla="val 16667"/>
            </a:avLst>
          </a:prstGeom>
          <a:solidFill>
            <a:srgbClr val="FFFF00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FF00"/>
                </a:highlight>
                <a:uLnTx/>
                <a:uFillTx/>
                <a:latin typeface="Tahoma" panose="020B0604030504040204" pitchFamily="34" charset="0"/>
              </a:rPr>
              <a:t>Οι </a:t>
            </a:r>
            <a:r>
              <a:rPr kumimoji="0" lang="el-GR" altLang="el-GR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FF00"/>
                </a:highlight>
                <a:uLnTx/>
                <a:uFillTx/>
                <a:latin typeface="Tahoma" panose="020B0604030504040204" pitchFamily="34" charset="0"/>
              </a:rPr>
              <a:t>τελεστέοι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FF00"/>
                </a:highlight>
                <a:uLnTx/>
                <a:uFillTx/>
                <a:latin typeface="Tahoma" panose="020B0604030504040204" pitchFamily="34" charset="0"/>
              </a:rPr>
              <a:t> μπορεί να είναι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FF00"/>
                </a:highlight>
                <a:uLnTx/>
                <a:uFillTx/>
                <a:latin typeface="Tahoma" panose="020B0604030504040204" pitchFamily="34" charset="0"/>
              </a:rPr>
              <a:t>int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FF00"/>
                </a:highlight>
                <a:uLnTx/>
                <a:uFillTx/>
                <a:latin typeface="Tahoma" panose="020B0604030504040204" pitchFamily="34" charset="0"/>
              </a:rPr>
              <a:t>και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FF00"/>
                </a:highlight>
                <a:uLnTx/>
                <a:uFillTx/>
                <a:latin typeface="Tahoma" panose="020B0604030504040204" pitchFamily="34" charset="0"/>
              </a:rPr>
              <a:t>float</a:t>
            </a:r>
            <a:endParaRPr kumimoji="0" lang="en-GB" altLang="el-GR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highlight>
                <a:srgbClr val="FFFF00"/>
              </a:highlight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5" name="AutoShape 15">
            <a:extLst>
              <a:ext uri="{FF2B5EF4-FFF2-40B4-BE49-F238E27FC236}">
                <a16:creationId xmlns:a16="http://schemas.microsoft.com/office/drawing/2014/main" id="{81ADB54D-8628-F310-F97A-690ED7F06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1293" y="2605649"/>
            <a:ext cx="4362413" cy="969401"/>
          </a:xfrm>
          <a:prstGeom prst="cloudCallout">
            <a:avLst>
              <a:gd name="adj1" fmla="val -106847"/>
              <a:gd name="adj2" fmla="val 46486"/>
            </a:avLst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Τιμή έκφρασης = </a:t>
            </a:r>
            <a:r>
              <a:rPr kumimoji="0" lang="el-GR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?</a:t>
            </a:r>
            <a:endParaRPr kumimoji="0" lang="en-GB" altLang="el-GR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8A97E5-6689-2C0B-E24F-B9F56B4EDCAF}"/>
              </a:ext>
            </a:extLst>
          </p:cNvPr>
          <p:cNvSpPr txBox="1"/>
          <p:nvPr/>
        </p:nvSpPr>
        <p:spPr>
          <a:xfrm>
            <a:off x="581892" y="3367908"/>
            <a:ext cx="3137766" cy="5847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l-GR" sz="3200" b="1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&lt; y &lt; z</a:t>
            </a:r>
            <a:endParaRPr lang="en-GB" altLang="el-GR" sz="3200" b="1" kern="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D48A64-DD6F-7D92-C8B6-D46F3F1D611A}"/>
              </a:ext>
            </a:extLst>
          </p:cNvPr>
          <p:cNvSpPr txBox="1"/>
          <p:nvPr/>
        </p:nvSpPr>
        <p:spPr>
          <a:xfrm>
            <a:off x="401782" y="4516582"/>
            <a:ext cx="3713018" cy="15696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32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if (a&lt;b)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32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  if (b&lt;c)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32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l-GR" altLang="el-GR" sz="3200" b="1" kern="0" dirty="0">
                <a:solidFill>
                  <a:srgbClr val="000000"/>
                </a:solidFill>
                <a:latin typeface="Courier New" panose="02070309020205020404" pitchFamily="49" charset="0"/>
              </a:rPr>
              <a:t>πρόταση</a:t>
            </a:r>
            <a:endParaRPr lang="en-GB" sz="3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BAB540-2C68-36C1-BD69-DAB1DD932BBD}"/>
              </a:ext>
            </a:extLst>
          </p:cNvPr>
          <p:cNvSpPr txBox="1"/>
          <p:nvPr/>
        </p:nvSpPr>
        <p:spPr>
          <a:xfrm>
            <a:off x="5504261" y="4701247"/>
            <a:ext cx="5694218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3600" kern="0" dirty="0">
                <a:solidFill>
                  <a:srgbClr val="000000"/>
                </a:solidFill>
                <a:latin typeface="Courier New" panose="02070309020205020404" pitchFamily="49" charset="0"/>
              </a:rPr>
              <a:t>if ((a&lt;b) </a:t>
            </a:r>
            <a:r>
              <a:rPr lang="en-US" altLang="el-GR" sz="3600" b="1" kern="0" dirty="0">
                <a:solidFill>
                  <a:srgbClr val="FF0000"/>
                </a:solidFill>
                <a:latin typeface="Courier New" panose="02070309020205020404" pitchFamily="49" charset="0"/>
              </a:rPr>
              <a:t>&amp;&amp;</a:t>
            </a:r>
            <a:r>
              <a:rPr lang="en-US" altLang="el-GR" sz="3600" kern="0" dirty="0">
                <a:solidFill>
                  <a:srgbClr val="000000"/>
                </a:solidFill>
                <a:latin typeface="Courier New" panose="02070309020205020404" pitchFamily="49" charset="0"/>
              </a:rPr>
              <a:t> (b&lt;c))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l-GR" sz="3600" kern="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sz="3600" kern="0" dirty="0">
                <a:solidFill>
                  <a:srgbClr val="000000"/>
                </a:solidFill>
                <a:latin typeface="Courier New" panose="02070309020205020404" pitchFamily="49" charset="0"/>
              </a:rPr>
              <a:t>πρόταση</a:t>
            </a:r>
            <a:endParaRPr lang="en-GB" altLang="el-GR" sz="3600" kern="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16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 autoUpdateAnimBg="0"/>
      <p:bldP spid="15" grpId="0" animBg="1" autoUpdateAnimBg="0"/>
      <p:bldP spid="20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D3DD-A680-6C8E-051F-3119F6E0B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75C838F1-F6BF-E4A9-459B-221F6BBA0A22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1BF83D3-735C-FF1A-DF59-0627CB7A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Τελεστής 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sizeof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BADA98F-F794-BAB0-789B-BBF4B7F82BB6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85B07-AB53-112B-432B-0A6ED1B8AB68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22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962ABD-E9B6-0050-769C-E0DBC1D21C03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4980960-0151-E7D2-2CA1-141503FCE961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3E07466-EBD1-0078-3603-FC4732452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63" y="5365175"/>
            <a:ext cx="13901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sizeof</a:t>
            </a:r>
            <a:endParaRPr kumimoji="0" lang="en-GB" altLang="el-GR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A0F2EA8A-225A-4750-A545-71C190859935}"/>
              </a:ext>
            </a:extLst>
          </p:cNvPr>
          <p:cNvSpPr/>
          <p:nvPr/>
        </p:nvSpPr>
        <p:spPr>
          <a:xfrm>
            <a:off x="1147525" y="3080543"/>
            <a:ext cx="4846168" cy="1496291"/>
          </a:xfrm>
          <a:prstGeom prst="borderCallout2">
            <a:avLst>
              <a:gd name="adj1" fmla="val 51313"/>
              <a:gd name="adj2" fmla="val 596"/>
              <a:gd name="adj3" fmla="val 83877"/>
              <a:gd name="adj4" fmla="val -17024"/>
              <a:gd name="adj5" fmla="val 156997"/>
              <a:gd name="adj6" fmla="val -882"/>
            </a:avLst>
          </a:prstGeom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επιστρέφει τον αριθμό των </a:t>
            </a:r>
            <a:r>
              <a:rPr lang="el-GR" altLang="el-GR" sz="2400" kern="0" dirty="0" err="1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bytes</a:t>
            </a:r>
            <a:r>
              <a:rPr lang="el-GR" altLang="el-GR" sz="2400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που η τιμή της </a:t>
            </a:r>
            <a:r>
              <a:rPr lang="el-GR" altLang="el-GR" sz="2400" b="1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έκφρασης</a:t>
            </a:r>
            <a:r>
              <a:rPr lang="el-GR" altLang="el-GR" sz="2400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ή ο </a:t>
            </a:r>
            <a:r>
              <a:rPr lang="el-GR" altLang="el-GR" sz="2400" b="1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τύπος δεδομένων</a:t>
            </a:r>
            <a:r>
              <a:rPr lang="el-GR" altLang="el-GR" sz="2400" kern="0" dirty="0">
                <a:solidFill>
                  <a:srgbClr val="0000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 καταλαμβάνει στην μνήμη</a:t>
            </a:r>
            <a:endParaRPr lang="en-GB" altLang="el-GR" sz="2400" kern="0" dirty="0">
              <a:solidFill>
                <a:srgbClr val="000000"/>
              </a:solidFill>
              <a:latin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AA052-EA16-39F7-6D5B-0E4D2AD81F9B}"/>
              </a:ext>
            </a:extLst>
          </p:cNvPr>
          <p:cNvSpPr txBox="1"/>
          <p:nvPr/>
        </p:nvSpPr>
        <p:spPr>
          <a:xfrm>
            <a:off x="134911" y="908050"/>
            <a:ext cx="11916420" cy="156966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3200" dirty="0"/>
              <a:t>Είναι </a:t>
            </a:r>
            <a:r>
              <a:rPr lang="el-GR" sz="3200" dirty="0" err="1"/>
              <a:t>μοναδιαίος</a:t>
            </a:r>
            <a:r>
              <a:rPr lang="el-GR" sz="3200" dirty="0"/>
              <a:t> και δρα πάνω σε δύο τύπων </a:t>
            </a:r>
            <a:r>
              <a:rPr lang="el-GR" sz="3200" dirty="0" err="1"/>
              <a:t>τελεστέους</a:t>
            </a:r>
            <a:r>
              <a:rPr lang="el-GR" sz="3200" dirty="0"/>
              <a:t>: </a:t>
            </a:r>
            <a:endParaRPr lang="en-GB" sz="3200" dirty="0"/>
          </a:p>
          <a:p>
            <a:pPr lvl="1"/>
            <a:r>
              <a:rPr lang="el-GR" sz="3200" dirty="0"/>
              <a:t>α) σε έκφραση και </a:t>
            </a:r>
            <a:endParaRPr lang="en-GB" sz="3200" dirty="0"/>
          </a:p>
          <a:p>
            <a:pPr lvl="1"/>
            <a:r>
              <a:rPr lang="el-GR" sz="3200" dirty="0"/>
              <a:t>β) σε τύπο δεδομένων. </a:t>
            </a:r>
            <a:endParaRPr lang="en-GB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B549FB-6FC9-9698-2248-6ACC2FB0A6BF}"/>
              </a:ext>
            </a:extLst>
          </p:cNvPr>
          <p:cNvSpPr txBox="1"/>
          <p:nvPr/>
        </p:nvSpPr>
        <p:spPr>
          <a:xfrm>
            <a:off x="6370169" y="3181078"/>
            <a:ext cx="5821830" cy="310854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[5];</a:t>
            </a:r>
            <a:endParaRPr lang="en-GB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l-GR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GB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l-GR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[0])</a:t>
            </a:r>
            <a:endParaRPr lang="en-GB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l-GR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)/ 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</a:t>
            </a:r>
            <a:r>
              <a:rPr lang="el-GR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[0])</a:t>
            </a:r>
            <a:endParaRPr lang="en-GB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873DBE63-7429-1168-3DD3-A0E3ECCECA96}"/>
              </a:ext>
            </a:extLst>
          </p:cNvPr>
          <p:cNvSpPr/>
          <p:nvPr/>
        </p:nvSpPr>
        <p:spPr>
          <a:xfrm>
            <a:off x="6629887" y="2360520"/>
            <a:ext cx="5421444" cy="720023"/>
          </a:xfrm>
          <a:prstGeom prst="wedgeRoundRectCallout">
            <a:avLst>
              <a:gd name="adj1" fmla="val 44872"/>
              <a:gd name="adj2" fmla="val 89982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l-GR" sz="2800" b="1" dirty="0"/>
              <a:t>Ποιες είναι οι τιμές των εκφράσεων; </a:t>
            </a:r>
          </a:p>
        </p:txBody>
      </p:sp>
    </p:spTree>
    <p:extLst>
      <p:ext uri="{BB962C8B-B14F-4D97-AF65-F5344CB8AC3E}">
        <p14:creationId xmlns:p14="http://schemas.microsoft.com/office/powerpoint/2010/main" val="289558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4922-2AC3-5C07-E77B-38FCB115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F6FA6FA1-7E51-7281-800C-B5192733612F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D5D093D-0515-ECCF-1B63-200A9D8A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Μετατροπές Τύπων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5D95D953-9F5C-93ED-BDB1-CBD4F64E7EB9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7381CA-BDC7-50B0-3168-DAB673E6F865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23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22B493-F36D-F923-750F-1A074D697522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0DFAAC3-48EA-AA5A-DF10-FD0B7282AB49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D199A-4A82-69CA-BABE-840DFEDE5083}"/>
              </a:ext>
            </a:extLst>
          </p:cNvPr>
          <p:cNvSpPr txBox="1"/>
          <p:nvPr/>
        </p:nvSpPr>
        <p:spPr>
          <a:xfrm>
            <a:off x="140669" y="918783"/>
            <a:ext cx="11871449" cy="954107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“μπορεί ένας τελεστής να εφαρμοστεί σε </a:t>
            </a:r>
            <a:r>
              <a:rPr lang="el-GR" sz="2800" dirty="0" err="1"/>
              <a:t>τελεστέους</a:t>
            </a:r>
            <a:r>
              <a:rPr lang="el-GR" sz="2800" dirty="0"/>
              <a:t> διαφορετικού τύπου;” ή διαφορετικά “μπορώ να προσθέτω πορτοκάλια με μήλα;”</a:t>
            </a:r>
            <a:endParaRPr lang="en-GB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887101-1986-5625-B0EC-3661325D3B73}"/>
              </a:ext>
            </a:extLst>
          </p:cNvPr>
          <p:cNvSpPr txBox="1"/>
          <p:nvPr/>
        </p:nvSpPr>
        <p:spPr>
          <a:xfrm>
            <a:off x="140669" y="2308485"/>
            <a:ext cx="11910662" cy="2246769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Οι περισσότεροι δυαδικοί τελεστές απαιτούν από τους τελεστές τους να είναι του ίδιου τύπου (…). Παρόλα αυτά </a:t>
            </a:r>
            <a:r>
              <a:rPr lang="el-GR" sz="2800" b="1" dirty="0"/>
              <a:t>η C επιτρέπει </a:t>
            </a:r>
            <a:r>
              <a:rPr lang="el-GR" sz="2800" dirty="0"/>
              <a:t>με ελάχιστους  περιορισμούς </a:t>
            </a:r>
            <a:r>
              <a:rPr lang="el-GR" sz="2800" b="1" dirty="0"/>
              <a:t>την ανάμειξη των αριθμητικών τύπων σε εκφράσεις</a:t>
            </a:r>
            <a:r>
              <a:rPr lang="el-GR" sz="2800" dirty="0"/>
              <a:t>, και αυτό γιατί ο μεταγλωττιστής αναλαμβάνει να μετατρέψει αυτόματα τους τελεστές ώστε να είναι ίδιου τύπου. </a:t>
            </a:r>
            <a:endParaRPr lang="en-GB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36B9C7-E53D-D1BE-DB07-59F7A6E03E3B}"/>
              </a:ext>
            </a:extLst>
          </p:cNvPr>
          <p:cNvSpPr txBox="1"/>
          <p:nvPr/>
        </p:nvSpPr>
        <p:spPr>
          <a:xfrm>
            <a:off x="140669" y="4792150"/>
            <a:ext cx="11871449" cy="138499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Οι μετατροπές τύπων μπορεί να είναι είτε υπονοούμενες (</a:t>
            </a:r>
            <a:r>
              <a:rPr lang="el-GR" sz="2800" b="1" dirty="0" err="1"/>
              <a:t>implicit</a:t>
            </a:r>
            <a:r>
              <a:rPr lang="el-GR" sz="2800" b="1" dirty="0"/>
              <a:t> </a:t>
            </a:r>
            <a:r>
              <a:rPr lang="el-GR" sz="2800" b="1" dirty="0" err="1"/>
              <a:t>conversions</a:t>
            </a:r>
            <a:r>
              <a:rPr lang="el-GR" sz="2800" dirty="0"/>
              <a:t>) οπότε εκτελούνται αυτόματα από το σύστημα, είτε να προσδιορίζονται ρητά από τον προγραμματιστή (</a:t>
            </a:r>
            <a:r>
              <a:rPr lang="el-GR" sz="2800" b="1" dirty="0" err="1"/>
              <a:t>explicit</a:t>
            </a:r>
            <a:r>
              <a:rPr lang="el-GR" sz="2800" b="1" dirty="0"/>
              <a:t> </a:t>
            </a:r>
            <a:r>
              <a:rPr lang="el-GR" sz="2800" b="1" dirty="0" err="1"/>
              <a:t>conversions</a:t>
            </a:r>
            <a:r>
              <a:rPr lang="el-GR" sz="2800" dirty="0"/>
              <a:t>).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340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2583-4517-C927-3DFB-15967A87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8B49427F-F03F-6B4D-E5E2-83A0B45A785D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1F1C869-C041-1358-9B5E-366A0D97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Υπονοούμενες μετατροπές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431F3E8C-9001-9390-1EE9-81B864DAAA77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28373F-7DDA-2FAF-4F1A-D48C93397AF9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24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744336-64D5-CEED-A539-EB578E33C666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8FB8EFD-F4B9-A6B4-F6C0-5D575F0069B7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ACD33-2A57-53DB-5941-113935E7FCD3}"/>
              </a:ext>
            </a:extLst>
          </p:cNvPr>
          <p:cNvSpPr txBox="1"/>
          <p:nvPr/>
        </p:nvSpPr>
        <p:spPr>
          <a:xfrm>
            <a:off x="140668" y="786361"/>
            <a:ext cx="11871449" cy="138499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Οι υπονοούμενες μετατροπές διευκολύνουν τη δουλειά του προγραμματιστή, ο οποίος όμως σε κάθε περίπτωση πρέπει να γνωρίζει τις συνέπειες μιας τέτοιας μετατροπής.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C3FD4-376C-FE88-01B4-ABCA0069447B}"/>
              </a:ext>
            </a:extLst>
          </p:cNvPr>
          <p:cNvSpPr txBox="1"/>
          <p:nvPr/>
        </p:nvSpPr>
        <p:spPr>
          <a:xfrm>
            <a:off x="140667" y="3198214"/>
            <a:ext cx="11871449" cy="310854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Η C βασίζει τη διαδικασία της αυτόματης μετατροπής, στον κανόνα ο οποίος ορίζει ότι ο στενότερος τύπος μετατρέπεται στον ευρύτερο χωρίς να υπάρχει απώλεια πληροφορίας. </a:t>
            </a:r>
          </a:p>
          <a:p>
            <a:r>
              <a:rPr lang="el-GR" sz="2800" dirty="0"/>
              <a:t>Ο κανόνας αυτός βασίζεται στο γεγονός ότι όλοι οι τύποι της γλώσσας ταξινομούνται ανάλογα με το μέγεθος της μνήμης που απαιτούν για αποθήκευση όπως παρακάτω </a:t>
            </a:r>
            <a:endParaRPr lang="en-GB" sz="2800" dirty="0"/>
          </a:p>
          <a:p>
            <a:pPr algn="ctr"/>
            <a:r>
              <a:rPr lang="en-GB" sz="2800" b="1" dirty="0"/>
              <a:t>char &lt; int &lt; long &lt; float &lt; double </a:t>
            </a:r>
            <a:endParaRPr lang="en-GB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05AB1-C7A7-0C85-1D05-D5AC1CAA7444}"/>
              </a:ext>
            </a:extLst>
          </p:cNvPr>
          <p:cNvSpPr txBox="1"/>
          <p:nvPr/>
        </p:nvSpPr>
        <p:spPr>
          <a:xfrm>
            <a:off x="869431" y="2468669"/>
            <a:ext cx="2850226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3200" b="1" dirty="0"/>
              <a:t>3.0 + 1 / 2 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1287522-05A7-93FE-A2ED-A3798D015B00}"/>
              </a:ext>
            </a:extLst>
          </p:cNvPr>
          <p:cNvSpPr/>
          <p:nvPr/>
        </p:nvSpPr>
        <p:spPr>
          <a:xfrm>
            <a:off x="5246556" y="2301818"/>
            <a:ext cx="5421444" cy="720023"/>
          </a:xfrm>
          <a:prstGeom prst="wedgeRoundRectCallout">
            <a:avLst>
              <a:gd name="adj1" fmla="val -56050"/>
              <a:gd name="adj2" fmla="val 79573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l-GR" sz="2800" b="1"/>
              <a:t>Ποια είναι η τιμή της έκφρασης</a:t>
            </a:r>
            <a:endParaRPr lang="el-GR" sz="2800" b="1" dirty="0"/>
          </a:p>
        </p:txBody>
      </p:sp>
    </p:spTree>
    <p:extLst>
      <p:ext uri="{BB962C8B-B14F-4D97-AF65-F5344CB8AC3E}">
        <p14:creationId xmlns:p14="http://schemas.microsoft.com/office/powerpoint/2010/main" val="39539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0942B-422D-4155-F9AE-DBF49CA1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9677B193-1542-78DD-33BF-3CF51E1568C8}"/>
              </a:ext>
            </a:extLst>
          </p:cNvPr>
          <p:cNvSpPr/>
          <p:nvPr/>
        </p:nvSpPr>
        <p:spPr>
          <a:xfrm>
            <a:off x="0" y="6574639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D9F511A-8E78-E3EF-CF93-4077954C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Ρητές μετατροπές – Τελεστής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casting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FF9C05E8-953F-6B99-A668-040A6AB7CAF3}"/>
              </a:ext>
            </a:extLst>
          </p:cNvPr>
          <p:cNvSpPr txBox="1">
            <a:spLocks/>
          </p:cNvSpPr>
          <p:nvPr/>
        </p:nvSpPr>
        <p:spPr>
          <a:xfrm>
            <a:off x="-1" y="6599394"/>
            <a:ext cx="3840633" cy="23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© 202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5</a:t>
            </a:r>
            <a:r>
              <a:rPr lang="en-US" sz="1100" dirty="0">
                <a:solidFill>
                  <a:schemeClr val="tx1"/>
                </a:solidFill>
                <a:latin typeface="Bahnschrift" panose="020B0502040204020203" pitchFamily="34" charset="0"/>
              </a:rPr>
              <a:t> </a:t>
            </a:r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Μια Εισαγωγή στην Τέχνη του Προγραμματισμού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4A845-199E-C83D-D1A1-1CF0B3A38487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latin typeface="Bahnschrift Light" panose="020B0502040204020203" pitchFamily="34" charset="0"/>
                <a:cs typeface="Arial" pitchFamily="34" charset="0"/>
              </a:rPr>
              <a:pPr algn="r"/>
              <a:t>25</a:t>
            </a:fld>
            <a:endParaRPr lang="en-US" sz="1200" dirty="0"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D081D-A423-0B38-B1A5-1C8E3210DE6D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0"/>
            <a:ext cx="9144000" cy="908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rgbClr val="0033CC"/>
              </a:solidFill>
              <a:latin typeface="Times New Roman" pitchFamily="18" charset="0"/>
            </a:endParaRPr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86F2AD3-AE5C-956D-E87B-1279E33CF098}"/>
              </a:ext>
            </a:extLst>
          </p:cNvPr>
          <p:cNvSpPr txBox="1">
            <a:spLocks/>
          </p:cNvSpPr>
          <p:nvPr/>
        </p:nvSpPr>
        <p:spPr>
          <a:xfrm>
            <a:off x="3719657" y="6610127"/>
            <a:ext cx="4631713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100" dirty="0">
                <a:solidFill>
                  <a:schemeClr val="tx1"/>
                </a:solidFill>
                <a:latin typeface="Bahnschrift" panose="020B0502040204020203" pitchFamily="34" charset="0"/>
              </a:rPr>
              <a:t>Τελεστές-Εκφράσεις-Προτάσεις</a:t>
            </a:r>
            <a:endParaRPr lang="en-US" sz="1100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8B09D-E548-710D-C69B-E378257B019B}"/>
              </a:ext>
            </a:extLst>
          </p:cNvPr>
          <p:cNvSpPr txBox="1"/>
          <p:nvPr/>
        </p:nvSpPr>
        <p:spPr>
          <a:xfrm>
            <a:off x="179882" y="1049311"/>
            <a:ext cx="11871449" cy="181588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l-GR" sz="2800" dirty="0"/>
              <a:t>η C μας επιτρέπει να κάνουμε ρητές μετατροπές μιας τιμής σε ένα διαφορετικό τύπο. </a:t>
            </a:r>
            <a:endParaRPr lang="en-US" sz="2800" dirty="0"/>
          </a:p>
          <a:p>
            <a:r>
              <a:rPr lang="el-GR" sz="2800" dirty="0"/>
              <a:t>Η ρητή αυτή μετατροπή είναι γνωστή ως </a:t>
            </a:r>
            <a:r>
              <a:rPr lang="el-GR" sz="2800" dirty="0" err="1"/>
              <a:t>casting</a:t>
            </a:r>
            <a:r>
              <a:rPr lang="el-GR" sz="2800" dirty="0"/>
              <a:t> και εκτελείται με μια κατασκευή γνωστή με το όνομα </a:t>
            </a:r>
            <a:r>
              <a:rPr lang="el-GR" sz="2800" b="1" dirty="0" err="1"/>
              <a:t>cast</a:t>
            </a:r>
            <a:r>
              <a:rPr lang="el-GR" sz="2800" dirty="0"/>
              <a:t>. </a:t>
            </a:r>
            <a:endParaRPr lang="en-GB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2E14F9-D8CD-5F2F-A31F-4265C33D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83" y="3264066"/>
            <a:ext cx="5407621" cy="270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1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eTemplate.pptx" id="{A31108D6-E4B0-4190-AA76-B9903461DCB5}" vid="{4D417C6B-F843-4B20-8F47-97C82AEC1391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eTemplate.pptx" id="{A31108D6-E4B0-4190-AA76-B9903461DCB5}" vid="{998B9B14-FEEA-4C16-BB17-7DDED9D565B5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I2PModuleTemplate</Template>
  <TotalTime>2440</TotalTime>
  <Words>1696</Words>
  <Application>Microsoft Office PowerPoint</Application>
  <PresentationFormat>Widescreen</PresentationFormat>
  <Paragraphs>318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Arial</vt:lpstr>
      <vt:lpstr>Bahnschrift</vt:lpstr>
      <vt:lpstr>Bahnschrift Light</vt:lpstr>
      <vt:lpstr>Calibri</vt:lpstr>
      <vt:lpstr>Calibri Light</vt:lpstr>
      <vt:lpstr>Courier New</vt:lpstr>
      <vt:lpstr>HellasTimes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Bitmap Image</vt:lpstr>
      <vt:lpstr>Document</vt:lpstr>
      <vt:lpstr>PowerPoint Presentation</vt:lpstr>
      <vt:lpstr>Οργάνωση Διάλεξης</vt:lpstr>
      <vt:lpstr>Τελεστής (Operator)</vt:lpstr>
      <vt:lpstr>Έκφραση (Expression)</vt:lpstr>
      <vt:lpstr>Παραδείγματα τελεστών</vt:lpstr>
      <vt:lpstr>Κατηγορίες Τελεστών</vt:lpstr>
      <vt:lpstr>Απλές – Σύνθετες Εκφράσεις</vt:lpstr>
      <vt:lpstr>Συμβολισμοί σχηματισμού εκφράσεων</vt:lpstr>
      <vt:lpstr>Τιμή έκφρασης</vt:lpstr>
      <vt:lpstr>Υπολογισμός απλής έκφρασης   </vt:lpstr>
      <vt:lpstr>Υπολογισμός σύνθετης έκφρασης  1/2</vt:lpstr>
      <vt:lpstr>Προτεραιότητα - Προσεταιριστικότητα τελεστών</vt:lpstr>
      <vt:lpstr>Υπολογισμός σύνθετης έκφρασης   2/2</vt:lpstr>
      <vt:lpstr>Παράδειγμα</vt:lpstr>
      <vt:lpstr>Πρόταση</vt:lpstr>
      <vt:lpstr>Τελεστές της C</vt:lpstr>
      <vt:lpstr>Increment-Decrement Operators</vt:lpstr>
      <vt:lpstr>Τελεστές Αντικατάστασης </vt:lpstr>
      <vt:lpstr>Conditional Operator   ? :</vt:lpstr>
      <vt:lpstr>Συσχετιστικοί τελεστές (Relational operators)</vt:lpstr>
      <vt:lpstr>Λογικοί τελεστές (Logical operators)</vt:lpstr>
      <vt:lpstr>Τελεστής sizeof</vt:lpstr>
      <vt:lpstr>Μετατροπές Τύπων</vt:lpstr>
      <vt:lpstr>Υπονοούμενες μετατροπές</vt:lpstr>
      <vt:lpstr>Ρητές μετατροπές – Τελεστής casting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Kleanthis Thramboulidis</dc:creator>
  <cp:lastModifiedBy>Kleanthis Thramboulidis</cp:lastModifiedBy>
  <cp:revision>12</cp:revision>
  <cp:lastPrinted>2023-02-24T15:57:04Z</cp:lastPrinted>
  <dcterms:created xsi:type="dcterms:W3CDTF">2025-09-27T09:17:58Z</dcterms:created>
  <dcterms:modified xsi:type="dcterms:W3CDTF">2025-10-14T19:29:56Z</dcterms:modified>
</cp:coreProperties>
</file>