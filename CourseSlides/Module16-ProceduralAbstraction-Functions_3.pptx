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27"/>
  </p:notesMasterIdLst>
  <p:sldIdLst>
    <p:sldId id="262" r:id="rId3"/>
    <p:sldId id="863" r:id="rId4"/>
    <p:sldId id="864" r:id="rId5"/>
    <p:sldId id="876" r:id="rId6"/>
    <p:sldId id="818" r:id="rId7"/>
    <p:sldId id="871" r:id="rId8"/>
    <p:sldId id="873" r:id="rId9"/>
    <p:sldId id="874" r:id="rId10"/>
    <p:sldId id="875" r:id="rId11"/>
    <p:sldId id="865" r:id="rId12"/>
    <p:sldId id="866" r:id="rId13"/>
    <p:sldId id="867" r:id="rId14"/>
    <p:sldId id="870" r:id="rId15"/>
    <p:sldId id="872" r:id="rId16"/>
    <p:sldId id="878" r:id="rId17"/>
    <p:sldId id="868" r:id="rId18"/>
    <p:sldId id="869" r:id="rId19"/>
    <p:sldId id="877" r:id="rId20"/>
    <p:sldId id="879" r:id="rId21"/>
    <p:sldId id="880" r:id="rId22"/>
    <p:sldId id="881" r:id="rId23"/>
    <p:sldId id="861" r:id="rId24"/>
    <p:sldId id="882" r:id="rId25"/>
    <p:sldId id="883" r:id="rId2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8" autoAdjust="0"/>
    <p:restoredTop sz="93969" autoAdjust="0"/>
  </p:normalViewPr>
  <p:slideViewPr>
    <p:cSldViewPr snapToGrid="0">
      <p:cViewPr varScale="1">
        <p:scale>
          <a:sx n="67" d="100"/>
          <a:sy n="67" d="100"/>
        </p:scale>
        <p:origin x="474"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14/10/2025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F0BD-B2F6-7173-0A90-F3759982F62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605A4E5-9970-D612-5BC9-C5E22454B71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6C44163-B45D-8678-422C-1527C00E9CB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EC24D62-00DA-876A-7CF8-B1A93BCF41F7}"/>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3837397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D50AA-22DA-ECA4-9BF5-2A71FC6C038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B5E9EFC-4A53-69C7-A64C-AC86E7C2277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1808479-C775-4B0B-F9F7-06AC1F8D9E0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B59E4FC-6496-951A-E270-F9FFD1E0BE6D}"/>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210876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8804-C3FE-B66D-2FA7-4CF1AFBB45B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D84657E-AD47-2BFE-0130-6D4050C690D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9DC5708-7F68-2E7C-2BFF-B87C657F136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8ECBAC7-46CB-9E5C-114E-84F548A29D7C}"/>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1016120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02B-7508-585E-4F49-009EAA438C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B95EB3-1D7B-031E-2AA8-257488295E8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DB813BF-C23F-3E4D-900A-75A69D3778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DD72C6-8023-8803-518A-C93D5F36A914}"/>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2012106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E641-D316-5B29-63A6-A1E08F94685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5F8C31F-DA9B-C8EF-A162-7862A9A4678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54A07C0-FB58-C9EB-3F55-565F97FD5F2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FBD81BF-1F52-59C4-ACC0-7171271726D8}"/>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53255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09E81-0444-5158-8FA7-4DE1595BCE5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E1C2F60-FB8A-ADCE-2526-7E91FA4F3EA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00EBCA6-FF7F-C646-4DF6-A8BCB2923C3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80850A9-F781-64D3-F05A-45669519724F}"/>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3950771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7B9AA-2D5E-5927-61EF-07A7B6DA266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0DE7CA3-1155-D67F-E3C4-78D67997A14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A29E687-E0F7-2193-7280-BABB77A6DAD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E242DEF-BE7A-604B-4D4F-39EC038845C4}"/>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1208262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D011E-1D94-E753-9541-B3A7E9CC9B5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7DC5204-4093-DA56-7B59-2A25AC58F25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2CE0EAA-23C7-07D3-5F8A-2C9ACF64CCA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FA477D1-5B96-726A-456D-1EE212776C24}"/>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2412631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A15B-521E-344E-7D65-CA6C34B0F29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B2458AA-1DF0-95B9-69C2-19F5004F1EF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F521B72-A5B4-EAEC-E338-BE55B234DDC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74E5DA3-BE94-A73A-B52E-BEDC1A2E4478}"/>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682231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6300-27AC-EB71-4A57-FA209D866B1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2BBD51D-4E0F-0E46-75C7-313A1218F5E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466314F-5CCC-F0C1-9EEC-16DFC36A54C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406EB6E-C4C1-81EB-5F8D-310E247439E2}"/>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3767492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90D4-BBF7-8048-12ED-5BBEAB5555D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3514B1B-D249-457D-0FF5-E76719EBCFD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FA3F249-B410-AEA2-A88D-1228529F1EE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AC8F947-D05F-6BD2-E484-A68647940CA9}"/>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509765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F3BC-62B0-9608-DA45-FF4AF0E0B96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3897608-350A-C208-F19D-D75ED54E9C7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6DEEBB5-FBF0-672B-2265-CC99BA95281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6BE1FFC-E8CE-E96E-807D-EC295AF7143D}"/>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236260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71356-15B7-A5C4-7FAE-60580B518AD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2C86ACB-3655-98A4-3F54-9F7F099860C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2C5B8BD-44CB-4DBF-AE07-E24E8A76F7B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426A279-6F19-36BA-6E97-8594D2C1F323}"/>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46592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8ED-88F2-45B0-CB78-699891FD586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DCCE554-EA47-B75C-9C03-0CAF9DDA283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BCC5D32-F81D-E3AD-547A-26F8AB69F11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AF9A7B4-0D3B-7CAE-1ABE-D0842C570C1B}"/>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3595329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EEFC-F7E5-722D-7077-CA35DBDF854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E02D36F-9D47-D303-A5D8-5B96AF2BF19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A22B4BD-6E53-A5AB-FA1B-8F53E89788A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2384163-B348-C362-49D8-EE64F7948092}"/>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707048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50A72-CCFC-5431-6A16-4EDE5A6D0B5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3824AFD-4EDB-EE21-92FB-73DD0DF9BB3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0DCB3EC-86BB-8954-859F-CCFDBF000F9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A7E8DC4-B58E-E9FF-C8E9-558D191792E6}"/>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1025657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2325A-C3EF-B6C0-9571-196F19E5017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3D5D712-AEEF-AD2C-5A45-351FAEEC155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B2AE00A-71DE-2F0B-86C8-1FBBBD9BDE7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27C97BB-600F-6AD6-BC64-9D827A581341}"/>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242436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DC887-56DF-FFE0-A6FD-AA0A6CAD9E7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0F7A58D-D554-4C76-4D59-E8753E5F685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C4CB758-4FB1-6956-3DE1-B1BA1464542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A988AF53-E36D-3B8D-47E4-F3F27CCEFAE1}"/>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2036909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6D053-EC42-5CD9-5362-6933332D49B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8D02449-9D50-0EA4-53C4-C39EAA3CFEB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9C5CD37-8D03-E2F1-8883-706381C3355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F2FC01E-6393-60F8-5668-64B840A442B3}"/>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2694927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0284F-CCA1-BF47-88E2-70A8C02F63F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24410A6-FD35-F436-709E-6EC0FEAB2E1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A3A8C72-C3E7-7CB9-D455-09C5580CC96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83152CC-6119-1F4D-170C-F338269CCC9F}"/>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283307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0D4A-F05C-9011-1673-7893921B4E2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AF27239-5F0C-03E6-A518-92751528005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430EC53-73E6-C614-8A8F-FDB550DEBEC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B6A8712-6AD9-1C9D-7F81-31ABFC736994}"/>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570057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B4D4-54F4-1DFB-4617-C64226CF627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9728D06-A05D-4DFC-6565-7E286D82189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DFEF8A0-73A2-1EAE-A5DE-6B26AD227C0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6587C08-F7E2-FA93-DD6A-70B30307A31E}"/>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10164427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01A02-72C5-4F8E-D64E-6B59973217B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DBBE7C6-D06A-51CB-2900-8628D5B9B1F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D360B66-B784-946F-9ABB-9DBA3CF18F9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2ACCBFC-C55E-6897-D2E1-0018E285FF1E}"/>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3259926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14/10/2025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14/10/2025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sites.google.com/view/i2art-of-programming/hom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www.csse.uwa.edu.au/programming/ansic-library.html"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hyperlink" Target="https://www.ibm.com/docs/en/i/7.3?topic=extensions-standard-c-library-functions-table-by-name" TargetMode="External"/><Relationship Id="rId4" Type="http://schemas.openxmlformats.org/officeDocument/2006/relationships/hyperlink" Target="https://www.ibm.com/docs/ssw_ibm_i_73/rtref/stalib.ht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resource.com/c-programming/c-printf-statement.php"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6"/>
            <a:ext cx="9349436" cy="720408"/>
          </a:xfrm>
          <a:prstGeom prst="rect">
            <a:avLst/>
          </a:prstGeom>
        </p:spPr>
        <p:txBody>
          <a:bodyPr vert="horz" lIns="91440" tIns="45720" rIns="91440" bIns="45720" rtlCol="0" anchor="b">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Αφαιρετικότητα στις Διεργασίες -Συναρτήσεις</a:t>
            </a:r>
            <a:endParaRPr lang="en-US" sz="4000" b="1" dirty="0">
              <a:solidFill>
                <a:srgbClr val="60D69E"/>
              </a:solidFill>
              <a:latin typeface="Bahnschrift" panose="020B0502040204020203" pitchFamily="34" charset="0"/>
            </a:endParaRP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7420598" y="2904201"/>
            <a:ext cx="3861807"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Procedural</a:t>
            </a:r>
          </a:p>
          <a:p>
            <a:pPr algn="l">
              <a:lnSpc>
                <a:spcPct val="100000"/>
              </a:lnSpc>
              <a:spcBef>
                <a:spcPct val="0"/>
              </a:spcBef>
              <a:spcAft>
                <a:spcPts val="600"/>
              </a:spcAft>
            </a:pPr>
            <a:r>
              <a:rPr lang="en-US" sz="4000" b="1" dirty="0">
                <a:solidFill>
                  <a:srgbClr val="C00000"/>
                </a:solidFill>
                <a:latin typeface="Bahnschrift" panose="020B0502040204020203" pitchFamily="34" charset="0"/>
              </a:rPr>
              <a:t>Abstraction -</a:t>
            </a:r>
          </a:p>
          <a:p>
            <a:pPr algn="l">
              <a:lnSpc>
                <a:spcPct val="100000"/>
              </a:lnSpc>
              <a:spcBef>
                <a:spcPct val="0"/>
              </a:spcBef>
              <a:spcAft>
                <a:spcPts val="600"/>
              </a:spcAft>
            </a:pPr>
            <a:r>
              <a:rPr lang="en-US" sz="4000" b="1" dirty="0">
                <a:solidFill>
                  <a:srgbClr val="C00000"/>
                </a:solidFill>
                <a:latin typeface="Bahnschrift" panose="020B0502040204020203" pitchFamily="34" charset="0"/>
              </a:rPr>
              <a:t>Functions</a:t>
            </a: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pic>
        <p:nvPicPr>
          <p:cNvPr id="3" name="Picture 2">
            <a:extLst>
              <a:ext uri="{FF2B5EF4-FFF2-40B4-BE49-F238E27FC236}">
                <a16:creationId xmlns:a16="http://schemas.microsoft.com/office/drawing/2014/main" id="{9B9DDC62-3F10-4691-6BBD-94DF508A5BB3}"/>
              </a:ext>
            </a:extLst>
          </p:cNvPr>
          <p:cNvPicPr>
            <a:picLocks noChangeAspect="1"/>
          </p:cNvPicPr>
          <p:nvPr/>
        </p:nvPicPr>
        <p:blipFill>
          <a:blip r:embed="rId4"/>
          <a:stretch>
            <a:fillRect/>
          </a:stretch>
        </p:blipFill>
        <p:spPr>
          <a:xfrm>
            <a:off x="16236" y="2971799"/>
            <a:ext cx="7327223" cy="3953799"/>
          </a:xfrm>
          <a:prstGeom prst="rect">
            <a:avLst/>
          </a:prstGeom>
        </p:spPr>
      </p:pic>
      <p:sp>
        <p:nvSpPr>
          <p:cNvPr id="5" name="TextBox 4">
            <a:extLst>
              <a:ext uri="{FF2B5EF4-FFF2-40B4-BE49-F238E27FC236}">
                <a16:creationId xmlns:a16="http://schemas.microsoft.com/office/drawing/2014/main" id="{6AC94CD1-F861-BFFC-3A57-2B52144BF9C8}"/>
              </a:ext>
            </a:extLst>
          </p:cNvPr>
          <p:cNvSpPr txBox="1"/>
          <p:nvPr/>
        </p:nvSpPr>
        <p:spPr>
          <a:xfrm flipH="1">
            <a:off x="4554512" y="2416145"/>
            <a:ext cx="5370738" cy="369332"/>
          </a:xfrm>
          <a:prstGeom prst="rect">
            <a:avLst/>
          </a:prstGeom>
          <a:noFill/>
        </p:spPr>
        <p:txBody>
          <a:bodyPr wrap="square" rtlCol="0">
            <a:spAutoFit/>
          </a:bodyPr>
          <a:lstStyle/>
          <a:p>
            <a:r>
              <a:rPr lang="en-GB" dirty="0"/>
              <a:t>https://sites.google.com/view/i2art-of-programming</a:t>
            </a:r>
          </a:p>
        </p:txBody>
      </p:sp>
      <p:sp>
        <p:nvSpPr>
          <p:cNvPr id="6" name="TextBox 5">
            <a:extLst>
              <a:ext uri="{FF2B5EF4-FFF2-40B4-BE49-F238E27FC236}">
                <a16:creationId xmlns:a16="http://schemas.microsoft.com/office/drawing/2014/main" id="{52798F8E-8A80-6087-865D-BD5A4F6BF6EF}"/>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5"/>
              </a:rPr>
              <a:t>Μια Εισαγωγή στην Τέχνη του Προγραμματισμού</a:t>
            </a:r>
            <a:endParaRPr lang="en-GB" dirty="0"/>
          </a:p>
        </p:txBody>
      </p:sp>
      <p:sp>
        <p:nvSpPr>
          <p:cNvPr id="2" name="Υπότιτλος 2">
            <a:extLst>
              <a:ext uri="{FF2B5EF4-FFF2-40B4-BE49-F238E27FC236}">
                <a16:creationId xmlns:a16="http://schemas.microsoft.com/office/drawing/2014/main" id="{7C1B6816-B674-DE5A-5848-73B49381B749}"/>
              </a:ext>
            </a:extLst>
          </p:cNvPr>
          <p:cNvSpPr txBox="1">
            <a:spLocks/>
          </p:cNvSpPr>
          <p:nvPr/>
        </p:nvSpPr>
        <p:spPr>
          <a:xfrm>
            <a:off x="-16239" y="-1461"/>
            <a:ext cx="12192002" cy="163961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pPr>
            <a:r>
              <a:rPr lang="el-GR" sz="4800" b="1" dirty="0">
                <a:latin typeface="Bahnschrift" panose="020B0502040204020203" pitchFamily="34" charset="0"/>
              </a:rPr>
              <a:t>Εισαγωγή στην Τέχνη του</a:t>
            </a:r>
          </a:p>
          <a:p>
            <a:pPr algn="l">
              <a:lnSpc>
                <a:spcPct val="100000"/>
              </a:lnSpc>
              <a:spcBef>
                <a:spcPct val="0"/>
              </a:spcBef>
            </a:pPr>
            <a:r>
              <a:rPr lang="el-GR" sz="4800" b="1" dirty="0">
                <a:latin typeface="Bahnschrift" panose="020B0502040204020203" pitchFamily="34" charset="0"/>
              </a:rPr>
              <a:t>Προγραμματισμού (με τη </a:t>
            </a:r>
            <a:r>
              <a:rPr lang="en-US" sz="4800" b="1" dirty="0">
                <a:latin typeface="Bahnschrift" panose="020B0502040204020203" pitchFamily="34" charset="0"/>
              </a:rPr>
              <a:t>C</a:t>
            </a:r>
            <a:r>
              <a:rPr lang="el-GR" sz="4800" b="1" dirty="0">
                <a:latin typeface="Bahnschrift" panose="020B0502040204020203" pitchFamily="34" charset="0"/>
              </a:rPr>
              <a:t>)</a:t>
            </a:r>
            <a:endParaRPr lang="en-US" sz="3200" b="1" dirty="0">
              <a:latin typeface="Bahnschrift" panose="020B0502040204020203" pitchFamily="34" charset="0"/>
            </a:endParaRP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4FF9-ED3F-7049-779D-AAB02ED3038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D21FF85-2E78-EA18-F4F5-83D5FC57DB15}"/>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4B57042-E7FB-B8F8-C665-3F5BA5EE1A6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sp>
        <p:nvSpPr>
          <p:cNvPr id="8" name="Θέση υποσέλιδου 4">
            <a:extLst>
              <a:ext uri="{FF2B5EF4-FFF2-40B4-BE49-F238E27FC236}">
                <a16:creationId xmlns:a16="http://schemas.microsoft.com/office/drawing/2014/main" id="{9D7C596E-E3F3-1764-905B-D608B1E6E52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C2830D9-7A6D-AE68-A7E8-E457A5431C6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2437081-5C9E-B355-7897-F18C7686ED67}"/>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832F5833-815B-E2A9-A53F-95AEE8F8D15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F9991C40-0240-84EB-9153-93973D59F9D2}"/>
              </a:ext>
            </a:extLst>
          </p:cNvPr>
          <p:cNvSpPr txBox="1">
            <a:spLocks/>
          </p:cNvSpPr>
          <p:nvPr/>
        </p:nvSpPr>
        <p:spPr bwMode="auto">
          <a:xfrm>
            <a:off x="140670" y="861414"/>
            <a:ext cx="11910662" cy="781284"/>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lgn="ctr">
              <a:buClr>
                <a:srgbClr val="3333CC"/>
              </a:buClr>
              <a:buNone/>
              <a:defRPr/>
            </a:pPr>
            <a:r>
              <a:rPr lang="el-GR" sz="2400" b="1" kern="0" dirty="0">
                <a:solidFill>
                  <a:srgbClr val="000000"/>
                </a:solidFill>
                <a:latin typeface="Tahoma"/>
              </a:rPr>
              <a:t>Εισάγει </a:t>
            </a:r>
            <a:r>
              <a:rPr lang="el-GR" sz="2400" kern="0" dirty="0">
                <a:solidFill>
                  <a:srgbClr val="000000"/>
                </a:solidFill>
                <a:latin typeface="Tahoma"/>
              </a:rPr>
              <a:t>τη συνάρτηση, την βασική κατασκευή της C που μας επιτρέπει να εφαρμόσουμε την αφαιρετικότητα στις διεργασίες στα προγράμματα μας</a:t>
            </a:r>
          </a:p>
        </p:txBody>
      </p:sp>
      <p:sp>
        <p:nvSpPr>
          <p:cNvPr id="4" name="Content Placeholder 2">
            <a:extLst>
              <a:ext uri="{FF2B5EF4-FFF2-40B4-BE49-F238E27FC236}">
                <a16:creationId xmlns:a16="http://schemas.microsoft.com/office/drawing/2014/main" id="{DEBAA579-0DB1-04F5-1050-22869CFD0C05}"/>
              </a:ext>
            </a:extLst>
          </p:cNvPr>
          <p:cNvSpPr txBox="1">
            <a:spLocks/>
          </p:cNvSpPr>
          <p:nvPr/>
        </p:nvSpPr>
        <p:spPr bwMode="auto">
          <a:xfrm>
            <a:off x="1" y="2210737"/>
            <a:ext cx="12191999" cy="3993842"/>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Χρησιμοποιώντας την κατασκευή της συνάρτησης δομούμε τον πηγαίο κώδικα ως ένα σύνολο από επί μέρους μικρά τμήματα κώδικα (συναρτήσεις) τα οποία είναι εύκολο εμείς, αλλά και άλλοι, να κατανοήσουμε και τροποποιήσουμε.</a:t>
            </a:r>
          </a:p>
          <a:p>
            <a:pPr>
              <a:buClr>
                <a:srgbClr val="3333CC"/>
              </a:buClr>
              <a:defRPr/>
            </a:pPr>
            <a:r>
              <a:rPr lang="el-GR" sz="2400" kern="0" dirty="0">
                <a:solidFill>
                  <a:srgbClr val="000000"/>
                </a:solidFill>
                <a:latin typeface="Tahoma"/>
              </a:rPr>
              <a:t>Η συνάρτηση μας επιτρέπει να ομαδοποιήσουμε ένα σύνολο από προτάσεις που επιτελούν συγκεκριμένο έργο και  ταυτόχρονα να αποκρύψουμε στο εσωτερικό της μεταβλητές (τοπικές μεταβλητές) οι οποίες δεν ενδιαφέρουν τις υπόλοιπες συναρτήσεις του προγράμματος</a:t>
            </a:r>
          </a:p>
          <a:p>
            <a:pPr>
              <a:buClr>
                <a:srgbClr val="3333CC"/>
              </a:buClr>
              <a:defRPr/>
            </a:pPr>
            <a:r>
              <a:rPr lang="el-GR" sz="2400" kern="0" dirty="0">
                <a:solidFill>
                  <a:srgbClr val="000000"/>
                </a:solidFill>
                <a:latin typeface="Tahoma"/>
              </a:rPr>
              <a:t> Άλλες από τις συναρτήσεις είναι έτοιμες και απλά τις επαναχρησιμοποιούμε (π.χ. συναρτήσεις της τυπικής βιβλιοθήκης) και άλλες τις ορίζουμε εμείς εκμεταλλευόμενοι τον μηχανισμό ορισμού και κλήσης που η εκάστοτε γλώσσα διαθέτει.</a:t>
            </a:r>
          </a:p>
        </p:txBody>
      </p:sp>
    </p:spTree>
    <p:extLst>
      <p:ext uri="{BB962C8B-B14F-4D97-AF65-F5344CB8AC3E}">
        <p14:creationId xmlns:p14="http://schemas.microsoft.com/office/powerpoint/2010/main" val="31041568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bg/>
                                          </p:spTgt>
                                        </p:tgtEl>
                                        <p:attrNameLst>
                                          <p:attrName>style.visibility</p:attrName>
                                        </p:attrNameLst>
                                      </p:cBhvr>
                                      <p:to>
                                        <p:strVal val="visible"/>
                                      </p:to>
                                    </p:set>
                                    <p:animEffect transition="in" filter="fade">
                                      <p:cBhvr>
                                        <p:cTn id="16" dur="500"/>
                                        <p:tgtEl>
                                          <p:spTgt spid="4">
                                            <p:bg/>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500"/>
                                        <p:tgtEl>
                                          <p:spTgt spid="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4" grpId="0"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D313665-FB79-3AAE-CA84-85BB97EDE815}"/>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7A63FF4-E335-B843-0ADC-A1FEFF2A600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76DF552-8CA4-9F5B-2BAE-3B71137794F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Συνάρτηση</a:t>
            </a:r>
          </a:p>
        </p:txBody>
      </p:sp>
      <p:sp>
        <p:nvSpPr>
          <p:cNvPr id="8" name="Θέση υποσέλιδου 4">
            <a:extLst>
              <a:ext uri="{FF2B5EF4-FFF2-40B4-BE49-F238E27FC236}">
                <a16:creationId xmlns:a16="http://schemas.microsoft.com/office/drawing/2014/main" id="{91A73317-169D-2380-A9E0-A60D4FB406C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C99D9B7-DCDC-EC49-F86B-3C9D053B802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D453795-53CE-3980-8ABB-CC80EC5B04DD}"/>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A81E0047-7CF2-1D58-FF23-E0DDB50A6BA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AC018858-3E79-1D7B-2C09-A16840E239B7}"/>
              </a:ext>
            </a:extLst>
          </p:cNvPr>
          <p:cNvSpPr txBox="1">
            <a:spLocks noChangeArrowheads="1"/>
          </p:cNvSpPr>
          <p:nvPr/>
        </p:nvSpPr>
        <p:spPr bwMode="auto">
          <a:xfrm>
            <a:off x="140668" y="924476"/>
            <a:ext cx="11746531" cy="1061842"/>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είναι μία </a:t>
            </a:r>
            <a:r>
              <a:rPr kumimoji="0" lang="el-GR" altLang="el-GR" sz="32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αυτόνομη μονάδα κώδικα </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σχεδιασμένη να επιτελεί συγκεκριμένο έργο.</a:t>
            </a:r>
            <a:endParaRPr lang="el-GR" altLang="el-GR" kern="0" dirty="0">
              <a:solidFill>
                <a:srgbClr val="000000"/>
              </a:solidFill>
              <a:latin typeface="Times New Roman" panose="02020603050405020304" pitchFamily="18" charset="0"/>
            </a:endParaRPr>
          </a:p>
          <a:p>
            <a:pPr marL="0" indent="0" eaLnBrk="1" hangingPunct="1">
              <a:buClr>
                <a:srgbClr val="3333CC"/>
              </a:buClr>
              <a:buNone/>
            </a:pPr>
            <a:endParaRPr lang="el-GR" altLang="el-GR" kern="0" dirty="0">
              <a:solidFill>
                <a:srgbClr val="000000"/>
              </a:solidFill>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endPar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endParaRPr>
          </a:p>
        </p:txBody>
      </p:sp>
      <p:sp>
        <p:nvSpPr>
          <p:cNvPr id="16" name="Rectangle 3">
            <a:extLst>
              <a:ext uri="{FF2B5EF4-FFF2-40B4-BE49-F238E27FC236}">
                <a16:creationId xmlns:a16="http://schemas.microsoft.com/office/drawing/2014/main" id="{1DCF0130-A850-9C80-4469-BDCB9710D665}"/>
              </a:ext>
            </a:extLst>
          </p:cNvPr>
          <p:cNvSpPr txBox="1">
            <a:spLocks noChangeArrowheads="1"/>
          </p:cNvSpPr>
          <p:nvPr/>
        </p:nvSpPr>
        <p:spPr bwMode="auto">
          <a:xfrm>
            <a:off x="140667" y="2367158"/>
            <a:ext cx="5955333" cy="3771834"/>
          </a:xfrm>
          <a:prstGeom prst="rect">
            <a:avLst/>
          </a:prstGeom>
          <a:solidFill>
            <a:schemeClr val="bg1"/>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Έργο: Υπολογισμός τετραγωνικής ρίζας</a:t>
            </a:r>
          </a:p>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r>
              <a:rPr lang="el-GR" altLang="el-GR" sz="2400" kern="0" dirty="0">
                <a:solidFill>
                  <a:srgbClr val="000000"/>
                </a:solidFill>
                <a:latin typeface="Times New Roman" panose="02020603050405020304" pitchFamily="18" charset="0"/>
              </a:rPr>
              <a:t>Συνάρτηση: </a:t>
            </a:r>
            <a:r>
              <a:rPr lang="en-US" altLang="el-GR" sz="2400" b="1" kern="0" dirty="0">
                <a:solidFill>
                  <a:srgbClr val="000000"/>
                </a:solidFill>
                <a:latin typeface="Times New Roman" panose="02020603050405020304" pitchFamily="18" charset="0"/>
              </a:rPr>
              <a:t>sqrt() </a:t>
            </a:r>
            <a:r>
              <a:rPr lang="el-GR" altLang="el-GR" sz="2400" kern="0" dirty="0">
                <a:solidFill>
                  <a:srgbClr val="000000"/>
                </a:solidFill>
                <a:latin typeface="Times New Roman" panose="02020603050405020304" pitchFamily="18" charset="0"/>
              </a:rPr>
              <a:t>της τυπικής βιβλιοθήκης</a:t>
            </a:r>
          </a:p>
          <a:p>
            <a:pPr marL="0" indent="0" eaLnBrk="1" hangingPunct="1">
              <a:buClr>
                <a:srgbClr val="3333CC"/>
              </a:buClr>
              <a:buNone/>
            </a:pPr>
            <a:r>
              <a:rPr lang="el-GR" altLang="el-GR" sz="2400" kern="0" dirty="0">
                <a:solidFill>
                  <a:srgbClr val="000000"/>
                </a:solidFill>
                <a:latin typeface="Times New Roman" panose="02020603050405020304" pitchFamily="18" charset="0"/>
              </a:rPr>
              <a:t>Έργο: Μετατροπή συμβολοσειράς σε ακέραιο</a:t>
            </a:r>
          </a:p>
          <a:p>
            <a:pPr marL="0" indent="0" eaLnBrk="1" hangingPunct="1">
              <a:buClr>
                <a:srgbClr val="3333CC"/>
              </a:buClr>
              <a:buNone/>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atoi</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τυπικής βιβλιοθήκης</a:t>
            </a:r>
            <a:endParaRPr lang="en-US" altLang="el-GR" sz="2400" kern="0" dirty="0">
              <a:solidFill>
                <a:srgbClr val="000000"/>
              </a:solidFill>
              <a:latin typeface="Times New Roman" panose="02020603050405020304" pitchFamily="18" charset="0"/>
            </a:endParaRPr>
          </a:p>
          <a:p>
            <a:pPr marL="0" indent="0" eaLnBrk="1" hangingPunct="1">
              <a:buClr>
                <a:srgbClr val="3333CC"/>
              </a:buClr>
              <a:buNone/>
            </a:pPr>
            <a:r>
              <a:rPr lang="el-GR" altLang="el-GR" sz="2400" kern="0" dirty="0">
                <a:solidFill>
                  <a:srgbClr val="000000"/>
                </a:solidFill>
                <a:latin typeface="Times New Roman" panose="02020603050405020304" pitchFamily="18" charset="0"/>
              </a:rPr>
              <a:t>Έργο: Μετατροπή</a:t>
            </a:r>
            <a:r>
              <a:rPr lang="en-US" altLang="el-GR" sz="2400"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ακέραιου σε συμβολοσειρά</a:t>
            </a:r>
          </a:p>
          <a:p>
            <a:pPr marL="0" indent="0" eaLnBrk="1" hangingPunct="1">
              <a:buClr>
                <a:srgbClr val="3333CC"/>
              </a:buClr>
              <a:buNone/>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itoa</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τυπικής βιβλιοθήκης</a:t>
            </a:r>
            <a:endParaRPr lang="en-US" altLang="el-GR" sz="2400" kern="0" dirty="0">
              <a:solidFill>
                <a:srgbClr val="000000"/>
              </a:solidFill>
              <a:latin typeface="Times New Roman" panose="02020603050405020304" pitchFamily="18" charset="0"/>
            </a:endParaRPr>
          </a:p>
          <a:p>
            <a:pPr marL="0" indent="0" eaLnBrk="1" hangingPunct="1">
              <a:buClr>
                <a:srgbClr val="3333CC"/>
              </a:buClr>
              <a:buNone/>
            </a:pPr>
            <a:r>
              <a:rPr lang="el-GR" altLang="el-GR" sz="2400" kern="0" dirty="0">
                <a:solidFill>
                  <a:srgbClr val="000000"/>
                </a:solidFill>
                <a:latin typeface="Times New Roman" panose="02020603050405020304" pitchFamily="18" charset="0"/>
              </a:rPr>
              <a:t>Έργο: Ταξινόμηση στοιχείων πίνακα</a:t>
            </a:r>
          </a:p>
          <a:p>
            <a:pPr marL="0" indent="0" eaLnBrk="1" hangingPunct="1">
              <a:buClr>
                <a:srgbClr val="3333CC"/>
              </a:buClr>
              <a:buNone/>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qsort</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τυπικής βιβλιοθήκης</a:t>
            </a:r>
            <a:endParaRPr lang="en-US" altLang="el-GR" sz="2400" kern="0" dirty="0">
              <a:solidFill>
                <a:srgbClr val="000000"/>
              </a:solidFill>
              <a:latin typeface="Times New Roman" panose="02020603050405020304" pitchFamily="18" charset="0"/>
            </a:endParaRPr>
          </a:p>
          <a:p>
            <a:pPr marL="0" indent="0" eaLnBrk="1" hangingPunct="1">
              <a:buClr>
                <a:srgbClr val="3333CC"/>
              </a:buClr>
              <a:buNone/>
            </a:pPr>
            <a:endParaRPr lang="el-GR" altLang="el-GR" sz="2400" kern="0" dirty="0">
              <a:solidFill>
                <a:srgbClr val="000000"/>
              </a:solidFill>
              <a:latin typeface="Times New Roman" panose="02020603050405020304" pitchFamily="18" charset="0"/>
            </a:endParaRPr>
          </a:p>
          <a:p>
            <a:pPr marL="0" indent="0" eaLnBrk="1" hangingPunct="1">
              <a:buClr>
                <a:srgbClr val="3333CC"/>
              </a:buClr>
              <a:buNone/>
            </a:pPr>
            <a:endParaRPr lang="el-GR" altLang="el-GR" sz="2400" kern="0" dirty="0">
              <a:solidFill>
                <a:srgbClr val="000000"/>
              </a:solidFill>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l-GR" altLang="el-GR" sz="2400" b="1" i="0" u="none" strike="noStrike" kern="0" cap="none" spc="0" normalizeH="0" baseline="0" noProof="0" dirty="0">
              <a:ln>
                <a:noFill/>
              </a:ln>
              <a:solidFill>
                <a:srgbClr val="FF0000"/>
              </a:solidFill>
              <a:effectLst/>
              <a:uLnTx/>
              <a:uFillTx/>
              <a:latin typeface="Times New Roman" panose="02020603050405020304" pitchFamily="18" charset="0"/>
            </a:endParaRPr>
          </a:p>
        </p:txBody>
      </p:sp>
      <p:sp>
        <p:nvSpPr>
          <p:cNvPr id="17" name="Rectangle 3">
            <a:extLst>
              <a:ext uri="{FF2B5EF4-FFF2-40B4-BE49-F238E27FC236}">
                <a16:creationId xmlns:a16="http://schemas.microsoft.com/office/drawing/2014/main" id="{070F6F23-438E-D4B2-AA19-0403889DFB97}"/>
              </a:ext>
            </a:extLst>
          </p:cNvPr>
          <p:cNvSpPr txBox="1">
            <a:spLocks noChangeArrowheads="1"/>
          </p:cNvSpPr>
          <p:nvPr/>
        </p:nvSpPr>
        <p:spPr bwMode="auto">
          <a:xfrm>
            <a:off x="6095998" y="2367157"/>
            <a:ext cx="5955333" cy="3395013"/>
          </a:xfrm>
          <a:prstGeom prst="rect">
            <a:avLst/>
          </a:prstGeom>
          <a:solidFill>
            <a:schemeClr val="bg1"/>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r>
              <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rPr>
              <a:t>Έργο:</a:t>
            </a:r>
            <a:r>
              <a:rPr kumimoji="0" lang="el-GR" altLang="el-GR" sz="2400" b="0" i="0" u="none" strike="noStrike" kern="0" cap="none" spc="0" normalizeH="0" noProof="0" dirty="0">
                <a:ln>
                  <a:noFill/>
                </a:ln>
                <a:solidFill>
                  <a:srgbClr val="000000"/>
                </a:solidFill>
                <a:effectLst/>
                <a:uLnTx/>
                <a:uFillTx/>
                <a:latin typeface="Times New Roman" panose="02020603050405020304" pitchFamily="18" charset="0"/>
              </a:rPr>
              <a:t> Είσοδος ακεραίου </a:t>
            </a:r>
            <a:r>
              <a:rPr lang="el-GR" altLang="el-GR" sz="2400" kern="0" dirty="0">
                <a:solidFill>
                  <a:srgbClr val="000000"/>
                </a:solidFill>
                <a:latin typeface="Times New Roman" panose="02020603050405020304" pitchFamily="18" charset="0"/>
              </a:rPr>
              <a:t>από βασική είσοδο</a:t>
            </a: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getInt</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βιβλιοθήκης</a:t>
            </a:r>
            <a:r>
              <a:rPr lang="en-US" altLang="el-GR" sz="2400" kern="0" dirty="0">
                <a:solidFill>
                  <a:srgbClr val="000000"/>
                </a:solidFill>
                <a:latin typeface="Times New Roman" panose="02020603050405020304" pitchFamily="18" charset="0"/>
              </a:rPr>
              <a:t> i2p</a:t>
            </a:r>
            <a:endParaRPr lang="el-GR" altLang="el-GR" sz="2400" kern="0" dirty="0">
              <a:solidFill>
                <a:srgbClr val="000000"/>
              </a:solidFill>
              <a:latin typeface="Times New Roman" panose="02020603050405020304" pitchFamily="18" charset="0"/>
            </a:endParaRPr>
          </a:p>
          <a:p>
            <a:pPr marL="0" indent="0" eaLnBrk="1" hangingPunct="1">
              <a:buClr>
                <a:srgbClr val="3333CC"/>
              </a:buClr>
              <a:buNone/>
            </a:pPr>
            <a:r>
              <a:rPr lang="el-GR" altLang="el-GR" sz="2400" kern="0" dirty="0">
                <a:solidFill>
                  <a:srgbClr val="000000"/>
                </a:solidFill>
                <a:latin typeface="Times New Roman" panose="02020603050405020304" pitchFamily="18" charset="0"/>
              </a:rPr>
              <a:t>Έργο: Εμφάνιση ακεραίου σε βασική έξοδο</a:t>
            </a:r>
          </a:p>
          <a:p>
            <a:pPr marL="0" indent="0" eaLnBrk="1" hangingPunct="1">
              <a:buClr>
                <a:srgbClr val="3333CC"/>
              </a:buClr>
              <a:buNone/>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printInt</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βιβλιοθήκης</a:t>
            </a:r>
            <a:r>
              <a:rPr lang="en-US" altLang="el-GR" sz="2400" kern="0" dirty="0">
                <a:solidFill>
                  <a:srgbClr val="000000"/>
                </a:solidFill>
                <a:latin typeface="Times New Roman" panose="02020603050405020304" pitchFamily="18" charset="0"/>
              </a:rPr>
              <a:t> i2p</a:t>
            </a:r>
          </a:p>
          <a:p>
            <a:pPr marL="0" lvl="0" indent="0" eaLnBrk="1" hangingPunct="1">
              <a:buClr>
                <a:srgbClr val="3333CC"/>
              </a:buClr>
              <a:buNone/>
              <a:defRPr/>
            </a:pPr>
            <a:r>
              <a:rPr lang="el-GR" altLang="el-GR" sz="2400" kern="0" dirty="0">
                <a:solidFill>
                  <a:srgbClr val="000000"/>
                </a:solidFill>
                <a:latin typeface="Times New Roman" panose="02020603050405020304" pitchFamily="18" charset="0"/>
              </a:rPr>
              <a:t>Έργο: Είσοδος χαρακτήρα από βασική είσοδο</a:t>
            </a:r>
          </a:p>
          <a:p>
            <a:pPr marL="0" lvl="0" indent="0" eaLnBrk="1" hangingPunct="1">
              <a:buClr>
                <a:srgbClr val="3333CC"/>
              </a:buClr>
              <a:buNone/>
              <a:defRPr/>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getChar</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βιβλιοθήκης</a:t>
            </a:r>
            <a:r>
              <a:rPr lang="en-US" altLang="el-GR" sz="2400" kern="0" dirty="0">
                <a:solidFill>
                  <a:srgbClr val="000000"/>
                </a:solidFill>
                <a:latin typeface="Times New Roman" panose="02020603050405020304" pitchFamily="18" charset="0"/>
              </a:rPr>
              <a:t> i2p</a:t>
            </a:r>
          </a:p>
          <a:p>
            <a:pPr marL="0" lvl="0" indent="0" eaLnBrk="1" hangingPunct="1">
              <a:buClr>
                <a:srgbClr val="3333CC"/>
              </a:buClr>
              <a:buNone/>
              <a:defRPr/>
            </a:pPr>
            <a:r>
              <a:rPr lang="el-GR" altLang="el-GR" sz="2400" kern="0" dirty="0">
                <a:solidFill>
                  <a:srgbClr val="000000"/>
                </a:solidFill>
                <a:latin typeface="Times New Roman" panose="02020603050405020304" pitchFamily="18" charset="0"/>
              </a:rPr>
              <a:t>Έργο: Είσοδος </a:t>
            </a:r>
            <a:r>
              <a:rPr lang="el-GR" altLang="el-GR" sz="2400" kern="0" dirty="0" err="1">
                <a:solidFill>
                  <a:srgbClr val="000000"/>
                </a:solidFill>
                <a:latin typeface="Times New Roman" panose="02020603050405020304" pitchFamily="18" charset="0"/>
              </a:rPr>
              <a:t>συμβολοσειρας</a:t>
            </a:r>
            <a:r>
              <a:rPr lang="el-GR" altLang="el-GR" sz="2400" kern="0" dirty="0">
                <a:solidFill>
                  <a:srgbClr val="000000"/>
                </a:solidFill>
                <a:latin typeface="Times New Roman" panose="02020603050405020304" pitchFamily="18" charset="0"/>
              </a:rPr>
              <a:t> από βασική είσοδο</a:t>
            </a:r>
          </a:p>
          <a:p>
            <a:pPr marL="0" lvl="0" indent="0" eaLnBrk="1" hangingPunct="1">
              <a:buClr>
                <a:srgbClr val="3333CC"/>
              </a:buClr>
              <a:buNone/>
              <a:defRPr/>
            </a:pPr>
            <a:r>
              <a:rPr lang="el-GR" altLang="el-GR" sz="2400" kern="0" dirty="0">
                <a:solidFill>
                  <a:srgbClr val="000000"/>
                </a:solidFill>
                <a:latin typeface="Times New Roman" panose="02020603050405020304" pitchFamily="18" charset="0"/>
              </a:rPr>
              <a:t>Συνάρτηση: </a:t>
            </a:r>
            <a:r>
              <a:rPr lang="en-US" altLang="el-GR" sz="2400" b="1" kern="0" dirty="0" err="1">
                <a:solidFill>
                  <a:srgbClr val="000000"/>
                </a:solidFill>
                <a:latin typeface="Times New Roman" panose="02020603050405020304" pitchFamily="18" charset="0"/>
              </a:rPr>
              <a:t>getString</a:t>
            </a:r>
            <a:r>
              <a:rPr lang="en-US" altLang="el-GR" sz="2400" b="1" kern="0" dirty="0">
                <a:solidFill>
                  <a:srgbClr val="000000"/>
                </a:solidFill>
                <a:latin typeface="Times New Roman" panose="02020603050405020304" pitchFamily="18" charset="0"/>
              </a:rPr>
              <a:t>() </a:t>
            </a:r>
            <a:r>
              <a:rPr lang="el-GR" altLang="el-GR" sz="2400" kern="0" dirty="0">
                <a:solidFill>
                  <a:srgbClr val="000000"/>
                </a:solidFill>
                <a:latin typeface="Times New Roman" panose="02020603050405020304" pitchFamily="18" charset="0"/>
              </a:rPr>
              <a:t>της βιβλιοθήκης</a:t>
            </a:r>
            <a:r>
              <a:rPr lang="en-US" altLang="el-GR" sz="2400" kern="0" dirty="0">
                <a:solidFill>
                  <a:srgbClr val="000000"/>
                </a:solidFill>
                <a:latin typeface="Times New Roman" panose="02020603050405020304" pitchFamily="18" charset="0"/>
              </a:rPr>
              <a:t> i2p</a:t>
            </a:r>
            <a:endParaRPr lang="el-GR" altLang="el-GR" sz="2400" kern="0" dirty="0">
              <a:solidFill>
                <a:srgbClr val="000000"/>
              </a:solidFill>
              <a:latin typeface="Times New Roman" panose="02020603050405020304" pitchFamily="18" charset="0"/>
            </a:endParaRPr>
          </a:p>
          <a:p>
            <a:pPr marL="0" lvl="0" indent="0" eaLnBrk="1" hangingPunct="1">
              <a:buClr>
                <a:srgbClr val="3333CC"/>
              </a:buClr>
              <a:buNone/>
              <a:defRPr/>
            </a:pPr>
            <a:endParaRPr lang="el-GR" altLang="el-GR" sz="2400" kern="0" dirty="0">
              <a:solidFill>
                <a:srgbClr val="000000"/>
              </a:solidFill>
              <a:latin typeface="Times New Roman" panose="02020603050405020304" pitchFamily="18" charset="0"/>
            </a:endParaRPr>
          </a:p>
          <a:p>
            <a:pPr marL="0" indent="0" eaLnBrk="1" hangingPunct="1">
              <a:buClr>
                <a:srgbClr val="3333CC"/>
              </a:buClr>
              <a:buNone/>
            </a:pPr>
            <a:endParaRPr lang="el-GR" altLang="el-GR" sz="2400" kern="0" dirty="0">
              <a:solidFill>
                <a:srgbClr val="000000"/>
              </a:solidFill>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3333CC"/>
              </a:buClr>
              <a:buSzPct val="60000"/>
              <a:buNone/>
              <a:tabLst/>
              <a:defRPr/>
            </a:pP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endParaRPr kumimoji="0" lang="el-GR" altLang="el-GR" sz="2400" b="1" i="0" u="none" strike="noStrike" kern="0" cap="none" spc="0" normalizeH="0" baseline="0" noProof="0" dirty="0">
              <a:ln>
                <a:noFill/>
              </a:ln>
              <a:solidFill>
                <a:srgbClr val="FF0000"/>
              </a:solidFill>
              <a:effectLst/>
              <a:uLnTx/>
              <a:uFillTx/>
              <a:latin typeface="Times New Roman" panose="02020603050405020304" pitchFamily="18" charset="0"/>
            </a:endParaRPr>
          </a:p>
        </p:txBody>
      </p:sp>
      <p:cxnSp>
        <p:nvCxnSpPr>
          <p:cNvPr id="19" name="Straight Connector 18">
            <a:extLst>
              <a:ext uri="{FF2B5EF4-FFF2-40B4-BE49-F238E27FC236}">
                <a16:creationId xmlns:a16="http://schemas.microsoft.com/office/drawing/2014/main" id="{36E2886C-CE71-65CF-DD00-0C0C8649D71C}"/>
              </a:ext>
            </a:extLst>
          </p:cNvPr>
          <p:cNvCxnSpPr/>
          <p:nvPr/>
        </p:nvCxnSpPr>
        <p:spPr>
          <a:xfrm>
            <a:off x="6095998" y="2367157"/>
            <a:ext cx="0" cy="3815929"/>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85963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dissolve">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dissolve">
                                      <p:cBhvr>
                                        <p:cTn id="17" dur="500"/>
                                        <p:tgtEl>
                                          <p:spTgt spid="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dissolve">
                                      <p:cBhvr>
                                        <p:cTn id="22" dur="500"/>
                                        <p:tgtEl>
                                          <p:spTgt spid="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xEl>
                                              <p:pRg st="3" end="3"/>
                                            </p:txEl>
                                          </p:spTgt>
                                        </p:tgtEl>
                                        <p:attrNameLst>
                                          <p:attrName>style.visibility</p:attrName>
                                        </p:attrNameLst>
                                      </p:cBhvr>
                                      <p:to>
                                        <p:strVal val="visible"/>
                                      </p:to>
                                    </p:set>
                                    <p:animEffect transition="in" filter="dissolve">
                                      <p:cBhvr>
                                        <p:cTn id="27" dur="500"/>
                                        <p:tgtEl>
                                          <p:spTgt spid="1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xEl>
                                              <p:pRg st="4" end="4"/>
                                            </p:txEl>
                                          </p:spTgt>
                                        </p:tgtEl>
                                        <p:attrNameLst>
                                          <p:attrName>style.visibility</p:attrName>
                                        </p:attrNameLst>
                                      </p:cBhvr>
                                      <p:to>
                                        <p:strVal val="visible"/>
                                      </p:to>
                                    </p:set>
                                    <p:animEffect transition="in" filter="dissolve">
                                      <p:cBhvr>
                                        <p:cTn id="32" dur="500"/>
                                        <p:tgtEl>
                                          <p:spTgt spid="1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
                                            <p:txEl>
                                              <p:pRg st="5" end="5"/>
                                            </p:txEl>
                                          </p:spTgt>
                                        </p:tgtEl>
                                        <p:attrNameLst>
                                          <p:attrName>style.visibility</p:attrName>
                                        </p:attrNameLst>
                                      </p:cBhvr>
                                      <p:to>
                                        <p:strVal val="visible"/>
                                      </p:to>
                                    </p:set>
                                    <p:animEffect transition="in" filter="dissolve">
                                      <p:cBhvr>
                                        <p:cTn id="37" dur="500"/>
                                        <p:tgtEl>
                                          <p:spTgt spid="1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xEl>
                                              <p:pRg st="6" end="6"/>
                                            </p:txEl>
                                          </p:spTgt>
                                        </p:tgtEl>
                                        <p:attrNameLst>
                                          <p:attrName>style.visibility</p:attrName>
                                        </p:attrNameLst>
                                      </p:cBhvr>
                                      <p:to>
                                        <p:strVal val="visible"/>
                                      </p:to>
                                    </p:set>
                                    <p:animEffect transition="in" filter="dissolve">
                                      <p:cBhvr>
                                        <p:cTn id="42" dur="500"/>
                                        <p:tgtEl>
                                          <p:spTgt spid="1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
                                            <p:txEl>
                                              <p:pRg st="7" end="7"/>
                                            </p:txEl>
                                          </p:spTgt>
                                        </p:tgtEl>
                                        <p:attrNameLst>
                                          <p:attrName>style.visibility</p:attrName>
                                        </p:attrNameLst>
                                      </p:cBhvr>
                                      <p:to>
                                        <p:strVal val="visible"/>
                                      </p:to>
                                    </p:set>
                                    <p:animEffect transition="in" filter="dissolve">
                                      <p:cBhvr>
                                        <p:cTn id="47" dur="500"/>
                                        <p:tgtEl>
                                          <p:spTgt spid="1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7">
                                            <p:txEl>
                                              <p:pRg st="0" end="0"/>
                                            </p:txEl>
                                          </p:spTgt>
                                        </p:tgtEl>
                                        <p:attrNameLst>
                                          <p:attrName>style.visibility</p:attrName>
                                        </p:attrNameLst>
                                      </p:cBhvr>
                                      <p:to>
                                        <p:strVal val="visible"/>
                                      </p:to>
                                    </p:set>
                                    <p:animEffect transition="in" filter="dissolve">
                                      <p:cBhvr>
                                        <p:cTn id="56" dur="500"/>
                                        <p:tgtEl>
                                          <p:spTgt spid="17">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7">
                                            <p:txEl>
                                              <p:pRg st="1" end="1"/>
                                            </p:txEl>
                                          </p:spTgt>
                                        </p:tgtEl>
                                        <p:attrNameLst>
                                          <p:attrName>style.visibility</p:attrName>
                                        </p:attrNameLst>
                                      </p:cBhvr>
                                      <p:to>
                                        <p:strVal val="visible"/>
                                      </p:to>
                                    </p:set>
                                    <p:animEffect transition="in" filter="dissolve">
                                      <p:cBhvr>
                                        <p:cTn id="61" dur="500"/>
                                        <p:tgtEl>
                                          <p:spTgt spid="17">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17">
                                            <p:txEl>
                                              <p:pRg st="2" end="2"/>
                                            </p:txEl>
                                          </p:spTgt>
                                        </p:tgtEl>
                                        <p:attrNameLst>
                                          <p:attrName>style.visibility</p:attrName>
                                        </p:attrNameLst>
                                      </p:cBhvr>
                                      <p:to>
                                        <p:strVal val="visible"/>
                                      </p:to>
                                    </p:set>
                                    <p:animEffect transition="in" filter="dissolve">
                                      <p:cBhvr>
                                        <p:cTn id="66" dur="500"/>
                                        <p:tgtEl>
                                          <p:spTgt spid="17">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17">
                                            <p:txEl>
                                              <p:pRg st="3" end="3"/>
                                            </p:txEl>
                                          </p:spTgt>
                                        </p:tgtEl>
                                        <p:attrNameLst>
                                          <p:attrName>style.visibility</p:attrName>
                                        </p:attrNameLst>
                                      </p:cBhvr>
                                      <p:to>
                                        <p:strVal val="visible"/>
                                      </p:to>
                                    </p:set>
                                    <p:animEffect transition="in" filter="dissolve">
                                      <p:cBhvr>
                                        <p:cTn id="71"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P spid="16" grpId="0" build="p" bldLvl="2" autoUpdateAnimBg="0"/>
      <p:bldP spid="17"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5924C-F5C5-9599-F6FB-0FFF654E0A22}"/>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DF9C1ED-305B-822E-A8A2-5A47C806E80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EA525709-6DCB-2802-DBCE-FC141F2CDB0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Πλεονεκτήματα χρήσης συνάρτησης</a:t>
            </a:r>
          </a:p>
        </p:txBody>
      </p:sp>
      <p:sp>
        <p:nvSpPr>
          <p:cNvPr id="8" name="Θέση υποσέλιδου 4">
            <a:extLst>
              <a:ext uri="{FF2B5EF4-FFF2-40B4-BE49-F238E27FC236}">
                <a16:creationId xmlns:a16="http://schemas.microsoft.com/office/drawing/2014/main" id="{0DA62C6A-7FDA-596B-FADC-59F40DE59BE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11C2982-7FB0-C754-F115-6ED0AF54EC9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5CC49F83-B051-ABE5-C8C7-42802ADBD566}"/>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E793EB98-0AFC-E504-8447-E139798696D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8543BAF1-FD8D-6DED-236D-E4B13CF71201}"/>
              </a:ext>
            </a:extLst>
          </p:cNvPr>
          <p:cNvSpPr txBox="1">
            <a:spLocks noChangeArrowheads="1"/>
          </p:cNvSpPr>
          <p:nvPr/>
        </p:nvSpPr>
        <p:spPr bwMode="auto">
          <a:xfrm>
            <a:off x="140669" y="1037326"/>
            <a:ext cx="9031040" cy="392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1" eaLnBrk="1" hangingPunct="1"/>
            <a:r>
              <a:rPr lang="el-GR" altLang="el-GR" sz="3600" kern="0" dirty="0">
                <a:latin typeface="Times New Roman" panose="02020603050405020304" pitchFamily="18" charset="0"/>
              </a:rPr>
              <a:t>αποφυγή επανάληψης </a:t>
            </a:r>
            <a:r>
              <a:rPr lang="en-US" altLang="el-GR" sz="3600" kern="0" dirty="0">
                <a:latin typeface="Times New Roman" panose="02020603050405020304" pitchFamily="18" charset="0"/>
              </a:rPr>
              <a:t>(redundancy)</a:t>
            </a:r>
            <a:endParaRPr lang="el-GR" altLang="el-GR" sz="3600" kern="0" dirty="0">
              <a:latin typeface="Times New Roman" panose="02020603050405020304" pitchFamily="18" charset="0"/>
            </a:endParaRPr>
          </a:p>
          <a:p>
            <a:pPr lvl="1" eaLnBrk="1" hangingPunct="1"/>
            <a:r>
              <a:rPr lang="el-GR" altLang="el-GR" sz="3600" kern="0" dirty="0">
                <a:latin typeface="Times New Roman" panose="02020603050405020304" pitchFamily="18" charset="0"/>
              </a:rPr>
              <a:t>Επαναχρησιμοποίηση (</a:t>
            </a:r>
            <a:r>
              <a:rPr lang="en-US" altLang="el-GR" sz="3600" kern="0" dirty="0">
                <a:latin typeface="Times New Roman" panose="02020603050405020304" pitchFamily="18" charset="0"/>
              </a:rPr>
              <a:t>reusability</a:t>
            </a:r>
            <a:r>
              <a:rPr lang="el-GR" altLang="el-GR" sz="3600" kern="0" dirty="0">
                <a:latin typeface="Times New Roman" panose="02020603050405020304" pitchFamily="18" charset="0"/>
              </a:rPr>
              <a:t>)</a:t>
            </a:r>
          </a:p>
          <a:p>
            <a:pPr lvl="2" eaLnBrk="1" hangingPunct="1"/>
            <a:r>
              <a:rPr lang="el-GR" altLang="el-GR" sz="2800" kern="0" dirty="0">
                <a:latin typeface="Times New Roman" panose="02020603050405020304" pitchFamily="18" charset="0"/>
              </a:rPr>
              <a:t>Μείωση χρόνου ανάπτυξης</a:t>
            </a:r>
          </a:p>
          <a:p>
            <a:pPr lvl="2" eaLnBrk="1" hangingPunct="1"/>
            <a:r>
              <a:rPr lang="el-GR" altLang="el-GR" sz="2800" kern="0" dirty="0">
                <a:latin typeface="Times New Roman" panose="02020603050405020304" pitchFamily="18" charset="0"/>
              </a:rPr>
              <a:t>Αύξηση αξιοπιστίας</a:t>
            </a:r>
            <a:endParaRPr lang="el-GR" altLang="el-GR" kern="0" dirty="0">
              <a:latin typeface="Times New Roman" panose="02020603050405020304" pitchFamily="18" charset="0"/>
            </a:endParaRPr>
          </a:p>
          <a:p>
            <a:pPr lvl="1" eaLnBrk="1" hangingPunct="1"/>
            <a:r>
              <a:rPr lang="el-GR" altLang="el-GR" sz="3600" kern="0" dirty="0">
                <a:latin typeface="Times New Roman" panose="02020603050405020304" pitchFamily="18" charset="0"/>
              </a:rPr>
              <a:t>βελτίωση αναγνωσιμότητας</a:t>
            </a:r>
            <a:r>
              <a:rPr lang="en-US" altLang="el-GR" sz="3600" kern="0" dirty="0">
                <a:latin typeface="Times New Roman" panose="02020603050405020304" pitchFamily="18" charset="0"/>
              </a:rPr>
              <a:t> (readability)</a:t>
            </a:r>
            <a:endParaRPr lang="el-GR" altLang="el-GR" sz="3600" kern="0" dirty="0">
              <a:latin typeface="Times New Roman" panose="02020603050405020304" pitchFamily="18" charset="0"/>
            </a:endParaRPr>
          </a:p>
          <a:p>
            <a:pPr lvl="1" eaLnBrk="1" hangingPunct="1"/>
            <a:r>
              <a:rPr lang="el-GR" altLang="el-GR" sz="3600" kern="0" dirty="0">
                <a:latin typeface="Times New Roman" panose="02020603050405020304" pitchFamily="18" charset="0"/>
              </a:rPr>
              <a:t>βελτίωση της διαδικασίας συντήρησης</a:t>
            </a:r>
            <a:r>
              <a:rPr lang="el-GR" altLang="el-GR" sz="3200" kern="0" dirty="0">
                <a:latin typeface="Times New Roman" panose="02020603050405020304" pitchFamily="18" charset="0"/>
              </a:rPr>
              <a:t> </a:t>
            </a:r>
          </a:p>
        </p:txBody>
      </p:sp>
    </p:spTree>
    <p:extLst>
      <p:ext uri="{BB962C8B-B14F-4D97-AF65-F5344CB8AC3E}">
        <p14:creationId xmlns:p14="http://schemas.microsoft.com/office/powerpoint/2010/main" val="7227760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dissolve">
                                      <p:cBhvr>
                                        <p:cTn id="15" dur="500"/>
                                        <p:tgtEl>
                                          <p:spTgt spid="4">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dissolv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dissolv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dissolve">
                                      <p:cBhvr>
                                        <p:cTn id="2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635E-13B9-9C1B-C13D-3FFB3D544CD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28A9634-4676-80EF-67E2-A6D4D1470B1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B1C13C6-17D1-7C66-983F-D7B6E57CB931}"/>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συνάρτηση </a:t>
            </a:r>
            <a:r>
              <a:rPr lang="en-GB" sz="4000" b="1" dirty="0">
                <a:solidFill>
                  <a:srgbClr val="F9853D"/>
                </a:solidFill>
                <a:latin typeface="Bahnschrift" panose="020B0502040204020203" pitchFamily="34" charset="0"/>
              </a:rPr>
              <a:t>main()</a:t>
            </a:r>
          </a:p>
        </p:txBody>
      </p:sp>
      <p:sp>
        <p:nvSpPr>
          <p:cNvPr id="8" name="Θέση υποσέλιδου 4">
            <a:extLst>
              <a:ext uri="{FF2B5EF4-FFF2-40B4-BE49-F238E27FC236}">
                <a16:creationId xmlns:a16="http://schemas.microsoft.com/office/drawing/2014/main" id="{1F0DD3F0-F993-07FA-CF3E-EC2B3B0D151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EE05CF8-C118-C650-A095-0EE349F5B94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22D7C49-9DEB-8E6A-F5E3-97DFE5BE0160}"/>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pic>
        <p:nvPicPr>
          <p:cNvPr id="6" name="Picture 5">
            <a:extLst>
              <a:ext uri="{FF2B5EF4-FFF2-40B4-BE49-F238E27FC236}">
                <a16:creationId xmlns:a16="http://schemas.microsoft.com/office/drawing/2014/main" id="{29B636BE-EB30-4CA5-6B33-36C996D255C2}"/>
              </a:ext>
            </a:extLst>
          </p:cNvPr>
          <p:cNvPicPr>
            <a:picLocks noChangeAspect="1"/>
          </p:cNvPicPr>
          <p:nvPr/>
        </p:nvPicPr>
        <p:blipFill>
          <a:blip r:embed="rId3"/>
          <a:stretch>
            <a:fillRect/>
          </a:stretch>
        </p:blipFill>
        <p:spPr>
          <a:xfrm>
            <a:off x="323036" y="848606"/>
            <a:ext cx="6607415" cy="3899737"/>
          </a:xfrm>
          <a:prstGeom prst="rect">
            <a:avLst/>
          </a:prstGeom>
        </p:spPr>
      </p:pic>
      <p:pic>
        <p:nvPicPr>
          <p:cNvPr id="7" name="Picture 6">
            <a:extLst>
              <a:ext uri="{FF2B5EF4-FFF2-40B4-BE49-F238E27FC236}">
                <a16:creationId xmlns:a16="http://schemas.microsoft.com/office/drawing/2014/main" id="{DA918E3D-5C38-6E42-D477-9C8AAF22EFA8}"/>
              </a:ext>
            </a:extLst>
          </p:cNvPr>
          <p:cNvPicPr>
            <a:picLocks noChangeAspect="1"/>
          </p:cNvPicPr>
          <p:nvPr/>
        </p:nvPicPr>
        <p:blipFill>
          <a:blip r:embed="rId4"/>
          <a:stretch>
            <a:fillRect/>
          </a:stretch>
        </p:blipFill>
        <p:spPr>
          <a:xfrm>
            <a:off x="405631" y="4964613"/>
            <a:ext cx="6931047" cy="1248197"/>
          </a:xfrm>
          <a:prstGeom prst="rect">
            <a:avLst/>
          </a:prstGeom>
        </p:spPr>
      </p:pic>
      <p:sp>
        <p:nvSpPr>
          <p:cNvPr id="9" name="Callout: Bent Line 8">
            <a:extLst>
              <a:ext uri="{FF2B5EF4-FFF2-40B4-BE49-F238E27FC236}">
                <a16:creationId xmlns:a16="http://schemas.microsoft.com/office/drawing/2014/main" id="{B8ED3F90-630A-0937-869C-77C3A749FC59}"/>
              </a:ext>
            </a:extLst>
          </p:cNvPr>
          <p:cNvSpPr/>
          <p:nvPr/>
        </p:nvSpPr>
        <p:spPr bwMode="auto">
          <a:xfrm>
            <a:off x="7474250" y="960102"/>
            <a:ext cx="4577081" cy="719331"/>
          </a:xfrm>
          <a:prstGeom prst="borderCallout2">
            <a:avLst>
              <a:gd name="adj1" fmla="val 54454"/>
              <a:gd name="adj2" fmla="val -247"/>
              <a:gd name="adj3" fmla="val 125935"/>
              <a:gd name="adj4" fmla="val -114705"/>
              <a:gd name="adj5" fmla="val 156440"/>
              <a:gd name="adj6" fmla="val -124764"/>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solidFill>
                  <a:schemeClr val="lt1"/>
                </a:solidFill>
              </a:rPr>
              <a:t>Η συνάρτηση από την οποία ξεκινά η εκτέλεση του προγράμματος.</a:t>
            </a:r>
          </a:p>
        </p:txBody>
      </p:sp>
      <p:sp>
        <p:nvSpPr>
          <p:cNvPr id="13" name="Callout: Bent Line 12">
            <a:extLst>
              <a:ext uri="{FF2B5EF4-FFF2-40B4-BE49-F238E27FC236}">
                <a16:creationId xmlns:a16="http://schemas.microsoft.com/office/drawing/2014/main" id="{E38AEB33-03BF-5F06-03BB-828896A5C882}"/>
              </a:ext>
            </a:extLst>
          </p:cNvPr>
          <p:cNvSpPr/>
          <p:nvPr/>
        </p:nvSpPr>
        <p:spPr bwMode="auto">
          <a:xfrm>
            <a:off x="7568233" y="2277344"/>
            <a:ext cx="4300731" cy="945920"/>
          </a:xfrm>
          <a:prstGeom prst="borderCallout2">
            <a:avLst>
              <a:gd name="adj1" fmla="val 55842"/>
              <a:gd name="adj2" fmla="val 57"/>
              <a:gd name="adj3" fmla="val 37998"/>
              <a:gd name="adj4" fmla="val -100750"/>
              <a:gd name="adj5" fmla="val 3303"/>
              <a:gd name="adj6" fmla="val -106850"/>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rPr>
              <a:t>argc</a:t>
            </a:r>
            <a:r>
              <a:rPr lang="en-US" sz="2000" b="1" dirty="0">
                <a:solidFill>
                  <a:schemeClr val="lt1"/>
                </a:solidFill>
              </a:rPr>
              <a:t>: </a:t>
            </a:r>
            <a:r>
              <a:rPr lang="el-GR" sz="2000" b="1" dirty="0">
                <a:solidFill>
                  <a:schemeClr val="lt1"/>
                </a:solidFill>
              </a:rPr>
              <a:t>Ο αριθμός των παραμέτρων</a:t>
            </a:r>
          </a:p>
          <a:p>
            <a:pPr algn="ctr"/>
            <a:r>
              <a:rPr lang="el-GR" sz="2000" b="1" dirty="0">
                <a:solidFill>
                  <a:schemeClr val="lt1"/>
                </a:solidFill>
              </a:rPr>
              <a:t>που</a:t>
            </a:r>
            <a:r>
              <a:rPr lang="en-US" sz="2000" b="1" dirty="0">
                <a:solidFill>
                  <a:schemeClr val="lt1"/>
                </a:solidFill>
              </a:rPr>
              <a:t> </a:t>
            </a:r>
            <a:r>
              <a:rPr lang="el-GR" sz="2000" b="1" dirty="0">
                <a:solidFill>
                  <a:schemeClr val="lt1"/>
                </a:solidFill>
              </a:rPr>
              <a:t>περνάμε στην </a:t>
            </a:r>
            <a:r>
              <a:rPr lang="en-US" sz="2000" b="1" dirty="0">
                <a:solidFill>
                  <a:schemeClr val="lt1"/>
                </a:solidFill>
              </a:rPr>
              <a:t>main </a:t>
            </a:r>
            <a:r>
              <a:rPr lang="el-GR" sz="2000" b="1" dirty="0">
                <a:solidFill>
                  <a:schemeClr val="lt1"/>
                </a:solidFill>
              </a:rPr>
              <a:t>όταν </a:t>
            </a:r>
          </a:p>
          <a:p>
            <a:pPr algn="ctr"/>
            <a:r>
              <a:rPr lang="el-GR" sz="2000" b="1" dirty="0">
                <a:solidFill>
                  <a:schemeClr val="lt1"/>
                </a:solidFill>
              </a:rPr>
              <a:t>εκτελούμε το πρόγραμμα</a:t>
            </a:r>
          </a:p>
        </p:txBody>
      </p:sp>
      <p:sp>
        <p:nvSpPr>
          <p:cNvPr id="14" name="Callout: Bent Line 13">
            <a:extLst>
              <a:ext uri="{FF2B5EF4-FFF2-40B4-BE49-F238E27FC236}">
                <a16:creationId xmlns:a16="http://schemas.microsoft.com/office/drawing/2014/main" id="{3D91A697-7FAB-F96D-AFEB-0DE755EC6816}"/>
              </a:ext>
            </a:extLst>
          </p:cNvPr>
          <p:cNvSpPr/>
          <p:nvPr/>
        </p:nvSpPr>
        <p:spPr bwMode="auto">
          <a:xfrm>
            <a:off x="7336678" y="3585283"/>
            <a:ext cx="4763840" cy="1068776"/>
          </a:xfrm>
          <a:prstGeom prst="borderCallout2">
            <a:avLst>
              <a:gd name="adj1" fmla="val 54519"/>
              <a:gd name="adj2" fmla="val 1838"/>
              <a:gd name="adj3" fmla="val 1216"/>
              <a:gd name="adj4" fmla="val -33195"/>
              <a:gd name="adj5" fmla="val -112494"/>
              <a:gd name="adj6" fmla="val -55998"/>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0000"/>
                </a:solidFill>
              </a:rPr>
              <a:t>argv</a:t>
            </a:r>
            <a:r>
              <a:rPr lang="en-US" sz="2000" b="1" dirty="0">
                <a:solidFill>
                  <a:schemeClr val="lt1"/>
                </a:solidFill>
              </a:rPr>
              <a:t>: </a:t>
            </a:r>
            <a:r>
              <a:rPr lang="el-GR" sz="2000" b="1" dirty="0">
                <a:solidFill>
                  <a:schemeClr val="lt1"/>
                </a:solidFill>
              </a:rPr>
              <a:t>πίνακας δεικτών στα αλφαριθμητικά της γραμμής διαταγών (</a:t>
            </a:r>
            <a:r>
              <a:rPr lang="en-US" sz="2000" b="1" dirty="0">
                <a:solidFill>
                  <a:schemeClr val="lt1"/>
                </a:solidFill>
              </a:rPr>
              <a:t>command line</a:t>
            </a:r>
            <a:r>
              <a:rPr lang="el-GR" sz="2000" b="1" dirty="0">
                <a:solidFill>
                  <a:schemeClr val="lt1"/>
                </a:solidFill>
              </a:rPr>
              <a:t>) </a:t>
            </a:r>
          </a:p>
          <a:p>
            <a:pPr algn="ctr"/>
            <a:r>
              <a:rPr lang="el-GR" sz="2000" b="1" dirty="0">
                <a:solidFill>
                  <a:schemeClr val="lt1"/>
                </a:solidFill>
              </a:rPr>
              <a:t>με την οποία εκτελούμε το πρόγραμμα.</a:t>
            </a:r>
          </a:p>
        </p:txBody>
      </p:sp>
      <p:sp>
        <p:nvSpPr>
          <p:cNvPr id="15" name="Speech Bubble: Rectangle with Corners Rounded 14">
            <a:extLst>
              <a:ext uri="{FF2B5EF4-FFF2-40B4-BE49-F238E27FC236}">
                <a16:creationId xmlns:a16="http://schemas.microsoft.com/office/drawing/2014/main" id="{EFAD1FC1-D73E-BC5D-A6E3-BA4520BDC0A1}"/>
              </a:ext>
            </a:extLst>
          </p:cNvPr>
          <p:cNvSpPr/>
          <p:nvPr/>
        </p:nvSpPr>
        <p:spPr bwMode="auto">
          <a:xfrm>
            <a:off x="3749824" y="5373217"/>
            <a:ext cx="8301507" cy="945920"/>
          </a:xfrm>
          <a:prstGeom prst="wedgeRoundRectCallout">
            <a:avLst>
              <a:gd name="adj1" fmla="val -51564"/>
              <a:gd name="adj2" fmla="val 79771"/>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main</a:t>
            </a:r>
            <a:r>
              <a:rPr lang="en-US" sz="2400" dirty="0">
                <a:solidFill>
                  <a:schemeClr val="lt1"/>
                </a:solidFill>
              </a:rPr>
              <a:t>(): </a:t>
            </a:r>
            <a:r>
              <a:rPr lang="el-GR" sz="2400" dirty="0">
                <a:solidFill>
                  <a:schemeClr val="lt1"/>
                </a:solidFill>
              </a:rPr>
              <a:t>Η συνάρτηση η οποία υλοποιεί τη διεργασία </a:t>
            </a:r>
          </a:p>
          <a:p>
            <a:pPr algn="ctr"/>
            <a:r>
              <a:rPr lang="el-GR" sz="2400" dirty="0">
                <a:solidFill>
                  <a:schemeClr val="lt1"/>
                </a:solidFill>
              </a:rPr>
              <a:t>που θα εκτελέσει ο υπολογιστής όταν τρέξουμε το πρόγραμμα.</a:t>
            </a:r>
          </a:p>
        </p:txBody>
      </p:sp>
    </p:spTree>
    <p:extLst>
      <p:ext uri="{BB962C8B-B14F-4D97-AF65-F5344CB8AC3E}">
        <p14:creationId xmlns:p14="http://schemas.microsoft.com/office/powerpoint/2010/main" val="32710038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2F15C-4C58-A22B-3D0C-ADB7DB41109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7F00F857-AEF6-081C-0315-76CE11AD7217}"/>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B3ABC0F-56B8-7A33-3E19-48598A50471F}"/>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Μορφές εμφάνισης συνάρτησης</a:t>
            </a:r>
          </a:p>
        </p:txBody>
      </p:sp>
      <p:sp>
        <p:nvSpPr>
          <p:cNvPr id="8" name="Θέση υποσέλιδου 4">
            <a:extLst>
              <a:ext uri="{FF2B5EF4-FFF2-40B4-BE49-F238E27FC236}">
                <a16:creationId xmlns:a16="http://schemas.microsoft.com/office/drawing/2014/main" id="{62791816-21CA-5A2F-5425-D4B2313CB4A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2C6AE63-8294-C5A6-D187-A79894BAF38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64D5F231-415C-E491-0543-D0A191CAE64F}"/>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6" name="Rectangle 3">
            <a:extLst>
              <a:ext uri="{FF2B5EF4-FFF2-40B4-BE49-F238E27FC236}">
                <a16:creationId xmlns:a16="http://schemas.microsoft.com/office/drawing/2014/main" id="{3CBE228F-9464-59A8-36BE-B55469F56CA6}"/>
              </a:ext>
            </a:extLst>
          </p:cNvPr>
          <p:cNvSpPr txBox="1">
            <a:spLocks noChangeArrowheads="1"/>
          </p:cNvSpPr>
          <p:nvPr/>
        </p:nvSpPr>
        <p:spPr bwMode="auto">
          <a:xfrm>
            <a:off x="174625" y="1340767"/>
            <a:ext cx="6629623" cy="447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n"/>
              <a:tabLst/>
              <a:defRPr/>
            </a:pPr>
            <a:r>
              <a:rPr kumimoji="0" lang="en-GB" altLang="el-GR" sz="3600" b="1" i="0" u="none" strike="noStrike" kern="0" cap="none" spc="0" normalizeH="0" baseline="0" noProof="0" dirty="0" err="1">
                <a:ln>
                  <a:noFill/>
                </a:ln>
                <a:solidFill>
                  <a:srgbClr val="FF0000"/>
                </a:solidFill>
                <a:effectLst/>
                <a:uLnTx/>
                <a:uFillTx/>
                <a:latin typeface="Times New Roman" panose="02020603050405020304" pitchFamily="18" charset="0"/>
                <a:ea typeface="+mn-ea"/>
                <a:cs typeface="+mn-cs"/>
              </a:rPr>
              <a:t>δήλωση</a:t>
            </a:r>
            <a:r>
              <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συνάρτησης</a:t>
            </a:r>
            <a:endPar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80000"/>
              </a:lnSpc>
              <a:spcBef>
                <a:spcPct val="20000"/>
              </a:spcBef>
              <a:spcAft>
                <a:spcPct val="0"/>
              </a:spcAft>
              <a:buClr>
                <a:srgbClr val="FF0000"/>
              </a:buClr>
              <a:buSzPct val="55000"/>
              <a:buFont typeface="Wingdings" panose="05000000000000000000" pitchFamily="2" charset="2"/>
              <a:buNone/>
              <a:tabLst/>
              <a:defRPr/>
            </a:pPr>
            <a:endParaRPr kumimoji="0" lang="el-GR" altLang="el-GR" sz="2800" b="1" i="0" u="none" strike="noStrike" kern="0" cap="none" spc="0" normalizeH="0" baseline="0" noProof="0" dirty="0">
              <a:ln>
                <a:noFill/>
              </a:ln>
              <a:solidFill>
                <a:srgbClr val="800000"/>
              </a:solidFill>
              <a:effectLst/>
              <a:uLnTx/>
              <a:uFillTx/>
              <a:latin typeface="Courier New" panose="02070309020205020404" pitchFamily="49" charset="0"/>
            </a:endParaRPr>
          </a:p>
          <a:p>
            <a:pPr marL="742950" marR="0" lvl="1" indent="-285750" algn="l" defTabSz="914400" rtl="0" eaLnBrk="1" fontAlgn="base" latinLnBrk="0" hangingPunct="1">
              <a:lnSpc>
                <a:spcPct val="80000"/>
              </a:lnSpc>
              <a:spcBef>
                <a:spcPct val="20000"/>
              </a:spcBef>
              <a:spcAft>
                <a:spcPct val="0"/>
              </a:spcAft>
              <a:buClr>
                <a:srgbClr val="FF0000"/>
              </a:buClr>
              <a:buSzPct val="55000"/>
              <a:buFont typeface="Wingdings" panose="05000000000000000000" pitchFamily="2" charset="2"/>
              <a:buNone/>
              <a:tabLst/>
              <a:defRPr/>
            </a:pPr>
            <a:endParaRPr kumimoji="0" lang="en-GB" altLang="el-GR" sz="2800" b="1" i="0" u="none" strike="noStrike" kern="0" cap="none" spc="0" normalizeH="0" baseline="0" noProof="0" dirty="0">
              <a:ln>
                <a:noFill/>
              </a:ln>
              <a:solidFill>
                <a:srgbClr val="800000"/>
              </a:solidFill>
              <a:effectLst/>
              <a:uLnTx/>
              <a:uFillTx/>
              <a:latin typeface="Courier New" panose="02070309020205020404" pitchFamily="49" charset="0"/>
            </a:endParaRP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n"/>
              <a:tabLst/>
              <a:defRPr/>
            </a:pPr>
            <a:r>
              <a:rPr kumimoji="0" lang="en-GB" altLang="el-GR" sz="3600" b="1" i="0" u="none" strike="noStrike" kern="0" cap="none" spc="0" normalizeH="0" baseline="0" noProof="0" dirty="0" err="1">
                <a:ln>
                  <a:noFill/>
                </a:ln>
                <a:solidFill>
                  <a:srgbClr val="FF0000"/>
                </a:solidFill>
                <a:effectLst/>
                <a:uLnTx/>
                <a:uFillTx/>
                <a:latin typeface="Times New Roman" panose="02020603050405020304" pitchFamily="18" charset="0"/>
                <a:ea typeface="+mn-ea"/>
                <a:cs typeface="+mn-cs"/>
              </a:rPr>
              <a:t>κλήση</a:t>
            </a:r>
            <a:r>
              <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συνάρτησης</a:t>
            </a:r>
            <a:endPar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80000"/>
              </a:lnSpc>
              <a:spcBef>
                <a:spcPct val="20000"/>
              </a:spcBef>
              <a:spcAft>
                <a:spcPct val="0"/>
              </a:spcAft>
              <a:buClr>
                <a:srgbClr val="FF0000"/>
              </a:buClr>
              <a:buSzPct val="55000"/>
              <a:buFont typeface="Wingdings" panose="05000000000000000000" pitchFamily="2" charset="2"/>
              <a:buNone/>
              <a:tabLst/>
              <a:defRPr/>
            </a:pPr>
            <a:endParaRPr kumimoji="0" lang="el-GR" altLang="el-GR" sz="2400" b="1" i="0" u="none" strike="noStrike" kern="0" cap="none" spc="0" normalizeH="0" baseline="0" noProof="0" dirty="0">
              <a:ln>
                <a:noFill/>
              </a:ln>
              <a:solidFill>
                <a:srgbClr val="000000"/>
              </a:solidFill>
              <a:effectLst/>
              <a:uLnTx/>
              <a:uFillTx/>
              <a:latin typeface="Courier New" panose="02070309020205020404" pitchFamily="49" charset="0"/>
            </a:endParaRPr>
          </a:p>
          <a:p>
            <a:pPr marL="742950" marR="0" lvl="1" indent="-285750" algn="l" defTabSz="914400" rtl="0" eaLnBrk="1" fontAlgn="base" latinLnBrk="0" hangingPunct="1">
              <a:lnSpc>
                <a:spcPct val="80000"/>
              </a:lnSpc>
              <a:spcBef>
                <a:spcPct val="20000"/>
              </a:spcBef>
              <a:spcAft>
                <a:spcPct val="0"/>
              </a:spcAft>
              <a:buClr>
                <a:srgbClr val="FF0000"/>
              </a:buClr>
              <a:buSzPct val="55000"/>
              <a:buFont typeface="Wingdings" panose="05000000000000000000" pitchFamily="2" charset="2"/>
              <a:buNone/>
              <a:tabLst/>
              <a:defRPr/>
            </a:pPr>
            <a:endParaRPr lang="el-GR" altLang="el-GR" sz="2400" b="1" kern="0" dirty="0">
              <a:solidFill>
                <a:srgbClr val="000000"/>
              </a:solidFill>
              <a:latin typeface="Courier New" panose="02070309020205020404" pitchFamily="49" charset="0"/>
            </a:endParaRPr>
          </a:p>
          <a:p>
            <a:pPr marL="742950" marR="0" lvl="1" indent="-285750" algn="l" defTabSz="914400" rtl="0" eaLnBrk="1" fontAlgn="base" latinLnBrk="0" hangingPunct="1">
              <a:lnSpc>
                <a:spcPct val="80000"/>
              </a:lnSpc>
              <a:spcBef>
                <a:spcPct val="20000"/>
              </a:spcBef>
              <a:spcAft>
                <a:spcPct val="0"/>
              </a:spcAft>
              <a:buClr>
                <a:srgbClr val="FF0000"/>
              </a:buClr>
              <a:buSzPct val="55000"/>
              <a:buFont typeface="Wingdings" panose="05000000000000000000" pitchFamily="2" charset="2"/>
              <a:buNone/>
              <a:tabLst/>
              <a:defRPr/>
            </a:pPr>
            <a:endParaRPr kumimoji="0" lang="en-GB" altLang="el-GR" sz="2400" b="1" i="0" u="none" strike="noStrike" kern="0" cap="none" spc="0" normalizeH="0" baseline="0" noProof="0" dirty="0">
              <a:ln>
                <a:noFill/>
              </a:ln>
              <a:solidFill>
                <a:srgbClr val="000000"/>
              </a:solidFill>
              <a:effectLst/>
              <a:uLnTx/>
              <a:uFillTx/>
              <a:latin typeface="Courier New" panose="02070309020205020404" pitchFamily="49" charset="0"/>
            </a:endParaRP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n"/>
              <a:tabLst/>
              <a:defRPr/>
            </a:pPr>
            <a:r>
              <a:rPr kumimoji="0" lang="en-GB" altLang="el-GR" sz="3600" b="1" i="0" u="none" strike="noStrike" kern="0" cap="none" spc="0" normalizeH="0" baseline="0" noProof="0" dirty="0" err="1">
                <a:ln>
                  <a:noFill/>
                </a:ln>
                <a:solidFill>
                  <a:srgbClr val="FF0000"/>
                </a:solidFill>
                <a:effectLst/>
                <a:uLnTx/>
                <a:uFillTx/>
                <a:latin typeface="Times New Roman" panose="02020603050405020304" pitchFamily="18" charset="0"/>
                <a:ea typeface="+mn-ea"/>
                <a:cs typeface="+mn-cs"/>
              </a:rPr>
              <a:t>ορισμός</a:t>
            </a:r>
            <a:r>
              <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συνάρτησης</a:t>
            </a:r>
            <a:endPar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80000"/>
              </a:lnSpc>
              <a:spcBef>
                <a:spcPct val="0"/>
              </a:spcBef>
              <a:spcAft>
                <a:spcPct val="0"/>
              </a:spcAft>
              <a:buClr>
                <a:srgbClr val="FF0000"/>
              </a:buClr>
              <a:buSzPct val="55000"/>
              <a:buFont typeface="Wingdings" panose="05000000000000000000" pitchFamily="2" charset="2"/>
              <a:buNone/>
              <a:tabLst/>
              <a:defRPr/>
            </a:pPr>
            <a:endParaRPr kumimoji="0" lang="en-GB" altLang="el-GR" sz="2800" b="1" i="0" u="none" strike="noStrike" kern="0" cap="none" spc="0" normalizeH="0" baseline="0" noProof="0" dirty="0">
              <a:ln>
                <a:noFill/>
              </a:ln>
              <a:solidFill>
                <a:srgbClr val="800000"/>
              </a:solidFill>
              <a:effectLst/>
              <a:uLnTx/>
              <a:uFillTx/>
              <a:latin typeface="Courier New" panose="02070309020205020404" pitchFamily="49" charset="0"/>
            </a:endParaRPr>
          </a:p>
        </p:txBody>
      </p:sp>
      <p:sp>
        <p:nvSpPr>
          <p:cNvPr id="7" name="Callout: Line 6">
            <a:extLst>
              <a:ext uri="{FF2B5EF4-FFF2-40B4-BE49-F238E27FC236}">
                <a16:creationId xmlns:a16="http://schemas.microsoft.com/office/drawing/2014/main" id="{52A96948-C70A-05C2-499A-F586D21C2FCD}"/>
              </a:ext>
            </a:extLst>
          </p:cNvPr>
          <p:cNvSpPr/>
          <p:nvPr/>
        </p:nvSpPr>
        <p:spPr bwMode="auto">
          <a:xfrm>
            <a:off x="6236669" y="848607"/>
            <a:ext cx="4921812" cy="915987"/>
          </a:xfrm>
          <a:prstGeom prst="borderCallout1">
            <a:avLst>
              <a:gd name="adj1" fmla="val 55421"/>
              <a:gd name="adj2" fmla="val 908"/>
              <a:gd name="adj3" fmla="val 87345"/>
              <a:gd name="adj4" fmla="val -38462"/>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Πρέπει να προηγείται </a:t>
            </a:r>
          </a:p>
          <a:p>
            <a:pPr algn="ctr">
              <a:spcBef>
                <a:spcPct val="20000"/>
              </a:spcBef>
              <a:buClr>
                <a:schemeClr val="folHlink"/>
              </a:buClr>
              <a:buSzPct val="60000"/>
            </a:pPr>
            <a:r>
              <a:rPr lang="el-GR" sz="2000" b="1" dirty="0">
                <a:solidFill>
                  <a:schemeClr val="lt1"/>
                </a:solidFill>
                <a:latin typeface="Tahoma" panose="020B0604030504040204" pitchFamily="34" charset="0"/>
              </a:rPr>
              <a:t>της κλήσης της συνάρτησης</a:t>
            </a:r>
            <a:endParaRPr lang="en-GB" sz="2000" b="1" dirty="0">
              <a:solidFill>
                <a:schemeClr val="lt1"/>
              </a:solidFill>
              <a:latin typeface="Tahoma" panose="020B0604030504040204" pitchFamily="34" charset="0"/>
            </a:endParaRPr>
          </a:p>
        </p:txBody>
      </p:sp>
      <p:sp>
        <p:nvSpPr>
          <p:cNvPr id="4" name="Callout: Line 3">
            <a:extLst>
              <a:ext uri="{FF2B5EF4-FFF2-40B4-BE49-F238E27FC236}">
                <a16:creationId xmlns:a16="http://schemas.microsoft.com/office/drawing/2014/main" id="{1800BE02-2D34-ACE5-4A49-DCFA23CAF669}"/>
              </a:ext>
            </a:extLst>
          </p:cNvPr>
          <p:cNvSpPr/>
          <p:nvPr/>
        </p:nvSpPr>
        <p:spPr bwMode="auto">
          <a:xfrm>
            <a:off x="6804248" y="2281613"/>
            <a:ext cx="4921812" cy="915987"/>
          </a:xfrm>
          <a:prstGeom prst="borderCallout1">
            <a:avLst>
              <a:gd name="adj1" fmla="val 55421"/>
              <a:gd name="adj2" fmla="val 908"/>
              <a:gd name="adj3" fmla="val 83832"/>
              <a:gd name="adj4" fmla="val -55560"/>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Πρέπει να είναι σύμφωνη με τη δήλωση της συνάρτησης</a:t>
            </a:r>
            <a:endParaRPr lang="en-GB" sz="2000" b="1" dirty="0">
              <a:solidFill>
                <a:schemeClr val="lt1"/>
              </a:solidFill>
              <a:latin typeface="Tahoma" panose="020B0604030504040204" pitchFamily="34" charset="0"/>
            </a:endParaRPr>
          </a:p>
        </p:txBody>
      </p:sp>
      <p:sp>
        <p:nvSpPr>
          <p:cNvPr id="12" name="TextBox 11">
            <a:extLst>
              <a:ext uri="{FF2B5EF4-FFF2-40B4-BE49-F238E27FC236}">
                <a16:creationId xmlns:a16="http://schemas.microsoft.com/office/drawing/2014/main" id="{5F882642-7045-1777-7D0A-10444BA083F5}"/>
              </a:ext>
            </a:extLst>
          </p:cNvPr>
          <p:cNvSpPr txBox="1"/>
          <p:nvPr/>
        </p:nvSpPr>
        <p:spPr>
          <a:xfrm>
            <a:off x="440553" y="2003851"/>
            <a:ext cx="5655447" cy="584775"/>
          </a:xfrm>
          <a:prstGeom prst="rect">
            <a:avLst/>
          </a:prstGeom>
          <a:solidFill>
            <a:schemeClr val="accent3">
              <a:lumMod val="40000"/>
              <a:lumOff val="60000"/>
            </a:schemeClr>
          </a:solidFill>
        </p:spPr>
        <p:txBody>
          <a:bodyPr wrap="square" rtlCol="0">
            <a:spAutoFit/>
          </a:bodyPr>
          <a:lstStyle/>
          <a:p>
            <a:r>
              <a:rPr lang="en-GB" altLang="el-GR" sz="3200" b="1" kern="0" dirty="0">
                <a:solidFill>
                  <a:srgbClr val="800000"/>
                </a:solidFill>
                <a:latin typeface="Courier New" panose="02070309020205020404" pitchFamily="49" charset="0"/>
              </a:rPr>
              <a:t>int max(int a, int b);</a:t>
            </a:r>
            <a:endParaRPr lang="el-GR" altLang="el-GR" sz="3200" b="1" kern="0" dirty="0">
              <a:solidFill>
                <a:srgbClr val="800000"/>
              </a:solidFill>
              <a:latin typeface="Courier New" panose="02070309020205020404" pitchFamily="49" charset="0"/>
            </a:endParaRPr>
          </a:p>
        </p:txBody>
      </p:sp>
      <p:sp>
        <p:nvSpPr>
          <p:cNvPr id="13" name="TextBox 12">
            <a:extLst>
              <a:ext uri="{FF2B5EF4-FFF2-40B4-BE49-F238E27FC236}">
                <a16:creationId xmlns:a16="http://schemas.microsoft.com/office/drawing/2014/main" id="{F9219FBE-E209-F543-E745-35B638D48200}"/>
              </a:ext>
            </a:extLst>
          </p:cNvPr>
          <p:cNvSpPr txBox="1"/>
          <p:nvPr/>
        </p:nvSpPr>
        <p:spPr>
          <a:xfrm>
            <a:off x="440552" y="3385207"/>
            <a:ext cx="7597319" cy="1003352"/>
          </a:xfrm>
          <a:prstGeom prst="rect">
            <a:avLst/>
          </a:prstGeom>
          <a:solidFill>
            <a:schemeClr val="accent3">
              <a:lumMod val="40000"/>
              <a:lumOff val="60000"/>
            </a:schemeClr>
          </a:solidFill>
        </p:spPr>
        <p:txBody>
          <a:bodyPr wrap="square" rtlCol="0">
            <a:spAutoFit/>
          </a:bodyPr>
          <a:lstStyle/>
          <a:p>
            <a:pPr>
              <a:lnSpc>
                <a:spcPct val="80000"/>
              </a:lnSpc>
              <a:buClr>
                <a:srgbClr val="FF0000"/>
              </a:buClr>
            </a:pPr>
            <a:r>
              <a:rPr lang="en-GB" altLang="el-GR" sz="3200" b="1" kern="0" dirty="0">
                <a:solidFill>
                  <a:srgbClr val="000000"/>
                </a:solidFill>
                <a:latin typeface="Courier New" panose="02070309020205020404" pitchFamily="49" charset="0"/>
              </a:rPr>
              <a:t>max</a:t>
            </a:r>
            <a:r>
              <a:rPr lang="el-GR" altLang="el-GR" sz="3200" b="1" kern="0" dirty="0">
                <a:solidFill>
                  <a:srgbClr val="000000"/>
                </a:solidFill>
                <a:latin typeface="Courier New" panose="02070309020205020404" pitchFamily="49" charset="0"/>
              </a:rPr>
              <a:t>Ν</a:t>
            </a:r>
            <a:r>
              <a:rPr lang="en-GB" altLang="el-GR" sz="3200" b="1" kern="0" dirty="0">
                <a:solidFill>
                  <a:srgbClr val="000000"/>
                </a:solidFill>
                <a:latin typeface="Courier New" panose="02070309020205020404" pitchFamily="49" charset="0"/>
              </a:rPr>
              <a:t>um = </a:t>
            </a:r>
            <a:r>
              <a:rPr lang="en-GB" altLang="el-GR" sz="3200" b="1" kern="0" dirty="0">
                <a:solidFill>
                  <a:srgbClr val="800000"/>
                </a:solidFill>
                <a:latin typeface="Courier New" panose="02070309020205020404" pitchFamily="49" charset="0"/>
              </a:rPr>
              <a:t>max(num1,num</a:t>
            </a:r>
            <a:r>
              <a:rPr lang="el-GR" altLang="el-GR" sz="3200" b="1" kern="0" dirty="0">
                <a:solidFill>
                  <a:srgbClr val="800000"/>
                </a:solidFill>
                <a:latin typeface="Courier New" panose="02070309020205020404" pitchFamily="49" charset="0"/>
              </a:rPr>
              <a:t>2</a:t>
            </a:r>
            <a:r>
              <a:rPr lang="en-GB" altLang="el-GR" sz="3200" b="1" kern="0" dirty="0">
                <a:solidFill>
                  <a:srgbClr val="800000"/>
                </a:solidFill>
                <a:latin typeface="Courier New" panose="02070309020205020404" pitchFamily="49" charset="0"/>
              </a:rPr>
              <a:t>)</a:t>
            </a:r>
            <a:r>
              <a:rPr lang="en-GB" altLang="el-GR" sz="3200" b="1" kern="0" dirty="0">
                <a:solidFill>
                  <a:srgbClr val="000000"/>
                </a:solidFill>
                <a:latin typeface="Courier New" panose="02070309020205020404" pitchFamily="49" charset="0"/>
              </a:rPr>
              <a:t>;</a:t>
            </a:r>
            <a:endParaRPr lang="el-GR" altLang="el-GR" sz="3200" b="1" kern="0" dirty="0">
              <a:solidFill>
                <a:srgbClr val="000000"/>
              </a:solidFill>
              <a:latin typeface="Courier New" panose="02070309020205020404" pitchFamily="49" charset="0"/>
            </a:endParaRPr>
          </a:p>
          <a:p>
            <a:pPr marL="285750" indent="-285750" fontAlgn="base">
              <a:lnSpc>
                <a:spcPct val="80000"/>
              </a:lnSpc>
              <a:spcBef>
                <a:spcPct val="20000"/>
              </a:spcBef>
              <a:spcAft>
                <a:spcPct val="0"/>
              </a:spcAft>
              <a:buClr>
                <a:srgbClr val="FF0000"/>
              </a:buClr>
              <a:buSzPct val="55000"/>
              <a:defRPr/>
            </a:pPr>
            <a:r>
              <a:rPr lang="en-GB" altLang="el-GR" sz="3200" b="1" kern="0" dirty="0" err="1">
                <a:solidFill>
                  <a:srgbClr val="000000"/>
                </a:solidFill>
                <a:latin typeface="Courier New" panose="02070309020205020404" pitchFamily="49" charset="0"/>
              </a:rPr>
              <a:t>printf</a:t>
            </a:r>
            <a:r>
              <a:rPr lang="en-GB" altLang="el-GR" sz="3200" b="1" kern="0" dirty="0">
                <a:solidFill>
                  <a:srgbClr val="000000"/>
                </a:solidFill>
                <a:latin typeface="Courier New" panose="02070309020205020404" pitchFamily="49" charset="0"/>
              </a:rPr>
              <a:t>(“%d\</a:t>
            </a:r>
            <a:r>
              <a:rPr lang="en-GB" altLang="el-GR" sz="3200" b="1" kern="0" dirty="0" err="1">
                <a:solidFill>
                  <a:srgbClr val="000000"/>
                </a:solidFill>
                <a:latin typeface="Courier New" panose="02070309020205020404" pitchFamily="49" charset="0"/>
              </a:rPr>
              <a:t>n”,</a:t>
            </a:r>
            <a:r>
              <a:rPr lang="en-GB" altLang="el-GR" sz="3200" b="1" kern="0" dirty="0" err="1">
                <a:solidFill>
                  <a:srgbClr val="800000"/>
                </a:solidFill>
                <a:latin typeface="Courier New" panose="02070309020205020404" pitchFamily="49" charset="0"/>
              </a:rPr>
              <a:t>max</a:t>
            </a:r>
            <a:r>
              <a:rPr lang="en-GB" altLang="el-GR" sz="3200" b="1" kern="0" dirty="0">
                <a:solidFill>
                  <a:srgbClr val="800000"/>
                </a:solidFill>
                <a:latin typeface="Courier New" panose="02070309020205020404" pitchFamily="49" charset="0"/>
              </a:rPr>
              <a:t>(num1,num2)</a:t>
            </a:r>
            <a:r>
              <a:rPr lang="en-US" altLang="el-GR" sz="3200" b="1" kern="0" dirty="0">
                <a:solidFill>
                  <a:srgbClr val="000000"/>
                </a:solidFill>
                <a:latin typeface="Courier New" panose="02070309020205020404" pitchFamily="49" charset="0"/>
              </a:rPr>
              <a:t>)</a:t>
            </a:r>
            <a:r>
              <a:rPr lang="en-GB" altLang="el-GR" sz="3200" b="1" kern="0" dirty="0">
                <a:solidFill>
                  <a:srgbClr val="000000"/>
                </a:solidFill>
                <a:latin typeface="Courier New" panose="02070309020205020404" pitchFamily="49" charset="0"/>
              </a:rPr>
              <a:t>;</a:t>
            </a:r>
          </a:p>
        </p:txBody>
      </p:sp>
      <p:sp>
        <p:nvSpPr>
          <p:cNvPr id="14" name="TextBox 13">
            <a:extLst>
              <a:ext uri="{FF2B5EF4-FFF2-40B4-BE49-F238E27FC236}">
                <a16:creationId xmlns:a16="http://schemas.microsoft.com/office/drawing/2014/main" id="{417FD89F-5D85-42C7-38D5-AC8B83DD3CF8}"/>
              </a:ext>
            </a:extLst>
          </p:cNvPr>
          <p:cNvSpPr txBox="1"/>
          <p:nvPr/>
        </p:nvSpPr>
        <p:spPr>
          <a:xfrm>
            <a:off x="440553" y="5037100"/>
            <a:ext cx="6088856" cy="1298817"/>
          </a:xfrm>
          <a:prstGeom prst="rect">
            <a:avLst/>
          </a:prstGeom>
          <a:solidFill>
            <a:schemeClr val="accent3">
              <a:lumMod val="40000"/>
              <a:lumOff val="60000"/>
            </a:schemeClr>
          </a:solidFill>
        </p:spPr>
        <p:txBody>
          <a:bodyPr wrap="square" rtlCol="0">
            <a:spAutoFit/>
          </a:bodyPr>
          <a:lstStyle/>
          <a:p>
            <a:pPr marL="285750" indent="-285750" fontAlgn="base">
              <a:lnSpc>
                <a:spcPct val="80000"/>
              </a:lnSpc>
              <a:spcBef>
                <a:spcPct val="0"/>
              </a:spcBef>
              <a:spcAft>
                <a:spcPct val="0"/>
              </a:spcAft>
              <a:buClr>
                <a:srgbClr val="FF0000"/>
              </a:buClr>
              <a:buSzPct val="55000"/>
              <a:defRPr/>
            </a:pPr>
            <a:r>
              <a:rPr lang="en-GB" altLang="el-GR" sz="3200" b="1" kern="0" dirty="0">
                <a:solidFill>
                  <a:srgbClr val="800000"/>
                </a:solidFill>
                <a:latin typeface="Courier New" panose="02070309020205020404" pitchFamily="49" charset="0"/>
              </a:rPr>
              <a:t>int max(int a, int b){</a:t>
            </a:r>
          </a:p>
          <a:p>
            <a:pPr marL="285750" indent="-285750" fontAlgn="base">
              <a:lnSpc>
                <a:spcPct val="80000"/>
              </a:lnSpc>
              <a:spcBef>
                <a:spcPct val="0"/>
              </a:spcBef>
              <a:spcAft>
                <a:spcPct val="0"/>
              </a:spcAft>
              <a:buClr>
                <a:srgbClr val="FF0000"/>
              </a:buClr>
              <a:buSzPct val="55000"/>
              <a:defRPr/>
            </a:pPr>
            <a:r>
              <a:rPr lang="en-GB" altLang="el-GR" sz="3200" b="1" kern="0" dirty="0">
                <a:solidFill>
                  <a:srgbClr val="800000"/>
                </a:solidFill>
                <a:latin typeface="Courier New" panose="02070309020205020404" pitchFamily="49" charset="0"/>
              </a:rPr>
              <a:t>	</a:t>
            </a:r>
            <a:r>
              <a:rPr lang="el-GR" altLang="el-GR" sz="3200" b="1" kern="0" dirty="0">
                <a:solidFill>
                  <a:srgbClr val="800000"/>
                </a:solidFill>
                <a:latin typeface="Courier New" panose="02070309020205020404" pitchFamily="49" charset="0"/>
              </a:rPr>
              <a:t>	</a:t>
            </a:r>
            <a:r>
              <a:rPr lang="en-GB" altLang="el-GR" sz="3200" b="1" kern="0" dirty="0">
                <a:solidFill>
                  <a:srgbClr val="800000"/>
                </a:solidFill>
                <a:latin typeface="Courier New" panose="02070309020205020404" pitchFamily="49" charset="0"/>
              </a:rPr>
              <a:t>return(a&gt;</a:t>
            </a:r>
            <a:r>
              <a:rPr lang="en-GB" altLang="el-GR" sz="3200" b="1" kern="0" dirty="0" err="1">
                <a:solidFill>
                  <a:srgbClr val="800000"/>
                </a:solidFill>
                <a:latin typeface="Courier New" panose="02070309020205020404" pitchFamily="49" charset="0"/>
              </a:rPr>
              <a:t>b?a:b</a:t>
            </a:r>
            <a:r>
              <a:rPr lang="en-GB" altLang="el-GR" sz="3200" b="1" kern="0" dirty="0">
                <a:solidFill>
                  <a:srgbClr val="800000"/>
                </a:solidFill>
                <a:latin typeface="Courier New" panose="02070309020205020404" pitchFamily="49" charset="0"/>
              </a:rPr>
              <a:t>);</a:t>
            </a:r>
          </a:p>
          <a:p>
            <a:pPr marL="285750" indent="-285750" fontAlgn="base">
              <a:lnSpc>
                <a:spcPct val="80000"/>
              </a:lnSpc>
              <a:spcBef>
                <a:spcPct val="0"/>
              </a:spcBef>
              <a:spcAft>
                <a:spcPct val="0"/>
              </a:spcAft>
              <a:buClr>
                <a:srgbClr val="FF0000"/>
              </a:buClr>
              <a:buSzPct val="55000"/>
              <a:defRPr/>
            </a:pPr>
            <a:r>
              <a:rPr lang="en-GB" altLang="el-GR" sz="3200" b="1" kern="0" dirty="0">
                <a:solidFill>
                  <a:srgbClr val="800000"/>
                </a:solidFill>
                <a:latin typeface="Courier New" panose="02070309020205020404" pitchFamily="49" charset="0"/>
              </a:rPr>
              <a:t>	</a:t>
            </a:r>
            <a:r>
              <a:rPr lang="el-GR" altLang="el-GR" sz="3200" b="1" kern="0" dirty="0">
                <a:solidFill>
                  <a:srgbClr val="800000"/>
                </a:solidFill>
                <a:latin typeface="Courier New" panose="02070309020205020404" pitchFamily="49" charset="0"/>
              </a:rPr>
              <a:t>	</a:t>
            </a:r>
            <a:r>
              <a:rPr lang="en-GB" altLang="el-GR" sz="3200" b="1" kern="0" dirty="0">
                <a:solidFill>
                  <a:srgbClr val="800000"/>
                </a:solidFill>
                <a:latin typeface="Courier New" panose="02070309020205020404" pitchFamily="49" charset="0"/>
              </a:rPr>
              <a:t>}</a:t>
            </a:r>
            <a:endParaRPr lang="el-GR" altLang="el-GR" sz="3200" b="1" kern="0" dirty="0">
              <a:solidFill>
                <a:srgbClr val="800000"/>
              </a:solidFill>
              <a:latin typeface="Courier New" panose="02070309020205020404" pitchFamily="49" charset="0"/>
            </a:endParaRPr>
          </a:p>
        </p:txBody>
      </p:sp>
      <p:sp>
        <p:nvSpPr>
          <p:cNvPr id="9" name="Callout: Line 8">
            <a:extLst>
              <a:ext uri="{FF2B5EF4-FFF2-40B4-BE49-F238E27FC236}">
                <a16:creationId xmlns:a16="http://schemas.microsoft.com/office/drawing/2014/main" id="{7615335F-4E86-5A4E-AF68-F3CBDADB0AA3}"/>
              </a:ext>
            </a:extLst>
          </p:cNvPr>
          <p:cNvSpPr/>
          <p:nvPr/>
        </p:nvSpPr>
        <p:spPr bwMode="auto">
          <a:xfrm>
            <a:off x="6804248" y="4759882"/>
            <a:ext cx="5038132" cy="1055130"/>
          </a:xfrm>
          <a:prstGeom prst="borderCallout1">
            <a:avLst>
              <a:gd name="adj1" fmla="val 55421"/>
              <a:gd name="adj2" fmla="val 908"/>
              <a:gd name="adj3" fmla="val -7109"/>
              <a:gd name="adj4" fmla="val -49704"/>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Πρέπει να υπάρχει στο</a:t>
            </a:r>
          </a:p>
          <a:p>
            <a:pPr algn="ctr">
              <a:spcBef>
                <a:spcPct val="20000"/>
              </a:spcBef>
              <a:buClr>
                <a:schemeClr val="folHlink"/>
              </a:buClr>
              <a:buSzPct val="60000"/>
            </a:pPr>
            <a:r>
              <a:rPr lang="el-GR" sz="2000" b="1" dirty="0">
                <a:solidFill>
                  <a:schemeClr val="lt1"/>
                </a:solidFill>
                <a:latin typeface="Tahoma" panose="020B0604030504040204" pitchFamily="34" charset="0"/>
              </a:rPr>
              <a:t>πρόγραμμα μας εκτός</a:t>
            </a:r>
          </a:p>
          <a:p>
            <a:pPr algn="ctr">
              <a:spcBef>
                <a:spcPct val="20000"/>
              </a:spcBef>
              <a:buClr>
                <a:schemeClr val="folHlink"/>
              </a:buClr>
              <a:buSzPct val="60000"/>
            </a:pPr>
            <a:r>
              <a:rPr lang="el-GR" sz="2000" b="1" dirty="0">
                <a:solidFill>
                  <a:schemeClr val="lt1"/>
                </a:solidFill>
                <a:latin typeface="Tahoma" panose="020B0604030504040204" pitchFamily="34" charset="0"/>
              </a:rPr>
              <a:t>αν υπάρχει </a:t>
            </a:r>
            <a:r>
              <a:rPr lang="el-GR" sz="2000" b="1">
                <a:solidFill>
                  <a:schemeClr val="lt1"/>
                </a:solidFill>
                <a:latin typeface="Tahoma" panose="020B0604030504040204" pitchFamily="34" charset="0"/>
              </a:rPr>
              <a:t>σε βιβλιοθήκη</a:t>
            </a:r>
            <a:endParaRPr lang="en-GB" sz="2000" b="1" dirty="0">
              <a:solidFill>
                <a:schemeClr val="lt1"/>
              </a:solidFill>
              <a:latin typeface="Tahoma" panose="020B0604030504040204" pitchFamily="34" charset="0"/>
            </a:endParaRPr>
          </a:p>
        </p:txBody>
      </p:sp>
    </p:spTree>
    <p:extLst>
      <p:ext uri="{BB962C8B-B14F-4D97-AF65-F5344CB8AC3E}">
        <p14:creationId xmlns:p14="http://schemas.microsoft.com/office/powerpoint/2010/main" val="14375125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12" grpId="0" animBg="1"/>
      <p:bldP spid="13" grpId="0" animBg="1"/>
      <p:bldP spid="14"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988C-59CD-B1CE-7180-28F1378908B1}"/>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BD3CC4D0-CBD5-8512-E99D-C4259558FB7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B008B6A-3619-559F-6753-10D19E10FA6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Δήλωση συνάρτησης</a:t>
            </a:r>
          </a:p>
        </p:txBody>
      </p:sp>
      <p:sp>
        <p:nvSpPr>
          <p:cNvPr id="8" name="Θέση υποσέλιδου 4">
            <a:extLst>
              <a:ext uri="{FF2B5EF4-FFF2-40B4-BE49-F238E27FC236}">
                <a16:creationId xmlns:a16="http://schemas.microsoft.com/office/drawing/2014/main" id="{3F3F8CFD-29D0-D03D-65D8-AAC9FF798BD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74C8F33-AD52-F5DD-B450-BFB050ABC9B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F063AD6-8790-4D55-A756-27026CF0BEE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EAA5BD19-BDD8-5F30-B692-17520092528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Rectangle 3">
            <a:extLst>
              <a:ext uri="{FF2B5EF4-FFF2-40B4-BE49-F238E27FC236}">
                <a16:creationId xmlns:a16="http://schemas.microsoft.com/office/drawing/2014/main" id="{3D3E86B4-648E-5A67-03AD-FE2C4BD902F4}"/>
              </a:ext>
            </a:extLst>
          </p:cNvPr>
          <p:cNvSpPr txBox="1">
            <a:spLocks noChangeArrowheads="1"/>
          </p:cNvSpPr>
          <p:nvPr/>
        </p:nvSpPr>
        <p:spPr>
          <a:xfrm>
            <a:off x="140668" y="793843"/>
            <a:ext cx="10901404" cy="2804968"/>
          </a:xfrm>
          <a:prstGeom prst="rect">
            <a:avLst/>
          </a:prstGeom>
          <a:solidFill>
            <a:srgbClr val="92D050"/>
          </a:solidFill>
        </p:spPr>
        <p:txBody>
          <a:bodyPr vert="horz" lIns="92075" tIns="46038" rIns="92075" bIns="46038"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l-GR" altLang="el-GR" sz="3200" b="1" dirty="0">
                <a:solidFill>
                  <a:schemeClr val="folHlink"/>
                </a:solidFill>
                <a:latin typeface="Times New Roman" panose="02020603050405020304" pitchFamily="18" charset="0"/>
              </a:rPr>
              <a:t>Ορίζει για την συνάρτηση</a:t>
            </a:r>
          </a:p>
          <a:p>
            <a:pPr lvl="1">
              <a:buClr>
                <a:srgbClr val="002060"/>
              </a:buClr>
              <a:buFont typeface="Wingdings" panose="05000000000000000000" pitchFamily="2" charset="2"/>
              <a:buChar char="§"/>
            </a:pPr>
            <a:r>
              <a:rPr lang="el-GR" altLang="el-GR" sz="2800" dirty="0">
                <a:latin typeface="Times New Roman" panose="02020603050405020304" pitchFamily="18" charset="0"/>
              </a:rPr>
              <a:t>το όνομα με το οποίο καλείται</a:t>
            </a:r>
            <a:r>
              <a:rPr lang="en-GB" altLang="el-GR" sz="2800" dirty="0">
                <a:latin typeface="Times New Roman" panose="02020603050405020304" pitchFamily="18" charset="0"/>
              </a:rPr>
              <a:t> </a:t>
            </a:r>
            <a:endParaRPr lang="el-GR" altLang="el-GR" sz="2800" dirty="0">
              <a:latin typeface="Times New Roman" panose="02020603050405020304" pitchFamily="18" charset="0"/>
            </a:endParaRPr>
          </a:p>
          <a:p>
            <a:pPr lvl="1">
              <a:buClr>
                <a:srgbClr val="002060"/>
              </a:buClr>
              <a:buFont typeface="Wingdings" panose="05000000000000000000" pitchFamily="2" charset="2"/>
              <a:buChar char="§"/>
            </a:pPr>
            <a:r>
              <a:rPr lang="el-GR" altLang="el-GR" sz="2800" dirty="0">
                <a:latin typeface="Times New Roman" panose="02020603050405020304" pitchFamily="18" charset="0"/>
              </a:rPr>
              <a:t>τον </a:t>
            </a:r>
            <a:r>
              <a:rPr lang="el-GR" altLang="el-GR" sz="2800" b="1" dirty="0">
                <a:latin typeface="Times New Roman" panose="02020603050405020304" pitchFamily="18" charset="0"/>
              </a:rPr>
              <a:t>τύπο της επιστρεφόμενης τιμής </a:t>
            </a:r>
            <a:r>
              <a:rPr lang="el-GR" altLang="el-GR" sz="2800" dirty="0">
                <a:latin typeface="Times New Roman" panose="02020603050405020304" pitchFamily="18" charset="0"/>
              </a:rPr>
              <a:t>της</a:t>
            </a:r>
          </a:p>
          <a:p>
            <a:pPr lvl="2">
              <a:buClr>
                <a:srgbClr val="002060"/>
              </a:buClr>
              <a:buFont typeface="Wingdings" panose="05000000000000000000" pitchFamily="2" charset="2"/>
              <a:buChar char="§"/>
            </a:pPr>
            <a:r>
              <a:rPr lang="el-GR" altLang="el-GR" sz="2400" dirty="0">
                <a:latin typeface="Times New Roman" panose="02020603050405020304" pitchFamily="18" charset="0"/>
              </a:rPr>
              <a:t>η χρήση του </a:t>
            </a:r>
            <a:r>
              <a:rPr lang="el-GR" altLang="el-GR" sz="2400" dirty="0" err="1">
                <a:solidFill>
                  <a:srgbClr val="FF0000"/>
                </a:solidFill>
                <a:latin typeface="Times New Roman" panose="02020603050405020304" pitchFamily="18" charset="0"/>
              </a:rPr>
              <a:t>void</a:t>
            </a:r>
            <a:r>
              <a:rPr lang="el-GR" altLang="el-GR" sz="2400" dirty="0">
                <a:latin typeface="Times New Roman" panose="02020603050405020304" pitchFamily="18" charset="0"/>
              </a:rPr>
              <a:t> σημαίνει ότι η συνάρτηση δεν επιστρέφει τιμή</a:t>
            </a:r>
          </a:p>
          <a:p>
            <a:pPr lvl="1">
              <a:buClr>
                <a:srgbClr val="002060"/>
              </a:buClr>
              <a:buFont typeface="Wingdings" panose="05000000000000000000" pitchFamily="2" charset="2"/>
              <a:buChar char="§"/>
            </a:pPr>
            <a:r>
              <a:rPr lang="el-GR" altLang="el-GR" sz="2800" dirty="0">
                <a:latin typeface="Times New Roman" panose="02020603050405020304" pitchFamily="18" charset="0"/>
              </a:rPr>
              <a:t>τον </a:t>
            </a:r>
            <a:r>
              <a:rPr lang="el-GR" altLang="el-GR" sz="2800" b="1" dirty="0">
                <a:latin typeface="Times New Roman" panose="02020603050405020304" pitchFamily="18" charset="0"/>
              </a:rPr>
              <a:t>αριθμό και τον τύπο των ορισμάτων </a:t>
            </a:r>
            <a:r>
              <a:rPr lang="el-GR" altLang="el-GR" sz="2800" dirty="0">
                <a:latin typeface="Times New Roman" panose="02020603050405020304" pitchFamily="18" charset="0"/>
              </a:rPr>
              <a:t>που αυτή δέχεται</a:t>
            </a:r>
          </a:p>
          <a:p>
            <a:pPr lvl="2">
              <a:buClr>
                <a:srgbClr val="002060"/>
              </a:buClr>
              <a:buFont typeface="Wingdings" panose="05000000000000000000" pitchFamily="2" charset="2"/>
              <a:buChar char="§"/>
            </a:pPr>
            <a:r>
              <a:rPr lang="el-GR" altLang="el-GR" sz="2400" dirty="0">
                <a:latin typeface="Times New Roman" panose="02020603050405020304" pitchFamily="18" charset="0"/>
              </a:rPr>
              <a:t>η χρήση του </a:t>
            </a:r>
            <a:r>
              <a:rPr lang="el-GR" altLang="el-GR" sz="2400" dirty="0" err="1">
                <a:latin typeface="Times New Roman" panose="02020603050405020304" pitchFamily="18" charset="0"/>
              </a:rPr>
              <a:t>void</a:t>
            </a:r>
            <a:r>
              <a:rPr lang="el-GR" altLang="el-GR" sz="2400" dirty="0">
                <a:latin typeface="Times New Roman" panose="02020603050405020304" pitchFamily="18" charset="0"/>
              </a:rPr>
              <a:t> σημαίνει ότι η συνάρτηση δεν δέχεται ορίσματα</a:t>
            </a:r>
          </a:p>
        </p:txBody>
      </p:sp>
      <p:sp>
        <p:nvSpPr>
          <p:cNvPr id="13" name="Rectangle 4">
            <a:extLst>
              <a:ext uri="{FF2B5EF4-FFF2-40B4-BE49-F238E27FC236}">
                <a16:creationId xmlns:a16="http://schemas.microsoft.com/office/drawing/2014/main" id="{EA4F2C5B-D42F-966B-C60C-3DBA71B6EB8F}"/>
              </a:ext>
            </a:extLst>
          </p:cNvPr>
          <p:cNvSpPr>
            <a:spLocks noChangeArrowheads="1"/>
          </p:cNvSpPr>
          <p:nvPr/>
        </p:nvSpPr>
        <p:spPr bwMode="auto">
          <a:xfrm>
            <a:off x="4219714" y="5958782"/>
            <a:ext cx="788122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GB" altLang="el-GR" b="1" dirty="0">
                <a:solidFill>
                  <a:schemeClr val="hlink"/>
                </a:solidFill>
                <a:latin typeface="Courier New" panose="02070309020205020404" pitchFamily="49" charset="0"/>
              </a:rPr>
              <a:t>double max(double a, double b);</a:t>
            </a:r>
          </a:p>
        </p:txBody>
      </p:sp>
      <p:sp>
        <p:nvSpPr>
          <p:cNvPr id="14" name="AutoShape 4">
            <a:extLst>
              <a:ext uri="{FF2B5EF4-FFF2-40B4-BE49-F238E27FC236}">
                <a16:creationId xmlns:a16="http://schemas.microsoft.com/office/drawing/2014/main" id="{947EDEE4-06E3-0931-3E77-5DC7A1EB64CF}"/>
              </a:ext>
            </a:extLst>
          </p:cNvPr>
          <p:cNvSpPr>
            <a:spLocks/>
          </p:cNvSpPr>
          <p:nvPr/>
        </p:nvSpPr>
        <p:spPr bwMode="auto">
          <a:xfrm>
            <a:off x="4789198" y="5136358"/>
            <a:ext cx="3371130" cy="690563"/>
          </a:xfrm>
          <a:prstGeom prst="borderCallout2">
            <a:avLst>
              <a:gd name="adj1" fmla="val 16551"/>
              <a:gd name="adj2" fmla="val -3426"/>
              <a:gd name="adj3" fmla="val 16551"/>
              <a:gd name="adj4" fmla="val -21398"/>
              <a:gd name="adj5" fmla="val -123468"/>
              <a:gd name="adj6" fmla="val -29170"/>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Όνομα συνάρτησης</a:t>
            </a:r>
            <a:endParaRPr lang="en-GB" altLang="el-GR" sz="2000" b="1" dirty="0">
              <a:solidFill>
                <a:schemeClr val="lt1"/>
              </a:solidFill>
            </a:endParaRPr>
          </a:p>
        </p:txBody>
      </p:sp>
      <p:sp>
        <p:nvSpPr>
          <p:cNvPr id="15" name="AutoShape 5">
            <a:extLst>
              <a:ext uri="{FF2B5EF4-FFF2-40B4-BE49-F238E27FC236}">
                <a16:creationId xmlns:a16="http://schemas.microsoft.com/office/drawing/2014/main" id="{D047D013-3425-D5B3-DEBE-5D5207F176F8}"/>
              </a:ext>
            </a:extLst>
          </p:cNvPr>
          <p:cNvSpPr>
            <a:spLocks/>
          </p:cNvSpPr>
          <p:nvPr/>
        </p:nvSpPr>
        <p:spPr bwMode="auto">
          <a:xfrm>
            <a:off x="140668" y="5421106"/>
            <a:ext cx="3073469" cy="685800"/>
          </a:xfrm>
          <a:prstGeom prst="borderCallout2">
            <a:avLst>
              <a:gd name="adj1" fmla="val 120"/>
              <a:gd name="adj2" fmla="val 51908"/>
              <a:gd name="adj3" fmla="val -89731"/>
              <a:gd name="adj4" fmla="val 66128"/>
              <a:gd name="adj5" fmla="val -167623"/>
              <a:gd name="adj6" fmla="val 90217"/>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Τύπος επιστρεφόμενης τιμής</a:t>
            </a:r>
            <a:endParaRPr lang="en-GB" altLang="el-GR" sz="2000" b="1" dirty="0">
              <a:solidFill>
                <a:schemeClr val="lt1"/>
              </a:solidFill>
            </a:endParaRPr>
          </a:p>
        </p:txBody>
      </p:sp>
      <p:sp>
        <p:nvSpPr>
          <p:cNvPr id="16" name="AutoShape 6">
            <a:extLst>
              <a:ext uri="{FF2B5EF4-FFF2-40B4-BE49-F238E27FC236}">
                <a16:creationId xmlns:a16="http://schemas.microsoft.com/office/drawing/2014/main" id="{016A6B58-59AA-EB42-A9AC-03DA668F6EE8}"/>
              </a:ext>
            </a:extLst>
          </p:cNvPr>
          <p:cNvSpPr>
            <a:spLocks/>
          </p:cNvSpPr>
          <p:nvPr/>
        </p:nvSpPr>
        <p:spPr bwMode="auto">
          <a:xfrm>
            <a:off x="6872719" y="3533337"/>
            <a:ext cx="2797753" cy="739775"/>
          </a:xfrm>
          <a:prstGeom prst="borderCallout2">
            <a:avLst>
              <a:gd name="adj1" fmla="val 52905"/>
              <a:gd name="adj2" fmla="val -333"/>
              <a:gd name="adj3" fmla="val 20705"/>
              <a:gd name="adj4" fmla="val -35651"/>
              <a:gd name="adj5" fmla="val 54402"/>
              <a:gd name="adj6" fmla="val -4709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Όνομα ορίσματος</a:t>
            </a:r>
            <a:endParaRPr lang="en-GB" altLang="el-GR" sz="2000" b="1" dirty="0">
              <a:solidFill>
                <a:schemeClr val="lt1"/>
              </a:solidFill>
            </a:endParaRPr>
          </a:p>
        </p:txBody>
      </p:sp>
      <p:sp>
        <p:nvSpPr>
          <p:cNvPr id="17" name="AutoShape 7">
            <a:extLst>
              <a:ext uri="{FF2B5EF4-FFF2-40B4-BE49-F238E27FC236}">
                <a16:creationId xmlns:a16="http://schemas.microsoft.com/office/drawing/2014/main" id="{E23F7918-8D47-150E-83D3-5DA2364A79FC}"/>
              </a:ext>
            </a:extLst>
          </p:cNvPr>
          <p:cNvSpPr>
            <a:spLocks/>
          </p:cNvSpPr>
          <p:nvPr/>
        </p:nvSpPr>
        <p:spPr bwMode="auto">
          <a:xfrm>
            <a:off x="6013449" y="4595722"/>
            <a:ext cx="2422525" cy="358775"/>
          </a:xfrm>
          <a:prstGeom prst="borderCallout2">
            <a:avLst>
              <a:gd name="adj1" fmla="val 31856"/>
              <a:gd name="adj2" fmla="val -3144"/>
              <a:gd name="adj3" fmla="val 31856"/>
              <a:gd name="adj4" fmla="val -3144"/>
              <a:gd name="adj5" fmla="val -104706"/>
              <a:gd name="adj6" fmla="val -52973"/>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Τύπος ορίσματος</a:t>
            </a:r>
            <a:endParaRPr lang="en-GB" altLang="el-GR" sz="2000" b="1" dirty="0">
              <a:solidFill>
                <a:schemeClr val="lt1"/>
              </a:solidFill>
            </a:endParaRPr>
          </a:p>
        </p:txBody>
      </p:sp>
      <p:sp>
        <p:nvSpPr>
          <p:cNvPr id="18" name="TextBox 17">
            <a:extLst>
              <a:ext uri="{FF2B5EF4-FFF2-40B4-BE49-F238E27FC236}">
                <a16:creationId xmlns:a16="http://schemas.microsoft.com/office/drawing/2014/main" id="{4B27DD1E-1C82-E844-A357-56B9718A5D58}"/>
              </a:ext>
            </a:extLst>
          </p:cNvPr>
          <p:cNvSpPr txBox="1"/>
          <p:nvPr/>
        </p:nvSpPr>
        <p:spPr>
          <a:xfrm>
            <a:off x="2397701" y="3794426"/>
            <a:ext cx="4475018" cy="523220"/>
          </a:xfrm>
          <a:prstGeom prst="rect">
            <a:avLst/>
          </a:prstGeom>
          <a:noFill/>
        </p:spPr>
        <p:txBody>
          <a:bodyPr wrap="square" rtlCol="0">
            <a:spAutoFit/>
          </a:bodyPr>
          <a:lstStyle/>
          <a:p>
            <a:r>
              <a:rPr lang="en-US" altLang="el-GR" sz="2800" b="1" kern="0" dirty="0">
                <a:solidFill>
                  <a:srgbClr val="FF0000"/>
                </a:solidFill>
                <a:latin typeface="Times New Roman" panose="02020603050405020304" pitchFamily="18" charset="0"/>
                <a:cs typeface="Times New Roman" panose="02020603050405020304" pitchFamily="18" charset="0"/>
              </a:rPr>
              <a:t>double sqrt(double x)</a:t>
            </a:r>
            <a:endParaRPr lang="en-GB" sz="2800" dirty="0"/>
          </a:p>
        </p:txBody>
      </p:sp>
    </p:spTree>
    <p:extLst>
      <p:ext uri="{BB962C8B-B14F-4D97-AF65-F5344CB8AC3E}">
        <p14:creationId xmlns:p14="http://schemas.microsoft.com/office/powerpoint/2010/main" val="19468863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dissolv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dissolve">
                                      <p:cBhvr>
                                        <p:cTn id="17" dur="500"/>
                                        <p:tgtEl>
                                          <p:spTgt spid="12">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dissolve">
                                      <p:cBhvr>
                                        <p:cTn id="20" dur="500"/>
                                        <p:tgtEl>
                                          <p:spTgt spid="1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animEffect transition="in" filter="dissolve">
                                      <p:cBhvr>
                                        <p:cTn id="25" dur="500"/>
                                        <p:tgtEl>
                                          <p:spTgt spid="12">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2">
                                            <p:txEl>
                                              <p:pRg st="5" end="5"/>
                                            </p:txEl>
                                          </p:spTgt>
                                        </p:tgtEl>
                                        <p:attrNameLst>
                                          <p:attrName>style.visibility</p:attrName>
                                        </p:attrNameLst>
                                      </p:cBhvr>
                                      <p:to>
                                        <p:strVal val="visible"/>
                                      </p:to>
                                    </p:set>
                                    <p:animEffect transition="in" filter="dissolve">
                                      <p:cBhvr>
                                        <p:cTn id="28" dur="500"/>
                                        <p:tgtEl>
                                          <p:spTgt spid="12">
                                            <p:txEl>
                                              <p:pRg st="5" end="5"/>
                                            </p:txEl>
                                          </p:spTgt>
                                        </p:tgtEl>
                                      </p:cBhvr>
                                    </p:animEffect>
                                  </p:childTnLst>
                                </p:cTn>
                              </p:par>
                            </p:childTnLst>
                          </p:cTn>
                        </p:par>
                        <p:par>
                          <p:cTn id="29" fill="hold">
                            <p:stCondLst>
                              <p:cond delay="500"/>
                            </p:stCondLst>
                            <p:childTnLst>
                              <p:par>
                                <p:cTn id="30" presetID="9" presetClass="entr" presetSubtype="0" fill="hold" grpId="0" nodeType="afterEffect">
                                  <p:stCondLst>
                                    <p:cond delay="100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ssolv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dissolve">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autoUpdateAnimBg="0"/>
      <p:bldP spid="13" grpId="0" autoUpdateAnimBg="0"/>
      <p:bldP spid="14" grpId="0" animBg="1" autoUpdateAnimBg="0"/>
      <p:bldP spid="15" grpId="0" animBg="1" autoUpdateAnimBg="0"/>
      <p:bldP spid="16" grpId="0" animBg="1" autoUpdateAnimBg="0"/>
      <p:bldP spid="17"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B938-AB7D-D929-7A5F-F8FB6A26572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D0C0D891-D79A-2917-6EF3-CD3985E7182B}"/>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7B7E6071-91DD-6108-51D5-CB1718DADC0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Ορίσματα</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Συνάρτησης (</a:t>
            </a:r>
            <a:r>
              <a:rPr lang="en-GB" sz="4000" b="1" dirty="0">
                <a:solidFill>
                  <a:srgbClr val="F9853D"/>
                </a:solidFill>
                <a:latin typeface="Bahnschrift" panose="020B0502040204020203" pitchFamily="34" charset="0"/>
              </a:rPr>
              <a:t>Arguments</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63E472F8-F9CD-179F-5842-2812D3245ED1}"/>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64B0AFB-EBED-EF6D-1AB1-B27790D1475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70BBA78D-F1EC-D98E-5DC5-5C5D4265164F}"/>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FA174735-A866-5005-AF64-93A270F90A6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D57CF0F4-FC06-7061-CA03-7ADF44D22B6F}"/>
              </a:ext>
            </a:extLst>
          </p:cNvPr>
          <p:cNvSpPr txBox="1">
            <a:spLocks noChangeArrowheads="1"/>
          </p:cNvSpPr>
          <p:nvPr/>
        </p:nvSpPr>
        <p:spPr bwMode="auto">
          <a:xfrm>
            <a:off x="140669" y="1306601"/>
            <a:ext cx="11910662" cy="3765002"/>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τυπικά</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3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formal</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	διαδραματίζουν ρόλο μεταβλητών για την συνάρτηση</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πραγματικά</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l-GR" altLang="el-GR" sz="3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mn-cs"/>
              </a:rPr>
              <a:t>actual</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lang="el-GR" altLang="el-GR" kern="0" dirty="0">
                <a:solidFill>
                  <a:srgbClr val="000000"/>
                </a:solidFill>
                <a:latin typeface="Times New Roman" panose="02020603050405020304" pitchFamily="18" charset="0"/>
              </a:rPr>
              <a:t>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αποτελούν τις πραγματικές τιμές που αποδίδονται (</a:t>
            </a:r>
            <a:r>
              <a:rPr kumimoji="0" lang="en-GB" altLang="el-GR" sz="2800" b="0" i="0" u="none" strike="noStrike" kern="0" cap="none" spc="0" normalizeH="0" baseline="0" noProof="0" dirty="0">
                <a:ln>
                  <a:noFill/>
                </a:ln>
                <a:solidFill>
                  <a:srgbClr val="000000"/>
                </a:solidFill>
                <a:effectLst/>
                <a:uLnTx/>
                <a:uFillTx/>
                <a:latin typeface="Times New Roman" panose="02020603050405020304" pitchFamily="18" charset="0"/>
              </a:rPr>
              <a:t>by value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ή </a:t>
            </a:r>
            <a:r>
              <a:rPr kumimoji="0" lang="en-GB" altLang="el-GR" sz="2800" b="0" i="0" u="none" strike="noStrike" kern="0" cap="none" spc="0" normalizeH="0" baseline="0" noProof="0" dirty="0">
                <a:ln>
                  <a:noFill/>
                </a:ln>
                <a:solidFill>
                  <a:srgbClr val="000000"/>
                </a:solidFill>
                <a:effectLst/>
                <a:uLnTx/>
                <a:uFillTx/>
                <a:latin typeface="Times New Roman" panose="02020603050405020304" pitchFamily="18" charset="0"/>
              </a:rPr>
              <a:t>by reference</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 κατά την κλήση της συνάρτησης</a:t>
            </a:r>
            <a:r>
              <a:rPr kumimoji="0" lang="el-GR" altLang="el-GR" sz="2800" b="0" i="0" u="none" strike="noStrike" kern="0" cap="none" spc="0" normalizeH="0" noProof="0" dirty="0">
                <a:ln>
                  <a:noFill/>
                </a:ln>
                <a:solidFill>
                  <a:srgbClr val="000000"/>
                </a:solidFill>
                <a:effectLst/>
                <a:uLnTx/>
                <a:uFillTx/>
                <a:latin typeface="Times New Roman" panose="02020603050405020304" pitchFamily="18" charset="0"/>
              </a:rPr>
              <a:t>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στα τυπικά ορίσματα </a:t>
            </a:r>
          </a:p>
        </p:txBody>
      </p:sp>
      <p:sp>
        <p:nvSpPr>
          <p:cNvPr id="9" name="AutoShape 4">
            <a:extLst>
              <a:ext uri="{FF2B5EF4-FFF2-40B4-BE49-F238E27FC236}">
                <a16:creationId xmlns:a16="http://schemas.microsoft.com/office/drawing/2014/main" id="{7B3336A1-5BB9-1822-4B1D-6C69524958F9}"/>
              </a:ext>
            </a:extLst>
          </p:cNvPr>
          <p:cNvSpPr>
            <a:spLocks/>
          </p:cNvSpPr>
          <p:nvPr/>
        </p:nvSpPr>
        <p:spPr bwMode="auto">
          <a:xfrm>
            <a:off x="7172180" y="2351864"/>
            <a:ext cx="4770438" cy="690563"/>
          </a:xfrm>
          <a:prstGeom prst="borderCallout2">
            <a:avLst>
              <a:gd name="adj1" fmla="val 50658"/>
              <a:gd name="adj2" fmla="val 59"/>
              <a:gd name="adj3" fmla="val 38620"/>
              <a:gd name="adj4" fmla="val -13266"/>
              <a:gd name="adj5" fmla="val 39040"/>
              <a:gd name="adj6" fmla="val -2328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a και b είναι τα τυπικά </a:t>
            </a:r>
          </a:p>
          <a:p>
            <a:pPr algn="ctr">
              <a:buNone/>
            </a:pPr>
            <a:r>
              <a:rPr lang="el-GR" altLang="el-GR" sz="2000" b="1" dirty="0">
                <a:solidFill>
                  <a:schemeClr val="lt1"/>
                </a:solidFill>
              </a:rPr>
              <a:t>ορίσματα της </a:t>
            </a:r>
            <a:r>
              <a:rPr lang="el-GR" altLang="el-GR" sz="2000" b="1" dirty="0" err="1">
                <a:solidFill>
                  <a:schemeClr val="lt1"/>
                </a:solidFill>
              </a:rPr>
              <a:t>max</a:t>
            </a:r>
            <a:endParaRPr lang="el-GR" altLang="el-GR" sz="2000" b="1" dirty="0">
              <a:solidFill>
                <a:schemeClr val="lt1"/>
              </a:solidFill>
            </a:endParaRPr>
          </a:p>
        </p:txBody>
      </p:sp>
      <p:sp>
        <p:nvSpPr>
          <p:cNvPr id="12" name="AutoShape 4">
            <a:extLst>
              <a:ext uri="{FF2B5EF4-FFF2-40B4-BE49-F238E27FC236}">
                <a16:creationId xmlns:a16="http://schemas.microsoft.com/office/drawing/2014/main" id="{A47B501A-ECDC-6CB1-26BD-449B4BE56D5E}"/>
              </a:ext>
            </a:extLst>
          </p:cNvPr>
          <p:cNvSpPr>
            <a:spLocks/>
          </p:cNvSpPr>
          <p:nvPr/>
        </p:nvSpPr>
        <p:spPr bwMode="auto">
          <a:xfrm>
            <a:off x="6729802" y="5071604"/>
            <a:ext cx="4770438" cy="1176870"/>
          </a:xfrm>
          <a:prstGeom prst="borderCallout2">
            <a:avLst>
              <a:gd name="adj1" fmla="val 50658"/>
              <a:gd name="adj2" fmla="val 59"/>
              <a:gd name="adj3" fmla="val 38620"/>
              <a:gd name="adj4" fmla="val -13266"/>
              <a:gd name="adj5" fmla="val -18645"/>
              <a:gd name="adj6" fmla="val -32869"/>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400" b="1" dirty="0">
                <a:solidFill>
                  <a:schemeClr val="lt1"/>
                </a:solidFill>
              </a:rPr>
              <a:t>num1 και num2 είναι τα</a:t>
            </a:r>
          </a:p>
          <a:p>
            <a:pPr algn="ctr">
              <a:buNone/>
            </a:pPr>
            <a:r>
              <a:rPr lang="el-GR" altLang="el-GR" sz="2400" b="1" dirty="0">
                <a:solidFill>
                  <a:schemeClr val="lt1"/>
                </a:solidFill>
              </a:rPr>
              <a:t>πραγματικά ορίσματα</a:t>
            </a:r>
          </a:p>
        </p:txBody>
      </p:sp>
      <p:sp>
        <p:nvSpPr>
          <p:cNvPr id="6" name="TextBox 5">
            <a:extLst>
              <a:ext uri="{FF2B5EF4-FFF2-40B4-BE49-F238E27FC236}">
                <a16:creationId xmlns:a16="http://schemas.microsoft.com/office/drawing/2014/main" id="{11B0397E-1C2E-93B3-653B-D429D5FB0C3A}"/>
              </a:ext>
            </a:extLst>
          </p:cNvPr>
          <p:cNvSpPr txBox="1"/>
          <p:nvPr/>
        </p:nvSpPr>
        <p:spPr>
          <a:xfrm>
            <a:off x="347363" y="2311940"/>
            <a:ext cx="5748637" cy="584775"/>
          </a:xfrm>
          <a:prstGeom prst="rect">
            <a:avLst/>
          </a:prstGeom>
          <a:solidFill>
            <a:schemeClr val="accent3">
              <a:lumMod val="40000"/>
              <a:lumOff val="60000"/>
            </a:schemeClr>
          </a:solidFill>
        </p:spPr>
        <p:txBody>
          <a:bodyPr wrap="square" rtlCol="0">
            <a:spAutoFit/>
          </a:bodyPr>
          <a:lstStyle/>
          <a:p>
            <a:r>
              <a:rPr lang="el-GR" altLang="el-GR" sz="3200" b="1" kern="0" dirty="0" err="1">
                <a:latin typeface="Courier New" panose="02070309020205020404" pitchFamily="49" charset="0"/>
              </a:rPr>
              <a:t>int</a:t>
            </a:r>
            <a:r>
              <a:rPr lang="el-GR" altLang="el-GR" sz="3200" b="1" kern="0" dirty="0">
                <a:latin typeface="Courier New" panose="02070309020205020404" pitchFamily="49" charset="0"/>
              </a:rPr>
              <a:t> </a:t>
            </a:r>
            <a:r>
              <a:rPr lang="el-GR" altLang="el-GR" sz="3200" b="1" kern="0" dirty="0" err="1">
                <a:latin typeface="Courier New" panose="02070309020205020404" pitchFamily="49" charset="0"/>
              </a:rPr>
              <a:t>max</a:t>
            </a:r>
            <a:r>
              <a:rPr lang="el-GR" altLang="el-GR" sz="3200" b="1" kern="0" dirty="0">
                <a:latin typeface="Courier New" panose="02070309020205020404" pitchFamily="49" charset="0"/>
              </a:rPr>
              <a:t>(</a:t>
            </a:r>
            <a:r>
              <a:rPr lang="el-GR" altLang="el-GR" sz="3200" b="1" kern="0" dirty="0" err="1">
                <a:latin typeface="Courier New" panose="02070309020205020404" pitchFamily="49" charset="0"/>
              </a:rPr>
              <a:t>int</a:t>
            </a:r>
            <a:r>
              <a:rPr lang="el-GR" altLang="el-GR" sz="3200" b="1" kern="0" dirty="0">
                <a:latin typeface="Courier New" panose="02070309020205020404" pitchFamily="49" charset="0"/>
              </a:rPr>
              <a:t> a, </a:t>
            </a:r>
            <a:r>
              <a:rPr lang="el-GR" altLang="el-GR" sz="3200" b="1" kern="0" dirty="0" err="1">
                <a:latin typeface="Courier New" panose="02070309020205020404" pitchFamily="49" charset="0"/>
              </a:rPr>
              <a:t>int</a:t>
            </a:r>
            <a:r>
              <a:rPr lang="el-GR" altLang="el-GR" sz="3200" b="1" kern="0" dirty="0">
                <a:latin typeface="Courier New" panose="02070309020205020404" pitchFamily="49" charset="0"/>
              </a:rPr>
              <a:t> b);</a:t>
            </a:r>
          </a:p>
        </p:txBody>
      </p:sp>
      <p:sp>
        <p:nvSpPr>
          <p:cNvPr id="13" name="TextBox 12">
            <a:extLst>
              <a:ext uri="{FF2B5EF4-FFF2-40B4-BE49-F238E27FC236}">
                <a16:creationId xmlns:a16="http://schemas.microsoft.com/office/drawing/2014/main" id="{578B7545-5F8A-74B7-E05A-5213E7198CF9}"/>
              </a:ext>
            </a:extLst>
          </p:cNvPr>
          <p:cNvSpPr txBox="1"/>
          <p:nvPr/>
        </p:nvSpPr>
        <p:spPr>
          <a:xfrm>
            <a:off x="347363" y="4378506"/>
            <a:ext cx="6319684" cy="547842"/>
          </a:xfrm>
          <a:prstGeom prst="rect">
            <a:avLst/>
          </a:prstGeom>
          <a:solidFill>
            <a:schemeClr val="accent3">
              <a:lumMod val="40000"/>
              <a:lumOff val="60000"/>
            </a:schemeClr>
          </a:solidFill>
        </p:spPr>
        <p:txBody>
          <a:bodyPr wrap="square">
            <a:spAutoFit/>
          </a:bodyPr>
          <a:lstStyle/>
          <a:p>
            <a:pPr marL="285750" indent="-285750" fontAlgn="base">
              <a:lnSpc>
                <a:spcPct val="90000"/>
              </a:lnSpc>
              <a:spcBef>
                <a:spcPct val="20000"/>
              </a:spcBef>
              <a:spcAft>
                <a:spcPct val="0"/>
              </a:spcAft>
              <a:buClr>
                <a:srgbClr val="FF0000"/>
              </a:buClr>
              <a:buSzPct val="55000"/>
              <a:defRPr/>
            </a:pPr>
            <a:r>
              <a:rPr kumimoji="0" lang="el-GR" altLang="el-GR" sz="3200" b="1" i="0" u="none" strike="noStrike" kern="0" cap="none" spc="0" normalizeH="0" baseline="0" noProof="0" dirty="0" err="1">
                <a:ln>
                  <a:noFill/>
                </a:ln>
                <a:effectLst/>
                <a:uLnTx/>
                <a:uFillTx/>
                <a:latin typeface="Courier New" panose="02070309020205020404" pitchFamily="49" charset="0"/>
              </a:rPr>
              <a:t>max</a:t>
            </a:r>
            <a:r>
              <a:rPr lang="el-GR" altLang="el-GR" sz="3200" b="1" kern="0" dirty="0">
                <a:latin typeface="Courier New" panose="02070309020205020404" pitchFamily="49" charset="0"/>
              </a:rPr>
              <a:t>Ν</a:t>
            </a:r>
            <a:r>
              <a:rPr kumimoji="0" lang="el-GR" altLang="el-GR" sz="3200" b="1" i="0" u="none" strike="noStrike" kern="0" cap="none" spc="0" normalizeH="0" baseline="0" noProof="0" dirty="0" err="1">
                <a:ln>
                  <a:noFill/>
                </a:ln>
                <a:effectLst/>
                <a:uLnTx/>
                <a:uFillTx/>
                <a:latin typeface="Courier New" panose="02070309020205020404" pitchFamily="49" charset="0"/>
              </a:rPr>
              <a:t>um</a:t>
            </a:r>
            <a:r>
              <a:rPr kumimoji="0" lang="el-GR" altLang="el-GR" sz="3200" b="1" i="0" u="none" strike="noStrike" kern="0" cap="none" spc="0" normalizeH="0" baseline="0" noProof="0" dirty="0">
                <a:ln>
                  <a:noFill/>
                </a:ln>
                <a:effectLst/>
                <a:uLnTx/>
                <a:uFillTx/>
                <a:latin typeface="Courier New" panose="02070309020205020404" pitchFamily="49" charset="0"/>
              </a:rPr>
              <a:t> = </a:t>
            </a:r>
            <a:r>
              <a:rPr kumimoji="0" lang="el-GR" altLang="el-GR" sz="3200" b="1" i="0" u="none" strike="noStrike" kern="0" cap="none" spc="0" normalizeH="0" baseline="0" noProof="0" dirty="0" err="1">
                <a:ln>
                  <a:noFill/>
                </a:ln>
                <a:effectLst/>
                <a:uLnTx/>
                <a:uFillTx/>
                <a:latin typeface="Courier New" panose="02070309020205020404" pitchFamily="49" charset="0"/>
              </a:rPr>
              <a:t>max</a:t>
            </a:r>
            <a:r>
              <a:rPr kumimoji="0" lang="el-GR" altLang="el-GR" sz="3200" b="1" i="0" u="none" strike="noStrike" kern="0" cap="none" spc="0" normalizeH="0" baseline="0" noProof="0" dirty="0">
                <a:ln>
                  <a:noFill/>
                </a:ln>
                <a:effectLst/>
                <a:uLnTx/>
                <a:uFillTx/>
                <a:latin typeface="Courier New" panose="02070309020205020404" pitchFamily="49" charset="0"/>
              </a:rPr>
              <a:t>(num1,num2);</a:t>
            </a:r>
          </a:p>
        </p:txBody>
      </p:sp>
    </p:spTree>
    <p:extLst>
      <p:ext uri="{BB962C8B-B14F-4D97-AF65-F5344CB8AC3E}">
        <p14:creationId xmlns:p14="http://schemas.microsoft.com/office/powerpoint/2010/main" val="28156377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dissolve">
                                      <p:cBhvr>
                                        <p:cTn id="11" dur="500"/>
                                        <p:tgtEl>
                                          <p:spTgt spid="4">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dissolve">
                                      <p:cBhvr>
                                        <p:cTn id="15" dur="500"/>
                                        <p:tgtEl>
                                          <p:spTgt spid="4">
                                            <p:txEl>
                                              <p:pRg st="3" end="3"/>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dissolve">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par>
                          <p:cTn id="24" fill="hold">
                            <p:stCondLst>
                              <p:cond delay="0"/>
                            </p:stCondLst>
                            <p:childTnLst>
                              <p:par>
                                <p:cTn id="25" presetID="9"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9"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9" grpId="0" animBg="1" autoUpdateAnimBg="0"/>
      <p:bldP spid="12" grpId="0" animBg="1" autoUpdateAnimBg="0"/>
      <p:bldP spid="6"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98237-0044-5C7C-786B-060449FF3509}"/>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4D814C1-C529-795C-C35B-F9CB9F6617D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2C1C8A4B-81C4-8C24-0335-FF9A6FB8054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Επιστροφή τιμής από συνάρτηση</a:t>
            </a:r>
          </a:p>
        </p:txBody>
      </p:sp>
      <p:sp>
        <p:nvSpPr>
          <p:cNvPr id="8" name="Θέση υποσέλιδου 4">
            <a:extLst>
              <a:ext uri="{FF2B5EF4-FFF2-40B4-BE49-F238E27FC236}">
                <a16:creationId xmlns:a16="http://schemas.microsoft.com/office/drawing/2014/main" id="{AC8C22D2-3E23-EC74-FA58-D711E03FC19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9C7C31A0-FA92-5283-C6FD-0C3DF1298F1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EB2749A-98C7-6872-05B3-2FD861C35D92}"/>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70DC1A49-0B62-F7E6-5936-2463B72A5E9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7508D9E5-BEF5-5CA3-9F53-28A5B0D6CCE9}"/>
              </a:ext>
            </a:extLst>
          </p:cNvPr>
          <p:cNvSpPr txBox="1">
            <a:spLocks noChangeArrowheads="1"/>
          </p:cNvSpPr>
          <p:nvPr/>
        </p:nvSpPr>
        <p:spPr bwMode="auto">
          <a:xfrm>
            <a:off x="140669" y="1037325"/>
            <a:ext cx="11910662" cy="1640415"/>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το </a:t>
            </a:r>
            <a:r>
              <a:rPr kumimoji="0" lang="el-GR" altLang="el-GR" sz="2800" b="0" i="0" u="none" strike="noStrike" kern="0" cap="none" spc="0" normalizeH="0" baseline="0" noProof="0" dirty="0" err="1">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keyword</a:t>
            </a:r>
            <a:r>
              <a:rPr kumimoji="0" lang="el-GR" altLang="el-GR" sz="28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l-GR" altLang="el-GR" sz="2800" b="1" i="0" u="none" strike="noStrike" kern="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return</a:t>
            </a:r>
            <a:r>
              <a:rPr kumimoji="0" lang="el-GR" altLang="el-GR" sz="28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τερματίζει</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τη συνάρτηση επιστρέφοντας τον έλεγχο στην επόμενη πρόταση από αυτή της κλήσης της συνάρτησης, και,</a:t>
            </a:r>
          </a:p>
          <a:p>
            <a:pPr marL="742950" marR="0" lvl="1" indent="-285750" algn="l" defTabSz="914400" rtl="0" eaLnBrk="1" fontAlgn="base" latinLnBrk="0" hangingPunct="1">
              <a:lnSpc>
                <a:spcPct val="100000"/>
              </a:lnSpc>
              <a:spcBef>
                <a:spcPct val="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επιστρέφει</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την τιμή της έκφρασης που το ακολουθεί.</a:t>
            </a:r>
          </a:p>
          <a:p>
            <a:pPr marL="342900" marR="0" lvl="0" indent="-342900" algn="l" defTabSz="914400" rtl="0" eaLnBrk="0" fontAlgn="base" latinLnBrk="0" hangingPunct="0">
              <a:lnSpc>
                <a:spcPct val="100000"/>
              </a:lnSpc>
              <a:spcBef>
                <a:spcPct val="0"/>
              </a:spcBef>
              <a:spcAft>
                <a:spcPct val="0"/>
              </a:spcAft>
              <a:buClrTx/>
              <a:buSzTx/>
              <a:buFontTx/>
              <a:buNone/>
              <a:tabLst/>
              <a:defRPr/>
            </a:pPr>
            <a:r>
              <a:rPr kumimoji="0" lang="el-GR" altLang="el-GR" sz="3200" b="1" i="1" u="none" strike="noStrike" kern="0" cap="none" spc="0" normalizeH="0" baseline="0" noProof="0" dirty="0">
                <a:ln>
                  <a:noFill/>
                </a:ln>
                <a:solidFill>
                  <a:srgbClr val="00E4A8"/>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l-GR" altLang="el-GR" sz="28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lang="el-GR" altLang="el-GR" sz="28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endParaRPr lang="el-GR" altLang="el-GR" sz="2800" b="1" i="1" kern="0" dirty="0">
              <a:solidFill>
                <a:srgbClr val="00E4A8"/>
              </a:solidFill>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F7AA3D7E-AE38-E586-111D-754C3ADE16D8}"/>
              </a:ext>
            </a:extLst>
          </p:cNvPr>
          <p:cNvSpPr txBox="1"/>
          <p:nvPr/>
        </p:nvSpPr>
        <p:spPr>
          <a:xfrm>
            <a:off x="638057" y="2807015"/>
            <a:ext cx="4665298" cy="584775"/>
          </a:xfrm>
          <a:prstGeom prst="rect">
            <a:avLst/>
          </a:prstGeom>
          <a:solidFill>
            <a:schemeClr val="accent3">
              <a:lumMod val="40000"/>
              <a:lumOff val="60000"/>
            </a:schemeClr>
          </a:solidFill>
        </p:spPr>
        <p:txBody>
          <a:bodyPr wrap="square">
            <a:spAutoFit/>
          </a:bodyPr>
          <a:lstStyle/>
          <a:p>
            <a:r>
              <a:rPr kumimoji="0" lang="en-GB" altLang="el-GR" sz="3200" b="1" i="1" u="none" strike="noStrike" kern="0" cap="none" spc="0" normalizeH="0" baseline="0" noProof="0" dirty="0">
                <a:ln>
                  <a:noFill/>
                </a:ln>
                <a:effectLst/>
                <a:uLnTx/>
                <a:uFillTx/>
                <a:latin typeface="Tahoma" panose="020B0604030504040204" pitchFamily="34" charset="0"/>
                <a:ea typeface="Tahoma" panose="020B0604030504040204" pitchFamily="34" charset="0"/>
                <a:cs typeface="Tahoma" panose="020B0604030504040204" pitchFamily="34" charset="0"/>
              </a:rPr>
              <a:t>return n&lt;</a:t>
            </a:r>
            <a:r>
              <a:rPr kumimoji="0" lang="en-GB" altLang="el-GR" sz="3200" b="1" i="1" u="none" strike="noStrike" kern="0" cap="none" spc="0" normalizeH="0" baseline="0" noProof="0" dirty="0" err="1">
                <a:ln>
                  <a:noFill/>
                </a:ln>
                <a:effectLst/>
                <a:uLnTx/>
                <a:uFillTx/>
                <a:latin typeface="Tahoma" panose="020B0604030504040204" pitchFamily="34" charset="0"/>
                <a:ea typeface="Tahoma" panose="020B0604030504040204" pitchFamily="34" charset="0"/>
                <a:cs typeface="Tahoma" panose="020B0604030504040204" pitchFamily="34" charset="0"/>
              </a:rPr>
              <a:t>m?n:m</a:t>
            </a:r>
            <a:r>
              <a:rPr kumimoji="0" lang="en-GB" altLang="el-GR" sz="3200" b="1" i="1" u="none" strike="noStrike" kern="0" cap="none" spc="0" normalizeH="0" baseline="0" noProof="0" dirty="0">
                <a:ln>
                  <a:noFill/>
                </a:ln>
                <a:effectLst/>
                <a:uLnTx/>
                <a:uFillTx/>
                <a:latin typeface="Tahoma" panose="020B0604030504040204" pitchFamily="34" charset="0"/>
                <a:ea typeface="Tahoma" panose="020B0604030504040204" pitchFamily="34" charset="0"/>
                <a:cs typeface="Tahoma" panose="020B0604030504040204" pitchFamily="34" charset="0"/>
              </a:rPr>
              <a:t>;</a:t>
            </a:r>
            <a:endParaRPr lang="en-GB" sz="3200" dirty="0"/>
          </a:p>
        </p:txBody>
      </p:sp>
      <p:sp>
        <p:nvSpPr>
          <p:cNvPr id="12" name="TextBox 11">
            <a:extLst>
              <a:ext uri="{FF2B5EF4-FFF2-40B4-BE49-F238E27FC236}">
                <a16:creationId xmlns:a16="http://schemas.microsoft.com/office/drawing/2014/main" id="{001569DC-33C5-A960-13E9-8ED0DCD3A211}"/>
              </a:ext>
            </a:extLst>
          </p:cNvPr>
          <p:cNvSpPr txBox="1"/>
          <p:nvPr/>
        </p:nvSpPr>
        <p:spPr>
          <a:xfrm>
            <a:off x="638057" y="5130998"/>
            <a:ext cx="2510913" cy="584775"/>
          </a:xfrm>
          <a:prstGeom prst="rect">
            <a:avLst/>
          </a:prstGeom>
          <a:solidFill>
            <a:schemeClr val="accent3">
              <a:lumMod val="40000"/>
              <a:lumOff val="60000"/>
            </a:schemeClr>
          </a:solidFill>
        </p:spPr>
        <p:txBody>
          <a:bodyPr wrap="square">
            <a:spAutoFit/>
          </a:bodyPr>
          <a:lstStyle/>
          <a:p>
            <a:r>
              <a:rPr lang="el-GR" altLang="el-GR" sz="3200" b="1" i="1" kern="0" dirty="0" err="1">
                <a:latin typeface="Tahoma" panose="020B0604030504040204" pitchFamily="34" charset="0"/>
                <a:ea typeface="Tahoma" panose="020B0604030504040204" pitchFamily="34" charset="0"/>
                <a:cs typeface="Tahoma" panose="020B0604030504040204" pitchFamily="34" charset="0"/>
              </a:rPr>
              <a:t>return</a:t>
            </a:r>
            <a:r>
              <a:rPr lang="el-GR" altLang="el-GR" sz="3200" b="1" i="1" kern="0" dirty="0">
                <a:latin typeface="Tahoma" panose="020B0604030504040204" pitchFamily="34" charset="0"/>
                <a:ea typeface="Tahoma" panose="020B0604030504040204" pitchFamily="34" charset="0"/>
                <a:cs typeface="Tahoma" panose="020B0604030504040204" pitchFamily="34" charset="0"/>
              </a:rPr>
              <a:t>;</a:t>
            </a:r>
            <a:endParaRPr lang="en-GB" sz="3200" dirty="0"/>
          </a:p>
        </p:txBody>
      </p:sp>
      <p:sp>
        <p:nvSpPr>
          <p:cNvPr id="13" name="Rectangle 3">
            <a:extLst>
              <a:ext uri="{FF2B5EF4-FFF2-40B4-BE49-F238E27FC236}">
                <a16:creationId xmlns:a16="http://schemas.microsoft.com/office/drawing/2014/main" id="{0C37927F-798C-1664-481F-A3F97CE408ED}"/>
              </a:ext>
            </a:extLst>
          </p:cNvPr>
          <p:cNvSpPr txBox="1">
            <a:spLocks noChangeArrowheads="1"/>
          </p:cNvSpPr>
          <p:nvPr/>
        </p:nvSpPr>
        <p:spPr bwMode="auto">
          <a:xfrm>
            <a:off x="140669" y="3788925"/>
            <a:ext cx="10656887" cy="1186923"/>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για τον τερματισμό συνάρτησης χωρίς επιστρεφόμενη τιμή χρησιμοποιούμε την πρόταση</a:t>
            </a:r>
          </a:p>
        </p:txBody>
      </p:sp>
    </p:spTree>
    <p:extLst>
      <p:ext uri="{BB962C8B-B14F-4D97-AF65-F5344CB8AC3E}">
        <p14:creationId xmlns:p14="http://schemas.microsoft.com/office/powerpoint/2010/main" val="1707926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dissolv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dissolv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dissolve">
                                      <p:cBhvr>
                                        <p:cTn id="32" dur="500"/>
                                        <p:tgtEl>
                                          <p:spTgt spid="1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7" grpId="0" animBg="1"/>
      <p:bldP spid="12" grpId="0" animBg="1"/>
      <p:bldP spid="1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D1023-3DAB-D173-686D-E002D64B993B}"/>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0B328D9-56DA-2B3F-93E7-194DEC4FEA44}"/>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21F42083-38B1-3BE5-4C72-E766AC29D87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Βασική Βιβλιοθήκη της </a:t>
            </a:r>
            <a:r>
              <a:rPr lang="en-GB" sz="4000" b="1" dirty="0">
                <a:solidFill>
                  <a:srgbClr val="F9853D"/>
                </a:solidFill>
                <a:latin typeface="Bahnschrift" panose="020B0502040204020203" pitchFamily="34" charset="0"/>
              </a:rPr>
              <a:t>C</a:t>
            </a:r>
          </a:p>
        </p:txBody>
      </p:sp>
      <p:sp>
        <p:nvSpPr>
          <p:cNvPr id="8" name="Θέση υποσέλιδου 4">
            <a:extLst>
              <a:ext uri="{FF2B5EF4-FFF2-40B4-BE49-F238E27FC236}">
                <a16:creationId xmlns:a16="http://schemas.microsoft.com/office/drawing/2014/main" id="{93FC86C1-496F-5EA9-1567-024059AF6D5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5AEA58F6-4929-37F0-4DC8-EF945DAA0BA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CF09538C-B9B3-3A0C-9456-1A5518DBDE32}"/>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5606E75A-D64D-24FA-1FD5-DDBA1BBC2D9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77E0C3CF-E471-368F-4729-43D07DC9914C}"/>
              </a:ext>
            </a:extLst>
          </p:cNvPr>
          <p:cNvSpPr txBox="1">
            <a:spLocks noChangeArrowheads="1"/>
          </p:cNvSpPr>
          <p:nvPr/>
        </p:nvSpPr>
        <p:spPr bwMode="auto">
          <a:xfrm>
            <a:off x="128205" y="905068"/>
            <a:ext cx="11497149" cy="1964480"/>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Ορίζει (περιέχει) ένα σύνολο από συναρτήσεις που υλοποιούν </a:t>
            </a:r>
            <a:r>
              <a:rPr kumimoji="0" lang="el-GR" altLang="el-GR"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βασικές διεργασίες</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Η γνώση των συναρτήσεων αυτών αποτελεί </a:t>
            </a:r>
            <a:r>
              <a:rPr kumimoji="0" lang="el-GR" altLang="el-GR"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βασική προϋπόθεση</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για την ανάπτυξη σύνθετων προγραμμάτων.</a:t>
            </a:r>
          </a:p>
        </p:txBody>
      </p:sp>
      <p:sp>
        <p:nvSpPr>
          <p:cNvPr id="7" name="Rectangle 5">
            <a:extLst>
              <a:ext uri="{FF2B5EF4-FFF2-40B4-BE49-F238E27FC236}">
                <a16:creationId xmlns:a16="http://schemas.microsoft.com/office/drawing/2014/main" id="{45F013AB-D330-4B21-33B5-1664F6099AC3}"/>
              </a:ext>
            </a:extLst>
          </p:cNvPr>
          <p:cNvSpPr>
            <a:spLocks noChangeArrowheads="1"/>
          </p:cNvSpPr>
          <p:nvPr/>
        </p:nvSpPr>
        <p:spPr bwMode="auto">
          <a:xfrm>
            <a:off x="128204" y="4489092"/>
            <a:ext cx="11497149" cy="1752600"/>
          </a:xfrm>
          <a:prstGeom prst="rect">
            <a:avLst/>
          </a:prstGeom>
          <a:solidFill>
            <a:srgbClr val="F5FC62"/>
          </a:solid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90000"/>
              </a:lnSpc>
              <a:spcBef>
                <a:spcPct val="0"/>
              </a:spcBef>
              <a:spcAft>
                <a:spcPct val="0"/>
              </a:spcAft>
              <a:buClrTx/>
              <a:buSzTx/>
              <a:buFontTx/>
              <a:buNone/>
              <a:tabLst/>
              <a:defRPr/>
            </a:pP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rPr>
              <a:t>1. </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ANS</a:t>
            </a: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X</a:t>
            </a: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3.159-1989</a:t>
            </a: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πρότυπο </a:t>
            </a: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90000"/>
              </a:lnSpc>
              <a:spcBef>
                <a:spcPct val="0"/>
              </a:spcBef>
              <a:spcAft>
                <a:spcPct val="0"/>
              </a:spcAft>
              <a:buClrTx/>
              <a:buSzTx/>
              <a:buFontTx/>
              <a:buNone/>
              <a:tabLst/>
              <a:defRPr/>
            </a:pP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τον Δεκέμβριο του 1989 και δημοσιεύθηκε άνοιξη του 1990</a:t>
            </a:r>
            <a:endPar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90000"/>
              </a:lnSpc>
              <a:spcBef>
                <a:spcPct val="0"/>
              </a:spcBef>
              <a:spcAft>
                <a:spcPct val="0"/>
              </a:spcAft>
              <a:buClrTx/>
              <a:buSzTx/>
              <a:buFontTx/>
              <a:buNone/>
              <a:tabLst/>
              <a:defRPr/>
            </a:pP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rPr>
              <a:t>2. </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ISO</a:t>
            </a:r>
            <a:r>
              <a:rPr kumimoji="0" lang="en-US"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9899-1990</a:t>
            </a: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rPr>
              <a:t> </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πρότυπο</a:t>
            </a:r>
            <a:endPar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90000"/>
              </a:lnSpc>
              <a:spcBef>
                <a:spcPct val="0"/>
              </a:spcBef>
              <a:spcAft>
                <a:spcPct val="0"/>
              </a:spcAft>
              <a:buClrTx/>
              <a:buSzTx/>
              <a:buFontTx/>
              <a:buNone/>
              <a:tabLst/>
              <a:defRPr/>
            </a:pP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είναι σχεδόν αντίγραφο του</a:t>
            </a:r>
            <a:r>
              <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ANSI</a:t>
            </a:r>
            <a:r>
              <a:rPr kumimoji="0" lang="el-GR" alt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(ISO:</a:t>
            </a:r>
            <a:r>
              <a:rPr kumimoji="0" lang="en-GB" altLang="el-GR"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International Organization for Standardization</a:t>
            </a:r>
            <a:r>
              <a:rPr kumimoji="0" lang="en-US" altLang="el-GR"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9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3. </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ISO</a:t>
            </a: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a:t>
            </a:r>
            <a:r>
              <a:rPr kumimoji="0" lang="en-GB"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IEC</a:t>
            </a:r>
            <a:r>
              <a:rPr kumimoji="0" lang="el-GR" altLang="el-GR" sz="2000" b="1"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899:1999</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 </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το </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rPr>
              <a:t>τρέχον πρότυπο </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defRPr/>
            </a:pPr>
            <a:r>
              <a:rPr kumimoji="0" lang="el-GR" altLang="el-GR"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αντικατέστησε το 1990 </a:t>
            </a:r>
            <a:r>
              <a:rPr kumimoji="0" lang="en-GB" altLang="el-GR"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ISO</a:t>
            </a:r>
            <a:r>
              <a:rPr kumimoji="0" lang="el-GR" altLang="el-GR"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πρότυπο</a:t>
            </a:r>
            <a:r>
              <a:rPr kumimoji="0" lang="en-GB" altLang="el-GR" sz="2000" b="0" i="0" u="none" strike="noStrike" kern="0" cap="none" spc="0" normalizeH="0" baseline="0" noProof="0" dirty="0">
                <a:ln>
                  <a:noFill/>
                </a:ln>
                <a:solidFill>
                  <a:srgbClr val="000000"/>
                </a:solidFill>
                <a:effectLst/>
                <a:uLnTx/>
                <a:uFillTx/>
                <a:latin typeface="Times New Roman" panose="02020603050405020304" pitchFamily="18" charset="0"/>
              </a:rPr>
              <a:t> </a:t>
            </a:r>
          </a:p>
        </p:txBody>
      </p:sp>
      <p:sp>
        <p:nvSpPr>
          <p:cNvPr id="9" name="TextBox 1">
            <a:extLst>
              <a:ext uri="{FF2B5EF4-FFF2-40B4-BE49-F238E27FC236}">
                <a16:creationId xmlns:a16="http://schemas.microsoft.com/office/drawing/2014/main" id="{52FC7074-E07F-9E72-6E1A-5392AFB76457}"/>
              </a:ext>
            </a:extLst>
          </p:cNvPr>
          <p:cNvSpPr txBox="1">
            <a:spLocks noChangeArrowheads="1"/>
          </p:cNvSpPr>
          <p:nvPr/>
        </p:nvSpPr>
        <p:spPr bwMode="auto">
          <a:xfrm>
            <a:off x="6571632" y="3187543"/>
            <a:ext cx="5761037"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Standard C library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hlinkClick r:id="rId3"/>
              </a:rPr>
              <a:t>https://www.csse.uwa.edu.au/programming/ansic-library.html</a:t>
            </a:r>
            <a:endPar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0" i="0" u="none" strike="noStrike" kern="0" cap="none" spc="0" normalizeH="0" baseline="0" noProof="0" dirty="0">
                <a:ln>
                  <a:noFill/>
                </a:ln>
                <a:solidFill>
                  <a:srgbClr val="1A0DAB"/>
                </a:solidFill>
                <a:effectLst/>
                <a:uLnTx/>
                <a:uFillTx/>
                <a:latin typeface="Arial" panose="020B0604020202020204" pitchFamily="34" charset="0"/>
              </a:rPr>
              <a:t>Standard C Library Functions Table, By Name - IBM</a:t>
            </a:r>
            <a:endParaRPr kumimoji="0" lang="en-US" altLang="el-GR" sz="1400" b="0" i="0" u="none" strike="noStrike" kern="0" cap="none" spc="0" normalizeH="0" baseline="0" noProof="0" dirty="0">
              <a:ln>
                <a:noFill/>
              </a:ln>
              <a:solidFill>
                <a:srgbClr val="1A0DAB"/>
              </a:solidFill>
              <a:effectLst/>
              <a:uLnTx/>
              <a:uFillTx/>
              <a:latin typeface="Arial" panose="020B0604020202020204" pitchFamily="34" charset="0"/>
              <a:hlinkClick r:id="rId4"/>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200" b="0" i="0" u="none" strike="noStrike" kern="0" cap="none" spc="0" normalizeH="0" baseline="0" noProof="0" dirty="0">
                <a:ln>
                  <a:noFill/>
                </a:ln>
                <a:solidFill>
                  <a:srgbClr val="000000"/>
                </a:solidFill>
                <a:effectLst/>
                <a:uLnTx/>
                <a:uFillTx/>
                <a:latin typeface="Tahoma" panose="020B0604030504040204" pitchFamily="34" charset="0"/>
                <a:hlinkClick r:id="rId5"/>
              </a:rPr>
              <a:t>https://www.ibm.com/docs/en/i/7.3?topic=extensions-standard-c-library-functions-table-by-name</a:t>
            </a:r>
            <a:endParaRPr kumimoji="0" lang="el-GR" altLang="el-GR" sz="12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28438095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bldLvl="2" autoUpdateAnimBg="0"/>
      <p:bldP spid="7" grpId="0" animBg="1" autoUpdateAnimBg="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EBD87-CA2E-FFEA-EDE4-CFDDA5064ADE}"/>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456745B-1CDC-D1B1-2D53-748C0E29232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49E6C24-7457-AC23-959C-15B458F1F57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Βασική Βιβλιοθήκη - κατηγορίες συναρτήσεων </a:t>
            </a:r>
          </a:p>
        </p:txBody>
      </p:sp>
      <p:sp>
        <p:nvSpPr>
          <p:cNvPr id="8" name="Θέση υποσέλιδου 4">
            <a:extLst>
              <a:ext uri="{FF2B5EF4-FFF2-40B4-BE49-F238E27FC236}">
                <a16:creationId xmlns:a16="http://schemas.microsoft.com/office/drawing/2014/main" id="{41B8AE07-8EED-1751-25DE-9ED8B8050A6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DAED851A-4DC7-D247-4C69-87DC0463FD4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FE14F95D-525F-1A4B-DEC7-08779347611C}"/>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61D53BF9-4A29-A9C5-F09F-DE70213606F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156AFB35-9F4C-1668-742E-6BE6F34B05C3}"/>
              </a:ext>
            </a:extLst>
          </p:cNvPr>
          <p:cNvSpPr txBox="1">
            <a:spLocks noChangeArrowheads="1"/>
          </p:cNvSpPr>
          <p:nvPr/>
        </p:nvSpPr>
        <p:spPr bwMode="auto">
          <a:xfrm>
            <a:off x="394855" y="10287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εισόδου εξόδου</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μαθηματικές</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διαχείρισης αλφαριθμητικών</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ταξινόμηση χαρακτήρων και μετατροπές χαρακτήρων</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μετατροπής δεδομένων</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αναζήτησης και ταξινόμησης</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διαχείρισης αρχείων</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διαχείρισης μνήμης</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rPr>
              <a:t>…..</a:t>
            </a:r>
            <a:endParaRPr kumimoji="0" lang="en-GB" altLang="el-GR" sz="2800" b="0" i="0" u="none" strike="noStrike" kern="0" cap="none" spc="0" normalizeH="0" baseline="0" noProof="0" dirty="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GB" altLang="el-GR" sz="2800" b="0" i="0" u="none" strike="noStrike" kern="0" cap="none" spc="0" normalizeH="0" baseline="0" noProof="0" dirty="0">
              <a:ln>
                <a:noFill/>
              </a:ln>
              <a:solidFill>
                <a:srgbClr val="000000"/>
              </a:solidFill>
              <a:effectLst/>
              <a:uLnTx/>
              <a:uFillTx/>
              <a:latin typeface="Tahoma"/>
              <a:ea typeface="+mn-ea"/>
              <a:cs typeface="+mn-cs"/>
            </a:endParaRPr>
          </a:p>
        </p:txBody>
      </p:sp>
      <p:sp>
        <p:nvSpPr>
          <p:cNvPr id="7" name="AutoShape 4">
            <a:extLst>
              <a:ext uri="{FF2B5EF4-FFF2-40B4-BE49-F238E27FC236}">
                <a16:creationId xmlns:a16="http://schemas.microsoft.com/office/drawing/2014/main" id="{511B5C7E-37D8-ECB8-37AA-E817D562A31A}"/>
              </a:ext>
            </a:extLst>
          </p:cNvPr>
          <p:cNvSpPr>
            <a:spLocks noChangeArrowheads="1"/>
          </p:cNvSpPr>
          <p:nvPr/>
        </p:nvSpPr>
        <p:spPr bwMode="auto">
          <a:xfrm>
            <a:off x="7176655" y="4861104"/>
            <a:ext cx="3276600" cy="990600"/>
          </a:xfrm>
          <a:prstGeom prst="wedgeRoundRectCallout">
            <a:avLst>
              <a:gd name="adj1" fmla="val -50630"/>
              <a:gd name="adj2" fmla="val 94713"/>
              <a:gd name="adj3" fmla="val 16667"/>
            </a:avLst>
          </a:prstGeom>
          <a:solidFill>
            <a:srgbClr val="FFCF01"/>
          </a:solidFill>
          <a:ln w="9525">
            <a:solidFill>
              <a:srgbClr val="FFFFFF"/>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dirty="0">
                <a:ln>
                  <a:noFill/>
                </a:ln>
                <a:solidFill>
                  <a:schemeClr val="bg1"/>
                </a:solidFill>
                <a:effectLst/>
                <a:uLnTx/>
                <a:uFillTx/>
                <a:latin typeface="Tahoma" panose="020B0604030504040204" pitchFamily="34" charset="0"/>
              </a:rPr>
              <a:t>Δες Ενότητα 16.5</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dirty="0">
                <a:ln>
                  <a:noFill/>
                </a:ln>
                <a:solidFill>
                  <a:schemeClr val="bg1"/>
                </a:solidFill>
                <a:effectLst/>
                <a:uLnTx/>
                <a:uFillTx/>
                <a:latin typeface="Tahoma" panose="020B0604030504040204" pitchFamily="34" charset="0"/>
              </a:rPr>
              <a:t>του βιβλίου</a:t>
            </a:r>
            <a:endParaRPr kumimoji="0" lang="en-GB" altLang="el-GR" sz="2400" b="0" i="0" u="none" strike="noStrike" kern="0" cap="none" spc="0" normalizeH="0" baseline="0" noProof="0" dirty="0">
              <a:ln>
                <a:noFill/>
              </a:ln>
              <a:solidFill>
                <a:schemeClr val="bg1"/>
              </a:solidFill>
              <a:effectLst/>
              <a:uLnTx/>
              <a:uFillTx/>
              <a:latin typeface="Tahoma" panose="020B0604030504040204" pitchFamily="34" charset="0"/>
            </a:endParaRPr>
          </a:p>
        </p:txBody>
      </p:sp>
    </p:spTree>
    <p:extLst>
      <p:ext uri="{BB962C8B-B14F-4D97-AF65-F5344CB8AC3E}">
        <p14:creationId xmlns:p14="http://schemas.microsoft.com/office/powerpoint/2010/main" val="42880945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dissolve">
                                      <p:cBhvr>
                                        <p:cTn id="11" dur="500"/>
                                        <p:tgtEl>
                                          <p:spTgt spid="6">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dissolve">
                                      <p:cBhvr>
                                        <p:cTn id="15" dur="500"/>
                                        <p:tgtEl>
                                          <p:spTgt spid="6">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dissolve">
                                      <p:cBhvr>
                                        <p:cTn id="19" dur="500"/>
                                        <p:tgtEl>
                                          <p:spTgt spid="6">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dissolve">
                                      <p:cBhvr>
                                        <p:cTn id="23" dur="500"/>
                                        <p:tgtEl>
                                          <p:spTgt spid="6">
                                            <p:txEl>
                                              <p:pRg st="4" end="4"/>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dissolve">
                                      <p:cBhvr>
                                        <p:cTn id="27" dur="500"/>
                                        <p:tgtEl>
                                          <p:spTgt spid="6">
                                            <p:txEl>
                                              <p:pRg st="5" end="5"/>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dissolve">
                                      <p:cBhvr>
                                        <p:cTn id="31" dur="500"/>
                                        <p:tgtEl>
                                          <p:spTgt spid="6">
                                            <p:txEl>
                                              <p:pRg st="6" end="6"/>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Effect transition="in" filter="dissolve">
                                      <p:cBhvr>
                                        <p:cTn id="35" dur="500"/>
                                        <p:tgtEl>
                                          <p:spTgt spid="6">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6">
                                            <p:txEl>
                                              <p:pRg st="8" end="8"/>
                                            </p:txEl>
                                          </p:spTgt>
                                        </p:tgtEl>
                                        <p:attrNameLst>
                                          <p:attrName>style.visibility</p:attrName>
                                        </p:attrNameLst>
                                      </p:cBhvr>
                                      <p:to>
                                        <p:strVal val="visible"/>
                                      </p:to>
                                    </p:set>
                                    <p:animEffect transition="in" filter="dissolve">
                                      <p:cBhvr>
                                        <p:cTn id="40" dur="500"/>
                                        <p:tgtEl>
                                          <p:spTgt spid="6">
                                            <p:txEl>
                                              <p:pRg st="8" end="8"/>
                                            </p:txEl>
                                          </p:spTgt>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dissolv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3B698-359F-D4CF-519F-A0278663D49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3210CBEF-AA9C-EE12-B73D-CBA40BA2FB62}"/>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977A353-4FE8-66D4-2638-0DDDA2E25B92}"/>
              </a:ext>
            </a:extLst>
          </p:cNvPr>
          <p:cNvSpPr>
            <a:spLocks noGrp="1"/>
          </p:cNvSpPr>
          <p:nvPr>
            <p:ph type="title"/>
          </p:nvPr>
        </p:nvSpPr>
        <p:spPr>
          <a:xfrm>
            <a:off x="0" y="0"/>
            <a:ext cx="12191999" cy="719331"/>
          </a:xfrm>
          <a:solidFill>
            <a:srgbClr val="FDCBAD"/>
          </a:solidFill>
        </p:spPr>
        <p:txBody>
          <a:bodyPr>
            <a:normAutofit/>
          </a:bodyPr>
          <a:lstStyle/>
          <a:p>
            <a:r>
              <a:rPr lang="el-GR" sz="4000" b="1" dirty="0" err="1">
                <a:solidFill>
                  <a:srgbClr val="F9853D"/>
                </a:solidFill>
                <a:latin typeface="Bahnschrift" panose="020B0502040204020203" pitchFamily="34" charset="0"/>
              </a:rPr>
              <a:t>standard</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library</a:t>
            </a:r>
            <a:r>
              <a:rPr lang="el-GR" sz="4000" b="1" dirty="0">
                <a:solidFill>
                  <a:srgbClr val="F9853D"/>
                </a:solidFill>
                <a:latin typeface="Bahnschrift" panose="020B0502040204020203" pitchFamily="34" charset="0"/>
              </a:rPr>
              <a:t> – συναρτήσεις Ι/Ο</a:t>
            </a:r>
          </a:p>
        </p:txBody>
      </p:sp>
      <p:sp>
        <p:nvSpPr>
          <p:cNvPr id="8" name="Θέση υποσέλιδου 4">
            <a:extLst>
              <a:ext uri="{FF2B5EF4-FFF2-40B4-BE49-F238E27FC236}">
                <a16:creationId xmlns:a16="http://schemas.microsoft.com/office/drawing/2014/main" id="{7584F3FD-7167-0A2C-E639-DB3B50D2E2B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FE8E88C-B72F-98A1-828E-29F7206DC1E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18D19D8D-11EE-0CE6-2C12-14CD6B6AE4D9}"/>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87B2E2E4-73FC-6A42-1207-0C214BAF0AD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3667B241-1353-5558-954F-10A00BA4976B}"/>
              </a:ext>
            </a:extLst>
          </p:cNvPr>
          <p:cNvSpPr txBox="1">
            <a:spLocks noChangeArrowheads="1"/>
          </p:cNvSpPr>
          <p:nvPr/>
        </p:nvSpPr>
        <p:spPr bwMode="auto">
          <a:xfrm>
            <a:off x="140669" y="1668016"/>
            <a:ext cx="8583488" cy="1640244"/>
          </a:xfrm>
          <a:prstGeom prst="rect">
            <a:avLst/>
          </a:prstGeom>
          <a:solidFill>
            <a:schemeClr val="accent3">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 </a:t>
            </a:r>
            <a:r>
              <a:rPr kumimoji="0" lang="en-US" altLang="el-GR" sz="2800" b="1" i="0" u="none" strike="noStrike" kern="0" cap="none" spc="0" normalizeH="0" baseline="0" noProof="0" dirty="0" err="1">
                <a:ln>
                  <a:noFill/>
                </a:ln>
                <a:solidFill>
                  <a:srgbClr val="00E4A8">
                    <a:lumMod val="75000"/>
                  </a:srgbClr>
                </a:solidFill>
                <a:effectLst/>
                <a:uLnTx/>
                <a:uFillTx/>
                <a:latin typeface="Courier New" panose="02070309020205020404" pitchFamily="49" charset="0"/>
                <a:ea typeface="+mn-ea"/>
                <a:cs typeface="Times New Roman" panose="02020603050405020304" pitchFamily="18" charset="0"/>
              </a:rPr>
              <a:t>getchar</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(void); </a:t>
            </a:r>
            <a:endPar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 </a:t>
            </a:r>
            <a:r>
              <a:rPr kumimoji="0" lang="en-US" altLang="el-GR" sz="32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Times New Roman" panose="02020603050405020304" pitchFamily="18" charset="0"/>
              </a:rPr>
              <a:t>scanf</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(const char* format, ...);</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sv-SE" altLang="el-GR" sz="3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sv-SE"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char *gets</a:t>
            </a:r>
            <a:r>
              <a:rPr kumimoji="0" lang="sv-SE"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(char *str)</a:t>
            </a:r>
            <a:endPar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endParaRPr>
          </a:p>
        </p:txBody>
      </p:sp>
      <p:sp>
        <p:nvSpPr>
          <p:cNvPr id="6" name="Rectangle 3">
            <a:extLst>
              <a:ext uri="{FF2B5EF4-FFF2-40B4-BE49-F238E27FC236}">
                <a16:creationId xmlns:a16="http://schemas.microsoft.com/office/drawing/2014/main" id="{4FB880BA-1BA2-DDDF-58E5-6641E0545B31}"/>
              </a:ext>
            </a:extLst>
          </p:cNvPr>
          <p:cNvSpPr txBox="1">
            <a:spLocks noChangeArrowheads="1"/>
          </p:cNvSpPr>
          <p:nvPr/>
        </p:nvSpPr>
        <p:spPr bwMode="auto">
          <a:xfrm>
            <a:off x="140669" y="1130118"/>
            <a:ext cx="8583488" cy="68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600" b="1" i="0" u="none" strike="noStrike" kern="0" cap="none" spc="0" normalizeH="0" baseline="0" noProof="0" dirty="0">
                <a:ln>
                  <a:noFill/>
                </a:ln>
                <a:solidFill>
                  <a:srgbClr val="3333CC"/>
                </a:solidFill>
                <a:effectLst/>
                <a:uLnTx/>
                <a:uFillTx/>
                <a:latin typeface="Times New Roman" panose="02020603050405020304" pitchFamily="18" charset="0"/>
                <a:ea typeface="+mn-ea"/>
                <a:cs typeface="+mn-cs"/>
              </a:rPr>
              <a:t>Εισόδου</a:t>
            </a:r>
            <a:endParaRPr kumimoji="0" lang="el-GR" altLang="el-GR"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7" name="Rectangle 3">
            <a:extLst>
              <a:ext uri="{FF2B5EF4-FFF2-40B4-BE49-F238E27FC236}">
                <a16:creationId xmlns:a16="http://schemas.microsoft.com/office/drawing/2014/main" id="{3D6B3F46-CB35-894D-4827-BC35B9B3CAD0}"/>
              </a:ext>
            </a:extLst>
          </p:cNvPr>
          <p:cNvSpPr txBox="1">
            <a:spLocks noChangeArrowheads="1"/>
          </p:cNvSpPr>
          <p:nvPr/>
        </p:nvSpPr>
        <p:spPr bwMode="auto">
          <a:xfrm>
            <a:off x="-1" y="4553967"/>
            <a:ext cx="11481060" cy="1895059"/>
          </a:xfrm>
          <a:prstGeom prst="rect">
            <a:avLst/>
          </a:prstGeom>
          <a:solidFill>
            <a:schemeClr val="accent3">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 </a:t>
            </a:r>
            <a:r>
              <a:rPr kumimoji="0" lang="en-US" altLang="el-GR" sz="2800" b="1" i="0" u="none" strike="noStrike" kern="0" cap="none" spc="0" normalizeH="0" baseline="0" noProof="0" dirty="0" err="1">
                <a:ln>
                  <a:noFill/>
                </a:ln>
                <a:solidFill>
                  <a:srgbClr val="00E4A8">
                    <a:lumMod val="75000"/>
                  </a:srgbClr>
                </a:solidFill>
                <a:effectLst/>
                <a:uLnTx/>
                <a:uFillTx/>
                <a:latin typeface="Courier New" panose="02070309020205020404" pitchFamily="49" charset="0"/>
                <a:ea typeface="+mn-ea"/>
                <a:cs typeface="Times New Roman" panose="02020603050405020304" pitchFamily="18" charset="0"/>
              </a:rPr>
              <a:t>putchar</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(int c); </a:t>
            </a:r>
            <a:endPar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 </a:t>
            </a:r>
            <a:r>
              <a:rPr kumimoji="0" lang="en-US" altLang="el-GR" sz="2800" b="1" i="0" u="none" strike="noStrike" kern="0" cap="none" spc="0" normalizeH="0" baseline="0" noProof="0" dirty="0">
                <a:ln>
                  <a:noFill/>
                </a:ln>
                <a:solidFill>
                  <a:srgbClr val="00E4A8">
                    <a:lumMod val="75000"/>
                  </a:srgbClr>
                </a:solidFill>
                <a:effectLst/>
                <a:uLnTx/>
                <a:uFillTx/>
                <a:latin typeface="Courier New" panose="02070309020205020404" pitchFamily="49" charset="0"/>
                <a:ea typeface="+mn-ea"/>
                <a:cs typeface="Times New Roman" panose="02020603050405020304" pitchFamily="18" charset="0"/>
              </a:rPr>
              <a:t>puts</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(const char* s); </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a:t>
            </a:r>
            <a:r>
              <a:rPr kumimoji="0" lang="el-GR"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 </a:t>
            </a:r>
            <a:r>
              <a:rPr kumimoji="0" lang="en-US" altLang="el-GR" sz="28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Times New Roman" panose="02020603050405020304" pitchFamily="18" charset="0"/>
              </a:rPr>
              <a:t>printf</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(const char *format, </a:t>
            </a:r>
            <a:r>
              <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όρισμα</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2,</a:t>
            </a:r>
            <a:r>
              <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 όρισμα3</a:t>
            </a:r>
            <a:r>
              <a:rPr kumimoji="0" lang="en-US"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rPr>
              <a:t>,…);</a:t>
            </a:r>
            <a:endParaRPr kumimoji="0" lang="el-GR" altLang="el-GR" sz="2800" b="1" i="0" u="none" strike="noStrike" kern="0" cap="none" spc="0" normalizeH="0" baseline="0" noProof="0" dirty="0">
              <a:ln>
                <a:noFill/>
              </a:ln>
              <a:solidFill>
                <a:srgbClr val="000000"/>
              </a:solidFill>
              <a:effectLst/>
              <a:uLnTx/>
              <a:uFillTx/>
              <a:latin typeface="Courier New" panose="02070309020205020404" pitchFamily="49" charset="0"/>
              <a:ea typeface="+mn-ea"/>
              <a:cs typeface="Times New Roman" panose="02020603050405020304" pitchFamily="18" charset="0"/>
            </a:endParaRPr>
          </a:p>
        </p:txBody>
      </p:sp>
      <p:sp>
        <p:nvSpPr>
          <p:cNvPr id="9" name="Rectangle 3">
            <a:extLst>
              <a:ext uri="{FF2B5EF4-FFF2-40B4-BE49-F238E27FC236}">
                <a16:creationId xmlns:a16="http://schemas.microsoft.com/office/drawing/2014/main" id="{3F193029-C56D-23FC-E95A-38F8FBCD8E9A}"/>
              </a:ext>
            </a:extLst>
          </p:cNvPr>
          <p:cNvSpPr txBox="1">
            <a:spLocks noChangeArrowheads="1"/>
          </p:cNvSpPr>
          <p:nvPr/>
        </p:nvSpPr>
        <p:spPr bwMode="auto">
          <a:xfrm>
            <a:off x="140669" y="3685062"/>
            <a:ext cx="8583488" cy="739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600" b="1" i="0" u="none" strike="noStrike" kern="0" cap="none" spc="0" normalizeH="0" baseline="0" noProof="0" dirty="0">
                <a:ln>
                  <a:noFill/>
                </a:ln>
                <a:solidFill>
                  <a:srgbClr val="3333CC"/>
                </a:solidFill>
                <a:effectLst/>
                <a:uLnTx/>
                <a:uFillTx/>
                <a:latin typeface="Times New Roman" panose="02020603050405020304" pitchFamily="18" charset="0"/>
                <a:ea typeface="+mn-ea"/>
                <a:cs typeface="+mn-cs"/>
              </a:rPr>
              <a:t>Εξόδου</a:t>
            </a:r>
          </a:p>
        </p:txBody>
      </p:sp>
    </p:spTree>
    <p:extLst>
      <p:ext uri="{BB962C8B-B14F-4D97-AF65-F5344CB8AC3E}">
        <p14:creationId xmlns:p14="http://schemas.microsoft.com/office/powerpoint/2010/main" val="408305328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dissolv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dissolv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dissolv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dissolve">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dissolve">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dissolve">
                                      <p:cBhvr>
                                        <p:cTn id="4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6" grpId="0" build="p" bldLvl="2" autoUpdateAnimBg="0"/>
      <p:bldP spid="7" grpId="0" build="p" bldLvl="2" autoUpdateAnimBg="0"/>
      <p:bldP spid="9" grpId="0"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FEB4DE1-F35D-AEA5-7DE9-0C8DE1EE8C2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3D419297-C28F-A853-C59B-602380478713}"/>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24DC7689-68ED-A6E9-C145-1D0AD53FDF8F}"/>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Χρήση της </a:t>
            </a:r>
            <a:r>
              <a:rPr lang="el-GR" sz="4000" b="1" dirty="0" err="1">
                <a:solidFill>
                  <a:srgbClr val="F9853D"/>
                </a:solidFill>
                <a:latin typeface="Bahnschrift" panose="020B0502040204020203" pitchFamily="34" charset="0"/>
              </a:rPr>
              <a:t>sqrt</a:t>
            </a:r>
            <a:r>
              <a:rPr lang="el-GR" sz="4000" b="1" dirty="0">
                <a:solidFill>
                  <a:srgbClr val="F9853D"/>
                </a:solidFill>
                <a:latin typeface="Bahnschrift" panose="020B0502040204020203" pitchFamily="34" charset="0"/>
              </a:rPr>
              <a:t>() της ΒΒ</a:t>
            </a:r>
          </a:p>
        </p:txBody>
      </p:sp>
      <p:sp>
        <p:nvSpPr>
          <p:cNvPr id="8" name="Θέση υποσέλιδου 4">
            <a:extLst>
              <a:ext uri="{FF2B5EF4-FFF2-40B4-BE49-F238E27FC236}">
                <a16:creationId xmlns:a16="http://schemas.microsoft.com/office/drawing/2014/main" id="{14280BE6-4108-DEB2-BA00-D4BA3D7B1FD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2D1B5DE-454B-500B-D384-0BB1BD51452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1B18352-2B8D-3FE6-6AE0-97B79F5349D1}"/>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85FE5E34-B688-E089-5DE3-E9A37A8D18C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075">
            <a:extLst>
              <a:ext uri="{FF2B5EF4-FFF2-40B4-BE49-F238E27FC236}">
                <a16:creationId xmlns:a16="http://schemas.microsoft.com/office/drawing/2014/main" id="{96E9A6F6-7252-4ACC-1C45-C381C46DD9E3}"/>
              </a:ext>
            </a:extLst>
          </p:cNvPr>
          <p:cNvSpPr txBox="1">
            <a:spLocks noChangeArrowheads="1"/>
          </p:cNvSpPr>
          <p:nvPr/>
        </p:nvSpPr>
        <p:spPr bwMode="auto">
          <a:xfrm>
            <a:off x="228600" y="2209800"/>
            <a:ext cx="8610600" cy="4114800"/>
          </a:xfrm>
          <a:prstGeom prst="rect">
            <a:avLst/>
          </a:prstGeom>
          <a:solidFill>
            <a:schemeClr val="accent3">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Times New Roman" panose="02020603050405020304" pitchFamily="18" charset="0"/>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Times New Roman" panose="02020603050405020304" pitchFamily="18" charset="0"/>
              </a:rPr>
              <a:t>#include &lt;</a:t>
            </a:r>
            <a:r>
              <a:rPr kumimoji="0" lang="en-US" altLang="el-GR" sz="2400" b="1" i="0" u="none" strike="noStrike" kern="0" cap="none" spc="0" normalizeH="0" baseline="0" noProof="0" dirty="0" err="1">
                <a:ln>
                  <a:noFill/>
                </a:ln>
                <a:solidFill>
                  <a:srgbClr val="800000"/>
                </a:solidFill>
                <a:effectLst/>
                <a:uLnTx/>
                <a:uFillTx/>
                <a:latin typeface="Courier New" panose="02070309020205020404" pitchFamily="49" charset="0"/>
                <a:ea typeface="+mn-ea"/>
                <a:cs typeface="Times New Roman" panose="02020603050405020304" pitchFamily="18" charset="0"/>
              </a:rPr>
              <a:t>stdio.h</a:t>
            </a: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Times New Roman" panose="02020603050405020304" pitchFamily="18" charset="0"/>
              </a:rPr>
              <a:t>&gt;</a:t>
            </a:r>
            <a:endParaRPr kumimoji="0" lang="el-GR"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main()</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double num1 = 16;</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double result;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result = sqrt(num1);</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mn-cs"/>
              </a:rPr>
              <a:t>printf</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(“sqrt of %</a:t>
            </a: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f</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is %</a:t>
            </a:r>
            <a:r>
              <a:rPr kumimoji="0" lang="en-US" altLang="el-GR" sz="24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f</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\n”,</a:t>
            </a: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num1</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4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result</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mn-cs"/>
              </a:rPr>
              <a:t>printf</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0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sqrt of %</a:t>
            </a:r>
            <a:r>
              <a:rPr kumimoji="0" lang="en-US" altLang="el-GR" sz="20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f</a:t>
            </a:r>
            <a:r>
              <a:rPr kumimoji="0" lang="en-US" altLang="el-GR" sz="20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is %</a:t>
            </a:r>
            <a:r>
              <a:rPr kumimoji="0" lang="en-US" altLang="el-GR" sz="20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f</a:t>
            </a:r>
            <a:r>
              <a:rPr kumimoji="0" lang="en-US" altLang="el-GR" sz="20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\n</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num1</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n-US" altLang="el-GR" sz="24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sqrt(num1)</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a:t>
            </a:r>
            <a:endParaRPr kumimoji="0" lang="el-GR"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endParaRPr>
          </a:p>
        </p:txBody>
      </p:sp>
      <p:sp>
        <p:nvSpPr>
          <p:cNvPr id="7" name="AutoShape 3076">
            <a:extLst>
              <a:ext uri="{FF2B5EF4-FFF2-40B4-BE49-F238E27FC236}">
                <a16:creationId xmlns:a16="http://schemas.microsoft.com/office/drawing/2014/main" id="{DD7A57E2-E48B-6A58-B047-7ECF77B47B3A}"/>
              </a:ext>
            </a:extLst>
          </p:cNvPr>
          <p:cNvSpPr>
            <a:spLocks/>
          </p:cNvSpPr>
          <p:nvPr/>
        </p:nvSpPr>
        <p:spPr bwMode="auto">
          <a:xfrm>
            <a:off x="6658743" y="2665784"/>
            <a:ext cx="4432043" cy="879475"/>
          </a:xfrm>
          <a:prstGeom prst="borderCallout2">
            <a:avLst>
              <a:gd name="adj1" fmla="val 12995"/>
              <a:gd name="adj2" fmla="val -2130"/>
              <a:gd name="adj3" fmla="val 12995"/>
              <a:gd name="adj4" fmla="val -2130"/>
              <a:gd name="adj5" fmla="val 242070"/>
              <a:gd name="adj6" fmla="val -106152"/>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Αξιοποίηση επιστρεφόμενης τιμής</a:t>
            </a:r>
            <a:endParaRPr lang="en-GB" altLang="el-GR" sz="2000" b="1" dirty="0">
              <a:solidFill>
                <a:schemeClr val="lt1"/>
              </a:solidFill>
            </a:endParaRPr>
          </a:p>
        </p:txBody>
      </p:sp>
      <p:sp>
        <p:nvSpPr>
          <p:cNvPr id="9" name="Line 3077">
            <a:extLst>
              <a:ext uri="{FF2B5EF4-FFF2-40B4-BE49-F238E27FC236}">
                <a16:creationId xmlns:a16="http://schemas.microsoft.com/office/drawing/2014/main" id="{03ACB08A-3266-D040-35A8-0349ECF71C7A}"/>
              </a:ext>
            </a:extLst>
          </p:cNvPr>
          <p:cNvSpPr>
            <a:spLocks noChangeShapeType="1"/>
          </p:cNvSpPr>
          <p:nvPr/>
        </p:nvSpPr>
        <p:spPr bwMode="auto">
          <a:xfrm flipH="1">
            <a:off x="6400798" y="3674535"/>
            <a:ext cx="1843549" cy="1888065"/>
          </a:xfrm>
          <a:prstGeom prst="line">
            <a:avLst/>
          </a:prstGeom>
          <a:ln w="38100">
            <a:solidFill>
              <a:srgbClr val="0070C0"/>
            </a:solidFill>
          </a:ln>
          <a:extLst>
            <a:ext uri="{909E8E84-426E-40DD-AFC4-6F175D3DCCD1}">
              <a14:hiddenFill xmlns:a14="http://schemas.microsoft.com/office/drawing/2010/main">
                <a:no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endParaRPr lang="el-GR" sz="2000" b="1">
              <a:solidFill>
                <a:schemeClr val="lt1"/>
              </a:solidFill>
              <a:latin typeface="Tahoma" panose="020B0604030504040204" pitchFamily="34" charset="0"/>
            </a:endParaRPr>
          </a:p>
        </p:txBody>
      </p:sp>
      <p:sp>
        <p:nvSpPr>
          <p:cNvPr id="12" name="AutoShape 3078">
            <a:extLst>
              <a:ext uri="{FF2B5EF4-FFF2-40B4-BE49-F238E27FC236}">
                <a16:creationId xmlns:a16="http://schemas.microsoft.com/office/drawing/2014/main" id="{28B906B6-7458-C8F5-67A1-B18893AB8CA4}"/>
              </a:ext>
            </a:extLst>
          </p:cNvPr>
          <p:cNvSpPr>
            <a:spLocks noChangeArrowheads="1"/>
          </p:cNvSpPr>
          <p:nvPr/>
        </p:nvSpPr>
        <p:spPr bwMode="auto">
          <a:xfrm>
            <a:off x="416189" y="1865743"/>
            <a:ext cx="3810000" cy="838200"/>
          </a:xfrm>
          <a:prstGeom prst="leftArrow">
            <a:avLst>
              <a:gd name="adj1" fmla="val 50000"/>
              <a:gd name="adj2" fmla="val 113636"/>
            </a:avLst>
          </a:prstGeom>
          <a:solidFill>
            <a:srgbClr val="00E4A8"/>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cs typeface="Times New Roman" panose="02020603050405020304" pitchFamily="18" charset="0"/>
              </a:rPr>
              <a:t>#include &lt;</a:t>
            </a:r>
            <a:r>
              <a:rPr kumimoji="0" lang="en-US" altLang="el-GR" sz="2400" b="1" i="0" u="none" strike="noStrike" kern="0" cap="none" spc="0" normalizeH="0" baseline="0" noProof="0" dirty="0" err="1">
                <a:ln>
                  <a:noFill/>
                </a:ln>
                <a:solidFill>
                  <a:srgbClr val="800000"/>
                </a:solidFill>
                <a:effectLst/>
                <a:uLnTx/>
                <a:uFillTx/>
                <a:latin typeface="Courier New" panose="02070309020205020404" pitchFamily="49" charset="0"/>
              </a:rPr>
              <a:t>math</a:t>
            </a:r>
            <a:r>
              <a:rPr kumimoji="0" lang="en-US" altLang="el-GR" sz="2400" b="1" i="0" u="none" strike="noStrike" kern="0" cap="none" spc="0" normalizeH="0" baseline="0" noProof="0" dirty="0" err="1">
                <a:ln>
                  <a:noFill/>
                </a:ln>
                <a:solidFill>
                  <a:srgbClr val="800000"/>
                </a:solidFill>
                <a:effectLst/>
                <a:uLnTx/>
                <a:uFillTx/>
                <a:latin typeface="Courier New" panose="02070309020205020404" pitchFamily="49" charset="0"/>
                <a:cs typeface="Times New Roman" panose="02020603050405020304" pitchFamily="18" charset="0"/>
              </a:rPr>
              <a:t>.h</a:t>
            </a: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cs typeface="Times New Roman" panose="02020603050405020304" pitchFamily="18" charset="0"/>
              </a:rPr>
              <a:t>&gt;</a:t>
            </a:r>
            <a:endParaRPr kumimoji="0" lang="en-GB" altLang="el-GR" sz="2400" b="1" i="0" u="none" strike="noStrike" kern="0" cap="none" spc="0" normalizeH="0" baseline="0" noProof="0" dirty="0">
              <a:ln>
                <a:noFill/>
              </a:ln>
              <a:solidFill>
                <a:srgbClr val="800000"/>
              </a:solidFill>
              <a:effectLst/>
              <a:uLnTx/>
              <a:uFillTx/>
              <a:latin typeface="Courier New" panose="02070309020205020404" pitchFamily="49" charset="0"/>
              <a:cs typeface="Times New Roman" panose="02020603050405020304" pitchFamily="18" charset="0"/>
            </a:endParaRPr>
          </a:p>
        </p:txBody>
      </p:sp>
      <p:sp>
        <p:nvSpPr>
          <p:cNvPr id="13" name="Line 3079">
            <a:extLst>
              <a:ext uri="{FF2B5EF4-FFF2-40B4-BE49-F238E27FC236}">
                <a16:creationId xmlns:a16="http://schemas.microsoft.com/office/drawing/2014/main" id="{35314091-A3EF-E787-5800-A5AF57C5C269}"/>
              </a:ext>
            </a:extLst>
          </p:cNvPr>
          <p:cNvSpPr>
            <a:spLocks noChangeShapeType="1"/>
          </p:cNvSpPr>
          <p:nvPr/>
        </p:nvSpPr>
        <p:spPr bwMode="auto">
          <a:xfrm flipV="1">
            <a:off x="2819400" y="2488522"/>
            <a:ext cx="1248544" cy="2235877"/>
          </a:xfrm>
          <a:prstGeom prst="line">
            <a:avLst/>
          </a:prstGeom>
          <a:noFill/>
          <a:ln w="9525">
            <a:solidFill>
              <a:srgbClr val="000000"/>
            </a:solidFill>
            <a:prstDash val="dashDot"/>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Speech Bubble: Rectangle with Corners Rounded 13">
            <a:extLst>
              <a:ext uri="{FF2B5EF4-FFF2-40B4-BE49-F238E27FC236}">
                <a16:creationId xmlns:a16="http://schemas.microsoft.com/office/drawing/2014/main" id="{64841C4F-8096-8295-AA85-575C0B9FB1D5}"/>
              </a:ext>
            </a:extLst>
          </p:cNvPr>
          <p:cNvSpPr/>
          <p:nvPr/>
        </p:nvSpPr>
        <p:spPr bwMode="auto">
          <a:xfrm>
            <a:off x="4502342" y="1158296"/>
            <a:ext cx="7548989" cy="879475"/>
          </a:xfrm>
          <a:prstGeom prst="wedgeRoundRectCallout">
            <a:avLst>
              <a:gd name="adj1" fmla="val -50474"/>
              <a:gd name="adj2" fmla="val 92267"/>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1" i="0" u="none" strike="noStrike" kern="0" cap="none" spc="0" normalizeH="0" baseline="0" noProof="0" dirty="0">
                <a:ln>
                  <a:noFill/>
                </a:ln>
                <a:solidFill>
                  <a:schemeClr val="bg1"/>
                </a:solidFill>
                <a:effectLst/>
                <a:uLnTx/>
                <a:uFillTx/>
                <a:latin typeface="Tahoma" panose="020B0604030504040204" pitchFamily="34" charset="0"/>
              </a:rPr>
              <a:t>για την χρήση της συνάρτησης </a:t>
            </a:r>
            <a:r>
              <a:rPr kumimoji="0" lang="en-GB" sz="2400" b="1" i="0" u="none" strike="noStrike" kern="0" cap="none" spc="0" normalizeH="0" baseline="0" noProof="0" dirty="0">
                <a:ln>
                  <a:noFill/>
                </a:ln>
                <a:solidFill>
                  <a:schemeClr val="bg1"/>
                </a:solidFill>
                <a:effectLst/>
                <a:uLnTx/>
                <a:uFillTx/>
                <a:latin typeface="Tahoma" panose="020B0604030504040204" pitchFamily="34" charset="0"/>
              </a:rPr>
              <a:t>sqrt() </a:t>
            </a:r>
            <a:r>
              <a:rPr kumimoji="0" lang="el-GR" sz="2400" b="1" i="0" u="none" strike="noStrike" kern="0" cap="none" spc="0" normalizeH="0" baseline="0" noProof="0" dirty="0">
                <a:ln>
                  <a:noFill/>
                </a:ln>
                <a:solidFill>
                  <a:schemeClr val="bg1"/>
                </a:solidFill>
                <a:effectLst/>
                <a:uLnTx/>
                <a:uFillTx/>
                <a:latin typeface="Tahoma" panose="020B0604030504040204" pitchFamily="34" charset="0"/>
              </a:rPr>
              <a:t>είναι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1" i="0" u="none" strike="noStrike" kern="0" cap="none" spc="0" normalizeH="0" baseline="0" noProof="0" dirty="0">
                <a:ln>
                  <a:noFill/>
                </a:ln>
                <a:solidFill>
                  <a:schemeClr val="bg1"/>
                </a:solidFill>
                <a:effectLst/>
                <a:uLnTx/>
                <a:uFillTx/>
                <a:latin typeface="Tahoma" panose="020B0604030504040204" pitchFamily="34" charset="0"/>
              </a:rPr>
              <a:t>απαραίτητη η συμπερίληψη του αρχείου </a:t>
            </a:r>
            <a:r>
              <a:rPr kumimoji="0" lang="en-GB" sz="2400" b="1" i="0" u="none" strike="noStrike" kern="0" cap="none" spc="0" normalizeH="0" baseline="0" noProof="0" dirty="0" err="1">
                <a:ln>
                  <a:noFill/>
                </a:ln>
                <a:solidFill>
                  <a:schemeClr val="bg1"/>
                </a:solidFill>
                <a:effectLst/>
                <a:uLnTx/>
                <a:uFillTx/>
                <a:latin typeface="Tahoma" pitchFamily="34" charset="0"/>
              </a:rPr>
              <a:t>math.h</a:t>
            </a:r>
            <a:endParaRPr kumimoji="0" lang="en-GB" sz="2400" b="1" i="0" u="none" strike="noStrike" kern="0" cap="none" spc="0" normalizeH="0" baseline="0" noProof="0" dirty="0">
              <a:ln>
                <a:noFill/>
              </a:ln>
              <a:solidFill>
                <a:schemeClr val="bg1"/>
              </a:solidFill>
              <a:effectLst/>
              <a:uLnTx/>
              <a:uFillTx/>
              <a:latin typeface="Tahoma" pitchFamily="34" charset="0"/>
            </a:endParaRPr>
          </a:p>
        </p:txBody>
      </p:sp>
      <p:cxnSp>
        <p:nvCxnSpPr>
          <p:cNvPr id="15" name="Straight Connector 14">
            <a:extLst>
              <a:ext uri="{FF2B5EF4-FFF2-40B4-BE49-F238E27FC236}">
                <a16:creationId xmlns:a16="http://schemas.microsoft.com/office/drawing/2014/main" id="{FA89183E-963A-AB4A-A85C-855105877389}"/>
              </a:ext>
            </a:extLst>
          </p:cNvPr>
          <p:cNvCxnSpPr/>
          <p:nvPr/>
        </p:nvCxnSpPr>
        <p:spPr>
          <a:xfrm>
            <a:off x="2212258" y="5073445"/>
            <a:ext cx="2290084"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342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9" presetClass="entr" presetSubtype="0" fill="hold" grpId="0" nodeType="after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childTnLst>
                          </p:cTn>
                        </p:par>
                        <p:par>
                          <p:cTn id="20" fill="hold">
                            <p:stCondLst>
                              <p:cond delay="500"/>
                            </p:stCondLst>
                            <p:childTnLst>
                              <p:par>
                                <p:cTn id="21" presetID="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12" grpId="0" animBg="1" autoUpdateAnimBg="0"/>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4A568-C299-4728-3C22-02E7913523C7}"/>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9D359C4B-2247-F798-5668-8CFE98C86501}"/>
              </a:ext>
            </a:extLst>
          </p:cNvPr>
          <p:cNvSpPr/>
          <p:nvPr/>
        </p:nvSpPr>
        <p:spPr>
          <a:xfrm>
            <a:off x="2716955" y="6617966"/>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1C9676B2-3957-8F6B-C9C4-063557E71EE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Επεξήγηση μηχανισμού κλήσης συνάρτησης  1/2</a:t>
            </a:r>
          </a:p>
        </p:txBody>
      </p:sp>
      <p:sp>
        <p:nvSpPr>
          <p:cNvPr id="8" name="Θέση υποσέλιδου 4">
            <a:extLst>
              <a:ext uri="{FF2B5EF4-FFF2-40B4-BE49-F238E27FC236}">
                <a16:creationId xmlns:a16="http://schemas.microsoft.com/office/drawing/2014/main" id="{78C17531-B765-E867-D536-FBC70E982DCD}"/>
              </a:ext>
            </a:extLst>
          </p:cNvPr>
          <p:cNvSpPr txBox="1">
            <a:spLocks/>
          </p:cNvSpPr>
          <p:nvPr/>
        </p:nvSpPr>
        <p:spPr>
          <a:xfrm>
            <a:off x="2576285" y="6657452"/>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13C4F2E-C01D-4672-A4CA-20870F02A0A7}"/>
              </a:ext>
            </a:extLst>
          </p:cNvPr>
          <p:cNvSpPr txBox="1"/>
          <p:nvPr/>
        </p:nvSpPr>
        <p:spPr>
          <a:xfrm>
            <a:off x="12741157" y="6617967"/>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D8A8BFB8-B12B-7064-318F-BFCD1B6C4585}"/>
              </a:ext>
            </a:extLst>
          </p:cNvPr>
          <p:cNvSpPr txBox="1">
            <a:spLocks/>
          </p:cNvSpPr>
          <p:nvPr/>
        </p:nvSpPr>
        <p:spPr>
          <a:xfrm>
            <a:off x="6725966" y="6747242"/>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4" name="AutoShape 2">
            <a:extLst>
              <a:ext uri="{FF2B5EF4-FFF2-40B4-BE49-F238E27FC236}">
                <a16:creationId xmlns:a16="http://schemas.microsoft.com/office/drawing/2014/main" id="{A2322634-B68E-C06A-88F0-58E96761EB71}"/>
              </a:ext>
            </a:extLst>
          </p:cNvPr>
          <p:cNvSpPr>
            <a:spLocks noChangeArrowheads="1"/>
          </p:cNvSpPr>
          <p:nvPr/>
        </p:nvSpPr>
        <p:spPr bwMode="auto">
          <a:xfrm>
            <a:off x="6188234" y="1547034"/>
            <a:ext cx="2438400" cy="304800"/>
          </a:xfrm>
          <a:prstGeom prst="wedgeRectCallout">
            <a:avLst>
              <a:gd name="adj1" fmla="val -31574"/>
              <a:gd name="adj2" fmla="val 140106"/>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Rectangle 3">
            <a:extLst>
              <a:ext uri="{FF2B5EF4-FFF2-40B4-BE49-F238E27FC236}">
                <a16:creationId xmlns:a16="http://schemas.microsoft.com/office/drawing/2014/main" id="{9C5B7519-597F-0FC3-6EBF-C21B03CE408E}"/>
              </a:ext>
            </a:extLst>
          </p:cNvPr>
          <p:cNvSpPr>
            <a:spLocks noChangeArrowheads="1"/>
          </p:cNvSpPr>
          <p:nvPr/>
        </p:nvSpPr>
        <p:spPr bwMode="auto">
          <a:xfrm>
            <a:off x="3064034" y="1470834"/>
            <a:ext cx="68453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fontAlgn="base">
              <a:spcBef>
                <a:spcPct val="0"/>
              </a:spcBef>
              <a:spcAft>
                <a:spcPct val="0"/>
              </a:spcAft>
              <a:buClrTx/>
              <a:buSzTx/>
              <a:buFontTx/>
              <a:buNone/>
            </a:pPr>
            <a:r>
              <a:rPr lang="en-GB" altLang="el-GR" b="1" dirty="0">
                <a:solidFill>
                  <a:srgbClr val="000000"/>
                </a:solidFill>
                <a:latin typeface="Courier New" panose="02070309020205020404" pitchFamily="49" charset="0"/>
              </a:rPr>
              <a:t>result = max(</a:t>
            </a:r>
            <a:r>
              <a:rPr lang="en-GB" altLang="el-GR" b="1" dirty="0">
                <a:solidFill>
                  <a:srgbClr val="FF0000"/>
                </a:solidFill>
                <a:latin typeface="Courier New" panose="02070309020205020404" pitchFamily="49" charset="0"/>
              </a:rPr>
              <a:t>max(15,13)</a:t>
            </a:r>
            <a:r>
              <a:rPr lang="en-GB" altLang="el-GR" b="1" dirty="0">
                <a:solidFill>
                  <a:srgbClr val="000000"/>
                </a:solidFill>
                <a:latin typeface="Courier New" panose="02070309020205020404" pitchFamily="49" charset="0"/>
              </a:rPr>
              <a:t>,17);</a:t>
            </a:r>
            <a:endParaRPr lang="en-GB" altLang="el-GR" sz="2800" b="1" dirty="0">
              <a:solidFill>
                <a:srgbClr val="000000"/>
              </a:solidFill>
              <a:latin typeface="Courier New" panose="02070309020205020404" pitchFamily="49" charset="0"/>
            </a:endParaRPr>
          </a:p>
        </p:txBody>
      </p:sp>
      <p:sp>
        <p:nvSpPr>
          <p:cNvPr id="9" name="Rectangle 6">
            <a:extLst>
              <a:ext uri="{FF2B5EF4-FFF2-40B4-BE49-F238E27FC236}">
                <a16:creationId xmlns:a16="http://schemas.microsoft.com/office/drawing/2014/main" id="{BDCCCDA0-9883-E921-E642-93A484441258}"/>
              </a:ext>
            </a:extLst>
          </p:cNvPr>
          <p:cNvSpPr>
            <a:spLocks noChangeArrowheads="1"/>
          </p:cNvSpPr>
          <p:nvPr/>
        </p:nvSpPr>
        <p:spPr bwMode="auto">
          <a:xfrm>
            <a:off x="7223284" y="3786997"/>
            <a:ext cx="265747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altLang="el-GR" sz="2700" b="0" i="0" u="none" strike="noStrike" kern="0" cap="none" spc="0" normalizeH="0" baseline="0" noProof="0">
                <a:ln>
                  <a:noFill/>
                </a:ln>
                <a:solidFill>
                  <a:srgbClr val="000000"/>
                </a:solidFill>
                <a:effectLst/>
                <a:uLnTx/>
                <a:uFillTx/>
                <a:latin typeface="Times New Roman" panose="02020603050405020304" pitchFamily="18" charset="0"/>
              </a:rPr>
              <a:t>int max(int a, int b)</a:t>
            </a:r>
            <a:endParaRPr kumimoji="0" lang="el-GR" altLang="el-GR" sz="2700" b="0" i="0" u="none" strike="noStrike" kern="0" cap="none" spc="0" normalizeH="0" baseline="0" noProof="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2700" b="0" i="0" u="none" strike="noStrike" kern="0" cap="none" spc="0" normalizeH="0" baseline="0" noProof="0">
                <a:ln>
                  <a:noFill/>
                </a:ln>
                <a:solidFill>
                  <a:srgbClr val="000000"/>
                </a:solidFill>
                <a:effectLst/>
                <a:uLnTx/>
                <a:uFillTx/>
                <a:latin typeface="Times New Roman" panose="02020603050405020304" pitchFamily="18"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GB" altLang="el-GR" sz="2700" b="0" i="0" u="none" strike="noStrike" kern="0" cap="none" spc="0" normalizeH="0" baseline="0" noProof="0">
                <a:ln>
                  <a:noFill/>
                </a:ln>
                <a:solidFill>
                  <a:srgbClr val="000000"/>
                </a:solidFill>
                <a:effectLst/>
                <a:uLnTx/>
                <a:uFillTx/>
                <a:latin typeface="Times New Roman" panose="02020603050405020304" pitchFamily="18" charset="0"/>
              </a:rPr>
              <a:t>return(a&gt;b?a:b);</a:t>
            </a:r>
            <a:endParaRPr kumimoji="0" lang="el-GR" altLang="el-GR" sz="2700" b="0" i="0" u="none" strike="noStrike" kern="0" cap="none" spc="0" normalizeH="0" baseline="0" noProof="0">
              <a:ln>
                <a:noFill/>
              </a:ln>
              <a:solidFill>
                <a:srgbClr val="000000"/>
              </a:solidFill>
              <a:effectLst/>
              <a:uLnTx/>
              <a:uFillTx/>
              <a:latin typeface="Times New Roman" panose="02020603050405020304" pitchFamily="18"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2700" b="0" i="0" u="none" strike="noStrike" kern="0" cap="none" spc="0" normalizeH="0" baseline="0" noProof="0">
                <a:ln>
                  <a:noFill/>
                </a:ln>
                <a:solidFill>
                  <a:srgbClr val="000000"/>
                </a:solidFill>
                <a:effectLst/>
                <a:uLnTx/>
                <a:uFillTx/>
                <a:latin typeface="Times New Roman" panose="02020603050405020304" pitchFamily="18" charset="0"/>
              </a:rPr>
              <a:t>}</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7">
            <a:extLst>
              <a:ext uri="{FF2B5EF4-FFF2-40B4-BE49-F238E27FC236}">
                <a16:creationId xmlns:a16="http://schemas.microsoft.com/office/drawing/2014/main" id="{68AABF5F-9E98-3F64-8DEC-F537D9A673F3}"/>
              </a:ext>
            </a:extLst>
          </p:cNvPr>
          <p:cNvSpPr>
            <a:spLocks noChangeArrowheads="1"/>
          </p:cNvSpPr>
          <p:nvPr/>
        </p:nvSpPr>
        <p:spPr bwMode="auto">
          <a:xfrm>
            <a:off x="6645434" y="3375834"/>
            <a:ext cx="3429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altLang="el-GR" sz="2700" b="1" i="0" u="none" strike="noStrike" kern="0" cap="none" spc="0" normalizeH="0" baseline="0" noProof="0">
                <a:ln>
                  <a:noFill/>
                </a:ln>
                <a:solidFill>
                  <a:srgbClr val="000000"/>
                </a:solidFill>
                <a:effectLst/>
                <a:uLnTx/>
                <a:uFillTx/>
                <a:latin typeface="Times New Roman" panose="02020603050405020304" pitchFamily="18" charset="0"/>
              </a:rPr>
              <a:t>15</a:t>
            </a:r>
            <a:endParaRPr kumimoji="0" lang="en-GB" altLang="el-GR" sz="2400" b="1"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Line 8">
            <a:extLst>
              <a:ext uri="{FF2B5EF4-FFF2-40B4-BE49-F238E27FC236}">
                <a16:creationId xmlns:a16="http://schemas.microsoft.com/office/drawing/2014/main" id="{44CE9840-9C4D-3A65-0481-06A7697455D7}"/>
              </a:ext>
            </a:extLst>
          </p:cNvPr>
          <p:cNvSpPr>
            <a:spLocks noChangeShapeType="1"/>
          </p:cNvSpPr>
          <p:nvPr/>
        </p:nvSpPr>
        <p:spPr bwMode="auto">
          <a:xfrm>
            <a:off x="6874034" y="1928034"/>
            <a:ext cx="381000" cy="24384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Line 9">
            <a:extLst>
              <a:ext uri="{FF2B5EF4-FFF2-40B4-BE49-F238E27FC236}">
                <a16:creationId xmlns:a16="http://schemas.microsoft.com/office/drawing/2014/main" id="{6904069C-8CAE-BD24-D61D-8661BD7E7E31}"/>
              </a:ext>
            </a:extLst>
          </p:cNvPr>
          <p:cNvSpPr>
            <a:spLocks noChangeShapeType="1"/>
          </p:cNvSpPr>
          <p:nvPr/>
        </p:nvSpPr>
        <p:spPr bwMode="auto">
          <a:xfrm>
            <a:off x="7559834" y="1851834"/>
            <a:ext cx="1295400" cy="2057400"/>
          </a:xfrm>
          <a:prstGeom prst="line">
            <a:avLst/>
          </a:prstGeom>
          <a:noFill/>
          <a:ln w="38100">
            <a:solidFill>
              <a:srgbClr val="00E4A8"/>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0">
            <a:extLst>
              <a:ext uri="{FF2B5EF4-FFF2-40B4-BE49-F238E27FC236}">
                <a16:creationId xmlns:a16="http://schemas.microsoft.com/office/drawing/2014/main" id="{D6DFF1C2-D48B-E1D5-1956-19422F163D41}"/>
              </a:ext>
            </a:extLst>
          </p:cNvPr>
          <p:cNvSpPr>
            <a:spLocks noChangeShapeType="1"/>
          </p:cNvSpPr>
          <p:nvPr/>
        </p:nvSpPr>
        <p:spPr bwMode="auto">
          <a:xfrm>
            <a:off x="8321834" y="1851834"/>
            <a:ext cx="1295400" cy="1981200"/>
          </a:xfrm>
          <a:prstGeom prst="line">
            <a:avLst/>
          </a:prstGeom>
          <a:noFill/>
          <a:ln w="38100">
            <a:solidFill>
              <a:srgbClr val="00E4A8"/>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Line 11">
            <a:extLst>
              <a:ext uri="{FF2B5EF4-FFF2-40B4-BE49-F238E27FC236}">
                <a16:creationId xmlns:a16="http://schemas.microsoft.com/office/drawing/2014/main" id="{4160FBC1-179B-8160-1583-5BF36FAB8E68}"/>
              </a:ext>
            </a:extLst>
          </p:cNvPr>
          <p:cNvSpPr>
            <a:spLocks noChangeShapeType="1"/>
          </p:cNvSpPr>
          <p:nvPr/>
        </p:nvSpPr>
        <p:spPr bwMode="auto">
          <a:xfrm flipH="1">
            <a:off x="6416834" y="5204634"/>
            <a:ext cx="762000" cy="0"/>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Line 12">
            <a:extLst>
              <a:ext uri="{FF2B5EF4-FFF2-40B4-BE49-F238E27FC236}">
                <a16:creationId xmlns:a16="http://schemas.microsoft.com/office/drawing/2014/main" id="{DB01F48D-DCBC-AF4A-F427-5D4DB1E09D85}"/>
              </a:ext>
            </a:extLst>
          </p:cNvPr>
          <p:cNvSpPr>
            <a:spLocks noChangeShapeType="1"/>
          </p:cNvSpPr>
          <p:nvPr/>
        </p:nvSpPr>
        <p:spPr bwMode="auto">
          <a:xfrm flipV="1">
            <a:off x="6416834" y="2080434"/>
            <a:ext cx="0" cy="31242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Line 13">
            <a:extLst>
              <a:ext uri="{FF2B5EF4-FFF2-40B4-BE49-F238E27FC236}">
                <a16:creationId xmlns:a16="http://schemas.microsoft.com/office/drawing/2014/main" id="{61FAE29F-C125-50EA-C04E-B3151A4290A2}"/>
              </a:ext>
            </a:extLst>
          </p:cNvPr>
          <p:cNvSpPr>
            <a:spLocks noChangeShapeType="1"/>
          </p:cNvSpPr>
          <p:nvPr/>
        </p:nvSpPr>
        <p:spPr bwMode="auto">
          <a:xfrm>
            <a:off x="6645434" y="2080434"/>
            <a:ext cx="0" cy="3200400"/>
          </a:xfrm>
          <a:prstGeom prst="line">
            <a:avLst/>
          </a:prstGeom>
          <a:noFill/>
          <a:ln w="38100">
            <a:solidFill>
              <a:srgbClr val="00E4A8"/>
            </a:solidFill>
            <a:miter lim="800000"/>
            <a:headEnd type="triangle" w="med" len="me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Line 14">
            <a:extLst>
              <a:ext uri="{FF2B5EF4-FFF2-40B4-BE49-F238E27FC236}">
                <a16:creationId xmlns:a16="http://schemas.microsoft.com/office/drawing/2014/main" id="{333B2469-F226-5DBB-AF41-C14291B6FC44}"/>
              </a:ext>
            </a:extLst>
          </p:cNvPr>
          <p:cNvSpPr>
            <a:spLocks noChangeShapeType="1"/>
          </p:cNvSpPr>
          <p:nvPr/>
        </p:nvSpPr>
        <p:spPr bwMode="auto">
          <a:xfrm flipH="1">
            <a:off x="6645434" y="5280834"/>
            <a:ext cx="533400" cy="0"/>
          </a:xfrm>
          <a:prstGeom prst="line">
            <a:avLst/>
          </a:prstGeom>
          <a:noFill/>
          <a:ln w="38100">
            <a:solidFill>
              <a:srgbClr val="00E4A8"/>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20" name="Picture 15" descr="PE01682_">
            <a:extLst>
              <a:ext uri="{FF2B5EF4-FFF2-40B4-BE49-F238E27FC236}">
                <a16:creationId xmlns:a16="http://schemas.microsoft.com/office/drawing/2014/main" id="{A0B57595-9DBB-5307-FE7E-A6343BA46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5834" y="3985434"/>
            <a:ext cx="1697038" cy="165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16">
            <a:extLst>
              <a:ext uri="{FF2B5EF4-FFF2-40B4-BE49-F238E27FC236}">
                <a16:creationId xmlns:a16="http://schemas.microsoft.com/office/drawing/2014/main" id="{08ED87CB-E680-5CD3-3EA7-E1D01E48E81A}"/>
              </a:ext>
            </a:extLst>
          </p:cNvPr>
          <p:cNvSpPr txBox="1">
            <a:spLocks noChangeArrowheads="1"/>
          </p:cNvSpPr>
          <p:nvPr/>
        </p:nvSpPr>
        <p:spPr bwMode="auto">
          <a:xfrm>
            <a:off x="10303034" y="3452034"/>
            <a:ext cx="99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3200" b="1" i="0" u="none" strike="noStrike" kern="0" cap="none" spc="0" normalizeH="0" baseline="0" noProof="0">
                <a:ln>
                  <a:noFill/>
                </a:ln>
                <a:solidFill>
                  <a:srgbClr val="00E4A8"/>
                </a:solidFill>
                <a:effectLst/>
                <a:uLnTx/>
                <a:uFillTx/>
                <a:latin typeface="Tahoma" panose="020B0604030504040204" pitchFamily="34" charset="0"/>
              </a:rPr>
              <a:t>15</a:t>
            </a:r>
            <a:endParaRPr kumimoji="0" lang="en-GB" altLang="el-GR" sz="3200" b="1" i="0" u="none" strike="noStrike" kern="0" cap="none" spc="0" normalizeH="0" baseline="0" noProof="0">
              <a:ln>
                <a:noFill/>
              </a:ln>
              <a:solidFill>
                <a:srgbClr val="00E4A8"/>
              </a:solidFill>
              <a:effectLst/>
              <a:uLnTx/>
              <a:uFillTx/>
              <a:latin typeface="Tahoma" panose="020B0604030504040204" pitchFamily="34" charset="0"/>
            </a:endParaRPr>
          </a:p>
        </p:txBody>
      </p:sp>
      <p:sp>
        <p:nvSpPr>
          <p:cNvPr id="22" name="TextBox 21">
            <a:extLst>
              <a:ext uri="{FF2B5EF4-FFF2-40B4-BE49-F238E27FC236}">
                <a16:creationId xmlns:a16="http://schemas.microsoft.com/office/drawing/2014/main" id="{739015FE-BCF4-A023-483A-A112D56DA07D}"/>
              </a:ext>
            </a:extLst>
          </p:cNvPr>
          <p:cNvSpPr txBox="1"/>
          <p:nvPr/>
        </p:nvSpPr>
        <p:spPr>
          <a:xfrm>
            <a:off x="266330" y="2218259"/>
            <a:ext cx="5229578" cy="3046988"/>
          </a:xfrm>
          <a:prstGeom prst="rect">
            <a:avLst/>
          </a:prstGeom>
          <a:solidFill>
            <a:srgbClr val="92D050"/>
          </a:solidFill>
        </p:spPr>
        <p:txBody>
          <a:bodyPr wrap="square" rtlCol="0">
            <a:spAutoFit/>
          </a:bodyPr>
          <a:lstStyle/>
          <a:p>
            <a:pPr marL="457200" indent="-457200" eaLnBrk="0" fontAlgn="base" hangingPunct="0">
              <a:spcBef>
                <a:spcPct val="0"/>
              </a:spcBef>
              <a:spcAft>
                <a:spcPct val="0"/>
              </a:spcAft>
              <a:buFontTx/>
              <a:buAutoNum type="arabicPeriod"/>
            </a:pPr>
            <a:r>
              <a:rPr lang="el-GR" sz="2400" dirty="0">
                <a:solidFill>
                  <a:srgbClr val="000000"/>
                </a:solidFill>
                <a:latin typeface="Tahoma" panose="020B0604030504040204" pitchFamily="34" charset="0"/>
              </a:rPr>
              <a:t>Αποδίδονται τιμές στα τυπικά ορίσματα</a:t>
            </a:r>
            <a:r>
              <a:rPr lang="en-GB" sz="2400" dirty="0">
                <a:solidFill>
                  <a:srgbClr val="000000"/>
                </a:solidFill>
                <a:latin typeface="Tahoma" panose="020B0604030504040204" pitchFamily="34" charset="0"/>
              </a:rPr>
              <a:t> a, b</a:t>
            </a:r>
            <a:r>
              <a:rPr lang="el-GR" sz="2400" dirty="0">
                <a:solidFill>
                  <a:srgbClr val="000000"/>
                </a:solidFill>
                <a:latin typeface="Tahoma" panose="020B0604030504040204" pitchFamily="34" charset="0"/>
              </a:rPr>
              <a:t>.</a:t>
            </a:r>
          </a:p>
          <a:p>
            <a:pPr marL="457200" indent="-457200" eaLnBrk="0" fontAlgn="base" hangingPunct="0">
              <a:spcBef>
                <a:spcPct val="0"/>
              </a:spcBef>
              <a:spcAft>
                <a:spcPct val="0"/>
              </a:spcAft>
              <a:buFontTx/>
              <a:buAutoNum type="arabicPeriod"/>
            </a:pPr>
            <a:r>
              <a:rPr lang="el-GR" sz="2400" dirty="0">
                <a:solidFill>
                  <a:srgbClr val="000000"/>
                </a:solidFill>
                <a:latin typeface="Tahoma" panose="020B0604030504040204" pitchFamily="34" charset="0"/>
              </a:rPr>
              <a:t>Μεταφέρεται ο έλεγχος στο σώμα της συνάρτησης</a:t>
            </a:r>
            <a:r>
              <a:rPr lang="en-GB" sz="2400" dirty="0">
                <a:solidFill>
                  <a:srgbClr val="000000"/>
                </a:solidFill>
                <a:latin typeface="Tahoma" panose="020B0604030504040204" pitchFamily="34" charset="0"/>
              </a:rPr>
              <a:t> max</a:t>
            </a:r>
            <a:r>
              <a:rPr lang="el-GR" sz="2400" dirty="0">
                <a:solidFill>
                  <a:srgbClr val="000000"/>
                </a:solidFill>
                <a:latin typeface="Tahoma" panose="020B0604030504040204" pitchFamily="34" charset="0"/>
              </a:rPr>
              <a:t>.</a:t>
            </a:r>
          </a:p>
          <a:p>
            <a:pPr marL="457200" indent="-457200" eaLnBrk="0" fontAlgn="base" hangingPunct="0">
              <a:spcBef>
                <a:spcPct val="0"/>
              </a:spcBef>
              <a:spcAft>
                <a:spcPct val="0"/>
              </a:spcAft>
              <a:buFontTx/>
              <a:buAutoNum type="arabicPeriod"/>
            </a:pPr>
            <a:r>
              <a:rPr lang="el-GR" sz="2400" dirty="0">
                <a:solidFill>
                  <a:srgbClr val="000000"/>
                </a:solidFill>
                <a:latin typeface="Tahoma" panose="020B0604030504040204" pitchFamily="34" charset="0"/>
              </a:rPr>
              <a:t>Επιστρέφει ο έλεγχος και η επιστρεφόμενη τιμή της συνάρτησης είναι η τιμή της έκφρασης </a:t>
            </a:r>
            <a:r>
              <a:rPr lang="en-GB" sz="2400" dirty="0">
                <a:solidFill>
                  <a:srgbClr val="000000"/>
                </a:solidFill>
                <a:latin typeface="Tahoma" panose="020B0604030504040204" pitchFamily="34" charset="0"/>
              </a:rPr>
              <a:t>max(15,13)</a:t>
            </a:r>
          </a:p>
        </p:txBody>
      </p:sp>
      <p:sp>
        <p:nvSpPr>
          <p:cNvPr id="23" name="TextBox 22">
            <a:extLst>
              <a:ext uri="{FF2B5EF4-FFF2-40B4-BE49-F238E27FC236}">
                <a16:creationId xmlns:a16="http://schemas.microsoft.com/office/drawing/2014/main" id="{8D30118B-D10F-2B23-D184-47565BAA3CE7}"/>
              </a:ext>
            </a:extLst>
          </p:cNvPr>
          <p:cNvSpPr txBox="1"/>
          <p:nvPr/>
        </p:nvSpPr>
        <p:spPr>
          <a:xfrm>
            <a:off x="8341885" y="2610758"/>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1</a:t>
            </a:r>
          </a:p>
        </p:txBody>
      </p:sp>
      <p:sp>
        <p:nvSpPr>
          <p:cNvPr id="24" name="TextBox 23">
            <a:extLst>
              <a:ext uri="{FF2B5EF4-FFF2-40B4-BE49-F238E27FC236}">
                <a16:creationId xmlns:a16="http://schemas.microsoft.com/office/drawing/2014/main" id="{BBAF6E01-8702-D500-D03F-C3DC94E5B595}"/>
              </a:ext>
            </a:extLst>
          </p:cNvPr>
          <p:cNvSpPr txBox="1"/>
          <p:nvPr/>
        </p:nvSpPr>
        <p:spPr>
          <a:xfrm>
            <a:off x="7036459" y="2737212"/>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2</a:t>
            </a:r>
          </a:p>
        </p:txBody>
      </p:sp>
      <p:sp>
        <p:nvSpPr>
          <p:cNvPr id="25" name="TextBox 24">
            <a:extLst>
              <a:ext uri="{FF2B5EF4-FFF2-40B4-BE49-F238E27FC236}">
                <a16:creationId xmlns:a16="http://schemas.microsoft.com/office/drawing/2014/main" id="{ECB1CF36-3AED-1F9B-E0B8-31B3D25827D4}"/>
              </a:ext>
            </a:extLst>
          </p:cNvPr>
          <p:cNvSpPr txBox="1"/>
          <p:nvPr/>
        </p:nvSpPr>
        <p:spPr>
          <a:xfrm>
            <a:off x="6351939" y="4194487"/>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3</a:t>
            </a:r>
          </a:p>
        </p:txBody>
      </p:sp>
    </p:spTree>
    <p:extLst>
      <p:ext uri="{BB962C8B-B14F-4D97-AF65-F5344CB8AC3E}">
        <p14:creationId xmlns:p14="http://schemas.microsoft.com/office/powerpoint/2010/main" val="15869527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dissolv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dissolve">
                                      <p:cBhvr>
                                        <p:cTn id="41" dur="500"/>
                                        <p:tgtEl>
                                          <p:spTgt spid="16"/>
                                        </p:tgtEl>
                                      </p:cBhvr>
                                    </p:animEffect>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dissolve">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500"/>
                            </p:stCondLst>
                            <p:childTnLst>
                              <p:par>
                                <p:cTn id="52" presetID="9" presetClass="entr" presetSubtype="0" fill="hold"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dissolve">
                                      <p:cBhvr>
                                        <p:cTn id="54" dur="500"/>
                                        <p:tgtEl>
                                          <p:spTgt spid="18"/>
                                        </p:tgtEl>
                                      </p:cBhvr>
                                    </p:animEffect>
                                  </p:childTnLst>
                                </p:cTn>
                              </p:par>
                            </p:childTnLst>
                          </p:cTn>
                        </p:par>
                        <p:par>
                          <p:cTn id="55" fill="hold">
                            <p:stCondLst>
                              <p:cond delay="1000"/>
                            </p:stCondLst>
                            <p:childTnLst>
                              <p:par>
                                <p:cTn id="56" presetID="9" presetClass="entr" presetSubtype="0"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dissolve">
                                      <p:cBhvr>
                                        <p:cTn id="58" dur="500"/>
                                        <p:tgtEl>
                                          <p:spTgt spid="12"/>
                                        </p:tgtEl>
                                      </p:cBhvr>
                                    </p:animEffect>
                                  </p:childTnLst>
                                </p:cTn>
                              </p:par>
                            </p:childTnLst>
                          </p:cTn>
                        </p:par>
                        <p:par>
                          <p:cTn id="59" fill="hold">
                            <p:stCondLst>
                              <p:cond delay="1500"/>
                            </p:stCondLst>
                            <p:childTnLst>
                              <p:par>
                                <p:cTn id="60" presetID="9" presetClass="entr" presetSubtype="0" fill="hold" grpId="0" nodeType="after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dissolve">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par>
                          <p:cTn id="73" fill="hold">
                            <p:stCondLst>
                              <p:cond delay="0"/>
                            </p:stCondLst>
                            <p:childTnLst>
                              <p:par>
                                <p:cTn id="74" presetID="10" presetClass="entr" presetSubtype="0" fill="hold" grpId="0" nodeType="after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utoUpdateAnimBg="0"/>
      <p:bldP spid="9" grpId="0" autoUpdateAnimBg="0"/>
      <p:bldP spid="12" grpId="0" autoUpdateAnimBg="0"/>
      <p:bldP spid="21" grpId="0" autoUpdateAnimBg="0"/>
      <p:bldP spid="22" grpId="0" animBg="1"/>
      <p:bldP spid="23" grpId="0"/>
      <p:bldP spid="24"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041D0-9D31-F8CC-EFEF-EE922FE841E5}"/>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6EABA724-7D8D-A81C-507C-4C50A08ECC5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646680A3-5EDF-C6D6-981D-9620A688CC2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Επεξήγηση μηχανισμού κλήσης συνάρτησης  2/2</a:t>
            </a:r>
          </a:p>
        </p:txBody>
      </p:sp>
      <p:sp>
        <p:nvSpPr>
          <p:cNvPr id="8" name="Θέση υποσέλιδου 4">
            <a:extLst>
              <a:ext uri="{FF2B5EF4-FFF2-40B4-BE49-F238E27FC236}">
                <a16:creationId xmlns:a16="http://schemas.microsoft.com/office/drawing/2014/main" id="{315B8985-8A02-149B-1AD9-2A82BC04DAE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1E53945-DE43-58A3-ACCE-B817156E5EAC}"/>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13D422EC-4280-39C2-CF5A-129EFE8EF91B}"/>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2E586F39-B9C4-1275-1666-A5A48E7D2F4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AutoShape 2">
            <a:extLst>
              <a:ext uri="{FF2B5EF4-FFF2-40B4-BE49-F238E27FC236}">
                <a16:creationId xmlns:a16="http://schemas.microsoft.com/office/drawing/2014/main" id="{811426C7-1D34-FF78-E144-59B25733BA2C}"/>
              </a:ext>
            </a:extLst>
          </p:cNvPr>
          <p:cNvSpPr>
            <a:spLocks noChangeArrowheads="1"/>
          </p:cNvSpPr>
          <p:nvPr/>
        </p:nvSpPr>
        <p:spPr bwMode="auto">
          <a:xfrm>
            <a:off x="3560618" y="1723410"/>
            <a:ext cx="3962400" cy="381000"/>
          </a:xfrm>
          <a:prstGeom prst="wedgeRectCallout">
            <a:avLst>
              <a:gd name="adj1" fmla="val -40463"/>
              <a:gd name="adj2" fmla="val 98333"/>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Rectangle 4">
            <a:extLst>
              <a:ext uri="{FF2B5EF4-FFF2-40B4-BE49-F238E27FC236}">
                <a16:creationId xmlns:a16="http://schemas.microsoft.com/office/drawing/2014/main" id="{CE3F4CD1-23A4-86CA-BD06-291AFD7AFD46}"/>
              </a:ext>
            </a:extLst>
          </p:cNvPr>
          <p:cNvSpPr>
            <a:spLocks noChangeArrowheads="1"/>
          </p:cNvSpPr>
          <p:nvPr/>
        </p:nvSpPr>
        <p:spPr bwMode="auto">
          <a:xfrm>
            <a:off x="1427018" y="1647210"/>
            <a:ext cx="63563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fontAlgn="base">
              <a:spcBef>
                <a:spcPct val="0"/>
              </a:spcBef>
              <a:spcAft>
                <a:spcPct val="0"/>
              </a:spcAft>
              <a:buClrTx/>
              <a:buSzTx/>
              <a:buFontTx/>
              <a:buNone/>
            </a:pPr>
            <a:r>
              <a:rPr lang="en-GB" altLang="el-GR" b="1">
                <a:solidFill>
                  <a:srgbClr val="000000"/>
                </a:solidFill>
                <a:latin typeface="Courier New" panose="02070309020205020404" pitchFamily="49" charset="0"/>
              </a:rPr>
              <a:t>result = max(</a:t>
            </a:r>
            <a:r>
              <a:rPr lang="el-GR" altLang="el-GR" b="1">
                <a:solidFill>
                  <a:srgbClr val="000000"/>
                </a:solidFill>
                <a:latin typeface="Courier New" panose="02070309020205020404" pitchFamily="49" charset="0"/>
              </a:rPr>
              <a:t>   </a:t>
            </a:r>
            <a:r>
              <a:rPr lang="en-GB" altLang="el-GR" b="1">
                <a:solidFill>
                  <a:srgbClr val="FF0000"/>
                </a:solidFill>
                <a:latin typeface="Courier New" panose="02070309020205020404" pitchFamily="49" charset="0"/>
              </a:rPr>
              <a:t>15</a:t>
            </a:r>
            <a:r>
              <a:rPr lang="el-GR" altLang="el-GR" b="1">
                <a:solidFill>
                  <a:srgbClr val="FF0000"/>
                </a:solidFill>
                <a:latin typeface="Courier New" panose="02070309020205020404" pitchFamily="49" charset="0"/>
              </a:rPr>
              <a:t>   </a:t>
            </a:r>
            <a:r>
              <a:rPr lang="en-GB" altLang="el-GR" b="1">
                <a:solidFill>
                  <a:srgbClr val="000000"/>
                </a:solidFill>
                <a:latin typeface="Courier New" panose="02070309020205020404" pitchFamily="49" charset="0"/>
              </a:rPr>
              <a:t>,17);</a:t>
            </a:r>
            <a:endParaRPr lang="en-GB" altLang="el-GR" sz="2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DE59BD53-E870-0532-BE78-B7254E5ECCDA}"/>
              </a:ext>
            </a:extLst>
          </p:cNvPr>
          <p:cNvSpPr>
            <a:spLocks noChangeArrowheads="1"/>
          </p:cNvSpPr>
          <p:nvPr/>
        </p:nvSpPr>
        <p:spPr bwMode="auto">
          <a:xfrm>
            <a:off x="5586268" y="3963373"/>
            <a:ext cx="265747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fontAlgn="base">
              <a:spcBef>
                <a:spcPct val="0"/>
              </a:spcBef>
              <a:spcAft>
                <a:spcPct val="0"/>
              </a:spcAft>
              <a:buClrTx/>
              <a:buSzTx/>
              <a:buFontTx/>
              <a:buNone/>
            </a:pPr>
            <a:r>
              <a:rPr lang="en-GB" altLang="el-GR" sz="2700">
                <a:solidFill>
                  <a:srgbClr val="000000"/>
                </a:solidFill>
                <a:latin typeface="Times New Roman" panose="02020603050405020304" pitchFamily="18" charset="0"/>
              </a:rPr>
              <a:t>int max(int a, int b)</a:t>
            </a:r>
            <a:endParaRPr lang="el-GR" altLang="el-GR" sz="2700">
              <a:solidFill>
                <a:srgbClr val="000000"/>
              </a:solidFill>
              <a:latin typeface="Times New Roman" panose="02020603050405020304" pitchFamily="18" charset="0"/>
            </a:endParaRPr>
          </a:p>
          <a:p>
            <a:pPr fontAlgn="base">
              <a:spcBef>
                <a:spcPct val="0"/>
              </a:spcBef>
              <a:spcAft>
                <a:spcPct val="0"/>
              </a:spcAft>
              <a:buClrTx/>
              <a:buSzTx/>
              <a:buFontTx/>
              <a:buNone/>
            </a:pPr>
            <a:r>
              <a:rPr lang="el-GR" altLang="el-GR" sz="2700">
                <a:solidFill>
                  <a:srgbClr val="000000"/>
                </a:solidFill>
                <a:latin typeface="Times New Roman" panose="02020603050405020304" pitchFamily="18" charset="0"/>
              </a:rPr>
              <a:t>{</a:t>
            </a:r>
          </a:p>
          <a:p>
            <a:pPr fontAlgn="base">
              <a:spcBef>
                <a:spcPct val="0"/>
              </a:spcBef>
              <a:spcAft>
                <a:spcPct val="0"/>
              </a:spcAft>
              <a:buClrTx/>
              <a:buSzTx/>
              <a:buFontTx/>
              <a:buNone/>
            </a:pPr>
            <a:r>
              <a:rPr lang="en-GB" altLang="el-GR" sz="2700">
                <a:solidFill>
                  <a:srgbClr val="000000"/>
                </a:solidFill>
                <a:latin typeface="Times New Roman" panose="02020603050405020304" pitchFamily="18" charset="0"/>
              </a:rPr>
              <a:t>return(a&gt;b?a:b);</a:t>
            </a:r>
            <a:endParaRPr lang="el-GR" altLang="el-GR" sz="2700">
              <a:solidFill>
                <a:srgbClr val="000000"/>
              </a:solidFill>
              <a:latin typeface="Times New Roman" panose="02020603050405020304" pitchFamily="18" charset="0"/>
            </a:endParaRPr>
          </a:p>
          <a:p>
            <a:pPr fontAlgn="base">
              <a:spcBef>
                <a:spcPct val="0"/>
              </a:spcBef>
              <a:spcAft>
                <a:spcPct val="0"/>
              </a:spcAft>
              <a:buClrTx/>
              <a:buSzTx/>
              <a:buFontTx/>
              <a:buNone/>
            </a:pPr>
            <a:r>
              <a:rPr lang="el-GR" altLang="el-GR" sz="2700">
                <a:solidFill>
                  <a:srgbClr val="000000"/>
                </a:solidFill>
                <a:latin typeface="Times New Roman" panose="02020603050405020304" pitchFamily="18" charset="0"/>
              </a:rPr>
              <a:t>}</a:t>
            </a:r>
            <a:endParaRPr lang="en-GB" altLang="el-GR" sz="2700">
              <a:solidFill>
                <a:srgbClr val="000000"/>
              </a:solidFill>
              <a:latin typeface="Times New Roman" panose="02020603050405020304" pitchFamily="18" charset="0"/>
            </a:endParaRPr>
          </a:p>
        </p:txBody>
      </p:sp>
      <p:sp>
        <p:nvSpPr>
          <p:cNvPr id="9" name="Rectangle 6">
            <a:extLst>
              <a:ext uri="{FF2B5EF4-FFF2-40B4-BE49-F238E27FC236}">
                <a16:creationId xmlns:a16="http://schemas.microsoft.com/office/drawing/2014/main" id="{70799DC2-76D3-7D50-5CBB-CF9A9F012B98}"/>
              </a:ext>
            </a:extLst>
          </p:cNvPr>
          <p:cNvSpPr>
            <a:spLocks noChangeArrowheads="1"/>
          </p:cNvSpPr>
          <p:nvPr/>
        </p:nvSpPr>
        <p:spPr bwMode="auto">
          <a:xfrm>
            <a:off x="3941618" y="3552210"/>
            <a:ext cx="3429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altLang="el-GR" sz="2700" b="1" i="0" u="none" strike="noStrike" kern="0" cap="none" spc="0" normalizeH="0" baseline="0" noProof="0" dirty="0">
                <a:ln>
                  <a:noFill/>
                </a:ln>
                <a:solidFill>
                  <a:srgbClr val="000000"/>
                </a:solidFill>
                <a:effectLst/>
                <a:uLnTx/>
                <a:uFillTx/>
                <a:latin typeface="Times New Roman" panose="02020603050405020304" pitchFamily="18" charset="0"/>
              </a:rPr>
              <a:t>1</a:t>
            </a:r>
            <a:r>
              <a:rPr kumimoji="0" lang="el-GR" altLang="el-GR" sz="2700" b="1" i="0" u="none" strike="noStrike" kern="0" cap="none" spc="0" normalizeH="0" baseline="0" noProof="0" dirty="0">
                <a:ln>
                  <a:noFill/>
                </a:ln>
                <a:solidFill>
                  <a:srgbClr val="000000"/>
                </a:solidFill>
                <a:effectLst/>
                <a:uLnTx/>
                <a:uFillTx/>
                <a:latin typeface="Times New Roman" panose="02020603050405020304" pitchFamily="18" charset="0"/>
              </a:rPr>
              <a:t>7</a:t>
            </a:r>
            <a:endParaRPr kumimoji="0" lang="en-GB" altLang="el-GR" sz="2400" b="1"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2" name="Line 7">
            <a:extLst>
              <a:ext uri="{FF2B5EF4-FFF2-40B4-BE49-F238E27FC236}">
                <a16:creationId xmlns:a16="http://schemas.microsoft.com/office/drawing/2014/main" id="{7762E974-9057-BDD6-2198-EEB0B604F402}"/>
              </a:ext>
            </a:extLst>
          </p:cNvPr>
          <p:cNvSpPr>
            <a:spLocks noChangeShapeType="1"/>
          </p:cNvSpPr>
          <p:nvPr/>
        </p:nvSpPr>
        <p:spPr bwMode="auto">
          <a:xfrm>
            <a:off x="4246418" y="2104410"/>
            <a:ext cx="1371600" cy="24384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Line 8">
            <a:extLst>
              <a:ext uri="{FF2B5EF4-FFF2-40B4-BE49-F238E27FC236}">
                <a16:creationId xmlns:a16="http://schemas.microsoft.com/office/drawing/2014/main" id="{6B758D41-78DF-FB41-227F-8DD561EC47AE}"/>
              </a:ext>
            </a:extLst>
          </p:cNvPr>
          <p:cNvSpPr>
            <a:spLocks noChangeShapeType="1"/>
          </p:cNvSpPr>
          <p:nvPr/>
        </p:nvSpPr>
        <p:spPr bwMode="auto">
          <a:xfrm>
            <a:off x="5618018" y="2104410"/>
            <a:ext cx="1600200" cy="1981200"/>
          </a:xfrm>
          <a:prstGeom prst="line">
            <a:avLst/>
          </a:prstGeom>
          <a:noFill/>
          <a:ln w="38100">
            <a:solidFill>
              <a:srgbClr val="00E4A8"/>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Line 9">
            <a:extLst>
              <a:ext uri="{FF2B5EF4-FFF2-40B4-BE49-F238E27FC236}">
                <a16:creationId xmlns:a16="http://schemas.microsoft.com/office/drawing/2014/main" id="{E366A4BB-1E1F-85AD-D844-46B48E207522}"/>
              </a:ext>
            </a:extLst>
          </p:cNvPr>
          <p:cNvSpPr>
            <a:spLocks noChangeShapeType="1"/>
          </p:cNvSpPr>
          <p:nvPr/>
        </p:nvSpPr>
        <p:spPr bwMode="auto">
          <a:xfrm>
            <a:off x="7065818" y="2104410"/>
            <a:ext cx="914400" cy="1905000"/>
          </a:xfrm>
          <a:prstGeom prst="line">
            <a:avLst/>
          </a:prstGeom>
          <a:noFill/>
          <a:ln w="38100">
            <a:solidFill>
              <a:srgbClr val="00E4A8"/>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0">
            <a:extLst>
              <a:ext uri="{FF2B5EF4-FFF2-40B4-BE49-F238E27FC236}">
                <a16:creationId xmlns:a16="http://schemas.microsoft.com/office/drawing/2014/main" id="{6A434477-3C91-4601-F144-4A21595EC2E9}"/>
              </a:ext>
            </a:extLst>
          </p:cNvPr>
          <p:cNvSpPr>
            <a:spLocks noChangeShapeType="1"/>
          </p:cNvSpPr>
          <p:nvPr/>
        </p:nvSpPr>
        <p:spPr bwMode="auto">
          <a:xfrm flipH="1">
            <a:off x="3560618" y="5381010"/>
            <a:ext cx="1981200" cy="0"/>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Line 11">
            <a:extLst>
              <a:ext uri="{FF2B5EF4-FFF2-40B4-BE49-F238E27FC236}">
                <a16:creationId xmlns:a16="http://schemas.microsoft.com/office/drawing/2014/main" id="{B41637CA-9CB9-E549-4B2A-08B1803ECE16}"/>
              </a:ext>
            </a:extLst>
          </p:cNvPr>
          <p:cNvSpPr>
            <a:spLocks noChangeShapeType="1"/>
          </p:cNvSpPr>
          <p:nvPr/>
        </p:nvSpPr>
        <p:spPr bwMode="auto">
          <a:xfrm flipV="1">
            <a:off x="3560618" y="2104410"/>
            <a:ext cx="0" cy="32766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Line 12">
            <a:extLst>
              <a:ext uri="{FF2B5EF4-FFF2-40B4-BE49-F238E27FC236}">
                <a16:creationId xmlns:a16="http://schemas.microsoft.com/office/drawing/2014/main" id="{FE0F5781-14F2-4A7B-4D35-484BCE0F94EA}"/>
              </a:ext>
            </a:extLst>
          </p:cNvPr>
          <p:cNvSpPr>
            <a:spLocks noChangeShapeType="1"/>
          </p:cNvSpPr>
          <p:nvPr/>
        </p:nvSpPr>
        <p:spPr bwMode="auto">
          <a:xfrm>
            <a:off x="3941618" y="2256810"/>
            <a:ext cx="0" cy="3200400"/>
          </a:xfrm>
          <a:prstGeom prst="line">
            <a:avLst/>
          </a:prstGeom>
          <a:noFill/>
          <a:ln w="38100">
            <a:solidFill>
              <a:srgbClr val="00E4A8"/>
            </a:solidFill>
            <a:miter lim="800000"/>
            <a:headEnd type="triangle" w="med" len="me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Line 13">
            <a:extLst>
              <a:ext uri="{FF2B5EF4-FFF2-40B4-BE49-F238E27FC236}">
                <a16:creationId xmlns:a16="http://schemas.microsoft.com/office/drawing/2014/main" id="{1E861087-09CF-E46F-CF90-270103F0D823}"/>
              </a:ext>
            </a:extLst>
          </p:cNvPr>
          <p:cNvSpPr>
            <a:spLocks noChangeShapeType="1"/>
          </p:cNvSpPr>
          <p:nvPr/>
        </p:nvSpPr>
        <p:spPr bwMode="auto">
          <a:xfrm flipH="1">
            <a:off x="3941618" y="5457210"/>
            <a:ext cx="1600200" cy="0"/>
          </a:xfrm>
          <a:prstGeom prst="line">
            <a:avLst/>
          </a:prstGeom>
          <a:noFill/>
          <a:ln w="38100">
            <a:solidFill>
              <a:srgbClr val="00E4A8"/>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19" name="Picture 14" descr="PE01682_">
            <a:extLst>
              <a:ext uri="{FF2B5EF4-FFF2-40B4-BE49-F238E27FC236}">
                <a16:creationId xmlns:a16="http://schemas.microsoft.com/office/drawing/2014/main" id="{DF66B820-F4CE-E33B-BBC7-9B2CD24241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8818" y="4161810"/>
            <a:ext cx="1697038" cy="165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5">
            <a:extLst>
              <a:ext uri="{FF2B5EF4-FFF2-40B4-BE49-F238E27FC236}">
                <a16:creationId xmlns:a16="http://schemas.microsoft.com/office/drawing/2014/main" id="{302D663D-7396-BE36-0230-B490A254FD40}"/>
              </a:ext>
            </a:extLst>
          </p:cNvPr>
          <p:cNvSpPr txBox="1">
            <a:spLocks noChangeArrowheads="1"/>
          </p:cNvSpPr>
          <p:nvPr/>
        </p:nvSpPr>
        <p:spPr bwMode="auto">
          <a:xfrm>
            <a:off x="8666018" y="3628410"/>
            <a:ext cx="99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3200" b="1" i="0" u="none" strike="noStrike" kern="0" cap="none" spc="0" normalizeH="0" baseline="0" noProof="0">
                <a:ln>
                  <a:noFill/>
                </a:ln>
                <a:solidFill>
                  <a:srgbClr val="00E4A8"/>
                </a:solidFill>
                <a:effectLst/>
                <a:uLnTx/>
                <a:uFillTx/>
                <a:latin typeface="Tahoma" panose="020B0604030504040204" pitchFamily="34" charset="0"/>
              </a:rPr>
              <a:t>17</a:t>
            </a:r>
            <a:endParaRPr kumimoji="0" lang="en-GB" altLang="el-GR" sz="3200" b="1" i="0" u="none" strike="noStrike" kern="0" cap="none" spc="0" normalizeH="0" baseline="0" noProof="0">
              <a:ln>
                <a:noFill/>
              </a:ln>
              <a:solidFill>
                <a:srgbClr val="00E4A8"/>
              </a:solidFill>
              <a:effectLst/>
              <a:uLnTx/>
              <a:uFillTx/>
              <a:latin typeface="Tahoma" panose="020B0604030504040204" pitchFamily="34" charset="0"/>
            </a:endParaRPr>
          </a:p>
        </p:txBody>
      </p:sp>
      <p:sp>
        <p:nvSpPr>
          <p:cNvPr id="21" name="Line 16">
            <a:extLst>
              <a:ext uri="{FF2B5EF4-FFF2-40B4-BE49-F238E27FC236}">
                <a16:creationId xmlns:a16="http://schemas.microsoft.com/office/drawing/2014/main" id="{BAD9B31F-5863-24A9-D025-5B7F1A426071}"/>
              </a:ext>
            </a:extLst>
          </p:cNvPr>
          <p:cNvSpPr>
            <a:spLocks noChangeShapeType="1"/>
          </p:cNvSpPr>
          <p:nvPr/>
        </p:nvSpPr>
        <p:spPr bwMode="auto">
          <a:xfrm>
            <a:off x="2189018" y="2256810"/>
            <a:ext cx="0" cy="990600"/>
          </a:xfrm>
          <a:prstGeom prst="line">
            <a:avLst/>
          </a:prstGeom>
          <a:noFill/>
          <a:ln w="38100">
            <a:solidFill>
              <a:srgbClr val="3333CC"/>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Text Box 17">
            <a:extLst>
              <a:ext uri="{FF2B5EF4-FFF2-40B4-BE49-F238E27FC236}">
                <a16:creationId xmlns:a16="http://schemas.microsoft.com/office/drawing/2014/main" id="{8D74AFE5-2A85-1A65-3312-3AEA2E4DA57D}"/>
              </a:ext>
            </a:extLst>
          </p:cNvPr>
          <p:cNvSpPr txBox="1">
            <a:spLocks noChangeArrowheads="1"/>
          </p:cNvSpPr>
          <p:nvPr/>
        </p:nvSpPr>
        <p:spPr bwMode="auto">
          <a:xfrm>
            <a:off x="1122218" y="3399810"/>
            <a:ext cx="2192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fontAlgn="base">
              <a:spcBef>
                <a:spcPct val="0"/>
              </a:spcBef>
              <a:spcAft>
                <a:spcPct val="0"/>
              </a:spcAft>
              <a:buClrTx/>
              <a:buSzTx/>
              <a:buFontTx/>
              <a:buNone/>
            </a:pPr>
            <a:r>
              <a:rPr lang="en-GB" altLang="el-GR" sz="2400" b="1">
                <a:solidFill>
                  <a:srgbClr val="3333CC"/>
                </a:solidFill>
                <a:latin typeface="Courier New" panose="02070309020205020404" pitchFamily="49" charset="0"/>
              </a:rPr>
              <a:t>result =</a:t>
            </a:r>
            <a:r>
              <a:rPr lang="el-GR" altLang="el-GR" sz="2400" b="1">
                <a:solidFill>
                  <a:srgbClr val="3333CC"/>
                </a:solidFill>
                <a:latin typeface="Courier New" panose="02070309020205020404" pitchFamily="49" charset="0"/>
              </a:rPr>
              <a:t> 17</a:t>
            </a:r>
            <a:endParaRPr lang="en-GB" altLang="el-GR" sz="2400" b="1">
              <a:solidFill>
                <a:srgbClr val="3333CC"/>
              </a:solidFill>
              <a:latin typeface="Courier New" panose="02070309020205020404" pitchFamily="49" charset="0"/>
            </a:endParaRPr>
          </a:p>
        </p:txBody>
      </p:sp>
      <p:sp>
        <p:nvSpPr>
          <p:cNvPr id="23" name="TextBox 22">
            <a:extLst>
              <a:ext uri="{FF2B5EF4-FFF2-40B4-BE49-F238E27FC236}">
                <a16:creationId xmlns:a16="http://schemas.microsoft.com/office/drawing/2014/main" id="{E033B3CD-F3AB-1BD7-C530-9E557C505B3F}"/>
              </a:ext>
            </a:extLst>
          </p:cNvPr>
          <p:cNvSpPr txBox="1"/>
          <p:nvPr/>
        </p:nvSpPr>
        <p:spPr>
          <a:xfrm>
            <a:off x="6981618" y="3016577"/>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1</a:t>
            </a:r>
          </a:p>
        </p:txBody>
      </p:sp>
      <p:sp>
        <p:nvSpPr>
          <p:cNvPr id="24" name="TextBox 23">
            <a:extLst>
              <a:ext uri="{FF2B5EF4-FFF2-40B4-BE49-F238E27FC236}">
                <a16:creationId xmlns:a16="http://schemas.microsoft.com/office/drawing/2014/main" id="{2DC10236-0154-294C-0B06-3488C0DE0CA7}"/>
              </a:ext>
            </a:extLst>
          </p:cNvPr>
          <p:cNvSpPr txBox="1"/>
          <p:nvPr/>
        </p:nvSpPr>
        <p:spPr>
          <a:xfrm>
            <a:off x="5084594" y="3096099"/>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2</a:t>
            </a:r>
          </a:p>
        </p:txBody>
      </p:sp>
      <p:sp>
        <p:nvSpPr>
          <p:cNvPr id="25" name="TextBox 24">
            <a:extLst>
              <a:ext uri="{FF2B5EF4-FFF2-40B4-BE49-F238E27FC236}">
                <a16:creationId xmlns:a16="http://schemas.microsoft.com/office/drawing/2014/main" id="{B07678A4-37ED-5F98-F57C-CDB0B82FB6C7}"/>
              </a:ext>
            </a:extLst>
          </p:cNvPr>
          <p:cNvSpPr txBox="1"/>
          <p:nvPr/>
        </p:nvSpPr>
        <p:spPr>
          <a:xfrm>
            <a:off x="3574898" y="4342048"/>
            <a:ext cx="513349" cy="461665"/>
          </a:xfrm>
          <a:prstGeom prst="rect">
            <a:avLst/>
          </a:prstGeom>
          <a:noFill/>
        </p:spPr>
        <p:txBody>
          <a:bodyPr wrap="square" rtlCol="0">
            <a:spAutoFit/>
          </a:bodyPr>
          <a:lstStyle/>
          <a:p>
            <a:pPr eaLnBrk="0" fontAlgn="base" hangingPunct="0">
              <a:spcBef>
                <a:spcPct val="0"/>
              </a:spcBef>
              <a:spcAft>
                <a:spcPct val="0"/>
              </a:spcAft>
            </a:pPr>
            <a:r>
              <a:rPr lang="en-GB" sz="2400" dirty="0">
                <a:solidFill>
                  <a:srgbClr val="000000"/>
                </a:solidFill>
                <a:highlight>
                  <a:srgbClr val="FFFF00"/>
                </a:highlight>
                <a:latin typeface="Tahoma" panose="020B0604030504040204" pitchFamily="34" charset="0"/>
              </a:rPr>
              <a:t>3</a:t>
            </a:r>
          </a:p>
        </p:txBody>
      </p:sp>
    </p:spTree>
    <p:extLst>
      <p:ext uri="{BB962C8B-B14F-4D97-AF65-F5344CB8AC3E}">
        <p14:creationId xmlns:p14="http://schemas.microsoft.com/office/powerpoint/2010/main" val="235353590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ssolve">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dissolve">
                                      <p:cBhvr>
                                        <p:cTn id="41" dur="500"/>
                                        <p:tgtEl>
                                          <p:spTgt spid="15"/>
                                        </p:tgtEl>
                                      </p:cBhvr>
                                    </p:animEffect>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dissolv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par>
                          <p:cTn id="51" fill="hold">
                            <p:stCondLst>
                              <p:cond delay="500"/>
                            </p:stCondLst>
                            <p:childTnLst>
                              <p:par>
                                <p:cTn id="52" presetID="9" presetClass="entr" presetSubtype="0" fill="hold"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dissolve">
                                      <p:cBhvr>
                                        <p:cTn id="54" dur="500"/>
                                        <p:tgtEl>
                                          <p:spTgt spid="17"/>
                                        </p:tgtEl>
                                      </p:cBhvr>
                                    </p:animEffect>
                                  </p:childTnLst>
                                </p:cTn>
                              </p:par>
                            </p:childTnLst>
                          </p:cTn>
                        </p:par>
                        <p:par>
                          <p:cTn id="55" fill="hold">
                            <p:stCondLst>
                              <p:cond delay="1000"/>
                            </p:stCondLst>
                            <p:childTnLst>
                              <p:par>
                                <p:cTn id="56" presetID="9" presetClass="entr" presetSubtype="0" fill="hold" grpId="0"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dissolve">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dissolve">
                                      <p:cBhvr>
                                        <p:cTn id="63" dur="500"/>
                                        <p:tgtEl>
                                          <p:spTgt spid="4"/>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dissolve">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dissolve">
                                      <p:cBhvr>
                                        <p:cTn id="73" dur="5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childTnLst>
                                </p:cTn>
                              </p:par>
                            </p:childTnLst>
                          </p:cTn>
                        </p:par>
                        <p:par>
                          <p:cTn id="78" fill="hold">
                            <p:stCondLst>
                              <p:cond delay="0"/>
                            </p:stCondLst>
                            <p:childTnLst>
                              <p:par>
                                <p:cTn id="79" presetID="1" presetClass="entr" presetSubtype="0" fill="hold" grpId="0" nodeType="after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grpId="0" nodeType="afterEffect">
                                  <p:stCondLst>
                                    <p:cond delay="0"/>
                                  </p:stCondLst>
                                  <p:childTnLst>
                                    <p:set>
                                      <p:cBhvr>
                                        <p:cTn id="8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utoUpdateAnimBg="0"/>
      <p:bldP spid="7" grpId="0" autoUpdateAnimBg="0"/>
      <p:bldP spid="9" grpId="0" autoUpdateAnimBg="0"/>
      <p:bldP spid="20" grpId="0" autoUpdateAnimBg="0"/>
      <p:bldP spid="22" grpId="0" autoUpdateAnimBg="0"/>
      <p:bldP spid="23" grpId="0"/>
      <p:bldP spid="24"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5D0F-0912-14AA-3DD7-09C44F87DAA9}"/>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93B7FF29-6B59-6CF9-485E-7576238188A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15C0FE7-5276-DA71-1FC5-E464191EE800}"/>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συνάρτηση </a:t>
            </a:r>
            <a:r>
              <a:rPr lang="en-GB" sz="4000" b="1" dirty="0" err="1">
                <a:solidFill>
                  <a:srgbClr val="F9853D"/>
                </a:solidFill>
                <a:latin typeface="Bahnschrift" panose="020B0502040204020203" pitchFamily="34" charset="0"/>
              </a:rPr>
              <a:t>printf</a:t>
            </a:r>
            <a:r>
              <a:rPr lang="el-GR" sz="4000" b="1" dirty="0">
                <a:solidFill>
                  <a:srgbClr val="F9853D"/>
                </a:solidFill>
                <a:latin typeface="Bahnschrift" panose="020B0502040204020203" pitchFamily="34" charset="0"/>
              </a:rPr>
              <a:t> - Δήλωση</a:t>
            </a:r>
            <a:endParaRPr lang="en-GB"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6F4B52AF-0B37-F5F7-5732-0D9C486BD18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BA9F16F-97CB-93ED-8B68-C3583E48F18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58DC2116-A43B-5742-FF76-529454BE8B6C}"/>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1178C29B-530D-F1F2-144F-9301843BCB8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6" name="Rectangle 3">
            <a:extLst>
              <a:ext uri="{FF2B5EF4-FFF2-40B4-BE49-F238E27FC236}">
                <a16:creationId xmlns:a16="http://schemas.microsoft.com/office/drawing/2014/main" id="{81D3D1FB-8F21-1536-0295-F4BC0FFA3D5F}"/>
              </a:ext>
            </a:extLst>
          </p:cNvPr>
          <p:cNvSpPr txBox="1">
            <a:spLocks noChangeArrowheads="1"/>
          </p:cNvSpPr>
          <p:nvPr/>
        </p:nvSpPr>
        <p:spPr bwMode="auto">
          <a:xfrm>
            <a:off x="342899" y="988315"/>
            <a:ext cx="9332043" cy="457027"/>
          </a:xfrm>
          <a:prstGeom prst="rect">
            <a:avLst/>
          </a:prstGeom>
          <a:solidFill>
            <a:schemeClr val="accent3">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#include &lt;</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Times New Roman" panose="02020603050405020304" pitchFamily="18" charset="0"/>
              </a:rPr>
              <a:t>stdio.h</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&gt;</a:t>
            </a:r>
            <a:r>
              <a:rPr kumimoji="0" lang="el-GR"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a:t>
            </a:r>
            <a:r>
              <a:rPr kumimoji="0" lang="el-GR"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 αρχείο επικεφαλίδας */</a:t>
            </a:r>
          </a:p>
        </p:txBody>
      </p:sp>
      <p:sp>
        <p:nvSpPr>
          <p:cNvPr id="7" name="TextBox 6">
            <a:extLst>
              <a:ext uri="{FF2B5EF4-FFF2-40B4-BE49-F238E27FC236}">
                <a16:creationId xmlns:a16="http://schemas.microsoft.com/office/drawing/2014/main" id="{017DA147-0E3B-478B-BC3F-2B777CF834D2}"/>
              </a:ext>
            </a:extLst>
          </p:cNvPr>
          <p:cNvSpPr txBox="1"/>
          <p:nvPr/>
        </p:nvSpPr>
        <p:spPr>
          <a:xfrm>
            <a:off x="6459794" y="5454186"/>
            <a:ext cx="4748532" cy="461665"/>
          </a:xfrm>
          <a:prstGeom prst="rect">
            <a:avLst/>
          </a:prstGeom>
          <a:noFill/>
        </p:spPr>
        <p:txBody>
          <a:bodyPr wrap="square" rtlCol="0">
            <a:spAutoFit/>
          </a:bodyPr>
          <a:lstStyle/>
          <a:p>
            <a:pPr algn="ctr" eaLnBrk="0" fontAlgn="base" hangingPunct="0">
              <a:spcBef>
                <a:spcPct val="0"/>
              </a:spcBef>
              <a:spcAft>
                <a:spcPct val="0"/>
              </a:spcAft>
            </a:pPr>
            <a:r>
              <a:rPr lang="en-GB" sz="2400" b="1" dirty="0">
                <a:solidFill>
                  <a:srgbClr val="000000"/>
                </a:solidFill>
                <a:latin typeface="var(--ff-lato)"/>
                <a:hlinkClick r:id="rId3"/>
              </a:rPr>
              <a:t>C library function - </a:t>
            </a:r>
            <a:r>
              <a:rPr lang="en-GB" sz="2400" b="1" dirty="0" err="1">
                <a:solidFill>
                  <a:srgbClr val="000000"/>
                </a:solidFill>
                <a:latin typeface="var(--ff-lato)"/>
                <a:hlinkClick r:id="rId3"/>
              </a:rPr>
              <a:t>printf</a:t>
            </a:r>
            <a:r>
              <a:rPr lang="en-GB" sz="2400" b="1" dirty="0">
                <a:solidFill>
                  <a:srgbClr val="000000"/>
                </a:solidFill>
                <a:latin typeface="var(--ff-lato)"/>
                <a:hlinkClick r:id="rId3"/>
              </a:rPr>
              <a:t>()</a:t>
            </a:r>
            <a:endParaRPr lang="en-GB" sz="2400" b="1" dirty="0">
              <a:solidFill>
                <a:srgbClr val="000000"/>
              </a:solidFill>
              <a:latin typeface="var(--ff-lato)"/>
            </a:endParaRPr>
          </a:p>
        </p:txBody>
      </p:sp>
      <p:sp>
        <p:nvSpPr>
          <p:cNvPr id="4" name="Rectangle 3">
            <a:extLst>
              <a:ext uri="{FF2B5EF4-FFF2-40B4-BE49-F238E27FC236}">
                <a16:creationId xmlns:a16="http://schemas.microsoft.com/office/drawing/2014/main" id="{0B300C89-51EE-2018-C8CE-105C106AFA8B}"/>
              </a:ext>
            </a:extLst>
          </p:cNvPr>
          <p:cNvSpPr txBox="1">
            <a:spLocks noChangeArrowheads="1"/>
          </p:cNvSpPr>
          <p:nvPr/>
        </p:nvSpPr>
        <p:spPr bwMode="auto">
          <a:xfrm>
            <a:off x="342899" y="1714326"/>
            <a:ext cx="11059391" cy="45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Η </a:t>
            </a:r>
            <a:r>
              <a:rPr kumimoji="0" lang="el-GR" altLang="el-GR"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δήλωση</a:t>
            </a:r>
            <a:r>
              <a:rPr kumimoji="0" lang="el-GR" altLang="el-GR" sz="2800" b="1"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της συνάρτησης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είναι:</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en-AU"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 name="Rectangle 3">
            <a:extLst>
              <a:ext uri="{FF2B5EF4-FFF2-40B4-BE49-F238E27FC236}">
                <a16:creationId xmlns:a16="http://schemas.microsoft.com/office/drawing/2014/main" id="{F21F2B81-A841-DEA5-7637-31F189FF5937}"/>
              </a:ext>
            </a:extLst>
          </p:cNvPr>
          <p:cNvSpPr txBox="1">
            <a:spLocks noChangeArrowheads="1"/>
          </p:cNvSpPr>
          <p:nvPr/>
        </p:nvSpPr>
        <p:spPr bwMode="auto">
          <a:xfrm>
            <a:off x="351069" y="2345784"/>
            <a:ext cx="9323874" cy="457027"/>
          </a:xfrm>
          <a:prstGeom prst="rect">
            <a:avLst/>
          </a:prstGeom>
          <a:solidFill>
            <a:schemeClr val="accent3">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int </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Times New Roman" panose="02020603050405020304" pitchFamily="18" charset="0"/>
              </a:rPr>
              <a:t>printf</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(const char *format, </a:t>
            </a:r>
            <a:r>
              <a:rPr kumimoji="0" lang="el-GR"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όρισμα</a:t>
            </a:r>
            <a:r>
              <a:rPr kumimoji="0" lang="en-US"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rPr>
              <a:t>2,…);</a:t>
            </a:r>
            <a:endParaRPr kumimoji="0" lang="el-GR" altLang="el-GR" sz="2400" b="1" i="0" u="none" strike="noStrike" kern="0" cap="none" spc="0" normalizeH="0" baseline="0" noProof="0" dirty="0">
              <a:ln>
                <a:noFill/>
              </a:ln>
              <a:solidFill>
                <a:srgbClr val="FF0000"/>
              </a:solidFill>
              <a:effectLst/>
              <a:uLnTx/>
              <a:uFillTx/>
              <a:latin typeface="Courier New" panose="02070309020205020404" pitchFamily="49" charset="0"/>
              <a:ea typeface="+mn-ea"/>
              <a:cs typeface="Times New Roman" panose="02020603050405020304" pitchFamily="18" charset="0"/>
            </a:endParaRPr>
          </a:p>
        </p:txBody>
      </p:sp>
      <p:sp>
        <p:nvSpPr>
          <p:cNvPr id="12" name="Rectangle 3">
            <a:extLst>
              <a:ext uri="{FF2B5EF4-FFF2-40B4-BE49-F238E27FC236}">
                <a16:creationId xmlns:a16="http://schemas.microsoft.com/office/drawing/2014/main" id="{75B5CFC0-834F-2BF1-758D-011751A83C65}"/>
              </a:ext>
            </a:extLst>
          </p:cNvPr>
          <p:cNvSpPr txBox="1">
            <a:spLocks noChangeArrowheads="1"/>
          </p:cNvSpPr>
          <p:nvPr/>
        </p:nvSpPr>
        <p:spPr bwMode="auto">
          <a:xfrm>
            <a:off x="140669" y="3166347"/>
            <a:ext cx="11910662" cy="2013113"/>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just" defTabSz="914400" rtl="0" eaLnBrk="1" fontAlgn="base" latinLnBrk="0" hangingPunct="1">
              <a:lnSpc>
                <a:spcPct val="90000"/>
              </a:lnSpc>
              <a:spcBef>
                <a:spcPct val="20000"/>
              </a:spcBef>
              <a:spcAft>
                <a:spcPct val="0"/>
              </a:spcAft>
              <a:buClr>
                <a:srgbClr val="3333CC"/>
              </a:buClr>
              <a:buSzPct val="60000"/>
              <a:buNone/>
              <a:tabLst/>
              <a:defRPr/>
            </a:pPr>
            <a:r>
              <a:rPr kumimoji="0" lang="el-GR" altLang="el-GR" sz="28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To</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πρώτο όρισμα ορίζει σύμφωνα με δεδομένους κανόνες (δες εγχειρίδιο βασικής βιβλιοθήκης) τον αριθμό και τον τύπο των ορισμάτων που θα εξάγει η συνάρτηση στην κύρια έξοδο. Αυτά θα πρέπει να είναι σε συμφωνία με τα υπόλοιπα ορίσματα που ακολουθούν</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rPr>
              <a:t>.</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rPr>
              <a:t>Τ</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ις τιμές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rPr>
              <a:t>αυ</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τ</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rPr>
              <a:t>ώ</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ν </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rPr>
              <a:t>των ορισμάτων</a:t>
            </a: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βγάζει η συνάρτηση στην έξοδο. </a:t>
            </a:r>
            <a:endParaRPr kumimoji="0" lang="en-GB" altLang="el-GR" sz="2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8481534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dissolve">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dissolve">
                                      <p:cBhvr>
                                        <p:cTn id="22" dur="5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P spid="7" grpId="0"/>
      <p:bldP spid="4" grpId="0" build="p" bldLvl="2" autoUpdateAnimBg="0"/>
      <p:bldP spid="9" grpId="0" build="p" bldLvl="2" autoUpdateAnimBg="0"/>
      <p:bldP spid="12"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E009B-CE5B-F400-F900-5C95FCDAFC1E}"/>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A3584446-B592-3F9C-ACD3-C460D3A86D84}"/>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B13BC30-0EFE-60BF-C206-E7DC180E6C23}"/>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συνάρτηση </a:t>
            </a:r>
            <a:r>
              <a:rPr lang="en-GB" sz="4000" b="1" dirty="0" err="1">
                <a:solidFill>
                  <a:srgbClr val="F9853D"/>
                </a:solidFill>
                <a:latin typeface="Bahnschrift" panose="020B0502040204020203" pitchFamily="34" charset="0"/>
              </a:rPr>
              <a:t>printf</a:t>
            </a:r>
            <a:r>
              <a:rPr lang="en-GB" sz="4000" b="1" dirty="0">
                <a:solidFill>
                  <a:srgbClr val="F9853D"/>
                </a:solidFill>
                <a:latin typeface="Bahnschrift" panose="020B0502040204020203" pitchFamily="34" charset="0"/>
              </a:rPr>
              <a:t> - </a:t>
            </a:r>
            <a:r>
              <a:rPr lang="el-GR" sz="4000" b="1" dirty="0">
                <a:solidFill>
                  <a:srgbClr val="F9853D"/>
                </a:solidFill>
                <a:latin typeface="Bahnschrift" panose="020B0502040204020203" pitchFamily="34" charset="0"/>
              </a:rPr>
              <a:t>Χρήση</a:t>
            </a:r>
            <a:endParaRPr lang="en-GB"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1EEC819E-2BA7-A95E-C7ED-9949D94BB35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A2222C0-A41A-47B4-27D5-D0582F701DF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2F1F897F-A882-BACD-4487-018CAFC02159}"/>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6" name="Rectangle 1027">
            <a:extLst>
              <a:ext uri="{FF2B5EF4-FFF2-40B4-BE49-F238E27FC236}">
                <a16:creationId xmlns:a16="http://schemas.microsoft.com/office/drawing/2014/main" id="{6F1AA36D-B0C1-BE5D-9692-5D8121EE1AD0}"/>
              </a:ext>
            </a:extLst>
          </p:cNvPr>
          <p:cNvSpPr txBox="1">
            <a:spLocks noChangeArrowheads="1"/>
          </p:cNvSpPr>
          <p:nvPr/>
        </p:nvSpPr>
        <p:spPr bwMode="auto">
          <a:xfrm>
            <a:off x="338460" y="1676579"/>
            <a:ext cx="9249332" cy="4114800"/>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Times New Roman" panose="02020603050405020304" pitchFamily="18" charset="0"/>
              </a:rPr>
              <a:t>#include &lt;</a:t>
            </a:r>
            <a:r>
              <a:rPr kumimoji="0" lang="en-US" altLang="el-GR" sz="2400" b="1" i="0" u="none" strike="noStrike" kern="0" cap="none" spc="0" normalizeH="0" baseline="0" noProof="0" dirty="0" err="1">
                <a:ln>
                  <a:noFill/>
                </a:ln>
                <a:solidFill>
                  <a:srgbClr val="800000"/>
                </a:solidFill>
                <a:effectLst/>
                <a:uLnTx/>
                <a:uFillTx/>
                <a:latin typeface="Courier New" panose="02070309020205020404" pitchFamily="49" charset="0"/>
                <a:ea typeface="+mn-ea"/>
                <a:cs typeface="Times New Roman" panose="02020603050405020304" pitchFamily="18" charset="0"/>
              </a:rPr>
              <a:t>stdio.h</a:t>
            </a:r>
            <a:r>
              <a:rPr kumimoji="0" lang="en-US"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Times New Roman" panose="02020603050405020304" pitchFamily="18" charset="0"/>
              </a:rPr>
              <a:t>&gt;</a:t>
            </a:r>
            <a:endParaRPr kumimoji="0" lang="el-GR" altLang="el-GR" sz="2400" b="1" i="0" u="none" strike="noStrike" kern="0" cap="none" spc="0" normalizeH="0" baseline="0" noProof="0" dirty="0">
              <a:ln>
                <a:noFill/>
              </a:ln>
              <a:solidFill>
                <a:srgbClr val="800000"/>
              </a:solidFill>
              <a:effectLst/>
              <a:uLnTx/>
              <a:uFillTx/>
              <a:latin typeface="Courier New" panose="02070309020205020404" pitchFamily="49" charset="0"/>
              <a:ea typeface="+mn-ea"/>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main()</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int num1 = 2;</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int num2 = 4;</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int sum;</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sum = 2 + 4;</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8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mn-cs"/>
              </a:rPr>
              <a:t>printf</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(“2 + 4 = %</a:t>
            </a:r>
            <a:r>
              <a:rPr kumimoji="0" lang="en-US" altLang="el-GR" sz="28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d</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8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mn-cs"/>
              </a:rPr>
              <a:t>n”,</a:t>
            </a:r>
            <a:r>
              <a:rPr kumimoji="0" lang="en-US" altLang="el-GR" sz="2800" b="1" i="0" u="none" strike="noStrike" kern="0" cap="none" spc="0" normalizeH="0" baseline="0" noProof="0" dirty="0" err="1">
                <a:ln>
                  <a:noFill/>
                </a:ln>
                <a:solidFill>
                  <a:srgbClr val="3333CC"/>
                </a:solidFill>
                <a:effectLst/>
                <a:uLnTx/>
                <a:uFillTx/>
                <a:latin typeface="Courier New" panose="02070309020205020404" pitchFamily="49" charset="0"/>
                <a:ea typeface="+mn-ea"/>
                <a:cs typeface="+mn-cs"/>
              </a:rPr>
              <a:t>sum</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8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mn-cs"/>
              </a:rPr>
              <a:t>printf</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8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d</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 %</a:t>
            </a:r>
            <a:r>
              <a:rPr kumimoji="0" lang="en-US" altLang="el-GR" sz="2800" b="1" i="0" u="none" strike="noStrike" kern="0" cap="none" spc="0" normalizeH="0" baseline="0" noProof="0" dirty="0">
                <a:ln>
                  <a:noFill/>
                </a:ln>
                <a:solidFill>
                  <a:srgbClr val="FFCF01"/>
                </a:solidFill>
                <a:effectLst/>
                <a:uLnTx/>
                <a:uFillTx/>
                <a:latin typeface="Courier New" panose="02070309020205020404" pitchFamily="49" charset="0"/>
                <a:ea typeface="+mn-ea"/>
                <a:cs typeface="+mn-cs"/>
              </a:rPr>
              <a:t>d</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 = %</a:t>
            </a:r>
            <a:r>
              <a:rPr kumimoji="0" lang="en-US" altLang="el-GR" sz="28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d</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\n”,</a:t>
            </a:r>
            <a:r>
              <a:rPr kumimoji="0" lang="en-US" altLang="el-GR" sz="28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num1</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800" b="1" i="0" u="none" strike="noStrike" kern="0" cap="none" spc="0" normalizeH="0" baseline="0" noProof="0" dirty="0">
                <a:ln>
                  <a:noFill/>
                </a:ln>
                <a:solidFill>
                  <a:srgbClr val="FFCF01"/>
                </a:solidFill>
                <a:effectLst/>
                <a:uLnTx/>
                <a:uFillTx/>
                <a:latin typeface="Courier New" panose="02070309020205020404" pitchFamily="49" charset="0"/>
                <a:ea typeface="+mn-ea"/>
                <a:cs typeface="+mn-cs"/>
              </a:rPr>
              <a:t>num2</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r>
              <a:rPr kumimoji="0" lang="en-US" altLang="el-GR" sz="2800" b="1" i="0" u="none" strike="noStrike" kern="0" cap="none" spc="0" normalizeH="0" baseline="0" noProof="0" dirty="0">
                <a:ln>
                  <a:noFill/>
                </a:ln>
                <a:solidFill>
                  <a:srgbClr val="00E4A8"/>
                </a:solidFill>
                <a:effectLst/>
                <a:uLnTx/>
                <a:uFillTx/>
                <a:latin typeface="Courier New" panose="02070309020205020404" pitchFamily="49" charset="0"/>
                <a:ea typeface="+mn-ea"/>
                <a:cs typeface="+mn-cs"/>
              </a:rPr>
              <a:t>sum</a:t>
            </a:r>
            <a:r>
              <a:rPr kumimoji="0" lang="en-US" altLang="el-GR" sz="2800" b="1" i="0" u="none" strike="noStrike" kern="0" cap="none" spc="0" normalizeH="0" baseline="0" noProof="0" dirty="0">
                <a:ln>
                  <a:noFill/>
                </a:ln>
                <a:solidFill>
                  <a:srgbClr val="FF0000"/>
                </a:solidFill>
                <a:effectLst/>
                <a:uLnTx/>
                <a:uFillTx/>
                <a:latin typeface="Courier New" panose="02070309020205020404" pitchFamily="49" charset="0"/>
                <a:ea typeface="+mn-ea"/>
                <a:cs typeface="+mn-cs"/>
              </a:rPr>
              <a:t>);</a:t>
            </a: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rPr>
              <a:t>}</a:t>
            </a:r>
            <a:endParaRPr kumimoji="0" lang="el-GR" altLang="el-GR" sz="2400" b="1" i="0" u="none" strike="noStrike" kern="0" cap="none" spc="0" normalizeH="0" baseline="0" noProof="0" dirty="0">
              <a:ln>
                <a:noFill/>
              </a:ln>
              <a:solidFill>
                <a:srgbClr val="3333CC"/>
              </a:solidFill>
              <a:effectLst/>
              <a:uLnTx/>
              <a:uFillTx/>
              <a:latin typeface="Courier New" panose="02070309020205020404" pitchFamily="49" charset="0"/>
              <a:ea typeface="+mn-ea"/>
              <a:cs typeface="+mn-cs"/>
            </a:endParaRPr>
          </a:p>
        </p:txBody>
      </p:sp>
      <p:graphicFrame>
        <p:nvGraphicFramePr>
          <p:cNvPr id="7" name="Table 6">
            <a:extLst>
              <a:ext uri="{FF2B5EF4-FFF2-40B4-BE49-F238E27FC236}">
                <a16:creationId xmlns:a16="http://schemas.microsoft.com/office/drawing/2014/main" id="{CC06A512-4B63-B78C-C940-B99918C152AA}"/>
              </a:ext>
            </a:extLst>
          </p:cNvPr>
          <p:cNvGraphicFramePr>
            <a:graphicFrameLocks noGrp="1"/>
          </p:cNvGraphicFramePr>
          <p:nvPr>
            <p:extLst>
              <p:ext uri="{D42A27DB-BD31-4B8C-83A1-F6EECF244321}">
                <p14:modId xmlns:p14="http://schemas.microsoft.com/office/powerpoint/2010/main" val="936539247"/>
              </p:ext>
            </p:extLst>
          </p:nvPr>
        </p:nvGraphicFramePr>
        <p:xfrm>
          <a:off x="5855110" y="1220302"/>
          <a:ext cx="5777204" cy="2966720"/>
        </p:xfrm>
        <a:graphic>
          <a:graphicData uri="http://schemas.openxmlformats.org/drawingml/2006/table">
            <a:tbl>
              <a:tblPr firstRow="1" bandRow="1"/>
              <a:tblGrid>
                <a:gridCol w="2035277">
                  <a:extLst>
                    <a:ext uri="{9D8B030D-6E8A-4147-A177-3AD203B41FA5}">
                      <a16:colId xmlns:a16="http://schemas.microsoft.com/office/drawing/2014/main" val="525244235"/>
                    </a:ext>
                  </a:extLst>
                </a:gridCol>
                <a:gridCol w="3741927">
                  <a:extLst>
                    <a:ext uri="{9D8B030D-6E8A-4147-A177-3AD203B41FA5}">
                      <a16:colId xmlns:a16="http://schemas.microsoft.com/office/drawing/2014/main" val="802471512"/>
                    </a:ext>
                  </a:extLst>
                </a:gridCol>
              </a:tblGrid>
              <a:tr h="370840">
                <a:tc>
                  <a:txBody>
                    <a:bodyPr/>
                    <a:lstStyle>
                      <a:lvl1pPr marL="0" algn="l" defTabSz="914400" rtl="0" eaLnBrk="1" latinLnBrk="0" hangingPunct="1">
                        <a:defRPr sz="1800" b="1" kern="1200">
                          <a:solidFill>
                            <a:schemeClr val="lt1"/>
                          </a:solidFill>
                          <a:latin typeface="Tahoma"/>
                        </a:defRPr>
                      </a:lvl1pPr>
                      <a:lvl2pPr marL="457200" algn="l" defTabSz="914400" rtl="0" eaLnBrk="1" latinLnBrk="0" hangingPunct="1">
                        <a:defRPr sz="1800" b="1" kern="1200">
                          <a:solidFill>
                            <a:schemeClr val="lt1"/>
                          </a:solidFill>
                          <a:latin typeface="Tahoma"/>
                        </a:defRPr>
                      </a:lvl2pPr>
                      <a:lvl3pPr marL="914400" algn="l" defTabSz="914400" rtl="0" eaLnBrk="1" latinLnBrk="0" hangingPunct="1">
                        <a:defRPr sz="1800" b="1" kern="1200">
                          <a:solidFill>
                            <a:schemeClr val="lt1"/>
                          </a:solidFill>
                          <a:latin typeface="Tahoma"/>
                        </a:defRPr>
                      </a:lvl3pPr>
                      <a:lvl4pPr marL="1371600" algn="l" defTabSz="914400" rtl="0" eaLnBrk="1" latinLnBrk="0" hangingPunct="1">
                        <a:defRPr sz="1800" b="1" kern="1200">
                          <a:solidFill>
                            <a:schemeClr val="lt1"/>
                          </a:solidFill>
                          <a:latin typeface="Tahoma"/>
                        </a:defRPr>
                      </a:lvl4pPr>
                      <a:lvl5pPr marL="1828800" algn="l" defTabSz="914400" rtl="0" eaLnBrk="1" latinLnBrk="0" hangingPunct="1">
                        <a:defRPr sz="1800" b="1" kern="1200">
                          <a:solidFill>
                            <a:schemeClr val="lt1"/>
                          </a:solidFill>
                          <a:latin typeface="Tahoma"/>
                        </a:defRPr>
                      </a:lvl5pPr>
                      <a:lvl6pPr marL="2286000" algn="l" defTabSz="914400" rtl="0" eaLnBrk="1" latinLnBrk="0" hangingPunct="1">
                        <a:defRPr sz="1800" b="1" kern="1200">
                          <a:solidFill>
                            <a:schemeClr val="lt1"/>
                          </a:solidFill>
                          <a:latin typeface="Tahoma"/>
                        </a:defRPr>
                      </a:lvl6pPr>
                      <a:lvl7pPr marL="2743200" algn="l" defTabSz="914400" rtl="0" eaLnBrk="1" latinLnBrk="0" hangingPunct="1">
                        <a:defRPr sz="1800" b="1" kern="1200">
                          <a:solidFill>
                            <a:schemeClr val="lt1"/>
                          </a:solidFill>
                          <a:latin typeface="Tahoma"/>
                        </a:defRPr>
                      </a:lvl7pPr>
                      <a:lvl8pPr marL="3200400" algn="l" defTabSz="914400" rtl="0" eaLnBrk="1" latinLnBrk="0" hangingPunct="1">
                        <a:defRPr sz="1800" b="1" kern="1200">
                          <a:solidFill>
                            <a:schemeClr val="lt1"/>
                          </a:solidFill>
                          <a:latin typeface="Tahoma"/>
                        </a:defRPr>
                      </a:lvl8pPr>
                      <a:lvl9pPr marL="3657600" algn="l" defTabSz="914400" rtl="0" eaLnBrk="1" latinLnBrk="0" hangingPunct="1">
                        <a:defRPr sz="1800" b="1" kern="1200">
                          <a:solidFill>
                            <a:schemeClr val="lt1"/>
                          </a:solidFill>
                          <a:latin typeface="Tahoma"/>
                        </a:defRPr>
                      </a:lvl9pPr>
                    </a:lstStyle>
                    <a:p>
                      <a:pPr algn="ctr"/>
                      <a:r>
                        <a:rPr lang="el-GR" dirty="0"/>
                        <a:t>Προσδιοριστής</a:t>
                      </a:r>
                      <a:endParaRPr lang="en-GB"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E4A8"/>
                    </a:solidFill>
                  </a:tcPr>
                </a:tc>
                <a:tc>
                  <a:txBody>
                    <a:bodyPr/>
                    <a:lstStyle>
                      <a:lvl1pPr marL="0" algn="l" defTabSz="914400" rtl="0" eaLnBrk="1" latinLnBrk="0" hangingPunct="1">
                        <a:defRPr sz="1800" b="1" kern="1200">
                          <a:solidFill>
                            <a:schemeClr val="lt1"/>
                          </a:solidFill>
                          <a:latin typeface="Tahoma"/>
                        </a:defRPr>
                      </a:lvl1pPr>
                      <a:lvl2pPr marL="457200" algn="l" defTabSz="914400" rtl="0" eaLnBrk="1" latinLnBrk="0" hangingPunct="1">
                        <a:defRPr sz="1800" b="1" kern="1200">
                          <a:solidFill>
                            <a:schemeClr val="lt1"/>
                          </a:solidFill>
                          <a:latin typeface="Tahoma"/>
                        </a:defRPr>
                      </a:lvl2pPr>
                      <a:lvl3pPr marL="914400" algn="l" defTabSz="914400" rtl="0" eaLnBrk="1" latinLnBrk="0" hangingPunct="1">
                        <a:defRPr sz="1800" b="1" kern="1200">
                          <a:solidFill>
                            <a:schemeClr val="lt1"/>
                          </a:solidFill>
                          <a:latin typeface="Tahoma"/>
                        </a:defRPr>
                      </a:lvl3pPr>
                      <a:lvl4pPr marL="1371600" algn="l" defTabSz="914400" rtl="0" eaLnBrk="1" latinLnBrk="0" hangingPunct="1">
                        <a:defRPr sz="1800" b="1" kern="1200">
                          <a:solidFill>
                            <a:schemeClr val="lt1"/>
                          </a:solidFill>
                          <a:latin typeface="Tahoma"/>
                        </a:defRPr>
                      </a:lvl4pPr>
                      <a:lvl5pPr marL="1828800" algn="l" defTabSz="914400" rtl="0" eaLnBrk="1" latinLnBrk="0" hangingPunct="1">
                        <a:defRPr sz="1800" b="1" kern="1200">
                          <a:solidFill>
                            <a:schemeClr val="lt1"/>
                          </a:solidFill>
                          <a:latin typeface="Tahoma"/>
                        </a:defRPr>
                      </a:lvl5pPr>
                      <a:lvl6pPr marL="2286000" algn="l" defTabSz="914400" rtl="0" eaLnBrk="1" latinLnBrk="0" hangingPunct="1">
                        <a:defRPr sz="1800" b="1" kern="1200">
                          <a:solidFill>
                            <a:schemeClr val="lt1"/>
                          </a:solidFill>
                          <a:latin typeface="Tahoma"/>
                        </a:defRPr>
                      </a:lvl6pPr>
                      <a:lvl7pPr marL="2743200" algn="l" defTabSz="914400" rtl="0" eaLnBrk="1" latinLnBrk="0" hangingPunct="1">
                        <a:defRPr sz="1800" b="1" kern="1200">
                          <a:solidFill>
                            <a:schemeClr val="lt1"/>
                          </a:solidFill>
                          <a:latin typeface="Tahoma"/>
                        </a:defRPr>
                      </a:lvl7pPr>
                      <a:lvl8pPr marL="3200400" algn="l" defTabSz="914400" rtl="0" eaLnBrk="1" latinLnBrk="0" hangingPunct="1">
                        <a:defRPr sz="1800" b="1" kern="1200">
                          <a:solidFill>
                            <a:schemeClr val="lt1"/>
                          </a:solidFill>
                          <a:latin typeface="Tahoma"/>
                        </a:defRPr>
                      </a:lvl8pPr>
                      <a:lvl9pPr marL="3657600" algn="l" defTabSz="914400" rtl="0" eaLnBrk="1" latinLnBrk="0" hangingPunct="1">
                        <a:defRPr sz="1800" b="1" kern="1200">
                          <a:solidFill>
                            <a:schemeClr val="lt1"/>
                          </a:solidFill>
                          <a:latin typeface="Tahoma"/>
                        </a:defRPr>
                      </a:lvl9pPr>
                    </a:lstStyle>
                    <a:p>
                      <a:r>
                        <a:rPr lang="el-GR" dirty="0"/>
                        <a:t>Για εκτύπωση</a:t>
                      </a:r>
                      <a:endParaRPr lang="en-GB"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E4A8"/>
                    </a:solidFill>
                  </a:tcPr>
                </a:tc>
                <a:extLst>
                  <a:ext uri="{0D108BD9-81ED-4DB2-BD59-A6C34878D82A}">
                    <a16:rowId xmlns:a16="http://schemas.microsoft.com/office/drawing/2014/main" val="1281876110"/>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n-GB" dirty="0"/>
                        <a:t>%d, %</a:t>
                      </a:r>
                      <a:r>
                        <a:rPr lang="en-GB" dirty="0" err="1"/>
                        <a:t>i</a:t>
                      </a:r>
                      <a:endParaRPr lang="en-GB"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ακεραίου</a:t>
                      </a:r>
                      <a:endParaRPr lang="en-GB"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extLst>
                  <a:ext uri="{0D108BD9-81ED-4DB2-BD59-A6C34878D82A}">
                    <a16:rowId xmlns:a16="http://schemas.microsoft.com/office/drawing/2014/main" val="3914210213"/>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l-GR" dirty="0"/>
                        <a:t>%</a:t>
                      </a:r>
                      <a:r>
                        <a:rPr lang="en-GB" dirty="0"/>
                        <a:t>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χαρακτήρα</a:t>
                      </a:r>
                      <a:endParaRPr lang="en-GB"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extLst>
                  <a:ext uri="{0D108BD9-81ED-4DB2-BD59-A6C34878D82A}">
                    <a16:rowId xmlns:a16="http://schemas.microsoft.com/office/drawing/2014/main" val="973609264"/>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n-GB" dirty="0"/>
                        <a: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αλφαριθμητικού</a:t>
                      </a:r>
                      <a:endParaRPr lang="en-GB"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extLst>
                  <a:ext uri="{0D108BD9-81ED-4DB2-BD59-A6C34878D82A}">
                    <a16:rowId xmlns:a16="http://schemas.microsoft.com/office/drawing/2014/main" val="976924621"/>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n-GB" dirty="0"/>
                        <a:t>%f</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Κινητής υποδιαστολής</a:t>
                      </a:r>
                      <a:endParaRPr lang="en-GB"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extLst>
                  <a:ext uri="{0D108BD9-81ED-4DB2-BD59-A6C34878D82A}">
                    <a16:rowId xmlns:a16="http://schemas.microsoft.com/office/drawing/2014/main" val="2978232952"/>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l-GR" dirty="0"/>
                        <a:t>%</a:t>
                      </a:r>
                      <a:r>
                        <a:rPr lang="en-GB" dirty="0"/>
                        <a:t>x</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Ακέραιο σε </a:t>
                      </a:r>
                      <a:r>
                        <a:rPr lang="el-GR" dirty="0" err="1"/>
                        <a:t>δεκαεξαδική</a:t>
                      </a:r>
                      <a:r>
                        <a:rPr lang="el-GR" dirty="0"/>
                        <a:t> μορφή</a:t>
                      </a:r>
                      <a:endParaRPr lang="en-GB"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extLst>
                  <a:ext uri="{0D108BD9-81ED-4DB2-BD59-A6C34878D82A}">
                    <a16:rowId xmlns:a16="http://schemas.microsoft.com/office/drawing/2014/main" val="2986844522"/>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n-GB" dirty="0"/>
                        <a:t>%o</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Ακέραιο σε </a:t>
                      </a:r>
                      <a:r>
                        <a:rPr lang="el-GR" dirty="0" err="1"/>
                        <a:t>οκταδική</a:t>
                      </a:r>
                      <a:r>
                        <a:rPr lang="el-GR" dirty="0"/>
                        <a:t> μορφή</a:t>
                      </a:r>
                      <a:endParaRPr lang="en-GB"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20000"/>
                      </a:srgbClr>
                    </a:solidFill>
                  </a:tcPr>
                </a:tc>
                <a:extLst>
                  <a:ext uri="{0D108BD9-81ED-4DB2-BD59-A6C34878D82A}">
                    <a16:rowId xmlns:a16="http://schemas.microsoft.com/office/drawing/2014/main" val="2153942108"/>
                  </a:ext>
                </a:extLst>
              </a:tr>
              <a:tr h="370840">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en-GB" dirty="0"/>
                        <a:t>%p</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r>
                        <a:rPr lang="el-GR" dirty="0"/>
                        <a:t>Δείκτη σε </a:t>
                      </a:r>
                      <a:r>
                        <a:rPr lang="en-GB" dirty="0"/>
                        <a:t>void</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E4A8">
                        <a:tint val="40000"/>
                      </a:srgbClr>
                    </a:solidFill>
                  </a:tcPr>
                </a:tc>
                <a:extLst>
                  <a:ext uri="{0D108BD9-81ED-4DB2-BD59-A6C34878D82A}">
                    <a16:rowId xmlns:a16="http://schemas.microsoft.com/office/drawing/2014/main" val="3442620384"/>
                  </a:ext>
                </a:extLst>
              </a:tr>
            </a:tbl>
          </a:graphicData>
        </a:graphic>
      </p:graphicFrame>
    </p:spTree>
    <p:extLst>
      <p:ext uri="{BB962C8B-B14F-4D97-AF65-F5344CB8AC3E}">
        <p14:creationId xmlns:p14="http://schemas.microsoft.com/office/powerpoint/2010/main" val="42939351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dissolve">
                                      <p:cBhvr>
                                        <p:cTn id="11" dur="500"/>
                                        <p:tgtEl>
                                          <p:spTgt spid="6">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dissolve">
                                      <p:cBhvr>
                                        <p:cTn id="15" dur="500"/>
                                        <p:tgtEl>
                                          <p:spTgt spid="6">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dissolve">
                                      <p:cBhvr>
                                        <p:cTn id="19" dur="500"/>
                                        <p:tgtEl>
                                          <p:spTgt spid="6">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dissolve">
                                      <p:cBhvr>
                                        <p:cTn id="23" dur="500"/>
                                        <p:tgtEl>
                                          <p:spTgt spid="6">
                                            <p:txEl>
                                              <p:pRg st="4" end="4"/>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dissolve">
                                      <p:cBhvr>
                                        <p:cTn id="27" dur="500"/>
                                        <p:tgtEl>
                                          <p:spTgt spid="6">
                                            <p:txEl>
                                              <p:pRg st="5" end="5"/>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dissolve">
                                      <p:cBhvr>
                                        <p:cTn id="31" dur="500"/>
                                        <p:tgtEl>
                                          <p:spTgt spid="6">
                                            <p:txEl>
                                              <p:pRg st="6" end="6"/>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Effect transition="in" filter="dissolve">
                                      <p:cBhvr>
                                        <p:cTn id="35" dur="500"/>
                                        <p:tgtEl>
                                          <p:spTgt spid="6">
                                            <p:txEl>
                                              <p:pRg st="7" end="7"/>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Effect transition="in" filter="dissolve">
                                      <p:cBhvr>
                                        <p:cTn id="39" dur="500"/>
                                        <p:tgtEl>
                                          <p:spTgt spid="6">
                                            <p:txEl>
                                              <p:pRg st="8" end="8"/>
                                            </p:txEl>
                                          </p:spTgt>
                                        </p:tgtEl>
                                      </p:cBhvr>
                                    </p:animEffect>
                                  </p:childTnLst>
                                </p:cTn>
                              </p:par>
                            </p:childTnLst>
                          </p:cTn>
                        </p:par>
                        <p:par>
                          <p:cTn id="40" fill="hold">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animEffect transition="in" filter="dissolve">
                                      <p:cBhvr>
                                        <p:cTn id="43" dur="500"/>
                                        <p:tgtEl>
                                          <p:spTgt spid="6">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62813-2888-2BD2-DC35-18A3B2350691}"/>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AB0F2CF1-6B58-6CAE-25A4-D2D5BC883174}"/>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72925CB9-E656-7570-D433-1D7D0E086231}"/>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readInt</a:t>
            </a:r>
            <a:r>
              <a:rPr lang="en-GB" sz="4000" b="1" dirty="0">
                <a:solidFill>
                  <a:srgbClr val="F9853D"/>
                </a:solidFill>
                <a:latin typeface="Bahnschrift" panose="020B0502040204020203" pitchFamily="34" charset="0"/>
              </a:rPr>
              <a:t>()</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V1</a:t>
            </a:r>
            <a:r>
              <a:rPr lang="en-GB"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με επιστρεφόμενη τιμή</a:t>
            </a:r>
            <a:r>
              <a:rPr lang="en-US" sz="4000" b="1" dirty="0">
                <a:solidFill>
                  <a:srgbClr val="F9853D"/>
                </a:solidFill>
                <a:latin typeface="Bahnschrift" panose="020B0502040204020203" pitchFamily="34" charset="0"/>
              </a:rPr>
              <a: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DCB3505F-DFE9-08F1-B220-7EFE3CD8C26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3DA886AC-2F77-AB96-F8B0-3F6D2E4671B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A5FE614F-D54C-BD1C-0155-09334149970D}"/>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2651991F-830D-771A-7C95-A291A1195AA4}"/>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D52E532A-4496-6655-D6E7-BE153D6F494B}"/>
              </a:ext>
            </a:extLst>
          </p:cNvPr>
          <p:cNvSpPr txBox="1">
            <a:spLocks noChangeArrowheads="1"/>
          </p:cNvSpPr>
          <p:nvPr/>
        </p:nvSpPr>
        <p:spPr bwMode="auto">
          <a:xfrm>
            <a:off x="587692" y="923705"/>
            <a:ext cx="10728021" cy="512673"/>
          </a:xfrm>
          <a:prstGeom prst="rect">
            <a:avLst/>
          </a:prstGeom>
          <a:solidFill>
            <a:schemeClr val="accent1">
              <a:lumMod val="40000"/>
              <a:lumOff val="60000"/>
            </a:schemeClr>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buClr>
                <a:srgbClr val="3333CC"/>
              </a:buClr>
              <a:buNone/>
            </a:pPr>
            <a:r>
              <a:rPr lang="en-GB" altLang="el-GR" b="1" kern="0" dirty="0">
                <a:solidFill>
                  <a:srgbClr val="000000"/>
                </a:solidFill>
                <a:latin typeface="Courier New" panose="02070309020205020404" pitchFamily="49" charset="0"/>
                <a:cs typeface="Courier New" panose="02070309020205020404" pitchFamily="49" charset="0"/>
              </a:rPr>
              <a:t>int </a:t>
            </a:r>
            <a:r>
              <a:rPr lang="en-GB" altLang="el-GR" b="1" kern="0" dirty="0" err="1">
                <a:solidFill>
                  <a:srgbClr val="000000"/>
                </a:solidFill>
                <a:latin typeface="Courier New" panose="02070309020205020404" pitchFamily="49" charset="0"/>
                <a:cs typeface="Courier New" panose="02070309020205020404" pitchFamily="49" charset="0"/>
              </a:rPr>
              <a:t>readInt</a:t>
            </a:r>
            <a:r>
              <a:rPr lang="en-GB" altLang="el-GR" b="1" kern="0" dirty="0">
                <a:solidFill>
                  <a:srgbClr val="000000"/>
                </a:solidFill>
                <a:latin typeface="Courier New" panose="02070309020205020404" pitchFamily="49" charset="0"/>
                <a:cs typeface="Courier New" panose="02070309020205020404" pitchFamily="49" charset="0"/>
              </a:rPr>
              <a:t>(void);</a:t>
            </a:r>
            <a:r>
              <a:rPr lang="el-GR" altLang="el-GR" b="1" kern="0" dirty="0">
                <a:solidFill>
                  <a:srgbClr val="000000"/>
                </a:solidFill>
                <a:latin typeface="Courier New" panose="02070309020205020404" pitchFamily="49" charset="0"/>
                <a:cs typeface="Courier New" panose="02070309020205020404" pitchFamily="49" charset="0"/>
              </a:rPr>
              <a:t>     </a:t>
            </a:r>
            <a:r>
              <a:rPr lang="el-GR" altLang="el-GR" sz="2400" kern="0" dirty="0">
                <a:solidFill>
                  <a:srgbClr val="000000"/>
                </a:solidFill>
                <a:latin typeface="Times New Roman" panose="02020603050405020304" pitchFamily="18" charset="0"/>
              </a:rPr>
              <a:t>//</a:t>
            </a:r>
            <a:r>
              <a:rPr lang="en-GB" altLang="el-GR" sz="2000" kern="0" dirty="0">
                <a:solidFill>
                  <a:srgbClr val="000000"/>
                </a:solidFill>
                <a:latin typeface="Times New Roman" panose="02020603050405020304" pitchFamily="18" charset="0"/>
              </a:rPr>
              <a:t> </a:t>
            </a:r>
            <a:r>
              <a:rPr lang="el-GR" altLang="el-GR" sz="2000" kern="0" dirty="0">
                <a:solidFill>
                  <a:srgbClr val="000000"/>
                </a:solidFill>
                <a:latin typeface="Times New Roman" panose="02020603050405020304" pitchFamily="18" charset="0"/>
              </a:rPr>
              <a:t>Δήλωση συνάρτησης</a:t>
            </a:r>
            <a:r>
              <a:rPr lang="en-US" altLang="el-GR" sz="2000" kern="0" dirty="0">
                <a:solidFill>
                  <a:srgbClr val="000000"/>
                </a:solidFill>
                <a:latin typeface="Times New Roman" panose="02020603050405020304" pitchFamily="18" charset="0"/>
              </a:rPr>
              <a:t> (</a:t>
            </a:r>
            <a:r>
              <a:rPr lang="en-GB" altLang="el-GR" sz="2000" kern="0" dirty="0">
                <a:solidFill>
                  <a:srgbClr val="000000"/>
                </a:solidFill>
                <a:latin typeface="Times New Roman" panose="02020603050405020304" pitchFamily="18" charset="0"/>
              </a:rPr>
              <a:t>Function prototype</a:t>
            </a:r>
            <a:r>
              <a:rPr lang="el-GR" altLang="el-GR" sz="2000" kern="0" dirty="0">
                <a:solidFill>
                  <a:srgbClr val="000000"/>
                </a:solidFill>
                <a:latin typeface="Times New Roman" panose="02020603050405020304" pitchFamily="18" charset="0"/>
              </a:rPr>
              <a:t> )</a:t>
            </a:r>
            <a:endParaRPr lang="en-GB" altLang="el-GR" sz="2000" kern="0" dirty="0">
              <a:solidFill>
                <a:srgbClr val="000000"/>
              </a:solidFill>
              <a:latin typeface="Times New Roman" panose="02020603050405020304" pitchFamily="18" charset="0"/>
            </a:endParaRPr>
          </a:p>
          <a:p>
            <a:pPr marL="0" indent="0" eaLnBrk="1" hangingPunct="1">
              <a:buClr>
                <a:srgbClr val="3333CC"/>
              </a:buClr>
              <a:buFont typeface="Wingdings" panose="05000000000000000000" pitchFamily="2" charset="2"/>
              <a:buNone/>
            </a:pPr>
            <a:r>
              <a:rPr lang="en-GB" altLang="el-GR" sz="2000" kern="0" dirty="0">
                <a:solidFill>
                  <a:srgbClr val="000000"/>
                </a:solidFill>
                <a:latin typeface="Times New Roman" panose="02020603050405020304" pitchFamily="18" charset="0"/>
              </a:rPr>
              <a:t> </a:t>
            </a:r>
            <a:endParaRPr lang="el-GR" altLang="el-GR" sz="2000" kern="0" dirty="0">
              <a:solidFill>
                <a:srgbClr val="000000"/>
              </a:solidFill>
              <a:latin typeface="Times New Roman" panose="02020603050405020304" pitchFamily="18" charset="0"/>
            </a:endParaRPr>
          </a:p>
        </p:txBody>
      </p:sp>
      <p:pic>
        <p:nvPicPr>
          <p:cNvPr id="6" name="Picture 5">
            <a:extLst>
              <a:ext uri="{FF2B5EF4-FFF2-40B4-BE49-F238E27FC236}">
                <a16:creationId xmlns:a16="http://schemas.microsoft.com/office/drawing/2014/main" id="{245EC6E9-7DD9-495F-CF27-79979B68E2DF}"/>
              </a:ext>
            </a:extLst>
          </p:cNvPr>
          <p:cNvPicPr>
            <a:picLocks noChangeAspect="1"/>
          </p:cNvPicPr>
          <p:nvPr/>
        </p:nvPicPr>
        <p:blipFill>
          <a:blip r:embed="rId3"/>
          <a:stretch>
            <a:fillRect/>
          </a:stretch>
        </p:blipFill>
        <p:spPr>
          <a:xfrm>
            <a:off x="289386" y="1998952"/>
            <a:ext cx="5656922" cy="2213579"/>
          </a:xfrm>
          <a:prstGeom prst="rect">
            <a:avLst/>
          </a:prstGeom>
        </p:spPr>
      </p:pic>
      <p:pic>
        <p:nvPicPr>
          <p:cNvPr id="7" name="Picture 6">
            <a:extLst>
              <a:ext uri="{FF2B5EF4-FFF2-40B4-BE49-F238E27FC236}">
                <a16:creationId xmlns:a16="http://schemas.microsoft.com/office/drawing/2014/main" id="{2DA155C6-A442-C64F-7106-273E55C94869}"/>
              </a:ext>
            </a:extLst>
          </p:cNvPr>
          <p:cNvPicPr>
            <a:picLocks noChangeAspect="1"/>
          </p:cNvPicPr>
          <p:nvPr/>
        </p:nvPicPr>
        <p:blipFill>
          <a:blip r:embed="rId4"/>
          <a:stretch>
            <a:fillRect/>
          </a:stretch>
        </p:blipFill>
        <p:spPr>
          <a:xfrm>
            <a:off x="4072319" y="4030084"/>
            <a:ext cx="6497594" cy="2418941"/>
          </a:xfrm>
          <a:prstGeom prst="rect">
            <a:avLst/>
          </a:prstGeom>
        </p:spPr>
      </p:pic>
      <p:sp>
        <p:nvSpPr>
          <p:cNvPr id="12" name="Callout: Line 11">
            <a:extLst>
              <a:ext uri="{FF2B5EF4-FFF2-40B4-BE49-F238E27FC236}">
                <a16:creationId xmlns:a16="http://schemas.microsoft.com/office/drawing/2014/main" id="{EABD48AE-9D3E-B7CD-CC94-27948CA303E1}"/>
              </a:ext>
            </a:extLst>
          </p:cNvPr>
          <p:cNvSpPr/>
          <p:nvPr/>
        </p:nvSpPr>
        <p:spPr bwMode="auto">
          <a:xfrm>
            <a:off x="567560" y="4663978"/>
            <a:ext cx="2784680" cy="805028"/>
          </a:xfrm>
          <a:prstGeom prst="borderCallout1">
            <a:avLst>
              <a:gd name="adj1" fmla="val 55492"/>
              <a:gd name="adj2" fmla="val 101408"/>
              <a:gd name="adj3" fmla="val 62906"/>
              <a:gd name="adj4" fmla="val 13027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Παράδειγμα χρήσης </a:t>
            </a:r>
          </a:p>
          <a:p>
            <a:pPr algn="ctr">
              <a:spcBef>
                <a:spcPct val="20000"/>
              </a:spcBef>
              <a:buClr>
                <a:schemeClr val="folHlink"/>
              </a:buClr>
              <a:buSzPct val="60000"/>
            </a:pPr>
            <a:r>
              <a:rPr lang="el-GR" sz="2000" b="1" dirty="0">
                <a:solidFill>
                  <a:schemeClr val="lt1"/>
                </a:solidFill>
                <a:latin typeface="Tahoma" panose="020B0604030504040204" pitchFamily="34" charset="0"/>
              </a:rPr>
              <a:t>της  συνάρτησης</a:t>
            </a:r>
            <a:endParaRPr lang="en-GB" sz="2000" b="1" dirty="0">
              <a:solidFill>
                <a:schemeClr val="lt1"/>
              </a:solidFill>
              <a:latin typeface="Tahoma" panose="020B0604030504040204" pitchFamily="34" charset="0"/>
            </a:endParaRPr>
          </a:p>
        </p:txBody>
      </p:sp>
      <p:sp>
        <p:nvSpPr>
          <p:cNvPr id="13" name="Speech Bubble: Rectangle with Corners Rounded 12">
            <a:extLst>
              <a:ext uri="{FF2B5EF4-FFF2-40B4-BE49-F238E27FC236}">
                <a16:creationId xmlns:a16="http://schemas.microsoft.com/office/drawing/2014/main" id="{BE73D83E-DFC5-A72B-A419-D5B9615491F3}"/>
              </a:ext>
            </a:extLst>
          </p:cNvPr>
          <p:cNvSpPr/>
          <p:nvPr/>
        </p:nvSpPr>
        <p:spPr bwMode="auto">
          <a:xfrm>
            <a:off x="6096000" y="2518882"/>
            <a:ext cx="5873736" cy="719331"/>
          </a:xfrm>
          <a:prstGeom prst="wedgeRoundRectCallout">
            <a:avLst>
              <a:gd name="adj1" fmla="val -94230"/>
              <a:gd name="adj2" fmla="val -40008"/>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fontAlgn="base">
              <a:spcBef>
                <a:spcPct val="0"/>
              </a:spcBef>
              <a:spcAft>
                <a:spcPct val="0"/>
              </a:spcAft>
              <a:defRPr/>
            </a:pPr>
            <a:r>
              <a:rPr lang="el-GR" kern="0" dirty="0">
                <a:solidFill>
                  <a:srgbClr val="000000"/>
                </a:solidFill>
                <a:latin typeface="Tahoma" panose="020B0604030504040204" pitchFamily="34" charset="0"/>
              </a:rPr>
              <a:t>Δηλώνει τοπική μεταβλητή</a:t>
            </a:r>
            <a:r>
              <a:rPr lang="en-GB" kern="0" dirty="0">
                <a:solidFill>
                  <a:srgbClr val="000000"/>
                </a:solidFill>
                <a:latin typeface="Tahoma" panose="020B0604030504040204" pitchFamily="34" charset="0"/>
              </a:rPr>
              <a:t> </a:t>
            </a:r>
            <a:r>
              <a:rPr lang="el-GR" kern="0" dirty="0">
                <a:solidFill>
                  <a:srgbClr val="000000"/>
                </a:solidFill>
                <a:latin typeface="Tahoma" panose="020B0604030504040204" pitchFamily="34" charset="0"/>
              </a:rPr>
              <a:t>και την χρησιμοποιεί για να αποθηκεύσει  τον ακέραιο που διαβάζει με την </a:t>
            </a:r>
            <a:r>
              <a:rPr lang="en-GB" kern="0" dirty="0" err="1">
                <a:solidFill>
                  <a:srgbClr val="000000"/>
                </a:solidFill>
                <a:latin typeface="Tahoma" panose="020B0604030504040204" pitchFamily="34" charset="0"/>
              </a:rPr>
              <a:t>scanf</a:t>
            </a:r>
            <a:endParaRPr lang="en-GB" kern="0" dirty="0">
              <a:solidFill>
                <a:srgbClr val="000000"/>
              </a:solidFill>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ahoma" pitchFamily="34" charset="0"/>
            </a:endParaRPr>
          </a:p>
        </p:txBody>
      </p:sp>
      <p:sp>
        <p:nvSpPr>
          <p:cNvPr id="14" name="AutoShape 3076">
            <a:extLst>
              <a:ext uri="{FF2B5EF4-FFF2-40B4-BE49-F238E27FC236}">
                <a16:creationId xmlns:a16="http://schemas.microsoft.com/office/drawing/2014/main" id="{6767CEB5-A1CF-F4F6-9E62-F0F52589247A}"/>
              </a:ext>
            </a:extLst>
          </p:cNvPr>
          <p:cNvSpPr>
            <a:spLocks/>
          </p:cNvSpPr>
          <p:nvPr/>
        </p:nvSpPr>
        <p:spPr bwMode="auto">
          <a:xfrm>
            <a:off x="7302108" y="1720039"/>
            <a:ext cx="4327589" cy="512673"/>
          </a:xfrm>
          <a:prstGeom prst="borderCallout2">
            <a:avLst>
              <a:gd name="adj1" fmla="val 47055"/>
              <a:gd name="adj2" fmla="val 511"/>
              <a:gd name="adj3" fmla="val 54225"/>
              <a:gd name="adj4" fmla="val -12695"/>
              <a:gd name="adj5" fmla="val 109769"/>
              <a:gd name="adj6" fmla="val -68649"/>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buNone/>
            </a:pPr>
            <a:r>
              <a:rPr lang="el-GR" altLang="el-GR" sz="2000" b="1" dirty="0">
                <a:solidFill>
                  <a:schemeClr val="lt1"/>
                </a:solidFill>
              </a:rPr>
              <a:t>Ορισμός της</a:t>
            </a:r>
            <a:r>
              <a:rPr lang="en-US" altLang="el-GR" sz="2000" b="1" dirty="0">
                <a:solidFill>
                  <a:schemeClr val="lt1"/>
                </a:solidFill>
              </a:rPr>
              <a:t> </a:t>
            </a:r>
            <a:r>
              <a:rPr lang="el-GR" altLang="el-GR" sz="2000" b="1" dirty="0">
                <a:solidFill>
                  <a:schemeClr val="lt1"/>
                </a:solidFill>
              </a:rPr>
              <a:t>συνάρτησης</a:t>
            </a:r>
          </a:p>
        </p:txBody>
      </p:sp>
      <p:sp>
        <p:nvSpPr>
          <p:cNvPr id="15" name="Speech Bubble: Rectangle with Corners Rounded 14">
            <a:extLst>
              <a:ext uri="{FF2B5EF4-FFF2-40B4-BE49-F238E27FC236}">
                <a16:creationId xmlns:a16="http://schemas.microsoft.com/office/drawing/2014/main" id="{B271F4A4-2B23-11DC-1823-D054E294D87D}"/>
              </a:ext>
            </a:extLst>
          </p:cNvPr>
          <p:cNvSpPr/>
          <p:nvPr/>
        </p:nvSpPr>
        <p:spPr bwMode="auto">
          <a:xfrm>
            <a:off x="5864772" y="3367490"/>
            <a:ext cx="6104964" cy="512674"/>
          </a:xfrm>
          <a:prstGeom prst="wedgeRoundRectCallout">
            <a:avLst>
              <a:gd name="adj1" fmla="val -80801"/>
              <a:gd name="adj2" fmla="val -21557"/>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fontAlgn="base">
              <a:spcBef>
                <a:spcPct val="0"/>
              </a:spcBef>
              <a:spcAft>
                <a:spcPct val="0"/>
              </a:spcAft>
              <a:defRPr/>
            </a:pPr>
            <a:r>
              <a:rPr lang="el-GR" kern="0" dirty="0">
                <a:solidFill>
                  <a:srgbClr val="000000"/>
                </a:solidFill>
                <a:latin typeface="Tahoma" panose="020B0604030504040204" pitchFamily="34" charset="0"/>
              </a:rPr>
              <a:t>Επιστρέφει τον ακέραιο που έχει αποθηκεύσει στην </a:t>
            </a:r>
            <a:r>
              <a:rPr lang="en-US" kern="0" dirty="0">
                <a:solidFill>
                  <a:srgbClr val="000000"/>
                </a:solidFill>
                <a:latin typeface="Tahoma" panose="020B0604030504040204" pitchFamily="34" charset="0"/>
              </a:rPr>
              <a:t>num</a:t>
            </a:r>
            <a:endParaRPr lang="en-GB" kern="0" dirty="0">
              <a:solidFill>
                <a:srgbClr val="000000"/>
              </a:solidFill>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ahoma" pitchFamily="34" charset="0"/>
            </a:endParaRPr>
          </a:p>
        </p:txBody>
      </p:sp>
    </p:spTree>
    <p:extLst>
      <p:ext uri="{BB962C8B-B14F-4D97-AF65-F5344CB8AC3E}">
        <p14:creationId xmlns:p14="http://schemas.microsoft.com/office/powerpoint/2010/main" val="18784554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9"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autoUpdateAnimBg="0"/>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DA315-C734-36F9-720F-0646496E76AE}"/>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CF271CF-E0F1-9C53-4510-248046CA451F}"/>
              </a:ext>
            </a:extLst>
          </p:cNvPr>
          <p:cNvPicPr>
            <a:picLocks noChangeAspect="1"/>
          </p:cNvPicPr>
          <p:nvPr/>
        </p:nvPicPr>
        <p:blipFill>
          <a:blip r:embed="rId3"/>
          <a:stretch>
            <a:fillRect/>
          </a:stretch>
        </p:blipFill>
        <p:spPr>
          <a:xfrm>
            <a:off x="5861612" y="4284518"/>
            <a:ext cx="5671817" cy="2096107"/>
          </a:xfrm>
          <a:prstGeom prst="rect">
            <a:avLst/>
          </a:prstGeom>
        </p:spPr>
      </p:pic>
      <p:sp>
        <p:nvSpPr>
          <p:cNvPr id="10" name="Rectangle 14">
            <a:extLst>
              <a:ext uri="{FF2B5EF4-FFF2-40B4-BE49-F238E27FC236}">
                <a16:creationId xmlns:a16="http://schemas.microsoft.com/office/drawing/2014/main" id="{AC53594B-02E8-9D12-4691-AEAC75B9E43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BF5C3F9-C16B-9F1E-59C6-71E594FC0396}"/>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readInt</a:t>
            </a:r>
            <a:r>
              <a:rPr lang="en-GB" sz="4000" b="1" dirty="0">
                <a:solidFill>
                  <a:srgbClr val="F9853D"/>
                </a:solidFill>
                <a:latin typeface="Bahnschrift" panose="020B0502040204020203" pitchFamily="34" charset="0"/>
              </a:rPr>
              <a:t>()  V2  (</a:t>
            </a:r>
            <a:r>
              <a:rPr lang="el-GR" sz="4000" b="1" dirty="0">
                <a:solidFill>
                  <a:srgbClr val="F9853D"/>
                </a:solidFill>
                <a:latin typeface="Bahnschrift" panose="020B0502040204020203" pitchFamily="34" charset="0"/>
              </a:rPr>
              <a:t>χωρίς επιστρεφόμενη τιμή</a:t>
            </a:r>
            <a:r>
              <a:rPr lang="en-US" sz="4000" b="1" dirty="0">
                <a:solidFill>
                  <a:srgbClr val="F9853D"/>
                </a:solidFill>
                <a:latin typeface="Bahnschrift" panose="020B0502040204020203" pitchFamily="34" charset="0"/>
              </a:rPr>
              <a: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90E1D3BB-5C44-AB58-2BE5-6BBE245CA6B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D3251D1-D3F6-5191-0E40-3E77BDC73CF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367ECE23-256B-9E3B-E68C-3A4954C565D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D0840021-54DF-B4D4-0692-53215353FAE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pic>
        <p:nvPicPr>
          <p:cNvPr id="4" name="Picture 3">
            <a:extLst>
              <a:ext uri="{FF2B5EF4-FFF2-40B4-BE49-F238E27FC236}">
                <a16:creationId xmlns:a16="http://schemas.microsoft.com/office/drawing/2014/main" id="{C5DD9625-AB91-2BB8-CE11-1EF9F192CC1E}"/>
              </a:ext>
            </a:extLst>
          </p:cNvPr>
          <p:cNvPicPr>
            <a:picLocks noChangeAspect="1"/>
          </p:cNvPicPr>
          <p:nvPr/>
        </p:nvPicPr>
        <p:blipFill>
          <a:blip r:embed="rId4"/>
          <a:stretch>
            <a:fillRect/>
          </a:stretch>
        </p:blipFill>
        <p:spPr>
          <a:xfrm>
            <a:off x="1155640" y="2247761"/>
            <a:ext cx="5182996" cy="2010794"/>
          </a:xfrm>
          <a:prstGeom prst="rect">
            <a:avLst/>
          </a:prstGeom>
        </p:spPr>
      </p:pic>
      <p:sp>
        <p:nvSpPr>
          <p:cNvPr id="6" name="Rectangle 3">
            <a:extLst>
              <a:ext uri="{FF2B5EF4-FFF2-40B4-BE49-F238E27FC236}">
                <a16:creationId xmlns:a16="http://schemas.microsoft.com/office/drawing/2014/main" id="{2354B9D3-AE54-DF96-9EA5-AA9B30EA46AF}"/>
              </a:ext>
            </a:extLst>
          </p:cNvPr>
          <p:cNvSpPr txBox="1">
            <a:spLocks noChangeArrowheads="1"/>
          </p:cNvSpPr>
          <p:nvPr/>
        </p:nvSpPr>
        <p:spPr bwMode="auto">
          <a:xfrm>
            <a:off x="752168" y="826854"/>
            <a:ext cx="11194025" cy="665379"/>
          </a:xfrm>
          <a:prstGeom prst="rect">
            <a:avLst/>
          </a:prstGeom>
          <a:solidFill>
            <a:schemeClr val="accent1">
              <a:lumMod val="40000"/>
              <a:lumOff val="60000"/>
            </a:schemeClr>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buClr>
                <a:srgbClr val="3333CC"/>
              </a:buClr>
              <a:buNone/>
            </a:pPr>
            <a:r>
              <a:rPr lang="en-GB" altLang="el-GR" b="1" kern="0" dirty="0">
                <a:solidFill>
                  <a:srgbClr val="000000"/>
                </a:solidFill>
                <a:latin typeface="Courier New" panose="02070309020205020404" pitchFamily="49" charset="0"/>
                <a:cs typeface="Courier New" panose="02070309020205020404" pitchFamily="49" charset="0"/>
              </a:rPr>
              <a:t>void </a:t>
            </a:r>
            <a:r>
              <a:rPr lang="en-GB" altLang="el-GR" b="1" kern="0" dirty="0" err="1">
                <a:solidFill>
                  <a:srgbClr val="000000"/>
                </a:solidFill>
                <a:latin typeface="Courier New" panose="02070309020205020404" pitchFamily="49" charset="0"/>
                <a:cs typeface="Courier New" panose="02070309020205020404" pitchFamily="49" charset="0"/>
              </a:rPr>
              <a:t>readInt</a:t>
            </a:r>
            <a:r>
              <a:rPr lang="en-GB" altLang="el-GR" b="1" kern="0" dirty="0">
                <a:solidFill>
                  <a:srgbClr val="000000"/>
                </a:solidFill>
                <a:latin typeface="Courier New" panose="02070309020205020404" pitchFamily="49" charset="0"/>
                <a:cs typeface="Courier New" panose="02070309020205020404" pitchFamily="49" charset="0"/>
              </a:rPr>
              <a:t>(int </a:t>
            </a:r>
            <a:r>
              <a:rPr lang="en-GB" altLang="el-GR" b="1" kern="0" dirty="0">
                <a:solidFill>
                  <a:srgbClr val="C00000"/>
                </a:solidFill>
                <a:latin typeface="Courier New" panose="02070309020205020404" pitchFamily="49" charset="0"/>
                <a:cs typeface="Courier New" panose="02070309020205020404" pitchFamily="49" charset="0"/>
              </a:rPr>
              <a:t>*</a:t>
            </a:r>
            <a:r>
              <a:rPr lang="en-GB" altLang="el-GR" b="1" kern="0" dirty="0" err="1">
                <a:solidFill>
                  <a:srgbClr val="C00000"/>
                </a:solidFill>
                <a:latin typeface="Courier New" panose="02070309020205020404" pitchFamily="49" charset="0"/>
                <a:cs typeface="Courier New" panose="02070309020205020404" pitchFamily="49" charset="0"/>
              </a:rPr>
              <a:t>numPtr</a:t>
            </a:r>
            <a:r>
              <a:rPr lang="en-GB" altLang="el-GR" b="1" kern="0" dirty="0">
                <a:solidFill>
                  <a:srgbClr val="000000"/>
                </a:solidFill>
                <a:latin typeface="Courier New" panose="02070309020205020404" pitchFamily="49" charset="0"/>
                <a:cs typeface="Courier New" panose="02070309020205020404" pitchFamily="49" charset="0"/>
              </a:rPr>
              <a:t>);</a:t>
            </a:r>
            <a:r>
              <a:rPr lang="el-GR" altLang="el-GR" b="1" kern="0" dirty="0">
                <a:solidFill>
                  <a:srgbClr val="000000"/>
                </a:solidFill>
                <a:latin typeface="Courier New" panose="02070309020205020404" pitchFamily="49" charset="0"/>
                <a:cs typeface="Courier New" panose="02070309020205020404" pitchFamily="49" charset="0"/>
              </a:rPr>
              <a:t> </a:t>
            </a:r>
            <a:r>
              <a:rPr lang="el-GR" altLang="el-GR" sz="3600" kern="0" dirty="0">
                <a:solidFill>
                  <a:srgbClr val="000000"/>
                </a:solidFill>
                <a:latin typeface="Times New Roman" panose="02020603050405020304" pitchFamily="18" charset="0"/>
              </a:rPr>
              <a:t>//</a:t>
            </a:r>
            <a:r>
              <a:rPr lang="en-GB" altLang="el-GR" kern="0" dirty="0">
                <a:solidFill>
                  <a:srgbClr val="000000"/>
                </a:solidFill>
                <a:latin typeface="Times New Roman" panose="02020603050405020304" pitchFamily="18" charset="0"/>
              </a:rPr>
              <a:t> </a:t>
            </a:r>
            <a:r>
              <a:rPr lang="el-GR" altLang="el-GR" sz="1800" kern="0" dirty="0">
                <a:solidFill>
                  <a:srgbClr val="000000"/>
                </a:solidFill>
                <a:latin typeface="Times New Roman" panose="02020603050405020304" pitchFamily="18" charset="0"/>
              </a:rPr>
              <a:t>Δήλωση συνάρτησης</a:t>
            </a:r>
            <a:r>
              <a:rPr lang="en-US" altLang="el-GR" sz="1800" kern="0" dirty="0">
                <a:solidFill>
                  <a:srgbClr val="000000"/>
                </a:solidFill>
                <a:latin typeface="Times New Roman" panose="02020603050405020304" pitchFamily="18" charset="0"/>
              </a:rPr>
              <a:t> (</a:t>
            </a:r>
            <a:r>
              <a:rPr lang="en-GB" altLang="el-GR" sz="1800" kern="0" dirty="0">
                <a:solidFill>
                  <a:srgbClr val="000000"/>
                </a:solidFill>
                <a:latin typeface="Times New Roman" panose="02020603050405020304" pitchFamily="18" charset="0"/>
              </a:rPr>
              <a:t>Function prototype</a:t>
            </a:r>
            <a:r>
              <a:rPr lang="el-GR" altLang="el-GR" sz="1800" kern="0" dirty="0">
                <a:solidFill>
                  <a:srgbClr val="000000"/>
                </a:solidFill>
                <a:latin typeface="Times New Roman" panose="02020603050405020304" pitchFamily="18" charset="0"/>
              </a:rPr>
              <a:t> )</a:t>
            </a:r>
            <a:endParaRPr lang="en-GB" altLang="el-GR" sz="3600" kern="0" dirty="0">
              <a:solidFill>
                <a:srgbClr val="000000"/>
              </a:solidFill>
              <a:latin typeface="Times New Roman" panose="02020603050405020304" pitchFamily="18" charset="0"/>
            </a:endParaRPr>
          </a:p>
          <a:p>
            <a:pPr marL="0" indent="0" eaLnBrk="1" hangingPunct="1">
              <a:buClr>
                <a:srgbClr val="3333CC"/>
              </a:buClr>
              <a:buFont typeface="Wingdings" panose="05000000000000000000" pitchFamily="2" charset="2"/>
              <a:buNone/>
            </a:pPr>
            <a:endParaRPr lang="en-GB" altLang="el-GR" sz="2000" kern="0" dirty="0">
              <a:solidFill>
                <a:srgbClr val="000000"/>
              </a:solidFill>
              <a:latin typeface="Times New Roman" panose="02020603050405020304" pitchFamily="18" charset="0"/>
            </a:endParaRPr>
          </a:p>
          <a:p>
            <a:pPr marL="0" indent="0" eaLnBrk="1" hangingPunct="1">
              <a:buClr>
                <a:srgbClr val="3333CC"/>
              </a:buClr>
              <a:buFont typeface="Wingdings" panose="05000000000000000000" pitchFamily="2" charset="2"/>
              <a:buNone/>
            </a:pPr>
            <a:r>
              <a:rPr lang="en-GB" altLang="el-GR" sz="2000" kern="0" dirty="0">
                <a:solidFill>
                  <a:srgbClr val="000000"/>
                </a:solidFill>
                <a:latin typeface="Times New Roman" panose="02020603050405020304" pitchFamily="18" charset="0"/>
              </a:rPr>
              <a:t> </a:t>
            </a:r>
            <a:endParaRPr lang="el-GR" altLang="el-GR" sz="2000" kern="0" dirty="0">
              <a:solidFill>
                <a:srgbClr val="000000"/>
              </a:solidFill>
              <a:latin typeface="Times New Roman" panose="02020603050405020304" pitchFamily="18" charset="0"/>
            </a:endParaRPr>
          </a:p>
        </p:txBody>
      </p:sp>
      <p:sp>
        <p:nvSpPr>
          <p:cNvPr id="7" name="Callout: Line 6">
            <a:extLst>
              <a:ext uri="{FF2B5EF4-FFF2-40B4-BE49-F238E27FC236}">
                <a16:creationId xmlns:a16="http://schemas.microsoft.com/office/drawing/2014/main" id="{165C4B27-8EE8-009B-02C4-C48835C5E914}"/>
              </a:ext>
            </a:extLst>
          </p:cNvPr>
          <p:cNvSpPr/>
          <p:nvPr/>
        </p:nvSpPr>
        <p:spPr bwMode="auto">
          <a:xfrm>
            <a:off x="7286930" y="2141165"/>
            <a:ext cx="4246499" cy="446968"/>
          </a:xfrm>
          <a:prstGeom prst="borderCallout1">
            <a:avLst>
              <a:gd name="adj1" fmla="val 58484"/>
              <a:gd name="adj2" fmla="val -15"/>
              <a:gd name="adj3" fmla="val 100625"/>
              <a:gd name="adj4" fmla="val -27941"/>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Ορισμός </a:t>
            </a:r>
            <a:r>
              <a:rPr lang="el-GR" sz="2000" b="1">
                <a:solidFill>
                  <a:schemeClr val="lt1"/>
                </a:solidFill>
                <a:latin typeface="Tahoma" panose="020B0604030504040204" pitchFamily="34" charset="0"/>
              </a:rPr>
              <a:t>της συνάρτησης</a:t>
            </a:r>
            <a:endParaRPr lang="en-GB" sz="2000" b="1" dirty="0">
              <a:solidFill>
                <a:schemeClr val="lt1"/>
              </a:solidFill>
              <a:latin typeface="Tahoma" panose="020B0604030504040204" pitchFamily="34" charset="0"/>
            </a:endParaRPr>
          </a:p>
        </p:txBody>
      </p:sp>
      <p:sp>
        <p:nvSpPr>
          <p:cNvPr id="9" name="Callout: Line 8">
            <a:extLst>
              <a:ext uri="{FF2B5EF4-FFF2-40B4-BE49-F238E27FC236}">
                <a16:creationId xmlns:a16="http://schemas.microsoft.com/office/drawing/2014/main" id="{26807946-AAFD-ED13-CE3B-F868587F0434}"/>
              </a:ext>
            </a:extLst>
          </p:cNvPr>
          <p:cNvSpPr/>
          <p:nvPr/>
        </p:nvSpPr>
        <p:spPr bwMode="auto">
          <a:xfrm>
            <a:off x="140669" y="4387830"/>
            <a:ext cx="5493861" cy="507299"/>
          </a:xfrm>
          <a:prstGeom prst="borderCallout1">
            <a:avLst>
              <a:gd name="adj1" fmla="val 55492"/>
              <a:gd name="adj2" fmla="val 99686"/>
              <a:gd name="adj3" fmla="val 203301"/>
              <a:gd name="adj4" fmla="val 111838"/>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solidFill>
                  <a:schemeClr val="lt1"/>
                </a:solidFill>
                <a:latin typeface="Tahoma" panose="020B0604030504040204" pitchFamily="34" charset="0"/>
              </a:rPr>
              <a:t>Παράδειγμα χρήσης της  συνάρτησης</a:t>
            </a:r>
            <a:endParaRPr lang="en-GB" sz="2000" b="1" dirty="0">
              <a:solidFill>
                <a:schemeClr val="lt1"/>
              </a:solidFill>
              <a:latin typeface="Tahoma" panose="020B0604030504040204" pitchFamily="34" charset="0"/>
            </a:endParaRPr>
          </a:p>
        </p:txBody>
      </p:sp>
      <p:sp>
        <p:nvSpPr>
          <p:cNvPr id="12" name="Speech Bubble: Rectangle with Corners Rounded 11">
            <a:extLst>
              <a:ext uri="{FF2B5EF4-FFF2-40B4-BE49-F238E27FC236}">
                <a16:creationId xmlns:a16="http://schemas.microsoft.com/office/drawing/2014/main" id="{D14A508D-F17F-7159-22AB-0B8F644D26C2}"/>
              </a:ext>
            </a:extLst>
          </p:cNvPr>
          <p:cNvSpPr/>
          <p:nvPr/>
        </p:nvSpPr>
        <p:spPr bwMode="auto">
          <a:xfrm>
            <a:off x="6691770" y="2754509"/>
            <a:ext cx="5424983" cy="1363633"/>
          </a:xfrm>
          <a:prstGeom prst="wedgeRoundRectCallout">
            <a:avLst>
              <a:gd name="adj1" fmla="val -66160"/>
              <a:gd name="adj2" fmla="val 19392"/>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Δεν χρειάζεται τοπική μεταβλητή.</a:t>
            </a:r>
            <a:r>
              <a:rPr kumimoji="0" lang="en-GB" sz="20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Καλεί την </a:t>
            </a:r>
            <a:r>
              <a:rPr kumimoji="0" lang="en-GB" sz="2000" b="0" i="0" u="none" strike="noStrike" kern="0" cap="none" spc="0" normalizeH="0" baseline="0" noProof="0" dirty="0" err="1">
                <a:ln>
                  <a:noFill/>
                </a:ln>
                <a:solidFill>
                  <a:srgbClr val="000000"/>
                </a:solidFill>
                <a:effectLst/>
                <a:uLnTx/>
                <a:uFillTx/>
                <a:latin typeface="Tahoma" panose="020B0604030504040204" pitchFamily="34" charset="0"/>
              </a:rPr>
              <a:t>scanf</a:t>
            </a: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GB"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και της ζητάει να αποθηκεύσει τον ακέραιο που διαβάζει</a:t>
            </a:r>
            <a:r>
              <a:rPr kumimoji="0" lang="en-US"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στην  διεύθυνση που δείχνει ο </a:t>
            </a:r>
            <a:r>
              <a:rPr kumimoji="0" lang="en-GB" sz="2000" b="0" i="0" u="none" strike="noStrike" kern="0" cap="none" spc="0" normalizeH="0" baseline="0" noProof="0" dirty="0" err="1">
                <a:ln>
                  <a:noFill/>
                </a:ln>
                <a:solidFill>
                  <a:srgbClr val="000000"/>
                </a:solidFill>
                <a:effectLst/>
                <a:uLnTx/>
                <a:uFillTx/>
                <a:latin typeface="Tahoma" panose="020B0604030504040204" pitchFamily="34" charset="0"/>
              </a:rPr>
              <a:t>numPtr</a:t>
            </a:r>
            <a:r>
              <a:rPr kumimoji="0" lang="en-GB" sz="20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l-GR" sz="2000" b="0" i="0" u="none" strike="noStrike" kern="0" cap="none" spc="0" normalizeH="0" baseline="0" noProof="0" dirty="0">
                <a:ln>
                  <a:noFill/>
                </a:ln>
                <a:solidFill>
                  <a:srgbClr val="000000"/>
                </a:solidFill>
                <a:effectLst/>
                <a:uLnTx/>
                <a:uFillTx/>
                <a:latin typeface="Tahoma" panose="020B0604030504040204" pitchFamily="34" charset="0"/>
              </a:rPr>
              <a:t>.</a:t>
            </a:r>
            <a:endParaRPr kumimoji="0" lang="en-GB"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4" name="Speech Bubble: Rectangle with Corners Rounded 13">
            <a:extLst>
              <a:ext uri="{FF2B5EF4-FFF2-40B4-BE49-F238E27FC236}">
                <a16:creationId xmlns:a16="http://schemas.microsoft.com/office/drawing/2014/main" id="{3F464B8D-E9B9-111C-F9A8-260D62FA8DCC}"/>
              </a:ext>
            </a:extLst>
          </p:cNvPr>
          <p:cNvSpPr/>
          <p:nvPr/>
        </p:nvSpPr>
        <p:spPr bwMode="auto">
          <a:xfrm>
            <a:off x="140669" y="5126887"/>
            <a:ext cx="5256953" cy="1303389"/>
          </a:xfrm>
          <a:prstGeom prst="wedgeRoundRectCallout">
            <a:avLst>
              <a:gd name="adj1" fmla="val 73552"/>
              <a:gd name="adj2" fmla="val 31639"/>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b="0" i="0" u="none" strike="noStrike" kern="0" cap="none" spc="0" normalizeH="0" baseline="0" noProof="0" dirty="0">
                <a:ln>
                  <a:noFill/>
                </a:ln>
                <a:solidFill>
                  <a:srgbClr val="000000"/>
                </a:solidFill>
                <a:effectLst/>
                <a:uLnTx/>
                <a:uFillTx/>
                <a:latin typeface="Tahoma" panose="020B0604030504040204" pitchFamily="34" charset="0"/>
              </a:rPr>
              <a:t>Καλεί τη συνάρτηση και της περνάει ως όρισμα τον δείκτη στην </a:t>
            </a:r>
            <a:r>
              <a:rPr kumimoji="0" lang="en-GB" b="0" i="0" u="none" strike="noStrike" kern="0" cap="none" spc="0" normalizeH="0" baseline="0" noProof="0" dirty="0">
                <a:ln>
                  <a:noFill/>
                </a:ln>
                <a:solidFill>
                  <a:srgbClr val="000000"/>
                </a:solidFill>
                <a:effectLst/>
                <a:uLnTx/>
                <a:uFillTx/>
                <a:latin typeface="Tahoma" panose="020B0604030504040204" pitchFamily="34" charset="0"/>
              </a:rPr>
              <a:t>num1 (</a:t>
            </a:r>
            <a:r>
              <a:rPr kumimoji="0" lang="el-GR" b="0" i="0" u="none" strike="noStrike" kern="0" cap="none" spc="0" normalizeH="0" baseline="0" noProof="0" dirty="0">
                <a:ln>
                  <a:noFill/>
                </a:ln>
                <a:solidFill>
                  <a:srgbClr val="000000"/>
                </a:solidFill>
                <a:effectLst/>
                <a:uLnTx/>
                <a:uFillTx/>
                <a:latin typeface="Tahoma" panose="020B0604030504040204" pitchFamily="34" charset="0"/>
              </a:rPr>
              <a:t>πέρασμα </a:t>
            </a:r>
            <a:r>
              <a:rPr kumimoji="0" lang="en-GB" b="0" i="0" u="none" strike="noStrike" kern="0" cap="none" spc="0" normalizeH="0" baseline="0" noProof="0" dirty="0">
                <a:ln>
                  <a:noFill/>
                </a:ln>
                <a:solidFill>
                  <a:srgbClr val="000000"/>
                </a:solidFill>
                <a:effectLst/>
                <a:uLnTx/>
                <a:uFillTx/>
                <a:latin typeface="Tahoma" panose="020B0604030504040204" pitchFamily="34" charset="0"/>
              </a:rPr>
              <a:t>by reference) </a:t>
            </a:r>
            <a:r>
              <a:rPr kumimoji="0" lang="el-GR" b="0" i="0" u="none" strike="noStrike" kern="0" cap="none" spc="0" normalizeH="0" baseline="0" noProof="0" dirty="0">
                <a:ln>
                  <a:noFill/>
                </a:ln>
                <a:solidFill>
                  <a:srgbClr val="000000"/>
                </a:solidFill>
                <a:effectLst/>
                <a:uLnTx/>
                <a:uFillTx/>
                <a:latin typeface="Tahoma" panose="020B0604030504040204" pitchFamily="34" charset="0"/>
              </a:rPr>
              <a:t>ώστε εκεί να βάλει η </a:t>
            </a:r>
            <a:r>
              <a:rPr kumimoji="0" lang="en-GB" b="0" i="0" u="none" strike="noStrike" kern="0" cap="none" spc="0" normalizeH="0" baseline="0" noProof="0" dirty="0" err="1">
                <a:ln>
                  <a:noFill/>
                </a:ln>
                <a:solidFill>
                  <a:srgbClr val="000000"/>
                </a:solidFill>
                <a:effectLst/>
                <a:uLnTx/>
                <a:uFillTx/>
                <a:latin typeface="Tahoma" panose="020B0604030504040204" pitchFamily="34" charset="0"/>
              </a:rPr>
              <a:t>scanf</a:t>
            </a:r>
            <a:r>
              <a:rPr kumimoji="0" lang="en-GB" b="0" i="0" u="none" strike="noStrike" kern="0" cap="none" spc="0" normalizeH="0" baseline="0" noProof="0" dirty="0">
                <a:ln>
                  <a:noFill/>
                </a:ln>
                <a:solidFill>
                  <a:srgbClr val="000000"/>
                </a:solidFill>
                <a:effectLst/>
                <a:uLnTx/>
                <a:uFillTx/>
                <a:latin typeface="Tahoma" panose="020B0604030504040204" pitchFamily="34" charset="0"/>
              </a:rPr>
              <a:t> </a:t>
            </a:r>
            <a:r>
              <a:rPr kumimoji="0" lang="el-GR" b="0" i="0" u="none" strike="noStrike" kern="0" cap="none" spc="0" normalizeH="0" baseline="0" noProof="0" dirty="0">
                <a:ln>
                  <a:noFill/>
                </a:ln>
                <a:solidFill>
                  <a:srgbClr val="000000"/>
                </a:solidFill>
                <a:effectLst/>
                <a:uLnTx/>
                <a:uFillTx/>
                <a:latin typeface="Tahoma" panose="020B0604030504040204" pitchFamily="34" charset="0"/>
              </a:rPr>
              <a:t>τον ακέραιο που διαβάζει από την </a:t>
            </a:r>
            <a:r>
              <a:rPr kumimoji="0" lang="en-GB" b="0" i="0" u="none" strike="noStrike" kern="0" cap="none" spc="0" normalizeH="0" baseline="0" noProof="0" dirty="0">
                <a:ln>
                  <a:noFill/>
                </a:ln>
                <a:solidFill>
                  <a:srgbClr val="000000"/>
                </a:solidFill>
                <a:effectLst/>
                <a:uLnTx/>
                <a:uFillTx/>
                <a:latin typeface="Tahoma" panose="020B0604030504040204" pitchFamily="34" charset="0"/>
              </a:rPr>
              <a:t>stdin</a:t>
            </a:r>
            <a:r>
              <a:rPr kumimoji="0" lang="el-GR" b="0" i="0" u="none" strike="noStrike" kern="0" cap="none" spc="0" normalizeH="0" baseline="0" noProof="0" dirty="0">
                <a:ln>
                  <a:noFill/>
                </a:ln>
                <a:solidFill>
                  <a:srgbClr val="000000"/>
                </a:solidFill>
                <a:effectLst/>
                <a:uLnTx/>
                <a:uFillTx/>
                <a:latin typeface="Tahoma" panose="020B0604030504040204" pitchFamily="34" charset="0"/>
              </a:rPr>
              <a:t>.</a:t>
            </a:r>
            <a:r>
              <a:rPr kumimoji="0" lang="en-GB"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5" name="Callout: Line 14">
            <a:extLst>
              <a:ext uri="{FF2B5EF4-FFF2-40B4-BE49-F238E27FC236}">
                <a16:creationId xmlns:a16="http://schemas.microsoft.com/office/drawing/2014/main" id="{8BC6282A-52BA-5018-669E-FF83FFC59839}"/>
              </a:ext>
            </a:extLst>
          </p:cNvPr>
          <p:cNvSpPr/>
          <p:nvPr/>
        </p:nvSpPr>
        <p:spPr bwMode="auto">
          <a:xfrm>
            <a:off x="140669" y="1671516"/>
            <a:ext cx="5493861" cy="446968"/>
          </a:xfrm>
          <a:prstGeom prst="borderCallout1">
            <a:avLst>
              <a:gd name="adj1" fmla="val -1479"/>
              <a:gd name="adj2" fmla="val 46676"/>
              <a:gd name="adj3" fmla="val -79262"/>
              <a:gd name="adj4" fmla="val 74034"/>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folHlink"/>
              </a:buClr>
              <a:buSzPct val="60000"/>
            </a:pPr>
            <a:r>
              <a:rPr lang="el-GR" sz="2000" b="1" dirty="0">
                <a:latin typeface="Tahoma" panose="020B0604030504040204" pitchFamily="34" charset="0"/>
              </a:rPr>
              <a:t>Δέχεται ως όρισμα δείκτη σε ακέραιο</a:t>
            </a:r>
            <a:endParaRPr lang="en-GB" sz="2000" b="1" dirty="0">
              <a:solidFill>
                <a:schemeClr val="lt1"/>
              </a:solidFill>
              <a:latin typeface="Tahoma" panose="020B0604030504040204" pitchFamily="34" charset="0"/>
            </a:endParaRPr>
          </a:p>
        </p:txBody>
      </p:sp>
    </p:spTree>
    <p:extLst>
      <p:ext uri="{BB962C8B-B14F-4D97-AF65-F5344CB8AC3E}">
        <p14:creationId xmlns:p14="http://schemas.microsoft.com/office/powerpoint/2010/main" val="20771280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E846-31E0-1165-7AA3-8227D727F45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70269E5-9668-4531-E477-A4D3BADE8F7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2590C27D-9B22-521C-9BA9-945DB5EA198E}"/>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readInt</a:t>
            </a:r>
            <a:r>
              <a:rPr lang="en-GB"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Υπέρ – Κατά)</a:t>
            </a:r>
          </a:p>
        </p:txBody>
      </p:sp>
      <p:sp>
        <p:nvSpPr>
          <p:cNvPr id="8" name="Θέση υποσέλιδου 4">
            <a:extLst>
              <a:ext uri="{FF2B5EF4-FFF2-40B4-BE49-F238E27FC236}">
                <a16:creationId xmlns:a16="http://schemas.microsoft.com/office/drawing/2014/main" id="{0474C934-C7A3-68F2-CB1E-5A09533DC96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93DABB54-E43F-CBE7-C189-964CCB22CE3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7DEB3F1-4979-F7E1-0E42-3A76067C6EF6}"/>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40774CB6-EEDC-EA2F-FC05-8F2B32930EA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Content Placeholder 2">
            <a:extLst>
              <a:ext uri="{FF2B5EF4-FFF2-40B4-BE49-F238E27FC236}">
                <a16:creationId xmlns:a16="http://schemas.microsoft.com/office/drawing/2014/main" id="{DCEE110E-9295-8961-0CA5-D0775F9C877C}"/>
              </a:ext>
            </a:extLst>
          </p:cNvPr>
          <p:cNvSpPr txBox="1">
            <a:spLocks/>
          </p:cNvSpPr>
          <p:nvPr/>
        </p:nvSpPr>
        <p:spPr bwMode="auto">
          <a:xfrm>
            <a:off x="1" y="1001899"/>
            <a:ext cx="12191999" cy="3380915"/>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002060"/>
              </a:buClr>
              <a:defRPr/>
            </a:pPr>
            <a:r>
              <a:rPr kumimoji="0" lang="en-GB" sz="2800" b="0" i="0" u="none" strike="noStrike" kern="0" cap="none" spc="0" normalizeH="0" baseline="0" noProof="0" dirty="0">
                <a:ln>
                  <a:noFill/>
                </a:ln>
                <a:solidFill>
                  <a:srgbClr val="000000"/>
                </a:solidFill>
                <a:effectLst/>
                <a:uLnTx/>
                <a:uFillTx/>
                <a:latin typeface="Tahoma"/>
                <a:ea typeface="+mn-ea"/>
                <a:cs typeface="+mn-cs"/>
              </a:rPr>
              <a:t>H </a:t>
            </a:r>
            <a:r>
              <a:rPr kumimoji="0" lang="el-GR" sz="2800" b="0" i="0" u="none" strike="noStrike" kern="0" cap="none" spc="0" normalizeH="0" baseline="0" noProof="0" dirty="0">
                <a:ln>
                  <a:noFill/>
                </a:ln>
                <a:solidFill>
                  <a:srgbClr val="000000"/>
                </a:solidFill>
                <a:effectLst/>
                <a:uLnTx/>
                <a:uFillTx/>
                <a:latin typeface="Tahoma"/>
                <a:ea typeface="+mn-ea"/>
                <a:cs typeface="+mn-cs"/>
              </a:rPr>
              <a:t>έκδοση με την επιστρεφόμενη τιμή είναι καλύτερη γιατί μας επιτρέπει να την χρησιμοποιούμε σε εκφράσεις, όπως π.χ.</a:t>
            </a:r>
          </a:p>
          <a:p>
            <a:pPr lvl="1">
              <a:buClr>
                <a:srgbClr val="002060"/>
              </a:buClr>
              <a:defRPr/>
            </a:pPr>
            <a:r>
              <a:rPr kumimoji="0" lang="en-GB" b="0" i="0" u="none" strike="noStrike" kern="0" cap="none" spc="0" normalizeH="0" baseline="0" noProof="0" dirty="0">
                <a:ln>
                  <a:noFill/>
                </a:ln>
                <a:solidFill>
                  <a:srgbClr val="000000"/>
                </a:solidFill>
                <a:effectLst/>
                <a:uLnTx/>
                <a:uFillTx/>
                <a:latin typeface="Tahoma"/>
              </a:rPr>
              <a:t>if(</a:t>
            </a:r>
            <a:r>
              <a:rPr kumimoji="0" lang="en-GB" b="0" i="0" u="none" strike="noStrike" kern="0" cap="none" spc="0" normalizeH="0" baseline="0" noProof="0" dirty="0" err="1">
                <a:ln>
                  <a:noFill/>
                </a:ln>
                <a:solidFill>
                  <a:srgbClr val="000000"/>
                </a:solidFill>
                <a:effectLst/>
                <a:uLnTx/>
                <a:uFillTx/>
                <a:latin typeface="Tahoma"/>
              </a:rPr>
              <a:t>readInt</a:t>
            </a:r>
            <a:r>
              <a:rPr kumimoji="0" lang="en-GB" b="0" i="0" u="none" strike="noStrike" kern="0" cap="none" spc="0" normalizeH="0" baseline="0" noProof="0" dirty="0">
                <a:ln>
                  <a:noFill/>
                </a:ln>
                <a:solidFill>
                  <a:srgbClr val="000000"/>
                </a:solidFill>
                <a:effectLst/>
                <a:uLnTx/>
                <a:uFillTx/>
                <a:latin typeface="Tahoma"/>
              </a:rPr>
              <a:t>()!=0) </a:t>
            </a:r>
          </a:p>
          <a:p>
            <a:pPr lvl="1">
              <a:buClr>
                <a:srgbClr val="002060"/>
              </a:buClr>
              <a:defRPr/>
            </a:pPr>
            <a:r>
              <a:rPr kumimoji="0" lang="en-GB" b="0" i="0" u="none" strike="noStrike" kern="0" cap="none" spc="0" normalizeH="0" baseline="0" noProof="0" dirty="0" err="1">
                <a:ln>
                  <a:noFill/>
                </a:ln>
                <a:solidFill>
                  <a:srgbClr val="000000"/>
                </a:solidFill>
                <a:effectLst/>
                <a:uLnTx/>
                <a:uFillTx/>
                <a:latin typeface="Tahoma"/>
              </a:rPr>
              <a:t>printf</a:t>
            </a:r>
            <a:r>
              <a:rPr kumimoji="0" lang="en-GB" b="0" i="0" u="none" strike="noStrike" kern="0" cap="none" spc="0" normalizeH="0" baseline="0" noProof="0" dirty="0">
                <a:ln>
                  <a:noFill/>
                </a:ln>
                <a:solidFill>
                  <a:srgbClr val="000000"/>
                </a:solidFill>
                <a:effectLst/>
                <a:uLnTx/>
                <a:uFillTx/>
                <a:latin typeface="Tahoma"/>
              </a:rPr>
              <a:t>(“%d\n”,</a:t>
            </a:r>
            <a:r>
              <a:rPr kumimoji="0" lang="en-GB" b="0" i="0" u="none" strike="noStrike" kern="0" cap="none" spc="0" normalizeH="0" baseline="0" noProof="0" dirty="0" err="1">
                <a:ln>
                  <a:noFill/>
                </a:ln>
                <a:solidFill>
                  <a:srgbClr val="000000"/>
                </a:solidFill>
                <a:effectLst/>
                <a:uLnTx/>
                <a:uFillTx/>
                <a:latin typeface="Tahoma"/>
              </a:rPr>
              <a:t>readInt</a:t>
            </a:r>
            <a:r>
              <a:rPr kumimoji="0" lang="en-GB" b="0" i="0" u="none" strike="noStrike" kern="0" cap="none" spc="0" normalizeH="0" baseline="0" noProof="0" dirty="0">
                <a:ln>
                  <a:noFill/>
                </a:ln>
                <a:solidFill>
                  <a:srgbClr val="000000"/>
                </a:solidFill>
                <a:effectLst/>
                <a:uLnTx/>
                <a:uFillTx/>
                <a:latin typeface="Tahoma"/>
              </a:rPr>
              <a:t>());</a:t>
            </a:r>
            <a:r>
              <a:rPr kumimoji="0" lang="el-GR" b="0" i="0" u="none" strike="noStrike" kern="0" cap="none" spc="0" normalizeH="0" baseline="0" noProof="0" dirty="0">
                <a:ln>
                  <a:noFill/>
                </a:ln>
                <a:solidFill>
                  <a:srgbClr val="000000"/>
                </a:solidFill>
                <a:effectLst/>
                <a:uLnTx/>
                <a:uFillTx/>
                <a:latin typeface="Tahoma"/>
              </a:rPr>
              <a:t> </a:t>
            </a:r>
            <a:endParaRPr kumimoji="0" lang="en-GB" b="0" i="0" u="none" strike="noStrike" kern="0" cap="none" spc="0" normalizeH="0" baseline="0" noProof="0" dirty="0">
              <a:ln>
                <a:noFill/>
              </a:ln>
              <a:solidFill>
                <a:srgbClr val="000000"/>
              </a:solidFill>
              <a:effectLst/>
              <a:uLnTx/>
              <a:uFillTx/>
              <a:latin typeface="Tahoma"/>
            </a:endParaRPr>
          </a:p>
          <a:p>
            <a:pPr>
              <a:buClr>
                <a:srgbClr val="002060"/>
              </a:buClr>
              <a:defRPr/>
            </a:pPr>
            <a:r>
              <a:rPr kumimoji="0" lang="en-GB" sz="2800" b="0" i="0" u="none" strike="noStrike" kern="0" cap="none" spc="0" normalizeH="0" baseline="0" noProof="0" dirty="0">
                <a:ln>
                  <a:noFill/>
                </a:ln>
                <a:solidFill>
                  <a:srgbClr val="000000"/>
                </a:solidFill>
                <a:effectLst/>
                <a:uLnTx/>
                <a:uFillTx/>
                <a:latin typeface="Tahoma"/>
                <a:ea typeface="+mn-ea"/>
                <a:cs typeface="+mn-cs"/>
              </a:rPr>
              <a:t>H </a:t>
            </a:r>
            <a:r>
              <a:rPr kumimoji="0" lang="el-GR" sz="2800" b="0" i="0" u="none" strike="noStrike" kern="0" cap="none" spc="0" normalizeH="0" baseline="0" noProof="0" dirty="0">
                <a:ln>
                  <a:noFill/>
                </a:ln>
                <a:solidFill>
                  <a:srgbClr val="000000"/>
                </a:solidFill>
                <a:effectLst/>
                <a:uLnTx/>
                <a:uFillTx/>
                <a:latin typeface="Tahoma"/>
                <a:ea typeface="+mn-ea"/>
                <a:cs typeface="+mn-cs"/>
              </a:rPr>
              <a:t>έκδοση χωρίς επιστρεφόμενη τιμή μας δίνει τη δυνατότητα να ορίσουμε τη συνάρτηση να διαβάζει περισσότερους ακέραιους, όπως π.χ. </a:t>
            </a:r>
          </a:p>
          <a:p>
            <a:pPr lvl="1">
              <a:buClr>
                <a:srgbClr val="002060"/>
              </a:buClr>
              <a:defRPr/>
            </a:pPr>
            <a:r>
              <a:rPr kumimoji="0" lang="en-GB" b="0" i="0" u="none" strike="noStrike" kern="0" cap="none" spc="0" normalizeH="0" baseline="0" noProof="0" dirty="0">
                <a:ln>
                  <a:noFill/>
                </a:ln>
                <a:solidFill>
                  <a:srgbClr val="000000"/>
                </a:solidFill>
                <a:effectLst/>
                <a:uLnTx/>
                <a:uFillTx/>
                <a:latin typeface="Tahoma"/>
              </a:rPr>
              <a:t>void </a:t>
            </a:r>
            <a:r>
              <a:rPr kumimoji="0" lang="en-GB" b="1" i="0" u="none" strike="noStrike" kern="0" cap="none" spc="0" normalizeH="0" baseline="0" noProof="0" dirty="0" err="1">
                <a:ln>
                  <a:noFill/>
                </a:ln>
                <a:solidFill>
                  <a:srgbClr val="C00000"/>
                </a:solidFill>
                <a:effectLst/>
                <a:uLnTx/>
                <a:uFillTx/>
                <a:latin typeface="Tahoma"/>
              </a:rPr>
              <a:t>readInt</a:t>
            </a:r>
            <a:r>
              <a:rPr lang="en-US" b="1" kern="0" dirty="0">
                <a:solidFill>
                  <a:srgbClr val="C00000"/>
                </a:solidFill>
                <a:latin typeface="Tahoma"/>
              </a:rPr>
              <a:t>V3</a:t>
            </a:r>
            <a:r>
              <a:rPr kumimoji="0" lang="en-GB" b="0" i="0" u="none" strike="noStrike" kern="0" cap="none" spc="0" normalizeH="0" baseline="0" noProof="0" dirty="0">
                <a:ln>
                  <a:noFill/>
                </a:ln>
                <a:solidFill>
                  <a:srgbClr val="000000"/>
                </a:solidFill>
                <a:effectLst/>
                <a:uLnTx/>
                <a:uFillTx/>
                <a:latin typeface="Tahoma"/>
              </a:rPr>
              <a:t>(int *num1Ptr, int *num2Ptr);</a:t>
            </a:r>
            <a:endParaRPr kumimoji="0" lang="el-GR" b="0" i="0" u="none" strike="noStrike" kern="0" cap="none" spc="0" normalizeH="0" baseline="0" noProof="0" dirty="0">
              <a:ln>
                <a:noFill/>
              </a:ln>
              <a:solidFill>
                <a:srgbClr val="000000"/>
              </a:solidFill>
              <a:effectLst/>
              <a:uLnTx/>
              <a:uFillTx/>
              <a:latin typeface="Tahoma"/>
            </a:endParaRPr>
          </a:p>
        </p:txBody>
      </p:sp>
      <p:sp>
        <p:nvSpPr>
          <p:cNvPr id="7" name="Speech Bubble: Rectangle with Corners Rounded 6">
            <a:extLst>
              <a:ext uri="{FF2B5EF4-FFF2-40B4-BE49-F238E27FC236}">
                <a16:creationId xmlns:a16="http://schemas.microsoft.com/office/drawing/2014/main" id="{0C9D889A-8D15-E0B6-8F54-D90E6056B609}"/>
              </a:ext>
            </a:extLst>
          </p:cNvPr>
          <p:cNvSpPr/>
          <p:nvPr/>
        </p:nvSpPr>
        <p:spPr bwMode="auto">
          <a:xfrm>
            <a:off x="61735" y="5067483"/>
            <a:ext cx="11989596" cy="1008112"/>
          </a:xfrm>
          <a:prstGeom prst="wedgeRoundRectCallout">
            <a:avLst>
              <a:gd name="adj1" fmla="val -46429"/>
              <a:gd name="adj2" fmla="val 83630"/>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eaLnBrk="0" fontAlgn="base" hangingPunct="0">
              <a:spcBef>
                <a:spcPct val="0"/>
              </a:spcBef>
              <a:spcAft>
                <a:spcPct val="0"/>
              </a:spcAft>
              <a:defRPr/>
            </a:pPr>
            <a:r>
              <a:rPr lang="el-GR" sz="2000" kern="0" dirty="0">
                <a:solidFill>
                  <a:srgbClr val="000000"/>
                </a:solidFill>
                <a:latin typeface="Tahoma" panose="020B0604030504040204" pitchFamily="34" charset="0"/>
              </a:rPr>
              <a:t>Για να χρησιμοποιηθεί η </a:t>
            </a:r>
            <a:r>
              <a:rPr lang="en-GB" sz="2000" kern="0" dirty="0">
                <a:solidFill>
                  <a:srgbClr val="000000"/>
                </a:solidFill>
                <a:latin typeface="Tahoma" panose="020B0604030504040204" pitchFamily="34" charset="0"/>
              </a:rPr>
              <a:t>readIntV3 </a:t>
            </a:r>
            <a:r>
              <a:rPr lang="el-GR" sz="2000" kern="0" dirty="0">
                <a:solidFill>
                  <a:srgbClr val="000000"/>
                </a:solidFill>
                <a:latin typeface="Tahoma" panose="020B0604030504040204" pitchFamily="34" charset="0"/>
              </a:rPr>
              <a:t>θα πρέπει να έχουν δηλωθεί δύο ακέραιες μεταβλητές και να κληθεί η </a:t>
            </a:r>
            <a:r>
              <a:rPr lang="en-GB" sz="2000" kern="0" dirty="0">
                <a:solidFill>
                  <a:srgbClr val="000000"/>
                </a:solidFill>
                <a:latin typeface="Tahoma" panose="020B0604030504040204" pitchFamily="34" charset="0"/>
              </a:rPr>
              <a:t>readIntV3 </a:t>
            </a:r>
            <a:r>
              <a:rPr lang="el-GR" sz="2000" kern="0" dirty="0">
                <a:solidFill>
                  <a:srgbClr val="000000"/>
                </a:solidFill>
                <a:latin typeface="Tahoma" panose="020B0604030504040204" pitchFamily="34" charset="0"/>
              </a:rPr>
              <a:t>περνώντας της τις διευθύνσεις των μεταβλητών αυτών (πέρασμα ορισμάτων </a:t>
            </a:r>
            <a:r>
              <a:rPr lang="en-GB" sz="2000" kern="0" dirty="0">
                <a:solidFill>
                  <a:srgbClr val="000000"/>
                </a:solidFill>
                <a:latin typeface="Tahoma" panose="020B0604030504040204" pitchFamily="34" charset="0"/>
              </a:rPr>
              <a:t>by reference- </a:t>
            </a:r>
            <a:r>
              <a:rPr lang="el-GR" sz="2000" kern="0" dirty="0">
                <a:solidFill>
                  <a:srgbClr val="000000"/>
                </a:solidFill>
                <a:latin typeface="Tahoma" panose="020B0604030504040204" pitchFamily="34" charset="0"/>
              </a:rPr>
              <a:t>κατά αναφορά).</a:t>
            </a:r>
          </a:p>
        </p:txBody>
      </p:sp>
    </p:spTree>
    <p:extLst>
      <p:ext uri="{BB962C8B-B14F-4D97-AF65-F5344CB8AC3E}">
        <p14:creationId xmlns:p14="http://schemas.microsoft.com/office/powerpoint/2010/main" val="38700706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D94F-1C26-E773-FC35-6118A35C8D7B}"/>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B8DC3317-176E-54A1-3FA0-B5FEB16DDD9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3925CB73-2C71-F6CE-2971-FF69A6C09B7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Πέρασμα Ορισμάτων</a:t>
            </a:r>
          </a:p>
        </p:txBody>
      </p:sp>
      <p:sp>
        <p:nvSpPr>
          <p:cNvPr id="8" name="Θέση υποσέλιδου 4">
            <a:extLst>
              <a:ext uri="{FF2B5EF4-FFF2-40B4-BE49-F238E27FC236}">
                <a16:creationId xmlns:a16="http://schemas.microsoft.com/office/drawing/2014/main" id="{CA1CC22D-CE63-58D9-2C4F-2DCC936594B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A77A826-B792-D657-948B-891F8E17BF3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74CEE89-69DB-07C9-D93E-519A2D406AA5}"/>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24A05E6E-9667-46D6-4305-1275D073CAB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9" name="Rectangle 3">
            <a:extLst>
              <a:ext uri="{FF2B5EF4-FFF2-40B4-BE49-F238E27FC236}">
                <a16:creationId xmlns:a16="http://schemas.microsoft.com/office/drawing/2014/main" id="{750B932E-C172-1ABF-76B4-61F45CF7762B}"/>
              </a:ext>
            </a:extLst>
          </p:cNvPr>
          <p:cNvSpPr txBox="1">
            <a:spLocks noChangeArrowheads="1"/>
          </p:cNvSpPr>
          <p:nvPr/>
        </p:nvSpPr>
        <p:spPr bwMode="auto">
          <a:xfrm>
            <a:off x="140669" y="1071818"/>
            <a:ext cx="11712350" cy="5488089"/>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Κλήση κατά αξία </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by value</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	</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τα πραγματικά ορίσματα αποδίδουν τιμές στα τυπικά ορίσματα. Έτσι </a:t>
            </a:r>
            <a:r>
              <a:rPr kumimoji="0" lang="el-GR" altLang="el-GR" sz="2600" b="1" i="0" u="none" strike="noStrike" kern="0" cap="none" spc="0" normalizeH="0" baseline="0" noProof="0" dirty="0">
                <a:ln>
                  <a:noFill/>
                </a:ln>
                <a:solidFill>
                  <a:srgbClr val="000000"/>
                </a:solidFill>
                <a:effectLst/>
                <a:uLnTx/>
                <a:uFillTx/>
                <a:latin typeface="Times New Roman" panose="02020603050405020304" pitchFamily="18" charset="0"/>
              </a:rPr>
              <a:t>η συνάρτηση δουλεύει πάνω σε αντίγραφα</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 των πραγματικών ορισμάτων.</a:t>
            </a: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endParaRPr kumimoji="0" lang="en-US"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mn-cs"/>
              </a:rPr>
              <a:t>Κλήση κατά αναφορά </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GB"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by reference</a:t>
            </a:r>
            <a:r>
              <a:rPr kumimoji="0" lang="el-GR" altLang="el-GR" sz="3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p>
          <a:p>
            <a:pPr marL="742950" marR="0" lvl="1" indent="-285750" algn="l" defTabSz="914400" rtl="0" eaLnBrk="1" fontAlgn="base" latinLnBrk="0" hangingPunct="1">
              <a:lnSpc>
                <a:spcPct val="90000"/>
              </a:lnSpc>
              <a:spcBef>
                <a:spcPct val="20000"/>
              </a:spcBef>
              <a:spcAft>
                <a:spcPct val="0"/>
              </a:spcAft>
              <a:buClr>
                <a:srgbClr val="FF0000"/>
              </a:buClr>
              <a:buSzPct val="55000"/>
              <a:buFont typeface="Wingdings" panose="05000000000000000000" pitchFamily="2" charset="2"/>
              <a:buNone/>
              <a:tabLst/>
              <a:defRPr/>
            </a:pPr>
            <a:r>
              <a:rPr kumimoji="0" lang="el-GR" altLang="el-GR" sz="2800" b="0" i="0" u="none" strike="noStrike" kern="0" cap="none" spc="0" normalizeH="0" baseline="0" noProof="0" dirty="0">
                <a:ln>
                  <a:noFill/>
                </a:ln>
                <a:solidFill>
                  <a:srgbClr val="000000"/>
                </a:solidFill>
                <a:effectLst/>
                <a:uLnTx/>
                <a:uFillTx/>
                <a:latin typeface="Times New Roman" panose="02020603050405020304" pitchFamily="18" charset="0"/>
              </a:rPr>
              <a:t>	</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στην ουσία είναι κλήση κατά αξία</a:t>
            </a:r>
            <a:r>
              <a:rPr kumimoji="0" lang="en-GB" altLang="el-GR" sz="2600" b="0" i="0" u="none" strike="noStrike" kern="0" cap="none" spc="0" normalizeH="0" baseline="0" noProof="0" dirty="0">
                <a:ln>
                  <a:noFill/>
                </a:ln>
                <a:solidFill>
                  <a:srgbClr val="000000"/>
                </a:solidFill>
                <a:effectLst/>
                <a:uLnTx/>
                <a:uFillTx/>
                <a:latin typeface="Times New Roman" panose="02020603050405020304" pitchFamily="18" charset="0"/>
              </a:rPr>
              <a:t>,</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 αλλά καθώς περνάνε δείκτες, επιτυγχάνεται το αποτέλεσμα της κλήσης κατά αναφορά. </a:t>
            </a:r>
            <a:r>
              <a:rPr kumimoji="0" lang="el-GR" altLang="el-GR" sz="2600" b="1" i="0" u="none" strike="noStrike" kern="0" cap="none" spc="0" normalizeH="0" baseline="0" noProof="0" dirty="0">
                <a:ln>
                  <a:noFill/>
                </a:ln>
                <a:solidFill>
                  <a:srgbClr val="000000"/>
                </a:solidFill>
                <a:effectLst/>
                <a:uLnTx/>
                <a:uFillTx/>
                <a:latin typeface="Times New Roman" panose="02020603050405020304" pitchFamily="18" charset="0"/>
              </a:rPr>
              <a:t>Η συνάρτηση </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χρησιμοποιώντας τους δείκτες </a:t>
            </a:r>
            <a:r>
              <a:rPr kumimoji="0" lang="el-GR" altLang="el-GR" sz="2600" b="1" i="0" u="none" strike="noStrike" kern="0" cap="none" spc="0" normalizeH="0" baseline="0" noProof="0" dirty="0">
                <a:ln>
                  <a:noFill/>
                </a:ln>
                <a:solidFill>
                  <a:srgbClr val="000000"/>
                </a:solidFill>
                <a:effectLst/>
                <a:uLnTx/>
                <a:uFillTx/>
                <a:latin typeface="Times New Roman" panose="02020603050405020304" pitchFamily="18" charset="0"/>
              </a:rPr>
              <a:t>έχει πρόσβαση στα πραγματικά ορίσματα</a:t>
            </a:r>
            <a:r>
              <a:rPr kumimoji="0" lang="el-GR" altLang="el-GR" sz="2600" b="0" i="0" u="none" strike="noStrike" kern="0" cap="none" spc="0" normalizeH="0" baseline="0" noProof="0" dirty="0">
                <a:ln>
                  <a:noFill/>
                </a:ln>
                <a:solidFill>
                  <a:srgbClr val="000000"/>
                </a:solidFill>
                <a:effectLst/>
                <a:uLnTx/>
                <a:uFillTx/>
                <a:latin typeface="Times New Roman" panose="02020603050405020304" pitchFamily="18" charset="0"/>
              </a:rPr>
              <a:t>. </a:t>
            </a:r>
          </a:p>
        </p:txBody>
      </p:sp>
      <p:sp>
        <p:nvSpPr>
          <p:cNvPr id="7" name="Speech Bubble: Rectangle with Corners Rounded 6">
            <a:extLst>
              <a:ext uri="{FF2B5EF4-FFF2-40B4-BE49-F238E27FC236}">
                <a16:creationId xmlns:a16="http://schemas.microsoft.com/office/drawing/2014/main" id="{E6AF6554-55BE-59F0-C384-95F2D0420CF4}"/>
              </a:ext>
            </a:extLst>
          </p:cNvPr>
          <p:cNvSpPr/>
          <p:nvPr/>
        </p:nvSpPr>
        <p:spPr>
          <a:xfrm>
            <a:off x="7430252" y="2885644"/>
            <a:ext cx="4971393" cy="803597"/>
          </a:xfrm>
          <a:prstGeom prst="wedgeRoundRectCallout">
            <a:avLst>
              <a:gd name="adj1" fmla="val -49691"/>
              <a:gd name="adj2" fmla="val 92521"/>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defRPr/>
            </a:pPr>
            <a:r>
              <a:rPr lang="el-GR" sz="2400" b="1" kern="0" dirty="0">
                <a:solidFill>
                  <a:schemeClr val="bg1"/>
                </a:solidFill>
                <a:latin typeface="Tahoma" panose="020B0604030504040204" pitchFamily="34" charset="0"/>
              </a:rPr>
              <a:t>Οι πίνακες περνάνε πάντα </a:t>
            </a:r>
          </a:p>
          <a:p>
            <a:pPr lvl="0" algn="ctr" fontAlgn="base">
              <a:spcBef>
                <a:spcPct val="0"/>
              </a:spcBef>
              <a:spcAft>
                <a:spcPct val="0"/>
              </a:spcAft>
              <a:defRPr/>
            </a:pPr>
            <a:r>
              <a:rPr lang="el-GR" sz="2400" b="1" kern="0" dirty="0">
                <a:solidFill>
                  <a:schemeClr val="bg1"/>
                </a:solidFill>
                <a:latin typeface="Tahoma" panose="020B0604030504040204" pitchFamily="34" charset="0"/>
              </a:rPr>
              <a:t>κατά αναφορά</a:t>
            </a:r>
            <a:endParaRPr lang="en-GB" sz="2400" b="1" kern="0" dirty="0">
              <a:solidFill>
                <a:schemeClr val="bg1"/>
              </a:solidFill>
              <a:latin typeface="Tahoma" pitchFamily="34" charset="0"/>
            </a:endParaRPr>
          </a:p>
        </p:txBody>
      </p:sp>
      <p:sp>
        <p:nvSpPr>
          <p:cNvPr id="12" name="TextBox 11">
            <a:extLst>
              <a:ext uri="{FF2B5EF4-FFF2-40B4-BE49-F238E27FC236}">
                <a16:creationId xmlns:a16="http://schemas.microsoft.com/office/drawing/2014/main" id="{3AA83186-B142-FF27-52C2-0BF8CCB9EC6E}"/>
              </a:ext>
            </a:extLst>
          </p:cNvPr>
          <p:cNvSpPr txBox="1"/>
          <p:nvPr/>
        </p:nvSpPr>
        <p:spPr>
          <a:xfrm>
            <a:off x="689633" y="2715726"/>
            <a:ext cx="5843902" cy="584775"/>
          </a:xfrm>
          <a:prstGeom prst="rect">
            <a:avLst/>
          </a:prstGeom>
          <a:solidFill>
            <a:schemeClr val="accent1">
              <a:lumMod val="60000"/>
              <a:lumOff val="40000"/>
            </a:schemeClr>
          </a:solidFill>
        </p:spPr>
        <p:txBody>
          <a:bodyPr wrap="square" rtlCol="0">
            <a:spAutoFit/>
          </a:bodyPr>
          <a:lstStyle/>
          <a:p>
            <a:r>
              <a:rPr lang="el-GR" altLang="el-GR" sz="3200" b="1" kern="0" dirty="0" err="1">
                <a:solidFill>
                  <a:srgbClr val="3333CC"/>
                </a:solidFill>
                <a:latin typeface="Courier New" panose="02070309020205020404" pitchFamily="49" charset="0"/>
              </a:rPr>
              <a:t>int</a:t>
            </a:r>
            <a:r>
              <a:rPr lang="el-GR" altLang="el-GR" sz="3200" b="1" kern="0" dirty="0">
                <a:solidFill>
                  <a:srgbClr val="3333CC"/>
                </a:solidFill>
                <a:latin typeface="Courier New" panose="02070309020205020404" pitchFamily="49" charset="0"/>
              </a:rPr>
              <a:t> </a:t>
            </a:r>
            <a:r>
              <a:rPr lang="el-GR" altLang="el-GR" sz="3200" b="1" kern="0" dirty="0" err="1">
                <a:solidFill>
                  <a:srgbClr val="3333CC"/>
                </a:solidFill>
                <a:latin typeface="Courier New" panose="02070309020205020404" pitchFamily="49" charset="0"/>
              </a:rPr>
              <a:t>max</a:t>
            </a:r>
            <a:r>
              <a:rPr lang="el-GR" altLang="el-GR" sz="3200" b="1" kern="0" dirty="0">
                <a:solidFill>
                  <a:srgbClr val="3333CC"/>
                </a:solidFill>
                <a:latin typeface="Courier New" panose="02070309020205020404" pitchFamily="49" charset="0"/>
              </a:rPr>
              <a:t>(</a:t>
            </a:r>
            <a:r>
              <a:rPr lang="el-GR" altLang="el-GR" sz="3200" b="1" kern="0" dirty="0" err="1">
                <a:solidFill>
                  <a:srgbClr val="3333CC"/>
                </a:solidFill>
                <a:latin typeface="Courier New" panose="02070309020205020404" pitchFamily="49" charset="0"/>
              </a:rPr>
              <a:t>int</a:t>
            </a:r>
            <a:r>
              <a:rPr lang="el-GR" altLang="el-GR" sz="3200" b="1" kern="0" dirty="0">
                <a:solidFill>
                  <a:srgbClr val="3333CC"/>
                </a:solidFill>
                <a:latin typeface="Courier New" panose="02070309020205020404" pitchFamily="49" charset="0"/>
              </a:rPr>
              <a:t> a, </a:t>
            </a:r>
            <a:r>
              <a:rPr lang="el-GR" altLang="el-GR" sz="3200" b="1" kern="0" dirty="0" err="1">
                <a:solidFill>
                  <a:srgbClr val="3333CC"/>
                </a:solidFill>
                <a:latin typeface="Courier New" panose="02070309020205020404" pitchFamily="49" charset="0"/>
              </a:rPr>
              <a:t>int</a:t>
            </a:r>
            <a:r>
              <a:rPr lang="el-GR" altLang="el-GR" sz="3200" b="1" kern="0" dirty="0">
                <a:solidFill>
                  <a:srgbClr val="3333CC"/>
                </a:solidFill>
                <a:latin typeface="Courier New" panose="02070309020205020404" pitchFamily="49" charset="0"/>
              </a:rPr>
              <a:t> b);</a:t>
            </a:r>
          </a:p>
        </p:txBody>
      </p:sp>
      <p:sp>
        <p:nvSpPr>
          <p:cNvPr id="13" name="TextBox 12">
            <a:extLst>
              <a:ext uri="{FF2B5EF4-FFF2-40B4-BE49-F238E27FC236}">
                <a16:creationId xmlns:a16="http://schemas.microsoft.com/office/drawing/2014/main" id="{2DB2BA77-2C41-E186-969E-6FD37A226248}"/>
              </a:ext>
            </a:extLst>
          </p:cNvPr>
          <p:cNvSpPr txBox="1"/>
          <p:nvPr/>
        </p:nvSpPr>
        <p:spPr>
          <a:xfrm>
            <a:off x="689634" y="5405788"/>
            <a:ext cx="6581322" cy="991041"/>
          </a:xfrm>
          <a:prstGeom prst="rect">
            <a:avLst/>
          </a:prstGeom>
          <a:solidFill>
            <a:schemeClr val="accent1">
              <a:lumMod val="60000"/>
              <a:lumOff val="40000"/>
            </a:schemeClr>
          </a:solidFill>
        </p:spPr>
        <p:txBody>
          <a:bodyPr wrap="square" rtlCol="0">
            <a:spAutoFit/>
          </a:bodyPr>
          <a:lstStyle/>
          <a:p>
            <a:pPr indent="-285750">
              <a:lnSpc>
                <a:spcPct val="90000"/>
              </a:lnSpc>
              <a:buClr>
                <a:srgbClr val="FF0000"/>
              </a:buClr>
              <a:buSzPct val="55000"/>
              <a:defRPr/>
            </a:pPr>
            <a:r>
              <a:rPr lang="en-GB" altLang="el-GR" sz="3200" b="1" kern="0" dirty="0">
                <a:solidFill>
                  <a:srgbClr val="3333CC"/>
                </a:solidFill>
                <a:latin typeface="Courier New" panose="02070309020205020404" pitchFamily="49" charset="0"/>
              </a:rPr>
              <a:t>void swap(int *, int *);</a:t>
            </a:r>
          </a:p>
          <a:p>
            <a:pPr indent="-285750">
              <a:lnSpc>
                <a:spcPct val="90000"/>
              </a:lnSpc>
              <a:buClr>
                <a:srgbClr val="FF0000"/>
              </a:buClr>
              <a:buSzPct val="55000"/>
              <a:defRPr/>
            </a:pPr>
            <a:r>
              <a:rPr lang="en-GB" altLang="el-GR" sz="3200" b="1" kern="0" dirty="0">
                <a:solidFill>
                  <a:srgbClr val="3333CC"/>
                </a:solidFill>
                <a:latin typeface="Courier New" panose="02070309020205020404" pitchFamily="49" charset="0"/>
              </a:rPr>
              <a:t>swap</a:t>
            </a:r>
            <a:r>
              <a:rPr lang="el-GR" altLang="el-GR" sz="3200" b="1" kern="0" dirty="0">
                <a:solidFill>
                  <a:srgbClr val="3333CC"/>
                </a:solidFill>
                <a:latin typeface="Courier New" panose="02070309020205020404" pitchFamily="49" charset="0"/>
              </a:rPr>
              <a:t>(</a:t>
            </a:r>
            <a:r>
              <a:rPr lang="en-GB" altLang="el-GR" sz="3200" b="1" kern="0" dirty="0">
                <a:solidFill>
                  <a:srgbClr val="3333CC"/>
                </a:solidFill>
                <a:latin typeface="Courier New" panose="02070309020205020404" pitchFamily="49" charset="0"/>
              </a:rPr>
              <a:t>&amp;</a:t>
            </a:r>
            <a:r>
              <a:rPr lang="el-GR" altLang="el-GR" sz="3200" b="1" kern="0" dirty="0">
                <a:solidFill>
                  <a:srgbClr val="3333CC"/>
                </a:solidFill>
                <a:latin typeface="Courier New" panose="02070309020205020404" pitchFamily="49" charset="0"/>
              </a:rPr>
              <a:t>num1,</a:t>
            </a:r>
            <a:r>
              <a:rPr lang="en-GB" altLang="el-GR" sz="3200" b="1" kern="0" dirty="0">
                <a:solidFill>
                  <a:srgbClr val="3333CC"/>
                </a:solidFill>
                <a:latin typeface="Courier New" panose="02070309020205020404" pitchFamily="49" charset="0"/>
              </a:rPr>
              <a:t>&amp;</a:t>
            </a:r>
            <a:r>
              <a:rPr lang="el-GR" altLang="el-GR" sz="3200" b="1" kern="0" dirty="0">
                <a:solidFill>
                  <a:srgbClr val="3333CC"/>
                </a:solidFill>
                <a:latin typeface="Courier New" panose="02070309020205020404" pitchFamily="49" charset="0"/>
              </a:rPr>
              <a:t>num2);</a:t>
            </a:r>
          </a:p>
        </p:txBody>
      </p:sp>
    </p:spTree>
    <p:extLst>
      <p:ext uri="{BB962C8B-B14F-4D97-AF65-F5344CB8AC3E}">
        <p14:creationId xmlns:p14="http://schemas.microsoft.com/office/powerpoint/2010/main" val="3868989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5ABF-B765-0123-FC35-107DD53B0C1D}"/>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6F4F3D4-E2DC-5CE5-3F2C-D0A0C364E14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6B33C1A-BEC8-D71E-0BB1-C74662D6FE7C}"/>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Hands-on</a:t>
            </a:r>
            <a:r>
              <a:rPr lang="el-GR" sz="4000" b="1" dirty="0">
                <a:solidFill>
                  <a:srgbClr val="F9853D"/>
                </a:solidFill>
                <a:latin typeface="Bahnschrift" panose="020B0502040204020203" pitchFamily="34" charset="0"/>
              </a:rPr>
              <a:t>  (</a:t>
            </a:r>
            <a:r>
              <a:rPr lang="en-US" sz="4000" b="1" dirty="0" err="1">
                <a:solidFill>
                  <a:srgbClr val="F9853D"/>
                </a:solidFill>
                <a:latin typeface="Bahnschrift" panose="020B0502040204020203" pitchFamily="34" charset="0"/>
              </a:rPr>
              <a:t>readInt</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τρεις εκδόσεις</a:t>
            </a:r>
            <a:r>
              <a:rPr lang="en-US"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68C4F1C9-55FE-BEBD-11BE-E5CD1D1697E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5FE0ED8-3E96-19BD-AD5C-7CBAA3D8C10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83914EB-403E-913A-52B5-1AF97807818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574489FF-03EC-21C9-6ECD-3D1649B11170}"/>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7" name="Speech Bubble: Rectangle with Corners Rounded 6">
            <a:extLst>
              <a:ext uri="{FF2B5EF4-FFF2-40B4-BE49-F238E27FC236}">
                <a16:creationId xmlns:a16="http://schemas.microsoft.com/office/drawing/2014/main" id="{5CF095D6-17C1-DC10-C6E4-1C559650F684}"/>
              </a:ext>
            </a:extLst>
          </p:cNvPr>
          <p:cNvSpPr/>
          <p:nvPr/>
        </p:nvSpPr>
        <p:spPr>
          <a:xfrm>
            <a:off x="5785945" y="2076278"/>
            <a:ext cx="6050685" cy="2574550"/>
          </a:xfrm>
          <a:prstGeom prst="wedgeRoundRectCallout">
            <a:avLst>
              <a:gd name="adj1" fmla="val -59222"/>
              <a:gd name="adj2" fmla="val 8830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dirty="0">
                <a:solidFill>
                  <a:schemeClr val="tx1"/>
                </a:solidFill>
                <a:highlight>
                  <a:srgbClr val="FFFF00"/>
                </a:highlight>
              </a:rPr>
              <a:t>Αναπτύξτε τις τρείς εκδόσεις της </a:t>
            </a:r>
            <a:r>
              <a:rPr lang="en-US" sz="2400" dirty="0" err="1">
                <a:solidFill>
                  <a:schemeClr val="tx1"/>
                </a:solidFill>
                <a:highlight>
                  <a:srgbClr val="FFFF00"/>
                </a:highlight>
              </a:rPr>
              <a:t>readInt</a:t>
            </a:r>
            <a:r>
              <a:rPr lang="en-US" sz="2400" dirty="0">
                <a:solidFill>
                  <a:schemeClr val="tx1"/>
                </a:solidFill>
                <a:highlight>
                  <a:srgbClr val="FFFF00"/>
                </a:highlight>
              </a:rPr>
              <a:t> </a:t>
            </a:r>
            <a:r>
              <a:rPr lang="el-GR" sz="2400" dirty="0">
                <a:solidFill>
                  <a:schemeClr val="tx1"/>
                </a:solidFill>
                <a:highlight>
                  <a:srgbClr val="FFFF00"/>
                </a:highlight>
              </a:rPr>
              <a:t>και χρησιμοποιήστε τις για να εξοικειωθείτε με την δήλωση τον ορισμό και την κλήση συνάρτησης και με το </a:t>
            </a:r>
            <a:r>
              <a:rPr lang="el-GR" sz="2400" b="1" dirty="0">
                <a:solidFill>
                  <a:schemeClr val="tx1"/>
                </a:solidFill>
                <a:highlight>
                  <a:srgbClr val="FFFF00"/>
                </a:highlight>
              </a:rPr>
              <a:t>πέρασμα ορίσματος κατά αναφορά (</a:t>
            </a:r>
            <a:r>
              <a:rPr lang="en-US" sz="2400" b="1" dirty="0">
                <a:solidFill>
                  <a:schemeClr val="tx1"/>
                </a:solidFill>
                <a:highlight>
                  <a:srgbClr val="FFFF00"/>
                </a:highlight>
              </a:rPr>
              <a:t>by reference</a:t>
            </a:r>
            <a:r>
              <a:rPr lang="el-GR" sz="2400" b="1" dirty="0">
                <a:solidFill>
                  <a:schemeClr val="tx1"/>
                </a:solidFill>
                <a:highlight>
                  <a:srgbClr val="FFFF00"/>
                </a:highlight>
              </a:rPr>
              <a:t>) </a:t>
            </a:r>
            <a:r>
              <a:rPr lang="el-GR" sz="2400" dirty="0">
                <a:solidFill>
                  <a:schemeClr val="tx1"/>
                </a:solidFill>
                <a:highlight>
                  <a:srgbClr val="FFFF00"/>
                </a:highlight>
              </a:rPr>
              <a:t>σε σύγκριση με το πέρασμα </a:t>
            </a:r>
            <a:r>
              <a:rPr lang="el-GR" sz="2400" b="1" dirty="0">
                <a:solidFill>
                  <a:schemeClr val="tx1"/>
                </a:solidFill>
                <a:highlight>
                  <a:srgbClr val="FFFF00"/>
                </a:highlight>
              </a:rPr>
              <a:t>κατά τιμή</a:t>
            </a:r>
            <a:r>
              <a:rPr lang="en-US" sz="2400" b="1" dirty="0">
                <a:solidFill>
                  <a:schemeClr val="tx1"/>
                </a:solidFill>
                <a:highlight>
                  <a:srgbClr val="FFFF00"/>
                </a:highlight>
              </a:rPr>
              <a:t> (by value)</a:t>
            </a:r>
            <a:endParaRPr lang="en-GB" sz="2400" b="1" dirty="0">
              <a:solidFill>
                <a:schemeClr val="tx1"/>
              </a:solidFill>
              <a:highlight>
                <a:srgbClr val="FFFF00"/>
              </a:highlight>
            </a:endParaRPr>
          </a:p>
        </p:txBody>
      </p:sp>
      <p:pic>
        <p:nvPicPr>
          <p:cNvPr id="9" name="Picture 8">
            <a:extLst>
              <a:ext uri="{FF2B5EF4-FFF2-40B4-BE49-F238E27FC236}">
                <a16:creationId xmlns:a16="http://schemas.microsoft.com/office/drawing/2014/main" id="{5942D95E-5DBC-BD7A-F0AB-79E10BAC2077}"/>
              </a:ext>
            </a:extLst>
          </p:cNvPr>
          <p:cNvPicPr>
            <a:picLocks noChangeAspect="1"/>
          </p:cNvPicPr>
          <p:nvPr/>
        </p:nvPicPr>
        <p:blipFill>
          <a:blip r:embed="rId3"/>
          <a:stretch>
            <a:fillRect/>
          </a:stretch>
        </p:blipFill>
        <p:spPr>
          <a:xfrm>
            <a:off x="355370" y="1848073"/>
            <a:ext cx="4812974" cy="3543607"/>
          </a:xfrm>
          <a:prstGeom prst="rect">
            <a:avLst/>
          </a:prstGeom>
        </p:spPr>
      </p:pic>
    </p:spTree>
    <p:extLst>
      <p:ext uri="{BB962C8B-B14F-4D97-AF65-F5344CB8AC3E}">
        <p14:creationId xmlns:p14="http://schemas.microsoft.com/office/powerpoint/2010/main" val="1585666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441F-1AEF-FCF8-3788-67C8225D397B}"/>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0A4B89EC-18F9-7FBB-4DC4-1F12D63AFD0C}"/>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EACAC530-52DE-109D-4604-6E9253FED9A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συνάρτηση </a:t>
            </a:r>
            <a:r>
              <a:rPr lang="en-US" sz="4000" b="1" dirty="0">
                <a:solidFill>
                  <a:srgbClr val="F9853D"/>
                </a:solidFill>
                <a:latin typeface="Bahnschrift" panose="020B0502040204020203" pitchFamily="34" charset="0"/>
              </a:rPr>
              <a:t>get</a:t>
            </a:r>
            <a:r>
              <a:rPr lang="en-GB" sz="4000" b="1" dirty="0">
                <a:solidFill>
                  <a:srgbClr val="F9853D"/>
                </a:solidFill>
                <a:latin typeface="Bahnschrift" panose="020B0502040204020203" pitchFamily="34" charset="0"/>
              </a:rPr>
              <a:t>Expression()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F0EAE577-010E-D9C9-AF29-4408A051408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2D54604-93A2-1338-7C14-121AD830730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FA7595F-1BB4-58F8-9DF9-54870054AF22}"/>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7110487E-A8D9-FD95-B090-CBD8252981D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7234853C-490C-24BD-092B-11A0B1C6686F}"/>
              </a:ext>
            </a:extLst>
          </p:cNvPr>
          <p:cNvSpPr txBox="1">
            <a:spLocks noChangeArrowheads="1"/>
          </p:cNvSpPr>
          <p:nvPr/>
        </p:nvSpPr>
        <p:spPr bwMode="auto">
          <a:xfrm>
            <a:off x="0" y="2756582"/>
            <a:ext cx="11885526" cy="3696754"/>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r>
              <a:rPr lang="el-GR" altLang="el-GR" sz="2400" kern="0" dirty="0">
                <a:latin typeface="Times New Roman" panose="02020603050405020304" pitchFamily="18" charset="0"/>
              </a:rPr>
              <a:t>διαβάζει τα στοιχεία που αποτελούν μια έκφραση προθεματικού τελεστή (</a:t>
            </a:r>
            <a:r>
              <a:rPr lang="en-GB" altLang="el-GR" sz="2400" kern="0" dirty="0">
                <a:latin typeface="Times New Roman" panose="02020603050405020304" pitchFamily="18" charset="0"/>
              </a:rPr>
              <a:t>prefix notation) (</a:t>
            </a:r>
            <a:r>
              <a:rPr lang="el-GR" altLang="el-GR" sz="2400" kern="0" dirty="0">
                <a:latin typeface="Times New Roman" panose="02020603050405020304" pitchFamily="18" charset="0"/>
              </a:rPr>
              <a:t>παράγραφος 4.2.1) με κλάσματα.</a:t>
            </a:r>
            <a:r>
              <a:rPr lang="el-GR" altLang="el-GR" sz="2000" kern="0" dirty="0">
                <a:latin typeface="Times New Roman" panose="02020603050405020304" pitchFamily="18" charset="0"/>
              </a:rPr>
              <a:t> </a:t>
            </a:r>
          </a:p>
          <a:p>
            <a:pPr marL="0" indent="0" eaLnBrk="1" hangingPunct="1">
              <a:buFont typeface="Wingdings" panose="05000000000000000000" pitchFamily="2" charset="2"/>
              <a:buNone/>
            </a:pPr>
            <a:r>
              <a:rPr lang="el-GR" altLang="el-GR" sz="2000" kern="0" dirty="0">
                <a:latin typeface="Times New Roman" panose="02020603050405020304" pitchFamily="18" charset="0"/>
              </a:rPr>
              <a:t>	</a:t>
            </a:r>
            <a:r>
              <a:rPr lang="el-GR" altLang="el-GR" sz="2400" kern="0" dirty="0">
                <a:latin typeface="Times New Roman" panose="02020603050405020304" pitchFamily="18" charset="0"/>
              </a:rPr>
              <a:t>π.χ. + 2/13 5/13</a:t>
            </a:r>
            <a:endParaRPr lang="en-GB" altLang="el-GR" sz="2000" kern="0" dirty="0">
              <a:latin typeface="Times New Roman" panose="02020603050405020304" pitchFamily="18" charset="0"/>
            </a:endParaRPr>
          </a:p>
          <a:p>
            <a:pPr eaLnBrk="1" hangingPunct="1"/>
            <a:r>
              <a:rPr lang="el-GR" altLang="el-GR" sz="2400" kern="0" dirty="0">
                <a:latin typeface="Times New Roman" panose="02020603050405020304" pitchFamily="18" charset="0"/>
              </a:rPr>
              <a:t>Δηλαδή τον τελεστή και τους αριθμητές και </a:t>
            </a:r>
            <a:r>
              <a:rPr lang="el-GR" altLang="el-GR" sz="2400" kern="0" dirty="0" err="1">
                <a:latin typeface="Times New Roman" panose="02020603050405020304" pitchFamily="18" charset="0"/>
              </a:rPr>
              <a:t>παρανομαστές</a:t>
            </a:r>
            <a:r>
              <a:rPr lang="el-GR" altLang="el-GR" sz="2400" kern="0" dirty="0">
                <a:latin typeface="Times New Roman" panose="02020603050405020304" pitchFamily="18" charset="0"/>
              </a:rPr>
              <a:t> των κλασμάτων.</a:t>
            </a:r>
          </a:p>
          <a:p>
            <a:pPr eaLnBrk="1" hangingPunct="1"/>
            <a:r>
              <a:rPr lang="el-GR" altLang="el-GR" sz="2400" kern="0" dirty="0">
                <a:latin typeface="Times New Roman" panose="02020603050405020304" pitchFamily="18" charset="0"/>
              </a:rPr>
              <a:t>Δέχεται ως ορίσματα δείκτες σε μεταβλητές όπου θα βάλει τις τιμές που θα διαβάσει από την κύρια είσοδο. </a:t>
            </a:r>
          </a:p>
          <a:p>
            <a:pPr eaLnBrk="1" hangingPunct="1"/>
            <a:r>
              <a:rPr lang="el-GR" altLang="el-GR" sz="2400" kern="0" dirty="0">
                <a:latin typeface="Times New Roman" panose="02020603050405020304" pitchFamily="18" charset="0"/>
              </a:rPr>
              <a:t>Για κατανόηση της δείτε την </a:t>
            </a:r>
            <a:r>
              <a:rPr lang="en-GB" altLang="el-GR" sz="2400" kern="0" dirty="0" err="1">
                <a:latin typeface="Times New Roman" panose="02020603050405020304" pitchFamily="18" charset="0"/>
              </a:rPr>
              <a:t>readInt</a:t>
            </a:r>
            <a:r>
              <a:rPr lang="en-GB" altLang="el-GR" sz="2400" kern="0" dirty="0">
                <a:latin typeface="Times New Roman" panose="02020603050405020304" pitchFamily="18" charset="0"/>
              </a:rPr>
              <a:t>() </a:t>
            </a:r>
            <a:r>
              <a:rPr lang="en-US" altLang="el-GR" sz="2400" kern="0" dirty="0">
                <a:latin typeface="Times New Roman" panose="02020603050405020304" pitchFamily="18" charset="0"/>
              </a:rPr>
              <a:t>V2</a:t>
            </a:r>
            <a:r>
              <a:rPr lang="el-GR" altLang="el-GR" sz="2400" kern="0" dirty="0">
                <a:latin typeface="Times New Roman" panose="02020603050405020304" pitchFamily="18" charset="0"/>
              </a:rPr>
              <a:t>, η οποία διαβάζει από την βασική είσοδο ένα ακέραιο.</a:t>
            </a:r>
            <a:r>
              <a:rPr lang="en-US" altLang="el-GR" sz="2400" kern="0" dirty="0">
                <a:latin typeface="Times New Roman" panose="02020603050405020304" pitchFamily="18" charset="0"/>
              </a:rPr>
              <a:t> </a:t>
            </a:r>
            <a:endParaRPr lang="el-GR" altLang="el-GR" sz="2400" kern="0" dirty="0">
              <a:latin typeface="Times New Roman" panose="02020603050405020304" pitchFamily="18" charset="0"/>
            </a:endParaRPr>
          </a:p>
        </p:txBody>
      </p:sp>
      <p:sp>
        <p:nvSpPr>
          <p:cNvPr id="7" name="Rectangle 3">
            <a:extLst>
              <a:ext uri="{FF2B5EF4-FFF2-40B4-BE49-F238E27FC236}">
                <a16:creationId xmlns:a16="http://schemas.microsoft.com/office/drawing/2014/main" id="{C95A7DDF-7D77-E6ED-C72B-9F4ED099AF21}"/>
              </a:ext>
            </a:extLst>
          </p:cNvPr>
          <p:cNvSpPr txBox="1">
            <a:spLocks noChangeArrowheads="1"/>
          </p:cNvSpPr>
          <p:nvPr/>
        </p:nvSpPr>
        <p:spPr bwMode="auto">
          <a:xfrm>
            <a:off x="140669" y="848607"/>
            <a:ext cx="11885526" cy="129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buClr>
                <a:srgbClr val="3333CC"/>
              </a:buClr>
              <a:buFont typeface="Wingdings" panose="05000000000000000000" pitchFamily="2" charset="2"/>
              <a:buNone/>
            </a:pPr>
            <a:r>
              <a:rPr lang="el-GR" altLang="el-GR" sz="2800" kern="0" dirty="0">
                <a:solidFill>
                  <a:srgbClr val="000000"/>
                </a:solidFill>
                <a:latin typeface="Times New Roman" panose="02020603050405020304" pitchFamily="18" charset="0"/>
              </a:rPr>
              <a:t>Δήλωση συνάρτησης </a:t>
            </a:r>
            <a:r>
              <a:rPr lang="en-GB" altLang="el-GR" sz="2400" kern="0" dirty="0">
                <a:solidFill>
                  <a:srgbClr val="000000"/>
                </a:solidFill>
                <a:latin typeface="Times New Roman" panose="02020603050405020304" pitchFamily="18" charset="0"/>
              </a:rPr>
              <a:t>(</a:t>
            </a:r>
            <a:r>
              <a:rPr lang="el-GR" altLang="el-GR" sz="2400" kern="0" dirty="0">
                <a:solidFill>
                  <a:srgbClr val="000000"/>
                </a:solidFill>
                <a:latin typeface="Times New Roman" panose="02020603050405020304" pitchFamily="18" charset="0"/>
              </a:rPr>
              <a:t>περιέχεται στο αρχείο </a:t>
            </a:r>
            <a:r>
              <a:rPr lang="en-GB" altLang="el-GR" sz="2400" kern="0" dirty="0">
                <a:solidFill>
                  <a:srgbClr val="000000"/>
                </a:solidFill>
                <a:latin typeface="Times New Roman" panose="02020603050405020304" pitchFamily="18" charset="0"/>
              </a:rPr>
              <a:t>i2p.h)</a:t>
            </a:r>
            <a:endParaRPr lang="el-GR" altLang="el-GR" sz="2400" kern="0" dirty="0">
              <a:solidFill>
                <a:srgbClr val="000000"/>
              </a:solidFill>
              <a:latin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id="{23B90D71-06E8-E702-34D5-AD1E70418B86}"/>
              </a:ext>
            </a:extLst>
          </p:cNvPr>
          <p:cNvSpPr/>
          <p:nvPr/>
        </p:nvSpPr>
        <p:spPr bwMode="auto">
          <a:xfrm>
            <a:off x="8371490" y="292692"/>
            <a:ext cx="3679841" cy="809732"/>
          </a:xfrm>
          <a:prstGeom prst="wedgeRoundRectCallout">
            <a:avLst>
              <a:gd name="adj1" fmla="val -53985"/>
              <a:gd name="adj2" fmla="val 97773"/>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Δες Δραστηριότητα</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 9-1</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GB" sz="2400" b="0" i="0" u="none" strike="noStrike" kern="0" cap="none" spc="0" normalizeH="0" baseline="0" noProof="0" dirty="0">
                <a:ln>
                  <a:noFill/>
                </a:ln>
                <a:solidFill>
                  <a:srgbClr val="000000"/>
                </a:solidFill>
                <a:effectLst/>
                <a:uLnTx/>
                <a:uFillTx/>
                <a:latin typeface="Tahoma" panose="020B0604030504040204" pitchFamily="34" charset="0"/>
              </a:rPr>
              <a:t>Fractions Calculator</a:t>
            </a:r>
          </a:p>
        </p:txBody>
      </p:sp>
      <p:pic>
        <p:nvPicPr>
          <p:cNvPr id="13" name="Picture 12">
            <a:extLst>
              <a:ext uri="{FF2B5EF4-FFF2-40B4-BE49-F238E27FC236}">
                <a16:creationId xmlns:a16="http://schemas.microsoft.com/office/drawing/2014/main" id="{2C28B3B3-8141-8B3C-5913-0683C240C12B}"/>
              </a:ext>
            </a:extLst>
          </p:cNvPr>
          <p:cNvPicPr>
            <a:picLocks noChangeAspect="1"/>
          </p:cNvPicPr>
          <p:nvPr/>
        </p:nvPicPr>
        <p:blipFill>
          <a:blip r:embed="rId3"/>
          <a:stretch>
            <a:fillRect/>
          </a:stretch>
        </p:blipFill>
        <p:spPr>
          <a:xfrm>
            <a:off x="165804" y="1460438"/>
            <a:ext cx="11956567" cy="1150086"/>
          </a:xfrm>
          <a:prstGeom prst="rect">
            <a:avLst/>
          </a:prstGeom>
        </p:spPr>
      </p:pic>
    </p:spTree>
    <p:extLst>
      <p:ext uri="{BB962C8B-B14F-4D97-AF65-F5344CB8AC3E}">
        <p14:creationId xmlns:p14="http://schemas.microsoft.com/office/powerpoint/2010/main" val="28532612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dissolv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94E0-FEE3-A5CE-009D-19DAD3C1604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8A981BA2-E4F3-67A6-F22E-4E99510E54C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4D484DE-0449-1828-C0F2-D17E9661C72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Συνάρτηση – Ορισμός</a:t>
            </a:r>
          </a:p>
        </p:txBody>
      </p:sp>
      <p:sp>
        <p:nvSpPr>
          <p:cNvPr id="8" name="Θέση υποσέλιδου 4">
            <a:extLst>
              <a:ext uri="{FF2B5EF4-FFF2-40B4-BE49-F238E27FC236}">
                <a16:creationId xmlns:a16="http://schemas.microsoft.com/office/drawing/2014/main" id="{5DDB5047-2465-2DB1-76C2-89022501CC2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10A2C79-E372-DCBA-DDC8-F378AE2E4D1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EF486E62-8929-CBAB-E1D0-22AA31EFA3F7}"/>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Συναρτήσεις – Δομή Προγράμματος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F96B8B93-E052-907C-A201-C4D2D4BD75B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4" name="Rectangle 3">
            <a:extLst>
              <a:ext uri="{FF2B5EF4-FFF2-40B4-BE49-F238E27FC236}">
                <a16:creationId xmlns:a16="http://schemas.microsoft.com/office/drawing/2014/main" id="{A490CE9F-AD7C-5F23-F6F7-D0A681936CFF}"/>
              </a:ext>
            </a:extLst>
          </p:cNvPr>
          <p:cNvSpPr txBox="1">
            <a:spLocks noChangeArrowheads="1"/>
          </p:cNvSpPr>
          <p:nvPr/>
        </p:nvSpPr>
        <p:spPr bwMode="auto">
          <a:xfrm>
            <a:off x="140669" y="1562477"/>
            <a:ext cx="11594881" cy="4114800"/>
          </a:xfrm>
          <a:prstGeom prst="rect">
            <a:avLst/>
          </a:prstGeom>
          <a:solidFill>
            <a:srgbClr val="92D050"/>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just" defTabSz="914400" rtl="0" eaLnBrk="1" fontAlgn="base" latinLnBrk="0" hangingPunct="1">
              <a:lnSpc>
                <a:spcPct val="100000"/>
              </a:lnSpc>
              <a:spcBef>
                <a:spcPct val="20000"/>
              </a:spcBef>
              <a:spcAft>
                <a:spcPct val="0"/>
              </a:spcAft>
              <a:buClr>
                <a:srgbClr val="0070C0"/>
              </a:buClr>
              <a:buSzPct val="60000"/>
              <a:buFont typeface="Wingdings" panose="05000000000000000000" pitchFamily="2" charset="2"/>
              <a:buChar char="n"/>
              <a:tabLst/>
              <a:defRPr/>
            </a:pPr>
            <a:r>
              <a:rPr kumimoji="0" lang="el-GR" altLang="el-GR" sz="28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είναι η  </a:t>
            </a:r>
            <a:r>
              <a:rPr kumimoji="0" lang="el-GR" altLang="el-GR" sz="2800" b="1" i="0" u="none" strike="noStrike" kern="0" cap="none" spc="0" normalizeH="0" baseline="0" noProof="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κατασκευή της γλώσσας</a:t>
            </a:r>
            <a:r>
              <a:rPr kumimoji="0" lang="el-GR" altLang="el-GR" sz="28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που επιτρέπει στον προγραμματιστή </a:t>
            </a:r>
          </a:p>
          <a:p>
            <a:pPr marL="742950" marR="0" lvl="1" indent="-285750" algn="just" defTabSz="914400" rtl="0" eaLnBrk="1" fontAlgn="base" latinLnBrk="0" hangingPunct="1">
              <a:lnSpc>
                <a:spcPct val="100000"/>
              </a:lnSpc>
              <a:spcBef>
                <a:spcPct val="20000"/>
              </a:spcBef>
              <a:spcAft>
                <a:spcPct val="0"/>
              </a:spcAft>
              <a:buClr>
                <a:srgbClr val="0070C0"/>
              </a:buClr>
              <a:buSzPct val="55000"/>
              <a:buFont typeface="Wingdings" panose="05000000000000000000" pitchFamily="2" charset="2"/>
              <a:buChar char="n"/>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να υλοποιήσει (</a:t>
            </a: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implement</a:t>
            </a: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τις διεργασίες που έχει εντοπίσει, καταγράψει και περιγράψει (πιθανόν με λεκτική περιγραφή) στη φάση σχεδιασμού του προγράμματος εφαρμόζοντας την βασική αρχή της αφαιρετικότητας. </a:t>
            </a:r>
            <a:r>
              <a:rPr kumimoji="0" lang="el-GR" altLang="el-GR" sz="2400" b="0" i="1"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altLang="el-GR" sz="2400" b="0" i="1" u="none" strike="noStrike" kern="0" cap="none" spc="0" normalizeH="0" baseline="0" noProof="0">
                <a:ln>
                  <a:noFill/>
                </a:ln>
                <a:solidFill>
                  <a:srgbClr val="3333CC"/>
                </a:solidFill>
                <a:effectLst/>
                <a:uLnTx/>
                <a:uFillTx/>
                <a:latin typeface="Tahoma" panose="020B0604030504040204" pitchFamily="34" charset="0"/>
                <a:ea typeface="Tahoma" panose="020B0604030504040204" pitchFamily="34" charset="0"/>
                <a:cs typeface="Tahoma" panose="020B0604030504040204" pitchFamily="34" charset="0"/>
              </a:rPr>
              <a:t>top-down approach</a:t>
            </a:r>
            <a:r>
              <a:rPr kumimoji="0" lang="en-US" altLang="el-GR" sz="2400" b="0" i="1"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altLang="el-GR" sz="2400" b="0" i="1" u="sng"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marR="0" lvl="1" indent="-285750" algn="just" defTabSz="914400" rtl="0" eaLnBrk="1" fontAlgn="base" latinLnBrk="0" hangingPunct="1">
              <a:lnSpc>
                <a:spcPct val="100000"/>
              </a:lnSpc>
              <a:spcBef>
                <a:spcPct val="20000"/>
              </a:spcBef>
              <a:spcAft>
                <a:spcPct val="0"/>
              </a:spcAft>
              <a:buClr>
                <a:srgbClr val="0070C0"/>
              </a:buClr>
              <a:buSzPct val="55000"/>
              <a:buFont typeface="Wingdings" panose="05000000000000000000" pitchFamily="2" charset="2"/>
              <a:buChar char="n"/>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να ομαδοποιήσει ένα σύνολο από προτάσεις για να κάνει τον κώδικα του αρθρωτό (</a:t>
            </a: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modular</a:t>
            </a: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και να επιτρέψει την εύκολη επαναχρησιμοποίηση τους σε πολλά σημεία του κώδικα. </a:t>
            </a:r>
            <a:r>
              <a:rPr kumimoji="0" lang="el-GR" altLang="el-GR" sz="2400" b="0" i="1"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altLang="el-GR" sz="2400" b="0" i="1" u="none" strike="noStrike" kern="0" cap="none" spc="0" normalizeH="0" baseline="0" noProof="0">
                <a:ln>
                  <a:noFill/>
                </a:ln>
                <a:solidFill>
                  <a:srgbClr val="3333CC"/>
                </a:solidFill>
                <a:effectLst/>
                <a:uLnTx/>
                <a:uFillTx/>
                <a:latin typeface="Tahoma" panose="020B0604030504040204" pitchFamily="34" charset="0"/>
                <a:ea typeface="Tahoma" panose="020B0604030504040204" pitchFamily="34" charset="0"/>
                <a:cs typeface="Tahoma" panose="020B0604030504040204" pitchFamily="34" charset="0"/>
              </a:rPr>
              <a:t>bottom-up approach</a:t>
            </a:r>
            <a:r>
              <a:rPr kumimoji="0" lang="en-US" altLang="el-GR" sz="2400" b="0" i="1" u="none"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altLang="el-GR" sz="2400" b="0" i="1" u="sng" strike="noStrike" kern="0" cap="none" spc="0" normalizeH="0" baseline="0" noProof="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90870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10107</TotalTime>
  <Words>2263</Words>
  <Application>Microsoft Office PowerPoint</Application>
  <PresentationFormat>Widescreen</PresentationFormat>
  <Paragraphs>359</Paragraphs>
  <Slides>24</Slides>
  <Notes>24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24</vt:i4>
      </vt:variant>
    </vt:vector>
  </HeadingPairs>
  <TitlesOfParts>
    <vt:vector size="36" baseType="lpstr">
      <vt:lpstr>Arial</vt:lpstr>
      <vt:lpstr>Bahnschrift</vt:lpstr>
      <vt:lpstr>Bahnschrift Light</vt:lpstr>
      <vt:lpstr>Calibri</vt:lpstr>
      <vt:lpstr>Calibri Light</vt:lpstr>
      <vt:lpstr>Courier New</vt:lpstr>
      <vt:lpstr>Tahoma</vt:lpstr>
      <vt:lpstr>Times New Roman</vt:lpstr>
      <vt:lpstr>var(--ff-lato)</vt:lpstr>
      <vt:lpstr>Wingdings</vt:lpstr>
      <vt:lpstr>Προσαρμοσμένη σχεδίαση</vt:lpstr>
      <vt:lpstr>Θέμα του Office</vt:lpstr>
      <vt:lpstr>PowerPoint Presentation</vt:lpstr>
      <vt:lpstr>Στόχος Ενότητας </vt:lpstr>
      <vt:lpstr>Συνάρτηση</vt:lpstr>
      <vt:lpstr>Πλεονεκτήματα χρήσης συνάρτησης</vt:lpstr>
      <vt:lpstr>H συνάρτηση main()</vt:lpstr>
      <vt:lpstr>Μορφές εμφάνισης συνάρτησης</vt:lpstr>
      <vt:lpstr>Δήλωση συνάρτησης</vt:lpstr>
      <vt:lpstr>Ορίσματα Συνάρτησης (Arguments)</vt:lpstr>
      <vt:lpstr>Επιστροφή τιμής από συνάρτηση</vt:lpstr>
      <vt:lpstr>Βασική Βιβλιοθήκη της C</vt:lpstr>
      <vt:lpstr>Βασική Βιβλιοθήκη - κατηγορίες συναρτήσεων </vt:lpstr>
      <vt:lpstr>standard library – συναρτήσεις Ι/Ο</vt:lpstr>
      <vt:lpstr>Χρήση της sqrt() της ΒΒ</vt:lpstr>
      <vt:lpstr>Επεξήγηση μηχανισμού κλήσης συνάρτησης  1/2</vt:lpstr>
      <vt:lpstr>Επεξήγηση μηχανισμού κλήσης συνάρτησης  2/2</vt:lpstr>
      <vt:lpstr>H συνάρτηση printf - Δήλωση</vt:lpstr>
      <vt:lpstr>H συνάρτηση printf - Χρήση</vt:lpstr>
      <vt:lpstr>readInt() V1 (με επιστρεφόμενη τιμή)</vt:lpstr>
      <vt:lpstr>readInt()  V2  (χωρίς επιστρεφόμενη τιμή)</vt:lpstr>
      <vt:lpstr>readInt (Υπέρ – Κατά)</vt:lpstr>
      <vt:lpstr>Πέρασμα Ορισμάτων</vt:lpstr>
      <vt:lpstr>Hands-on  (readInt τρεις εκδόσεις)</vt:lpstr>
      <vt:lpstr>Η συνάρτηση getExpression()</vt:lpstr>
      <vt:lpstr>Συνάρτηση – Ορισμός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62</cp:revision>
  <cp:lastPrinted>2023-02-24T15:57:04Z</cp:lastPrinted>
  <dcterms:created xsi:type="dcterms:W3CDTF">2020-03-13T12:21:17Z</dcterms:created>
  <dcterms:modified xsi:type="dcterms:W3CDTF">2025-10-14T19:30:23Z</dcterms:modified>
</cp:coreProperties>
</file>