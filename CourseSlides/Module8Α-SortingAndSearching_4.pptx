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41"/>
  </p:notesMasterIdLst>
  <p:sldIdLst>
    <p:sldId id="1011" r:id="rId3"/>
    <p:sldId id="1012" r:id="rId4"/>
    <p:sldId id="1013" r:id="rId5"/>
    <p:sldId id="1014" r:id="rId6"/>
    <p:sldId id="1018" r:id="rId7"/>
    <p:sldId id="1019" r:id="rId8"/>
    <p:sldId id="1021" r:id="rId9"/>
    <p:sldId id="1020" r:id="rId10"/>
    <p:sldId id="1023" r:id="rId11"/>
    <p:sldId id="1022" r:id="rId12"/>
    <p:sldId id="1024" r:id="rId13"/>
    <p:sldId id="1048" r:id="rId14"/>
    <p:sldId id="1025" r:id="rId15"/>
    <p:sldId id="1026" r:id="rId16"/>
    <p:sldId id="1027" r:id="rId17"/>
    <p:sldId id="1028" r:id="rId18"/>
    <p:sldId id="1029" r:id="rId19"/>
    <p:sldId id="1030" r:id="rId20"/>
    <p:sldId id="1031" r:id="rId21"/>
    <p:sldId id="1032" r:id="rId22"/>
    <p:sldId id="1033" r:id="rId23"/>
    <p:sldId id="1034" r:id="rId24"/>
    <p:sldId id="1035" r:id="rId25"/>
    <p:sldId id="1037" r:id="rId26"/>
    <p:sldId id="1038" r:id="rId27"/>
    <p:sldId id="1044" r:id="rId28"/>
    <p:sldId id="1039" r:id="rId29"/>
    <p:sldId id="1045" r:id="rId30"/>
    <p:sldId id="1051" r:id="rId31"/>
    <p:sldId id="1049" r:id="rId32"/>
    <p:sldId id="1041" r:id="rId33"/>
    <p:sldId id="1042" r:id="rId34"/>
    <p:sldId id="1047" r:id="rId35"/>
    <p:sldId id="1046" r:id="rId36"/>
    <p:sldId id="1050" r:id="rId37"/>
    <p:sldId id="1052" r:id="rId38"/>
    <p:sldId id="1053" r:id="rId39"/>
    <p:sldId id="1054" r:id="rId40"/>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853D"/>
    <a:srgbClr val="B3CDBB"/>
    <a:srgbClr val="60D69E"/>
    <a:srgbClr val="869391"/>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58" autoAdjust="0"/>
    <p:restoredTop sz="93969" autoAdjust="0"/>
  </p:normalViewPr>
  <p:slideViewPr>
    <p:cSldViewPr snapToGrid="0">
      <p:cViewPr varScale="1">
        <p:scale>
          <a:sx n="64" d="100"/>
          <a:sy n="64" d="100"/>
        </p:scale>
        <p:origin x="126" y="16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4/11/2025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txBody>
          <a:bodyPr/>
          <a:lstStyle/>
          <a:p>
            <a:endParaRPr lang="en-GB"/>
          </a:p>
        </p:txBody>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E02B-7508-585E-4F49-009EAA438CA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5B95EB3-1D7B-031E-2AA8-257488295E83}"/>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2DB813BF-C23F-3E4D-900A-75A69D37785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DDD72C6-8023-8803-518A-C93D5F36A914}"/>
              </a:ext>
            </a:extLst>
          </p:cNvPr>
          <p:cNvSpPr>
            <a:spLocks noGrp="1"/>
          </p:cNvSpPr>
          <p:nvPr>
            <p:ph type="sldNum" sz="quarter" idx="5"/>
          </p:nvPr>
        </p:nvSpPr>
        <p:spPr/>
        <p:txBody>
          <a:bodyPr/>
          <a:lstStyle/>
          <a:p>
            <a:fld id="{C9D89646-4F35-49C2-BD28-89287C170EC3}" type="slidenum">
              <a:rPr lang="el-GR" smtClean="0"/>
              <a:t>2</a:t>
            </a:fld>
            <a:endParaRPr lang="el-GR"/>
          </a:p>
        </p:txBody>
      </p:sp>
    </p:spTree>
    <p:extLst>
      <p:ext uri="{BB962C8B-B14F-4D97-AF65-F5344CB8AC3E}">
        <p14:creationId xmlns:p14="http://schemas.microsoft.com/office/powerpoint/2010/main" val="2012106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23FB9-0F1D-17DF-38DF-5C715E0EA10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03A5525-E677-3845-E696-44D032E41275}"/>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C5EE96D7-F737-E1AE-DF50-046CCCF70BE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3DAC3CD-2900-ACF8-296C-64FC817027DF}"/>
              </a:ext>
            </a:extLst>
          </p:cNvPr>
          <p:cNvSpPr>
            <a:spLocks noGrp="1"/>
          </p:cNvSpPr>
          <p:nvPr>
            <p:ph type="sldNum" sz="quarter" idx="5"/>
          </p:nvPr>
        </p:nvSpPr>
        <p:spPr/>
        <p:txBody>
          <a:bodyPr/>
          <a:lstStyle/>
          <a:p>
            <a:fld id="{C9D89646-4F35-49C2-BD28-89287C170EC3}" type="slidenum">
              <a:rPr lang="el-GR" smtClean="0"/>
              <a:t>3</a:t>
            </a:fld>
            <a:endParaRPr lang="el-GR"/>
          </a:p>
        </p:txBody>
      </p:sp>
    </p:spTree>
    <p:extLst>
      <p:ext uri="{BB962C8B-B14F-4D97-AF65-F5344CB8AC3E}">
        <p14:creationId xmlns:p14="http://schemas.microsoft.com/office/powerpoint/2010/main" val="1953050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7C587-13AD-0AC3-F832-2B41FDA71FC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9C51617-DBCB-002E-028B-D92668ACA272}"/>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8A7D6180-706D-9B7B-F2F9-F0AF2D5F263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7FB4202-9F8F-3E2F-0448-41544215AC25}"/>
              </a:ext>
            </a:extLst>
          </p:cNvPr>
          <p:cNvSpPr>
            <a:spLocks noGrp="1"/>
          </p:cNvSpPr>
          <p:nvPr>
            <p:ph type="sldNum" sz="quarter" idx="5"/>
          </p:nvPr>
        </p:nvSpPr>
        <p:spPr/>
        <p:txBody>
          <a:bodyPr/>
          <a:lstStyle/>
          <a:p>
            <a:fld id="{C9D89646-4F35-49C2-BD28-89287C170EC3}" type="slidenum">
              <a:rPr lang="el-GR" smtClean="0"/>
              <a:t>4</a:t>
            </a:fld>
            <a:endParaRPr lang="el-GR"/>
          </a:p>
        </p:txBody>
      </p:sp>
    </p:spTree>
    <p:extLst>
      <p:ext uri="{BB962C8B-B14F-4D97-AF65-F5344CB8AC3E}">
        <p14:creationId xmlns:p14="http://schemas.microsoft.com/office/powerpoint/2010/main" val="3698483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C21B6-B45C-B479-0341-D347473E38F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1053337-40BA-3375-4575-0E26439F2140}"/>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847C8E89-7125-D3CE-3FAF-B5BB40CA323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BB18810-ACE1-3662-ADAD-9FBFE5025CE8}"/>
              </a:ext>
            </a:extLst>
          </p:cNvPr>
          <p:cNvSpPr>
            <a:spLocks noGrp="1"/>
          </p:cNvSpPr>
          <p:nvPr>
            <p:ph type="sldNum" sz="quarter" idx="5"/>
          </p:nvPr>
        </p:nvSpPr>
        <p:spPr/>
        <p:txBody>
          <a:bodyPr/>
          <a:lstStyle/>
          <a:p>
            <a:fld id="{C9D89646-4F35-49C2-BD28-89287C170EC3}" type="slidenum">
              <a:rPr lang="el-GR" smtClean="0"/>
              <a:t>5</a:t>
            </a:fld>
            <a:endParaRPr lang="el-GR"/>
          </a:p>
        </p:txBody>
      </p:sp>
    </p:spTree>
    <p:extLst>
      <p:ext uri="{BB962C8B-B14F-4D97-AF65-F5344CB8AC3E}">
        <p14:creationId xmlns:p14="http://schemas.microsoft.com/office/powerpoint/2010/main" val="1915575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755A6-57F7-D4E9-D556-74511FE6BE2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A1CDD84-F21B-DBCB-6926-E2758FA36FBE}"/>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358239AF-C9F4-ADC8-BF04-CD4E06174F0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035D534-7FA2-CBE3-2F71-075DD05D5563}"/>
              </a:ext>
            </a:extLst>
          </p:cNvPr>
          <p:cNvSpPr>
            <a:spLocks noGrp="1"/>
          </p:cNvSpPr>
          <p:nvPr>
            <p:ph type="sldNum" sz="quarter" idx="5"/>
          </p:nvPr>
        </p:nvSpPr>
        <p:spPr/>
        <p:txBody>
          <a:bodyPr/>
          <a:lstStyle/>
          <a:p>
            <a:fld id="{C9D89646-4F35-49C2-BD28-89287C170EC3}" type="slidenum">
              <a:rPr lang="el-GR" smtClean="0"/>
              <a:t>6</a:t>
            </a:fld>
            <a:endParaRPr lang="el-GR"/>
          </a:p>
        </p:txBody>
      </p:sp>
    </p:spTree>
    <p:extLst>
      <p:ext uri="{BB962C8B-B14F-4D97-AF65-F5344CB8AC3E}">
        <p14:creationId xmlns:p14="http://schemas.microsoft.com/office/powerpoint/2010/main" val="2494516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CE558-14D2-FC46-AB3D-554DFD4B2B4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935B97E-0E6B-3A15-0F31-6EB64B01D4B2}"/>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9CC1CF36-AC15-8769-6125-123E85BD4C6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974F2E7-D5E2-EBD1-E989-254F770D1DBB}"/>
              </a:ext>
            </a:extLst>
          </p:cNvPr>
          <p:cNvSpPr>
            <a:spLocks noGrp="1"/>
          </p:cNvSpPr>
          <p:nvPr>
            <p:ph type="sldNum" sz="quarter" idx="5"/>
          </p:nvPr>
        </p:nvSpPr>
        <p:spPr/>
        <p:txBody>
          <a:bodyPr/>
          <a:lstStyle/>
          <a:p>
            <a:fld id="{C9D89646-4F35-49C2-BD28-89287C170EC3}" type="slidenum">
              <a:rPr lang="el-GR" smtClean="0"/>
              <a:t>7</a:t>
            </a:fld>
            <a:endParaRPr lang="el-GR"/>
          </a:p>
        </p:txBody>
      </p:sp>
    </p:spTree>
    <p:extLst>
      <p:ext uri="{BB962C8B-B14F-4D97-AF65-F5344CB8AC3E}">
        <p14:creationId xmlns:p14="http://schemas.microsoft.com/office/powerpoint/2010/main" val="2680342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B4B32-336B-EACE-EAFC-D83BAFCC8C2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69321CA-4B2A-CFC3-248A-D4F2543D247A}"/>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AF67356D-37C2-B26F-B677-C75D9B8536E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D50F6C68-BEC8-232E-1DE1-51AF4D5DC1ED}"/>
              </a:ext>
            </a:extLst>
          </p:cNvPr>
          <p:cNvSpPr>
            <a:spLocks noGrp="1"/>
          </p:cNvSpPr>
          <p:nvPr>
            <p:ph type="sldNum" sz="quarter" idx="5"/>
          </p:nvPr>
        </p:nvSpPr>
        <p:spPr/>
        <p:txBody>
          <a:bodyPr/>
          <a:lstStyle/>
          <a:p>
            <a:fld id="{C9D89646-4F35-49C2-BD28-89287C170EC3}" type="slidenum">
              <a:rPr lang="el-GR" smtClean="0"/>
              <a:t>8</a:t>
            </a:fld>
            <a:endParaRPr lang="el-GR"/>
          </a:p>
        </p:txBody>
      </p:sp>
    </p:spTree>
    <p:extLst>
      <p:ext uri="{BB962C8B-B14F-4D97-AF65-F5344CB8AC3E}">
        <p14:creationId xmlns:p14="http://schemas.microsoft.com/office/powerpoint/2010/main" val="534084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B75E-8B7E-8CD9-A8A5-DB0D95075A3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8D870B4-AF8B-8592-965D-EE847B2A2A4C}"/>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389D35F5-1F0B-EF19-EC27-E49277BF9A78}"/>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63A99FE-B322-F881-C310-BBE6E1DF1EBF}"/>
              </a:ext>
            </a:extLst>
          </p:cNvPr>
          <p:cNvSpPr>
            <a:spLocks noGrp="1"/>
          </p:cNvSpPr>
          <p:nvPr>
            <p:ph type="sldNum" sz="quarter" idx="5"/>
          </p:nvPr>
        </p:nvSpPr>
        <p:spPr/>
        <p:txBody>
          <a:bodyPr/>
          <a:lstStyle/>
          <a:p>
            <a:fld id="{C9D89646-4F35-49C2-BD28-89287C170EC3}" type="slidenum">
              <a:rPr lang="el-GR" smtClean="0"/>
              <a:t>9</a:t>
            </a:fld>
            <a:endParaRPr lang="el-GR"/>
          </a:p>
        </p:txBody>
      </p:sp>
    </p:spTree>
    <p:extLst>
      <p:ext uri="{BB962C8B-B14F-4D97-AF65-F5344CB8AC3E}">
        <p14:creationId xmlns:p14="http://schemas.microsoft.com/office/powerpoint/2010/main" val="4144005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C7D90-2AB8-C1D8-D13B-2DC63B28454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BB41EE7-F5A5-E8D7-6E09-A4BB6D8E776A}"/>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A50E17CB-B97D-33A9-4CD5-2425889D4DD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1D02313-DE9F-8E8E-5D58-CE2C05399B1B}"/>
              </a:ext>
            </a:extLst>
          </p:cNvPr>
          <p:cNvSpPr>
            <a:spLocks noGrp="1"/>
          </p:cNvSpPr>
          <p:nvPr>
            <p:ph type="sldNum" sz="quarter" idx="5"/>
          </p:nvPr>
        </p:nvSpPr>
        <p:spPr/>
        <p:txBody>
          <a:bodyPr/>
          <a:lstStyle/>
          <a:p>
            <a:fld id="{C9D89646-4F35-49C2-BD28-89287C170EC3}" type="slidenum">
              <a:rPr lang="el-GR" smtClean="0"/>
              <a:t>10</a:t>
            </a:fld>
            <a:endParaRPr lang="el-GR"/>
          </a:p>
        </p:txBody>
      </p:sp>
    </p:spTree>
    <p:extLst>
      <p:ext uri="{BB962C8B-B14F-4D97-AF65-F5344CB8AC3E}">
        <p14:creationId xmlns:p14="http://schemas.microsoft.com/office/powerpoint/2010/main" val="2076936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3BAC1-599F-8AA9-41B4-7F455332DE9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E700095-81C9-A2D2-8BAC-650B05B844B1}"/>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198631E4-38A6-BEE9-A3DF-44E2AA1ECCED}"/>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D12DD4B4-7440-8BD8-B4A0-354F164D203A}"/>
              </a:ext>
            </a:extLst>
          </p:cNvPr>
          <p:cNvSpPr>
            <a:spLocks noGrp="1"/>
          </p:cNvSpPr>
          <p:nvPr>
            <p:ph type="sldNum" sz="quarter" idx="5"/>
          </p:nvPr>
        </p:nvSpPr>
        <p:spPr/>
        <p:txBody>
          <a:bodyPr/>
          <a:lstStyle/>
          <a:p>
            <a:fld id="{C9D89646-4F35-49C2-BD28-89287C170EC3}" type="slidenum">
              <a:rPr lang="el-GR" smtClean="0"/>
              <a:t>11</a:t>
            </a:fld>
            <a:endParaRPr lang="el-GR"/>
          </a:p>
        </p:txBody>
      </p:sp>
    </p:spTree>
    <p:extLst>
      <p:ext uri="{BB962C8B-B14F-4D97-AF65-F5344CB8AC3E}">
        <p14:creationId xmlns:p14="http://schemas.microsoft.com/office/powerpoint/2010/main" val="286272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5E282-6AF7-845C-BD66-03AEEE8488A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C0C8AE0-8C74-E7E1-38ED-0DF1B9DB4656}"/>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B3FEB125-367F-C7D2-E9D0-E884FA698EB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1E76763-6925-7F90-79D9-9FA29E42D1D0}"/>
              </a:ext>
            </a:extLst>
          </p:cNvPr>
          <p:cNvSpPr>
            <a:spLocks noGrp="1"/>
          </p:cNvSpPr>
          <p:nvPr>
            <p:ph type="sldNum" sz="quarter" idx="5"/>
          </p:nvPr>
        </p:nvSpPr>
        <p:spPr/>
        <p:txBody>
          <a:bodyPr/>
          <a:lstStyle/>
          <a:p>
            <a:fld id="{C9D89646-4F35-49C2-BD28-89287C170EC3}" type="slidenum">
              <a:rPr lang="el-GR" smtClean="0"/>
              <a:t>12</a:t>
            </a:fld>
            <a:endParaRPr lang="el-GR"/>
          </a:p>
        </p:txBody>
      </p:sp>
    </p:spTree>
    <p:extLst>
      <p:ext uri="{BB962C8B-B14F-4D97-AF65-F5344CB8AC3E}">
        <p14:creationId xmlns:p14="http://schemas.microsoft.com/office/powerpoint/2010/main" val="723217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434FD-3AAC-B962-1811-7D1062D6489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984475D-5CED-6EA8-6D56-062268FDC7BC}"/>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E1496AA9-F777-C75F-E00D-9E83F1A8E75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2EF5952-18DA-7A5B-A4E8-D62029D36C94}"/>
              </a:ext>
            </a:extLst>
          </p:cNvPr>
          <p:cNvSpPr>
            <a:spLocks noGrp="1"/>
          </p:cNvSpPr>
          <p:nvPr>
            <p:ph type="sldNum" sz="quarter" idx="5"/>
          </p:nvPr>
        </p:nvSpPr>
        <p:spPr/>
        <p:txBody>
          <a:bodyPr/>
          <a:lstStyle/>
          <a:p>
            <a:fld id="{C9D89646-4F35-49C2-BD28-89287C170EC3}" type="slidenum">
              <a:rPr lang="el-GR" smtClean="0"/>
              <a:t>13</a:t>
            </a:fld>
            <a:endParaRPr lang="el-GR"/>
          </a:p>
        </p:txBody>
      </p:sp>
    </p:spTree>
    <p:extLst>
      <p:ext uri="{BB962C8B-B14F-4D97-AF65-F5344CB8AC3E}">
        <p14:creationId xmlns:p14="http://schemas.microsoft.com/office/powerpoint/2010/main" val="3824147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31C89-5154-58FA-6F37-D1422FAFE72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36E9D47-EA14-47B9-5242-96079EB8D4F1}"/>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2D93C78F-2ED1-E6F5-B0CA-0DF194391B0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DF5E1973-A413-3458-038F-61737751410D}"/>
              </a:ext>
            </a:extLst>
          </p:cNvPr>
          <p:cNvSpPr>
            <a:spLocks noGrp="1"/>
          </p:cNvSpPr>
          <p:nvPr>
            <p:ph type="sldNum" sz="quarter" idx="5"/>
          </p:nvPr>
        </p:nvSpPr>
        <p:spPr/>
        <p:txBody>
          <a:bodyPr/>
          <a:lstStyle/>
          <a:p>
            <a:fld id="{C9D89646-4F35-49C2-BD28-89287C170EC3}" type="slidenum">
              <a:rPr lang="el-GR" smtClean="0"/>
              <a:t>14</a:t>
            </a:fld>
            <a:endParaRPr lang="el-GR"/>
          </a:p>
        </p:txBody>
      </p:sp>
    </p:spTree>
    <p:extLst>
      <p:ext uri="{BB962C8B-B14F-4D97-AF65-F5344CB8AC3E}">
        <p14:creationId xmlns:p14="http://schemas.microsoft.com/office/powerpoint/2010/main" val="2115247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CA505-F260-D0A7-76A3-D0CB65EB281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3289086-236F-239E-6197-04AED60BE31B}"/>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08A65D05-507F-E6E0-D47B-88862832E41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C892766-4C52-431E-82AD-72EF0EDD263E}"/>
              </a:ext>
            </a:extLst>
          </p:cNvPr>
          <p:cNvSpPr>
            <a:spLocks noGrp="1"/>
          </p:cNvSpPr>
          <p:nvPr>
            <p:ph type="sldNum" sz="quarter" idx="5"/>
          </p:nvPr>
        </p:nvSpPr>
        <p:spPr/>
        <p:txBody>
          <a:bodyPr/>
          <a:lstStyle/>
          <a:p>
            <a:fld id="{C9D89646-4F35-49C2-BD28-89287C170EC3}" type="slidenum">
              <a:rPr lang="el-GR" smtClean="0"/>
              <a:t>15</a:t>
            </a:fld>
            <a:endParaRPr lang="el-GR"/>
          </a:p>
        </p:txBody>
      </p:sp>
    </p:spTree>
    <p:extLst>
      <p:ext uri="{BB962C8B-B14F-4D97-AF65-F5344CB8AC3E}">
        <p14:creationId xmlns:p14="http://schemas.microsoft.com/office/powerpoint/2010/main" val="1866911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5B917-6908-B120-26AD-DCA3F030018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7D9EF6F-943A-01BA-7714-52545A21F28F}"/>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FD3CFAD2-1F25-F39B-7A67-9FC06E493F3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33D59A3-1B08-B007-B210-BE61FF6CD530}"/>
              </a:ext>
            </a:extLst>
          </p:cNvPr>
          <p:cNvSpPr>
            <a:spLocks noGrp="1"/>
          </p:cNvSpPr>
          <p:nvPr>
            <p:ph type="sldNum" sz="quarter" idx="5"/>
          </p:nvPr>
        </p:nvSpPr>
        <p:spPr/>
        <p:txBody>
          <a:bodyPr/>
          <a:lstStyle/>
          <a:p>
            <a:fld id="{C9D89646-4F35-49C2-BD28-89287C170EC3}" type="slidenum">
              <a:rPr lang="el-GR" smtClean="0"/>
              <a:t>16</a:t>
            </a:fld>
            <a:endParaRPr lang="el-GR"/>
          </a:p>
        </p:txBody>
      </p:sp>
    </p:spTree>
    <p:extLst>
      <p:ext uri="{BB962C8B-B14F-4D97-AF65-F5344CB8AC3E}">
        <p14:creationId xmlns:p14="http://schemas.microsoft.com/office/powerpoint/2010/main" val="4017044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C294-DA37-7971-0C1C-BD99995A065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263C87F-0033-F820-18AB-D5150F0F0621}"/>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BC562F71-3238-2033-1E30-AB4AB54FCB2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A81F202-9A85-C49E-09E8-C56B2A238E7B}"/>
              </a:ext>
            </a:extLst>
          </p:cNvPr>
          <p:cNvSpPr>
            <a:spLocks noGrp="1"/>
          </p:cNvSpPr>
          <p:nvPr>
            <p:ph type="sldNum" sz="quarter" idx="5"/>
          </p:nvPr>
        </p:nvSpPr>
        <p:spPr/>
        <p:txBody>
          <a:bodyPr/>
          <a:lstStyle/>
          <a:p>
            <a:fld id="{C9D89646-4F35-49C2-BD28-89287C170EC3}" type="slidenum">
              <a:rPr lang="el-GR" smtClean="0"/>
              <a:t>17</a:t>
            </a:fld>
            <a:endParaRPr lang="el-GR"/>
          </a:p>
        </p:txBody>
      </p:sp>
    </p:spTree>
    <p:extLst>
      <p:ext uri="{BB962C8B-B14F-4D97-AF65-F5344CB8AC3E}">
        <p14:creationId xmlns:p14="http://schemas.microsoft.com/office/powerpoint/2010/main" val="1621796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EC50A-9867-E627-32E9-D99512EE284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EC2A87B-FAFE-5116-411C-FAB7E62C963E}"/>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CA149145-DBA9-1A4F-1299-01C2AB0ABA3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52BF952-1724-0D5B-967D-3E9D340234DC}"/>
              </a:ext>
            </a:extLst>
          </p:cNvPr>
          <p:cNvSpPr>
            <a:spLocks noGrp="1"/>
          </p:cNvSpPr>
          <p:nvPr>
            <p:ph type="sldNum" sz="quarter" idx="5"/>
          </p:nvPr>
        </p:nvSpPr>
        <p:spPr/>
        <p:txBody>
          <a:bodyPr/>
          <a:lstStyle/>
          <a:p>
            <a:fld id="{C9D89646-4F35-49C2-BD28-89287C170EC3}" type="slidenum">
              <a:rPr lang="el-GR" smtClean="0"/>
              <a:t>18</a:t>
            </a:fld>
            <a:endParaRPr lang="el-GR"/>
          </a:p>
        </p:txBody>
      </p:sp>
    </p:spTree>
    <p:extLst>
      <p:ext uri="{BB962C8B-B14F-4D97-AF65-F5344CB8AC3E}">
        <p14:creationId xmlns:p14="http://schemas.microsoft.com/office/powerpoint/2010/main" val="1469260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4978B-277C-FF09-E4CD-CBD8A4A8AC8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516AEA2-8989-D9EC-76AC-FA96A758BB1D}"/>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526C5C48-5D14-24FE-F0E1-68993E13BBC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E931E0C-C0A3-F549-90DD-CE99B2971652}"/>
              </a:ext>
            </a:extLst>
          </p:cNvPr>
          <p:cNvSpPr>
            <a:spLocks noGrp="1"/>
          </p:cNvSpPr>
          <p:nvPr>
            <p:ph type="sldNum" sz="quarter" idx="5"/>
          </p:nvPr>
        </p:nvSpPr>
        <p:spPr/>
        <p:txBody>
          <a:bodyPr/>
          <a:lstStyle/>
          <a:p>
            <a:fld id="{C9D89646-4F35-49C2-BD28-89287C170EC3}" type="slidenum">
              <a:rPr lang="el-GR" smtClean="0"/>
              <a:t>19</a:t>
            </a:fld>
            <a:endParaRPr lang="el-GR"/>
          </a:p>
        </p:txBody>
      </p:sp>
    </p:spTree>
    <p:extLst>
      <p:ext uri="{BB962C8B-B14F-4D97-AF65-F5344CB8AC3E}">
        <p14:creationId xmlns:p14="http://schemas.microsoft.com/office/powerpoint/2010/main" val="1159390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6DF42-8DFE-272A-19BC-05CF50D3278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EBA10C5-7FFC-875B-5108-0AF44B6BF049}"/>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96FF0139-943D-DA71-828C-5CE4A1FD0C1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C314790-AB09-C20B-432D-0B43B081DFA4}"/>
              </a:ext>
            </a:extLst>
          </p:cNvPr>
          <p:cNvSpPr>
            <a:spLocks noGrp="1"/>
          </p:cNvSpPr>
          <p:nvPr>
            <p:ph type="sldNum" sz="quarter" idx="5"/>
          </p:nvPr>
        </p:nvSpPr>
        <p:spPr/>
        <p:txBody>
          <a:bodyPr/>
          <a:lstStyle/>
          <a:p>
            <a:fld id="{C9D89646-4F35-49C2-BD28-89287C170EC3}" type="slidenum">
              <a:rPr lang="el-GR" smtClean="0"/>
              <a:t>20</a:t>
            </a:fld>
            <a:endParaRPr lang="el-GR"/>
          </a:p>
        </p:txBody>
      </p:sp>
    </p:spTree>
    <p:extLst>
      <p:ext uri="{BB962C8B-B14F-4D97-AF65-F5344CB8AC3E}">
        <p14:creationId xmlns:p14="http://schemas.microsoft.com/office/powerpoint/2010/main" val="2072924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80090-D315-78F2-12BD-6622A55A727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23A6618-8B3B-5B17-BCFB-C6A1FADF0C18}"/>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19A3EAB4-983B-5293-7E22-00B449097DD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50BB157-0FDF-641F-612D-DDAC9BD5F136}"/>
              </a:ext>
            </a:extLst>
          </p:cNvPr>
          <p:cNvSpPr>
            <a:spLocks noGrp="1"/>
          </p:cNvSpPr>
          <p:nvPr>
            <p:ph type="sldNum" sz="quarter" idx="5"/>
          </p:nvPr>
        </p:nvSpPr>
        <p:spPr/>
        <p:txBody>
          <a:bodyPr/>
          <a:lstStyle/>
          <a:p>
            <a:fld id="{C9D89646-4F35-49C2-BD28-89287C170EC3}" type="slidenum">
              <a:rPr lang="el-GR" smtClean="0"/>
              <a:t>21</a:t>
            </a:fld>
            <a:endParaRPr lang="el-GR"/>
          </a:p>
        </p:txBody>
      </p:sp>
    </p:spTree>
    <p:extLst>
      <p:ext uri="{BB962C8B-B14F-4D97-AF65-F5344CB8AC3E}">
        <p14:creationId xmlns:p14="http://schemas.microsoft.com/office/powerpoint/2010/main" val="1403902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8F16D-1064-3581-C8FE-2178D3BE198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2FE6020-F9BB-E18B-2BBA-436474E073FE}"/>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8A82CCFB-4C01-FEAB-ACD4-24FC2B38A9F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D3ADFC54-DA84-5CB4-536A-BEED380BBD56}"/>
              </a:ext>
            </a:extLst>
          </p:cNvPr>
          <p:cNvSpPr>
            <a:spLocks noGrp="1"/>
          </p:cNvSpPr>
          <p:nvPr>
            <p:ph type="sldNum" sz="quarter" idx="5"/>
          </p:nvPr>
        </p:nvSpPr>
        <p:spPr/>
        <p:txBody>
          <a:bodyPr/>
          <a:lstStyle/>
          <a:p>
            <a:fld id="{C9D89646-4F35-49C2-BD28-89287C170EC3}" type="slidenum">
              <a:rPr lang="el-GR" smtClean="0"/>
              <a:t>22</a:t>
            </a:fld>
            <a:endParaRPr lang="el-GR"/>
          </a:p>
        </p:txBody>
      </p:sp>
    </p:spTree>
    <p:extLst>
      <p:ext uri="{BB962C8B-B14F-4D97-AF65-F5344CB8AC3E}">
        <p14:creationId xmlns:p14="http://schemas.microsoft.com/office/powerpoint/2010/main" val="18524114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D320-AEDA-05E6-F58E-E5020A5F7F1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DAD6D8C-9947-3410-8CEA-C5149C0FB766}"/>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70542C95-DDC9-13CD-9DB1-5A13CC82B7A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E50367B-E890-80DF-05AA-723CB1554B3C}"/>
              </a:ext>
            </a:extLst>
          </p:cNvPr>
          <p:cNvSpPr>
            <a:spLocks noGrp="1"/>
          </p:cNvSpPr>
          <p:nvPr>
            <p:ph type="sldNum" sz="quarter" idx="5"/>
          </p:nvPr>
        </p:nvSpPr>
        <p:spPr/>
        <p:txBody>
          <a:bodyPr/>
          <a:lstStyle/>
          <a:p>
            <a:fld id="{C9D89646-4F35-49C2-BD28-89287C170EC3}" type="slidenum">
              <a:rPr lang="el-GR" smtClean="0"/>
              <a:t>23</a:t>
            </a:fld>
            <a:endParaRPr lang="el-GR"/>
          </a:p>
        </p:txBody>
      </p:sp>
    </p:spTree>
    <p:extLst>
      <p:ext uri="{BB962C8B-B14F-4D97-AF65-F5344CB8AC3E}">
        <p14:creationId xmlns:p14="http://schemas.microsoft.com/office/powerpoint/2010/main" val="27021848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F10E7-9F5C-B455-915D-71586629FE8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DEFEC20-D370-DCA2-6805-65FC8B4D802B}"/>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7E84B3EE-0301-6F01-262D-48CEED961B8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8EC835F-CA61-6E30-3253-BD8CDF0F4CB7}"/>
              </a:ext>
            </a:extLst>
          </p:cNvPr>
          <p:cNvSpPr>
            <a:spLocks noGrp="1"/>
          </p:cNvSpPr>
          <p:nvPr>
            <p:ph type="sldNum" sz="quarter" idx="5"/>
          </p:nvPr>
        </p:nvSpPr>
        <p:spPr/>
        <p:txBody>
          <a:bodyPr/>
          <a:lstStyle/>
          <a:p>
            <a:fld id="{C9D89646-4F35-49C2-BD28-89287C170EC3}" type="slidenum">
              <a:rPr lang="el-GR" smtClean="0"/>
              <a:t>24</a:t>
            </a:fld>
            <a:endParaRPr lang="el-GR"/>
          </a:p>
        </p:txBody>
      </p:sp>
    </p:spTree>
    <p:extLst>
      <p:ext uri="{BB962C8B-B14F-4D97-AF65-F5344CB8AC3E}">
        <p14:creationId xmlns:p14="http://schemas.microsoft.com/office/powerpoint/2010/main" val="3549021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483DD-926F-8020-69AB-859ABE1D9DC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34C5F9E-5535-90BC-122A-1E4246E2A039}"/>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DFC8FFF3-3BE2-4183-27D0-2F87E7D0243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9E1AFD5-45CD-49AC-4459-CB209875F3E4}"/>
              </a:ext>
            </a:extLst>
          </p:cNvPr>
          <p:cNvSpPr>
            <a:spLocks noGrp="1"/>
          </p:cNvSpPr>
          <p:nvPr>
            <p:ph type="sldNum" sz="quarter" idx="5"/>
          </p:nvPr>
        </p:nvSpPr>
        <p:spPr/>
        <p:txBody>
          <a:bodyPr/>
          <a:lstStyle/>
          <a:p>
            <a:fld id="{C9D89646-4F35-49C2-BD28-89287C170EC3}" type="slidenum">
              <a:rPr lang="el-GR" smtClean="0"/>
              <a:t>25</a:t>
            </a:fld>
            <a:endParaRPr lang="el-GR"/>
          </a:p>
        </p:txBody>
      </p:sp>
    </p:spTree>
    <p:extLst>
      <p:ext uri="{BB962C8B-B14F-4D97-AF65-F5344CB8AC3E}">
        <p14:creationId xmlns:p14="http://schemas.microsoft.com/office/powerpoint/2010/main" val="33634450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0F15-3B05-0ACB-15F1-B5B44FDA347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95ED59C-60BA-CA9D-D06A-108EDE149D57}"/>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945BE86F-0E88-79D0-2A6F-124AA616CB1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1510944-AC3F-BBDD-CC31-E5EA151F1543}"/>
              </a:ext>
            </a:extLst>
          </p:cNvPr>
          <p:cNvSpPr>
            <a:spLocks noGrp="1"/>
          </p:cNvSpPr>
          <p:nvPr>
            <p:ph type="sldNum" sz="quarter" idx="5"/>
          </p:nvPr>
        </p:nvSpPr>
        <p:spPr/>
        <p:txBody>
          <a:bodyPr/>
          <a:lstStyle/>
          <a:p>
            <a:fld id="{C9D89646-4F35-49C2-BD28-89287C170EC3}" type="slidenum">
              <a:rPr lang="el-GR" smtClean="0"/>
              <a:t>26</a:t>
            </a:fld>
            <a:endParaRPr lang="el-GR"/>
          </a:p>
        </p:txBody>
      </p:sp>
    </p:spTree>
    <p:extLst>
      <p:ext uri="{BB962C8B-B14F-4D97-AF65-F5344CB8AC3E}">
        <p14:creationId xmlns:p14="http://schemas.microsoft.com/office/powerpoint/2010/main" val="20669080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0B60-D08D-187F-65DF-6FC7C7A317B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14D9211-D97A-D1BF-15B1-7AADF80C19D4}"/>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CC709EEA-F083-067E-2C3A-C70C64E304B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B19284C-A438-12A3-A650-6303103D8162}"/>
              </a:ext>
            </a:extLst>
          </p:cNvPr>
          <p:cNvSpPr>
            <a:spLocks noGrp="1"/>
          </p:cNvSpPr>
          <p:nvPr>
            <p:ph type="sldNum" sz="quarter" idx="5"/>
          </p:nvPr>
        </p:nvSpPr>
        <p:spPr/>
        <p:txBody>
          <a:bodyPr/>
          <a:lstStyle/>
          <a:p>
            <a:fld id="{C9D89646-4F35-49C2-BD28-89287C170EC3}" type="slidenum">
              <a:rPr lang="el-GR" smtClean="0"/>
              <a:t>27</a:t>
            </a:fld>
            <a:endParaRPr lang="el-GR"/>
          </a:p>
        </p:txBody>
      </p:sp>
    </p:spTree>
    <p:extLst>
      <p:ext uri="{BB962C8B-B14F-4D97-AF65-F5344CB8AC3E}">
        <p14:creationId xmlns:p14="http://schemas.microsoft.com/office/powerpoint/2010/main" val="6656356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07F62-E58E-FDC9-ACBF-05FC712E27A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951DC93-3FDF-EB2F-C998-EB26E70238E3}"/>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4B2D8A67-E181-61CD-3F08-FE731BB26D5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1D405D2-D11B-79E1-60D9-DBE0DA098988}"/>
              </a:ext>
            </a:extLst>
          </p:cNvPr>
          <p:cNvSpPr>
            <a:spLocks noGrp="1"/>
          </p:cNvSpPr>
          <p:nvPr>
            <p:ph type="sldNum" sz="quarter" idx="5"/>
          </p:nvPr>
        </p:nvSpPr>
        <p:spPr/>
        <p:txBody>
          <a:bodyPr/>
          <a:lstStyle/>
          <a:p>
            <a:fld id="{C9D89646-4F35-49C2-BD28-89287C170EC3}" type="slidenum">
              <a:rPr lang="el-GR" smtClean="0"/>
              <a:t>28</a:t>
            </a:fld>
            <a:endParaRPr lang="el-GR"/>
          </a:p>
        </p:txBody>
      </p:sp>
    </p:spTree>
    <p:extLst>
      <p:ext uri="{BB962C8B-B14F-4D97-AF65-F5344CB8AC3E}">
        <p14:creationId xmlns:p14="http://schemas.microsoft.com/office/powerpoint/2010/main" val="3093567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54592-AC9C-EF66-0858-D8D05B533FF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213928C-29B4-30F5-5AD9-F181DC0987E9}"/>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6C667C20-2329-CB90-DA6A-18D57D9F63FD}"/>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6E9C5E7-36EC-25DC-7C8F-2FB72A31E8D5}"/>
              </a:ext>
            </a:extLst>
          </p:cNvPr>
          <p:cNvSpPr>
            <a:spLocks noGrp="1"/>
          </p:cNvSpPr>
          <p:nvPr>
            <p:ph type="sldNum" sz="quarter" idx="5"/>
          </p:nvPr>
        </p:nvSpPr>
        <p:spPr/>
        <p:txBody>
          <a:bodyPr/>
          <a:lstStyle/>
          <a:p>
            <a:fld id="{C9D89646-4F35-49C2-BD28-89287C170EC3}" type="slidenum">
              <a:rPr lang="el-GR" smtClean="0"/>
              <a:t>29</a:t>
            </a:fld>
            <a:endParaRPr lang="el-GR"/>
          </a:p>
        </p:txBody>
      </p:sp>
    </p:spTree>
    <p:extLst>
      <p:ext uri="{BB962C8B-B14F-4D97-AF65-F5344CB8AC3E}">
        <p14:creationId xmlns:p14="http://schemas.microsoft.com/office/powerpoint/2010/main" val="2638146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E3883-FDE0-149A-D9F8-1AC758AF4E1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E18C892-0A83-8373-42B7-45394440B825}"/>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7ED847FA-F00C-2504-B0E3-F8AB91E111A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FB72653-B624-7445-2B30-0412AD814BD7}"/>
              </a:ext>
            </a:extLst>
          </p:cNvPr>
          <p:cNvSpPr>
            <a:spLocks noGrp="1"/>
          </p:cNvSpPr>
          <p:nvPr>
            <p:ph type="sldNum" sz="quarter" idx="5"/>
          </p:nvPr>
        </p:nvSpPr>
        <p:spPr/>
        <p:txBody>
          <a:bodyPr/>
          <a:lstStyle/>
          <a:p>
            <a:fld id="{C9D89646-4F35-49C2-BD28-89287C170EC3}" type="slidenum">
              <a:rPr lang="el-GR" smtClean="0"/>
              <a:t>30</a:t>
            </a:fld>
            <a:endParaRPr lang="el-GR"/>
          </a:p>
        </p:txBody>
      </p:sp>
    </p:spTree>
    <p:extLst>
      <p:ext uri="{BB962C8B-B14F-4D97-AF65-F5344CB8AC3E}">
        <p14:creationId xmlns:p14="http://schemas.microsoft.com/office/powerpoint/2010/main" val="37056930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5C451-180A-526C-5B10-49D970AA6C3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54A0D4F-09AA-66FC-7C42-7492762A89BE}"/>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D1D670E0-BE4C-33B2-62A0-281CCB83FCE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5310147-8931-5D7F-1FF7-6EEE0B8C431B}"/>
              </a:ext>
            </a:extLst>
          </p:cNvPr>
          <p:cNvSpPr>
            <a:spLocks noGrp="1"/>
          </p:cNvSpPr>
          <p:nvPr>
            <p:ph type="sldNum" sz="quarter" idx="5"/>
          </p:nvPr>
        </p:nvSpPr>
        <p:spPr/>
        <p:txBody>
          <a:bodyPr/>
          <a:lstStyle/>
          <a:p>
            <a:fld id="{C9D89646-4F35-49C2-BD28-89287C170EC3}" type="slidenum">
              <a:rPr lang="el-GR" smtClean="0"/>
              <a:t>31</a:t>
            </a:fld>
            <a:endParaRPr lang="el-GR"/>
          </a:p>
        </p:txBody>
      </p:sp>
    </p:spTree>
    <p:extLst>
      <p:ext uri="{BB962C8B-B14F-4D97-AF65-F5344CB8AC3E}">
        <p14:creationId xmlns:p14="http://schemas.microsoft.com/office/powerpoint/2010/main" val="36638274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F42B6-F148-DB8A-916B-49EE2FCFD22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2FACEC7-D13D-F276-D106-EA1F22751FDE}"/>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E3BEA778-4461-5303-AB3A-58DF57A89C6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BF74784-F43D-FC45-5D31-5ED4B0E44A97}"/>
              </a:ext>
            </a:extLst>
          </p:cNvPr>
          <p:cNvSpPr>
            <a:spLocks noGrp="1"/>
          </p:cNvSpPr>
          <p:nvPr>
            <p:ph type="sldNum" sz="quarter" idx="5"/>
          </p:nvPr>
        </p:nvSpPr>
        <p:spPr/>
        <p:txBody>
          <a:bodyPr/>
          <a:lstStyle/>
          <a:p>
            <a:fld id="{C9D89646-4F35-49C2-BD28-89287C170EC3}" type="slidenum">
              <a:rPr lang="el-GR" smtClean="0"/>
              <a:t>32</a:t>
            </a:fld>
            <a:endParaRPr lang="el-GR"/>
          </a:p>
        </p:txBody>
      </p:sp>
    </p:spTree>
    <p:extLst>
      <p:ext uri="{BB962C8B-B14F-4D97-AF65-F5344CB8AC3E}">
        <p14:creationId xmlns:p14="http://schemas.microsoft.com/office/powerpoint/2010/main" val="41601248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8158F-FACB-88CF-731F-27FC9A0EE0C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4A7E07B-CFD6-8461-1F89-7C9709AECC13}"/>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A1A1B965-4E20-045D-BD40-57820246AA9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2906337-9F01-F72D-6F37-DACFFAAAFA85}"/>
              </a:ext>
            </a:extLst>
          </p:cNvPr>
          <p:cNvSpPr>
            <a:spLocks noGrp="1"/>
          </p:cNvSpPr>
          <p:nvPr>
            <p:ph type="sldNum" sz="quarter" idx="5"/>
          </p:nvPr>
        </p:nvSpPr>
        <p:spPr/>
        <p:txBody>
          <a:bodyPr/>
          <a:lstStyle/>
          <a:p>
            <a:fld id="{C9D89646-4F35-49C2-BD28-89287C170EC3}" type="slidenum">
              <a:rPr lang="el-GR" smtClean="0"/>
              <a:t>33</a:t>
            </a:fld>
            <a:endParaRPr lang="el-GR"/>
          </a:p>
        </p:txBody>
      </p:sp>
    </p:spTree>
    <p:extLst>
      <p:ext uri="{BB962C8B-B14F-4D97-AF65-F5344CB8AC3E}">
        <p14:creationId xmlns:p14="http://schemas.microsoft.com/office/powerpoint/2010/main" val="1075384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ACF3-425C-1AB2-588D-03206AF7083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B1DA3CA-636A-3696-059A-2BD0BDAE256A}"/>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1DC48FD8-C463-AC96-7639-CA598E5384B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E11A9D8-9F1C-180C-8A08-DD5682495320}"/>
              </a:ext>
            </a:extLst>
          </p:cNvPr>
          <p:cNvSpPr>
            <a:spLocks noGrp="1"/>
          </p:cNvSpPr>
          <p:nvPr>
            <p:ph type="sldNum" sz="quarter" idx="5"/>
          </p:nvPr>
        </p:nvSpPr>
        <p:spPr/>
        <p:txBody>
          <a:bodyPr/>
          <a:lstStyle/>
          <a:p>
            <a:fld id="{C9D89646-4F35-49C2-BD28-89287C170EC3}" type="slidenum">
              <a:rPr lang="el-GR" smtClean="0"/>
              <a:t>34</a:t>
            </a:fld>
            <a:endParaRPr lang="el-GR"/>
          </a:p>
        </p:txBody>
      </p:sp>
    </p:spTree>
    <p:extLst>
      <p:ext uri="{BB962C8B-B14F-4D97-AF65-F5344CB8AC3E}">
        <p14:creationId xmlns:p14="http://schemas.microsoft.com/office/powerpoint/2010/main" val="12508615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9E8B-2CEA-17CD-ED29-C3B1E147129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296D963-DE85-EA91-B61D-C7D2F4F03C08}"/>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46C74FC6-C0AA-FC18-BAC0-5700B6899BB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2B12A3D-3AE0-9733-A090-01AFF2522D09}"/>
              </a:ext>
            </a:extLst>
          </p:cNvPr>
          <p:cNvSpPr>
            <a:spLocks noGrp="1"/>
          </p:cNvSpPr>
          <p:nvPr>
            <p:ph type="sldNum" sz="quarter" idx="5"/>
          </p:nvPr>
        </p:nvSpPr>
        <p:spPr/>
        <p:txBody>
          <a:bodyPr/>
          <a:lstStyle/>
          <a:p>
            <a:fld id="{C9D89646-4F35-49C2-BD28-89287C170EC3}" type="slidenum">
              <a:rPr lang="el-GR" smtClean="0"/>
              <a:t>35</a:t>
            </a:fld>
            <a:endParaRPr lang="el-GR"/>
          </a:p>
        </p:txBody>
      </p:sp>
    </p:spTree>
    <p:extLst>
      <p:ext uri="{BB962C8B-B14F-4D97-AF65-F5344CB8AC3E}">
        <p14:creationId xmlns:p14="http://schemas.microsoft.com/office/powerpoint/2010/main" val="5235572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7895B-3196-8CFB-D723-F469B44615A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36974D3-7F05-E36B-60C8-20EB1A85B226}"/>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547DB787-1D3E-9E3F-D5E4-78EC2575842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33A3011-EDB8-28F2-E36D-B1EF9A71728B}"/>
              </a:ext>
            </a:extLst>
          </p:cNvPr>
          <p:cNvSpPr>
            <a:spLocks noGrp="1"/>
          </p:cNvSpPr>
          <p:nvPr>
            <p:ph type="sldNum" sz="quarter" idx="5"/>
          </p:nvPr>
        </p:nvSpPr>
        <p:spPr/>
        <p:txBody>
          <a:bodyPr/>
          <a:lstStyle/>
          <a:p>
            <a:fld id="{C9D89646-4F35-49C2-BD28-89287C170EC3}" type="slidenum">
              <a:rPr lang="el-GR" smtClean="0"/>
              <a:t>36</a:t>
            </a:fld>
            <a:endParaRPr lang="el-GR"/>
          </a:p>
        </p:txBody>
      </p:sp>
    </p:spTree>
    <p:extLst>
      <p:ext uri="{BB962C8B-B14F-4D97-AF65-F5344CB8AC3E}">
        <p14:creationId xmlns:p14="http://schemas.microsoft.com/office/powerpoint/2010/main" val="2693272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6F34D-C734-5A90-8F87-81622B263B3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C10A2CF-C5C7-6E11-115A-089BCAD4B9E3}"/>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88669335-A730-AAAE-5EBC-3F4A386B7D2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8268E2E-97A0-7E60-9963-1C8A8A734AF3}"/>
              </a:ext>
            </a:extLst>
          </p:cNvPr>
          <p:cNvSpPr>
            <a:spLocks noGrp="1"/>
          </p:cNvSpPr>
          <p:nvPr>
            <p:ph type="sldNum" sz="quarter" idx="5"/>
          </p:nvPr>
        </p:nvSpPr>
        <p:spPr/>
        <p:txBody>
          <a:bodyPr/>
          <a:lstStyle/>
          <a:p>
            <a:fld id="{C9D89646-4F35-49C2-BD28-89287C170EC3}" type="slidenum">
              <a:rPr lang="el-GR" smtClean="0"/>
              <a:t>37</a:t>
            </a:fld>
            <a:endParaRPr lang="el-GR"/>
          </a:p>
        </p:txBody>
      </p:sp>
    </p:spTree>
    <p:extLst>
      <p:ext uri="{BB962C8B-B14F-4D97-AF65-F5344CB8AC3E}">
        <p14:creationId xmlns:p14="http://schemas.microsoft.com/office/powerpoint/2010/main" val="1333780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64B91-E98F-E6AF-80B8-0C24F6391EC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1E0897E-9168-95AC-D2C3-ACEA3C169749}"/>
              </a:ext>
            </a:extLst>
          </p:cNvPr>
          <p:cNvSpPr>
            <a:spLocks noGrp="1" noRot="1" noChangeAspect="1"/>
          </p:cNvSpPr>
          <p:nvPr>
            <p:ph type="sldImg"/>
          </p:nvPr>
        </p:nvSpPr>
        <p:spPr/>
        <p:txBody>
          <a:bodyPr/>
          <a:lstStyle/>
          <a:p>
            <a:endParaRPr lang="en-GB"/>
          </a:p>
        </p:txBody>
      </p:sp>
      <p:sp>
        <p:nvSpPr>
          <p:cNvPr id="3" name="Θέση σημειώσεων 2">
            <a:extLst>
              <a:ext uri="{FF2B5EF4-FFF2-40B4-BE49-F238E27FC236}">
                <a16:creationId xmlns:a16="http://schemas.microsoft.com/office/drawing/2014/main" id="{3A2FF663-90AD-C80C-427A-7B24F32E024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ACAC49D-D788-97F5-FA3F-9D2A8D95552D}"/>
              </a:ext>
            </a:extLst>
          </p:cNvPr>
          <p:cNvSpPr>
            <a:spLocks noGrp="1"/>
          </p:cNvSpPr>
          <p:nvPr>
            <p:ph type="sldNum" sz="quarter" idx="5"/>
          </p:nvPr>
        </p:nvSpPr>
        <p:spPr/>
        <p:txBody>
          <a:bodyPr/>
          <a:lstStyle/>
          <a:p>
            <a:fld id="{C9D89646-4F35-49C2-BD28-89287C170EC3}" type="slidenum">
              <a:rPr lang="el-GR" smtClean="0"/>
              <a:t>38</a:t>
            </a:fld>
            <a:endParaRPr lang="el-GR"/>
          </a:p>
        </p:txBody>
      </p:sp>
    </p:spTree>
    <p:extLst>
      <p:ext uri="{BB962C8B-B14F-4D97-AF65-F5344CB8AC3E}">
        <p14:creationId xmlns:p14="http://schemas.microsoft.com/office/powerpoint/2010/main" val="2400988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4/11/2025</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4/11/2025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4/11/2025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4/11/2025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4/11/2025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4/11/2025</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4/11/2025</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4/11/2025</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4/11/2025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4/11/2025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4/11/2025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4/11/2025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Τίτλος και περιεχόμενο">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3726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4/11/2025</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4/11/2025</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hyperlink" Target="https://sites.google.com/view/i2art-of-programming/hom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3.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3.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3.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3.xml"/><Relationship Id="rId5" Type="http://schemas.openxmlformats.org/officeDocument/2006/relationships/image" Target="../media/image3.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3.xml"/><Relationship Id="rId6" Type="http://schemas.openxmlformats.org/officeDocument/2006/relationships/image" Target="../media/image23.png"/><Relationship Id="rId5" Type="http://schemas.openxmlformats.org/officeDocument/2006/relationships/image" Target="../media/image11.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3.xml"/><Relationship Id="rId5" Type="http://schemas.openxmlformats.org/officeDocument/2006/relationships/image" Target="../media/image3.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3.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Υπότιτλος 2">
            <a:extLst>
              <a:ext uri="{FF2B5EF4-FFF2-40B4-BE49-F238E27FC236}">
                <a16:creationId xmlns:a16="http://schemas.microsoft.com/office/drawing/2014/main" id="{999AB7B1-2CA7-4F2E-91BE-62A4C3CC57D6}"/>
              </a:ext>
            </a:extLst>
          </p:cNvPr>
          <p:cNvSpPr txBox="1">
            <a:spLocks/>
          </p:cNvSpPr>
          <p:nvPr/>
        </p:nvSpPr>
        <p:spPr>
          <a:xfrm>
            <a:off x="-3" y="48411"/>
            <a:ext cx="12192002" cy="1249811"/>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4000" b="1" dirty="0">
                <a:latin typeface="Bahnschrift" panose="020B0502040204020203" pitchFamily="34" charset="0"/>
              </a:rPr>
              <a:t>Εισαγωγή στον Προγραμματισμό</a:t>
            </a:r>
            <a:br>
              <a:rPr lang="el-GR" sz="4000" b="1" dirty="0">
                <a:latin typeface="Bahnschrift" panose="020B0502040204020203" pitchFamily="34" charset="0"/>
              </a:rPr>
            </a:br>
            <a:r>
              <a:rPr lang="el-GR" sz="4000" b="1" dirty="0">
                <a:latin typeface="Bahnschrift" panose="020B0502040204020203" pitchFamily="34" charset="0"/>
              </a:rPr>
              <a:t>(</a:t>
            </a:r>
            <a:r>
              <a:rPr lang="en-US" sz="4000" b="1" dirty="0">
                <a:latin typeface="Bahnschrift" panose="020B0502040204020203" pitchFamily="34" charset="0"/>
              </a:rPr>
              <a:t>Introduction to</a:t>
            </a:r>
            <a:r>
              <a:rPr lang="el-GR" sz="4000" b="1" dirty="0">
                <a:latin typeface="Bahnschrift" panose="020B0502040204020203" pitchFamily="34" charset="0"/>
              </a:rPr>
              <a:t> </a:t>
            </a:r>
            <a:r>
              <a:rPr lang="el-GR" sz="4000" b="1" dirty="0" err="1">
                <a:latin typeface="Bahnschrift" panose="020B0502040204020203" pitchFamily="34" charset="0"/>
              </a:rPr>
              <a:t>Programming</a:t>
            </a:r>
            <a:r>
              <a:rPr lang="el-GR" sz="4000" b="1" dirty="0">
                <a:latin typeface="Bahnschrift" panose="020B0502040204020203" pitchFamily="34" charset="0"/>
              </a:rPr>
              <a:t>)</a:t>
            </a:r>
            <a:endParaRPr lang="en-US" sz="2800" b="1" dirty="0">
              <a:latin typeface="Bahnschrift" panose="020B0502040204020203" pitchFamily="34" charset="0"/>
            </a:endParaRPr>
          </a:p>
        </p:txBody>
      </p:sp>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16237" y="1648085"/>
            <a:ext cx="8865031" cy="946331"/>
          </a:xfrm>
          <a:prstGeom prst="rect">
            <a:avLst/>
          </a:prstGeom>
        </p:spPr>
        <p:txBody>
          <a:bodyPr vert="horz" lIns="91440" tIns="45720" rIns="91440" bIns="45720" rtlCol="0" anchor="b">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16000" b="1" dirty="0">
                <a:solidFill>
                  <a:srgbClr val="60D69E"/>
                </a:solidFill>
                <a:latin typeface="Bahnschrift" panose="020B0502040204020203" pitchFamily="34" charset="0"/>
              </a:rPr>
              <a:t>Ταξινόμηση και Αναζήτηση</a:t>
            </a:r>
            <a:r>
              <a:rPr lang="en-US" sz="16000" b="1" dirty="0">
                <a:solidFill>
                  <a:srgbClr val="60D69E"/>
                </a:solidFill>
                <a:latin typeface="Bahnschrift" panose="020B0502040204020203" pitchFamily="34" charset="0"/>
              </a:rPr>
              <a:t> – Part A</a:t>
            </a:r>
          </a:p>
          <a:p>
            <a:pPr algn="l">
              <a:lnSpc>
                <a:spcPct val="100000"/>
              </a:lnSpc>
              <a:spcBef>
                <a:spcPct val="0"/>
              </a:spcBef>
              <a:spcAft>
                <a:spcPts val="600"/>
              </a:spcAft>
            </a:pPr>
            <a:r>
              <a:rPr lang="en-GB" sz="7200" b="1" dirty="0">
                <a:solidFill>
                  <a:srgbClr val="60D69E"/>
                </a:solidFill>
                <a:latin typeface="Bahnschrift" panose="020B0502040204020203" pitchFamily="34" charset="0"/>
              </a:rPr>
              <a:t>A Step-By-Step Approach</a:t>
            </a:r>
          </a:p>
        </p:txBody>
      </p:sp>
      <p:sp>
        <p:nvSpPr>
          <p:cNvPr id="18" name="Υπότιτλος 2">
            <a:extLst>
              <a:ext uri="{FF2B5EF4-FFF2-40B4-BE49-F238E27FC236}">
                <a16:creationId xmlns:a16="http://schemas.microsoft.com/office/drawing/2014/main" id="{1CC770C9-EFCA-6DAF-8AF4-65DBC6C0060B}"/>
              </a:ext>
            </a:extLst>
          </p:cNvPr>
          <p:cNvSpPr txBox="1">
            <a:spLocks/>
          </p:cNvSpPr>
          <p:nvPr/>
        </p:nvSpPr>
        <p:spPr>
          <a:xfrm>
            <a:off x="7869676" y="2944279"/>
            <a:ext cx="4299284" cy="364401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n-US" sz="4000" b="1" dirty="0">
                <a:solidFill>
                  <a:srgbClr val="C00000"/>
                </a:solidFill>
                <a:latin typeface="Bahnschrift" panose="020B0502040204020203" pitchFamily="34" charset="0"/>
              </a:rPr>
              <a:t>Sorting and</a:t>
            </a:r>
          </a:p>
          <a:p>
            <a:pPr algn="l">
              <a:lnSpc>
                <a:spcPct val="100000"/>
              </a:lnSpc>
              <a:spcBef>
                <a:spcPct val="0"/>
              </a:spcBef>
              <a:spcAft>
                <a:spcPts val="600"/>
              </a:spcAft>
            </a:pPr>
            <a:r>
              <a:rPr lang="en-US" sz="4000" b="1" dirty="0">
                <a:solidFill>
                  <a:srgbClr val="C00000"/>
                </a:solidFill>
                <a:latin typeface="Bahnschrift" panose="020B0502040204020203" pitchFamily="34" charset="0"/>
              </a:rPr>
              <a:t>Searching</a:t>
            </a:r>
          </a:p>
        </p:txBody>
      </p:sp>
      <p:pic>
        <p:nvPicPr>
          <p:cNvPr id="20" name="Picture 19">
            <a:extLst>
              <a:ext uri="{FF2B5EF4-FFF2-40B4-BE49-F238E27FC236}">
                <a16:creationId xmlns:a16="http://schemas.microsoft.com/office/drawing/2014/main" id="{F8104CF0-71DB-277D-FF43-3A47565FC2FF}"/>
              </a:ext>
            </a:extLst>
          </p:cNvPr>
          <p:cNvPicPr>
            <a:picLocks noChangeAspect="1"/>
          </p:cNvPicPr>
          <p:nvPr/>
        </p:nvPicPr>
        <p:blipFill>
          <a:blip r:embed="rId3"/>
          <a:stretch>
            <a:fillRect/>
          </a:stretch>
        </p:blipFill>
        <p:spPr>
          <a:xfrm>
            <a:off x="9565650" y="27543"/>
            <a:ext cx="2610113" cy="3728733"/>
          </a:xfrm>
          <a:prstGeom prst="rect">
            <a:avLst/>
          </a:prstGeom>
        </p:spPr>
      </p:pic>
      <p:sp>
        <p:nvSpPr>
          <p:cNvPr id="2" name="TextBox 1">
            <a:extLst>
              <a:ext uri="{FF2B5EF4-FFF2-40B4-BE49-F238E27FC236}">
                <a16:creationId xmlns:a16="http://schemas.microsoft.com/office/drawing/2014/main" id="{5F645747-ED20-19B3-8190-54D45634BE1F}"/>
              </a:ext>
            </a:extLst>
          </p:cNvPr>
          <p:cNvSpPr txBox="1"/>
          <p:nvPr/>
        </p:nvSpPr>
        <p:spPr>
          <a:xfrm flipH="1">
            <a:off x="4554512" y="2416145"/>
            <a:ext cx="5370738" cy="369332"/>
          </a:xfrm>
          <a:prstGeom prst="rect">
            <a:avLst/>
          </a:prstGeom>
          <a:noFill/>
        </p:spPr>
        <p:txBody>
          <a:bodyPr wrap="square" rtlCol="0">
            <a:spAutoFit/>
          </a:bodyPr>
          <a:lstStyle/>
          <a:p>
            <a:r>
              <a:rPr lang="en-GB" dirty="0"/>
              <a:t>https://sites.google.com/view/i2art-of-programming</a:t>
            </a:r>
          </a:p>
        </p:txBody>
      </p:sp>
      <p:sp>
        <p:nvSpPr>
          <p:cNvPr id="5" name="TextBox 4">
            <a:extLst>
              <a:ext uri="{FF2B5EF4-FFF2-40B4-BE49-F238E27FC236}">
                <a16:creationId xmlns:a16="http://schemas.microsoft.com/office/drawing/2014/main" id="{2DA0368E-6ADC-C0B8-7EA7-E8B85F721C26}"/>
              </a:ext>
            </a:extLst>
          </p:cNvPr>
          <p:cNvSpPr txBox="1"/>
          <p:nvPr/>
        </p:nvSpPr>
        <p:spPr>
          <a:xfrm>
            <a:off x="9565650" y="3746541"/>
            <a:ext cx="2610113" cy="923330"/>
          </a:xfrm>
          <a:prstGeom prst="rect">
            <a:avLst/>
          </a:prstGeom>
          <a:noFill/>
        </p:spPr>
        <p:txBody>
          <a:bodyPr wrap="square" rtlCol="0">
            <a:spAutoFit/>
          </a:bodyPr>
          <a:lstStyle/>
          <a:p>
            <a:r>
              <a:rPr lang="el-GR" dirty="0"/>
              <a:t>Πηγή: </a:t>
            </a:r>
            <a:r>
              <a:rPr lang="el-GR" dirty="0">
                <a:hlinkClick r:id="rId4"/>
              </a:rPr>
              <a:t>Μια Εισαγωγή στην Τέχνη του Προγραμματισμού</a:t>
            </a:r>
            <a:endParaRPr lang="en-GB" dirty="0"/>
          </a:p>
        </p:txBody>
      </p:sp>
      <p:pic>
        <p:nvPicPr>
          <p:cNvPr id="6" name="Picture 5">
            <a:extLst>
              <a:ext uri="{FF2B5EF4-FFF2-40B4-BE49-F238E27FC236}">
                <a16:creationId xmlns:a16="http://schemas.microsoft.com/office/drawing/2014/main" id="{C32A36CA-F755-F92A-9871-3A35916B8529}"/>
              </a:ext>
            </a:extLst>
          </p:cNvPr>
          <p:cNvPicPr>
            <a:picLocks noChangeAspect="1"/>
          </p:cNvPicPr>
          <p:nvPr/>
        </p:nvPicPr>
        <p:blipFill>
          <a:blip r:embed="rId5"/>
          <a:stretch>
            <a:fillRect/>
          </a:stretch>
        </p:blipFill>
        <p:spPr>
          <a:xfrm>
            <a:off x="-3" y="2785477"/>
            <a:ext cx="7869679" cy="4072523"/>
          </a:xfrm>
          <a:prstGeom prst="rect">
            <a:avLst/>
          </a:prstGeom>
        </p:spPr>
      </p:pic>
    </p:spTree>
    <p:extLst>
      <p:ext uri="{BB962C8B-B14F-4D97-AF65-F5344CB8AC3E}">
        <p14:creationId xmlns:p14="http://schemas.microsoft.com/office/powerpoint/2010/main" val="3983682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635E-13B9-9C1B-C13D-3FFB3D544CD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C28A9634-4676-80EF-67E2-A6D4D1470B18}"/>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CB1C13C6-17D1-7C66-983F-D7B6E57CB931}"/>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Στόχος Ενότητας </a:t>
            </a:r>
          </a:p>
        </p:txBody>
      </p:sp>
      <p:grpSp>
        <p:nvGrpSpPr>
          <p:cNvPr id="6" name="Group 5">
            <a:extLst>
              <a:ext uri="{FF2B5EF4-FFF2-40B4-BE49-F238E27FC236}">
                <a16:creationId xmlns:a16="http://schemas.microsoft.com/office/drawing/2014/main" id="{0E3FF5D4-23FF-0223-B0C6-3BD5F419932B}"/>
              </a:ext>
            </a:extLst>
          </p:cNvPr>
          <p:cNvGrpSpPr/>
          <p:nvPr/>
        </p:nvGrpSpPr>
        <p:grpSpPr>
          <a:xfrm>
            <a:off x="-1" y="6559909"/>
            <a:ext cx="12051332" cy="327218"/>
            <a:chOff x="-1" y="6559909"/>
            <a:chExt cx="12051332" cy="327218"/>
          </a:xfrm>
        </p:grpSpPr>
        <p:sp>
          <p:nvSpPr>
            <p:cNvPr id="8" name="Θέση υποσέλιδου 4">
              <a:extLst>
                <a:ext uri="{FF2B5EF4-FFF2-40B4-BE49-F238E27FC236}">
                  <a16:creationId xmlns:a16="http://schemas.microsoft.com/office/drawing/2014/main" id="{1F0DD3F0-F993-07FA-CF3E-EC2B3B0D151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EE05CF8-C118-C650-A095-0EE349F5B94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22D7C49-9DEB-8E6A-F5E3-97DFE5BE0160}"/>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12" name="Content Placeholder 2">
            <a:extLst>
              <a:ext uri="{FF2B5EF4-FFF2-40B4-BE49-F238E27FC236}">
                <a16:creationId xmlns:a16="http://schemas.microsoft.com/office/drawing/2014/main" id="{CA111B06-1E70-E8F2-34FB-B4873DAA7401}"/>
              </a:ext>
            </a:extLst>
          </p:cNvPr>
          <p:cNvSpPr txBox="1">
            <a:spLocks/>
          </p:cNvSpPr>
          <p:nvPr/>
        </p:nvSpPr>
        <p:spPr bwMode="auto">
          <a:xfrm>
            <a:off x="-1" y="1118155"/>
            <a:ext cx="12192001" cy="4520039"/>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kern="0" dirty="0">
                <a:solidFill>
                  <a:srgbClr val="000000"/>
                </a:solidFill>
                <a:latin typeface="Tahoma"/>
              </a:rPr>
              <a:t>Δίνει τη διαμόρφωση της δομής ενός προγράμματος/εφαρμογής, που έχει ως κύριο χαρακτηριστικό ένα </a:t>
            </a:r>
            <a:r>
              <a:rPr lang="el-GR" sz="2400" b="1" kern="0" dirty="0">
                <a:solidFill>
                  <a:srgbClr val="000000"/>
                </a:solidFill>
                <a:latin typeface="Tahoma"/>
              </a:rPr>
              <a:t>Μενού</a:t>
            </a:r>
            <a:r>
              <a:rPr lang="el-GR" sz="2400" kern="0" dirty="0">
                <a:solidFill>
                  <a:srgbClr val="000000"/>
                </a:solidFill>
                <a:latin typeface="Tahoma"/>
              </a:rPr>
              <a:t>, από το οποίο  οι χρήστες μπορούν να επιλέξουν από ένα σύνολο διαθέσιμων υπηρεσιών</a:t>
            </a:r>
            <a:r>
              <a:rPr lang="en-US" sz="2400" kern="0" dirty="0">
                <a:solidFill>
                  <a:srgbClr val="000000"/>
                </a:solidFill>
                <a:latin typeface="Tahoma"/>
              </a:rPr>
              <a:t>.</a:t>
            </a:r>
            <a:r>
              <a:rPr lang="el-GR" sz="2400" kern="0" dirty="0">
                <a:solidFill>
                  <a:srgbClr val="000000"/>
                </a:solidFill>
                <a:latin typeface="Tahoma"/>
              </a:rPr>
              <a:t> Παρουσιάζει μια επαναχρησιμοποιήσιμη λύση (μοτίβο σχεδιασμού-</a:t>
            </a:r>
            <a:r>
              <a:rPr lang="el-GR" sz="2400" kern="0" dirty="0" err="1">
                <a:solidFill>
                  <a:srgbClr val="000000"/>
                </a:solidFill>
                <a:latin typeface="Tahoma"/>
              </a:rPr>
              <a:t>design</a:t>
            </a:r>
            <a:r>
              <a:rPr lang="el-GR" sz="2400" kern="0" dirty="0">
                <a:solidFill>
                  <a:srgbClr val="000000"/>
                </a:solidFill>
                <a:latin typeface="Tahoma"/>
              </a:rPr>
              <a:t> </a:t>
            </a:r>
            <a:r>
              <a:rPr lang="el-GR" sz="2400" kern="0" dirty="0" err="1">
                <a:solidFill>
                  <a:srgbClr val="000000"/>
                </a:solidFill>
                <a:latin typeface="Tahoma"/>
              </a:rPr>
              <a:t>pattern</a:t>
            </a:r>
            <a:r>
              <a:rPr lang="el-GR" sz="2400" kern="0" dirty="0">
                <a:solidFill>
                  <a:srgbClr val="000000"/>
                </a:solidFill>
                <a:latin typeface="Tahoma"/>
              </a:rPr>
              <a:t>) για την αντιμετώπιση αυτής της απαίτησης.</a:t>
            </a:r>
            <a:r>
              <a:rPr lang="en-US" sz="2400" kern="0" dirty="0">
                <a:solidFill>
                  <a:srgbClr val="000000"/>
                </a:solidFill>
                <a:latin typeface="Tahoma"/>
              </a:rPr>
              <a:t> </a:t>
            </a:r>
          </a:p>
          <a:p>
            <a:pPr>
              <a:buClr>
                <a:srgbClr val="3333CC"/>
              </a:buClr>
              <a:defRPr/>
            </a:pPr>
            <a:r>
              <a:rPr lang="el-GR" sz="2400" kern="0" dirty="0">
                <a:solidFill>
                  <a:srgbClr val="000000"/>
                </a:solidFill>
                <a:latin typeface="Tahoma"/>
              </a:rPr>
              <a:t>Τονίζει τη σημασία της </a:t>
            </a:r>
            <a:r>
              <a:rPr lang="el-GR" sz="2400" b="1" kern="0" dirty="0">
                <a:solidFill>
                  <a:srgbClr val="000000"/>
                </a:solidFill>
                <a:latin typeface="Tahoma"/>
              </a:rPr>
              <a:t>σταδιακής ανάπτυξης του αλγορίθμου </a:t>
            </a:r>
            <a:r>
              <a:rPr lang="el-GR" sz="2400" kern="0" dirty="0">
                <a:solidFill>
                  <a:srgbClr val="000000"/>
                </a:solidFill>
                <a:latin typeface="Tahoma"/>
              </a:rPr>
              <a:t>μέσα από μια επαναληπτική διαδικασία για την </a:t>
            </a:r>
            <a:r>
              <a:rPr lang="el-GR" sz="2400" b="1" kern="0" dirty="0">
                <a:solidFill>
                  <a:srgbClr val="000000"/>
                </a:solidFill>
                <a:latin typeface="Tahoma"/>
              </a:rPr>
              <a:t>αντιμετώπιση της πολυπλοκότητας</a:t>
            </a:r>
            <a:r>
              <a:rPr lang="el-GR" sz="2400" kern="0" dirty="0">
                <a:solidFill>
                  <a:srgbClr val="000000"/>
                </a:solidFill>
                <a:latin typeface="Tahoma"/>
              </a:rPr>
              <a:t>,</a:t>
            </a:r>
          </a:p>
          <a:p>
            <a:pPr>
              <a:buClr>
                <a:srgbClr val="3333CC"/>
              </a:buClr>
              <a:defRPr/>
            </a:pPr>
            <a:r>
              <a:rPr lang="el-GR" sz="2400" kern="0" dirty="0">
                <a:solidFill>
                  <a:srgbClr val="000000"/>
                </a:solidFill>
                <a:latin typeface="Tahoma"/>
              </a:rPr>
              <a:t>Εισάγει τις τεχνικές της </a:t>
            </a:r>
            <a:r>
              <a:rPr lang="el-GR" sz="2400" kern="0" dirty="0" err="1">
                <a:solidFill>
                  <a:srgbClr val="000000"/>
                </a:solidFill>
                <a:latin typeface="Tahoma"/>
              </a:rPr>
              <a:t>τμηματοποίησης</a:t>
            </a:r>
            <a:r>
              <a:rPr lang="el-GR" sz="2400" kern="0" dirty="0">
                <a:solidFill>
                  <a:srgbClr val="000000"/>
                </a:solidFill>
                <a:latin typeface="Tahoma"/>
              </a:rPr>
              <a:t> (</a:t>
            </a:r>
            <a:r>
              <a:rPr lang="el-GR" sz="2400" b="1" kern="0" dirty="0" err="1">
                <a:solidFill>
                  <a:srgbClr val="000000"/>
                </a:solidFill>
                <a:latin typeface="Tahoma"/>
              </a:rPr>
              <a:t>partitioning</a:t>
            </a:r>
            <a:r>
              <a:rPr lang="el-GR" sz="2400" kern="0" dirty="0">
                <a:solidFill>
                  <a:srgbClr val="000000"/>
                </a:solidFill>
                <a:latin typeface="Tahoma"/>
              </a:rPr>
              <a:t>) και της από το γενικό προς το ειδικό ανάπτυξης (</a:t>
            </a:r>
            <a:r>
              <a:rPr lang="el-GR" sz="2400" b="1" kern="0" dirty="0" err="1">
                <a:solidFill>
                  <a:srgbClr val="000000"/>
                </a:solidFill>
                <a:latin typeface="Tahoma"/>
              </a:rPr>
              <a:t>top-down</a:t>
            </a:r>
            <a:r>
              <a:rPr lang="el-GR" sz="2400" kern="0" dirty="0">
                <a:solidFill>
                  <a:srgbClr val="000000"/>
                </a:solidFill>
                <a:latin typeface="Tahoma"/>
              </a:rPr>
              <a:t>).</a:t>
            </a:r>
          </a:p>
          <a:p>
            <a:pPr>
              <a:buClr>
                <a:srgbClr val="3333CC"/>
              </a:buClr>
              <a:defRPr/>
            </a:pPr>
            <a:r>
              <a:rPr lang="el-GR" sz="2400" kern="0" dirty="0">
                <a:solidFill>
                  <a:srgbClr val="000000"/>
                </a:solidFill>
                <a:latin typeface="Tahoma"/>
              </a:rPr>
              <a:t>διερευνά περαιτέρω το χειρισμό συμβολοσειρών, και θέτει το πλαίσιο για την εισαγωγή </a:t>
            </a:r>
            <a:r>
              <a:rPr lang="el-GR" sz="2400" b="1" kern="0" dirty="0">
                <a:solidFill>
                  <a:srgbClr val="000000"/>
                </a:solidFill>
                <a:latin typeface="Tahoma"/>
              </a:rPr>
              <a:t>αλγορίθμων ταξινόμησης και αναζήτησης</a:t>
            </a:r>
            <a:r>
              <a:rPr lang="el-GR" sz="2400" kern="0" dirty="0">
                <a:solidFill>
                  <a:srgbClr val="000000"/>
                </a:solidFill>
                <a:latin typeface="Tahoma"/>
              </a:rPr>
              <a:t>, καθώς και έννοιες όπως </a:t>
            </a:r>
            <a:r>
              <a:rPr lang="el-GR" sz="2400" b="1" kern="0" dirty="0">
                <a:solidFill>
                  <a:srgbClr val="000000"/>
                </a:solidFill>
                <a:latin typeface="Tahoma"/>
              </a:rPr>
              <a:t>δυναμική εκχώρηση μνήμης</a:t>
            </a:r>
            <a:r>
              <a:rPr lang="el-GR" sz="2400" kern="0" dirty="0">
                <a:solidFill>
                  <a:srgbClr val="000000"/>
                </a:solidFill>
                <a:latin typeface="Tahoma"/>
              </a:rPr>
              <a:t> και </a:t>
            </a:r>
            <a:r>
              <a:rPr lang="el-GR" sz="2400" b="1" kern="0" dirty="0">
                <a:solidFill>
                  <a:srgbClr val="000000"/>
                </a:solidFill>
                <a:latin typeface="Tahoma"/>
              </a:rPr>
              <a:t>οργάνωση του πηγαίου κώδικα σε πολλαπλά αρχεία</a:t>
            </a:r>
            <a:r>
              <a:rPr lang="el-GR" sz="2400" kern="0" dirty="0">
                <a:solidFill>
                  <a:srgbClr val="000000"/>
                </a:solidFill>
                <a:latin typeface="Tahoma"/>
              </a:rPr>
              <a:t>. </a:t>
            </a:r>
            <a:endParaRPr lang="en-US" sz="2400" kern="0" dirty="0">
              <a:solidFill>
                <a:srgbClr val="000000"/>
              </a:solidFill>
              <a:latin typeface="Tahoma"/>
            </a:endParaRPr>
          </a:p>
        </p:txBody>
      </p:sp>
      <p:sp>
        <p:nvSpPr>
          <p:cNvPr id="4" name="TextBox 3">
            <a:extLst>
              <a:ext uri="{FF2B5EF4-FFF2-40B4-BE49-F238E27FC236}">
                <a16:creationId xmlns:a16="http://schemas.microsoft.com/office/drawing/2014/main" id="{27005B80-82D9-1195-C715-BE2289AA96E2}"/>
              </a:ext>
            </a:extLst>
          </p:cNvPr>
          <p:cNvSpPr txBox="1"/>
          <p:nvPr/>
        </p:nvSpPr>
        <p:spPr>
          <a:xfrm>
            <a:off x="136408" y="5826913"/>
            <a:ext cx="11919180" cy="707886"/>
          </a:xfrm>
          <a:prstGeom prst="rect">
            <a:avLst/>
          </a:prstGeom>
          <a:solidFill>
            <a:srgbClr val="FFFF00"/>
          </a:solidFill>
        </p:spPr>
        <p:txBody>
          <a:bodyPr wrap="square" rtlCol="0">
            <a:spAutoFit/>
          </a:bodyPr>
          <a:lstStyle/>
          <a:p>
            <a:pPr algn="ctr"/>
            <a:r>
              <a:rPr lang="el-GR" sz="2000" kern="0" dirty="0">
                <a:solidFill>
                  <a:srgbClr val="000000"/>
                </a:solidFill>
                <a:latin typeface="Tahoma"/>
              </a:rPr>
              <a:t>Η ικανότητα να σκέφτεται κανείς αφαιρετικά και να διατυπώνει τη Λεκτική Περιγραφή, ενισχύει την αποτελεσματικότητα και τις δεξιότητες του προγραμματιστή, ιδιαίτερα κατά τον σχεδιασμό αλγορίθμων.</a:t>
            </a:r>
          </a:p>
        </p:txBody>
      </p:sp>
    </p:spTree>
    <p:extLst>
      <p:ext uri="{BB962C8B-B14F-4D97-AF65-F5344CB8AC3E}">
        <p14:creationId xmlns:p14="http://schemas.microsoft.com/office/powerpoint/2010/main" val="92608439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fade">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fade">
                                      <p:cBhvr>
                                        <p:cTn id="22" dur="500"/>
                                        <p:tgtEl>
                                          <p:spTgt spid="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animEffect transition="in" filter="fade">
                                      <p:cBhvr>
                                        <p:cTn id="27" dur="500"/>
                                        <p:tgtEl>
                                          <p:spTgt spid="1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41982-FCD5-1E79-BEFA-CC6F1022DD3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70BAAA41-34FB-8D7F-1A77-9E2E7A44D5EC}"/>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64FF8C37-5BDE-48FF-5A1A-FCC43683C785}"/>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Η ενότητα …</a:t>
            </a:r>
          </a:p>
        </p:txBody>
      </p:sp>
      <p:sp>
        <p:nvSpPr>
          <p:cNvPr id="8" name="Θέση υποσέλιδου 4">
            <a:extLst>
              <a:ext uri="{FF2B5EF4-FFF2-40B4-BE49-F238E27FC236}">
                <a16:creationId xmlns:a16="http://schemas.microsoft.com/office/drawing/2014/main" id="{E9EFFE73-7F77-0A36-88FB-CD91982A9E8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D27D7C5-5AD6-C86F-B33E-45AFA4AA874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14204B53-0D26-06E3-8CC7-8A8B6FD223D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104A6A52-F239-5F66-454C-3754A2F38C83}"/>
              </a:ext>
            </a:extLst>
          </p:cNvPr>
          <p:cNvSpPr txBox="1">
            <a:spLocks/>
          </p:cNvSpPr>
          <p:nvPr/>
        </p:nvSpPr>
        <p:spPr bwMode="auto">
          <a:xfrm>
            <a:off x="-1" y="818993"/>
            <a:ext cx="12191999" cy="5552196"/>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b="1" kern="0" dirty="0">
                <a:solidFill>
                  <a:srgbClr val="000000"/>
                </a:solidFill>
                <a:latin typeface="Tahoma"/>
              </a:rPr>
              <a:t>Δίνει έμφαση </a:t>
            </a:r>
            <a:r>
              <a:rPr lang="el-GR" sz="2400" kern="0" dirty="0">
                <a:solidFill>
                  <a:srgbClr val="000000"/>
                </a:solidFill>
                <a:latin typeface="Tahoma"/>
              </a:rPr>
              <a:t>σε συγκεκριμένους αλγόριθμους ταξινόμησης (Δραστηριότητα </a:t>
            </a:r>
            <a:r>
              <a:rPr lang="el-GR" sz="2400" kern="0" dirty="0" err="1">
                <a:solidFill>
                  <a:srgbClr val="000000"/>
                </a:solidFill>
                <a:latin typeface="Tahoma"/>
              </a:rPr>
              <a:t>BubbleSort</a:t>
            </a:r>
            <a:r>
              <a:rPr lang="el-GR" sz="2400" kern="0" dirty="0">
                <a:solidFill>
                  <a:srgbClr val="000000"/>
                </a:solidFill>
                <a:latin typeface="Tahoma"/>
              </a:rPr>
              <a:t>) και αναζήτησης (Δραστηριότητα BinarySearch), και στη διαδικασία υλοποίησης τους με τη μορφή επαναχρησιμοποιήσιμων συναρτήσεων. </a:t>
            </a:r>
          </a:p>
          <a:p>
            <a:pPr>
              <a:buClr>
                <a:srgbClr val="3333CC"/>
              </a:buClr>
              <a:defRPr/>
            </a:pPr>
            <a:r>
              <a:rPr lang="el-GR" sz="2400" b="1" kern="0" dirty="0">
                <a:solidFill>
                  <a:srgbClr val="000000"/>
                </a:solidFill>
                <a:latin typeface="Tahoma"/>
              </a:rPr>
              <a:t>Εστιάζει :</a:t>
            </a:r>
            <a:r>
              <a:rPr lang="el-GR" sz="2400" kern="0" dirty="0">
                <a:solidFill>
                  <a:srgbClr val="000000"/>
                </a:solidFill>
                <a:latin typeface="Tahoma"/>
              </a:rPr>
              <a:t> </a:t>
            </a:r>
          </a:p>
          <a:p>
            <a:pPr lvl="1">
              <a:buClr>
                <a:srgbClr val="3333CC"/>
              </a:buClr>
              <a:defRPr/>
            </a:pPr>
            <a:r>
              <a:rPr lang="el-GR" sz="2000" kern="0" dirty="0">
                <a:solidFill>
                  <a:srgbClr val="000000"/>
                </a:solidFill>
                <a:latin typeface="Tahoma"/>
              </a:rPr>
              <a:t>στη σταδιακή ανάπτυξη της λειτουργικότητας μέσα από μια σειρά εκδόσεων, και,</a:t>
            </a:r>
          </a:p>
          <a:p>
            <a:pPr lvl="1">
              <a:buClr>
                <a:srgbClr val="3333CC"/>
              </a:buClr>
              <a:defRPr/>
            </a:pPr>
            <a:r>
              <a:rPr lang="el-GR" sz="2000" kern="0" dirty="0">
                <a:solidFill>
                  <a:srgbClr val="000000"/>
                </a:solidFill>
                <a:latin typeface="Tahoma"/>
              </a:rPr>
              <a:t>στη βελτίωση της απόδοσης του αλγορίθμου. </a:t>
            </a:r>
          </a:p>
          <a:p>
            <a:pPr>
              <a:buClr>
                <a:srgbClr val="3333CC"/>
              </a:buClr>
              <a:defRPr/>
            </a:pPr>
            <a:r>
              <a:rPr lang="el-GR" sz="2400" b="1" kern="0" dirty="0">
                <a:solidFill>
                  <a:srgbClr val="000000"/>
                </a:solidFill>
                <a:latin typeface="Tahoma"/>
              </a:rPr>
              <a:t>Μελετά</a:t>
            </a:r>
            <a:r>
              <a:rPr lang="el-GR" sz="2400" kern="0" dirty="0">
                <a:solidFill>
                  <a:srgbClr val="000000"/>
                </a:solidFill>
                <a:latin typeface="Tahoma"/>
              </a:rPr>
              <a:t> την αξιοποίηση συναρτήσεων ταξινόμησης (</a:t>
            </a:r>
            <a:r>
              <a:rPr lang="el-GR" sz="2400" kern="0" dirty="0" err="1">
                <a:solidFill>
                  <a:srgbClr val="000000"/>
                </a:solidFill>
                <a:latin typeface="Tahoma"/>
              </a:rPr>
              <a:t>qsort</a:t>
            </a:r>
            <a:r>
              <a:rPr lang="el-GR" sz="2400" kern="0" dirty="0">
                <a:solidFill>
                  <a:srgbClr val="000000"/>
                </a:solidFill>
                <a:latin typeface="Tahoma"/>
              </a:rPr>
              <a:t>) και αναζήτησης (</a:t>
            </a:r>
            <a:r>
              <a:rPr lang="el-GR" sz="2400" kern="0" dirty="0" err="1">
                <a:solidFill>
                  <a:srgbClr val="000000"/>
                </a:solidFill>
                <a:latin typeface="Tahoma"/>
              </a:rPr>
              <a:t>bsearch</a:t>
            </a:r>
            <a:r>
              <a:rPr lang="el-GR" sz="2400" kern="0" dirty="0">
                <a:solidFill>
                  <a:srgbClr val="000000"/>
                </a:solidFill>
                <a:latin typeface="Tahoma"/>
              </a:rPr>
              <a:t>) της τυπικής βιβλιοθήκης </a:t>
            </a:r>
          </a:p>
          <a:p>
            <a:pPr>
              <a:buClr>
                <a:srgbClr val="3333CC"/>
              </a:buClr>
              <a:defRPr/>
            </a:pPr>
            <a:r>
              <a:rPr lang="el-GR" sz="2400" b="1" kern="0" dirty="0">
                <a:solidFill>
                  <a:srgbClr val="000000"/>
                </a:solidFill>
                <a:latin typeface="Tahoma"/>
              </a:rPr>
              <a:t>Εστιάζει</a:t>
            </a:r>
            <a:r>
              <a:rPr lang="el-GR" sz="2400" kern="0" dirty="0">
                <a:solidFill>
                  <a:srgbClr val="000000"/>
                </a:solidFill>
                <a:latin typeface="Tahoma"/>
              </a:rPr>
              <a:t> στο σημαντικό πλεονέκτημα που παρέχει η αξιοποίηση δείκτη συνάρτησης για να περάσουμε στις συναρτήσεις αυτές συγκεκριμένη λογική σύγκρισης που απαιτεί η εφαρμογή του αλγορίθμου.</a:t>
            </a:r>
          </a:p>
          <a:p>
            <a:pPr>
              <a:buClr>
                <a:srgbClr val="3333CC"/>
              </a:buClr>
              <a:defRPr/>
            </a:pPr>
            <a:r>
              <a:rPr lang="el-GR" sz="2400" kern="0" dirty="0">
                <a:solidFill>
                  <a:srgbClr val="000000"/>
                </a:solidFill>
                <a:latin typeface="Tahoma"/>
              </a:rPr>
              <a:t>Προχωρά στην ανάπτυξη μιας γενικής συνάρτησης ταξινόμησης (</a:t>
            </a:r>
            <a:r>
              <a:rPr lang="el-GR" sz="2400" kern="0" dirty="0" err="1">
                <a:solidFill>
                  <a:srgbClr val="000000"/>
                </a:solidFill>
                <a:latin typeface="Tahoma"/>
              </a:rPr>
              <a:t>bsort</a:t>
            </a:r>
            <a:r>
              <a:rPr lang="el-GR" sz="2400" kern="0" dirty="0">
                <a:solidFill>
                  <a:srgbClr val="000000"/>
                </a:solidFill>
                <a:latin typeface="Tahoma"/>
              </a:rPr>
              <a:t>), η οποία υλοποιεί τον αλγόριθμο </a:t>
            </a:r>
            <a:r>
              <a:rPr lang="el-GR" sz="2400" kern="0" dirty="0" err="1">
                <a:solidFill>
                  <a:srgbClr val="000000"/>
                </a:solidFill>
                <a:latin typeface="Tahoma"/>
              </a:rPr>
              <a:t>Bubble</a:t>
            </a:r>
            <a:r>
              <a:rPr lang="el-GR" sz="2400" kern="0" dirty="0">
                <a:solidFill>
                  <a:srgbClr val="000000"/>
                </a:solidFill>
                <a:latin typeface="Tahoma"/>
              </a:rPr>
              <a:t> </a:t>
            </a:r>
            <a:r>
              <a:rPr lang="el-GR" sz="2400" kern="0" dirty="0" err="1">
                <a:solidFill>
                  <a:srgbClr val="000000"/>
                </a:solidFill>
                <a:latin typeface="Tahoma"/>
              </a:rPr>
              <a:t>Sort</a:t>
            </a:r>
            <a:r>
              <a:rPr lang="el-GR" sz="2400" kern="0" dirty="0">
                <a:solidFill>
                  <a:srgbClr val="000000"/>
                </a:solidFill>
                <a:latin typeface="Tahoma"/>
              </a:rPr>
              <a:t> και μπορεί να εφαρμοστεί σε πίνακες οποιουδήποτε τύπου</a:t>
            </a:r>
          </a:p>
        </p:txBody>
      </p:sp>
      <p:sp>
        <p:nvSpPr>
          <p:cNvPr id="4" name="Θέση υποσέλιδου 4">
            <a:extLst>
              <a:ext uri="{FF2B5EF4-FFF2-40B4-BE49-F238E27FC236}">
                <a16:creationId xmlns:a16="http://schemas.microsoft.com/office/drawing/2014/main" id="{BA2D8340-D316-A5A0-409B-AB656B1C59CB}"/>
              </a:ext>
            </a:extLst>
          </p:cNvPr>
          <p:cNvSpPr txBox="1">
            <a:spLocks/>
          </p:cNvSpPr>
          <p:nvPr/>
        </p:nvSpPr>
        <p:spPr>
          <a:xfrm>
            <a:off x="3840632" y="6643089"/>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231896085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fade">
                                      <p:cBhvr>
                                        <p:cTn id="17" dur="500"/>
                                        <p:tgtEl>
                                          <p:spTgt spid="12">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xEl>
                                              <p:pRg st="2" end="2"/>
                                            </p:txEl>
                                          </p:spTgt>
                                        </p:tgtEl>
                                        <p:attrNameLst>
                                          <p:attrName>style.visibility</p:attrName>
                                        </p:attrNameLst>
                                      </p:cBhvr>
                                      <p:to>
                                        <p:strVal val="visible"/>
                                      </p:to>
                                    </p:set>
                                    <p:animEffect transition="in" filter="fade">
                                      <p:cBhvr>
                                        <p:cTn id="20" dur="500"/>
                                        <p:tgtEl>
                                          <p:spTgt spid="12">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animEffect transition="in" filter="fade">
                                      <p:cBhvr>
                                        <p:cTn id="23" dur="500"/>
                                        <p:tgtEl>
                                          <p:spTgt spid="1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4" end="4"/>
                                            </p:txEl>
                                          </p:spTgt>
                                        </p:tgtEl>
                                        <p:attrNameLst>
                                          <p:attrName>style.visibility</p:attrName>
                                        </p:attrNameLst>
                                      </p:cBhvr>
                                      <p:to>
                                        <p:strVal val="visible"/>
                                      </p:to>
                                    </p:set>
                                    <p:animEffect transition="in" filter="fade">
                                      <p:cBhvr>
                                        <p:cTn id="28" dur="500"/>
                                        <p:tgtEl>
                                          <p:spTgt spid="12">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animEffect transition="in" filter="fade">
                                      <p:cBhvr>
                                        <p:cTn id="33" dur="500"/>
                                        <p:tgtEl>
                                          <p:spTgt spid="12">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xEl>
                                              <p:pRg st="6" end="6"/>
                                            </p:txEl>
                                          </p:spTgt>
                                        </p:tgtEl>
                                        <p:attrNameLst>
                                          <p:attrName>style.visibility</p:attrName>
                                        </p:attrNameLst>
                                      </p:cBhvr>
                                      <p:to>
                                        <p:strVal val="visible"/>
                                      </p:to>
                                    </p:set>
                                    <p:animEffect transition="in" filter="fade">
                                      <p:cBhvr>
                                        <p:cTn id="38"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2A465-FD08-1A1D-B033-573F566380C0}"/>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DC3CDDB-9460-7CC9-9108-943C37EC7441}"/>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3" name="Rectangle 2">
            <a:extLst>
              <a:ext uri="{FF2B5EF4-FFF2-40B4-BE49-F238E27FC236}">
                <a16:creationId xmlns:a16="http://schemas.microsoft.com/office/drawing/2014/main" id="{B871775F-640D-BCCF-612D-91C87341055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8FB239DB-63A9-5E03-D2DF-29A6E9914E15}"/>
              </a:ext>
            </a:extLst>
          </p:cNvPr>
          <p:cNvSpPr txBox="1">
            <a:spLocks noChangeArrowheads="1"/>
          </p:cNvSpPr>
          <p:nvPr/>
        </p:nvSpPr>
        <p:spPr bwMode="auto">
          <a:xfrm>
            <a:off x="267579" y="975392"/>
            <a:ext cx="11207100" cy="51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1</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altLang="el-GR" sz="2800" b="1" dirty="0">
                <a:solidFill>
                  <a:srgbClr val="C00000"/>
                </a:solidFill>
                <a:latin typeface="Tahoma" panose="020B0604030504040204" pitchFamily="34" charset="0"/>
                <a:ea typeface="Tahoma" panose="020B0604030504040204" pitchFamily="34" charset="0"/>
                <a:cs typeface="Tahoma" panose="020B0604030504040204" pitchFamily="34" charset="0"/>
              </a:rPr>
              <a:t>Επιλογή λειτουργίας (Μενού)</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Μενού επιλογής λειτουργίας</a:t>
            </a:r>
          </a:p>
          <a:p>
            <a:pPr lvl="1" eaLnBrk="1" hangingPunct="1">
              <a:lnSpc>
                <a:spcPct val="80000"/>
              </a:lnSpc>
            </a:pPr>
            <a:r>
              <a:rPr lang="el-GR" sz="2400" kern="0" dirty="0">
                <a:solidFill>
                  <a:srgbClr val="000000"/>
                </a:solidFill>
                <a:latin typeface="Tahoma"/>
              </a:rPr>
              <a:t>Η </a:t>
            </a:r>
            <a:r>
              <a:rPr lang="el-GR" sz="2400" kern="0" dirty="0" err="1">
                <a:solidFill>
                  <a:srgbClr val="000000"/>
                </a:solidFill>
                <a:latin typeface="Tahoma"/>
              </a:rPr>
              <a:t>top-down</a:t>
            </a:r>
            <a:r>
              <a:rPr lang="el-GR" sz="2400" kern="0" dirty="0">
                <a:solidFill>
                  <a:srgbClr val="000000"/>
                </a:solidFill>
                <a:latin typeface="Tahoma"/>
              </a:rPr>
              <a:t> προσέγγιση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rPr>
              <a:t>Διαχείριση Λέξεων</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Διαχείριση πολυπλοκότητας (Πλάνο εκδόσεων)</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Ταξινόμηση – Αναζήτηση</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Οργάνωση πηγαίου κώδικα σε περισσότερα του ενός αρχεία</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Δυναμική διαχείριση μνήμης</a:t>
            </a:r>
          </a:p>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2</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endParaRPr lang="en-US" altLang="el-GR" sz="2800" b="1" u="sng"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με χρήση της i2p βιβλιοθήκης</a:t>
            </a: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Bubble</a:t>
            </a: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Sort</a:t>
            </a:r>
            <a:endPar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Αναζήτηση</a:t>
            </a:r>
            <a:r>
              <a:rPr lang="el-GR" altLang="el-GR" sz="2400" dirty="0">
                <a:solidFill>
                  <a:srgbClr val="F9853D"/>
                </a:solidFill>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sz="2400" b="1" dirty="0">
                <a:solidFill>
                  <a:srgbClr val="F9853D"/>
                </a:solidFill>
                <a:latin typeface="Bahnschrift" panose="020B0502040204020203" pitchFamily="34" charset="0"/>
              </a:rPr>
              <a:t>Ταξινόμηση και Αναζήτηση με την τυπική βιβλιοθήκη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endParaRPr lang="en-US"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endParaRPr>
          </a:p>
        </p:txBody>
      </p:sp>
      <p:grpSp>
        <p:nvGrpSpPr>
          <p:cNvPr id="5" name="Group 4">
            <a:extLst>
              <a:ext uri="{FF2B5EF4-FFF2-40B4-BE49-F238E27FC236}">
                <a16:creationId xmlns:a16="http://schemas.microsoft.com/office/drawing/2014/main" id="{893576B7-4758-4AA0-3181-492A94274185}"/>
              </a:ext>
            </a:extLst>
          </p:cNvPr>
          <p:cNvGrpSpPr/>
          <p:nvPr/>
        </p:nvGrpSpPr>
        <p:grpSpPr>
          <a:xfrm>
            <a:off x="-1" y="6559909"/>
            <a:ext cx="12192001" cy="366704"/>
            <a:chOff x="-1" y="6559909"/>
            <a:chExt cx="12192001" cy="366704"/>
          </a:xfrm>
        </p:grpSpPr>
        <p:grpSp>
          <p:nvGrpSpPr>
            <p:cNvPr id="7" name="Group 6">
              <a:extLst>
                <a:ext uri="{FF2B5EF4-FFF2-40B4-BE49-F238E27FC236}">
                  <a16:creationId xmlns:a16="http://schemas.microsoft.com/office/drawing/2014/main" id="{5A75F8D5-EF49-0A47-EA03-E78903B3607D}"/>
                </a:ext>
              </a:extLst>
            </p:cNvPr>
            <p:cNvGrpSpPr/>
            <p:nvPr/>
          </p:nvGrpSpPr>
          <p:grpSpPr>
            <a:xfrm>
              <a:off x="-1" y="6559909"/>
              <a:ext cx="12192001" cy="291730"/>
              <a:chOff x="-1" y="6559909"/>
              <a:chExt cx="12192001" cy="291730"/>
            </a:xfrm>
          </p:grpSpPr>
          <p:sp>
            <p:nvSpPr>
              <p:cNvPr id="10" name="Rectangle 14">
                <a:extLst>
                  <a:ext uri="{FF2B5EF4-FFF2-40B4-BE49-F238E27FC236}">
                    <a16:creationId xmlns:a16="http://schemas.microsoft.com/office/drawing/2014/main" id="{158983A4-8924-9752-3540-744FE8E54A51}"/>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07F9E7D2-68EA-62C0-B24F-A283A12102E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98A300D-ECEF-45F7-2ADB-74244DD7439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4</a:t>
                </a:fld>
                <a:endParaRPr lang="en-US" sz="1200" dirty="0">
                  <a:latin typeface="Bahnschrift Light" panose="020B0502040204020203" pitchFamily="34" charset="0"/>
                  <a:cs typeface="Arial" pitchFamily="34" charset="0"/>
                </a:endParaRPr>
              </a:p>
            </p:txBody>
          </p:sp>
        </p:grpSp>
        <p:sp>
          <p:nvSpPr>
            <p:cNvPr id="9" name="Θέση υποσέλιδου 4">
              <a:extLst>
                <a:ext uri="{FF2B5EF4-FFF2-40B4-BE49-F238E27FC236}">
                  <a16:creationId xmlns:a16="http://schemas.microsoft.com/office/drawing/2014/main" id="{8566675F-0F02-5CBB-D97B-C68BC99DF556}"/>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Tree>
    <p:extLst>
      <p:ext uri="{BB962C8B-B14F-4D97-AF65-F5344CB8AC3E}">
        <p14:creationId xmlns:p14="http://schemas.microsoft.com/office/powerpoint/2010/main" val="52465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60AE-5CA2-1F54-CB60-45EEBC8BD4B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B391847-BBFA-0A98-7437-4025F3E44B90}"/>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Δραστηριότητα </a:t>
            </a:r>
            <a:r>
              <a:rPr lang="en-US" sz="4000" b="1" dirty="0">
                <a:solidFill>
                  <a:srgbClr val="F9853D"/>
                </a:solidFill>
                <a:latin typeface="Bahnschrift" panose="020B0502040204020203" pitchFamily="34" charset="0"/>
              </a:rPr>
              <a:t>8</a:t>
            </a:r>
            <a:r>
              <a:rPr lang="el-GR" sz="4000" b="1" dirty="0">
                <a:solidFill>
                  <a:srgbClr val="F9853D"/>
                </a:solidFill>
                <a:latin typeface="Bahnschrift" panose="020B0502040204020203" pitchFamily="34" charset="0"/>
              </a:rPr>
              <a:t>.1  -</a:t>
            </a:r>
            <a:r>
              <a:rPr lang="en-US" sz="4000" b="1" dirty="0">
                <a:solidFill>
                  <a:srgbClr val="F9853D"/>
                </a:solidFill>
                <a:latin typeface="Bahnschrift" panose="020B0502040204020203" pitchFamily="34" charset="0"/>
              </a:rPr>
              <a:t> SelectOperation</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A3D39954-CF74-7428-7109-AC4709EC129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3D6267FF-A8C2-6449-3F6A-8EE1CE1EA070}"/>
              </a:ext>
            </a:extLst>
          </p:cNvPr>
          <p:cNvSpPr txBox="1">
            <a:spLocks/>
          </p:cNvSpPr>
          <p:nvPr/>
        </p:nvSpPr>
        <p:spPr bwMode="auto">
          <a:xfrm>
            <a:off x="-1" y="839665"/>
            <a:ext cx="12191999" cy="2346880"/>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800" b="1" kern="0" dirty="0">
                <a:solidFill>
                  <a:srgbClr val="000000"/>
                </a:solidFill>
                <a:latin typeface="Tahoma"/>
              </a:rPr>
              <a:t>Αναπτύξτε ένα πρόγραμμα </a:t>
            </a:r>
            <a:r>
              <a:rPr lang="el-GR" sz="2800" kern="0" dirty="0">
                <a:solidFill>
                  <a:srgbClr val="000000"/>
                </a:solidFill>
                <a:latin typeface="Tahoma"/>
              </a:rPr>
              <a:t>με βάση το οποίο, η Μηχανή </a:t>
            </a:r>
          </a:p>
          <a:p>
            <a:pPr>
              <a:buClr>
                <a:srgbClr val="3333CC"/>
              </a:buClr>
              <a:defRPr/>
            </a:pPr>
            <a:r>
              <a:rPr lang="el-GR" sz="2800" kern="0" dirty="0">
                <a:solidFill>
                  <a:srgbClr val="000000"/>
                </a:solidFill>
                <a:latin typeface="Tahoma"/>
              </a:rPr>
              <a:t>θα είναι σε θέση  να εκτελέσει ένα σύνολο από διεργασίες, </a:t>
            </a:r>
          </a:p>
          <a:p>
            <a:pPr>
              <a:buClr>
                <a:srgbClr val="3333CC"/>
              </a:buClr>
              <a:defRPr/>
            </a:pPr>
            <a:r>
              <a:rPr lang="el-GR" sz="2800" kern="0" dirty="0">
                <a:solidFill>
                  <a:srgbClr val="000000"/>
                </a:solidFill>
                <a:latin typeface="Tahoma"/>
              </a:rPr>
              <a:t>θα ενημερώνει το χρήστη για τις διεργασίες που μπορεί να εκτελέσει και </a:t>
            </a:r>
          </a:p>
          <a:p>
            <a:pPr>
              <a:buClr>
                <a:srgbClr val="3333CC"/>
              </a:buClr>
              <a:defRPr/>
            </a:pPr>
            <a:r>
              <a:rPr lang="el-GR" sz="2800" kern="0" dirty="0">
                <a:solidFill>
                  <a:srgbClr val="000000"/>
                </a:solidFill>
                <a:latin typeface="Tahoma"/>
              </a:rPr>
              <a:t>θα εκτελεί όποια ο χρήστης επιλέξει.</a:t>
            </a:r>
            <a:endParaRPr lang="en-US" sz="2800" kern="0" dirty="0">
              <a:solidFill>
                <a:srgbClr val="000000"/>
              </a:solidFill>
              <a:latin typeface="Tahoma"/>
            </a:endParaRPr>
          </a:p>
        </p:txBody>
      </p:sp>
      <p:sp>
        <p:nvSpPr>
          <p:cNvPr id="4" name="TextBox 3">
            <a:extLst>
              <a:ext uri="{FF2B5EF4-FFF2-40B4-BE49-F238E27FC236}">
                <a16:creationId xmlns:a16="http://schemas.microsoft.com/office/drawing/2014/main" id="{08162E75-0047-DF87-A1EE-911089F9570C}"/>
              </a:ext>
            </a:extLst>
          </p:cNvPr>
          <p:cNvSpPr txBox="1"/>
          <p:nvPr/>
        </p:nvSpPr>
        <p:spPr>
          <a:xfrm>
            <a:off x="70332" y="3554141"/>
            <a:ext cx="12051331" cy="2677656"/>
          </a:xfrm>
          <a:prstGeom prst="rect">
            <a:avLst/>
          </a:prstGeom>
          <a:solidFill>
            <a:srgbClr val="92D050"/>
          </a:solidFill>
        </p:spPr>
        <p:txBody>
          <a:bodyPr wrap="square" rtlCol="0">
            <a:spAutoFit/>
          </a:bodyPr>
          <a:lstStyle/>
          <a:p>
            <a:pPr marL="342900" indent="-342900">
              <a:buFont typeface="Wingdings" panose="05000000000000000000" pitchFamily="2" charset="2"/>
              <a:buChar char="Ø"/>
            </a:pPr>
            <a:r>
              <a:rPr lang="el-GR" sz="2800" dirty="0"/>
              <a:t>θα αναπτύξουμε βήμα-προς-βήμα τον κώδικα της διεργασίας επιλογής υπηρεσίας παραθέτοντας ταυτόχρονα τις απαραίτητες θεωρητικές γνώσεις. </a:t>
            </a:r>
          </a:p>
          <a:p>
            <a:pPr marL="342900" indent="-342900">
              <a:buFont typeface="Wingdings" panose="05000000000000000000" pitchFamily="2" charset="2"/>
              <a:buChar char="Ø"/>
            </a:pPr>
            <a:r>
              <a:rPr lang="el-GR" sz="2800" dirty="0"/>
              <a:t>Θα χρησιμοποιήσουμε ένα πολύ απλό παράδειγμα. Την ανάπτυξη μιας εφαρμογής (</a:t>
            </a:r>
            <a:r>
              <a:rPr lang="el-GR" sz="2800" b="1" dirty="0" err="1"/>
              <a:t>SimpleCalculator</a:t>
            </a:r>
            <a:r>
              <a:rPr lang="el-GR" sz="2800" dirty="0"/>
              <a:t>) που δέχεται από το χρήστη δύο αριθμούς και δίνει το αποτέλεσμα της εφαρμογής πάνω σε αυτούς των τεσσάρων βασικών πράξεων +, -, * και /.</a:t>
            </a:r>
            <a:endParaRPr lang="en-GB" sz="2000" dirty="0"/>
          </a:p>
        </p:txBody>
      </p:sp>
      <p:grpSp>
        <p:nvGrpSpPr>
          <p:cNvPr id="15" name="Group 14">
            <a:extLst>
              <a:ext uri="{FF2B5EF4-FFF2-40B4-BE49-F238E27FC236}">
                <a16:creationId xmlns:a16="http://schemas.microsoft.com/office/drawing/2014/main" id="{BBEDAA8B-7EF4-AAAA-9FA9-E657199F8B35}"/>
              </a:ext>
            </a:extLst>
          </p:cNvPr>
          <p:cNvGrpSpPr/>
          <p:nvPr/>
        </p:nvGrpSpPr>
        <p:grpSpPr>
          <a:xfrm>
            <a:off x="-1" y="6559909"/>
            <a:ext cx="12192001" cy="366704"/>
            <a:chOff x="-1" y="6559909"/>
            <a:chExt cx="12192001" cy="366704"/>
          </a:xfrm>
        </p:grpSpPr>
        <p:grpSp>
          <p:nvGrpSpPr>
            <p:cNvPr id="16" name="Group 15">
              <a:extLst>
                <a:ext uri="{FF2B5EF4-FFF2-40B4-BE49-F238E27FC236}">
                  <a16:creationId xmlns:a16="http://schemas.microsoft.com/office/drawing/2014/main" id="{5E9F8B6D-DF9C-D686-94A7-171ED715D85E}"/>
                </a:ext>
              </a:extLst>
            </p:cNvPr>
            <p:cNvGrpSpPr/>
            <p:nvPr/>
          </p:nvGrpSpPr>
          <p:grpSpPr>
            <a:xfrm>
              <a:off x="-1" y="6559909"/>
              <a:ext cx="12192001" cy="291730"/>
              <a:chOff x="-1" y="6559909"/>
              <a:chExt cx="12192001" cy="291730"/>
            </a:xfrm>
          </p:grpSpPr>
          <p:sp>
            <p:nvSpPr>
              <p:cNvPr id="18" name="Rectangle 14">
                <a:extLst>
                  <a:ext uri="{FF2B5EF4-FFF2-40B4-BE49-F238E27FC236}">
                    <a16:creationId xmlns:a16="http://schemas.microsoft.com/office/drawing/2014/main" id="{A29B3618-2294-18EF-F702-167B9ABD6464}"/>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Θέση υποσέλιδου 4">
                <a:extLst>
                  <a:ext uri="{FF2B5EF4-FFF2-40B4-BE49-F238E27FC236}">
                    <a16:creationId xmlns:a16="http://schemas.microsoft.com/office/drawing/2014/main" id="{DA5CEF00-20C4-F53C-6459-5BD90D65513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0" name="TextBox 19">
                <a:extLst>
                  <a:ext uri="{FF2B5EF4-FFF2-40B4-BE49-F238E27FC236}">
                    <a16:creationId xmlns:a16="http://schemas.microsoft.com/office/drawing/2014/main" id="{B9F493B5-2B6D-EFD7-44A0-86B71B8BE1D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5</a:t>
                </a:fld>
                <a:endParaRPr lang="en-US" sz="1200" dirty="0">
                  <a:latin typeface="Bahnschrift Light" panose="020B0502040204020203" pitchFamily="34" charset="0"/>
                  <a:cs typeface="Arial" pitchFamily="34" charset="0"/>
                </a:endParaRPr>
              </a:p>
            </p:txBody>
          </p:sp>
        </p:grpSp>
        <p:sp>
          <p:nvSpPr>
            <p:cNvPr id="17" name="Θέση υποσέλιδου 4">
              <a:extLst>
                <a:ext uri="{FF2B5EF4-FFF2-40B4-BE49-F238E27FC236}">
                  <a16:creationId xmlns:a16="http://schemas.microsoft.com/office/drawing/2014/main" id="{1DA5D44F-3B72-E010-EF67-12E2290DE794}"/>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Tree>
    <p:extLst>
      <p:ext uri="{BB962C8B-B14F-4D97-AF65-F5344CB8AC3E}">
        <p14:creationId xmlns:p14="http://schemas.microsoft.com/office/powerpoint/2010/main" val="193518782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A4B1D-353F-D2D6-ECB6-6140A37FE0EE}"/>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C2A4CEC-A0BE-3A11-BF63-D5F64202B17F}"/>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n-US" b="1" dirty="0">
                <a:solidFill>
                  <a:srgbClr val="F9853D"/>
                </a:solidFill>
                <a:latin typeface="Bahnschrift" panose="020B0502040204020203" pitchFamily="34" charset="0"/>
              </a:rPr>
              <a:t>Hands-on : </a:t>
            </a:r>
            <a:r>
              <a:rPr lang="en-GB" b="1" dirty="0" err="1">
                <a:solidFill>
                  <a:srgbClr val="F9853D"/>
                </a:solidFill>
                <a:latin typeface="Bahnschrift" panose="020B0502040204020203" pitchFamily="34" charset="0"/>
              </a:rPr>
              <a:t>SimpleCalculator</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BF227C06-51BA-38BE-0BE4-3231A76A49B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5" name="Speech Bubble: Rectangle with Corners Rounded 4">
            <a:extLst>
              <a:ext uri="{FF2B5EF4-FFF2-40B4-BE49-F238E27FC236}">
                <a16:creationId xmlns:a16="http://schemas.microsoft.com/office/drawing/2014/main" id="{A27076AF-3FE9-0567-608C-774E638F163F}"/>
              </a:ext>
            </a:extLst>
          </p:cNvPr>
          <p:cNvSpPr/>
          <p:nvPr/>
        </p:nvSpPr>
        <p:spPr>
          <a:xfrm>
            <a:off x="5734765" y="3754646"/>
            <a:ext cx="5829519" cy="1122154"/>
          </a:xfrm>
          <a:prstGeom prst="wedgeRoundRectCallout">
            <a:avLst>
              <a:gd name="adj1" fmla="val -57083"/>
              <a:gd name="adj2" fmla="val 103023"/>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Δώστε τη</a:t>
            </a:r>
            <a:r>
              <a:rPr lang="en-US" sz="2400" b="1" dirty="0">
                <a:solidFill>
                  <a:schemeClr val="bg1"/>
                </a:solidFill>
              </a:rPr>
              <a:t> </a:t>
            </a:r>
            <a:r>
              <a:rPr lang="el-GR" sz="2400" b="1" dirty="0">
                <a:solidFill>
                  <a:schemeClr val="bg1"/>
                </a:solidFill>
              </a:rPr>
              <a:t>Λεκτική Περιγραφή αξιοποιώντας αφαιρετικότητα στις διεργασίες</a:t>
            </a:r>
            <a:endParaRPr lang="en-GB" sz="2400" b="1" dirty="0">
              <a:solidFill>
                <a:schemeClr val="bg1"/>
              </a:solidFill>
              <a:highlight>
                <a:srgbClr val="FFFF00"/>
              </a:highlight>
            </a:endParaRPr>
          </a:p>
        </p:txBody>
      </p:sp>
      <p:pic>
        <p:nvPicPr>
          <p:cNvPr id="7" name="Picture 6">
            <a:extLst>
              <a:ext uri="{FF2B5EF4-FFF2-40B4-BE49-F238E27FC236}">
                <a16:creationId xmlns:a16="http://schemas.microsoft.com/office/drawing/2014/main" id="{E8B8F37F-C10C-AC55-FF4A-87D8FE681A4F}"/>
              </a:ext>
            </a:extLst>
          </p:cNvPr>
          <p:cNvPicPr>
            <a:picLocks noChangeAspect="1"/>
          </p:cNvPicPr>
          <p:nvPr/>
        </p:nvPicPr>
        <p:blipFill>
          <a:blip r:embed="rId3"/>
          <a:stretch>
            <a:fillRect/>
          </a:stretch>
        </p:blipFill>
        <p:spPr>
          <a:xfrm>
            <a:off x="127856" y="2911898"/>
            <a:ext cx="4079639" cy="3003681"/>
          </a:xfrm>
          <a:prstGeom prst="rect">
            <a:avLst/>
          </a:prstGeom>
        </p:spPr>
      </p:pic>
      <p:grpSp>
        <p:nvGrpSpPr>
          <p:cNvPr id="17" name="Group 16">
            <a:extLst>
              <a:ext uri="{FF2B5EF4-FFF2-40B4-BE49-F238E27FC236}">
                <a16:creationId xmlns:a16="http://schemas.microsoft.com/office/drawing/2014/main" id="{45D8E997-86AA-7428-3EF6-82A08EB79495}"/>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DBA06322-14F6-A198-BEAD-C581AC0AE0EE}"/>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4C06D945-3C4C-ADCB-070F-7D8B88959E0C}"/>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8EE0E388-A01F-84EE-F0D6-15BD39DE9CB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461F78AE-D60F-E0D3-3392-FF551A184A6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6</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C4CBB0F8-FD14-0A1C-6F7A-42D1EE178229}"/>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0187046B-15E2-5E63-B4D2-07FD0CB006C4}"/>
              </a:ext>
            </a:extLst>
          </p:cNvPr>
          <p:cNvSpPr txBox="1">
            <a:spLocks/>
          </p:cNvSpPr>
          <p:nvPr/>
        </p:nvSpPr>
        <p:spPr bwMode="auto">
          <a:xfrm>
            <a:off x="-1" y="1023668"/>
            <a:ext cx="12191999" cy="1407282"/>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a:t>
            </a:r>
            <a:r>
              <a:rPr lang="en-US" b="1" dirty="0">
                <a:solidFill>
                  <a:srgbClr val="F9853D"/>
                </a:solidFill>
                <a:latin typeface="Bahnschrift" panose="020B0502040204020203" pitchFamily="34" charset="0"/>
              </a:rPr>
              <a:t>1</a:t>
            </a:r>
            <a:r>
              <a:rPr lang="el-GR" b="1" dirty="0">
                <a:solidFill>
                  <a:srgbClr val="F9853D"/>
                </a:solidFill>
                <a:latin typeface="Bahnschrift" panose="020B0502040204020203" pitchFamily="34" charset="0"/>
              </a:rPr>
              <a:t>   Γραφική αναπαράσταση και Λεκτική Περιγραφή </a:t>
            </a:r>
            <a:endParaRPr lang="en-US" b="1" kern="0" dirty="0">
              <a:solidFill>
                <a:srgbClr val="000000"/>
              </a:solidFill>
              <a:latin typeface="Tahoma"/>
            </a:endParaRPr>
          </a:p>
          <a:p>
            <a:pPr marL="0" indent="0">
              <a:buClr>
                <a:srgbClr val="3333CC"/>
              </a:buClr>
              <a:buNone/>
              <a:defRPr/>
            </a:pPr>
            <a:r>
              <a:rPr lang="el-GR" sz="2400" kern="0" dirty="0">
                <a:solidFill>
                  <a:srgbClr val="000000"/>
                </a:solidFill>
                <a:latin typeface="Tahoma"/>
              </a:rPr>
              <a:t>Δώστε τη γραφική αναπαράσταση και τη Λεκτική Περιγραφή  για το πρόγραμμα </a:t>
            </a:r>
            <a:r>
              <a:rPr lang="el-GR" sz="2400" kern="0" dirty="0" err="1">
                <a:solidFill>
                  <a:srgbClr val="000000"/>
                </a:solidFill>
                <a:latin typeface="Tahoma"/>
              </a:rPr>
              <a:t>SimpleCalculator</a:t>
            </a:r>
            <a:r>
              <a:rPr lang="el-GR" sz="2400" kern="0" dirty="0">
                <a:solidFill>
                  <a:srgbClr val="000000"/>
                </a:solidFill>
                <a:latin typeface="Tahoma"/>
              </a:rPr>
              <a:t>.</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F997E8D8-2817-B554-329F-036F64E41DE6}"/>
              </a:ext>
            </a:extLst>
          </p:cNvPr>
          <p:cNvSpPr/>
          <p:nvPr/>
        </p:nvSpPr>
        <p:spPr>
          <a:xfrm>
            <a:off x="5069747" y="2630503"/>
            <a:ext cx="4877818" cy="597606"/>
          </a:xfrm>
          <a:prstGeom prst="wedgeRoundRectCallout">
            <a:avLst>
              <a:gd name="adj1" fmla="val -58179"/>
              <a:gd name="adj2" fmla="val 143422"/>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Δώστε τη</a:t>
            </a:r>
            <a:r>
              <a:rPr lang="en-US" sz="2400" b="1" dirty="0">
                <a:solidFill>
                  <a:schemeClr val="bg1"/>
                </a:solidFill>
              </a:rPr>
              <a:t> </a:t>
            </a:r>
            <a:r>
              <a:rPr lang="el-GR" sz="2400" b="1" dirty="0">
                <a:solidFill>
                  <a:schemeClr val="bg1"/>
                </a:solidFill>
              </a:rPr>
              <a:t>γραφική αναπαράσταση.</a:t>
            </a:r>
            <a:endParaRPr lang="en-GB" sz="2400" b="1" dirty="0">
              <a:solidFill>
                <a:schemeClr val="bg1"/>
              </a:solidFill>
              <a:highlight>
                <a:srgbClr val="FFFF00"/>
              </a:highlight>
            </a:endParaRPr>
          </a:p>
        </p:txBody>
      </p:sp>
    </p:spTree>
    <p:extLst>
      <p:ext uri="{BB962C8B-B14F-4D97-AF65-F5344CB8AC3E}">
        <p14:creationId xmlns:p14="http://schemas.microsoft.com/office/powerpoint/2010/main" val="261748988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89DB6-04C8-AC04-2750-6F5DDCFAEA42}"/>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B60ADDD-54A1-38C9-61E1-0BADE4FC8BF5}"/>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n-GB" b="1" dirty="0" err="1">
                <a:solidFill>
                  <a:srgbClr val="F9853D"/>
                </a:solidFill>
                <a:latin typeface="Bahnschrift" panose="020B0502040204020203" pitchFamily="34" charset="0"/>
              </a:rPr>
              <a:t>SimpleCalculator</a:t>
            </a:r>
            <a:r>
              <a:rPr lang="el-GR" b="1" dirty="0">
                <a:solidFill>
                  <a:srgbClr val="F9853D"/>
                </a:solidFill>
                <a:latin typeface="Bahnschrift" panose="020B0502040204020203" pitchFamily="34" charset="0"/>
              </a:rPr>
              <a:t> - Γραφική αναπαράσταση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5FD70D65-7FD7-7203-35C2-2A14BB7B428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D069AFDD-8109-1D11-9567-AB5FC95DD0FC}"/>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EA6469E3-AE3A-2ACD-C842-6BA58874851F}"/>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A0F277E2-8586-A358-47F8-15B60C36BB4A}"/>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C9970D83-2439-BF36-9CDA-84C6E801EB4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C45B5638-406E-18F9-9F7C-0424B40F9E6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7</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716FA07E-1D65-A796-1DA5-A840013E9FC6}"/>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F3AF66AE-7AF8-70ED-1E10-D95D13ACBCF0}"/>
              </a:ext>
            </a:extLst>
          </p:cNvPr>
          <p:cNvSpPr txBox="1">
            <a:spLocks/>
          </p:cNvSpPr>
          <p:nvPr/>
        </p:nvSpPr>
        <p:spPr bwMode="auto">
          <a:xfrm>
            <a:off x="-1" y="1023668"/>
            <a:ext cx="12191999" cy="908050"/>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400" b="1" dirty="0">
                <a:solidFill>
                  <a:srgbClr val="F9853D"/>
                </a:solidFill>
                <a:latin typeface="Bahnschrift" panose="020B0502040204020203" pitchFamily="34" charset="0"/>
              </a:rPr>
              <a:t>Δράση </a:t>
            </a:r>
            <a:r>
              <a:rPr lang="en-US" sz="2400" b="1" dirty="0">
                <a:solidFill>
                  <a:srgbClr val="F9853D"/>
                </a:solidFill>
                <a:latin typeface="Bahnschrift" panose="020B0502040204020203" pitchFamily="34" charset="0"/>
              </a:rPr>
              <a:t>8</a:t>
            </a:r>
            <a:r>
              <a:rPr lang="el-GR" sz="2400" b="1" dirty="0">
                <a:solidFill>
                  <a:srgbClr val="F9853D"/>
                </a:solidFill>
                <a:latin typeface="Bahnschrift" panose="020B0502040204020203" pitchFamily="34" charset="0"/>
              </a:rPr>
              <a:t>-</a:t>
            </a:r>
            <a:r>
              <a:rPr lang="en-US" sz="2400" b="1" dirty="0">
                <a:solidFill>
                  <a:srgbClr val="F9853D"/>
                </a:solidFill>
                <a:latin typeface="Bahnschrift" panose="020B0502040204020203" pitchFamily="34" charset="0"/>
              </a:rPr>
              <a:t>1</a:t>
            </a:r>
            <a:r>
              <a:rPr lang="el-GR" sz="2400" b="1" dirty="0">
                <a:solidFill>
                  <a:srgbClr val="F9853D"/>
                </a:solidFill>
                <a:latin typeface="Bahnschrift" panose="020B0502040204020203" pitchFamily="34" charset="0"/>
              </a:rPr>
              <a:t>   Γραφική αναπαράσταση και Λεκτική Περιγραφή </a:t>
            </a:r>
            <a:endParaRPr lang="en-US" sz="2400" b="1" kern="0" dirty="0">
              <a:solidFill>
                <a:srgbClr val="000000"/>
              </a:solidFill>
              <a:latin typeface="Tahoma"/>
            </a:endParaRPr>
          </a:p>
          <a:p>
            <a:pPr marL="0" indent="0">
              <a:buClr>
                <a:srgbClr val="3333CC"/>
              </a:buClr>
              <a:buNone/>
              <a:defRPr/>
            </a:pPr>
            <a:r>
              <a:rPr lang="el-GR" sz="1800" kern="0" dirty="0">
                <a:solidFill>
                  <a:srgbClr val="000000"/>
                </a:solidFill>
                <a:latin typeface="Tahoma"/>
              </a:rPr>
              <a:t>Δώστε τη γραφική αναπαράσταση και τη Λεκτική Περιγραφή  για το πρόγραμμα </a:t>
            </a:r>
            <a:r>
              <a:rPr lang="el-GR" sz="1800" kern="0" dirty="0" err="1">
                <a:solidFill>
                  <a:srgbClr val="000000"/>
                </a:solidFill>
                <a:latin typeface="Tahoma"/>
              </a:rPr>
              <a:t>SimpleCalculator</a:t>
            </a:r>
            <a:r>
              <a:rPr lang="el-GR" sz="1800" kern="0" dirty="0">
                <a:solidFill>
                  <a:srgbClr val="000000"/>
                </a:solidFill>
                <a:latin typeface="Tahoma"/>
              </a:rPr>
              <a:t>.</a:t>
            </a:r>
            <a:endParaRPr lang="en-US" sz="1100" kern="0" dirty="0">
              <a:solidFill>
                <a:srgbClr val="000000"/>
              </a:solidFill>
              <a:latin typeface="Tahoma"/>
            </a:endParaRPr>
          </a:p>
        </p:txBody>
      </p:sp>
      <p:pic>
        <p:nvPicPr>
          <p:cNvPr id="6" name="Picture 5">
            <a:extLst>
              <a:ext uri="{FF2B5EF4-FFF2-40B4-BE49-F238E27FC236}">
                <a16:creationId xmlns:a16="http://schemas.microsoft.com/office/drawing/2014/main" id="{54D878F3-B7AE-F065-8503-F8CE3809135E}"/>
              </a:ext>
            </a:extLst>
          </p:cNvPr>
          <p:cNvPicPr>
            <a:picLocks noChangeAspect="1"/>
          </p:cNvPicPr>
          <p:nvPr/>
        </p:nvPicPr>
        <p:blipFill>
          <a:blip r:embed="rId3"/>
          <a:stretch>
            <a:fillRect/>
          </a:stretch>
        </p:blipFill>
        <p:spPr>
          <a:xfrm>
            <a:off x="148734" y="2396481"/>
            <a:ext cx="8443155" cy="1994923"/>
          </a:xfrm>
          <a:prstGeom prst="rect">
            <a:avLst/>
          </a:prstGeom>
        </p:spPr>
      </p:pic>
      <p:pic>
        <p:nvPicPr>
          <p:cNvPr id="8" name="Picture 7" descr="A black text on a white background&#10;&#10;AI-generated content may be incorrect.">
            <a:extLst>
              <a:ext uri="{FF2B5EF4-FFF2-40B4-BE49-F238E27FC236}">
                <a16:creationId xmlns:a16="http://schemas.microsoft.com/office/drawing/2014/main" id="{AE07BB13-38AA-1B63-3B14-558384614AE0}"/>
              </a:ext>
            </a:extLst>
          </p:cNvPr>
          <p:cNvPicPr>
            <a:picLocks noChangeAspect="1"/>
          </p:cNvPicPr>
          <p:nvPr/>
        </p:nvPicPr>
        <p:blipFill>
          <a:blip r:embed="rId4"/>
          <a:stretch>
            <a:fillRect/>
          </a:stretch>
        </p:blipFill>
        <p:spPr>
          <a:xfrm>
            <a:off x="3903118" y="4856167"/>
            <a:ext cx="8192290" cy="1470256"/>
          </a:xfrm>
          <a:prstGeom prst="rect">
            <a:avLst/>
          </a:prstGeom>
          <a:solidFill>
            <a:schemeClr val="accent1">
              <a:lumMod val="60000"/>
              <a:lumOff val="40000"/>
            </a:schemeClr>
          </a:solidFill>
        </p:spPr>
      </p:pic>
    </p:spTree>
    <p:extLst>
      <p:ext uri="{BB962C8B-B14F-4D97-AF65-F5344CB8AC3E}">
        <p14:creationId xmlns:p14="http://schemas.microsoft.com/office/powerpoint/2010/main" val="421298540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61C2C-27D0-7F89-5850-34B4D06B290D}"/>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799FB8F-96F8-7896-1F03-5669C35EF254}"/>
              </a:ext>
            </a:extLst>
          </p:cNvPr>
          <p:cNvSpPr>
            <a:spLocks noGrp="1"/>
          </p:cNvSpPr>
          <p:nvPr>
            <p:ph type="title" idx="4294967295"/>
          </p:nvPr>
        </p:nvSpPr>
        <p:spPr>
          <a:xfrm>
            <a:off x="0" y="0"/>
            <a:ext cx="12191999" cy="908050"/>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 </a:t>
            </a:r>
            <a:r>
              <a:rPr lang="el-GR" b="1" dirty="0">
                <a:solidFill>
                  <a:srgbClr val="F9853D"/>
                </a:solidFill>
                <a:latin typeface="Bahnschrift" panose="020B0502040204020203" pitchFamily="34" charset="0"/>
              </a:rPr>
              <a:t>Πηγαίος κώδικας επιλογής λειτουργίας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9F4E3E78-F2A5-F9B3-CE5D-DCCB615A23B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5" name="Speech Bubble: Rectangle with Corners Rounded 4">
            <a:extLst>
              <a:ext uri="{FF2B5EF4-FFF2-40B4-BE49-F238E27FC236}">
                <a16:creationId xmlns:a16="http://schemas.microsoft.com/office/drawing/2014/main" id="{00809E1F-9C0B-7604-405D-FF2BB080DB0B}"/>
              </a:ext>
            </a:extLst>
          </p:cNvPr>
          <p:cNvSpPr/>
          <p:nvPr/>
        </p:nvSpPr>
        <p:spPr>
          <a:xfrm>
            <a:off x="5069747" y="3971729"/>
            <a:ext cx="5829519" cy="1284220"/>
          </a:xfrm>
          <a:prstGeom prst="wedgeRoundRectCallout">
            <a:avLst>
              <a:gd name="adj1" fmla="val -48052"/>
              <a:gd name="adj2" fmla="val 80620"/>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Στόχος είναι η διαμόρφωση του κώδικα μιας γενικής λύσης για την επιλογή λειτουργίας (</a:t>
            </a:r>
            <a:r>
              <a:rPr lang="en-US" sz="2400" b="1" dirty="0" err="1">
                <a:solidFill>
                  <a:schemeClr val="bg1"/>
                </a:solidFill>
              </a:rPr>
              <a:t>selectOperation</a:t>
            </a:r>
            <a:r>
              <a:rPr lang="en-US" sz="2400" b="1" dirty="0">
                <a:solidFill>
                  <a:schemeClr val="bg1"/>
                </a:solidFill>
              </a:rPr>
              <a:t>)</a:t>
            </a:r>
            <a:r>
              <a:rPr lang="el-GR" sz="2400" b="1" dirty="0">
                <a:solidFill>
                  <a:schemeClr val="bg1"/>
                </a:solidFill>
              </a:rPr>
              <a:t>. </a:t>
            </a:r>
            <a:endParaRPr lang="en-GB" sz="2400" b="1" dirty="0">
              <a:solidFill>
                <a:schemeClr val="bg1"/>
              </a:solidFill>
              <a:highlight>
                <a:srgbClr val="FFFF00"/>
              </a:highlight>
            </a:endParaRPr>
          </a:p>
        </p:txBody>
      </p:sp>
      <p:pic>
        <p:nvPicPr>
          <p:cNvPr id="7" name="Picture 6">
            <a:extLst>
              <a:ext uri="{FF2B5EF4-FFF2-40B4-BE49-F238E27FC236}">
                <a16:creationId xmlns:a16="http://schemas.microsoft.com/office/drawing/2014/main" id="{0082BCDE-AF69-3894-D227-1E38B8D625F1}"/>
              </a:ext>
            </a:extLst>
          </p:cNvPr>
          <p:cNvPicPr>
            <a:picLocks noChangeAspect="1"/>
          </p:cNvPicPr>
          <p:nvPr/>
        </p:nvPicPr>
        <p:blipFill>
          <a:blip r:embed="rId3"/>
          <a:stretch>
            <a:fillRect/>
          </a:stretch>
        </p:blipFill>
        <p:spPr>
          <a:xfrm>
            <a:off x="127856" y="3380509"/>
            <a:ext cx="4079639" cy="3003681"/>
          </a:xfrm>
          <a:prstGeom prst="rect">
            <a:avLst/>
          </a:prstGeom>
        </p:spPr>
      </p:pic>
      <p:grpSp>
        <p:nvGrpSpPr>
          <p:cNvPr id="17" name="Group 16">
            <a:extLst>
              <a:ext uri="{FF2B5EF4-FFF2-40B4-BE49-F238E27FC236}">
                <a16:creationId xmlns:a16="http://schemas.microsoft.com/office/drawing/2014/main" id="{6947842E-06E9-4C12-34E2-31872E3A6D44}"/>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AE7A8B50-F0C4-DB91-BA84-931C5E38FCF3}"/>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7C5F8F7C-CF5B-16DE-CB28-B37234506ECB}"/>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285F07AC-B10B-4B5C-2838-31562579C4B6}"/>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E99A98DB-C8FC-0EDA-1DBF-FAB824727FE9}"/>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8</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5A9E0D55-24DF-F7E6-53BD-65033B5FBC5C}"/>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941297AF-C05F-E7A7-9195-3EB06A685CA2}"/>
              </a:ext>
            </a:extLst>
          </p:cNvPr>
          <p:cNvSpPr txBox="1">
            <a:spLocks/>
          </p:cNvSpPr>
          <p:nvPr/>
        </p:nvSpPr>
        <p:spPr bwMode="auto">
          <a:xfrm>
            <a:off x="-1" y="1023667"/>
            <a:ext cx="12191999" cy="1845183"/>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-2   Πηγαίος κώδικας επιλογής λειτουργίας</a:t>
            </a:r>
            <a:endParaRPr lang="en-US" b="1" kern="0" dirty="0">
              <a:solidFill>
                <a:srgbClr val="000000"/>
              </a:solidFill>
              <a:latin typeface="Tahoma"/>
            </a:endParaRPr>
          </a:p>
          <a:p>
            <a:pPr marL="0" indent="0">
              <a:buClr>
                <a:srgbClr val="3333CC"/>
              </a:buClr>
              <a:buNone/>
              <a:defRPr/>
            </a:pPr>
            <a:r>
              <a:rPr lang="el-GR" sz="2400" kern="0" dirty="0">
                <a:solidFill>
                  <a:srgbClr val="000000"/>
                </a:solidFill>
                <a:latin typeface="Tahoma"/>
              </a:rPr>
              <a:t>Διαμορφώστε τον πηγαίο κώδικα που αντιστοιχεί στη Λεκτική Περιγραφή  που δώσατε. </a:t>
            </a:r>
          </a:p>
          <a:p>
            <a:pPr marL="0" indent="0">
              <a:buClr>
                <a:srgbClr val="3333CC"/>
              </a:buClr>
              <a:buNone/>
              <a:defRPr/>
            </a:pPr>
            <a:r>
              <a:rPr lang="el-GR" sz="2400" kern="0" dirty="0">
                <a:solidFill>
                  <a:srgbClr val="000000"/>
                </a:solidFill>
                <a:latin typeface="Tahoma"/>
              </a:rPr>
              <a:t>Στόχος μας είναι η </a:t>
            </a:r>
            <a:r>
              <a:rPr lang="el-GR" sz="2400" b="1" kern="0" dirty="0">
                <a:solidFill>
                  <a:srgbClr val="000000"/>
                </a:solidFill>
                <a:latin typeface="Tahoma"/>
              </a:rPr>
              <a:t>διαμόρφωση του κώδικα της λύσης για την επιλογή λειτουργίας</a:t>
            </a:r>
            <a:r>
              <a:rPr lang="el-GR" sz="2400" kern="0" dirty="0">
                <a:solidFill>
                  <a:srgbClr val="000000"/>
                </a:solidFill>
                <a:latin typeface="Tahoma"/>
              </a:rPr>
              <a:t>.  Υιοθετήστε την από το γενικό προς το ειδικό (</a:t>
            </a:r>
            <a:r>
              <a:rPr lang="el-GR" sz="2400" kern="0" dirty="0" err="1">
                <a:solidFill>
                  <a:srgbClr val="000000"/>
                </a:solidFill>
                <a:latin typeface="Tahoma"/>
              </a:rPr>
              <a:t>top-down</a:t>
            </a:r>
            <a:r>
              <a:rPr lang="el-GR" sz="2400" kern="0" dirty="0">
                <a:solidFill>
                  <a:srgbClr val="000000"/>
                </a:solidFill>
                <a:latin typeface="Tahoma"/>
              </a:rPr>
              <a:t>) προσέγγιση. </a:t>
            </a:r>
            <a:endParaRPr lang="en-US" sz="1400" kern="0" dirty="0">
              <a:solidFill>
                <a:srgbClr val="000000"/>
              </a:solidFill>
              <a:latin typeface="Tahoma"/>
            </a:endParaRPr>
          </a:p>
        </p:txBody>
      </p:sp>
    </p:spTree>
    <p:extLst>
      <p:ext uri="{BB962C8B-B14F-4D97-AF65-F5344CB8AC3E}">
        <p14:creationId xmlns:p14="http://schemas.microsoft.com/office/powerpoint/2010/main" val="37584973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6617B-5D62-5697-95D0-55AF383E22AF}"/>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06CEE48-CB73-9F16-DCB3-45F129998D6E}"/>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n-GB" b="1" dirty="0" err="1">
                <a:solidFill>
                  <a:srgbClr val="F9853D"/>
                </a:solidFill>
                <a:latin typeface="Bahnschrift" panose="020B0502040204020203" pitchFamily="34" charset="0"/>
              </a:rPr>
              <a:t>SimpleCalculator</a:t>
            </a:r>
            <a:r>
              <a:rPr lang="el-GR" b="1" dirty="0">
                <a:solidFill>
                  <a:srgbClr val="F9853D"/>
                </a:solidFill>
                <a:latin typeface="Bahnschrift" panose="020B0502040204020203" pitchFamily="34" charset="0"/>
              </a:rPr>
              <a:t> - Έξοδος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DEA4BB10-EF59-8C7D-2332-2D2230ECC87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13472046-7A78-105D-F931-AEC9C17EEE21}"/>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02408FA5-16F6-B466-DD54-C88A53F01F5E}"/>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8D24A2ED-F72E-720F-3571-3CE1ACBC4259}"/>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92E22D07-58C1-60B3-9CF9-1B9FAB66498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2E9130C8-B049-A668-E906-82228FDE778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9</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D5C6DFCC-C993-20B9-D1C1-B0AE487C94A5}"/>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pic>
        <p:nvPicPr>
          <p:cNvPr id="8" name="Picture 7" descr="A black text on a white background&#10;&#10;AI-generated content may be incorrect.">
            <a:extLst>
              <a:ext uri="{FF2B5EF4-FFF2-40B4-BE49-F238E27FC236}">
                <a16:creationId xmlns:a16="http://schemas.microsoft.com/office/drawing/2014/main" id="{4C79703B-DA81-C162-B95F-037142BE1BDD}"/>
              </a:ext>
            </a:extLst>
          </p:cNvPr>
          <p:cNvPicPr>
            <a:picLocks noChangeAspect="1"/>
          </p:cNvPicPr>
          <p:nvPr/>
        </p:nvPicPr>
        <p:blipFill>
          <a:blip r:embed="rId3"/>
          <a:stretch>
            <a:fillRect/>
          </a:stretch>
        </p:blipFill>
        <p:spPr>
          <a:xfrm>
            <a:off x="6671283" y="975442"/>
            <a:ext cx="5380048" cy="1345663"/>
          </a:xfrm>
          <a:prstGeom prst="rect">
            <a:avLst/>
          </a:prstGeom>
          <a:solidFill>
            <a:schemeClr val="accent1">
              <a:lumMod val="60000"/>
              <a:lumOff val="40000"/>
            </a:schemeClr>
          </a:solidFill>
        </p:spPr>
      </p:pic>
      <p:pic>
        <p:nvPicPr>
          <p:cNvPr id="6" name="Picture 5">
            <a:extLst>
              <a:ext uri="{FF2B5EF4-FFF2-40B4-BE49-F238E27FC236}">
                <a16:creationId xmlns:a16="http://schemas.microsoft.com/office/drawing/2014/main" id="{09BC4B37-B77E-712B-22CC-26EBE2423CA8}"/>
              </a:ext>
            </a:extLst>
          </p:cNvPr>
          <p:cNvPicPr>
            <a:picLocks noChangeAspect="1"/>
          </p:cNvPicPr>
          <p:nvPr/>
        </p:nvPicPr>
        <p:blipFill>
          <a:blip r:embed="rId4"/>
          <a:stretch>
            <a:fillRect/>
          </a:stretch>
        </p:blipFill>
        <p:spPr>
          <a:xfrm>
            <a:off x="1" y="958269"/>
            <a:ext cx="6550702" cy="1687302"/>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E1518B59-AEFF-C318-F775-6139E8DA73F9}"/>
              </a:ext>
            </a:extLst>
          </p:cNvPr>
          <p:cNvPicPr>
            <a:picLocks noChangeAspect="1"/>
          </p:cNvPicPr>
          <p:nvPr/>
        </p:nvPicPr>
        <p:blipFill>
          <a:blip r:embed="rId5"/>
          <a:stretch>
            <a:fillRect/>
          </a:stretch>
        </p:blipFill>
        <p:spPr>
          <a:xfrm>
            <a:off x="2856525" y="2889116"/>
            <a:ext cx="6795027" cy="3504910"/>
          </a:xfrm>
          <a:prstGeom prst="rect">
            <a:avLst/>
          </a:prstGeom>
        </p:spPr>
      </p:pic>
      <p:sp>
        <p:nvSpPr>
          <p:cNvPr id="10" name="TextBox 9">
            <a:extLst>
              <a:ext uri="{FF2B5EF4-FFF2-40B4-BE49-F238E27FC236}">
                <a16:creationId xmlns:a16="http://schemas.microsoft.com/office/drawing/2014/main" id="{D33342FC-08DC-84F6-48AB-6004D6D3557A}"/>
              </a:ext>
            </a:extLst>
          </p:cNvPr>
          <p:cNvSpPr txBox="1"/>
          <p:nvPr/>
        </p:nvSpPr>
        <p:spPr>
          <a:xfrm>
            <a:off x="135968" y="4238254"/>
            <a:ext cx="2536723" cy="923330"/>
          </a:xfrm>
          <a:prstGeom prst="rect">
            <a:avLst/>
          </a:prstGeom>
          <a:noFill/>
        </p:spPr>
        <p:txBody>
          <a:bodyPr wrap="square" rtlCol="0">
            <a:spAutoFit/>
          </a:bodyPr>
          <a:lstStyle/>
          <a:p>
            <a:pPr algn="r"/>
            <a:r>
              <a:rPr lang="el-GR" b="1" dirty="0">
                <a:latin typeface="Tahoma" panose="020B0604030504040204" pitchFamily="34" charset="0"/>
                <a:ea typeface="Tahoma" panose="020B0604030504040204" pitchFamily="34" charset="0"/>
                <a:cs typeface="Tahoma" panose="020B0604030504040204" pitchFamily="34" charset="0"/>
              </a:rPr>
              <a:t>Έξοδος του προγράμματος </a:t>
            </a:r>
            <a:r>
              <a:rPr lang="en-US" b="1" dirty="0" err="1">
                <a:latin typeface="Tahoma" panose="020B0604030504040204" pitchFamily="34" charset="0"/>
                <a:ea typeface="Tahoma" panose="020B0604030504040204" pitchFamily="34" charset="0"/>
                <a:cs typeface="Tahoma" panose="020B0604030504040204" pitchFamily="34" charset="0"/>
              </a:rPr>
              <a:t>SelecteOperation</a:t>
            </a:r>
            <a:endParaRPr lang="en-GB" b="1" dirty="0">
              <a:latin typeface="Tahoma" panose="020B0604030504040204" pitchFamily="34" charset="0"/>
              <a:ea typeface="Tahoma" panose="020B0604030504040204" pitchFamily="34" charset="0"/>
              <a:cs typeface="Tahoma" panose="020B0604030504040204" pitchFamily="34" charset="0"/>
            </a:endParaRPr>
          </a:p>
        </p:txBody>
      </p:sp>
      <p:cxnSp>
        <p:nvCxnSpPr>
          <p:cNvPr id="5" name="Straight Connector 4">
            <a:extLst>
              <a:ext uri="{FF2B5EF4-FFF2-40B4-BE49-F238E27FC236}">
                <a16:creationId xmlns:a16="http://schemas.microsoft.com/office/drawing/2014/main" id="{90BBD055-53DE-2B03-99E1-AA0DFB06DAAA}"/>
              </a:ext>
            </a:extLst>
          </p:cNvPr>
          <p:cNvCxnSpPr/>
          <p:nvPr/>
        </p:nvCxnSpPr>
        <p:spPr>
          <a:xfrm>
            <a:off x="2151987" y="3249118"/>
            <a:ext cx="1409076" cy="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0FBF86C-11DF-B05D-A126-B895BBFC6C14}"/>
              </a:ext>
            </a:extLst>
          </p:cNvPr>
          <p:cNvCxnSpPr/>
          <p:nvPr/>
        </p:nvCxnSpPr>
        <p:spPr>
          <a:xfrm>
            <a:off x="2151987" y="3656351"/>
            <a:ext cx="1409076" cy="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15BEF32-F3ED-36AE-81CC-F8AEF4D8B57A}"/>
              </a:ext>
            </a:extLst>
          </p:cNvPr>
          <p:cNvCxnSpPr/>
          <p:nvPr/>
        </p:nvCxnSpPr>
        <p:spPr>
          <a:xfrm>
            <a:off x="2151987" y="4238254"/>
            <a:ext cx="1409076" cy="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9702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BC815-575B-2B28-1E08-E44E9915CC6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64C4F22-B857-0743-4A3E-DE670525821D}"/>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n-GB" b="1" dirty="0" err="1">
                <a:solidFill>
                  <a:srgbClr val="F9853D"/>
                </a:solidFill>
                <a:latin typeface="Bahnschrift" panose="020B0502040204020203" pitchFamily="34" charset="0"/>
              </a:rPr>
              <a:t>SimpleCalculator</a:t>
            </a:r>
            <a:r>
              <a:rPr lang="el-GR" b="1" dirty="0">
                <a:solidFill>
                  <a:srgbClr val="F9853D"/>
                </a:solidFill>
                <a:latin typeface="Bahnschrift" panose="020B0502040204020203" pitchFamily="34" charset="0"/>
              </a:rPr>
              <a:t> - </a:t>
            </a:r>
            <a:r>
              <a:rPr lang="en-US" b="1" dirty="0">
                <a:solidFill>
                  <a:srgbClr val="F9853D"/>
                </a:solidFill>
                <a:latin typeface="Bahnschrift" panose="020B0502040204020203" pitchFamily="34" charset="0"/>
              </a:rPr>
              <a:t>main</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59BD4158-FF13-8746-E242-3ADE54D77F7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E9B612DD-C977-7633-E49F-8A456E9CD573}"/>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119E64F3-1F62-0478-8570-94B511BDF481}"/>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3A671BBD-911B-4D43-8395-363DBB0FDCB9}"/>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85437AE6-6563-2B58-B6EC-43DFE421421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AB088580-E1EB-4DF8-6A5A-0907C78A6AF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10</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22E5DD9F-25F8-D810-B47C-9571AE0F1AA1}"/>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pic>
        <p:nvPicPr>
          <p:cNvPr id="8" name="Picture 7" descr="A black text on a white background&#10;&#10;AI-generated content may be incorrect.">
            <a:extLst>
              <a:ext uri="{FF2B5EF4-FFF2-40B4-BE49-F238E27FC236}">
                <a16:creationId xmlns:a16="http://schemas.microsoft.com/office/drawing/2014/main" id="{0EE2DE40-4C19-46A1-289F-0F7A87AFA1E5}"/>
              </a:ext>
            </a:extLst>
          </p:cNvPr>
          <p:cNvPicPr>
            <a:picLocks noChangeAspect="1"/>
          </p:cNvPicPr>
          <p:nvPr/>
        </p:nvPicPr>
        <p:blipFill>
          <a:blip r:embed="rId3"/>
          <a:stretch>
            <a:fillRect/>
          </a:stretch>
        </p:blipFill>
        <p:spPr>
          <a:xfrm>
            <a:off x="110775" y="851884"/>
            <a:ext cx="5380048" cy="1345663"/>
          </a:xfrm>
          <a:prstGeom prst="rect">
            <a:avLst/>
          </a:prstGeom>
          <a:solidFill>
            <a:schemeClr val="accent1">
              <a:lumMod val="60000"/>
              <a:lumOff val="40000"/>
            </a:schemeClr>
          </a:solidFill>
        </p:spPr>
      </p:pic>
      <p:pic>
        <p:nvPicPr>
          <p:cNvPr id="5" name="Picture 4">
            <a:extLst>
              <a:ext uri="{FF2B5EF4-FFF2-40B4-BE49-F238E27FC236}">
                <a16:creationId xmlns:a16="http://schemas.microsoft.com/office/drawing/2014/main" id="{6E4B6B99-18D9-429E-E577-1377E7EB4BF4}"/>
              </a:ext>
            </a:extLst>
          </p:cNvPr>
          <p:cNvPicPr>
            <a:picLocks noChangeAspect="1"/>
          </p:cNvPicPr>
          <p:nvPr/>
        </p:nvPicPr>
        <p:blipFill>
          <a:blip r:embed="rId4"/>
          <a:stretch>
            <a:fillRect/>
          </a:stretch>
        </p:blipFill>
        <p:spPr>
          <a:xfrm>
            <a:off x="5601598" y="883012"/>
            <a:ext cx="6590401" cy="5766601"/>
          </a:xfrm>
          <a:prstGeom prst="rect">
            <a:avLst/>
          </a:prstGeom>
        </p:spPr>
      </p:pic>
      <p:sp>
        <p:nvSpPr>
          <p:cNvPr id="7" name="Rectangle 3">
            <a:extLst>
              <a:ext uri="{FF2B5EF4-FFF2-40B4-BE49-F238E27FC236}">
                <a16:creationId xmlns:a16="http://schemas.microsoft.com/office/drawing/2014/main" id="{7A3E4100-7647-DE09-AD20-E5B4AA1087BB}"/>
              </a:ext>
            </a:extLst>
          </p:cNvPr>
          <p:cNvSpPr>
            <a:spLocks noChangeArrowheads="1"/>
          </p:cNvSpPr>
          <p:nvPr/>
        </p:nvSpPr>
        <p:spPr bwMode="auto">
          <a:xfrm>
            <a:off x="0" y="2311347"/>
            <a:ext cx="5380048" cy="440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pPr>
            <a:r>
              <a:rPr lang="en-US" altLang="el-GR" sz="2800" b="1" dirty="0">
                <a:solidFill>
                  <a:srgbClr val="FF0000"/>
                </a:solidFill>
                <a:latin typeface="Times New Roman" panose="02020603050405020304" pitchFamily="18" charset="0"/>
              </a:rPr>
              <a:t>switch</a:t>
            </a:r>
            <a:r>
              <a:rPr lang="en-US" altLang="el-GR" sz="2800" b="1" dirty="0">
                <a:solidFill>
                  <a:srgbClr val="000000"/>
                </a:solidFill>
                <a:latin typeface="Times New Roman" panose="02020603050405020304" pitchFamily="18" charset="0"/>
              </a:rPr>
              <a:t> </a:t>
            </a:r>
            <a:r>
              <a:rPr lang="en-US" altLang="el-GR" sz="2800" dirty="0">
                <a:solidFill>
                  <a:srgbClr val="000000"/>
                </a:solidFill>
                <a:latin typeface="Times New Roman" panose="02020603050405020304" pitchFamily="18" charset="0"/>
              </a:rPr>
              <a:t>(</a:t>
            </a:r>
            <a:r>
              <a:rPr lang="en-US" altLang="el-GR" sz="2800" dirty="0" err="1">
                <a:solidFill>
                  <a:srgbClr val="000000"/>
                </a:solidFill>
                <a:latin typeface="Times New Roman" panose="02020603050405020304" pitchFamily="18" charset="0"/>
              </a:rPr>
              <a:t>έκφρ</a:t>
            </a:r>
            <a:r>
              <a:rPr lang="en-US" altLang="el-GR" sz="2800" dirty="0">
                <a:solidFill>
                  <a:srgbClr val="000000"/>
                </a:solidFill>
                <a:latin typeface="Times New Roman" panose="02020603050405020304" pitchFamily="18" charset="0"/>
              </a:rPr>
              <a:t>αση) {</a:t>
            </a:r>
          </a:p>
          <a:p>
            <a:pPr fontAlgn="base">
              <a:spcBef>
                <a:spcPct val="0"/>
              </a:spcBef>
              <a:spcAft>
                <a:spcPct val="0"/>
              </a:spcAft>
            </a:pPr>
            <a:r>
              <a:rPr lang="en-US" altLang="el-GR" sz="2800" dirty="0">
                <a:solidFill>
                  <a:srgbClr val="000000"/>
                </a:solidFill>
                <a:latin typeface="Times New Roman" panose="02020603050405020304" pitchFamily="18" charset="0"/>
              </a:rPr>
              <a:t>  </a:t>
            </a:r>
            <a:r>
              <a:rPr lang="el-GR" altLang="el-GR" sz="2800" dirty="0">
                <a:solidFill>
                  <a:srgbClr val="000000"/>
                </a:solidFill>
                <a:latin typeface="Times New Roman" panose="02020603050405020304" pitchFamily="18" charset="0"/>
              </a:rPr>
              <a:t>	</a:t>
            </a:r>
            <a:r>
              <a:rPr lang="en-US" altLang="el-GR" sz="2800" b="1" dirty="0">
                <a:solidFill>
                  <a:srgbClr val="00E4A8"/>
                </a:solidFill>
                <a:latin typeface="Times New Roman" panose="02020603050405020304" pitchFamily="18" charset="0"/>
              </a:rPr>
              <a:t>case</a:t>
            </a:r>
            <a:r>
              <a:rPr lang="en-US" altLang="el-GR" sz="2800" dirty="0">
                <a:solidFill>
                  <a:srgbClr val="000000"/>
                </a:solidFill>
                <a:latin typeface="Times New Roman" panose="02020603050405020304" pitchFamily="18" charset="0"/>
              </a:rPr>
              <a:t> </a:t>
            </a:r>
            <a:r>
              <a:rPr lang="el-GR" altLang="el-GR" sz="2800" dirty="0">
                <a:solidFill>
                  <a:srgbClr val="000000"/>
                </a:solidFill>
                <a:latin typeface="Times New Roman" panose="02020603050405020304" pitchFamily="18" charset="0"/>
              </a:rPr>
              <a:t>σταθερά έκφραση </a:t>
            </a:r>
            <a:r>
              <a:rPr lang="en-US" altLang="el-GR" sz="2800" dirty="0">
                <a:solidFill>
                  <a:srgbClr val="000000"/>
                </a:solidFill>
                <a:latin typeface="Times New Roman" panose="02020603050405020304" pitchFamily="18" charset="0"/>
              </a:rPr>
              <a:t>1 : 	</a:t>
            </a:r>
            <a:r>
              <a:rPr lang="el-GR" altLang="el-GR" sz="2800" dirty="0">
                <a:solidFill>
                  <a:srgbClr val="000000"/>
                </a:solidFill>
                <a:latin typeface="Times New Roman" panose="02020603050405020304" pitchFamily="18" charset="0"/>
              </a:rPr>
              <a:t>	</a:t>
            </a:r>
            <a:r>
              <a:rPr lang="en-US" altLang="el-GR" sz="2800" dirty="0">
                <a:solidFill>
                  <a:srgbClr val="000000"/>
                </a:solidFill>
                <a:latin typeface="Times New Roman" panose="02020603050405020304" pitchFamily="18" charset="0"/>
              </a:rPr>
              <a:t>π</a:t>
            </a:r>
            <a:r>
              <a:rPr lang="en-US" altLang="el-GR" sz="2800" dirty="0" err="1">
                <a:solidFill>
                  <a:srgbClr val="000000"/>
                </a:solidFill>
                <a:latin typeface="Times New Roman" panose="02020603050405020304" pitchFamily="18" charset="0"/>
              </a:rPr>
              <a:t>ρότ</a:t>
            </a:r>
            <a:r>
              <a:rPr lang="en-US" altLang="el-GR" sz="2800" dirty="0">
                <a:solidFill>
                  <a:srgbClr val="000000"/>
                </a:solidFill>
                <a:latin typeface="Times New Roman" panose="02020603050405020304" pitchFamily="18" charset="0"/>
              </a:rPr>
              <a:t>αση1</a:t>
            </a:r>
          </a:p>
          <a:p>
            <a:pPr fontAlgn="base">
              <a:spcBef>
                <a:spcPct val="0"/>
              </a:spcBef>
              <a:spcAft>
                <a:spcPct val="0"/>
              </a:spcAft>
            </a:pPr>
            <a:r>
              <a:rPr lang="en-US" altLang="el-GR" sz="2800" dirty="0">
                <a:solidFill>
                  <a:srgbClr val="000000"/>
                </a:solidFill>
                <a:latin typeface="Times New Roman" panose="02020603050405020304" pitchFamily="18" charset="0"/>
              </a:rPr>
              <a:t>  </a:t>
            </a:r>
            <a:r>
              <a:rPr lang="el-GR" altLang="el-GR" sz="2800" dirty="0">
                <a:solidFill>
                  <a:srgbClr val="000000"/>
                </a:solidFill>
                <a:latin typeface="Times New Roman" panose="02020603050405020304" pitchFamily="18" charset="0"/>
              </a:rPr>
              <a:t>	</a:t>
            </a:r>
            <a:r>
              <a:rPr lang="en-US" altLang="el-GR" sz="2800" b="1" dirty="0">
                <a:solidFill>
                  <a:srgbClr val="00E4A8"/>
                </a:solidFill>
                <a:latin typeface="Times New Roman" panose="02020603050405020304" pitchFamily="18" charset="0"/>
              </a:rPr>
              <a:t>case</a:t>
            </a:r>
            <a:r>
              <a:rPr lang="en-US" altLang="el-GR" sz="2800" dirty="0">
                <a:solidFill>
                  <a:srgbClr val="000000"/>
                </a:solidFill>
                <a:latin typeface="Times New Roman" panose="02020603050405020304" pitchFamily="18" charset="0"/>
              </a:rPr>
              <a:t> </a:t>
            </a:r>
            <a:r>
              <a:rPr lang="el-GR" altLang="el-GR" sz="2800" dirty="0">
                <a:solidFill>
                  <a:srgbClr val="000000"/>
                </a:solidFill>
                <a:latin typeface="Times New Roman" panose="02020603050405020304" pitchFamily="18" charset="0"/>
              </a:rPr>
              <a:t>σταθερά έκφραση 2</a:t>
            </a:r>
            <a:r>
              <a:rPr lang="en-US" altLang="el-GR" sz="2800" dirty="0">
                <a:solidFill>
                  <a:srgbClr val="000000"/>
                </a:solidFill>
                <a:latin typeface="Times New Roman" panose="02020603050405020304" pitchFamily="18" charset="0"/>
              </a:rPr>
              <a:t>: 	</a:t>
            </a:r>
            <a:r>
              <a:rPr lang="el-GR" altLang="el-GR" sz="2800" dirty="0">
                <a:solidFill>
                  <a:srgbClr val="000000"/>
                </a:solidFill>
                <a:latin typeface="Times New Roman" panose="02020603050405020304" pitchFamily="18" charset="0"/>
              </a:rPr>
              <a:t>	</a:t>
            </a:r>
            <a:r>
              <a:rPr lang="en-US" altLang="el-GR" sz="2800" dirty="0">
                <a:solidFill>
                  <a:srgbClr val="000000"/>
                </a:solidFill>
                <a:latin typeface="Times New Roman" panose="02020603050405020304" pitchFamily="18" charset="0"/>
              </a:rPr>
              <a:t>π</a:t>
            </a:r>
            <a:r>
              <a:rPr lang="en-US" altLang="el-GR" sz="2800" dirty="0" err="1">
                <a:solidFill>
                  <a:srgbClr val="000000"/>
                </a:solidFill>
                <a:latin typeface="Times New Roman" panose="02020603050405020304" pitchFamily="18" charset="0"/>
              </a:rPr>
              <a:t>ρότ</a:t>
            </a:r>
            <a:r>
              <a:rPr lang="en-US" altLang="el-GR" sz="2800" dirty="0">
                <a:solidFill>
                  <a:srgbClr val="000000"/>
                </a:solidFill>
                <a:latin typeface="Times New Roman" panose="02020603050405020304" pitchFamily="18" charset="0"/>
              </a:rPr>
              <a:t>αση2</a:t>
            </a:r>
            <a:endParaRPr lang="el-GR" altLang="el-GR" sz="2800" dirty="0">
              <a:solidFill>
                <a:srgbClr val="000000"/>
              </a:solidFill>
              <a:latin typeface="Times New Roman" panose="02020603050405020304" pitchFamily="18" charset="0"/>
            </a:endParaRPr>
          </a:p>
          <a:p>
            <a:pPr fontAlgn="base">
              <a:spcBef>
                <a:spcPct val="0"/>
              </a:spcBef>
              <a:spcAft>
                <a:spcPct val="0"/>
              </a:spcAft>
            </a:pPr>
            <a:r>
              <a:rPr lang="el-GR" altLang="el-GR" sz="2800" dirty="0">
                <a:solidFill>
                  <a:srgbClr val="000000"/>
                </a:solidFill>
                <a:latin typeface="Times New Roman" panose="02020603050405020304" pitchFamily="18" charset="0"/>
              </a:rPr>
              <a:t>	:</a:t>
            </a:r>
            <a:endParaRPr lang="en-US" altLang="el-GR" sz="2800" dirty="0">
              <a:solidFill>
                <a:srgbClr val="000000"/>
              </a:solidFill>
              <a:latin typeface="Times New Roman" panose="02020603050405020304" pitchFamily="18" charset="0"/>
            </a:endParaRPr>
          </a:p>
          <a:p>
            <a:pPr fontAlgn="base">
              <a:spcBef>
                <a:spcPct val="0"/>
              </a:spcBef>
              <a:spcAft>
                <a:spcPct val="0"/>
              </a:spcAft>
            </a:pPr>
            <a:r>
              <a:rPr lang="en-US" altLang="el-GR" sz="2800" dirty="0">
                <a:solidFill>
                  <a:srgbClr val="000000"/>
                </a:solidFill>
                <a:latin typeface="Times New Roman" panose="02020603050405020304" pitchFamily="18" charset="0"/>
              </a:rPr>
              <a:t>	:</a:t>
            </a:r>
          </a:p>
          <a:p>
            <a:pPr fontAlgn="base">
              <a:spcBef>
                <a:spcPct val="0"/>
              </a:spcBef>
              <a:spcAft>
                <a:spcPct val="0"/>
              </a:spcAft>
            </a:pPr>
            <a:r>
              <a:rPr lang="en-US" altLang="el-GR" sz="2800" dirty="0">
                <a:solidFill>
                  <a:srgbClr val="000000"/>
                </a:solidFill>
                <a:latin typeface="Times New Roman" panose="02020603050405020304" pitchFamily="18" charset="0"/>
              </a:rPr>
              <a:t>  </a:t>
            </a:r>
            <a:r>
              <a:rPr lang="el-GR" altLang="el-GR" sz="2800" dirty="0">
                <a:solidFill>
                  <a:srgbClr val="000000"/>
                </a:solidFill>
                <a:latin typeface="Times New Roman" panose="02020603050405020304" pitchFamily="18" charset="0"/>
              </a:rPr>
              <a:t>	</a:t>
            </a:r>
            <a:r>
              <a:rPr lang="en-US" altLang="el-GR" sz="2800" b="1" dirty="0">
                <a:solidFill>
                  <a:srgbClr val="3333CC"/>
                </a:solidFill>
                <a:latin typeface="Times New Roman" panose="02020603050405020304" pitchFamily="18" charset="0"/>
              </a:rPr>
              <a:t>default</a:t>
            </a:r>
            <a:r>
              <a:rPr lang="en-US" altLang="el-GR" sz="2800" dirty="0">
                <a:solidFill>
                  <a:srgbClr val="000000"/>
                </a:solidFill>
                <a:latin typeface="Times New Roman" panose="02020603050405020304" pitchFamily="18" charset="0"/>
              </a:rPr>
              <a:t> :</a:t>
            </a:r>
          </a:p>
          <a:p>
            <a:pPr fontAlgn="base">
              <a:spcBef>
                <a:spcPct val="0"/>
              </a:spcBef>
              <a:spcAft>
                <a:spcPct val="0"/>
              </a:spcAft>
            </a:pPr>
            <a:r>
              <a:rPr lang="en-US" altLang="el-GR" sz="2800" dirty="0">
                <a:solidFill>
                  <a:srgbClr val="000000"/>
                </a:solidFill>
                <a:latin typeface="Times New Roman" panose="02020603050405020304" pitchFamily="18" charset="0"/>
              </a:rPr>
              <a:t>	</a:t>
            </a:r>
            <a:r>
              <a:rPr lang="el-GR" altLang="el-GR" sz="2800" dirty="0">
                <a:solidFill>
                  <a:srgbClr val="000000"/>
                </a:solidFill>
                <a:latin typeface="Times New Roman" panose="02020603050405020304" pitchFamily="18" charset="0"/>
              </a:rPr>
              <a:t>	</a:t>
            </a:r>
            <a:r>
              <a:rPr lang="en-US" altLang="el-GR" sz="2800" dirty="0">
                <a:solidFill>
                  <a:srgbClr val="000000"/>
                </a:solidFill>
                <a:latin typeface="Times New Roman" panose="02020603050405020304" pitchFamily="18" charset="0"/>
              </a:rPr>
              <a:t>π</a:t>
            </a:r>
            <a:r>
              <a:rPr lang="en-US" altLang="el-GR" sz="2800" dirty="0" err="1">
                <a:solidFill>
                  <a:srgbClr val="000000"/>
                </a:solidFill>
                <a:latin typeface="Times New Roman" panose="02020603050405020304" pitchFamily="18" charset="0"/>
              </a:rPr>
              <a:t>ρότ</a:t>
            </a:r>
            <a:r>
              <a:rPr lang="en-US" altLang="el-GR" sz="2800" dirty="0">
                <a:solidFill>
                  <a:srgbClr val="000000"/>
                </a:solidFill>
                <a:latin typeface="Times New Roman" panose="02020603050405020304" pitchFamily="18" charset="0"/>
              </a:rPr>
              <a:t>αση</a:t>
            </a:r>
            <a:r>
              <a:rPr lang="el-GR" altLang="el-GR" sz="2800" dirty="0">
                <a:solidFill>
                  <a:srgbClr val="000000"/>
                </a:solidFill>
                <a:latin typeface="Times New Roman" panose="02020603050405020304" pitchFamily="18" charset="0"/>
              </a:rPr>
              <a:t>Ν</a:t>
            </a:r>
            <a:endParaRPr lang="en-US" altLang="el-GR" sz="2800" dirty="0">
              <a:solidFill>
                <a:srgbClr val="000000"/>
              </a:solidFill>
              <a:latin typeface="Times New Roman" panose="02020603050405020304" pitchFamily="18" charset="0"/>
            </a:endParaRPr>
          </a:p>
          <a:p>
            <a:pPr fontAlgn="base">
              <a:spcBef>
                <a:spcPct val="0"/>
              </a:spcBef>
              <a:spcAft>
                <a:spcPct val="0"/>
              </a:spcAft>
            </a:pPr>
            <a:r>
              <a:rPr lang="el-GR" altLang="el-GR" sz="2800" dirty="0">
                <a:solidFill>
                  <a:srgbClr val="000000"/>
                </a:solidFill>
                <a:latin typeface="HellasTimes" charset="0"/>
              </a:rPr>
              <a:t>	</a:t>
            </a:r>
            <a:r>
              <a:rPr lang="en-US" altLang="el-GR" sz="2800" dirty="0">
                <a:solidFill>
                  <a:srgbClr val="000000"/>
                </a:solidFill>
                <a:latin typeface="HellasTimes" charset="0"/>
              </a:rPr>
              <a:t>}</a:t>
            </a:r>
          </a:p>
        </p:txBody>
      </p:sp>
    </p:spTree>
    <p:extLst>
      <p:ext uri="{BB962C8B-B14F-4D97-AF65-F5344CB8AC3E}">
        <p14:creationId xmlns:p14="http://schemas.microsoft.com/office/powerpoint/2010/main" val="21693804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iterate type="wd">
                                    <p:tmPct val="100000"/>
                                  </p:iterate>
                                  <p:childTnLst>
                                    <p:set>
                                      <p:cBhvr>
                                        <p:cTn id="6" dur="1" fill="hold">
                                          <p:stCondLst>
                                            <p:cond delay="0"/>
                                          </p:stCondLst>
                                        </p:cTn>
                                        <p:tgtEl>
                                          <p:spTgt spid="7"/>
                                        </p:tgtEl>
                                        <p:attrNameLst>
                                          <p:attrName>style.visibility</p:attrName>
                                        </p:attrNameLst>
                                      </p:cBhvr>
                                      <p:to>
                                        <p:strVal val="visible"/>
                                      </p:to>
                                    </p:set>
                                    <p:animEffect transition="in" filter="dissolv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C9085-2644-4EDF-4495-653E59C3BFC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85BC96A-38F6-654E-2E79-24D9B89E60B7}"/>
              </a:ext>
            </a:extLst>
          </p:cNvPr>
          <p:cNvPicPr>
            <a:picLocks noChangeAspect="1"/>
          </p:cNvPicPr>
          <p:nvPr/>
        </p:nvPicPr>
        <p:blipFill>
          <a:blip r:embed="rId3"/>
          <a:stretch>
            <a:fillRect/>
          </a:stretch>
        </p:blipFill>
        <p:spPr>
          <a:xfrm>
            <a:off x="183872" y="1113727"/>
            <a:ext cx="7685071" cy="2189080"/>
          </a:xfrm>
          <a:prstGeom prst="rect">
            <a:avLst/>
          </a:prstGeom>
        </p:spPr>
      </p:pic>
      <p:sp>
        <p:nvSpPr>
          <p:cNvPr id="2" name="Τίτλος 1">
            <a:extLst>
              <a:ext uri="{FF2B5EF4-FFF2-40B4-BE49-F238E27FC236}">
                <a16:creationId xmlns:a16="http://schemas.microsoft.com/office/drawing/2014/main" id="{8B205AA4-E13E-7E12-36EF-7DDD6CABA4DC}"/>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l-GR" b="1" dirty="0">
                <a:solidFill>
                  <a:srgbClr val="F9853D"/>
                </a:solidFill>
                <a:latin typeface="Bahnschrift" panose="020B0502040204020203" pitchFamily="34" charset="0"/>
              </a:rPr>
              <a:t>Βελτιώνοντας τη λύση (συμπαγής κώδικας)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046A48F2-696D-2C53-EAE8-00E3F50515D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6F1201C1-93C9-F4F9-FBBA-D92B63C47C69}"/>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9A728C98-FEA4-B848-582A-34EE0269083B}"/>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BBB90C16-B9D7-C963-12FF-C5ED38B101B6}"/>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8E952318-A5CB-84A4-C5FB-D8C91DCE7031}"/>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522D12E8-0401-431C-E65D-7C924EEA385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11</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10A228E4-8D71-A11A-5E08-FC44FB8883F0}"/>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5" name="Arrow: Left 4">
            <a:extLst>
              <a:ext uri="{FF2B5EF4-FFF2-40B4-BE49-F238E27FC236}">
                <a16:creationId xmlns:a16="http://schemas.microsoft.com/office/drawing/2014/main" id="{250BDE0B-7268-12DE-6BE3-DC707EC93E74}"/>
              </a:ext>
            </a:extLst>
          </p:cNvPr>
          <p:cNvSpPr/>
          <p:nvPr/>
        </p:nvSpPr>
        <p:spPr>
          <a:xfrm rot="844593">
            <a:off x="6543358" y="1870307"/>
            <a:ext cx="1863567" cy="226752"/>
          </a:xfrm>
          <a:prstGeom prst="leftArrow">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Left 6">
            <a:extLst>
              <a:ext uri="{FF2B5EF4-FFF2-40B4-BE49-F238E27FC236}">
                <a16:creationId xmlns:a16="http://schemas.microsoft.com/office/drawing/2014/main" id="{58F65FA9-56A2-1C04-7291-68514131E3B3}"/>
              </a:ext>
            </a:extLst>
          </p:cNvPr>
          <p:cNvSpPr/>
          <p:nvPr/>
        </p:nvSpPr>
        <p:spPr>
          <a:xfrm rot="20773604">
            <a:off x="7104211" y="2443354"/>
            <a:ext cx="1292333" cy="239893"/>
          </a:xfrm>
          <a:prstGeom prst="leftArrow">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B610A1FE-62BC-19F3-64E5-D642E312DAE3}"/>
              </a:ext>
            </a:extLst>
          </p:cNvPr>
          <p:cNvPicPr>
            <a:picLocks noChangeAspect="1"/>
          </p:cNvPicPr>
          <p:nvPr/>
        </p:nvPicPr>
        <p:blipFill>
          <a:blip r:embed="rId4"/>
          <a:stretch>
            <a:fillRect/>
          </a:stretch>
        </p:blipFill>
        <p:spPr>
          <a:xfrm>
            <a:off x="281610" y="3995615"/>
            <a:ext cx="10668576" cy="1748658"/>
          </a:xfrm>
          <a:prstGeom prst="rect">
            <a:avLst/>
          </a:prstGeom>
        </p:spPr>
      </p:pic>
      <p:sp>
        <p:nvSpPr>
          <p:cNvPr id="11" name="Arrow: Left 10">
            <a:extLst>
              <a:ext uri="{FF2B5EF4-FFF2-40B4-BE49-F238E27FC236}">
                <a16:creationId xmlns:a16="http://schemas.microsoft.com/office/drawing/2014/main" id="{4B345BE8-FF0D-C6CE-8149-911CDF22BED7}"/>
              </a:ext>
            </a:extLst>
          </p:cNvPr>
          <p:cNvSpPr/>
          <p:nvPr/>
        </p:nvSpPr>
        <p:spPr>
          <a:xfrm rot="1831815">
            <a:off x="7124578" y="5175283"/>
            <a:ext cx="1915541" cy="249992"/>
          </a:xfrm>
          <a:prstGeom prst="leftArrow">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2525D913-38E7-7E8C-FE1F-7B0DE9E08D1D}"/>
              </a:ext>
            </a:extLst>
          </p:cNvPr>
          <p:cNvPicPr>
            <a:picLocks noChangeAspect="1"/>
          </p:cNvPicPr>
          <p:nvPr/>
        </p:nvPicPr>
        <p:blipFill>
          <a:blip r:embed="rId5"/>
          <a:stretch>
            <a:fillRect/>
          </a:stretch>
        </p:blipFill>
        <p:spPr>
          <a:xfrm>
            <a:off x="8495223" y="1956365"/>
            <a:ext cx="728204" cy="673196"/>
          </a:xfrm>
          <a:prstGeom prst="rect">
            <a:avLst/>
          </a:prstGeom>
        </p:spPr>
      </p:pic>
      <p:pic>
        <p:nvPicPr>
          <p:cNvPr id="6" name="Picture 5">
            <a:extLst>
              <a:ext uri="{FF2B5EF4-FFF2-40B4-BE49-F238E27FC236}">
                <a16:creationId xmlns:a16="http://schemas.microsoft.com/office/drawing/2014/main" id="{E80E303E-C210-FEA1-795D-BDBC7C9D9416}"/>
              </a:ext>
            </a:extLst>
          </p:cNvPr>
          <p:cNvPicPr>
            <a:picLocks noChangeAspect="1"/>
          </p:cNvPicPr>
          <p:nvPr/>
        </p:nvPicPr>
        <p:blipFill>
          <a:blip r:embed="rId6"/>
          <a:stretch>
            <a:fillRect/>
          </a:stretch>
        </p:blipFill>
        <p:spPr>
          <a:xfrm>
            <a:off x="8859325" y="5155955"/>
            <a:ext cx="808044" cy="753262"/>
          </a:xfrm>
          <a:prstGeom prst="rect">
            <a:avLst/>
          </a:prstGeom>
        </p:spPr>
      </p:pic>
    </p:spTree>
    <p:extLst>
      <p:ext uri="{BB962C8B-B14F-4D97-AF65-F5344CB8AC3E}">
        <p14:creationId xmlns:p14="http://schemas.microsoft.com/office/powerpoint/2010/main" val="11931205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68ACC-1B33-9B2F-E0AC-C19E4A4CF4DD}"/>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B58CFDD-2BE1-1F4E-501A-5ADE65972F58}"/>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3" name="Rectangle 2">
            <a:extLst>
              <a:ext uri="{FF2B5EF4-FFF2-40B4-BE49-F238E27FC236}">
                <a16:creationId xmlns:a16="http://schemas.microsoft.com/office/drawing/2014/main" id="{BD393E02-217A-45B8-9BD4-60E99F40EB5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C3C21EF9-B51A-8F76-093F-106E42A9B390}"/>
              </a:ext>
            </a:extLst>
          </p:cNvPr>
          <p:cNvSpPr txBox="1">
            <a:spLocks noChangeArrowheads="1"/>
          </p:cNvSpPr>
          <p:nvPr/>
        </p:nvSpPr>
        <p:spPr bwMode="auto">
          <a:xfrm>
            <a:off x="267579" y="975392"/>
            <a:ext cx="11207100" cy="51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1</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rPr>
              <a:t>Επιλογή λειτουργίας (Μενού)</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Μενού επιλογής λειτουργίας</a:t>
            </a:r>
          </a:p>
          <a:p>
            <a:pPr lvl="1" eaLnBrk="1" hangingPunct="1">
              <a:lnSpc>
                <a:spcPct val="80000"/>
              </a:lnSpc>
            </a:pPr>
            <a:r>
              <a:rPr lang="el-GR" sz="2400" kern="0" dirty="0">
                <a:solidFill>
                  <a:srgbClr val="000000"/>
                </a:solidFill>
                <a:latin typeface="Tahoma"/>
              </a:rPr>
              <a:t>Η </a:t>
            </a:r>
            <a:r>
              <a:rPr lang="el-GR" sz="2400" kern="0" dirty="0" err="1">
                <a:solidFill>
                  <a:srgbClr val="000000"/>
                </a:solidFill>
                <a:latin typeface="Tahoma"/>
              </a:rPr>
              <a:t>top-down</a:t>
            </a:r>
            <a:r>
              <a:rPr lang="el-GR" sz="2400" kern="0" dirty="0">
                <a:solidFill>
                  <a:srgbClr val="000000"/>
                </a:solidFill>
                <a:latin typeface="Tahoma"/>
              </a:rPr>
              <a:t> προσέγγιση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800" b="1" dirty="0">
                <a:solidFill>
                  <a:srgbClr val="C00000"/>
                </a:solidFill>
                <a:latin typeface="Tahoma" panose="020B0604030504040204" pitchFamily="34" charset="0"/>
                <a:ea typeface="Tahoma" panose="020B0604030504040204" pitchFamily="34" charset="0"/>
                <a:cs typeface="Tahoma" panose="020B0604030504040204" pitchFamily="34" charset="0"/>
              </a:rPr>
              <a:t>Διαχείριση Λέξεων</a:t>
            </a:r>
          </a:p>
          <a:p>
            <a:pPr lvl="1" eaLnBrk="1" hangingPunct="1">
              <a:lnSpc>
                <a:spcPct val="80000"/>
              </a:lnSpc>
            </a:pPr>
            <a:r>
              <a:rPr lang="el-GR" altLang="el-GR" sz="2400" b="1" dirty="0">
                <a:latin typeface="Tahoma" panose="020B0604030504040204" pitchFamily="34" charset="0"/>
                <a:ea typeface="Tahoma" panose="020B0604030504040204" pitchFamily="34" charset="0"/>
                <a:cs typeface="Tahoma" panose="020B0604030504040204" pitchFamily="34" charset="0"/>
              </a:rPr>
              <a:t>Διαχείριση πολυπλοκότητας (Πλάνο εκδόσεων)</a:t>
            </a:r>
          </a:p>
          <a:p>
            <a:pPr lvl="1" eaLnBrk="1" hangingPunct="1">
              <a:lnSpc>
                <a:spcPct val="80000"/>
              </a:lnSpc>
            </a:pPr>
            <a:r>
              <a:rPr lang="el-GR" altLang="el-GR" sz="2400" b="1" dirty="0">
                <a:latin typeface="Tahoma" panose="020B0604030504040204" pitchFamily="34" charset="0"/>
                <a:ea typeface="Tahoma" panose="020B0604030504040204" pitchFamily="34" charset="0"/>
                <a:cs typeface="Tahoma" panose="020B0604030504040204" pitchFamily="34" charset="0"/>
              </a:rPr>
              <a:t>Ταξινόμηση – Αναζήτηση</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Οργάνωση πηγαίου κώδικα σε περισσότερα του ενός αρχεία</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Δυναμική διαχείριση μνήμης</a:t>
            </a:r>
          </a:p>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2</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endParaRPr lang="en-US" altLang="el-GR" sz="2800" b="1" u="sng"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με χρήση της i2p βιβλιοθήκης</a:t>
            </a: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Bubble</a:t>
            </a: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Sort</a:t>
            </a:r>
            <a:endPar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Αναζήτηση</a:t>
            </a:r>
            <a:r>
              <a:rPr lang="el-GR" altLang="el-GR" sz="2400" dirty="0">
                <a:solidFill>
                  <a:srgbClr val="F9853D"/>
                </a:solidFill>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sz="2400" b="1" dirty="0">
                <a:solidFill>
                  <a:srgbClr val="F9853D"/>
                </a:solidFill>
                <a:latin typeface="Bahnschrift" panose="020B0502040204020203" pitchFamily="34" charset="0"/>
              </a:rPr>
              <a:t>Ταξινόμηση και Αναζήτηση με την τυπική βιβλιοθήκη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endParaRPr lang="en-US"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endParaRPr>
          </a:p>
        </p:txBody>
      </p:sp>
      <p:grpSp>
        <p:nvGrpSpPr>
          <p:cNvPr id="5" name="Group 4">
            <a:extLst>
              <a:ext uri="{FF2B5EF4-FFF2-40B4-BE49-F238E27FC236}">
                <a16:creationId xmlns:a16="http://schemas.microsoft.com/office/drawing/2014/main" id="{55306A48-FC92-0D37-0FDF-A47B056F47CD}"/>
              </a:ext>
            </a:extLst>
          </p:cNvPr>
          <p:cNvGrpSpPr/>
          <p:nvPr/>
        </p:nvGrpSpPr>
        <p:grpSpPr>
          <a:xfrm>
            <a:off x="-1" y="6559909"/>
            <a:ext cx="12192001" cy="366704"/>
            <a:chOff x="-1" y="6559909"/>
            <a:chExt cx="12192001" cy="366704"/>
          </a:xfrm>
        </p:grpSpPr>
        <p:grpSp>
          <p:nvGrpSpPr>
            <p:cNvPr id="7" name="Group 6">
              <a:extLst>
                <a:ext uri="{FF2B5EF4-FFF2-40B4-BE49-F238E27FC236}">
                  <a16:creationId xmlns:a16="http://schemas.microsoft.com/office/drawing/2014/main" id="{5D83A0F1-BB86-796F-0F9E-CB59CAD70425}"/>
                </a:ext>
              </a:extLst>
            </p:cNvPr>
            <p:cNvGrpSpPr/>
            <p:nvPr/>
          </p:nvGrpSpPr>
          <p:grpSpPr>
            <a:xfrm>
              <a:off x="-1" y="6559909"/>
              <a:ext cx="12192001" cy="291730"/>
              <a:chOff x="-1" y="6559909"/>
              <a:chExt cx="12192001" cy="291730"/>
            </a:xfrm>
          </p:grpSpPr>
          <p:sp>
            <p:nvSpPr>
              <p:cNvPr id="10" name="Rectangle 14">
                <a:extLst>
                  <a:ext uri="{FF2B5EF4-FFF2-40B4-BE49-F238E27FC236}">
                    <a16:creationId xmlns:a16="http://schemas.microsoft.com/office/drawing/2014/main" id="{8899795B-6F03-C114-A199-8F958D1BB61A}"/>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99C4A0F6-D6AB-3E24-DD62-E719991B44A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4A196D4-75DF-5753-1C59-647A623FE81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12</a:t>
                </a:fld>
                <a:endParaRPr lang="en-US" sz="1200" dirty="0">
                  <a:latin typeface="Bahnschrift Light" panose="020B0502040204020203" pitchFamily="34" charset="0"/>
                  <a:cs typeface="Arial" pitchFamily="34" charset="0"/>
                </a:endParaRPr>
              </a:p>
            </p:txBody>
          </p:sp>
        </p:grpSp>
        <p:sp>
          <p:nvSpPr>
            <p:cNvPr id="9" name="Θέση υποσέλιδου 4">
              <a:extLst>
                <a:ext uri="{FF2B5EF4-FFF2-40B4-BE49-F238E27FC236}">
                  <a16:creationId xmlns:a16="http://schemas.microsoft.com/office/drawing/2014/main" id="{2FF1C976-3001-B71F-E530-5B3E00D3CF37}"/>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Tree>
    <p:extLst>
      <p:ext uri="{BB962C8B-B14F-4D97-AF65-F5344CB8AC3E}">
        <p14:creationId xmlns:p14="http://schemas.microsoft.com/office/powerpoint/2010/main" val="21854656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DBD3-7DB7-96B4-08D6-5412F1243205}"/>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4241124-913E-C15F-22A8-9C8DD5F7BD3C}"/>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Δραστηριότητα </a:t>
            </a:r>
            <a:r>
              <a:rPr lang="en-US" sz="4000" b="1" dirty="0">
                <a:solidFill>
                  <a:srgbClr val="F9853D"/>
                </a:solidFill>
                <a:latin typeface="Bahnschrift" panose="020B0502040204020203" pitchFamily="34" charset="0"/>
              </a:rPr>
              <a:t>8</a:t>
            </a:r>
            <a:r>
              <a:rPr lang="el-GR" sz="4000" b="1" dirty="0">
                <a:solidFill>
                  <a:srgbClr val="F9853D"/>
                </a:solidFill>
                <a:latin typeface="Bahnschrift" panose="020B0502040204020203" pitchFamily="34" charset="0"/>
              </a:rPr>
              <a:t>.</a:t>
            </a:r>
            <a:r>
              <a:rPr lang="en-US" sz="4000" b="1" dirty="0">
                <a:solidFill>
                  <a:srgbClr val="F9853D"/>
                </a:solidFill>
                <a:latin typeface="Bahnschrift" panose="020B0502040204020203" pitchFamily="34" charset="0"/>
              </a:rPr>
              <a:t>2</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 </a:t>
            </a:r>
            <a:r>
              <a:rPr lang="en-US" sz="4000" b="1" dirty="0" err="1">
                <a:solidFill>
                  <a:srgbClr val="F9853D"/>
                </a:solidFill>
                <a:latin typeface="Bahnschrift" panose="020B0502040204020203" pitchFamily="34" charset="0"/>
              </a:rPr>
              <a:t>WordsHandlingApp</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729C2451-5496-2005-B3F6-CFD3F3777F2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BE612360-D3E7-C62F-F750-3E0EF7C8A890}"/>
              </a:ext>
            </a:extLst>
          </p:cNvPr>
          <p:cNvSpPr txBox="1">
            <a:spLocks/>
          </p:cNvSpPr>
          <p:nvPr/>
        </p:nvSpPr>
        <p:spPr bwMode="auto">
          <a:xfrm>
            <a:off x="-1" y="839665"/>
            <a:ext cx="12191999" cy="2346880"/>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800" b="1" kern="0" dirty="0">
                <a:solidFill>
                  <a:srgbClr val="000000"/>
                </a:solidFill>
                <a:latin typeface="Tahoma"/>
              </a:rPr>
              <a:t>Αναπτύξτε μια εφαρμογή </a:t>
            </a:r>
            <a:r>
              <a:rPr lang="el-GR" sz="2800" kern="0" dirty="0">
                <a:solidFill>
                  <a:srgbClr val="000000"/>
                </a:solidFill>
                <a:latin typeface="Tahoma"/>
              </a:rPr>
              <a:t>που θα δίνει τη δυνατότητα στο χρήστη να εισάγει ένα αριθμό λέξεων και να εκτελεί ένα σύνολο από διεργασίες πάνω σε αυτές, όπως εμφάνιση, ταξινόμηση, αναζήτησης λέξης, παραγωγή στατιστικών λέξης και χαρακτήρα, </a:t>
            </a:r>
            <a:r>
              <a:rPr lang="el-GR" sz="2800" kern="0" dirty="0" err="1">
                <a:solidFill>
                  <a:srgbClr val="000000"/>
                </a:solidFill>
                <a:latin typeface="Tahoma"/>
              </a:rPr>
              <a:t>κ.λ.π</a:t>
            </a:r>
            <a:r>
              <a:rPr lang="el-GR" sz="2800" kern="0" dirty="0">
                <a:solidFill>
                  <a:srgbClr val="000000"/>
                </a:solidFill>
                <a:latin typeface="Tahoma"/>
              </a:rPr>
              <a:t>.</a:t>
            </a:r>
            <a:endParaRPr lang="en-US" sz="2800" kern="0" dirty="0">
              <a:solidFill>
                <a:srgbClr val="000000"/>
              </a:solidFill>
              <a:latin typeface="Tahoma"/>
            </a:endParaRPr>
          </a:p>
        </p:txBody>
      </p:sp>
      <p:sp>
        <p:nvSpPr>
          <p:cNvPr id="4" name="TextBox 3">
            <a:extLst>
              <a:ext uri="{FF2B5EF4-FFF2-40B4-BE49-F238E27FC236}">
                <a16:creationId xmlns:a16="http://schemas.microsoft.com/office/drawing/2014/main" id="{10F3D016-167C-EE56-F256-B546747D7B56}"/>
              </a:ext>
            </a:extLst>
          </p:cNvPr>
          <p:cNvSpPr txBox="1"/>
          <p:nvPr/>
        </p:nvSpPr>
        <p:spPr>
          <a:xfrm>
            <a:off x="58228" y="3333135"/>
            <a:ext cx="12051331" cy="3108543"/>
          </a:xfrm>
          <a:prstGeom prst="rect">
            <a:avLst/>
          </a:prstGeom>
          <a:solidFill>
            <a:srgbClr val="92D050"/>
          </a:solidFill>
        </p:spPr>
        <p:txBody>
          <a:bodyPr wrap="square" rtlCol="0">
            <a:spAutoFit/>
          </a:bodyPr>
          <a:lstStyle/>
          <a:p>
            <a:pPr marL="342900" indent="-342900">
              <a:buFont typeface="Wingdings" panose="05000000000000000000" pitchFamily="2" charset="2"/>
              <a:buChar char="Ø"/>
            </a:pPr>
            <a:r>
              <a:rPr lang="el-GR" sz="2800" dirty="0"/>
              <a:t>Η Δραστηριότητα εκτός από την επαναχρησιμοποίηση της λύσης που δώσαμε στην επιλογή λειτουργίας (Δραστηριότητα </a:t>
            </a:r>
            <a:r>
              <a:rPr lang="el-GR" sz="2800" dirty="0" err="1"/>
              <a:t>SelectOperation</a:t>
            </a:r>
            <a:r>
              <a:rPr lang="el-GR" sz="2800" dirty="0"/>
              <a:t>) έχει και τους παρακάτω στόχους:  </a:t>
            </a:r>
          </a:p>
          <a:p>
            <a:pPr marL="800100" lvl="1" indent="-342900">
              <a:buFont typeface="Wingdings" panose="05000000000000000000" pitchFamily="2" charset="2"/>
              <a:buChar char="Ø"/>
            </a:pPr>
            <a:r>
              <a:rPr lang="el-GR" sz="2800" dirty="0"/>
              <a:t>διαχείριση συμβολοσειρών με τη χρήση πίνακα, </a:t>
            </a:r>
          </a:p>
          <a:p>
            <a:pPr marL="800100" lvl="1" indent="-342900">
              <a:buFont typeface="Wingdings" panose="05000000000000000000" pitchFamily="2" charset="2"/>
              <a:buChar char="Ø"/>
            </a:pPr>
            <a:r>
              <a:rPr lang="el-GR" sz="2800" dirty="0"/>
              <a:t>την εισαγωγή στην ταξινόμηση και αναζήτηση, </a:t>
            </a:r>
          </a:p>
          <a:p>
            <a:pPr marL="800100" lvl="1" indent="-342900">
              <a:buFont typeface="Wingdings" panose="05000000000000000000" pitchFamily="2" charset="2"/>
              <a:buChar char="Ø"/>
            </a:pPr>
            <a:r>
              <a:rPr lang="el-GR" sz="2800" dirty="0"/>
              <a:t>τη δόμηση του πηγαίου κώδικα σε περισσότερα από ένα αρχεία και </a:t>
            </a:r>
          </a:p>
          <a:p>
            <a:pPr marL="800100" lvl="1" indent="-342900">
              <a:buFont typeface="Wingdings" panose="05000000000000000000" pitchFamily="2" charset="2"/>
              <a:buChar char="Ø"/>
            </a:pPr>
            <a:r>
              <a:rPr lang="el-GR" sz="2800" dirty="0"/>
              <a:t>τη δυναμική διαχείριση μνήμης (</a:t>
            </a:r>
            <a:r>
              <a:rPr lang="el-GR" sz="2800" dirty="0" err="1"/>
              <a:t>dynamic</a:t>
            </a:r>
            <a:r>
              <a:rPr lang="el-GR" sz="2800" dirty="0"/>
              <a:t> memory </a:t>
            </a:r>
            <a:r>
              <a:rPr lang="el-GR" sz="2800" dirty="0" err="1"/>
              <a:t>allocation</a:t>
            </a:r>
            <a:r>
              <a:rPr lang="el-GR" sz="2800" dirty="0"/>
              <a:t>). </a:t>
            </a:r>
          </a:p>
        </p:txBody>
      </p:sp>
      <p:grpSp>
        <p:nvGrpSpPr>
          <p:cNvPr id="15" name="Group 14">
            <a:extLst>
              <a:ext uri="{FF2B5EF4-FFF2-40B4-BE49-F238E27FC236}">
                <a16:creationId xmlns:a16="http://schemas.microsoft.com/office/drawing/2014/main" id="{89B84776-D20E-8B03-DEB2-EE72D4EA0B15}"/>
              </a:ext>
            </a:extLst>
          </p:cNvPr>
          <p:cNvGrpSpPr/>
          <p:nvPr/>
        </p:nvGrpSpPr>
        <p:grpSpPr>
          <a:xfrm>
            <a:off x="-1" y="6559909"/>
            <a:ext cx="12192001" cy="366704"/>
            <a:chOff x="-1" y="6559909"/>
            <a:chExt cx="12192001" cy="366704"/>
          </a:xfrm>
        </p:grpSpPr>
        <p:grpSp>
          <p:nvGrpSpPr>
            <p:cNvPr id="16" name="Group 15">
              <a:extLst>
                <a:ext uri="{FF2B5EF4-FFF2-40B4-BE49-F238E27FC236}">
                  <a16:creationId xmlns:a16="http://schemas.microsoft.com/office/drawing/2014/main" id="{ED1B50CE-5B6E-2AB7-3E8E-D465B4F01810}"/>
                </a:ext>
              </a:extLst>
            </p:cNvPr>
            <p:cNvGrpSpPr/>
            <p:nvPr/>
          </p:nvGrpSpPr>
          <p:grpSpPr>
            <a:xfrm>
              <a:off x="-1" y="6559909"/>
              <a:ext cx="12192001" cy="291730"/>
              <a:chOff x="-1" y="6559909"/>
              <a:chExt cx="12192001" cy="291730"/>
            </a:xfrm>
          </p:grpSpPr>
          <p:sp>
            <p:nvSpPr>
              <p:cNvPr id="18" name="Rectangle 14">
                <a:extLst>
                  <a:ext uri="{FF2B5EF4-FFF2-40B4-BE49-F238E27FC236}">
                    <a16:creationId xmlns:a16="http://schemas.microsoft.com/office/drawing/2014/main" id="{985049BF-1123-7EF6-BC08-CA5F42589122}"/>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Θέση υποσέλιδου 4">
                <a:extLst>
                  <a:ext uri="{FF2B5EF4-FFF2-40B4-BE49-F238E27FC236}">
                    <a16:creationId xmlns:a16="http://schemas.microsoft.com/office/drawing/2014/main" id="{E7FAF3EF-FE28-41F4-7D66-912603D231E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0" name="TextBox 19">
                <a:extLst>
                  <a:ext uri="{FF2B5EF4-FFF2-40B4-BE49-F238E27FC236}">
                    <a16:creationId xmlns:a16="http://schemas.microsoft.com/office/drawing/2014/main" id="{414E27C5-A0F6-8239-5899-4ACD182F846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13</a:t>
                </a:fld>
                <a:endParaRPr lang="en-US" sz="1200" dirty="0">
                  <a:latin typeface="Bahnschrift Light" panose="020B0502040204020203" pitchFamily="34" charset="0"/>
                  <a:cs typeface="Arial" pitchFamily="34" charset="0"/>
                </a:endParaRPr>
              </a:p>
            </p:txBody>
          </p:sp>
        </p:grpSp>
        <p:sp>
          <p:nvSpPr>
            <p:cNvPr id="17" name="Θέση υποσέλιδου 4">
              <a:extLst>
                <a:ext uri="{FF2B5EF4-FFF2-40B4-BE49-F238E27FC236}">
                  <a16:creationId xmlns:a16="http://schemas.microsoft.com/office/drawing/2014/main" id="{32C8D7D5-F93B-F38D-5076-F30E0B259CED}"/>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Tree>
    <p:extLst>
      <p:ext uri="{BB962C8B-B14F-4D97-AF65-F5344CB8AC3E}">
        <p14:creationId xmlns:p14="http://schemas.microsoft.com/office/powerpoint/2010/main" val="40084811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F1602-4302-08DD-B4FA-894E3D0B246F}"/>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8CE19106-59BF-5FFE-3E5C-8C630D19DDB8}"/>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n-US" b="1" dirty="0">
                <a:solidFill>
                  <a:srgbClr val="F9853D"/>
                </a:solidFill>
                <a:latin typeface="Bahnschrift" panose="020B0502040204020203" pitchFamily="34" charset="0"/>
              </a:rPr>
              <a:t>Hands-on : </a:t>
            </a:r>
            <a:r>
              <a:rPr lang="el-GR" b="1" dirty="0">
                <a:solidFill>
                  <a:srgbClr val="F9853D"/>
                </a:solidFill>
                <a:latin typeface="Bahnschrift" panose="020B0502040204020203" pitchFamily="34" charset="0"/>
              </a:rPr>
              <a:t>Γραφική αναπαράσταση</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E2033D20-CF3C-79D3-0F40-80940B8E26D4}"/>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2D0CB63C-9501-C26D-6CBC-6924BC146878}"/>
              </a:ext>
            </a:extLst>
          </p:cNvPr>
          <p:cNvPicPr>
            <a:picLocks noChangeAspect="1"/>
          </p:cNvPicPr>
          <p:nvPr/>
        </p:nvPicPr>
        <p:blipFill>
          <a:blip r:embed="rId3"/>
          <a:stretch>
            <a:fillRect/>
          </a:stretch>
        </p:blipFill>
        <p:spPr>
          <a:xfrm>
            <a:off x="0" y="3674982"/>
            <a:ext cx="4079639" cy="3003681"/>
          </a:xfrm>
          <a:prstGeom prst="rect">
            <a:avLst/>
          </a:prstGeom>
        </p:spPr>
      </p:pic>
      <p:grpSp>
        <p:nvGrpSpPr>
          <p:cNvPr id="17" name="Group 16">
            <a:extLst>
              <a:ext uri="{FF2B5EF4-FFF2-40B4-BE49-F238E27FC236}">
                <a16:creationId xmlns:a16="http://schemas.microsoft.com/office/drawing/2014/main" id="{E6207AC4-6792-1D5F-97A5-0923006F5F76}"/>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506ECCD4-0DCE-2099-C917-6A75B04D01D4}"/>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0C9249C7-C875-36D9-2903-837FB2313FB0}"/>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4719FD24-09FE-CD0D-D172-2B1EF252785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518C7A30-4A92-E99D-C893-CEEE6C411D1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14</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ABA64684-6ADB-2EDA-F944-8E060118E85A}"/>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9ABD827D-E373-0802-EE2C-1D3153D86D6C}"/>
              </a:ext>
            </a:extLst>
          </p:cNvPr>
          <p:cNvSpPr txBox="1">
            <a:spLocks/>
          </p:cNvSpPr>
          <p:nvPr/>
        </p:nvSpPr>
        <p:spPr bwMode="auto">
          <a:xfrm>
            <a:off x="-1" y="1023668"/>
            <a:ext cx="12191999" cy="2535696"/>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-3   Γραφική αναπαράσταση </a:t>
            </a:r>
            <a:r>
              <a:rPr lang="en-GB" b="1" dirty="0" err="1">
                <a:solidFill>
                  <a:srgbClr val="F9853D"/>
                </a:solidFill>
                <a:latin typeface="Bahnschrift" panose="020B0502040204020203" pitchFamily="34" charset="0"/>
              </a:rPr>
              <a:t>WordsHandlingApp</a:t>
            </a:r>
            <a:endParaRPr lang="en-US" b="1" kern="0" dirty="0">
              <a:solidFill>
                <a:srgbClr val="000000"/>
              </a:solidFill>
              <a:latin typeface="Tahoma"/>
            </a:endParaRPr>
          </a:p>
          <a:p>
            <a:pPr marL="0" indent="0">
              <a:buClr>
                <a:srgbClr val="3333CC"/>
              </a:buClr>
              <a:buNone/>
              <a:defRPr/>
            </a:pPr>
            <a:r>
              <a:rPr lang="el-GR" sz="2400" kern="0" dirty="0">
                <a:solidFill>
                  <a:srgbClr val="000000"/>
                </a:solidFill>
                <a:latin typeface="Tahoma"/>
              </a:rPr>
              <a:t>Δώστε τη γραφική αναπαράσταση του προγράμματος για να οριοθετήσετε την εφαρμογή από το περιβάλλον και να καταγράψετε εισόδους και εξόδους. </a:t>
            </a:r>
          </a:p>
          <a:p>
            <a:pPr marL="0" indent="0">
              <a:buClr>
                <a:srgbClr val="3333CC"/>
              </a:buClr>
              <a:buNone/>
              <a:defRPr/>
            </a:pPr>
            <a:r>
              <a:rPr lang="el-GR" sz="2400" kern="0" dirty="0">
                <a:solidFill>
                  <a:srgbClr val="000000"/>
                </a:solidFill>
                <a:latin typeface="Tahoma"/>
              </a:rPr>
              <a:t>Αναγνωρίστε και δηλώστε τη/τις μεταβλητή/μεταβλητές που απαιτούνται για την αποθήκευση της λίστας των λέξεων υποθέτοντας ένα μέγιστο μήκος λέξης 15 χαρακτήρων.</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39521E8E-4238-3259-4CE3-49C8C45BC6A2}"/>
              </a:ext>
            </a:extLst>
          </p:cNvPr>
          <p:cNvSpPr/>
          <p:nvPr/>
        </p:nvSpPr>
        <p:spPr>
          <a:xfrm>
            <a:off x="5557785" y="3923325"/>
            <a:ext cx="4877818" cy="599681"/>
          </a:xfrm>
          <a:prstGeom prst="wedgeRoundRectCallout">
            <a:avLst>
              <a:gd name="adj1" fmla="val -58179"/>
              <a:gd name="adj2" fmla="val 143422"/>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Δώστε τη</a:t>
            </a:r>
            <a:r>
              <a:rPr lang="en-US" sz="2400" b="1" dirty="0">
                <a:solidFill>
                  <a:schemeClr val="bg1"/>
                </a:solidFill>
              </a:rPr>
              <a:t> </a:t>
            </a:r>
            <a:r>
              <a:rPr lang="el-GR" sz="2400" b="1" dirty="0">
                <a:solidFill>
                  <a:schemeClr val="bg1"/>
                </a:solidFill>
              </a:rPr>
              <a:t>γραφική αναπαράσταση.</a:t>
            </a:r>
            <a:endParaRPr lang="en-GB" sz="2400" b="1" dirty="0">
              <a:solidFill>
                <a:schemeClr val="bg1"/>
              </a:solidFill>
              <a:highlight>
                <a:srgbClr val="FFFF00"/>
              </a:highlight>
            </a:endParaRPr>
          </a:p>
        </p:txBody>
      </p:sp>
      <p:sp>
        <p:nvSpPr>
          <p:cNvPr id="6" name="Speech Bubble: Rectangle with Corners Rounded 5">
            <a:extLst>
              <a:ext uri="{FF2B5EF4-FFF2-40B4-BE49-F238E27FC236}">
                <a16:creationId xmlns:a16="http://schemas.microsoft.com/office/drawing/2014/main" id="{8A024327-FEAC-C7BD-B2EA-57C2F407584E}"/>
              </a:ext>
            </a:extLst>
          </p:cNvPr>
          <p:cNvSpPr/>
          <p:nvPr/>
        </p:nvSpPr>
        <p:spPr>
          <a:xfrm>
            <a:off x="5790182" y="5176822"/>
            <a:ext cx="4877818" cy="599681"/>
          </a:xfrm>
          <a:prstGeom prst="wedgeRoundRectCallout">
            <a:avLst>
              <a:gd name="adj1" fmla="val -58179"/>
              <a:gd name="adj2" fmla="val 143422"/>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Αναγνωρίστε τις μεταβλητές εισόδου.</a:t>
            </a:r>
            <a:endParaRPr lang="en-GB" sz="2400" b="1" dirty="0">
              <a:solidFill>
                <a:schemeClr val="bg1"/>
              </a:solidFill>
              <a:highlight>
                <a:srgbClr val="FFFF00"/>
              </a:highlight>
            </a:endParaRPr>
          </a:p>
        </p:txBody>
      </p:sp>
    </p:spTree>
    <p:extLst>
      <p:ext uri="{BB962C8B-B14F-4D97-AF65-F5344CB8AC3E}">
        <p14:creationId xmlns:p14="http://schemas.microsoft.com/office/powerpoint/2010/main" val="14328501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18A2F-FA75-0B10-A443-F7D76896EF5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E5D43DA-CDA2-560E-E320-542F8AAA3848}"/>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n-US" b="1" dirty="0" err="1">
                <a:solidFill>
                  <a:srgbClr val="F9853D"/>
                </a:solidFill>
                <a:latin typeface="Bahnschrift" panose="020B0502040204020203" pitchFamily="34" charset="0"/>
              </a:rPr>
              <a:t>WordsHandlingApp</a:t>
            </a:r>
            <a:r>
              <a:rPr lang="en-US" b="1" dirty="0">
                <a:solidFill>
                  <a:srgbClr val="F9853D"/>
                </a:solidFill>
                <a:latin typeface="Bahnschrift" panose="020B0502040204020203" pitchFamily="34" charset="0"/>
              </a:rPr>
              <a:t> </a:t>
            </a:r>
            <a:r>
              <a:rPr lang="el-GR" b="1" dirty="0">
                <a:solidFill>
                  <a:srgbClr val="F9853D"/>
                </a:solidFill>
                <a:latin typeface="Bahnschrift" panose="020B0502040204020203" pitchFamily="34" charset="0"/>
              </a:rPr>
              <a:t>-</a:t>
            </a:r>
            <a:r>
              <a:rPr lang="en-US" b="1" dirty="0">
                <a:solidFill>
                  <a:srgbClr val="F9853D"/>
                </a:solidFill>
                <a:latin typeface="Bahnschrift" panose="020B0502040204020203" pitchFamily="34" charset="0"/>
              </a:rPr>
              <a:t> </a:t>
            </a:r>
            <a:r>
              <a:rPr lang="el-GR" b="1" dirty="0">
                <a:solidFill>
                  <a:srgbClr val="F9853D"/>
                </a:solidFill>
                <a:latin typeface="Bahnschrift" panose="020B0502040204020203" pitchFamily="34" charset="0"/>
              </a:rPr>
              <a:t>Γραφική αναπαράσταση</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4A12BDEA-7891-D9BD-7E0C-EEDD5266F6D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E15B792C-E731-494A-5F5B-349200387BB2}"/>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48681680-5ECC-7DB6-166E-B88BF2C1C5EC}"/>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413C035D-36D8-FA07-B670-1B955696241B}"/>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E6DE648E-0CD4-8A12-003E-4849F006388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5273BABC-83E0-E9D3-6738-E51EC8121439}"/>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15</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1F8D672A-920A-B6AC-5E37-059AA373A9B9}"/>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10146776-6829-A0C5-E4F6-37F886950A39}"/>
              </a:ext>
            </a:extLst>
          </p:cNvPr>
          <p:cNvSpPr txBox="1">
            <a:spLocks/>
          </p:cNvSpPr>
          <p:nvPr/>
        </p:nvSpPr>
        <p:spPr bwMode="auto">
          <a:xfrm>
            <a:off x="-1" y="1023668"/>
            <a:ext cx="12191999" cy="1601545"/>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dirty="0">
                <a:solidFill>
                  <a:srgbClr val="F9853D"/>
                </a:solidFill>
                <a:latin typeface="Bahnschrift" panose="020B0502040204020203" pitchFamily="34" charset="0"/>
              </a:rPr>
              <a:t>Δράση </a:t>
            </a:r>
            <a:r>
              <a:rPr lang="en-US" sz="2000" b="1" dirty="0">
                <a:solidFill>
                  <a:srgbClr val="F9853D"/>
                </a:solidFill>
                <a:latin typeface="Bahnschrift" panose="020B0502040204020203" pitchFamily="34" charset="0"/>
              </a:rPr>
              <a:t>8</a:t>
            </a:r>
            <a:r>
              <a:rPr lang="el-GR" sz="2000" b="1" dirty="0">
                <a:solidFill>
                  <a:srgbClr val="F9853D"/>
                </a:solidFill>
                <a:latin typeface="Bahnschrift" panose="020B0502040204020203" pitchFamily="34" charset="0"/>
              </a:rPr>
              <a:t>-3   Γραφική αναπαράσταση </a:t>
            </a:r>
            <a:r>
              <a:rPr lang="en-GB" sz="2000" b="1" dirty="0" err="1">
                <a:solidFill>
                  <a:srgbClr val="F9853D"/>
                </a:solidFill>
                <a:latin typeface="Bahnschrift" panose="020B0502040204020203" pitchFamily="34" charset="0"/>
              </a:rPr>
              <a:t>WordsHandlingApp</a:t>
            </a:r>
            <a:endParaRPr lang="en-US" sz="2000" b="1" kern="0" dirty="0">
              <a:solidFill>
                <a:srgbClr val="000000"/>
              </a:solidFill>
              <a:latin typeface="Tahoma"/>
            </a:endParaRPr>
          </a:p>
          <a:p>
            <a:pPr marL="0" indent="0">
              <a:buClr>
                <a:srgbClr val="3333CC"/>
              </a:buClr>
              <a:buNone/>
              <a:defRPr/>
            </a:pPr>
            <a:r>
              <a:rPr lang="el-GR" sz="1600" kern="0" dirty="0">
                <a:solidFill>
                  <a:srgbClr val="000000"/>
                </a:solidFill>
                <a:latin typeface="Tahoma"/>
              </a:rPr>
              <a:t>Δώστε τη γραφική αναπαράσταση του προγράμματος για να οριοθετήσετε την εφαρμογή από το περιβάλλον και να καταγράψετε εισόδους και εξόδους. </a:t>
            </a:r>
          </a:p>
          <a:p>
            <a:pPr marL="0" indent="0">
              <a:buClr>
                <a:srgbClr val="3333CC"/>
              </a:buClr>
              <a:buNone/>
              <a:defRPr/>
            </a:pPr>
            <a:r>
              <a:rPr lang="el-GR" sz="1600" b="1" kern="0" dirty="0">
                <a:solidFill>
                  <a:srgbClr val="000000"/>
                </a:solidFill>
                <a:latin typeface="Tahoma"/>
              </a:rPr>
              <a:t>Αναγνωρίστε και δηλώστε τη μεταβλητή/μεταβλητές που απαιτούνται για την αποθήκευση της λίστας των λέξεων υποθέτοντας ένα μέγιστο μήκος λέξης 15 χαρακτήρων.</a:t>
            </a:r>
            <a:endParaRPr lang="en-US" sz="1050" b="1" kern="0" dirty="0">
              <a:solidFill>
                <a:srgbClr val="000000"/>
              </a:solidFill>
              <a:latin typeface="Tahoma"/>
            </a:endParaRPr>
          </a:p>
        </p:txBody>
      </p:sp>
      <p:pic>
        <p:nvPicPr>
          <p:cNvPr id="4" name="Picture 3" descr="A green oval with black text&#10;&#10;AI-generated content may be incorrect.">
            <a:extLst>
              <a:ext uri="{FF2B5EF4-FFF2-40B4-BE49-F238E27FC236}">
                <a16:creationId xmlns:a16="http://schemas.microsoft.com/office/drawing/2014/main" id="{78458C85-0C62-097E-7580-7B6F8F4BFEFF}"/>
              </a:ext>
            </a:extLst>
          </p:cNvPr>
          <p:cNvPicPr>
            <a:picLocks noChangeAspect="1"/>
          </p:cNvPicPr>
          <p:nvPr/>
        </p:nvPicPr>
        <p:blipFill>
          <a:blip r:embed="rId3"/>
          <a:stretch>
            <a:fillRect/>
          </a:stretch>
        </p:blipFill>
        <p:spPr>
          <a:xfrm>
            <a:off x="537722" y="3198470"/>
            <a:ext cx="11009364" cy="2635862"/>
          </a:xfrm>
          <a:prstGeom prst="rect">
            <a:avLst/>
          </a:prstGeom>
        </p:spPr>
      </p:pic>
    </p:spTree>
    <p:extLst>
      <p:ext uri="{BB962C8B-B14F-4D97-AF65-F5344CB8AC3E}">
        <p14:creationId xmlns:p14="http://schemas.microsoft.com/office/powerpoint/2010/main" val="22388498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5B1C5-D2E6-4D6A-370C-BA802FE746C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50BCB9B-7E80-58F1-112A-7BCDA64621C2}"/>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n-US" b="1" dirty="0" err="1">
                <a:solidFill>
                  <a:srgbClr val="F9853D"/>
                </a:solidFill>
                <a:latin typeface="Bahnschrift" panose="020B0502040204020203" pitchFamily="34" charset="0"/>
              </a:rPr>
              <a:t>WordsHandlingApp</a:t>
            </a:r>
            <a:r>
              <a:rPr lang="el-GR" b="1" dirty="0">
                <a:solidFill>
                  <a:srgbClr val="F9853D"/>
                </a:solidFill>
                <a:latin typeface="Bahnschrift" panose="020B0502040204020203" pitchFamily="34" charset="0"/>
              </a:rPr>
              <a:t> - Μεταβλητές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184BC79A-FE0E-3544-406D-A37FF275819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84A8772A-567E-F11D-35FB-2BE3B8890353}"/>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9EA958B3-9E5E-7470-E3F6-4AB9C60F55F3}"/>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62AA07FA-C0E4-B001-2CC9-AA93465F2640}"/>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51ABD3A1-9C9C-AE9A-7D36-4F2D77D65B12}"/>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AFE3EA75-4169-447E-D78B-37C5F0267FE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16</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D7E10A50-EA68-6598-1A1F-E6255842CC23}"/>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5" name="Content Placeholder 2">
            <a:extLst>
              <a:ext uri="{FF2B5EF4-FFF2-40B4-BE49-F238E27FC236}">
                <a16:creationId xmlns:a16="http://schemas.microsoft.com/office/drawing/2014/main" id="{9F53B014-159A-11D4-42EC-B640A673D5B5}"/>
              </a:ext>
            </a:extLst>
          </p:cNvPr>
          <p:cNvSpPr txBox="1">
            <a:spLocks/>
          </p:cNvSpPr>
          <p:nvPr/>
        </p:nvSpPr>
        <p:spPr bwMode="auto">
          <a:xfrm>
            <a:off x="263352" y="980728"/>
            <a:ext cx="3600400" cy="3157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char word1[</a:t>
            </a:r>
            <a:r>
              <a:rPr kumimoji="0" lang="el-GR" sz="3200" b="0" i="0" u="none" strike="noStrike" kern="0" cap="none" spc="0" normalizeH="0" baseline="0" noProof="0" dirty="0">
                <a:ln>
                  <a:noFill/>
                </a:ln>
                <a:solidFill>
                  <a:srgbClr val="000000"/>
                </a:solidFill>
                <a:effectLst/>
                <a:uLnTx/>
                <a:uFillTx/>
                <a:latin typeface="Tahoma"/>
                <a:ea typeface="+mn-ea"/>
                <a:cs typeface="+mn-cs"/>
              </a:rPr>
              <a:t>15</a:t>
            </a:r>
            <a:r>
              <a:rPr kumimoji="0" lang="en-US" sz="3200" b="0" i="0" u="none" strike="noStrike" kern="0" cap="none" spc="0" normalizeH="0" baseline="0" noProof="0" dirty="0">
                <a:ln>
                  <a:noFill/>
                </a:ln>
                <a:solidFill>
                  <a:srgbClr val="000000"/>
                </a:solidFill>
                <a:effectLst/>
                <a:uLnTx/>
                <a:uFillTx/>
                <a:latin typeface="Tahoma"/>
                <a:ea typeface="+mn-ea"/>
                <a:cs typeface="+mn-cs"/>
              </a:rPr>
              <a:t>]; </a:t>
            </a:r>
          </a:p>
          <a:p>
            <a:pPr marL="0" lvl="0" indent="0">
              <a:buClr>
                <a:srgbClr val="3333CC"/>
              </a:buClr>
              <a:buNone/>
            </a:pPr>
            <a:r>
              <a:rPr kumimoji="0" lang="en-US" sz="3200" b="0" i="0" u="none" strike="noStrike" kern="0" cap="none" spc="0" normalizeH="0" baseline="0" noProof="0" dirty="0">
                <a:ln>
                  <a:noFill/>
                </a:ln>
                <a:solidFill>
                  <a:srgbClr val="000000"/>
                </a:solidFill>
                <a:effectLst/>
                <a:uLnTx/>
                <a:uFillTx/>
                <a:latin typeface="Tahoma"/>
                <a:ea typeface="+mn-ea"/>
                <a:cs typeface="+mn-cs"/>
              </a:rPr>
              <a:t>char word2[</a:t>
            </a:r>
            <a:r>
              <a:rPr lang="el-GR" kern="0" dirty="0">
                <a:solidFill>
                  <a:srgbClr val="000000"/>
                </a:solidFill>
                <a:latin typeface="Tahoma"/>
              </a:rPr>
              <a:t>15</a:t>
            </a:r>
            <a:r>
              <a:rPr kumimoji="0" lang="en-US" sz="3200" b="0" i="0" u="none" strike="noStrike" kern="0" cap="none" spc="0" normalizeH="0" baseline="0" noProof="0" dirty="0">
                <a:ln>
                  <a:noFill/>
                </a:ln>
                <a:solidFill>
                  <a:srgbClr val="000000"/>
                </a:solidFill>
                <a:effectLst/>
                <a:uLnTx/>
                <a:uFillTx/>
                <a:latin typeface="Tahoma"/>
                <a:ea typeface="+mn-ea"/>
                <a:cs typeface="+mn-cs"/>
              </a:rPr>
              <a:t>]; </a:t>
            </a:r>
            <a:endParaRPr kumimoji="0" lang="en-GB" sz="3200" b="0" i="0" u="none" strike="noStrike" kern="0" cap="none" spc="0" normalizeH="0" baseline="0" noProof="0" dirty="0">
              <a:ln>
                <a:noFill/>
              </a:ln>
              <a:solidFill>
                <a:srgbClr val="000000"/>
              </a:solidFill>
              <a:effectLst/>
              <a:uLnTx/>
              <a:uFillTx/>
              <a:latin typeface="Tahoma"/>
              <a:ea typeface="+mn-ea"/>
              <a:cs typeface="+mn-cs"/>
            </a:endParaRPr>
          </a:p>
          <a:p>
            <a:pPr marL="0" lvl="0" indent="0">
              <a:buClr>
                <a:srgbClr val="3333CC"/>
              </a:buClr>
              <a:buNone/>
            </a:pPr>
            <a:r>
              <a:rPr kumimoji="0" lang="en-US" sz="3200" b="0" i="0" u="none" strike="noStrike" kern="0" cap="none" spc="0" normalizeH="0" baseline="0" noProof="0" dirty="0">
                <a:ln>
                  <a:noFill/>
                </a:ln>
                <a:solidFill>
                  <a:srgbClr val="000000"/>
                </a:solidFill>
                <a:effectLst/>
                <a:uLnTx/>
                <a:uFillTx/>
                <a:latin typeface="Tahoma"/>
                <a:ea typeface="+mn-ea"/>
                <a:cs typeface="+mn-cs"/>
              </a:rPr>
              <a:t>char word3[</a:t>
            </a:r>
            <a:r>
              <a:rPr lang="el-GR" kern="0" dirty="0">
                <a:solidFill>
                  <a:srgbClr val="000000"/>
                </a:solidFill>
                <a:latin typeface="Tahoma"/>
              </a:rPr>
              <a:t>15</a:t>
            </a:r>
            <a:r>
              <a:rPr kumimoji="0" lang="en-US" sz="3200" b="0" i="0" u="none" strike="noStrike" kern="0" cap="none" spc="0" normalizeH="0" baseline="0" noProof="0" dirty="0">
                <a:ln>
                  <a:noFill/>
                </a:ln>
                <a:solidFill>
                  <a:srgbClr val="000000"/>
                </a:solidFill>
                <a:effectLst/>
                <a:uLnTx/>
                <a:uFillTx/>
                <a:latin typeface="Tahoma"/>
                <a:ea typeface="+mn-ea"/>
                <a:cs typeface="+mn-cs"/>
              </a:rPr>
              <a:t>]; </a:t>
            </a:r>
            <a:endParaRPr kumimoji="0" lang="en-GB" sz="3200" b="0" i="0" u="none" strike="noStrike" kern="0" cap="none" spc="0" normalizeH="0" baseline="0" noProof="0" dirty="0">
              <a:ln>
                <a:noFill/>
              </a:ln>
              <a:solidFill>
                <a:srgbClr val="000000"/>
              </a:solidFill>
              <a:effectLst/>
              <a:uLnTx/>
              <a:uFillTx/>
              <a:latin typeface="Tahoma"/>
              <a:ea typeface="+mn-ea"/>
              <a:cs typeface="+mn-cs"/>
            </a:endParaRPr>
          </a:p>
          <a:p>
            <a:pPr marL="0" lvl="0" indent="0">
              <a:buClr>
                <a:srgbClr val="3333CC"/>
              </a:buClr>
              <a:buNone/>
            </a:pPr>
            <a:r>
              <a:rPr kumimoji="0" lang="en-US" sz="3200" b="0" i="0" u="none" strike="noStrike" kern="0" cap="none" spc="0" normalizeH="0" baseline="0" noProof="0" dirty="0">
                <a:ln>
                  <a:noFill/>
                </a:ln>
                <a:solidFill>
                  <a:srgbClr val="000000"/>
                </a:solidFill>
                <a:effectLst/>
                <a:uLnTx/>
                <a:uFillTx/>
                <a:latin typeface="Tahoma"/>
                <a:ea typeface="+mn-ea"/>
                <a:cs typeface="+mn-cs"/>
              </a:rPr>
              <a:t>char word4[</a:t>
            </a:r>
            <a:r>
              <a:rPr lang="el-GR" kern="0" dirty="0">
                <a:solidFill>
                  <a:srgbClr val="000000"/>
                </a:solidFill>
                <a:latin typeface="Tahoma"/>
              </a:rPr>
              <a:t>15</a:t>
            </a:r>
            <a:r>
              <a:rPr kumimoji="0" lang="en-US" sz="3200" b="0" i="0" u="none" strike="noStrike" kern="0" cap="none" spc="0" normalizeH="0" baseline="0" noProof="0" dirty="0">
                <a:ln>
                  <a:noFill/>
                </a:ln>
                <a:solidFill>
                  <a:srgbClr val="000000"/>
                </a:solidFill>
                <a:effectLst/>
                <a:uLnTx/>
                <a:uFillTx/>
                <a:latin typeface="Tahoma"/>
                <a:ea typeface="+mn-ea"/>
                <a:cs typeface="+mn-cs"/>
              </a:rPr>
              <a:t>];</a:t>
            </a:r>
          </a:p>
          <a:p>
            <a:pPr marL="0" lvl="0" indent="0">
              <a:buClr>
                <a:srgbClr val="3333CC"/>
              </a:buClr>
              <a:buNone/>
            </a:pPr>
            <a:r>
              <a:rPr kumimoji="0" lang="en-US" sz="3200" b="0" i="0" u="none" strike="noStrike" kern="0" cap="none" spc="0" normalizeH="0" baseline="0" noProof="0" dirty="0">
                <a:ln>
                  <a:noFill/>
                </a:ln>
                <a:solidFill>
                  <a:srgbClr val="000000"/>
                </a:solidFill>
                <a:effectLst/>
                <a:uLnTx/>
                <a:uFillTx/>
                <a:latin typeface="Tahoma"/>
                <a:ea typeface="+mn-ea"/>
                <a:cs typeface="+mn-cs"/>
              </a:rPr>
              <a:t>char word5[</a:t>
            </a:r>
            <a:r>
              <a:rPr lang="el-GR" kern="0" dirty="0">
                <a:solidFill>
                  <a:srgbClr val="000000"/>
                </a:solidFill>
                <a:latin typeface="Tahoma"/>
              </a:rPr>
              <a:t>15</a:t>
            </a:r>
            <a:r>
              <a:rPr kumimoji="0" lang="en-US" sz="3200" b="0" i="0" u="none" strike="noStrike" kern="0" cap="none" spc="0" normalizeH="0" baseline="0" noProof="0" dirty="0">
                <a:ln>
                  <a:noFill/>
                </a:ln>
                <a:solidFill>
                  <a:srgbClr val="000000"/>
                </a:solidFill>
                <a:effectLst/>
                <a:uLnTx/>
                <a:uFillTx/>
                <a:latin typeface="Tahoma"/>
                <a:ea typeface="+mn-ea"/>
                <a:cs typeface="+mn-cs"/>
              </a:rPr>
              <a:t>];</a:t>
            </a: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
        <p:nvSpPr>
          <p:cNvPr id="6" name="Speech Bubble: Rectangle with Corners Rounded 5">
            <a:extLst>
              <a:ext uri="{FF2B5EF4-FFF2-40B4-BE49-F238E27FC236}">
                <a16:creationId xmlns:a16="http://schemas.microsoft.com/office/drawing/2014/main" id="{5AA6794C-7837-AE7B-3FB6-7C284CCD2672}"/>
              </a:ext>
            </a:extLst>
          </p:cNvPr>
          <p:cNvSpPr/>
          <p:nvPr/>
        </p:nvSpPr>
        <p:spPr bwMode="auto">
          <a:xfrm>
            <a:off x="4171093" y="774640"/>
            <a:ext cx="7968207" cy="542237"/>
          </a:xfrm>
          <a:prstGeom prst="wedgeRoundRectCallout">
            <a:avLst>
              <a:gd name="adj1" fmla="val -57617"/>
              <a:gd name="adj2" fmla="val 103999"/>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pitchFamily="34" charset="0"/>
              </a:rPr>
              <a:t>word1, word2, … word5 </a:t>
            </a:r>
            <a:r>
              <a:rPr kumimoji="0" lang="el-GR" sz="2000" b="0" i="0" u="none" strike="noStrike" kern="0" cap="none" spc="0" normalizeH="0" baseline="0" noProof="0" dirty="0">
                <a:ln>
                  <a:noFill/>
                </a:ln>
                <a:solidFill>
                  <a:srgbClr val="000000"/>
                </a:solidFill>
                <a:effectLst/>
                <a:uLnTx/>
                <a:uFillTx/>
                <a:latin typeface="Tahoma" pitchFamily="34" charset="0"/>
              </a:rPr>
              <a:t>είναι πέντε μεταβλητές ίδιου τύπου</a:t>
            </a:r>
            <a:endParaRPr kumimoji="0" lang="en-GB" sz="2000" b="0" i="0" u="none" strike="noStrike" kern="0" cap="none" spc="0" normalizeH="0" baseline="0" noProof="0" dirty="0">
              <a:ln>
                <a:noFill/>
              </a:ln>
              <a:solidFill>
                <a:srgbClr val="000000"/>
              </a:solidFill>
              <a:effectLst/>
              <a:uLnTx/>
              <a:uFillTx/>
              <a:latin typeface="Tahoma" pitchFamily="34" charset="0"/>
            </a:endParaRPr>
          </a:p>
        </p:txBody>
      </p:sp>
      <p:sp>
        <p:nvSpPr>
          <p:cNvPr id="7" name="TextBox 6">
            <a:extLst>
              <a:ext uri="{FF2B5EF4-FFF2-40B4-BE49-F238E27FC236}">
                <a16:creationId xmlns:a16="http://schemas.microsoft.com/office/drawing/2014/main" id="{9C5F8FC7-2C5A-6A6F-1F9A-914FAD7A1EE1}"/>
              </a:ext>
            </a:extLst>
          </p:cNvPr>
          <p:cNvSpPr txBox="1"/>
          <p:nvPr/>
        </p:nvSpPr>
        <p:spPr>
          <a:xfrm>
            <a:off x="3604901" y="1268760"/>
            <a:ext cx="360040" cy="1938992"/>
          </a:xfrm>
          <a:prstGeom prst="rect">
            <a:avLst/>
          </a:prstGeom>
          <a:noFill/>
        </p:spPr>
        <p:txBody>
          <a:bodyPr wrap="square" rtlCol="0">
            <a:spAutoFit/>
          </a:bodyPr>
          <a:lstStyle/>
          <a:p>
            <a:pPr eaLnBrk="0" fontAlgn="base" hangingPunct="0">
              <a:spcBef>
                <a:spcPct val="0"/>
              </a:spcBef>
              <a:spcAft>
                <a:spcPct val="0"/>
              </a:spcAft>
            </a:pPr>
            <a:r>
              <a:rPr lang="en-US" sz="12000" dirty="0">
                <a:solidFill>
                  <a:srgbClr val="000000"/>
                </a:solidFill>
                <a:latin typeface="Tahoma" panose="020B0604030504040204" pitchFamily="34" charset="0"/>
              </a:rPr>
              <a:t>}</a:t>
            </a:r>
            <a:endParaRPr lang="en-GB" sz="12000" dirty="0">
              <a:solidFill>
                <a:srgbClr val="000000"/>
              </a:solidFill>
              <a:latin typeface="Tahoma" panose="020B0604030504040204" pitchFamily="34" charset="0"/>
            </a:endParaRPr>
          </a:p>
        </p:txBody>
      </p:sp>
      <p:sp>
        <p:nvSpPr>
          <p:cNvPr id="8" name="TextBox 7">
            <a:extLst>
              <a:ext uri="{FF2B5EF4-FFF2-40B4-BE49-F238E27FC236}">
                <a16:creationId xmlns:a16="http://schemas.microsoft.com/office/drawing/2014/main" id="{723D256C-589E-97AB-CAAE-57A6E1BD76F5}"/>
              </a:ext>
            </a:extLst>
          </p:cNvPr>
          <p:cNvSpPr txBox="1"/>
          <p:nvPr/>
        </p:nvSpPr>
        <p:spPr>
          <a:xfrm>
            <a:off x="4733509" y="1543267"/>
            <a:ext cx="4881465" cy="707886"/>
          </a:xfrm>
          <a:prstGeom prst="rect">
            <a:avLst/>
          </a:prstGeom>
          <a:noFill/>
        </p:spPr>
        <p:txBody>
          <a:bodyPr wrap="none" rtlCol="0">
            <a:spAutoFit/>
          </a:bodyPr>
          <a:lstStyle/>
          <a:p>
            <a:pPr eaLnBrk="0" fontAlgn="base" hangingPunct="0">
              <a:spcBef>
                <a:spcPct val="0"/>
              </a:spcBef>
              <a:spcAft>
                <a:spcPct val="0"/>
              </a:spcAft>
            </a:pPr>
            <a:r>
              <a:rPr lang="en-US" sz="4000" b="1" dirty="0">
                <a:solidFill>
                  <a:srgbClr val="C00000"/>
                </a:solidFill>
                <a:latin typeface="Tahoma" panose="020B0604030504040204" pitchFamily="34" charset="0"/>
              </a:rPr>
              <a:t>char word[5][15];</a:t>
            </a:r>
            <a:endParaRPr lang="en-GB" sz="4000" b="1" dirty="0">
              <a:solidFill>
                <a:srgbClr val="C00000"/>
              </a:solidFill>
              <a:latin typeface="Tahoma" panose="020B0604030504040204" pitchFamily="34" charset="0"/>
            </a:endParaRPr>
          </a:p>
        </p:txBody>
      </p:sp>
      <p:grpSp>
        <p:nvGrpSpPr>
          <p:cNvPr id="9" name="Group 8">
            <a:extLst>
              <a:ext uri="{FF2B5EF4-FFF2-40B4-BE49-F238E27FC236}">
                <a16:creationId xmlns:a16="http://schemas.microsoft.com/office/drawing/2014/main" id="{452F1E74-E12B-1951-43E0-2579DFDB1714}"/>
              </a:ext>
            </a:extLst>
          </p:cNvPr>
          <p:cNvGrpSpPr/>
          <p:nvPr/>
        </p:nvGrpSpPr>
        <p:grpSpPr>
          <a:xfrm>
            <a:off x="5498812" y="2228838"/>
            <a:ext cx="4968552" cy="4114800"/>
            <a:chOff x="5742785" y="2800236"/>
            <a:chExt cx="4968552" cy="4114800"/>
          </a:xfrm>
        </p:grpSpPr>
        <p:sp>
          <p:nvSpPr>
            <p:cNvPr id="10" name="Content Placeholder 2">
              <a:extLst>
                <a:ext uri="{FF2B5EF4-FFF2-40B4-BE49-F238E27FC236}">
                  <a16:creationId xmlns:a16="http://schemas.microsoft.com/office/drawing/2014/main" id="{CD45DB65-D9D6-7F57-8142-D4A69F6041A9}"/>
                </a:ext>
              </a:extLst>
            </p:cNvPr>
            <p:cNvSpPr txBox="1">
              <a:spLocks/>
            </p:cNvSpPr>
            <p:nvPr/>
          </p:nvSpPr>
          <p:spPr bwMode="auto">
            <a:xfrm>
              <a:off x="5742785" y="2800236"/>
              <a:ext cx="496855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word[0]    	word1 </a:t>
              </a:r>
            </a:p>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word[1]    	word2 </a:t>
              </a:r>
            </a:p>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word[2]    	word3 </a:t>
              </a:r>
            </a:p>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word[3]    	word4 </a:t>
              </a:r>
            </a:p>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word[4]    	word5 </a:t>
              </a:r>
            </a:p>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sz="3200" b="0" i="0" u="none" strike="noStrike" kern="0" cap="none" spc="0" normalizeH="0" baseline="0" noProof="0" dirty="0">
                  <a:ln>
                    <a:noFill/>
                  </a:ln>
                  <a:solidFill>
                    <a:srgbClr val="000000"/>
                  </a:solidFill>
                  <a:effectLst/>
                  <a:uLnTx/>
                  <a:uFillTx/>
                  <a:latin typeface="Tahoma"/>
                  <a:ea typeface="+mn-ea"/>
                  <a:cs typeface="+mn-cs"/>
                </a:rPr>
                <a:t> </a:t>
              </a:r>
              <a:endParaRPr kumimoji="0" lang="en-GB" sz="3200" b="0" i="0" u="none" strike="noStrike" kern="0" cap="none" spc="0" normalizeH="0" baseline="0" noProof="0" dirty="0">
                <a:ln>
                  <a:noFill/>
                </a:ln>
                <a:solidFill>
                  <a:srgbClr val="000000"/>
                </a:solidFill>
                <a:effectLst/>
                <a:uLnTx/>
                <a:uFillTx/>
                <a:latin typeface="Tahoma"/>
                <a:ea typeface="+mn-ea"/>
                <a:cs typeface="+mn-cs"/>
              </a:endParaRPr>
            </a:p>
            <a:p>
              <a:pPr marL="0" marR="0" lvl="0" indent="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sz="3200" b="0" i="0" u="none" strike="noStrike" kern="0" cap="none" spc="0" normalizeH="0" baseline="0" noProof="0" dirty="0">
                <a:ln>
                  <a:noFill/>
                </a:ln>
                <a:solidFill>
                  <a:srgbClr val="000000"/>
                </a:solidFill>
                <a:effectLst/>
                <a:uLnTx/>
                <a:uFillTx/>
                <a:latin typeface="Tahoma"/>
                <a:ea typeface="+mn-ea"/>
                <a:cs typeface="+mn-cs"/>
              </a:endParaRPr>
            </a:p>
          </p:txBody>
        </p:sp>
        <p:sp>
          <p:nvSpPr>
            <p:cNvPr id="11" name="Arrow: Left-Right 10">
              <a:extLst>
                <a:ext uri="{FF2B5EF4-FFF2-40B4-BE49-F238E27FC236}">
                  <a16:creationId xmlns:a16="http://schemas.microsoft.com/office/drawing/2014/main" id="{C8602C70-F776-C90B-FBC7-CFFBC3BDA16A}"/>
                </a:ext>
              </a:extLst>
            </p:cNvPr>
            <p:cNvSpPr/>
            <p:nvPr/>
          </p:nvSpPr>
          <p:spPr bwMode="auto">
            <a:xfrm>
              <a:off x="7306490" y="2954251"/>
              <a:ext cx="1181309" cy="288032"/>
            </a:xfrm>
            <a:prstGeom prst="leftRightArrow">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12" name="Arrow: Left-Right 11">
              <a:extLst>
                <a:ext uri="{FF2B5EF4-FFF2-40B4-BE49-F238E27FC236}">
                  <a16:creationId xmlns:a16="http://schemas.microsoft.com/office/drawing/2014/main" id="{66CD5D2D-4E17-A715-799B-134F753AF3F7}"/>
                </a:ext>
              </a:extLst>
            </p:cNvPr>
            <p:cNvSpPr/>
            <p:nvPr/>
          </p:nvSpPr>
          <p:spPr bwMode="auto">
            <a:xfrm>
              <a:off x="7349500" y="3588477"/>
              <a:ext cx="1181309" cy="288032"/>
            </a:xfrm>
            <a:prstGeom prst="leftRightArrow">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13" name="Arrow: Left-Right 12">
              <a:extLst>
                <a:ext uri="{FF2B5EF4-FFF2-40B4-BE49-F238E27FC236}">
                  <a16:creationId xmlns:a16="http://schemas.microsoft.com/office/drawing/2014/main" id="{0AA4873E-DF04-6FF2-29C6-834F2CB0ADB0}"/>
                </a:ext>
              </a:extLst>
            </p:cNvPr>
            <p:cNvSpPr/>
            <p:nvPr/>
          </p:nvSpPr>
          <p:spPr bwMode="auto">
            <a:xfrm>
              <a:off x="7306490" y="4138335"/>
              <a:ext cx="1181309" cy="288032"/>
            </a:xfrm>
            <a:prstGeom prst="leftRightArrow">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14" name="Arrow: Left-Right 13">
              <a:extLst>
                <a:ext uri="{FF2B5EF4-FFF2-40B4-BE49-F238E27FC236}">
                  <a16:creationId xmlns:a16="http://schemas.microsoft.com/office/drawing/2014/main" id="{6D78A73C-6286-8EA8-F980-55AB6091EE91}"/>
                </a:ext>
              </a:extLst>
            </p:cNvPr>
            <p:cNvSpPr/>
            <p:nvPr/>
          </p:nvSpPr>
          <p:spPr bwMode="auto">
            <a:xfrm>
              <a:off x="7349500" y="4739822"/>
              <a:ext cx="1181309" cy="288032"/>
            </a:xfrm>
            <a:prstGeom prst="leftRightArrow">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15" name="Arrow: Left-Right 14">
              <a:extLst>
                <a:ext uri="{FF2B5EF4-FFF2-40B4-BE49-F238E27FC236}">
                  <a16:creationId xmlns:a16="http://schemas.microsoft.com/office/drawing/2014/main" id="{FA76AC75-0529-2E86-2313-40CCEA8EFBBF}"/>
                </a:ext>
              </a:extLst>
            </p:cNvPr>
            <p:cNvSpPr/>
            <p:nvPr/>
          </p:nvSpPr>
          <p:spPr bwMode="auto">
            <a:xfrm>
              <a:off x="7306490" y="5336756"/>
              <a:ext cx="1181309" cy="288032"/>
            </a:xfrm>
            <a:prstGeom prst="leftRightArrow">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grpSp>
      <p:sp>
        <p:nvSpPr>
          <p:cNvPr id="16" name="TextBox 15">
            <a:extLst>
              <a:ext uri="{FF2B5EF4-FFF2-40B4-BE49-F238E27FC236}">
                <a16:creationId xmlns:a16="http://schemas.microsoft.com/office/drawing/2014/main" id="{7457ABD9-C913-811A-4606-3568D788197F}"/>
              </a:ext>
            </a:extLst>
          </p:cNvPr>
          <p:cNvSpPr txBox="1"/>
          <p:nvPr/>
        </p:nvSpPr>
        <p:spPr>
          <a:xfrm>
            <a:off x="145534" y="5444496"/>
            <a:ext cx="4680520" cy="830997"/>
          </a:xfrm>
          <a:prstGeom prst="rect">
            <a:avLst/>
          </a:prstGeom>
          <a:noFill/>
        </p:spPr>
        <p:txBody>
          <a:bodyPr wrap="square" rtlCol="0">
            <a:spAutoFit/>
          </a:bodyPr>
          <a:lstStyle/>
          <a:p>
            <a:pPr eaLnBrk="0" fontAlgn="base" hangingPunct="0">
              <a:spcBef>
                <a:spcPct val="0"/>
              </a:spcBef>
              <a:spcAft>
                <a:spcPct val="0"/>
              </a:spcAft>
            </a:pPr>
            <a:r>
              <a:rPr lang="en-GB" sz="2400" dirty="0" err="1">
                <a:solidFill>
                  <a:srgbClr val="000000"/>
                </a:solidFill>
                <a:latin typeface="Tahoma" panose="020B0604030504040204" pitchFamily="34" charset="0"/>
              </a:rPr>
              <a:t>scanf</a:t>
            </a:r>
            <a:r>
              <a:rPr lang="en-GB" sz="2400" dirty="0">
                <a:solidFill>
                  <a:srgbClr val="000000"/>
                </a:solidFill>
                <a:latin typeface="Tahoma" panose="020B0604030504040204" pitchFamily="34" charset="0"/>
              </a:rPr>
              <a:t>(“%s”,word1);</a:t>
            </a:r>
          </a:p>
          <a:p>
            <a:pPr eaLnBrk="0" fontAlgn="base" hangingPunct="0">
              <a:spcBef>
                <a:spcPct val="0"/>
              </a:spcBef>
              <a:spcAft>
                <a:spcPct val="0"/>
              </a:spcAft>
            </a:pPr>
            <a:r>
              <a:rPr lang="en-GB" sz="2400" dirty="0" err="1">
                <a:solidFill>
                  <a:srgbClr val="000000"/>
                </a:solidFill>
                <a:latin typeface="Tahoma" panose="020B0604030504040204" pitchFamily="34" charset="0"/>
              </a:rPr>
              <a:t>printf</a:t>
            </a:r>
            <a:r>
              <a:rPr lang="en-GB" sz="2400" dirty="0">
                <a:solidFill>
                  <a:srgbClr val="000000"/>
                </a:solidFill>
                <a:latin typeface="Tahoma" panose="020B0604030504040204" pitchFamily="34" charset="0"/>
              </a:rPr>
              <a:t>(“%s\n”, word1);</a:t>
            </a:r>
          </a:p>
        </p:txBody>
      </p:sp>
      <p:sp>
        <p:nvSpPr>
          <p:cNvPr id="24" name="TextBox 23">
            <a:extLst>
              <a:ext uri="{FF2B5EF4-FFF2-40B4-BE49-F238E27FC236}">
                <a16:creationId xmlns:a16="http://schemas.microsoft.com/office/drawing/2014/main" id="{47F98FDE-9E1A-CBB5-705E-72C168E3E4AC}"/>
              </a:ext>
            </a:extLst>
          </p:cNvPr>
          <p:cNvSpPr txBox="1"/>
          <p:nvPr/>
        </p:nvSpPr>
        <p:spPr>
          <a:xfrm>
            <a:off x="4223792" y="5575011"/>
            <a:ext cx="4680520" cy="830997"/>
          </a:xfrm>
          <a:prstGeom prst="rect">
            <a:avLst/>
          </a:prstGeom>
          <a:noFill/>
        </p:spPr>
        <p:txBody>
          <a:bodyPr wrap="square" rtlCol="0">
            <a:spAutoFit/>
          </a:bodyPr>
          <a:lstStyle/>
          <a:p>
            <a:pPr eaLnBrk="0" fontAlgn="base" hangingPunct="0">
              <a:spcBef>
                <a:spcPct val="0"/>
              </a:spcBef>
              <a:spcAft>
                <a:spcPct val="0"/>
              </a:spcAft>
            </a:pPr>
            <a:r>
              <a:rPr lang="en-GB" sz="2400" dirty="0" err="1">
                <a:solidFill>
                  <a:srgbClr val="000000"/>
                </a:solidFill>
                <a:latin typeface="Tahoma" panose="020B0604030504040204" pitchFamily="34" charset="0"/>
              </a:rPr>
              <a:t>scanf</a:t>
            </a:r>
            <a:r>
              <a:rPr lang="en-GB" sz="2400" dirty="0">
                <a:solidFill>
                  <a:srgbClr val="000000"/>
                </a:solidFill>
                <a:latin typeface="Tahoma" panose="020B0604030504040204" pitchFamily="34" charset="0"/>
              </a:rPr>
              <a:t>(“%</a:t>
            </a:r>
            <a:r>
              <a:rPr lang="en-GB" sz="2400" dirty="0" err="1">
                <a:solidFill>
                  <a:srgbClr val="000000"/>
                </a:solidFill>
                <a:latin typeface="Tahoma" panose="020B0604030504040204" pitchFamily="34" charset="0"/>
              </a:rPr>
              <a:t>s”,word</a:t>
            </a:r>
            <a:r>
              <a:rPr lang="en-GB" sz="2400" dirty="0">
                <a:solidFill>
                  <a:srgbClr val="000000"/>
                </a:solidFill>
                <a:latin typeface="Tahoma" panose="020B0604030504040204" pitchFamily="34" charset="0"/>
              </a:rPr>
              <a:t>[0]);</a:t>
            </a:r>
          </a:p>
          <a:p>
            <a:pPr eaLnBrk="0" fontAlgn="base" hangingPunct="0">
              <a:spcBef>
                <a:spcPct val="0"/>
              </a:spcBef>
              <a:spcAft>
                <a:spcPct val="0"/>
              </a:spcAft>
            </a:pPr>
            <a:r>
              <a:rPr lang="en-GB" sz="2400" dirty="0" err="1">
                <a:solidFill>
                  <a:srgbClr val="000000"/>
                </a:solidFill>
                <a:latin typeface="Tahoma" panose="020B0604030504040204" pitchFamily="34" charset="0"/>
              </a:rPr>
              <a:t>printf</a:t>
            </a:r>
            <a:r>
              <a:rPr lang="en-GB" sz="2400" dirty="0">
                <a:solidFill>
                  <a:srgbClr val="000000"/>
                </a:solidFill>
                <a:latin typeface="Tahoma" panose="020B0604030504040204" pitchFamily="34" charset="0"/>
              </a:rPr>
              <a:t>(“%s\n”, word[0]);</a:t>
            </a:r>
          </a:p>
        </p:txBody>
      </p:sp>
      <p:sp>
        <p:nvSpPr>
          <p:cNvPr id="25" name="TextBox 24">
            <a:extLst>
              <a:ext uri="{FF2B5EF4-FFF2-40B4-BE49-F238E27FC236}">
                <a16:creationId xmlns:a16="http://schemas.microsoft.com/office/drawing/2014/main" id="{A291B728-F2D0-19CD-B145-F9796A59AF4F}"/>
              </a:ext>
            </a:extLst>
          </p:cNvPr>
          <p:cNvSpPr txBox="1"/>
          <p:nvPr/>
        </p:nvSpPr>
        <p:spPr>
          <a:xfrm>
            <a:off x="8456256" y="5512641"/>
            <a:ext cx="3631288" cy="830997"/>
          </a:xfrm>
          <a:prstGeom prst="rect">
            <a:avLst/>
          </a:prstGeom>
          <a:solidFill>
            <a:srgbClr val="FFFF00"/>
          </a:solidFill>
        </p:spPr>
        <p:txBody>
          <a:bodyPr wrap="square" rtlCol="0">
            <a:spAutoFit/>
          </a:bodyPr>
          <a:lstStyle/>
          <a:p>
            <a:pPr eaLnBrk="0" fontAlgn="base" hangingPunct="0">
              <a:spcBef>
                <a:spcPct val="0"/>
              </a:spcBef>
              <a:spcAft>
                <a:spcPct val="0"/>
              </a:spcAft>
            </a:pPr>
            <a:r>
              <a:rPr lang="en-GB" sz="2400" dirty="0" err="1">
                <a:solidFill>
                  <a:srgbClr val="000000"/>
                </a:solidFill>
                <a:latin typeface="Tahoma" panose="020B0604030504040204" pitchFamily="34" charset="0"/>
              </a:rPr>
              <a:t>scanf</a:t>
            </a:r>
            <a:r>
              <a:rPr lang="en-GB" sz="2400" dirty="0">
                <a:solidFill>
                  <a:srgbClr val="000000"/>
                </a:solidFill>
                <a:latin typeface="Tahoma" panose="020B0604030504040204" pitchFamily="34" charset="0"/>
              </a:rPr>
              <a:t>(“%</a:t>
            </a:r>
            <a:r>
              <a:rPr lang="en-GB" sz="2400" dirty="0" err="1">
                <a:solidFill>
                  <a:srgbClr val="000000"/>
                </a:solidFill>
                <a:latin typeface="Tahoma" panose="020B0604030504040204" pitchFamily="34" charset="0"/>
              </a:rPr>
              <a:t>s”,word</a:t>
            </a:r>
            <a:r>
              <a:rPr lang="en-GB" sz="2400" dirty="0">
                <a:solidFill>
                  <a:srgbClr val="000000"/>
                </a:solidFill>
                <a:latin typeface="Tahoma" panose="020B0604030504040204" pitchFamily="34" charset="0"/>
              </a:rPr>
              <a:t>[</a:t>
            </a:r>
            <a:r>
              <a:rPr lang="en-GB" sz="2400" dirty="0" err="1">
                <a:solidFill>
                  <a:srgbClr val="000000"/>
                </a:solidFill>
                <a:latin typeface="Tahoma" panose="020B0604030504040204" pitchFamily="34" charset="0"/>
              </a:rPr>
              <a:t>i</a:t>
            </a:r>
            <a:r>
              <a:rPr lang="en-GB" sz="2400" dirty="0">
                <a:solidFill>
                  <a:srgbClr val="000000"/>
                </a:solidFill>
                <a:latin typeface="Tahoma" panose="020B0604030504040204" pitchFamily="34" charset="0"/>
              </a:rPr>
              <a:t>]);</a:t>
            </a:r>
          </a:p>
          <a:p>
            <a:pPr eaLnBrk="0" fontAlgn="base" hangingPunct="0">
              <a:spcBef>
                <a:spcPct val="0"/>
              </a:spcBef>
              <a:spcAft>
                <a:spcPct val="0"/>
              </a:spcAft>
            </a:pPr>
            <a:r>
              <a:rPr lang="en-GB" sz="2400" dirty="0" err="1">
                <a:solidFill>
                  <a:srgbClr val="000000"/>
                </a:solidFill>
                <a:latin typeface="Tahoma" panose="020B0604030504040204" pitchFamily="34" charset="0"/>
              </a:rPr>
              <a:t>printf</a:t>
            </a:r>
            <a:r>
              <a:rPr lang="en-GB" sz="2400" dirty="0">
                <a:solidFill>
                  <a:srgbClr val="000000"/>
                </a:solidFill>
                <a:latin typeface="Tahoma" panose="020B0604030504040204" pitchFamily="34" charset="0"/>
              </a:rPr>
              <a:t>(“%s\n”, word[</a:t>
            </a:r>
            <a:r>
              <a:rPr lang="en-GB" sz="2400" dirty="0" err="1">
                <a:solidFill>
                  <a:srgbClr val="000000"/>
                </a:solidFill>
                <a:latin typeface="Tahoma" panose="020B0604030504040204" pitchFamily="34" charset="0"/>
              </a:rPr>
              <a:t>i</a:t>
            </a:r>
            <a:r>
              <a:rPr lang="en-GB" sz="2400" dirty="0">
                <a:solidFill>
                  <a:srgbClr val="000000"/>
                </a:solidFill>
                <a:latin typeface="Tahoma" panose="020B0604030504040204" pitchFamily="34" charset="0"/>
              </a:rPr>
              <a:t>]);</a:t>
            </a:r>
          </a:p>
        </p:txBody>
      </p:sp>
      <p:sp>
        <p:nvSpPr>
          <p:cNvPr id="26" name="Arrow: Right 25">
            <a:extLst>
              <a:ext uri="{FF2B5EF4-FFF2-40B4-BE49-F238E27FC236}">
                <a16:creationId xmlns:a16="http://schemas.microsoft.com/office/drawing/2014/main" id="{94683187-3E80-BAE8-52CC-78CB6F719E07}"/>
              </a:ext>
            </a:extLst>
          </p:cNvPr>
          <p:cNvSpPr/>
          <p:nvPr/>
        </p:nvSpPr>
        <p:spPr bwMode="auto">
          <a:xfrm>
            <a:off x="3306997" y="5834154"/>
            <a:ext cx="864096" cy="343490"/>
          </a:xfrm>
          <a:prstGeom prst="rightArrow">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27" name="Arrow: Right 26">
            <a:extLst>
              <a:ext uri="{FF2B5EF4-FFF2-40B4-BE49-F238E27FC236}">
                <a16:creationId xmlns:a16="http://schemas.microsoft.com/office/drawing/2014/main" id="{E963DA71-FFD5-32B1-61C0-2F087AB8624B}"/>
              </a:ext>
            </a:extLst>
          </p:cNvPr>
          <p:cNvSpPr/>
          <p:nvPr/>
        </p:nvSpPr>
        <p:spPr bwMode="auto">
          <a:xfrm>
            <a:off x="7551040" y="5843996"/>
            <a:ext cx="864096" cy="343490"/>
          </a:xfrm>
          <a:prstGeom prst="rightArrow">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pic>
        <p:nvPicPr>
          <p:cNvPr id="28" name="Picture 27">
            <a:extLst>
              <a:ext uri="{FF2B5EF4-FFF2-40B4-BE49-F238E27FC236}">
                <a16:creationId xmlns:a16="http://schemas.microsoft.com/office/drawing/2014/main" id="{37BFF0F9-FC59-44D1-7FB0-F01B1B97E7E2}"/>
              </a:ext>
            </a:extLst>
          </p:cNvPr>
          <p:cNvPicPr>
            <a:picLocks noChangeAspect="1"/>
          </p:cNvPicPr>
          <p:nvPr/>
        </p:nvPicPr>
        <p:blipFill>
          <a:blip r:embed="rId3"/>
          <a:stretch>
            <a:fillRect/>
          </a:stretch>
        </p:blipFill>
        <p:spPr>
          <a:xfrm>
            <a:off x="3256118" y="870071"/>
            <a:ext cx="728204" cy="673196"/>
          </a:xfrm>
          <a:prstGeom prst="rect">
            <a:avLst/>
          </a:prstGeom>
        </p:spPr>
      </p:pic>
      <p:pic>
        <p:nvPicPr>
          <p:cNvPr id="29" name="Picture 28">
            <a:extLst>
              <a:ext uri="{FF2B5EF4-FFF2-40B4-BE49-F238E27FC236}">
                <a16:creationId xmlns:a16="http://schemas.microsoft.com/office/drawing/2014/main" id="{95C5E8B2-BEB2-6C0E-02D4-F2024C7352FE}"/>
              </a:ext>
            </a:extLst>
          </p:cNvPr>
          <p:cNvPicPr>
            <a:picLocks noChangeAspect="1"/>
          </p:cNvPicPr>
          <p:nvPr/>
        </p:nvPicPr>
        <p:blipFill>
          <a:blip r:embed="rId3"/>
          <a:stretch>
            <a:fillRect/>
          </a:stretch>
        </p:blipFill>
        <p:spPr>
          <a:xfrm>
            <a:off x="623392" y="4765358"/>
            <a:ext cx="728204" cy="673196"/>
          </a:xfrm>
          <a:prstGeom prst="rect">
            <a:avLst/>
          </a:prstGeom>
        </p:spPr>
      </p:pic>
      <p:pic>
        <p:nvPicPr>
          <p:cNvPr id="30" name="Picture 29">
            <a:extLst>
              <a:ext uri="{FF2B5EF4-FFF2-40B4-BE49-F238E27FC236}">
                <a16:creationId xmlns:a16="http://schemas.microsoft.com/office/drawing/2014/main" id="{E73CFDB9-3E23-5EB8-A750-AF54E0556096}"/>
              </a:ext>
            </a:extLst>
          </p:cNvPr>
          <p:cNvPicPr>
            <a:picLocks noChangeAspect="1"/>
          </p:cNvPicPr>
          <p:nvPr/>
        </p:nvPicPr>
        <p:blipFill>
          <a:blip r:embed="rId4"/>
          <a:stretch>
            <a:fillRect/>
          </a:stretch>
        </p:blipFill>
        <p:spPr>
          <a:xfrm>
            <a:off x="11279500" y="4821749"/>
            <a:ext cx="808044" cy="753262"/>
          </a:xfrm>
          <a:prstGeom prst="rect">
            <a:avLst/>
          </a:prstGeom>
        </p:spPr>
      </p:pic>
      <p:pic>
        <p:nvPicPr>
          <p:cNvPr id="31" name="Picture 30">
            <a:extLst>
              <a:ext uri="{FF2B5EF4-FFF2-40B4-BE49-F238E27FC236}">
                <a16:creationId xmlns:a16="http://schemas.microsoft.com/office/drawing/2014/main" id="{7C1D56E2-9E81-0340-2186-9736010D68E1}"/>
              </a:ext>
            </a:extLst>
          </p:cNvPr>
          <p:cNvPicPr>
            <a:picLocks noChangeAspect="1"/>
          </p:cNvPicPr>
          <p:nvPr/>
        </p:nvPicPr>
        <p:blipFill>
          <a:blip r:embed="rId4"/>
          <a:stretch>
            <a:fillRect/>
          </a:stretch>
        </p:blipFill>
        <p:spPr>
          <a:xfrm>
            <a:off x="9780870" y="1369849"/>
            <a:ext cx="808044" cy="753262"/>
          </a:xfrm>
          <a:prstGeom prst="rect">
            <a:avLst/>
          </a:prstGeom>
        </p:spPr>
      </p:pic>
    </p:spTree>
    <p:extLst>
      <p:ext uri="{BB962C8B-B14F-4D97-AF65-F5344CB8AC3E}">
        <p14:creationId xmlns:p14="http://schemas.microsoft.com/office/powerpoint/2010/main" val="193592984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3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par>
                          <p:cTn id="53" fill="hold">
                            <p:stCondLst>
                              <p:cond delay="0"/>
                            </p:stCondLst>
                            <p:childTnLst>
                              <p:par>
                                <p:cTn id="54" presetID="10" presetClass="entr" presetSubtype="0" fill="hold" nodeType="after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par>
                          <p:cTn id="75" fill="hold">
                            <p:stCondLst>
                              <p:cond delay="0"/>
                            </p:stCondLst>
                            <p:childTnLst>
                              <p:par>
                                <p:cTn id="76" presetID="1" presetClass="entr" presetSubtype="0" fill="hold" nodeType="afterEffect">
                                  <p:stCondLst>
                                    <p:cond delay="0"/>
                                  </p:stCondLst>
                                  <p:childTnLst>
                                    <p:set>
                                      <p:cBhvr>
                                        <p:cTn id="77"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p:bldP spid="8" grpId="0"/>
      <p:bldP spid="16" grpId="0"/>
      <p:bldP spid="24" grpId="0"/>
      <p:bldP spid="25"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7315E-05D7-2AFC-4FE7-9FFCDCD36EE5}"/>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E891CE0-A37E-71D6-2ABD-FD73E644084F}"/>
              </a:ext>
            </a:extLst>
          </p:cNvPr>
          <p:cNvSpPr>
            <a:spLocks noGrp="1"/>
          </p:cNvSpPr>
          <p:nvPr>
            <p:ph type="title" idx="4294967295"/>
          </p:nvPr>
        </p:nvSpPr>
        <p:spPr>
          <a:xfrm>
            <a:off x="0" y="0"/>
            <a:ext cx="12191999" cy="908050"/>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l-GR" b="1" dirty="0">
                <a:solidFill>
                  <a:srgbClr val="F9853D"/>
                </a:solidFill>
                <a:latin typeface="Bahnschrift" panose="020B0502040204020203" pitchFamily="34" charset="0"/>
              </a:rPr>
              <a:t> 1η έκδοση (Ορισμός δομής της </a:t>
            </a:r>
            <a:r>
              <a:rPr lang="el-GR" b="1" dirty="0" err="1">
                <a:solidFill>
                  <a:srgbClr val="F9853D"/>
                </a:solidFill>
                <a:latin typeface="Bahnschrift" panose="020B0502040204020203" pitchFamily="34" charset="0"/>
              </a:rPr>
              <a:t>main</a:t>
            </a:r>
            <a:r>
              <a:rPr lang="el-GR" b="1" dirty="0">
                <a:solidFill>
                  <a:srgbClr val="F9853D"/>
                </a:solidFill>
                <a:latin typeface="Bahnschrift" panose="020B0502040204020203" pitchFamily="34" charset="0"/>
              </a:rPr>
              <a:t>)</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0E58EE81-98FF-2F53-8580-F5D4842C4C9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035F370A-8108-3115-1387-5519B5742C66}"/>
              </a:ext>
            </a:extLst>
          </p:cNvPr>
          <p:cNvPicPr>
            <a:picLocks noChangeAspect="1"/>
          </p:cNvPicPr>
          <p:nvPr/>
        </p:nvPicPr>
        <p:blipFill>
          <a:blip r:embed="rId3"/>
          <a:stretch>
            <a:fillRect/>
          </a:stretch>
        </p:blipFill>
        <p:spPr>
          <a:xfrm>
            <a:off x="0" y="3674982"/>
            <a:ext cx="4079639" cy="3003681"/>
          </a:xfrm>
          <a:prstGeom prst="rect">
            <a:avLst/>
          </a:prstGeom>
        </p:spPr>
      </p:pic>
      <p:grpSp>
        <p:nvGrpSpPr>
          <p:cNvPr id="17" name="Group 16">
            <a:extLst>
              <a:ext uri="{FF2B5EF4-FFF2-40B4-BE49-F238E27FC236}">
                <a16:creationId xmlns:a16="http://schemas.microsoft.com/office/drawing/2014/main" id="{78245A58-B7C1-6BFC-99E7-3E620657450D}"/>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EE1FE77C-8535-2F94-2610-16D20AD0F82B}"/>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113FD1DE-5EB4-961C-70C2-5ED88BF7426F}"/>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EBDA0686-56C7-F637-1348-EF1036429AE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1086F1B6-1F44-99D4-3B42-4D809AC5E58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17</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AD070850-3913-CBCB-2D7E-3CB6672B2CD3}"/>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6A760783-9A8B-6132-D0A2-410971617D4B}"/>
              </a:ext>
            </a:extLst>
          </p:cNvPr>
          <p:cNvSpPr txBox="1">
            <a:spLocks/>
          </p:cNvSpPr>
          <p:nvPr/>
        </p:nvSpPr>
        <p:spPr bwMode="auto">
          <a:xfrm>
            <a:off x="-1" y="1023667"/>
            <a:ext cx="12191999" cy="3003681"/>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-4   1η έκδοση-Ορισμός δομής της </a:t>
            </a:r>
            <a:r>
              <a:rPr lang="el-GR" b="1" dirty="0" err="1">
                <a:solidFill>
                  <a:srgbClr val="F9853D"/>
                </a:solidFill>
                <a:latin typeface="Bahnschrift" panose="020B0502040204020203" pitchFamily="34" charset="0"/>
              </a:rPr>
              <a:t>main</a:t>
            </a:r>
            <a:endParaRPr lang="en-US" b="1" kern="0" dirty="0">
              <a:solidFill>
                <a:srgbClr val="000000"/>
              </a:solidFill>
              <a:latin typeface="Tahoma"/>
            </a:endParaRPr>
          </a:p>
          <a:p>
            <a:pPr marL="0" indent="0">
              <a:buClr>
                <a:srgbClr val="3333CC"/>
              </a:buClr>
              <a:buNone/>
              <a:defRPr/>
            </a:pPr>
            <a:r>
              <a:rPr lang="el-GR" sz="2400" b="1" kern="0" dirty="0">
                <a:solidFill>
                  <a:srgbClr val="000000"/>
                </a:solidFill>
                <a:latin typeface="Tahoma"/>
              </a:rPr>
              <a:t>Διαμορφώστε το σώμα της </a:t>
            </a:r>
            <a:r>
              <a:rPr lang="el-GR" sz="2400" b="1" kern="0" dirty="0" err="1">
                <a:solidFill>
                  <a:srgbClr val="000000"/>
                </a:solidFill>
                <a:latin typeface="Tahoma"/>
              </a:rPr>
              <a:t>main</a:t>
            </a:r>
            <a:r>
              <a:rPr lang="el-GR" sz="2400" kern="0" dirty="0">
                <a:solidFill>
                  <a:srgbClr val="000000"/>
                </a:solidFill>
                <a:latin typeface="Tahoma"/>
              </a:rPr>
              <a:t>. </a:t>
            </a:r>
            <a:endParaRPr lang="en-US" sz="2400" kern="0" dirty="0">
              <a:solidFill>
                <a:srgbClr val="000000"/>
              </a:solidFill>
              <a:latin typeface="Tahoma"/>
            </a:endParaRPr>
          </a:p>
          <a:p>
            <a:pPr marL="0" indent="0">
              <a:buClr>
                <a:srgbClr val="3333CC"/>
              </a:buClr>
              <a:buNone/>
              <a:defRPr/>
            </a:pPr>
            <a:r>
              <a:rPr lang="el-GR" sz="2400" kern="0" dirty="0">
                <a:solidFill>
                  <a:srgbClr val="000000"/>
                </a:solidFill>
                <a:latin typeface="Tahoma"/>
              </a:rPr>
              <a:t>Το βασικό έργο στη φάση αυτή είναι η αναγνώριση των συναρτήσεων που θα υλοποιούν τις βασικές υπηρεσίες που θα προσφέρει το πρόγραμμα και η απόδοση κατάλληλων ονομάτων που θα κάνουν το πρόγραμμα ευανάγνωστο. </a:t>
            </a:r>
            <a:endParaRPr lang="en-US" sz="2400" kern="0" dirty="0">
              <a:solidFill>
                <a:srgbClr val="000000"/>
              </a:solidFill>
              <a:latin typeface="Tahoma"/>
            </a:endParaRPr>
          </a:p>
          <a:p>
            <a:pPr marL="0" indent="0">
              <a:buClr>
                <a:srgbClr val="3333CC"/>
              </a:buClr>
              <a:buNone/>
              <a:defRPr/>
            </a:pPr>
            <a:r>
              <a:rPr lang="el-GR" sz="2400" b="1" kern="0" dirty="0">
                <a:solidFill>
                  <a:srgbClr val="000000"/>
                </a:solidFill>
                <a:latin typeface="Tahoma"/>
              </a:rPr>
              <a:t>Κάντε ένα πλάνο των εκδόσεων </a:t>
            </a:r>
            <a:r>
              <a:rPr lang="el-GR" sz="2400" kern="0" dirty="0">
                <a:solidFill>
                  <a:srgbClr val="000000"/>
                </a:solidFill>
                <a:latin typeface="Tahoma"/>
              </a:rPr>
              <a:t>που θα αναπτύξετε με βάση την αυξητική ανάπτυξη. Κάθε έκδοση θα υλοποιεί ένα μέρος της λειτουργικότητας το προγράμματος. </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D86EA360-29AF-5F66-91BD-4B214ED77ED1}"/>
              </a:ext>
            </a:extLst>
          </p:cNvPr>
          <p:cNvSpPr/>
          <p:nvPr/>
        </p:nvSpPr>
        <p:spPr>
          <a:xfrm>
            <a:off x="5056339" y="4300583"/>
            <a:ext cx="5451765" cy="599681"/>
          </a:xfrm>
          <a:prstGeom prst="wedgeRoundRectCallout">
            <a:avLst>
              <a:gd name="adj1" fmla="val -58179"/>
              <a:gd name="adj2" fmla="val 143422"/>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Διαμορφώστε το σώμα της </a:t>
            </a:r>
            <a:r>
              <a:rPr lang="el-GR" sz="2800" b="1" dirty="0" err="1">
                <a:solidFill>
                  <a:schemeClr val="bg1"/>
                </a:solidFill>
              </a:rPr>
              <a:t>main</a:t>
            </a:r>
            <a:r>
              <a:rPr lang="el-GR" sz="2800" b="1" dirty="0">
                <a:solidFill>
                  <a:schemeClr val="bg1"/>
                </a:solidFill>
              </a:rPr>
              <a:t>.</a:t>
            </a:r>
            <a:endParaRPr lang="en-GB" sz="2800" b="1" dirty="0">
              <a:solidFill>
                <a:schemeClr val="bg1"/>
              </a:solidFill>
              <a:highlight>
                <a:srgbClr val="FFFF00"/>
              </a:highlight>
            </a:endParaRPr>
          </a:p>
        </p:txBody>
      </p:sp>
      <p:sp>
        <p:nvSpPr>
          <p:cNvPr id="6" name="Speech Bubble: Rectangle with Corners Rounded 5">
            <a:extLst>
              <a:ext uri="{FF2B5EF4-FFF2-40B4-BE49-F238E27FC236}">
                <a16:creationId xmlns:a16="http://schemas.microsoft.com/office/drawing/2014/main" id="{36362CE4-4FE6-A7CB-EEF5-A986FB0AE98C}"/>
              </a:ext>
            </a:extLst>
          </p:cNvPr>
          <p:cNvSpPr/>
          <p:nvPr/>
        </p:nvSpPr>
        <p:spPr>
          <a:xfrm>
            <a:off x="5790182" y="5467246"/>
            <a:ext cx="5752244" cy="599681"/>
          </a:xfrm>
          <a:prstGeom prst="wedgeRoundRectCallout">
            <a:avLst>
              <a:gd name="adj1" fmla="val -58179"/>
              <a:gd name="adj2" fmla="val 143422"/>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Κάντε ένα πλάνο των εκδόσεων </a:t>
            </a:r>
            <a:endParaRPr lang="en-GB" sz="2800" b="1" dirty="0">
              <a:solidFill>
                <a:schemeClr val="bg1"/>
              </a:solidFill>
              <a:highlight>
                <a:srgbClr val="FFFF00"/>
              </a:highlight>
            </a:endParaRPr>
          </a:p>
        </p:txBody>
      </p:sp>
    </p:spTree>
    <p:extLst>
      <p:ext uri="{BB962C8B-B14F-4D97-AF65-F5344CB8AC3E}">
        <p14:creationId xmlns:p14="http://schemas.microsoft.com/office/powerpoint/2010/main" val="2222122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5A7D-20F2-C239-440A-6D9729F2E670}"/>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8D670A4-1B3B-FB94-E76B-60EA8EF8451B}"/>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l-GR" b="1" dirty="0">
                <a:solidFill>
                  <a:srgbClr val="F9853D"/>
                </a:solidFill>
                <a:latin typeface="Bahnschrift" panose="020B0502040204020203" pitchFamily="34" charset="0"/>
              </a:rPr>
              <a:t>1η έκδοση</a:t>
            </a:r>
            <a:r>
              <a:rPr lang="en-US" b="1" dirty="0">
                <a:solidFill>
                  <a:srgbClr val="F9853D"/>
                </a:solidFill>
                <a:latin typeface="Bahnschrift" panose="020B0502040204020203" pitchFamily="34" charset="0"/>
              </a:rPr>
              <a:t> </a:t>
            </a:r>
            <a:r>
              <a:rPr lang="el-GR" b="1" dirty="0">
                <a:solidFill>
                  <a:srgbClr val="F9853D"/>
                </a:solidFill>
                <a:latin typeface="Bahnschrift" panose="020B0502040204020203" pitchFamily="34" charset="0"/>
              </a:rPr>
              <a:t>-</a:t>
            </a:r>
            <a:r>
              <a:rPr lang="en-US" b="1" dirty="0">
                <a:solidFill>
                  <a:srgbClr val="F9853D"/>
                </a:solidFill>
                <a:latin typeface="Bahnschrift" panose="020B0502040204020203" pitchFamily="34" charset="0"/>
              </a:rPr>
              <a:t> </a:t>
            </a:r>
            <a:r>
              <a:rPr lang="el-GR" b="1" dirty="0">
                <a:solidFill>
                  <a:srgbClr val="F9853D"/>
                </a:solidFill>
                <a:latin typeface="Bahnschrift" panose="020B0502040204020203" pitchFamily="34" charset="0"/>
              </a:rPr>
              <a:t>Ορισμός δομής της </a:t>
            </a:r>
            <a:r>
              <a:rPr lang="el-GR" b="1" dirty="0" err="1">
                <a:solidFill>
                  <a:srgbClr val="F9853D"/>
                </a:solidFill>
                <a:latin typeface="Bahnschrift" panose="020B0502040204020203" pitchFamily="34" charset="0"/>
              </a:rPr>
              <a:t>main</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2F7D0F02-2660-66A9-3AE7-462A6F23E867}"/>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805D8A2C-8D3D-F511-8E36-55AFB726E181}"/>
              </a:ext>
            </a:extLst>
          </p:cNvPr>
          <p:cNvPicPr>
            <a:picLocks noChangeAspect="1"/>
          </p:cNvPicPr>
          <p:nvPr/>
        </p:nvPicPr>
        <p:blipFill>
          <a:blip r:embed="rId3"/>
          <a:stretch>
            <a:fillRect/>
          </a:stretch>
        </p:blipFill>
        <p:spPr>
          <a:xfrm>
            <a:off x="0" y="3674982"/>
            <a:ext cx="4079639" cy="3003681"/>
          </a:xfrm>
          <a:prstGeom prst="rect">
            <a:avLst/>
          </a:prstGeom>
        </p:spPr>
      </p:pic>
      <p:grpSp>
        <p:nvGrpSpPr>
          <p:cNvPr id="17" name="Group 16">
            <a:extLst>
              <a:ext uri="{FF2B5EF4-FFF2-40B4-BE49-F238E27FC236}">
                <a16:creationId xmlns:a16="http://schemas.microsoft.com/office/drawing/2014/main" id="{3646093D-E689-1513-7D9A-357D3FF598B6}"/>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7F1F8723-CF4C-9040-5222-2252423086AC}"/>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95349902-1D71-EAF8-B63B-81AB828D2CCC}"/>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5F8399F2-49EC-BED3-1EFB-CF968EB9F712}"/>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2FF1DB74-34FC-3D61-8C43-60EB543E211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18</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4C839843-78C5-ED73-1BA8-A6A28FE98328}"/>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C7226CFF-EA58-D331-1CD7-89586C21AB86}"/>
              </a:ext>
            </a:extLst>
          </p:cNvPr>
          <p:cNvSpPr txBox="1">
            <a:spLocks/>
          </p:cNvSpPr>
          <p:nvPr/>
        </p:nvSpPr>
        <p:spPr bwMode="auto">
          <a:xfrm>
            <a:off x="-1" y="1023668"/>
            <a:ext cx="6238569" cy="2576340"/>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dirty="0">
                <a:solidFill>
                  <a:srgbClr val="F9853D"/>
                </a:solidFill>
                <a:latin typeface="Bahnschrift" panose="020B0502040204020203" pitchFamily="34" charset="0"/>
              </a:rPr>
              <a:t>Δράση </a:t>
            </a:r>
            <a:r>
              <a:rPr lang="en-US" sz="2000" b="1" dirty="0">
                <a:solidFill>
                  <a:srgbClr val="F9853D"/>
                </a:solidFill>
                <a:latin typeface="Bahnschrift" panose="020B0502040204020203" pitchFamily="34" charset="0"/>
              </a:rPr>
              <a:t>8</a:t>
            </a:r>
            <a:r>
              <a:rPr lang="el-GR" sz="2000" b="1" dirty="0">
                <a:solidFill>
                  <a:srgbClr val="F9853D"/>
                </a:solidFill>
                <a:latin typeface="Bahnschrift" panose="020B0502040204020203" pitchFamily="34" charset="0"/>
              </a:rPr>
              <a:t>-4   1η έκδοση-Ορισμός δομής της </a:t>
            </a:r>
            <a:r>
              <a:rPr lang="el-GR" sz="2000" b="1" dirty="0" err="1">
                <a:solidFill>
                  <a:srgbClr val="F9853D"/>
                </a:solidFill>
                <a:latin typeface="Bahnschrift" panose="020B0502040204020203" pitchFamily="34" charset="0"/>
              </a:rPr>
              <a:t>main</a:t>
            </a:r>
            <a:endParaRPr lang="en-US" sz="2000" b="1" kern="0" dirty="0">
              <a:solidFill>
                <a:srgbClr val="000000"/>
              </a:solidFill>
              <a:latin typeface="Tahoma"/>
            </a:endParaRPr>
          </a:p>
          <a:p>
            <a:pPr marL="0" indent="0">
              <a:buClr>
                <a:srgbClr val="3333CC"/>
              </a:buClr>
              <a:buNone/>
              <a:defRPr/>
            </a:pPr>
            <a:r>
              <a:rPr lang="el-GR" sz="1600" b="1" kern="0" dirty="0">
                <a:solidFill>
                  <a:srgbClr val="000000"/>
                </a:solidFill>
                <a:latin typeface="Tahoma"/>
              </a:rPr>
              <a:t>Διαμορφώστε το σώμα της </a:t>
            </a:r>
            <a:r>
              <a:rPr lang="el-GR" sz="1600" b="1" kern="0" dirty="0" err="1">
                <a:solidFill>
                  <a:srgbClr val="000000"/>
                </a:solidFill>
                <a:latin typeface="Tahoma"/>
              </a:rPr>
              <a:t>main</a:t>
            </a:r>
            <a:r>
              <a:rPr lang="el-GR" sz="1600" kern="0" dirty="0">
                <a:solidFill>
                  <a:srgbClr val="000000"/>
                </a:solidFill>
                <a:latin typeface="Tahoma"/>
              </a:rPr>
              <a:t>. </a:t>
            </a:r>
            <a:endParaRPr lang="en-US" sz="1600" kern="0" dirty="0">
              <a:solidFill>
                <a:srgbClr val="000000"/>
              </a:solidFill>
              <a:latin typeface="Tahoma"/>
            </a:endParaRPr>
          </a:p>
          <a:p>
            <a:pPr marL="0" indent="0">
              <a:buClr>
                <a:srgbClr val="3333CC"/>
              </a:buClr>
              <a:buNone/>
              <a:defRPr/>
            </a:pPr>
            <a:r>
              <a:rPr lang="el-GR" sz="1600" kern="0" dirty="0">
                <a:solidFill>
                  <a:srgbClr val="000000"/>
                </a:solidFill>
                <a:latin typeface="Tahoma"/>
              </a:rPr>
              <a:t>Το βασικό έργο στη φάση αυτή είναι η αναγνώριση των συναρτήσεων που θα υλοποιούν τις βασικές υπηρεσίες που θα προσφέρει το πρόγραμμα και η απόδοση κατάλληλων ονομάτων που θα κάνουν το πρόγραμμα ευανάγνωστο. </a:t>
            </a:r>
            <a:endParaRPr lang="en-US" sz="1600" kern="0" dirty="0">
              <a:solidFill>
                <a:srgbClr val="000000"/>
              </a:solidFill>
              <a:latin typeface="Tahoma"/>
            </a:endParaRPr>
          </a:p>
          <a:p>
            <a:pPr marL="0" indent="0">
              <a:buClr>
                <a:srgbClr val="3333CC"/>
              </a:buClr>
              <a:buNone/>
              <a:defRPr/>
            </a:pPr>
            <a:r>
              <a:rPr lang="el-GR" sz="1600" b="1" kern="0" dirty="0">
                <a:solidFill>
                  <a:srgbClr val="000000"/>
                </a:solidFill>
                <a:latin typeface="Tahoma"/>
              </a:rPr>
              <a:t>Κάντε ένα πλάνο των εκδόσεων </a:t>
            </a:r>
            <a:r>
              <a:rPr lang="el-GR" sz="1600" kern="0" dirty="0">
                <a:solidFill>
                  <a:srgbClr val="000000"/>
                </a:solidFill>
                <a:latin typeface="Tahoma"/>
              </a:rPr>
              <a:t>που θα αναπτύξετε με βάση την αυξητική ανάπτυξη. Κάθε έκδοση θα υλοποιεί ένα μέρος της λειτουργικότητας το προγράμματος. </a:t>
            </a:r>
            <a:endParaRPr lang="en-US" sz="105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02E0EB17-3176-6A9F-0845-2913982A3EF8}"/>
              </a:ext>
            </a:extLst>
          </p:cNvPr>
          <p:cNvSpPr/>
          <p:nvPr/>
        </p:nvSpPr>
        <p:spPr>
          <a:xfrm>
            <a:off x="1816696" y="3798641"/>
            <a:ext cx="4877818" cy="599681"/>
          </a:xfrm>
          <a:prstGeom prst="wedgeRoundRectCallout">
            <a:avLst>
              <a:gd name="adj1" fmla="val -58179"/>
              <a:gd name="adj2" fmla="val 143422"/>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Διαμορφώστε το σώμα της </a:t>
            </a:r>
            <a:r>
              <a:rPr lang="el-GR" sz="2400" b="1" dirty="0" err="1">
                <a:solidFill>
                  <a:schemeClr val="bg1"/>
                </a:solidFill>
              </a:rPr>
              <a:t>main</a:t>
            </a:r>
            <a:r>
              <a:rPr lang="el-GR" sz="2400" b="1" dirty="0">
                <a:solidFill>
                  <a:schemeClr val="bg1"/>
                </a:solidFill>
              </a:rPr>
              <a:t>.</a:t>
            </a:r>
            <a:endParaRPr lang="en-GB" sz="2400" b="1" dirty="0">
              <a:solidFill>
                <a:schemeClr val="bg1"/>
              </a:solidFill>
              <a:highlight>
                <a:srgbClr val="FFFF00"/>
              </a:highlight>
            </a:endParaRPr>
          </a:p>
        </p:txBody>
      </p:sp>
      <p:pic>
        <p:nvPicPr>
          <p:cNvPr id="4" name="Picture 3" descr="A screenshot of a computer program&#10;&#10;AI-generated content may be incorrect.">
            <a:extLst>
              <a:ext uri="{FF2B5EF4-FFF2-40B4-BE49-F238E27FC236}">
                <a16:creationId xmlns:a16="http://schemas.microsoft.com/office/drawing/2014/main" id="{677DA247-9399-2393-A66F-4A4EC7F61C63}"/>
              </a:ext>
            </a:extLst>
          </p:cNvPr>
          <p:cNvPicPr>
            <a:picLocks noChangeAspect="1"/>
          </p:cNvPicPr>
          <p:nvPr/>
        </p:nvPicPr>
        <p:blipFill>
          <a:blip r:embed="rId4"/>
          <a:stretch>
            <a:fillRect/>
          </a:stretch>
        </p:blipFill>
        <p:spPr>
          <a:xfrm>
            <a:off x="6414534" y="1008921"/>
            <a:ext cx="5636797" cy="5011346"/>
          </a:xfrm>
          <a:prstGeom prst="rect">
            <a:avLst/>
          </a:prstGeom>
        </p:spPr>
      </p:pic>
    </p:spTree>
    <p:extLst>
      <p:ext uri="{BB962C8B-B14F-4D97-AF65-F5344CB8AC3E}">
        <p14:creationId xmlns:p14="http://schemas.microsoft.com/office/powerpoint/2010/main" val="266025095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0A5C2-4BC8-9561-FDB0-04BC406DA90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69542523-8774-243D-CE44-C552C24335FF}"/>
              </a:ext>
            </a:extLst>
          </p:cNvPr>
          <p:cNvSpPr>
            <a:spLocks noGrp="1"/>
          </p:cNvSpPr>
          <p:nvPr>
            <p:ph type="title" idx="4294967295"/>
          </p:nvPr>
        </p:nvSpPr>
        <p:spPr>
          <a:xfrm>
            <a:off x="0" y="0"/>
            <a:ext cx="12191999" cy="908050"/>
          </a:xfrm>
          <a:prstGeom prst="rect">
            <a:avLst/>
          </a:prstGeom>
          <a:solidFill>
            <a:srgbClr val="FDCBAD"/>
          </a:solidFill>
        </p:spPr>
        <p:txBody>
          <a:bodyPr>
            <a:normAutofit/>
          </a:bodyPr>
          <a:lstStyle/>
          <a:p>
            <a:r>
              <a:rPr lang="el-GR" b="1" dirty="0">
                <a:solidFill>
                  <a:srgbClr val="F9853D"/>
                </a:solidFill>
                <a:latin typeface="Bahnschrift" panose="020B0502040204020203" pitchFamily="34" charset="0"/>
              </a:rPr>
              <a:t>Πλάνο εκδόσεων</a:t>
            </a:r>
            <a:endParaRPr lang="en-GB"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641D93AF-C2D7-FA71-9F47-1ED8A3F2364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EE64120F-D5BB-4AB1-FD38-E0AD24794DE0}"/>
              </a:ext>
            </a:extLst>
          </p:cNvPr>
          <p:cNvPicPr>
            <a:picLocks noChangeAspect="1"/>
          </p:cNvPicPr>
          <p:nvPr/>
        </p:nvPicPr>
        <p:blipFill>
          <a:blip r:embed="rId3"/>
          <a:stretch>
            <a:fillRect/>
          </a:stretch>
        </p:blipFill>
        <p:spPr>
          <a:xfrm>
            <a:off x="-1" y="3429000"/>
            <a:ext cx="2993923" cy="2204310"/>
          </a:xfrm>
          <a:prstGeom prst="rect">
            <a:avLst/>
          </a:prstGeom>
        </p:spPr>
      </p:pic>
      <p:grpSp>
        <p:nvGrpSpPr>
          <p:cNvPr id="17" name="Group 16">
            <a:extLst>
              <a:ext uri="{FF2B5EF4-FFF2-40B4-BE49-F238E27FC236}">
                <a16:creationId xmlns:a16="http://schemas.microsoft.com/office/drawing/2014/main" id="{2DBB218C-FFE6-BA29-3F16-A2582307AB0D}"/>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B2CDD451-914A-891B-591A-DEA697C39120}"/>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227DF382-0E1C-9E43-E2A0-421439EBE860}"/>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C9CDD24F-8552-F503-7B44-5DCB5F21FA3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E56F06AB-61D8-64F3-A551-39B852A4926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19</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7D0E8E10-D939-BE11-4EB8-68FAC0ADF8AD}"/>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4E07D551-DCE7-4D85-4D84-F8DB4B456ED3}"/>
              </a:ext>
            </a:extLst>
          </p:cNvPr>
          <p:cNvSpPr txBox="1">
            <a:spLocks/>
          </p:cNvSpPr>
          <p:nvPr/>
        </p:nvSpPr>
        <p:spPr bwMode="auto">
          <a:xfrm>
            <a:off x="-1" y="1023668"/>
            <a:ext cx="12051332" cy="1552685"/>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dirty="0">
                <a:solidFill>
                  <a:srgbClr val="F9853D"/>
                </a:solidFill>
                <a:latin typeface="Bahnschrift" panose="020B0502040204020203" pitchFamily="34" charset="0"/>
              </a:rPr>
              <a:t>Δράση </a:t>
            </a:r>
            <a:r>
              <a:rPr lang="en-US" sz="2000" b="1" dirty="0">
                <a:solidFill>
                  <a:srgbClr val="F9853D"/>
                </a:solidFill>
                <a:latin typeface="Bahnschrift" panose="020B0502040204020203" pitchFamily="34" charset="0"/>
              </a:rPr>
              <a:t>8</a:t>
            </a:r>
            <a:r>
              <a:rPr lang="el-GR" sz="2000" b="1" dirty="0">
                <a:solidFill>
                  <a:srgbClr val="F9853D"/>
                </a:solidFill>
                <a:latin typeface="Bahnschrift" panose="020B0502040204020203" pitchFamily="34" charset="0"/>
              </a:rPr>
              <a:t>-4   1η έκδοση-Ορισμός δομής της </a:t>
            </a:r>
            <a:r>
              <a:rPr lang="el-GR" sz="2000" b="1" dirty="0" err="1">
                <a:solidFill>
                  <a:srgbClr val="F9853D"/>
                </a:solidFill>
                <a:latin typeface="Bahnschrift" panose="020B0502040204020203" pitchFamily="34" charset="0"/>
              </a:rPr>
              <a:t>main</a:t>
            </a:r>
            <a:endParaRPr lang="en-US" sz="2000" b="1" kern="0" dirty="0">
              <a:solidFill>
                <a:srgbClr val="000000"/>
              </a:solidFill>
              <a:latin typeface="Tahoma"/>
            </a:endParaRPr>
          </a:p>
          <a:p>
            <a:pPr marL="0" indent="0">
              <a:buClr>
                <a:srgbClr val="3333CC"/>
              </a:buClr>
              <a:buNone/>
              <a:defRPr/>
            </a:pPr>
            <a:r>
              <a:rPr lang="el-GR" sz="1600" b="1" kern="0" dirty="0">
                <a:solidFill>
                  <a:srgbClr val="000000"/>
                </a:solidFill>
                <a:latin typeface="Tahoma"/>
              </a:rPr>
              <a:t>Διαμορφώστε το σώμα της </a:t>
            </a:r>
            <a:r>
              <a:rPr lang="el-GR" sz="1600" b="1" kern="0" dirty="0" err="1">
                <a:solidFill>
                  <a:srgbClr val="000000"/>
                </a:solidFill>
                <a:latin typeface="Tahoma"/>
              </a:rPr>
              <a:t>main</a:t>
            </a:r>
            <a:r>
              <a:rPr lang="el-GR" sz="1600" kern="0" dirty="0">
                <a:solidFill>
                  <a:srgbClr val="000000"/>
                </a:solidFill>
                <a:latin typeface="Tahoma"/>
              </a:rPr>
              <a:t>. </a:t>
            </a:r>
            <a:endParaRPr lang="en-US" sz="1600" kern="0" dirty="0">
              <a:solidFill>
                <a:srgbClr val="000000"/>
              </a:solidFill>
              <a:latin typeface="Tahoma"/>
            </a:endParaRPr>
          </a:p>
          <a:p>
            <a:pPr marL="0" indent="0">
              <a:buClr>
                <a:srgbClr val="3333CC"/>
              </a:buClr>
              <a:buNone/>
              <a:defRPr/>
            </a:pPr>
            <a:r>
              <a:rPr lang="el-GR" sz="1600" kern="0" dirty="0">
                <a:solidFill>
                  <a:srgbClr val="000000"/>
                </a:solidFill>
                <a:latin typeface="Tahoma"/>
              </a:rPr>
              <a:t>….</a:t>
            </a:r>
            <a:endParaRPr lang="en-US" sz="1600" kern="0" dirty="0">
              <a:solidFill>
                <a:srgbClr val="000000"/>
              </a:solidFill>
              <a:latin typeface="Tahoma"/>
            </a:endParaRPr>
          </a:p>
          <a:p>
            <a:pPr marL="0" indent="0">
              <a:buClr>
                <a:srgbClr val="3333CC"/>
              </a:buClr>
              <a:buNone/>
              <a:defRPr/>
            </a:pPr>
            <a:r>
              <a:rPr lang="el-GR" sz="1600" b="1" kern="0" dirty="0">
                <a:solidFill>
                  <a:srgbClr val="000000"/>
                </a:solidFill>
                <a:latin typeface="Tahoma"/>
              </a:rPr>
              <a:t>Κάντε ένα πλάνο των εκδόσεων </a:t>
            </a:r>
            <a:r>
              <a:rPr lang="el-GR" sz="1600" kern="0" dirty="0">
                <a:solidFill>
                  <a:srgbClr val="000000"/>
                </a:solidFill>
                <a:latin typeface="Tahoma"/>
              </a:rPr>
              <a:t>που θα αναπτύξετε με βάση την αυξητική ανάπτυξη. Κάθε έκδοση θα υλοποιεί ένα μέρος της λειτουργικότητας το προγράμματος. </a:t>
            </a:r>
            <a:endParaRPr lang="en-US" sz="1050" kern="0" dirty="0">
              <a:solidFill>
                <a:srgbClr val="000000"/>
              </a:solidFill>
              <a:latin typeface="Tahoma"/>
            </a:endParaRPr>
          </a:p>
        </p:txBody>
      </p:sp>
      <p:sp>
        <p:nvSpPr>
          <p:cNvPr id="6" name="TextBox 5">
            <a:extLst>
              <a:ext uri="{FF2B5EF4-FFF2-40B4-BE49-F238E27FC236}">
                <a16:creationId xmlns:a16="http://schemas.microsoft.com/office/drawing/2014/main" id="{065C3517-2E13-7164-6860-3DD9874CD163}"/>
              </a:ext>
            </a:extLst>
          </p:cNvPr>
          <p:cNvSpPr txBox="1"/>
          <p:nvPr/>
        </p:nvSpPr>
        <p:spPr>
          <a:xfrm>
            <a:off x="3169019" y="3301227"/>
            <a:ext cx="8882312" cy="2677656"/>
          </a:xfrm>
          <a:prstGeom prst="rect">
            <a:avLst/>
          </a:prstGeom>
          <a:solidFill>
            <a:srgbClr val="92D050"/>
          </a:solidFill>
        </p:spPr>
        <p:txBody>
          <a:bodyPr wrap="square">
            <a:spAutoFit/>
          </a:bodyPr>
          <a:lstStyle/>
          <a:p>
            <a:pPr indent="182880" algn="just">
              <a:buNone/>
            </a:pPr>
            <a:r>
              <a:rPr lang="el-GR"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Σας προτείνουμε τις παρακάτω εκδόσεις:</a:t>
            </a:r>
            <a:endParaRPr lang="en-GB"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endParaRPr>
          </a:p>
          <a:p>
            <a:pPr marL="457200" lvl="0" indent="-457200" algn="just">
              <a:buFont typeface="Wingdings" panose="05000000000000000000" pitchFamily="2" charset="2"/>
              <a:buChar char="Ø"/>
            </a:pP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2</a:t>
            </a:r>
            <a:r>
              <a:rPr lang="el-GR" sz="2800" b="1" baseline="300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η</a:t>
            </a: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έκδοση</a:t>
            </a:r>
            <a:r>
              <a:rPr lang="el-GR"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Εισαγωγή λέξης και εμφάνιση λίστας λέξεων</a:t>
            </a:r>
            <a:endParaRPr lang="en-GB"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endParaRPr>
          </a:p>
          <a:p>
            <a:pPr marL="457200" lvl="0" indent="-457200" algn="just">
              <a:buFont typeface="Wingdings" panose="05000000000000000000" pitchFamily="2" charset="2"/>
              <a:buChar char="Ø"/>
            </a:pP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3</a:t>
            </a:r>
            <a:r>
              <a:rPr lang="el-GR" sz="2800" b="1" baseline="300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η</a:t>
            </a: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έκδοση</a:t>
            </a:r>
            <a:r>
              <a:rPr lang="el-GR"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Ταξινόμηση λίστας λέξεων και αναζήτηση λέξης</a:t>
            </a:r>
            <a:endParaRPr lang="en-GB"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endParaRPr>
          </a:p>
          <a:p>
            <a:pPr marL="457200" lvl="0" indent="-457200" algn="just">
              <a:buFont typeface="Wingdings" panose="05000000000000000000" pitchFamily="2" charset="2"/>
              <a:buChar char="Ø"/>
            </a:pP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4</a:t>
            </a:r>
            <a:r>
              <a:rPr lang="el-GR" sz="2800" b="1" baseline="300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η</a:t>
            </a: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έκδοση</a:t>
            </a:r>
            <a:r>
              <a:rPr lang="el-GR"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Στατιστικά λέξης</a:t>
            </a:r>
            <a:endParaRPr lang="en-GB"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endParaRPr>
          </a:p>
          <a:p>
            <a:pPr marL="457200" lvl="0" indent="-457200" algn="just">
              <a:buFont typeface="Wingdings" panose="05000000000000000000" pitchFamily="2" charset="2"/>
              <a:buChar char="Ø"/>
            </a:pP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5</a:t>
            </a:r>
            <a:r>
              <a:rPr lang="el-GR" sz="2800" b="1" baseline="300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η</a:t>
            </a:r>
            <a:r>
              <a:rPr lang="el-GR" sz="28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έκδοση</a:t>
            </a:r>
            <a:r>
              <a:rPr lang="el-GR"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Στατιστικά χαρακτήρα</a:t>
            </a:r>
            <a:endParaRPr lang="en-GB" sz="2800" dirty="0">
              <a:solidFill>
                <a:srgbClr val="202122"/>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Speech Bubble: Rectangle with Corners Rounded 7">
            <a:extLst>
              <a:ext uri="{FF2B5EF4-FFF2-40B4-BE49-F238E27FC236}">
                <a16:creationId xmlns:a16="http://schemas.microsoft.com/office/drawing/2014/main" id="{75BB12BF-C1B7-D525-6F1F-3DD004B4BAAD}"/>
              </a:ext>
            </a:extLst>
          </p:cNvPr>
          <p:cNvSpPr/>
          <p:nvPr/>
        </p:nvSpPr>
        <p:spPr>
          <a:xfrm>
            <a:off x="555013" y="2626572"/>
            <a:ext cx="4877818" cy="599681"/>
          </a:xfrm>
          <a:prstGeom prst="wedgeRoundRectCallout">
            <a:avLst>
              <a:gd name="adj1" fmla="val -58179"/>
              <a:gd name="adj2" fmla="val 143422"/>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bg1"/>
                </a:solidFill>
              </a:rPr>
              <a:t>Κάντε ένα πλάνο των εκδόσεων </a:t>
            </a:r>
            <a:endParaRPr lang="en-GB" sz="2400" b="1" dirty="0">
              <a:solidFill>
                <a:schemeClr val="bg1"/>
              </a:solidFill>
              <a:highlight>
                <a:srgbClr val="FFFF00"/>
              </a:highlight>
            </a:endParaRPr>
          </a:p>
        </p:txBody>
      </p:sp>
    </p:spTree>
    <p:extLst>
      <p:ext uri="{BB962C8B-B14F-4D97-AF65-F5344CB8AC3E}">
        <p14:creationId xmlns:p14="http://schemas.microsoft.com/office/powerpoint/2010/main" val="28226107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2D190-2DE9-6506-31F6-342047F6C5A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80498F7-427B-F3D3-7ED6-CA7FF000AE09}"/>
              </a:ext>
            </a:extLst>
          </p:cNvPr>
          <p:cNvSpPr>
            <a:spLocks noGrp="1"/>
          </p:cNvSpPr>
          <p:nvPr>
            <p:ph type="title" idx="4294967295"/>
          </p:nvPr>
        </p:nvSpPr>
        <p:spPr>
          <a:xfrm>
            <a:off x="0" y="-1"/>
            <a:ext cx="12191999" cy="1023667"/>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l-GR" b="1" dirty="0">
                <a:solidFill>
                  <a:srgbClr val="F9853D"/>
                </a:solidFill>
                <a:latin typeface="Bahnschrift" panose="020B0502040204020203" pitchFamily="34" charset="0"/>
              </a:rPr>
              <a:t> 2η  έκδοση - Εισαγωγή λέξης και εμφάνιση λίστας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2A6A163D-1EDF-2A34-6F52-5491512356FE}"/>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057806BE-73B4-6068-E73F-C39AC950CF22}"/>
              </a:ext>
            </a:extLst>
          </p:cNvPr>
          <p:cNvPicPr>
            <a:picLocks noChangeAspect="1"/>
          </p:cNvPicPr>
          <p:nvPr/>
        </p:nvPicPr>
        <p:blipFill>
          <a:blip r:embed="rId3"/>
          <a:stretch>
            <a:fillRect/>
          </a:stretch>
        </p:blipFill>
        <p:spPr>
          <a:xfrm>
            <a:off x="188526" y="2937424"/>
            <a:ext cx="4079639" cy="3003681"/>
          </a:xfrm>
          <a:prstGeom prst="rect">
            <a:avLst/>
          </a:prstGeom>
        </p:spPr>
      </p:pic>
      <p:grpSp>
        <p:nvGrpSpPr>
          <p:cNvPr id="17" name="Group 16">
            <a:extLst>
              <a:ext uri="{FF2B5EF4-FFF2-40B4-BE49-F238E27FC236}">
                <a16:creationId xmlns:a16="http://schemas.microsoft.com/office/drawing/2014/main" id="{7982B0F2-0573-221D-929B-AECEC3DC63A3}"/>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90459CD7-8BCD-8E88-AADC-E38E2AA2B0B9}"/>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0A1BCBDB-B400-0E5A-FF57-28804C1DBB56}"/>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AC0A8290-FB7C-DEAF-B0CE-A272CDF7638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48B53041-3C23-F135-403E-361C7A7FF02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20</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D5415E7E-B2FB-5393-B192-EE6CADB8BD5F}"/>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8B79AC45-C4BA-7385-D826-568179133A95}"/>
              </a:ext>
            </a:extLst>
          </p:cNvPr>
          <p:cNvSpPr txBox="1">
            <a:spLocks/>
          </p:cNvSpPr>
          <p:nvPr/>
        </p:nvSpPr>
        <p:spPr bwMode="auto">
          <a:xfrm>
            <a:off x="-1" y="1225589"/>
            <a:ext cx="12191999" cy="1395068"/>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-5   2η  έκδοση - Εισαγωγή λέξης και εμφάνιση λίστας </a:t>
            </a:r>
          </a:p>
          <a:p>
            <a:pPr marL="0" indent="0">
              <a:buClr>
                <a:srgbClr val="3333CC"/>
              </a:buClr>
              <a:buNone/>
              <a:defRPr/>
            </a:pPr>
            <a:r>
              <a:rPr lang="el-GR" sz="2400" kern="0" dirty="0">
                <a:solidFill>
                  <a:srgbClr val="000000"/>
                </a:solidFill>
                <a:latin typeface="Tahoma"/>
              </a:rPr>
              <a:t>Υλοποιήστε τη λειτουργικότητα εισαγωγής λέξεων στη λίστα και την εμφάνιση της λίστας των λέξεων. </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F260009E-0B15-60B6-C5BC-8B4C713F2F77}"/>
              </a:ext>
            </a:extLst>
          </p:cNvPr>
          <p:cNvSpPr/>
          <p:nvPr/>
        </p:nvSpPr>
        <p:spPr>
          <a:xfrm>
            <a:off x="5501147" y="3199471"/>
            <a:ext cx="4462507" cy="1395068"/>
          </a:xfrm>
          <a:prstGeom prst="wedgeRoundRectCallout">
            <a:avLst>
              <a:gd name="adj1" fmla="val -59388"/>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Δηλώστε και Ορίστε τις  συναρτήσεις </a:t>
            </a:r>
            <a:r>
              <a:rPr lang="en-US" sz="2800" b="1" dirty="0" err="1">
                <a:solidFill>
                  <a:schemeClr val="tx1"/>
                </a:solidFill>
              </a:rPr>
              <a:t>addWord</a:t>
            </a:r>
            <a:r>
              <a:rPr lang="en-US" sz="2800" b="1" dirty="0">
                <a:solidFill>
                  <a:schemeClr val="bg1"/>
                </a:solidFill>
              </a:rPr>
              <a:t> </a:t>
            </a:r>
            <a:r>
              <a:rPr lang="el-GR" sz="2800" b="1" dirty="0">
                <a:solidFill>
                  <a:schemeClr val="bg1"/>
                </a:solidFill>
              </a:rPr>
              <a:t>και </a:t>
            </a:r>
            <a:r>
              <a:rPr lang="en-US" sz="2800" b="1" dirty="0" err="1">
                <a:solidFill>
                  <a:schemeClr val="tx1"/>
                </a:solidFill>
              </a:rPr>
              <a:t>displayWords</a:t>
            </a:r>
            <a:endParaRPr lang="en-GB" sz="2800" b="1" dirty="0">
              <a:solidFill>
                <a:schemeClr val="tx1"/>
              </a:solidFill>
              <a:highlight>
                <a:srgbClr val="FFFF00"/>
              </a:highlight>
            </a:endParaRPr>
          </a:p>
        </p:txBody>
      </p:sp>
    </p:spTree>
    <p:extLst>
      <p:ext uri="{BB962C8B-B14F-4D97-AF65-F5344CB8AC3E}">
        <p14:creationId xmlns:p14="http://schemas.microsoft.com/office/powerpoint/2010/main" val="383631521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54556-9DC4-660C-3D5D-68441D5F8E9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12626070-98B8-CFCD-6819-12FD518A1173}"/>
              </a:ext>
            </a:extLst>
          </p:cNvPr>
          <p:cNvSpPr>
            <a:spLocks noGrp="1"/>
          </p:cNvSpPr>
          <p:nvPr>
            <p:ph type="title" idx="4294967295"/>
          </p:nvPr>
        </p:nvSpPr>
        <p:spPr>
          <a:xfrm>
            <a:off x="0" y="-1"/>
            <a:ext cx="12191999" cy="774167"/>
          </a:xfrm>
          <a:prstGeom prst="rect">
            <a:avLst/>
          </a:prstGeom>
          <a:solidFill>
            <a:srgbClr val="FDCBAD"/>
          </a:solidFill>
        </p:spPr>
        <p:txBody>
          <a:bodyPr>
            <a:normAutofit fontScale="90000"/>
          </a:bodyPr>
          <a:lstStyle/>
          <a:p>
            <a:r>
              <a:rPr lang="el-GR" b="1" dirty="0">
                <a:solidFill>
                  <a:srgbClr val="F9853D"/>
                </a:solidFill>
                <a:latin typeface="Bahnschrift" panose="020B0502040204020203" pitchFamily="34" charset="0"/>
              </a:rPr>
              <a:t>2η  έκδοση - Εισαγωγή λέξης και εμφάνιση λίστας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E2806656-B5FE-A494-24F6-9C5F529DB2C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44F9D3DA-0EB9-E148-C7C4-A8D7A6CEAB11}"/>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111CD068-44C4-FB42-F35C-E1D68B70A809}"/>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0E3ED9AF-8613-7602-6BAC-9375471AF882}"/>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0AD9E7F9-21A8-BAE3-6501-FE9C72E994F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9B0D6EF6-C269-1C7D-F4F8-73AC7709A1F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21</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26E472FE-5DBF-0D99-F821-8AA6F58355A9}"/>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A0718B56-6C2D-F06B-1B8A-5002054C9075}"/>
              </a:ext>
            </a:extLst>
          </p:cNvPr>
          <p:cNvSpPr txBox="1">
            <a:spLocks/>
          </p:cNvSpPr>
          <p:nvPr/>
        </p:nvSpPr>
        <p:spPr bwMode="auto">
          <a:xfrm>
            <a:off x="1" y="1069382"/>
            <a:ext cx="12191999" cy="774166"/>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dirty="0">
                <a:solidFill>
                  <a:srgbClr val="F9853D"/>
                </a:solidFill>
                <a:latin typeface="Bahnschrift" panose="020B0502040204020203" pitchFamily="34" charset="0"/>
              </a:rPr>
              <a:t>Δράση </a:t>
            </a:r>
            <a:r>
              <a:rPr lang="en-US" sz="2000" b="1" dirty="0">
                <a:solidFill>
                  <a:srgbClr val="F9853D"/>
                </a:solidFill>
                <a:latin typeface="Bahnschrift" panose="020B0502040204020203" pitchFamily="34" charset="0"/>
              </a:rPr>
              <a:t>8</a:t>
            </a:r>
            <a:r>
              <a:rPr lang="el-GR" sz="2000" b="1" dirty="0">
                <a:solidFill>
                  <a:srgbClr val="F9853D"/>
                </a:solidFill>
                <a:latin typeface="Bahnschrift" panose="020B0502040204020203" pitchFamily="34" charset="0"/>
              </a:rPr>
              <a:t>-5   2η  έκδοση - Εισαγωγή λέξης και εμφάνιση λίστας </a:t>
            </a:r>
          </a:p>
          <a:p>
            <a:pPr marL="0" indent="0">
              <a:buClr>
                <a:srgbClr val="3333CC"/>
              </a:buClr>
              <a:buNone/>
              <a:defRPr/>
            </a:pPr>
            <a:r>
              <a:rPr lang="el-GR" sz="1600" kern="0" dirty="0">
                <a:solidFill>
                  <a:srgbClr val="000000"/>
                </a:solidFill>
                <a:latin typeface="Tahoma"/>
              </a:rPr>
              <a:t>Υλοποιήστε τη λειτουργικότητα εισαγωγής λέξεων στη λίστα και την εμφάνιση της λίστας των λέξεων. </a:t>
            </a:r>
            <a:endParaRPr lang="en-US" sz="1050" kern="0" dirty="0">
              <a:solidFill>
                <a:srgbClr val="000000"/>
              </a:solidFill>
              <a:latin typeface="Tahoma"/>
            </a:endParaRPr>
          </a:p>
        </p:txBody>
      </p:sp>
      <p:pic>
        <p:nvPicPr>
          <p:cNvPr id="4" name="Picture 3" descr="A screenshot of a computer program&#10;&#10;AI-generated content may be incorrect.">
            <a:extLst>
              <a:ext uri="{FF2B5EF4-FFF2-40B4-BE49-F238E27FC236}">
                <a16:creationId xmlns:a16="http://schemas.microsoft.com/office/drawing/2014/main" id="{9E718209-AD6E-270C-4AAD-0530D1E542CF}"/>
              </a:ext>
            </a:extLst>
          </p:cNvPr>
          <p:cNvPicPr>
            <a:picLocks noChangeAspect="1"/>
          </p:cNvPicPr>
          <p:nvPr/>
        </p:nvPicPr>
        <p:blipFill>
          <a:blip r:embed="rId3"/>
          <a:stretch>
            <a:fillRect/>
          </a:stretch>
        </p:blipFill>
        <p:spPr>
          <a:xfrm>
            <a:off x="246449" y="1918522"/>
            <a:ext cx="8198146" cy="4581143"/>
          </a:xfrm>
          <a:prstGeom prst="rect">
            <a:avLst/>
          </a:prstGeom>
        </p:spPr>
      </p:pic>
      <p:sp>
        <p:nvSpPr>
          <p:cNvPr id="5" name="Arrow: Left 4">
            <a:extLst>
              <a:ext uri="{FF2B5EF4-FFF2-40B4-BE49-F238E27FC236}">
                <a16:creationId xmlns:a16="http://schemas.microsoft.com/office/drawing/2014/main" id="{0F2B8245-A08E-1EBA-3AA2-E3E0D4BA732A}"/>
              </a:ext>
            </a:extLst>
          </p:cNvPr>
          <p:cNvSpPr/>
          <p:nvPr/>
        </p:nvSpPr>
        <p:spPr>
          <a:xfrm rot="1882982">
            <a:off x="4315263" y="4282803"/>
            <a:ext cx="1215317" cy="225203"/>
          </a:xfrm>
          <a:prstGeom prst="leftArrow">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Left 5">
            <a:extLst>
              <a:ext uri="{FF2B5EF4-FFF2-40B4-BE49-F238E27FC236}">
                <a16:creationId xmlns:a16="http://schemas.microsoft.com/office/drawing/2014/main" id="{35CC1728-0638-0F26-076A-6FC438FBEC22}"/>
              </a:ext>
            </a:extLst>
          </p:cNvPr>
          <p:cNvSpPr/>
          <p:nvPr/>
        </p:nvSpPr>
        <p:spPr>
          <a:xfrm rot="1882982">
            <a:off x="8321111" y="2614540"/>
            <a:ext cx="1215317" cy="225203"/>
          </a:xfrm>
          <a:prstGeom prst="leftArrow">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Left 7">
            <a:extLst>
              <a:ext uri="{FF2B5EF4-FFF2-40B4-BE49-F238E27FC236}">
                <a16:creationId xmlns:a16="http://schemas.microsoft.com/office/drawing/2014/main" id="{84019A14-2630-F35D-C523-10BBB5F4503A}"/>
              </a:ext>
            </a:extLst>
          </p:cNvPr>
          <p:cNvSpPr/>
          <p:nvPr/>
        </p:nvSpPr>
        <p:spPr>
          <a:xfrm rot="543411">
            <a:off x="4653677" y="2739925"/>
            <a:ext cx="1215317" cy="225203"/>
          </a:xfrm>
          <a:prstGeom prst="leftArrow">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1302764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72BA9-A150-6DDE-D11E-5DEC729E4A54}"/>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218D0CB-A25A-5C58-777E-EB8734B31839}"/>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l-GR" b="1" dirty="0">
                <a:solidFill>
                  <a:srgbClr val="F9853D"/>
                </a:solidFill>
                <a:latin typeface="Bahnschrift" panose="020B0502040204020203" pitchFamily="34" charset="0"/>
              </a:rPr>
              <a:t> 3η έκδοση - Ταξινόμηση και Αναζήτηση</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01DD3B6D-C882-AEA9-AC5B-B4269C273A5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58D67BC1-5D9E-2525-25A9-CAB8BF36C8A3}"/>
              </a:ext>
            </a:extLst>
          </p:cNvPr>
          <p:cNvPicPr>
            <a:picLocks noChangeAspect="1"/>
          </p:cNvPicPr>
          <p:nvPr/>
        </p:nvPicPr>
        <p:blipFill>
          <a:blip r:embed="rId3"/>
          <a:stretch>
            <a:fillRect/>
          </a:stretch>
        </p:blipFill>
        <p:spPr>
          <a:xfrm>
            <a:off x="188527" y="3810760"/>
            <a:ext cx="3652106" cy="2688905"/>
          </a:xfrm>
          <a:prstGeom prst="rect">
            <a:avLst/>
          </a:prstGeom>
        </p:spPr>
      </p:pic>
      <p:grpSp>
        <p:nvGrpSpPr>
          <p:cNvPr id="17" name="Group 16">
            <a:extLst>
              <a:ext uri="{FF2B5EF4-FFF2-40B4-BE49-F238E27FC236}">
                <a16:creationId xmlns:a16="http://schemas.microsoft.com/office/drawing/2014/main" id="{8981D95D-3FFC-B5A8-DF68-D1402B05D699}"/>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F8749F92-D867-8197-9EC8-DE3374072A92}"/>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D85A21A9-FC54-187F-12B3-0DE0E0E5D082}"/>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B395295B-EDB2-062A-08A2-42E0BC873F5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287698F8-1823-4B97-DB47-1FD32C4D9BD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22</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E2ACB0EB-A2C4-9730-A99C-9038C463E928}"/>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6CA5291E-FFEB-2A22-DAD9-84E0F313F00C}"/>
              </a:ext>
            </a:extLst>
          </p:cNvPr>
          <p:cNvSpPr txBox="1">
            <a:spLocks/>
          </p:cNvSpPr>
          <p:nvPr/>
        </p:nvSpPr>
        <p:spPr bwMode="auto">
          <a:xfrm>
            <a:off x="1" y="688467"/>
            <a:ext cx="12191999" cy="3003680"/>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-6   3η έκδοση - Ταξινόμηση και Αναζήτηση</a:t>
            </a:r>
          </a:p>
          <a:p>
            <a:pPr marL="0" indent="0">
              <a:buClr>
                <a:srgbClr val="3333CC"/>
              </a:buClr>
              <a:buNone/>
              <a:defRPr/>
            </a:pPr>
            <a:r>
              <a:rPr lang="el-GR" sz="2400" kern="0" dirty="0">
                <a:solidFill>
                  <a:srgbClr val="000000"/>
                </a:solidFill>
                <a:latin typeface="Tahoma"/>
              </a:rPr>
              <a:t>Υλοποιήστε τη λειτουργικότητα ταξινόμησης των λέξεων της λίστας και της αναζήτησης θέσης λέξης. </a:t>
            </a:r>
          </a:p>
          <a:p>
            <a:pPr marL="0" indent="0">
              <a:buClr>
                <a:srgbClr val="3333CC"/>
              </a:buClr>
              <a:buNone/>
              <a:defRPr/>
            </a:pPr>
            <a:r>
              <a:rPr lang="el-GR" sz="2400" kern="0" dirty="0">
                <a:solidFill>
                  <a:srgbClr val="000000"/>
                </a:solidFill>
                <a:latin typeface="Tahoma"/>
              </a:rPr>
              <a:t>Στη φάση αυτή χρησιμοποιήστε για την ταξινόμηση τις συναρτήσεις ταξινόμησης της βιβλιοθήκης i2p. </a:t>
            </a:r>
          </a:p>
          <a:p>
            <a:pPr marL="0" indent="0">
              <a:buClr>
                <a:srgbClr val="3333CC"/>
              </a:buClr>
              <a:buNone/>
              <a:defRPr/>
            </a:pPr>
            <a:r>
              <a:rPr lang="el-GR" sz="2400" kern="0" dirty="0">
                <a:solidFill>
                  <a:srgbClr val="000000"/>
                </a:solidFill>
                <a:latin typeface="Tahoma"/>
              </a:rPr>
              <a:t>Σε επόμενες Δραστηριότητες θα φτιάξετε τη δική σας συνάρτηση ταξινόμησης και θα έχετε την ευκαιρία να χρησιμοποιήσετε αυτές της τυπικής βιβλιοθήκης.</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836DC50A-E566-C7F0-E72D-0F919DD7B09E}"/>
              </a:ext>
            </a:extLst>
          </p:cNvPr>
          <p:cNvSpPr/>
          <p:nvPr/>
        </p:nvSpPr>
        <p:spPr>
          <a:xfrm>
            <a:off x="4984955" y="4084375"/>
            <a:ext cx="5683045" cy="1395068"/>
          </a:xfrm>
          <a:prstGeom prst="wedgeRoundRectCallout">
            <a:avLst>
              <a:gd name="adj1" fmla="val -59388"/>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Για την ταξινόμηση αξιοποιήστε τις συναρτήσεις της βιβλιοθήκης i2p</a:t>
            </a:r>
            <a:endParaRPr lang="en-GB" sz="2800" b="1" dirty="0">
              <a:solidFill>
                <a:schemeClr val="tx1"/>
              </a:solidFill>
              <a:highlight>
                <a:srgbClr val="FFFF00"/>
              </a:highlight>
            </a:endParaRPr>
          </a:p>
        </p:txBody>
      </p:sp>
    </p:spTree>
    <p:extLst>
      <p:ext uri="{BB962C8B-B14F-4D97-AF65-F5344CB8AC3E}">
        <p14:creationId xmlns:p14="http://schemas.microsoft.com/office/powerpoint/2010/main" val="236748218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2C6DB-1122-BEAB-9793-4F7E90F1AEE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46192F3-5B9F-652E-BE2F-9113F16D1C3E}"/>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l-GR" b="1" dirty="0">
                <a:solidFill>
                  <a:srgbClr val="F9853D"/>
                </a:solidFill>
                <a:latin typeface="Bahnschrift" panose="020B0502040204020203" pitchFamily="34" charset="0"/>
              </a:rPr>
              <a:t>3η έκδοση - Ταξινόμηση και Αναζήτηση</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BC8514C4-E3C5-1951-9111-34A66181248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C3EB68FA-7DB5-391E-EAD7-1E516EE3FE70}"/>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C983CDC2-27B0-D7F1-E8F5-0267AED48A58}"/>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C906BA05-1737-28C5-5337-C0DCC0B3A2DF}"/>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A6E98DE2-206C-B8AD-6D58-26AAC1F647D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06C090E8-D936-04EE-4E94-D241DC26DD3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23</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C91409DD-2BDD-2675-A8F7-9B8ECCCEFEA5}"/>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5" name="TextBox 4">
            <a:extLst>
              <a:ext uri="{FF2B5EF4-FFF2-40B4-BE49-F238E27FC236}">
                <a16:creationId xmlns:a16="http://schemas.microsoft.com/office/drawing/2014/main" id="{A7DC91B0-ADB3-F793-E2C4-95777FDFE730}"/>
              </a:ext>
            </a:extLst>
          </p:cNvPr>
          <p:cNvSpPr txBox="1"/>
          <p:nvPr/>
        </p:nvSpPr>
        <p:spPr>
          <a:xfrm>
            <a:off x="-140668" y="671531"/>
            <a:ext cx="12191999" cy="430887"/>
          </a:xfrm>
          <a:prstGeom prst="rect">
            <a:avLst/>
          </a:prstGeom>
          <a:noFill/>
        </p:spPr>
        <p:txBody>
          <a:bodyPr wrap="square">
            <a:spAutoFit/>
          </a:bodyPr>
          <a:lstStyle/>
          <a:p>
            <a:pPr indent="183515" algn="just">
              <a:spcBef>
                <a:spcPts val="600"/>
              </a:spcBef>
              <a:buNone/>
            </a:pPr>
            <a:r>
              <a:rPr lang="en-US" sz="2200" dirty="0">
                <a:solidFill>
                  <a:srgbClr val="202122"/>
                </a:solidFill>
                <a:latin typeface="Courier New" panose="02070309020205020404" pitchFamily="49" charset="0"/>
                <a:ea typeface="Calibri" panose="020F0502020204030204" pitchFamily="34" charset="0"/>
                <a:cs typeface="Courier New" panose="02070309020205020404" pitchFamily="49" charset="0"/>
              </a:rPr>
              <a:t>v</a:t>
            </a:r>
            <a:r>
              <a:rPr lang="en-US"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oid</a:t>
            </a:r>
            <a:r>
              <a:rPr lang="el-GR"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 </a:t>
            </a:r>
            <a:r>
              <a:rPr lang="en-US" sz="2200" b="1" dirty="0" err="1">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sortStringArrayInc</a:t>
            </a:r>
            <a:r>
              <a:rPr lang="en-US"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(char </a:t>
            </a:r>
            <a:r>
              <a:rPr lang="en-GB"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a:t>
            </a:r>
            <a:r>
              <a:rPr lang="en-US" sz="2200" dirty="0" err="1">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base,int</a:t>
            </a:r>
            <a:r>
              <a:rPr lang="en-US"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 </a:t>
            </a:r>
            <a:r>
              <a:rPr lang="en-US" sz="2200" dirty="0" err="1">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numOfElements</a:t>
            </a:r>
            <a:r>
              <a:rPr lang="en-US"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a:t>
            </a:r>
            <a:r>
              <a:rPr lang="el-GR"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 </a:t>
            </a:r>
            <a:r>
              <a:rPr lang="en-US"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int </a:t>
            </a:r>
            <a:r>
              <a:rPr lang="en-US" sz="2200" dirty="0" err="1">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strWidth</a:t>
            </a:r>
            <a:r>
              <a:rPr lang="el-GR" sz="22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a:t>
            </a:r>
            <a:endParaRPr lang="en-GB" sz="2200" dirty="0">
              <a:solidFill>
                <a:srgbClr val="202122"/>
              </a:solidFill>
              <a:effectLst/>
              <a:latin typeface="Courier New" panose="02070309020205020404" pitchFamily="49" charset="0"/>
              <a:ea typeface="Calibri" panose="020F0502020204030204" pitchFamily="34" charset="0"/>
            </a:endParaRPr>
          </a:p>
        </p:txBody>
      </p:sp>
      <p:pic>
        <p:nvPicPr>
          <p:cNvPr id="8" name="Picture 7" descr="A close up of a text&#10;&#10;AI-generated content may be incorrect.">
            <a:extLst>
              <a:ext uri="{FF2B5EF4-FFF2-40B4-BE49-F238E27FC236}">
                <a16:creationId xmlns:a16="http://schemas.microsoft.com/office/drawing/2014/main" id="{DB69D8F6-E031-4B62-F09B-6C20F76C6CCB}"/>
              </a:ext>
            </a:extLst>
          </p:cNvPr>
          <p:cNvPicPr>
            <a:picLocks noChangeAspect="1"/>
          </p:cNvPicPr>
          <p:nvPr/>
        </p:nvPicPr>
        <p:blipFill>
          <a:blip r:embed="rId3"/>
          <a:stretch>
            <a:fillRect/>
          </a:stretch>
        </p:blipFill>
        <p:spPr>
          <a:xfrm>
            <a:off x="0" y="5183136"/>
            <a:ext cx="11722806" cy="1097373"/>
          </a:xfrm>
          <a:prstGeom prst="rect">
            <a:avLst/>
          </a:prstGeom>
        </p:spPr>
      </p:pic>
      <p:pic>
        <p:nvPicPr>
          <p:cNvPr id="11" name="Picture 10">
            <a:extLst>
              <a:ext uri="{FF2B5EF4-FFF2-40B4-BE49-F238E27FC236}">
                <a16:creationId xmlns:a16="http://schemas.microsoft.com/office/drawing/2014/main" id="{63D95A79-701D-5627-49E2-265626449D5C}"/>
              </a:ext>
            </a:extLst>
          </p:cNvPr>
          <p:cNvPicPr>
            <a:picLocks noChangeAspect="1"/>
          </p:cNvPicPr>
          <p:nvPr/>
        </p:nvPicPr>
        <p:blipFill>
          <a:blip r:embed="rId4"/>
          <a:stretch>
            <a:fillRect/>
          </a:stretch>
        </p:blipFill>
        <p:spPr>
          <a:xfrm>
            <a:off x="-1" y="1882203"/>
            <a:ext cx="11869331" cy="1889313"/>
          </a:xfrm>
          <a:prstGeom prst="rect">
            <a:avLst/>
          </a:prstGeom>
        </p:spPr>
      </p:pic>
      <p:sp>
        <p:nvSpPr>
          <p:cNvPr id="9" name="Callout: Line 8">
            <a:extLst>
              <a:ext uri="{FF2B5EF4-FFF2-40B4-BE49-F238E27FC236}">
                <a16:creationId xmlns:a16="http://schemas.microsoft.com/office/drawing/2014/main" id="{0208F3D1-D1B4-5A2A-C415-DE263333D208}"/>
              </a:ext>
            </a:extLst>
          </p:cNvPr>
          <p:cNvSpPr/>
          <p:nvPr/>
        </p:nvSpPr>
        <p:spPr>
          <a:xfrm>
            <a:off x="6273920" y="3890811"/>
            <a:ext cx="5448886" cy="928196"/>
          </a:xfrm>
          <a:prstGeom prst="borderCallout1">
            <a:avLst>
              <a:gd name="adj1" fmla="val 100630"/>
              <a:gd name="adj2" fmla="val 50136"/>
              <a:gd name="adj3" fmla="val 154885"/>
              <a:gd name="adj4" fmla="val 3822"/>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dirty="0"/>
              <a:t>Εντοπισμός ασυμβατότητας τύπου πραγματικού με τυπικό όρισμα</a:t>
            </a:r>
            <a:endParaRPr lang="en-GB" sz="2400" dirty="0"/>
          </a:p>
        </p:txBody>
      </p:sp>
      <p:grpSp>
        <p:nvGrpSpPr>
          <p:cNvPr id="16" name="Group 15">
            <a:extLst>
              <a:ext uri="{FF2B5EF4-FFF2-40B4-BE49-F238E27FC236}">
                <a16:creationId xmlns:a16="http://schemas.microsoft.com/office/drawing/2014/main" id="{E5A266FA-0CAA-B88C-B482-62D65AC0F544}"/>
              </a:ext>
            </a:extLst>
          </p:cNvPr>
          <p:cNvGrpSpPr/>
          <p:nvPr/>
        </p:nvGrpSpPr>
        <p:grpSpPr>
          <a:xfrm>
            <a:off x="5472332" y="1388738"/>
            <a:ext cx="6002080" cy="830997"/>
            <a:chOff x="5472332" y="1388738"/>
            <a:chExt cx="6002080" cy="830997"/>
          </a:xfrm>
        </p:grpSpPr>
        <p:sp>
          <p:nvSpPr>
            <p:cNvPr id="14" name="Callout: Line 13">
              <a:extLst>
                <a:ext uri="{FF2B5EF4-FFF2-40B4-BE49-F238E27FC236}">
                  <a16:creationId xmlns:a16="http://schemas.microsoft.com/office/drawing/2014/main" id="{991E75E3-2518-9A7C-365B-A81D54C88339}"/>
                </a:ext>
              </a:extLst>
            </p:cNvPr>
            <p:cNvSpPr/>
            <p:nvPr/>
          </p:nvSpPr>
          <p:spPr>
            <a:xfrm>
              <a:off x="5472332" y="1558011"/>
              <a:ext cx="5448886" cy="522822"/>
            </a:xfrm>
            <a:prstGeom prst="borderCallout1">
              <a:avLst>
                <a:gd name="adj1" fmla="val 1073"/>
                <a:gd name="adj2" fmla="val 51267"/>
                <a:gd name="adj3" fmla="val -95352"/>
                <a:gd name="adj4" fmla="val 882"/>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83515" algn="just">
                <a:spcBef>
                  <a:spcPts val="600"/>
                </a:spcBef>
                <a:spcAft>
                  <a:spcPts val="600"/>
                </a:spcAft>
                <a:buNone/>
              </a:pPr>
              <a:r>
                <a:rPr lang="en-US" sz="2400" dirty="0">
                  <a:solidFill>
                    <a:srgbClr val="202122"/>
                  </a:solidFill>
                  <a:latin typeface="Courier New" panose="02070309020205020404" pitchFamily="49" charset="0"/>
                  <a:ea typeface="Calibri" panose="020F0502020204030204" pitchFamily="34" charset="0"/>
                </a:rPr>
                <a:t>char</a:t>
              </a:r>
              <a:r>
                <a:rPr lang="en-GB" sz="2400" dirty="0">
                  <a:solidFill>
                    <a:srgbClr val="202122"/>
                  </a:solidFill>
                  <a:latin typeface="Courier New" panose="02070309020205020404" pitchFamily="49" charset="0"/>
                  <a:ea typeface="Calibri" panose="020F0502020204030204" pitchFamily="34" charset="0"/>
                </a:rPr>
                <a:t> (*</a:t>
              </a:r>
              <a:r>
                <a:rPr lang="en-US" sz="2400" dirty="0">
                  <a:solidFill>
                    <a:srgbClr val="202122"/>
                  </a:solidFill>
                  <a:latin typeface="Courier New" panose="02070309020205020404" pitchFamily="49" charset="0"/>
                  <a:ea typeface="Calibri" panose="020F0502020204030204" pitchFamily="34" charset="0"/>
                </a:rPr>
                <a:t>words</a:t>
              </a:r>
              <a:r>
                <a:rPr lang="en-GB" sz="2400" dirty="0">
                  <a:solidFill>
                    <a:srgbClr val="202122"/>
                  </a:solidFill>
                  <a:latin typeface="Courier New" panose="02070309020205020404" pitchFamily="49" charset="0"/>
                  <a:ea typeface="Calibri" panose="020F0502020204030204" pitchFamily="34" charset="0"/>
                </a:rPr>
                <a:t>)[</a:t>
              </a:r>
              <a:r>
                <a:rPr lang="en-US" sz="2400" dirty="0">
                  <a:solidFill>
                    <a:srgbClr val="202122"/>
                  </a:solidFill>
                  <a:latin typeface="Courier New" panose="02070309020205020404" pitchFamily="49" charset="0"/>
                  <a:ea typeface="Calibri" panose="020F0502020204030204" pitchFamily="34" charset="0"/>
                </a:rPr>
                <a:t>MAX_WORD_LEN</a:t>
              </a:r>
              <a:r>
                <a:rPr lang="en-GB" sz="2400" dirty="0">
                  <a:solidFill>
                    <a:srgbClr val="202122"/>
                  </a:solidFill>
                  <a:latin typeface="Courier New" panose="02070309020205020404" pitchFamily="49" charset="0"/>
                  <a:ea typeface="Calibri" panose="020F0502020204030204" pitchFamily="34" charset="0"/>
                </a:rPr>
                <a:t>] </a:t>
              </a:r>
            </a:p>
          </p:txBody>
        </p:sp>
        <p:sp>
          <p:nvSpPr>
            <p:cNvPr id="15" name="TextBox 14">
              <a:extLst>
                <a:ext uri="{FF2B5EF4-FFF2-40B4-BE49-F238E27FC236}">
                  <a16:creationId xmlns:a16="http://schemas.microsoft.com/office/drawing/2014/main" id="{2AB1D140-4923-0B4F-93AD-721E791F7608}"/>
                </a:ext>
              </a:extLst>
            </p:cNvPr>
            <p:cNvSpPr txBox="1"/>
            <p:nvPr/>
          </p:nvSpPr>
          <p:spPr>
            <a:xfrm>
              <a:off x="10977624" y="1388738"/>
              <a:ext cx="496788" cy="830997"/>
            </a:xfrm>
            <a:prstGeom prst="rect">
              <a:avLst/>
            </a:prstGeom>
            <a:noFill/>
          </p:spPr>
          <p:txBody>
            <a:bodyPr wrap="square" rtlCol="0">
              <a:spAutoFit/>
            </a:bodyPr>
            <a:lstStyle/>
            <a:p>
              <a:r>
                <a:rPr lang="en-US" sz="4800" b="1" dirty="0">
                  <a:solidFill>
                    <a:srgbClr val="FF0000"/>
                  </a:solidFill>
                </a:rPr>
                <a:t>?</a:t>
              </a:r>
              <a:endParaRPr lang="en-GB" sz="4800" b="1" dirty="0">
                <a:solidFill>
                  <a:srgbClr val="FF0000"/>
                </a:solidFill>
              </a:endParaRPr>
            </a:p>
          </p:txBody>
        </p:sp>
      </p:grpSp>
    </p:spTree>
    <p:extLst>
      <p:ext uri="{BB962C8B-B14F-4D97-AF65-F5344CB8AC3E}">
        <p14:creationId xmlns:p14="http://schemas.microsoft.com/office/powerpoint/2010/main" val="93129406"/>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1F2BB-D2DA-511A-2238-5B1B59A4B6D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FF4C39C4-CB99-35B8-07CC-CC252E1DF1C0}"/>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l-GR" b="1" dirty="0">
                <a:solidFill>
                  <a:srgbClr val="F9853D"/>
                </a:solidFill>
                <a:latin typeface="Bahnschrift" panose="020B0502040204020203" pitchFamily="34" charset="0"/>
              </a:rPr>
              <a:t>3η έκδοση - Η συνάρτηση </a:t>
            </a:r>
            <a:r>
              <a:rPr lang="en-GB" b="1" dirty="0">
                <a:solidFill>
                  <a:srgbClr val="F9853D"/>
                </a:solidFill>
                <a:latin typeface="Bahnschrift" panose="020B0502040204020203" pitchFamily="34" charset="0"/>
              </a:rPr>
              <a:t>search4Word</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DEA58C17-4042-F6FA-BEB2-19A10ED24314}"/>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F6F811DE-2A4E-68E0-050F-1335C0A12457}"/>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8FE45577-1343-9994-1C5E-1CB9308FFB63}"/>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5A05A3BB-BA9F-A939-BB07-9EC282FAAF15}"/>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FA4192EA-32FC-2169-9366-1FEC73C8A9B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664DEC78-BB6B-3C39-AB70-96CEDD6B86C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24</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FF1A4887-4EC0-3790-44C2-B64B36BE5013}"/>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4" name="TextBox 3">
            <a:extLst>
              <a:ext uri="{FF2B5EF4-FFF2-40B4-BE49-F238E27FC236}">
                <a16:creationId xmlns:a16="http://schemas.microsoft.com/office/drawing/2014/main" id="{77B82BDB-18A6-CA06-CFED-F6331AE353A5}"/>
              </a:ext>
            </a:extLst>
          </p:cNvPr>
          <p:cNvSpPr txBox="1"/>
          <p:nvPr/>
        </p:nvSpPr>
        <p:spPr>
          <a:xfrm>
            <a:off x="224853" y="909593"/>
            <a:ext cx="6115987" cy="584775"/>
          </a:xfrm>
          <a:prstGeom prst="rect">
            <a:avLst/>
          </a:prstGeom>
          <a:noFill/>
        </p:spPr>
        <p:txBody>
          <a:bodyPr wrap="square" rtlCol="0">
            <a:spAutoFit/>
          </a:bodyPr>
          <a:lstStyle/>
          <a:p>
            <a:r>
              <a:rPr lang="el-GR" sz="3200" b="1" dirty="0"/>
              <a:t>Σειριακή αναζήτηση</a:t>
            </a:r>
            <a:endParaRPr lang="en-GB" sz="3200" b="1" dirty="0"/>
          </a:p>
        </p:txBody>
      </p:sp>
      <p:pic>
        <p:nvPicPr>
          <p:cNvPr id="8" name="Picture 7">
            <a:extLst>
              <a:ext uri="{FF2B5EF4-FFF2-40B4-BE49-F238E27FC236}">
                <a16:creationId xmlns:a16="http://schemas.microsoft.com/office/drawing/2014/main" id="{0544BA47-02F2-0F84-31A7-9995264CD014}"/>
              </a:ext>
            </a:extLst>
          </p:cNvPr>
          <p:cNvPicPr>
            <a:picLocks noChangeAspect="1"/>
          </p:cNvPicPr>
          <p:nvPr/>
        </p:nvPicPr>
        <p:blipFill>
          <a:blip r:embed="rId3"/>
          <a:stretch>
            <a:fillRect/>
          </a:stretch>
        </p:blipFill>
        <p:spPr>
          <a:xfrm>
            <a:off x="4143101" y="908050"/>
            <a:ext cx="7365568" cy="2030022"/>
          </a:xfrm>
          <a:prstGeom prst="rect">
            <a:avLst/>
          </a:prstGeom>
        </p:spPr>
      </p:pic>
      <p:sp>
        <p:nvSpPr>
          <p:cNvPr id="10" name="TextBox 9">
            <a:extLst>
              <a:ext uri="{FF2B5EF4-FFF2-40B4-BE49-F238E27FC236}">
                <a16:creationId xmlns:a16="http://schemas.microsoft.com/office/drawing/2014/main" id="{513E580B-48C4-BE49-2615-BCF1509B4D70}"/>
              </a:ext>
            </a:extLst>
          </p:cNvPr>
          <p:cNvSpPr txBox="1"/>
          <p:nvPr/>
        </p:nvSpPr>
        <p:spPr>
          <a:xfrm>
            <a:off x="-1" y="3919929"/>
            <a:ext cx="11917181" cy="400110"/>
          </a:xfrm>
          <a:prstGeom prst="rect">
            <a:avLst/>
          </a:prstGeom>
          <a:noFill/>
        </p:spPr>
        <p:txBody>
          <a:bodyPr wrap="square">
            <a:spAutoFit/>
          </a:bodyPr>
          <a:lstStyle/>
          <a:p>
            <a:pPr indent="183515" algn="just">
              <a:spcBef>
                <a:spcPts val="600"/>
              </a:spcBef>
              <a:spcAft>
                <a:spcPts val="600"/>
              </a:spcAft>
              <a:buNone/>
            </a:pPr>
            <a:r>
              <a:rPr lang="en-GB" sz="2000" dirty="0">
                <a:solidFill>
                  <a:srgbClr val="202122"/>
                </a:solidFill>
                <a:effectLst/>
                <a:latin typeface="Courier New" panose="02070309020205020404" pitchFamily="49" charset="0"/>
                <a:ea typeface="Calibri" panose="020F0502020204030204" pitchFamily="34" charset="0"/>
              </a:rPr>
              <a:t>void *</a:t>
            </a:r>
            <a:r>
              <a:rPr lang="en-GB" sz="2000" b="1" dirty="0" err="1">
                <a:solidFill>
                  <a:srgbClr val="202122"/>
                </a:solidFill>
                <a:effectLst/>
                <a:latin typeface="Courier New" panose="02070309020205020404" pitchFamily="49" charset="0"/>
                <a:ea typeface="Calibri" panose="020F0502020204030204" pitchFamily="34" charset="0"/>
              </a:rPr>
              <a:t>bSearchWord</a:t>
            </a:r>
            <a:r>
              <a:rPr lang="en-GB" sz="2000" dirty="0">
                <a:solidFill>
                  <a:srgbClr val="202122"/>
                </a:solidFill>
                <a:effectLst/>
                <a:latin typeface="Courier New" panose="02070309020205020404" pitchFamily="49" charset="0"/>
                <a:ea typeface="Calibri" panose="020F0502020204030204" pitchFamily="34" charset="0"/>
              </a:rPr>
              <a:t>(char *word, char *</a:t>
            </a:r>
            <a:r>
              <a:rPr lang="en-GB" sz="2000" dirty="0" err="1">
                <a:solidFill>
                  <a:srgbClr val="202122"/>
                </a:solidFill>
                <a:effectLst/>
                <a:latin typeface="Courier New" panose="02070309020205020404" pitchFamily="49" charset="0"/>
                <a:ea typeface="Calibri" panose="020F0502020204030204" pitchFamily="34" charset="0"/>
              </a:rPr>
              <a:t>base,int</a:t>
            </a:r>
            <a:r>
              <a:rPr lang="en-GB" sz="2000" dirty="0">
                <a:solidFill>
                  <a:srgbClr val="202122"/>
                </a:solidFill>
                <a:effectLst/>
                <a:latin typeface="Courier New" panose="02070309020205020404" pitchFamily="49" charset="0"/>
                <a:ea typeface="Calibri" panose="020F0502020204030204" pitchFamily="34" charset="0"/>
              </a:rPr>
              <a:t> </a:t>
            </a:r>
            <a:r>
              <a:rPr lang="en-GB" sz="2000" dirty="0" err="1">
                <a:solidFill>
                  <a:srgbClr val="202122"/>
                </a:solidFill>
                <a:effectLst/>
                <a:latin typeface="Courier New" panose="02070309020205020404" pitchFamily="49" charset="0"/>
                <a:ea typeface="Calibri" panose="020F0502020204030204" pitchFamily="34" charset="0"/>
              </a:rPr>
              <a:t>numOfElements</a:t>
            </a:r>
            <a:r>
              <a:rPr lang="en-GB" sz="2000" dirty="0">
                <a:solidFill>
                  <a:srgbClr val="202122"/>
                </a:solidFill>
                <a:effectLst/>
                <a:latin typeface="Courier New" panose="02070309020205020404" pitchFamily="49" charset="0"/>
                <a:ea typeface="Calibri" panose="020F0502020204030204" pitchFamily="34" charset="0"/>
              </a:rPr>
              <a:t>, int </a:t>
            </a:r>
            <a:r>
              <a:rPr lang="en-GB" sz="2000" dirty="0" err="1">
                <a:solidFill>
                  <a:srgbClr val="202122"/>
                </a:solidFill>
                <a:effectLst/>
                <a:latin typeface="Courier New" panose="02070309020205020404" pitchFamily="49" charset="0"/>
                <a:ea typeface="Calibri" panose="020F0502020204030204" pitchFamily="34" charset="0"/>
              </a:rPr>
              <a:t>strWidth</a:t>
            </a:r>
            <a:r>
              <a:rPr lang="en-GB" sz="2000" dirty="0">
                <a:solidFill>
                  <a:srgbClr val="202122"/>
                </a:solidFill>
                <a:effectLst/>
                <a:latin typeface="Courier New" panose="02070309020205020404" pitchFamily="49" charset="0"/>
                <a:ea typeface="Calibri" panose="020F0502020204030204" pitchFamily="34" charset="0"/>
              </a:rPr>
              <a:t>);</a:t>
            </a:r>
            <a:endParaRPr lang="en-GB" sz="2800" dirty="0">
              <a:solidFill>
                <a:srgbClr val="202122"/>
              </a:solidFill>
              <a:effectLst/>
              <a:latin typeface="Courier New" panose="02070309020205020404" pitchFamily="49" charset="0"/>
              <a:ea typeface="Calibri" panose="020F0502020204030204" pitchFamily="34" charset="0"/>
            </a:endParaRPr>
          </a:p>
        </p:txBody>
      </p:sp>
      <p:sp>
        <p:nvSpPr>
          <p:cNvPr id="11" name="TextBox 10">
            <a:extLst>
              <a:ext uri="{FF2B5EF4-FFF2-40B4-BE49-F238E27FC236}">
                <a16:creationId xmlns:a16="http://schemas.microsoft.com/office/drawing/2014/main" id="{7F619EE7-1F14-878A-D7B8-813607F81B2B}"/>
              </a:ext>
            </a:extLst>
          </p:cNvPr>
          <p:cNvSpPr txBox="1"/>
          <p:nvPr/>
        </p:nvSpPr>
        <p:spPr>
          <a:xfrm>
            <a:off x="224852" y="3310955"/>
            <a:ext cx="6115987" cy="584775"/>
          </a:xfrm>
          <a:prstGeom prst="rect">
            <a:avLst/>
          </a:prstGeom>
          <a:noFill/>
        </p:spPr>
        <p:txBody>
          <a:bodyPr wrap="square" rtlCol="0">
            <a:spAutoFit/>
          </a:bodyPr>
          <a:lstStyle/>
          <a:p>
            <a:r>
              <a:rPr lang="el-GR" sz="3200" b="1" dirty="0"/>
              <a:t>Δυαδική  αναζήτηση</a:t>
            </a:r>
            <a:endParaRPr lang="en-GB" sz="3200" b="1" dirty="0"/>
          </a:p>
        </p:txBody>
      </p:sp>
      <p:pic>
        <p:nvPicPr>
          <p:cNvPr id="12" name="Picture 11" descr="A computer code with text&#10;&#10;AI-generated content may be incorrect.">
            <a:extLst>
              <a:ext uri="{FF2B5EF4-FFF2-40B4-BE49-F238E27FC236}">
                <a16:creationId xmlns:a16="http://schemas.microsoft.com/office/drawing/2014/main" id="{59B0C8C8-BB62-673C-6A6B-F4ADF8DCDDEF}"/>
              </a:ext>
            </a:extLst>
          </p:cNvPr>
          <p:cNvPicPr>
            <a:picLocks noChangeAspect="1"/>
          </p:cNvPicPr>
          <p:nvPr/>
        </p:nvPicPr>
        <p:blipFill>
          <a:blip r:embed="rId4"/>
          <a:stretch>
            <a:fillRect/>
          </a:stretch>
        </p:blipFill>
        <p:spPr>
          <a:xfrm>
            <a:off x="224852" y="4514374"/>
            <a:ext cx="10051907" cy="1970561"/>
          </a:xfrm>
          <a:prstGeom prst="rect">
            <a:avLst/>
          </a:prstGeom>
        </p:spPr>
      </p:pic>
      <p:sp>
        <p:nvSpPr>
          <p:cNvPr id="13" name="Speech Bubble: Rectangle with Corners Rounded 12">
            <a:extLst>
              <a:ext uri="{FF2B5EF4-FFF2-40B4-BE49-F238E27FC236}">
                <a16:creationId xmlns:a16="http://schemas.microsoft.com/office/drawing/2014/main" id="{FA3E0CEE-4922-6708-3858-7AC590280D76}"/>
              </a:ext>
            </a:extLst>
          </p:cNvPr>
          <p:cNvSpPr/>
          <p:nvPr/>
        </p:nvSpPr>
        <p:spPr>
          <a:xfrm>
            <a:off x="5281535" y="5301631"/>
            <a:ext cx="6685613" cy="529544"/>
          </a:xfrm>
          <a:prstGeom prst="wedgeRoundRectCallout">
            <a:avLst>
              <a:gd name="adj1" fmla="val 1476"/>
              <a:gd name="adj2" fmla="val 86601"/>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t>διαίρει και βασίλευε (</a:t>
            </a:r>
            <a:r>
              <a:rPr lang="el-GR" sz="2800" b="1" dirty="0" err="1"/>
              <a:t>divide</a:t>
            </a:r>
            <a:r>
              <a:rPr lang="el-GR" sz="2800" b="1" dirty="0"/>
              <a:t> and </a:t>
            </a:r>
            <a:r>
              <a:rPr lang="el-GR" sz="2800" b="1" dirty="0" err="1"/>
              <a:t>conquer</a:t>
            </a:r>
            <a:r>
              <a:rPr lang="el-GR" sz="2800" b="1" dirty="0"/>
              <a:t>)</a:t>
            </a:r>
            <a:endParaRPr lang="en-GB" sz="2800" dirty="0"/>
          </a:p>
        </p:txBody>
      </p:sp>
      <p:pic>
        <p:nvPicPr>
          <p:cNvPr id="14" name="Picture 13">
            <a:extLst>
              <a:ext uri="{FF2B5EF4-FFF2-40B4-BE49-F238E27FC236}">
                <a16:creationId xmlns:a16="http://schemas.microsoft.com/office/drawing/2014/main" id="{2F0C7318-BA0B-3C56-FE1B-48CB498A1FE9}"/>
              </a:ext>
            </a:extLst>
          </p:cNvPr>
          <p:cNvPicPr>
            <a:picLocks noChangeAspect="1"/>
          </p:cNvPicPr>
          <p:nvPr/>
        </p:nvPicPr>
        <p:blipFill>
          <a:blip r:embed="rId5"/>
          <a:stretch>
            <a:fillRect/>
          </a:stretch>
        </p:blipFill>
        <p:spPr>
          <a:xfrm>
            <a:off x="224852" y="2019317"/>
            <a:ext cx="1490371" cy="1097303"/>
          </a:xfrm>
          <a:prstGeom prst="rect">
            <a:avLst/>
          </a:prstGeom>
        </p:spPr>
      </p:pic>
    </p:spTree>
    <p:extLst>
      <p:ext uri="{BB962C8B-B14F-4D97-AF65-F5344CB8AC3E}">
        <p14:creationId xmlns:p14="http://schemas.microsoft.com/office/powerpoint/2010/main" val="1141226944"/>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D49A-EFB0-2880-99FF-1C1A0F2F2898}"/>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8A4AD3AC-D6CB-6F18-F62C-9020113DF15A}"/>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l-GR" b="1" dirty="0">
                <a:solidFill>
                  <a:srgbClr val="F9853D"/>
                </a:solidFill>
                <a:latin typeface="Bahnschrift" panose="020B0502040204020203" pitchFamily="34" charset="0"/>
              </a:rPr>
              <a:t> </a:t>
            </a:r>
            <a:r>
              <a:rPr lang="en-US" b="1" dirty="0">
                <a:solidFill>
                  <a:srgbClr val="F9853D"/>
                </a:solidFill>
                <a:latin typeface="Bahnschrift" panose="020B0502040204020203" pitchFamily="34" charset="0"/>
              </a:rPr>
              <a:t>4</a:t>
            </a:r>
            <a:r>
              <a:rPr lang="el-GR" b="1" baseline="30000" dirty="0">
                <a:solidFill>
                  <a:srgbClr val="F9853D"/>
                </a:solidFill>
                <a:latin typeface="Bahnschrift" panose="020B0502040204020203" pitchFamily="34" charset="0"/>
              </a:rPr>
              <a:t>η</a:t>
            </a:r>
            <a:r>
              <a:rPr lang="el-GR" b="1" dirty="0">
                <a:solidFill>
                  <a:srgbClr val="F9853D"/>
                </a:solidFill>
                <a:latin typeface="Bahnschrift" panose="020B0502040204020203" pitchFamily="34" charset="0"/>
              </a:rPr>
              <a:t> έκδοση - Στατιστικά λέξεων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38DA98B8-8789-7D19-9AB8-72EC3FCD900A}"/>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D5314009-BA62-D795-3536-990812F07CF4}"/>
              </a:ext>
            </a:extLst>
          </p:cNvPr>
          <p:cNvPicPr>
            <a:picLocks noChangeAspect="1"/>
          </p:cNvPicPr>
          <p:nvPr/>
        </p:nvPicPr>
        <p:blipFill>
          <a:blip r:embed="rId3"/>
          <a:stretch>
            <a:fillRect/>
          </a:stretch>
        </p:blipFill>
        <p:spPr>
          <a:xfrm>
            <a:off x="188526" y="2093004"/>
            <a:ext cx="4599506" cy="3386439"/>
          </a:xfrm>
          <a:prstGeom prst="rect">
            <a:avLst/>
          </a:prstGeom>
        </p:spPr>
      </p:pic>
      <p:grpSp>
        <p:nvGrpSpPr>
          <p:cNvPr id="17" name="Group 16">
            <a:extLst>
              <a:ext uri="{FF2B5EF4-FFF2-40B4-BE49-F238E27FC236}">
                <a16:creationId xmlns:a16="http://schemas.microsoft.com/office/drawing/2014/main" id="{6CF7F9FC-5A55-B2A1-45D9-67E09DF2395B}"/>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0C1BECD1-86B4-24F3-11F2-472E419AD6DC}"/>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61AD3C99-7438-66D3-D470-A3C2764524D1}"/>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442C43ED-1562-00A4-3A23-9CFDA7D7C0C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7D3EB6C1-FB0D-5AD8-7E8C-44886FCD5F7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25</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0D30C7FC-1F05-0DAB-6DF2-EA3A9E4106EF}"/>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249A0F6F-917C-EEE6-8835-53473C464911}"/>
              </a:ext>
            </a:extLst>
          </p:cNvPr>
          <p:cNvSpPr txBox="1">
            <a:spLocks/>
          </p:cNvSpPr>
          <p:nvPr/>
        </p:nvSpPr>
        <p:spPr bwMode="auto">
          <a:xfrm>
            <a:off x="1" y="688467"/>
            <a:ext cx="12191999" cy="1053505"/>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a:t>
            </a:r>
            <a:r>
              <a:rPr lang="en-US" b="1" dirty="0">
                <a:solidFill>
                  <a:srgbClr val="F9853D"/>
                </a:solidFill>
                <a:latin typeface="Bahnschrift" panose="020B0502040204020203" pitchFamily="34" charset="0"/>
              </a:rPr>
              <a:t>7</a:t>
            </a:r>
            <a:r>
              <a:rPr lang="el-GR" b="1" dirty="0">
                <a:solidFill>
                  <a:srgbClr val="F9853D"/>
                </a:solidFill>
                <a:latin typeface="Bahnschrift" panose="020B0502040204020203" pitchFamily="34" charset="0"/>
              </a:rPr>
              <a:t>   4η έκδοση - Στατιστικά λέξεων </a:t>
            </a:r>
          </a:p>
          <a:p>
            <a:pPr marL="0" indent="0">
              <a:buClr>
                <a:srgbClr val="3333CC"/>
              </a:buClr>
              <a:buNone/>
              <a:defRPr/>
            </a:pPr>
            <a:r>
              <a:rPr lang="el-GR" sz="2400" kern="0" dirty="0">
                <a:solidFill>
                  <a:srgbClr val="000000"/>
                </a:solidFill>
                <a:latin typeface="Tahoma"/>
              </a:rPr>
              <a:t>Υλοποιήστε τη λειτουργικότητα εμφάνισης στατιστικών λέξεων.</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19922428-2EA6-1F32-F83E-48D7CDD5B2D9}"/>
              </a:ext>
            </a:extLst>
          </p:cNvPr>
          <p:cNvSpPr/>
          <p:nvPr/>
        </p:nvSpPr>
        <p:spPr>
          <a:xfrm>
            <a:off x="5509847" y="2420467"/>
            <a:ext cx="5683045" cy="1395068"/>
          </a:xfrm>
          <a:prstGeom prst="wedgeRoundRectCallout">
            <a:avLst>
              <a:gd name="adj1" fmla="val -59388"/>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Αξιοποιήστε αφαιρετικότητα στις διεργασίες</a:t>
            </a:r>
            <a:endParaRPr lang="en-GB" sz="2800" b="1" dirty="0">
              <a:solidFill>
                <a:schemeClr val="tx1"/>
              </a:solidFill>
              <a:highlight>
                <a:srgbClr val="FFFF00"/>
              </a:highlight>
            </a:endParaRPr>
          </a:p>
        </p:txBody>
      </p:sp>
    </p:spTree>
    <p:extLst>
      <p:ext uri="{BB962C8B-B14F-4D97-AF65-F5344CB8AC3E}">
        <p14:creationId xmlns:p14="http://schemas.microsoft.com/office/powerpoint/2010/main" val="1440969649"/>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83025-6215-AEF2-F3C1-B628F3AFF33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FD045C7-7DD6-6382-329D-BA14D370593D}"/>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4</a:t>
            </a:r>
            <a:r>
              <a:rPr lang="el-GR" b="1" baseline="30000" dirty="0">
                <a:solidFill>
                  <a:srgbClr val="F9853D"/>
                </a:solidFill>
                <a:latin typeface="Bahnschrift" panose="020B0502040204020203" pitchFamily="34" charset="0"/>
              </a:rPr>
              <a:t>η</a:t>
            </a:r>
            <a:r>
              <a:rPr lang="el-GR" b="1" dirty="0">
                <a:solidFill>
                  <a:srgbClr val="F9853D"/>
                </a:solidFill>
                <a:latin typeface="Bahnschrift" panose="020B0502040204020203" pitchFamily="34" charset="0"/>
              </a:rPr>
              <a:t> έκδοση - Στατιστικά λέξεων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6EE07884-2760-BE01-E457-B54A14B03BB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68688420-567F-A9AD-0404-3450C617995C}"/>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BF98ED24-A0C5-A7AE-65BA-1F1580D5574A}"/>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0690C3A4-7273-174C-26C5-85FB40F77936}"/>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F382237A-DC6A-A2D5-DF20-D766C4473D1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8AAECBE0-1417-0E30-40E8-AEBF00E40B4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26</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616C67D6-5248-58A2-616B-01E0E3ECFD9C}"/>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6B6C24DF-4CD0-0B6D-7B72-D7B2720D4A16}"/>
              </a:ext>
            </a:extLst>
          </p:cNvPr>
          <p:cNvSpPr txBox="1">
            <a:spLocks/>
          </p:cNvSpPr>
          <p:nvPr/>
        </p:nvSpPr>
        <p:spPr bwMode="auto">
          <a:xfrm>
            <a:off x="1" y="688468"/>
            <a:ext cx="12191999" cy="855520"/>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400" b="1" dirty="0">
                <a:solidFill>
                  <a:srgbClr val="F9853D"/>
                </a:solidFill>
                <a:latin typeface="Bahnschrift" panose="020B0502040204020203" pitchFamily="34" charset="0"/>
              </a:rPr>
              <a:t>Δράση </a:t>
            </a:r>
            <a:r>
              <a:rPr lang="en-US" sz="2400" b="1" dirty="0">
                <a:solidFill>
                  <a:srgbClr val="F9853D"/>
                </a:solidFill>
                <a:latin typeface="Bahnschrift" panose="020B0502040204020203" pitchFamily="34" charset="0"/>
              </a:rPr>
              <a:t>8</a:t>
            </a:r>
            <a:r>
              <a:rPr lang="el-GR" sz="2400" b="1" dirty="0">
                <a:solidFill>
                  <a:srgbClr val="F9853D"/>
                </a:solidFill>
                <a:latin typeface="Bahnschrift" panose="020B0502040204020203" pitchFamily="34" charset="0"/>
              </a:rPr>
              <a:t>-</a:t>
            </a:r>
            <a:r>
              <a:rPr lang="en-US" sz="2400" b="1" dirty="0">
                <a:solidFill>
                  <a:srgbClr val="F9853D"/>
                </a:solidFill>
                <a:latin typeface="Bahnschrift" panose="020B0502040204020203" pitchFamily="34" charset="0"/>
              </a:rPr>
              <a:t>7</a:t>
            </a:r>
            <a:r>
              <a:rPr lang="el-GR" sz="2400" b="1" dirty="0">
                <a:solidFill>
                  <a:srgbClr val="F9853D"/>
                </a:solidFill>
                <a:latin typeface="Bahnschrift" panose="020B0502040204020203" pitchFamily="34" charset="0"/>
              </a:rPr>
              <a:t>   4η έκδοση - Στατιστικά λέξεων </a:t>
            </a:r>
          </a:p>
          <a:p>
            <a:pPr marL="0" indent="0">
              <a:buClr>
                <a:srgbClr val="3333CC"/>
              </a:buClr>
              <a:buNone/>
              <a:defRPr/>
            </a:pPr>
            <a:r>
              <a:rPr lang="el-GR" sz="1800" kern="0" dirty="0">
                <a:solidFill>
                  <a:srgbClr val="000000"/>
                </a:solidFill>
                <a:latin typeface="Tahoma"/>
              </a:rPr>
              <a:t>Υλοποιήστε τη λειτουργικότητα εμφάνισης στατιστικών λέξεων.</a:t>
            </a:r>
            <a:endParaRPr lang="en-US" sz="1100" kern="0" dirty="0">
              <a:solidFill>
                <a:srgbClr val="000000"/>
              </a:solidFill>
              <a:latin typeface="Tahoma"/>
            </a:endParaRPr>
          </a:p>
        </p:txBody>
      </p:sp>
      <p:pic>
        <p:nvPicPr>
          <p:cNvPr id="4" name="Picture 3" descr="A screenshot of a computer code&#10;&#10;AI-generated content may be incorrect.">
            <a:extLst>
              <a:ext uri="{FF2B5EF4-FFF2-40B4-BE49-F238E27FC236}">
                <a16:creationId xmlns:a16="http://schemas.microsoft.com/office/drawing/2014/main" id="{88DF1BE2-45AD-91F9-695C-3D27A523FDCF}"/>
              </a:ext>
            </a:extLst>
          </p:cNvPr>
          <p:cNvPicPr>
            <a:picLocks noChangeAspect="1"/>
          </p:cNvPicPr>
          <p:nvPr/>
        </p:nvPicPr>
        <p:blipFill>
          <a:blip r:embed="rId3"/>
          <a:stretch>
            <a:fillRect/>
          </a:stretch>
        </p:blipFill>
        <p:spPr>
          <a:xfrm>
            <a:off x="128087" y="1618961"/>
            <a:ext cx="7615508" cy="4880703"/>
          </a:xfrm>
          <a:prstGeom prst="rect">
            <a:avLst/>
          </a:prstGeom>
        </p:spPr>
      </p:pic>
    </p:spTree>
    <p:extLst>
      <p:ext uri="{BB962C8B-B14F-4D97-AF65-F5344CB8AC3E}">
        <p14:creationId xmlns:p14="http://schemas.microsoft.com/office/powerpoint/2010/main" val="879848898"/>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7E99-DA30-7398-E75E-B62EA1C62426}"/>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258DD4AE-9474-2BDA-2176-27B7B5FBE331}"/>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l-GR" b="1" dirty="0">
                <a:solidFill>
                  <a:srgbClr val="F9853D"/>
                </a:solidFill>
                <a:latin typeface="Bahnschrift" panose="020B0502040204020203" pitchFamily="34" charset="0"/>
              </a:rPr>
              <a:t> 5η  έκδοση - Στατιστικά χαρακτήρα</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BA65CD0D-7BA5-2CA7-348D-E973738FC8F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2B5043B9-46A6-3A1B-50B2-BC8244A129AF}"/>
              </a:ext>
            </a:extLst>
          </p:cNvPr>
          <p:cNvPicPr>
            <a:picLocks noChangeAspect="1"/>
          </p:cNvPicPr>
          <p:nvPr/>
        </p:nvPicPr>
        <p:blipFill>
          <a:blip r:embed="rId3"/>
          <a:stretch>
            <a:fillRect/>
          </a:stretch>
        </p:blipFill>
        <p:spPr>
          <a:xfrm>
            <a:off x="188526" y="2093004"/>
            <a:ext cx="3652106" cy="2688905"/>
          </a:xfrm>
          <a:prstGeom prst="rect">
            <a:avLst/>
          </a:prstGeom>
        </p:spPr>
      </p:pic>
      <p:grpSp>
        <p:nvGrpSpPr>
          <p:cNvPr id="17" name="Group 16">
            <a:extLst>
              <a:ext uri="{FF2B5EF4-FFF2-40B4-BE49-F238E27FC236}">
                <a16:creationId xmlns:a16="http://schemas.microsoft.com/office/drawing/2014/main" id="{B09F5C0F-BBCE-5405-1CE3-F65A2C044060}"/>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CE7D3391-6B1C-FFBA-537E-E5BB32A415B9}"/>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84C02190-657E-CC41-13BE-01518C776641}"/>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830D1C0A-1CA5-E0C7-6E57-A2490D4A17D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8B2383E5-3DB9-12E2-AE52-C01903E1208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27</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F3BFE8F8-1D90-0FCA-EB04-F0761A2A876D}"/>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5EA7EF42-E1BD-C6A2-9C66-721C23B188E5}"/>
              </a:ext>
            </a:extLst>
          </p:cNvPr>
          <p:cNvSpPr txBox="1">
            <a:spLocks/>
          </p:cNvSpPr>
          <p:nvPr/>
        </p:nvSpPr>
        <p:spPr bwMode="auto">
          <a:xfrm>
            <a:off x="1" y="688467"/>
            <a:ext cx="12191999" cy="1053505"/>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-8   5η  έκδοση - Στατιστικά χαρακτήρα</a:t>
            </a:r>
          </a:p>
          <a:p>
            <a:pPr marL="0" indent="0">
              <a:buClr>
                <a:srgbClr val="3333CC"/>
              </a:buClr>
              <a:buNone/>
              <a:defRPr/>
            </a:pPr>
            <a:r>
              <a:rPr lang="el-GR" sz="2400" kern="0" dirty="0">
                <a:solidFill>
                  <a:srgbClr val="000000"/>
                </a:solidFill>
                <a:latin typeface="Tahoma"/>
              </a:rPr>
              <a:t>Υλοποιήστε τη λειτουργικότητα εμφάνισης στατιστικών χαρακτήρα.</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8D497D12-8D21-8375-0134-E763D034F5BE}"/>
              </a:ext>
            </a:extLst>
          </p:cNvPr>
          <p:cNvSpPr/>
          <p:nvPr/>
        </p:nvSpPr>
        <p:spPr>
          <a:xfrm>
            <a:off x="4984955" y="2003246"/>
            <a:ext cx="5683045" cy="1654354"/>
          </a:xfrm>
          <a:prstGeom prst="wedgeRoundRectCallout">
            <a:avLst>
              <a:gd name="adj1" fmla="val -59388"/>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Αποδώστε στις μεταβλητές, στις οποίες θα αποθηκεύσετε τα στατιστικά, ονόματα που θα προσδιορίζουν την πληροφορία που έχει η μεταβλητή.</a:t>
            </a:r>
            <a:endParaRPr lang="en-GB" sz="3600" b="1" dirty="0">
              <a:solidFill>
                <a:schemeClr val="tx1"/>
              </a:solidFill>
              <a:highlight>
                <a:srgbClr val="FFFF00"/>
              </a:highlight>
            </a:endParaRPr>
          </a:p>
        </p:txBody>
      </p:sp>
      <p:sp>
        <p:nvSpPr>
          <p:cNvPr id="4" name="Speech Bubble: Rectangle with Corners Rounded 3">
            <a:extLst>
              <a:ext uri="{FF2B5EF4-FFF2-40B4-BE49-F238E27FC236}">
                <a16:creationId xmlns:a16="http://schemas.microsoft.com/office/drawing/2014/main" id="{6D3ABE3B-3E4F-676C-3DF3-6FD18245E4D8}"/>
              </a:ext>
            </a:extLst>
          </p:cNvPr>
          <p:cNvSpPr/>
          <p:nvPr/>
        </p:nvSpPr>
        <p:spPr>
          <a:xfrm>
            <a:off x="944380" y="4928133"/>
            <a:ext cx="10727961" cy="1053505"/>
          </a:xfrm>
          <a:prstGeom prst="wedgeRoundRectCallout">
            <a:avLst>
              <a:gd name="adj1" fmla="val -57572"/>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t>Αναζητήστε </a:t>
            </a:r>
            <a:r>
              <a:rPr lang="el-GR" sz="2800" b="1" dirty="0">
                <a:solidFill>
                  <a:schemeClr val="tx1"/>
                </a:solidFill>
              </a:rPr>
              <a:t>βασικές διεργασίες </a:t>
            </a:r>
            <a:r>
              <a:rPr lang="el-GR" sz="2800" b="1" dirty="0"/>
              <a:t>που πρέπει να εκτελεστούν για τον υπολογισμό των στατιστικών χαρακτήρα. </a:t>
            </a:r>
            <a:r>
              <a:rPr lang="el-GR" sz="2800" b="1" dirty="0">
                <a:solidFill>
                  <a:srgbClr val="FF0000"/>
                </a:solidFill>
              </a:rPr>
              <a:t>Δώστε Λεκτική Περιγραφή </a:t>
            </a:r>
            <a:endParaRPr lang="en-GB" sz="4800" b="1" dirty="0">
              <a:solidFill>
                <a:srgbClr val="FF0000"/>
              </a:solidFill>
              <a:highlight>
                <a:srgbClr val="FFFF00"/>
              </a:highlight>
            </a:endParaRPr>
          </a:p>
        </p:txBody>
      </p:sp>
    </p:spTree>
    <p:extLst>
      <p:ext uri="{BB962C8B-B14F-4D97-AF65-F5344CB8AC3E}">
        <p14:creationId xmlns:p14="http://schemas.microsoft.com/office/powerpoint/2010/main" val="2279780617"/>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FC939-68A2-7CB6-1DD7-2E71524965E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9F54B06-2A96-E69A-54E0-8FC478C2F7C8}"/>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l-GR" b="1" dirty="0">
                <a:solidFill>
                  <a:srgbClr val="F9853D"/>
                </a:solidFill>
                <a:latin typeface="Bahnschrift" panose="020B0502040204020203" pitchFamily="34" charset="0"/>
              </a:rPr>
              <a:t>Στατιστικά χαρακτήρα – Λεκτική Περιγραφή</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BE8E5340-F42C-5143-6025-CA8A6827DAE3}"/>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827BD5B1-E781-F9AC-8F03-1314647A81CB}"/>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2989FBFA-B499-61EE-DCA7-183FFF73DD5C}"/>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B23C307D-DFA9-E7E3-0394-67B096CF5A21}"/>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076C5DAA-6909-97B2-BD21-C5DD5EE023D2}"/>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0775E560-AFA0-8B34-7634-46A62222380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28</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D8C53825-1CF2-35B7-A9C3-BDA743BE0482}"/>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pic>
        <p:nvPicPr>
          <p:cNvPr id="8" name="Picture 7">
            <a:extLst>
              <a:ext uri="{FF2B5EF4-FFF2-40B4-BE49-F238E27FC236}">
                <a16:creationId xmlns:a16="http://schemas.microsoft.com/office/drawing/2014/main" id="{E8B76CA8-D0D1-FB6F-20D6-6D1585A636E9}"/>
              </a:ext>
            </a:extLst>
          </p:cNvPr>
          <p:cNvPicPr>
            <a:picLocks noChangeAspect="1"/>
          </p:cNvPicPr>
          <p:nvPr/>
        </p:nvPicPr>
        <p:blipFill>
          <a:blip r:embed="rId3"/>
          <a:stretch>
            <a:fillRect/>
          </a:stretch>
        </p:blipFill>
        <p:spPr>
          <a:xfrm>
            <a:off x="93566" y="755475"/>
            <a:ext cx="8549979" cy="1563615"/>
          </a:xfrm>
          <a:prstGeom prst="rect">
            <a:avLst/>
          </a:prstGeom>
        </p:spPr>
      </p:pic>
      <p:pic>
        <p:nvPicPr>
          <p:cNvPr id="9" name="Picture 8">
            <a:extLst>
              <a:ext uri="{FF2B5EF4-FFF2-40B4-BE49-F238E27FC236}">
                <a16:creationId xmlns:a16="http://schemas.microsoft.com/office/drawing/2014/main" id="{8B909BF9-79D8-AB08-C13A-08F09A2B10AF}"/>
              </a:ext>
            </a:extLst>
          </p:cNvPr>
          <p:cNvPicPr>
            <a:picLocks noChangeAspect="1"/>
          </p:cNvPicPr>
          <p:nvPr/>
        </p:nvPicPr>
        <p:blipFill>
          <a:blip r:embed="rId4"/>
          <a:stretch>
            <a:fillRect/>
          </a:stretch>
        </p:blipFill>
        <p:spPr>
          <a:xfrm>
            <a:off x="119335" y="2364776"/>
            <a:ext cx="7720761" cy="1568280"/>
          </a:xfrm>
          <a:prstGeom prst="rect">
            <a:avLst/>
          </a:prstGeom>
        </p:spPr>
      </p:pic>
      <p:pic>
        <p:nvPicPr>
          <p:cNvPr id="11" name="Picture 10">
            <a:extLst>
              <a:ext uri="{FF2B5EF4-FFF2-40B4-BE49-F238E27FC236}">
                <a16:creationId xmlns:a16="http://schemas.microsoft.com/office/drawing/2014/main" id="{C2C5299D-E414-1D6F-B3E2-4982CDDF15B1}"/>
              </a:ext>
            </a:extLst>
          </p:cNvPr>
          <p:cNvPicPr>
            <a:picLocks noChangeAspect="1"/>
          </p:cNvPicPr>
          <p:nvPr/>
        </p:nvPicPr>
        <p:blipFill>
          <a:blip r:embed="rId5"/>
          <a:stretch>
            <a:fillRect/>
          </a:stretch>
        </p:blipFill>
        <p:spPr>
          <a:xfrm>
            <a:off x="9048328" y="1058643"/>
            <a:ext cx="728204" cy="673196"/>
          </a:xfrm>
          <a:prstGeom prst="rect">
            <a:avLst/>
          </a:prstGeom>
        </p:spPr>
      </p:pic>
      <p:pic>
        <p:nvPicPr>
          <p:cNvPr id="12" name="Picture 11">
            <a:extLst>
              <a:ext uri="{FF2B5EF4-FFF2-40B4-BE49-F238E27FC236}">
                <a16:creationId xmlns:a16="http://schemas.microsoft.com/office/drawing/2014/main" id="{40BF776A-6913-2BA6-EDE1-E520E3082005}"/>
              </a:ext>
            </a:extLst>
          </p:cNvPr>
          <p:cNvPicPr>
            <a:picLocks noChangeAspect="1"/>
          </p:cNvPicPr>
          <p:nvPr/>
        </p:nvPicPr>
        <p:blipFill>
          <a:blip r:embed="rId5"/>
          <a:stretch>
            <a:fillRect/>
          </a:stretch>
        </p:blipFill>
        <p:spPr>
          <a:xfrm>
            <a:off x="8026122" y="2476214"/>
            <a:ext cx="728204" cy="673196"/>
          </a:xfrm>
          <a:prstGeom prst="rect">
            <a:avLst/>
          </a:prstGeom>
        </p:spPr>
      </p:pic>
      <p:pic>
        <p:nvPicPr>
          <p:cNvPr id="14" name="Picture 13">
            <a:extLst>
              <a:ext uri="{FF2B5EF4-FFF2-40B4-BE49-F238E27FC236}">
                <a16:creationId xmlns:a16="http://schemas.microsoft.com/office/drawing/2014/main" id="{08BA57AC-F487-463C-AA16-CBBDD5292840}"/>
              </a:ext>
            </a:extLst>
          </p:cNvPr>
          <p:cNvPicPr>
            <a:picLocks noChangeAspect="1"/>
          </p:cNvPicPr>
          <p:nvPr/>
        </p:nvPicPr>
        <p:blipFill>
          <a:blip r:embed="rId6"/>
          <a:stretch>
            <a:fillRect/>
          </a:stretch>
        </p:blipFill>
        <p:spPr>
          <a:xfrm>
            <a:off x="0" y="5050015"/>
            <a:ext cx="4429743" cy="1305107"/>
          </a:xfrm>
          <a:prstGeom prst="rect">
            <a:avLst/>
          </a:prstGeom>
        </p:spPr>
      </p:pic>
      <p:pic>
        <p:nvPicPr>
          <p:cNvPr id="15" name="Picture 14">
            <a:extLst>
              <a:ext uri="{FF2B5EF4-FFF2-40B4-BE49-F238E27FC236}">
                <a16:creationId xmlns:a16="http://schemas.microsoft.com/office/drawing/2014/main" id="{39B59085-C17B-BD9A-B021-A64F73DE0DB2}"/>
              </a:ext>
            </a:extLst>
          </p:cNvPr>
          <p:cNvPicPr>
            <a:picLocks noChangeAspect="1"/>
          </p:cNvPicPr>
          <p:nvPr/>
        </p:nvPicPr>
        <p:blipFill>
          <a:blip r:embed="rId5"/>
          <a:stretch>
            <a:fillRect/>
          </a:stretch>
        </p:blipFill>
        <p:spPr>
          <a:xfrm>
            <a:off x="1560174" y="4429418"/>
            <a:ext cx="728204" cy="673196"/>
          </a:xfrm>
          <a:prstGeom prst="rect">
            <a:avLst/>
          </a:prstGeom>
        </p:spPr>
      </p:pic>
      <p:sp>
        <p:nvSpPr>
          <p:cNvPr id="16" name="Rectangle 15">
            <a:extLst>
              <a:ext uri="{FF2B5EF4-FFF2-40B4-BE49-F238E27FC236}">
                <a16:creationId xmlns:a16="http://schemas.microsoft.com/office/drawing/2014/main" id="{A6541BA4-6817-3988-9F9C-4C83B05EAA63}"/>
              </a:ext>
            </a:extLst>
          </p:cNvPr>
          <p:cNvSpPr/>
          <p:nvPr/>
        </p:nvSpPr>
        <p:spPr bwMode="auto">
          <a:xfrm>
            <a:off x="0" y="2283229"/>
            <a:ext cx="12192000" cy="71721"/>
          </a:xfrm>
          <a:prstGeom prst="rect">
            <a:avLst/>
          </a:prstGeom>
          <a:solidFill>
            <a:schemeClr val="bg1">
              <a:lumMod val="7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25" name="Rectangle 24">
            <a:extLst>
              <a:ext uri="{FF2B5EF4-FFF2-40B4-BE49-F238E27FC236}">
                <a16:creationId xmlns:a16="http://schemas.microsoft.com/office/drawing/2014/main" id="{87A226EF-102A-43DA-96E7-9E85746625BB}"/>
              </a:ext>
            </a:extLst>
          </p:cNvPr>
          <p:cNvSpPr/>
          <p:nvPr/>
        </p:nvSpPr>
        <p:spPr bwMode="auto">
          <a:xfrm flipV="1">
            <a:off x="0" y="4019224"/>
            <a:ext cx="4227372" cy="99895"/>
          </a:xfrm>
          <a:prstGeom prst="rect">
            <a:avLst/>
          </a:prstGeom>
          <a:solidFill>
            <a:schemeClr val="bg1">
              <a:lumMod val="7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26" name="Rectangle 25">
            <a:extLst>
              <a:ext uri="{FF2B5EF4-FFF2-40B4-BE49-F238E27FC236}">
                <a16:creationId xmlns:a16="http://schemas.microsoft.com/office/drawing/2014/main" id="{8EF61691-073A-FD93-7C0A-618845621AAE}"/>
              </a:ext>
            </a:extLst>
          </p:cNvPr>
          <p:cNvSpPr/>
          <p:nvPr/>
        </p:nvSpPr>
        <p:spPr bwMode="auto">
          <a:xfrm flipV="1">
            <a:off x="4227372" y="3403006"/>
            <a:ext cx="7883300" cy="99894"/>
          </a:xfrm>
          <a:prstGeom prst="rect">
            <a:avLst/>
          </a:prstGeom>
          <a:solidFill>
            <a:schemeClr val="bg1">
              <a:lumMod val="7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ahoma" pitchFamily="34" charset="0"/>
            </a:endParaRPr>
          </a:p>
        </p:txBody>
      </p:sp>
      <p:sp>
        <p:nvSpPr>
          <p:cNvPr id="6" name="Speech Bubble: Rectangle with Corners Rounded 5">
            <a:extLst>
              <a:ext uri="{FF2B5EF4-FFF2-40B4-BE49-F238E27FC236}">
                <a16:creationId xmlns:a16="http://schemas.microsoft.com/office/drawing/2014/main" id="{78AE98AC-5CFD-6FEB-B800-129EEEB7E598}"/>
              </a:ext>
            </a:extLst>
          </p:cNvPr>
          <p:cNvSpPr/>
          <p:nvPr/>
        </p:nvSpPr>
        <p:spPr>
          <a:xfrm>
            <a:off x="9378084" y="1935434"/>
            <a:ext cx="2773181" cy="1155335"/>
          </a:xfrm>
          <a:prstGeom prst="wedgeRoundRectCallout">
            <a:avLst>
              <a:gd name="adj1" fmla="val -67320"/>
              <a:gd name="adj2" fmla="val 72317"/>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Εντοπίστε τα λάθη στις Λεκτικές Περιγραφές</a:t>
            </a:r>
            <a:endParaRPr lang="en-GB" sz="2400" b="1" dirty="0"/>
          </a:p>
        </p:txBody>
      </p:sp>
      <p:pic>
        <p:nvPicPr>
          <p:cNvPr id="10" name="Picture 9">
            <a:extLst>
              <a:ext uri="{FF2B5EF4-FFF2-40B4-BE49-F238E27FC236}">
                <a16:creationId xmlns:a16="http://schemas.microsoft.com/office/drawing/2014/main" id="{966156FB-7971-3221-3A12-A91289DE7F8D}"/>
              </a:ext>
            </a:extLst>
          </p:cNvPr>
          <p:cNvPicPr>
            <a:picLocks noChangeAspect="1"/>
          </p:cNvPicPr>
          <p:nvPr/>
        </p:nvPicPr>
        <p:blipFill>
          <a:blip r:embed="rId7"/>
          <a:stretch>
            <a:fillRect/>
          </a:stretch>
        </p:blipFill>
        <p:spPr>
          <a:xfrm>
            <a:off x="4413398" y="3622148"/>
            <a:ext cx="7697274" cy="2753109"/>
          </a:xfrm>
          <a:prstGeom prst="rect">
            <a:avLst/>
          </a:prstGeom>
        </p:spPr>
      </p:pic>
      <p:pic>
        <p:nvPicPr>
          <p:cNvPr id="13" name="Picture 12">
            <a:extLst>
              <a:ext uri="{FF2B5EF4-FFF2-40B4-BE49-F238E27FC236}">
                <a16:creationId xmlns:a16="http://schemas.microsoft.com/office/drawing/2014/main" id="{571B67CA-52F2-C819-6213-65CB88C24553}"/>
              </a:ext>
            </a:extLst>
          </p:cNvPr>
          <p:cNvPicPr>
            <a:picLocks noChangeAspect="1"/>
          </p:cNvPicPr>
          <p:nvPr/>
        </p:nvPicPr>
        <p:blipFill>
          <a:blip r:embed="rId5"/>
          <a:stretch>
            <a:fillRect/>
          </a:stretch>
        </p:blipFill>
        <p:spPr>
          <a:xfrm>
            <a:off x="10974612" y="4940122"/>
            <a:ext cx="728204" cy="673196"/>
          </a:xfrm>
          <a:prstGeom prst="rect">
            <a:avLst/>
          </a:prstGeom>
        </p:spPr>
      </p:pic>
    </p:spTree>
    <p:extLst>
      <p:ext uri="{BB962C8B-B14F-4D97-AF65-F5344CB8AC3E}">
        <p14:creationId xmlns:p14="http://schemas.microsoft.com/office/powerpoint/2010/main" val="4022077663"/>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par>
                          <p:cTn id="19" fill="hold">
                            <p:stCondLst>
                              <p:cond delay="0"/>
                            </p:stCondLst>
                            <p:childTnLst>
                              <p:par>
                                <p:cTn id="20" presetID="10" presetClass="entr" presetSubtype="0"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C320-3722-4AC4-414A-C0EFD8363555}"/>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129DA7A5-9882-BD0D-24B7-708BC63A6F88}"/>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l-GR" b="1" dirty="0">
                <a:solidFill>
                  <a:srgbClr val="F9853D"/>
                </a:solidFill>
                <a:latin typeface="Bahnschrift" panose="020B0502040204020203" pitchFamily="34" charset="0"/>
              </a:rPr>
              <a:t>5η  έκδοση - Στατιστικά χαρακτήρα</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A33ED29C-1A66-5C5E-DC2B-075226A6CB0E}"/>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87C26936-6D5B-3AA3-E074-61349084C821}"/>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0E471F98-D936-D7E6-020B-1FD64ADD155D}"/>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A4697A72-2E7F-588B-B45E-CF99264C2783}"/>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7A006A7A-7331-27C2-0682-0DDCCC7D28B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CDB1237C-D70C-8EE1-4D7C-7FE88561771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29</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72D13908-6110-F86F-3BCE-FD86DF118E03}"/>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3E5BCCD4-FD0E-771E-DD2E-3E89BE2D9175}"/>
              </a:ext>
            </a:extLst>
          </p:cNvPr>
          <p:cNvSpPr txBox="1">
            <a:spLocks/>
          </p:cNvSpPr>
          <p:nvPr/>
        </p:nvSpPr>
        <p:spPr bwMode="auto">
          <a:xfrm>
            <a:off x="1" y="688467"/>
            <a:ext cx="12191999" cy="810549"/>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400" b="1" dirty="0">
                <a:solidFill>
                  <a:srgbClr val="F9853D"/>
                </a:solidFill>
                <a:latin typeface="Bahnschrift" panose="020B0502040204020203" pitchFamily="34" charset="0"/>
              </a:rPr>
              <a:t>Δράση </a:t>
            </a:r>
            <a:r>
              <a:rPr lang="en-US" sz="2400" b="1" dirty="0">
                <a:solidFill>
                  <a:srgbClr val="F9853D"/>
                </a:solidFill>
                <a:latin typeface="Bahnschrift" panose="020B0502040204020203" pitchFamily="34" charset="0"/>
              </a:rPr>
              <a:t>8</a:t>
            </a:r>
            <a:r>
              <a:rPr lang="el-GR" sz="2400" b="1" dirty="0">
                <a:solidFill>
                  <a:srgbClr val="F9853D"/>
                </a:solidFill>
                <a:latin typeface="Bahnschrift" panose="020B0502040204020203" pitchFamily="34" charset="0"/>
              </a:rPr>
              <a:t>-8   5η  έκδοση - Στατιστικά χαρακτήρα</a:t>
            </a:r>
          </a:p>
          <a:p>
            <a:pPr marL="0" indent="0">
              <a:buClr>
                <a:srgbClr val="3333CC"/>
              </a:buClr>
              <a:buNone/>
              <a:defRPr/>
            </a:pPr>
            <a:r>
              <a:rPr lang="el-GR" sz="1800" kern="0" dirty="0">
                <a:solidFill>
                  <a:srgbClr val="000000"/>
                </a:solidFill>
                <a:latin typeface="Tahoma"/>
              </a:rPr>
              <a:t>Υλοποιήστε τη λειτουργικότητα εμφάνισης στατιστικών χαρακτήρα.</a:t>
            </a:r>
            <a:endParaRPr lang="en-US" sz="1100" kern="0" dirty="0">
              <a:solidFill>
                <a:srgbClr val="000000"/>
              </a:solidFill>
              <a:latin typeface="Tahoma"/>
            </a:endParaRPr>
          </a:p>
        </p:txBody>
      </p:sp>
      <p:pic>
        <p:nvPicPr>
          <p:cNvPr id="5" name="Picture 4" descr="A screen shot of a computer code&#10;&#10;AI-generated content may be incorrect.">
            <a:extLst>
              <a:ext uri="{FF2B5EF4-FFF2-40B4-BE49-F238E27FC236}">
                <a16:creationId xmlns:a16="http://schemas.microsoft.com/office/drawing/2014/main" id="{12C1A684-82EA-E6BC-0E7A-10A1EC4CC2EE}"/>
              </a:ext>
            </a:extLst>
          </p:cNvPr>
          <p:cNvPicPr>
            <a:picLocks noChangeAspect="1"/>
          </p:cNvPicPr>
          <p:nvPr/>
        </p:nvPicPr>
        <p:blipFill>
          <a:blip r:embed="rId3"/>
          <a:stretch>
            <a:fillRect/>
          </a:stretch>
        </p:blipFill>
        <p:spPr>
          <a:xfrm>
            <a:off x="209760" y="1791168"/>
            <a:ext cx="9955111" cy="4483296"/>
          </a:xfrm>
          <a:prstGeom prst="rect">
            <a:avLst/>
          </a:prstGeom>
        </p:spPr>
      </p:pic>
      <p:sp>
        <p:nvSpPr>
          <p:cNvPr id="6" name="Speech Bubble: Rectangle with Corners Rounded 5">
            <a:extLst>
              <a:ext uri="{FF2B5EF4-FFF2-40B4-BE49-F238E27FC236}">
                <a16:creationId xmlns:a16="http://schemas.microsoft.com/office/drawing/2014/main" id="{67B173FE-96F9-91C5-0080-10318C82A598}"/>
              </a:ext>
            </a:extLst>
          </p:cNvPr>
          <p:cNvSpPr/>
          <p:nvPr/>
        </p:nvSpPr>
        <p:spPr>
          <a:xfrm>
            <a:off x="9084038" y="5156615"/>
            <a:ext cx="2773181" cy="1155335"/>
          </a:xfrm>
          <a:prstGeom prst="wedgeRoundRectCallout">
            <a:avLst>
              <a:gd name="adj1" fmla="val -97590"/>
              <a:gd name="adj2" fmla="val 46367"/>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Top</a:t>
            </a:r>
            <a:r>
              <a:rPr lang="el-GR" sz="2400" b="1" dirty="0"/>
              <a:t>-</a:t>
            </a:r>
            <a:r>
              <a:rPr lang="en-US" sz="2400" b="1" dirty="0"/>
              <a:t>down </a:t>
            </a:r>
            <a:r>
              <a:rPr lang="el-GR" sz="2400" b="1" dirty="0"/>
              <a:t>υλοποίηση της </a:t>
            </a:r>
            <a:r>
              <a:rPr lang="el-GR" sz="2400" b="1" dirty="0" err="1"/>
              <a:t>charStats</a:t>
            </a:r>
            <a:endParaRPr lang="en-GB" sz="2400" b="1" dirty="0"/>
          </a:p>
        </p:txBody>
      </p:sp>
    </p:spTree>
    <p:extLst>
      <p:ext uri="{BB962C8B-B14F-4D97-AF65-F5344CB8AC3E}">
        <p14:creationId xmlns:p14="http://schemas.microsoft.com/office/powerpoint/2010/main" val="2740290481"/>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C855-3E07-10D9-F89D-DE0042E476D4}"/>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2F98F262-B36D-D5BC-178B-62338B1664BE}"/>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3" name="Rectangle 2">
            <a:extLst>
              <a:ext uri="{FF2B5EF4-FFF2-40B4-BE49-F238E27FC236}">
                <a16:creationId xmlns:a16="http://schemas.microsoft.com/office/drawing/2014/main" id="{EDF88565-E376-3189-0A0F-95A7E5932C3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1A24DFB2-D2F5-B7D9-3B19-C0C523AA61C1}"/>
              </a:ext>
            </a:extLst>
          </p:cNvPr>
          <p:cNvSpPr txBox="1">
            <a:spLocks noChangeArrowheads="1"/>
          </p:cNvSpPr>
          <p:nvPr/>
        </p:nvSpPr>
        <p:spPr bwMode="auto">
          <a:xfrm>
            <a:off x="267579" y="975392"/>
            <a:ext cx="11207100" cy="51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1</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rPr>
              <a:t>Επιλογή λειτουργίας (Μενού)</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Μενού επιλογής λειτουργίας</a:t>
            </a:r>
          </a:p>
          <a:p>
            <a:pPr lvl="1" eaLnBrk="1" hangingPunct="1">
              <a:lnSpc>
                <a:spcPct val="80000"/>
              </a:lnSpc>
            </a:pPr>
            <a:r>
              <a:rPr lang="el-GR" sz="2400" kern="0" dirty="0">
                <a:solidFill>
                  <a:srgbClr val="000000"/>
                </a:solidFill>
                <a:latin typeface="Tahoma"/>
              </a:rPr>
              <a:t>Η </a:t>
            </a:r>
            <a:r>
              <a:rPr lang="el-GR" sz="2400" kern="0" dirty="0" err="1">
                <a:solidFill>
                  <a:srgbClr val="000000"/>
                </a:solidFill>
                <a:latin typeface="Tahoma"/>
              </a:rPr>
              <a:t>top-down</a:t>
            </a:r>
            <a:r>
              <a:rPr lang="el-GR" sz="2400" kern="0" dirty="0">
                <a:solidFill>
                  <a:srgbClr val="000000"/>
                </a:solidFill>
                <a:latin typeface="Tahoma"/>
              </a:rPr>
              <a:t> προσέγγιση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800" b="1" dirty="0">
                <a:solidFill>
                  <a:srgbClr val="C00000"/>
                </a:solidFill>
                <a:latin typeface="Tahoma" panose="020B0604030504040204" pitchFamily="34" charset="0"/>
                <a:ea typeface="Tahoma" panose="020B0604030504040204" pitchFamily="34" charset="0"/>
                <a:cs typeface="Tahoma" panose="020B0604030504040204" pitchFamily="34" charset="0"/>
              </a:rPr>
              <a:t>Διαχείριση Λέξεων</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Διαχείριση πολυπλοκότητας (Πλάνο εκδόσεων)</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Ταξινόμηση – Αναζήτηση</a:t>
            </a:r>
          </a:p>
          <a:p>
            <a:pPr lvl="1" eaLnBrk="1" hangingPunct="1">
              <a:lnSpc>
                <a:spcPct val="80000"/>
              </a:lnSpc>
            </a:pPr>
            <a:r>
              <a:rPr lang="el-GR" altLang="el-GR" sz="2400" b="1" dirty="0">
                <a:latin typeface="Tahoma" panose="020B0604030504040204" pitchFamily="34" charset="0"/>
                <a:ea typeface="Tahoma" panose="020B0604030504040204" pitchFamily="34" charset="0"/>
                <a:cs typeface="Tahoma" panose="020B0604030504040204" pitchFamily="34" charset="0"/>
              </a:rPr>
              <a:t>Οργάνωση πηγαίου κώδικα σε περισσότερα του ενός αρχεία</a:t>
            </a:r>
          </a:p>
          <a:p>
            <a:pPr lvl="1" eaLnBrk="1" hangingPunct="1">
              <a:lnSpc>
                <a:spcPct val="80000"/>
              </a:lnSpc>
            </a:pPr>
            <a:r>
              <a:rPr lang="el-GR" altLang="el-GR" sz="2400" b="1" dirty="0">
                <a:latin typeface="Tahoma" panose="020B0604030504040204" pitchFamily="34" charset="0"/>
                <a:ea typeface="Tahoma" panose="020B0604030504040204" pitchFamily="34" charset="0"/>
                <a:cs typeface="Tahoma" panose="020B0604030504040204" pitchFamily="34" charset="0"/>
              </a:rPr>
              <a:t>Δυναμική διαχείριση μνήμης</a:t>
            </a:r>
          </a:p>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2</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endParaRPr lang="en-US" altLang="el-GR" sz="2800" b="1" u="sng"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με χρήση της i2p βιβλιοθήκης</a:t>
            </a: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Bubble</a:t>
            </a: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Sort</a:t>
            </a:r>
            <a:endPar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Αναζήτηση</a:t>
            </a:r>
            <a:r>
              <a:rPr lang="el-GR" altLang="el-GR" sz="2400" dirty="0">
                <a:solidFill>
                  <a:srgbClr val="F9853D"/>
                </a:solidFill>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sz="2400" b="1" dirty="0">
                <a:solidFill>
                  <a:srgbClr val="F9853D"/>
                </a:solidFill>
                <a:latin typeface="Bahnschrift" panose="020B0502040204020203" pitchFamily="34" charset="0"/>
              </a:rPr>
              <a:t>Ταξινόμηση και Αναζήτηση με την τυπική βιβλιοθήκη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endParaRPr lang="en-US"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endParaRPr>
          </a:p>
        </p:txBody>
      </p:sp>
      <p:grpSp>
        <p:nvGrpSpPr>
          <p:cNvPr id="5" name="Group 4">
            <a:extLst>
              <a:ext uri="{FF2B5EF4-FFF2-40B4-BE49-F238E27FC236}">
                <a16:creationId xmlns:a16="http://schemas.microsoft.com/office/drawing/2014/main" id="{9AED2B51-950F-F5D7-2DF2-2F981C5EA0A5}"/>
              </a:ext>
            </a:extLst>
          </p:cNvPr>
          <p:cNvGrpSpPr/>
          <p:nvPr/>
        </p:nvGrpSpPr>
        <p:grpSpPr>
          <a:xfrm>
            <a:off x="-1" y="6559909"/>
            <a:ext cx="12192001" cy="366704"/>
            <a:chOff x="-1" y="6559909"/>
            <a:chExt cx="12192001" cy="366704"/>
          </a:xfrm>
        </p:grpSpPr>
        <p:grpSp>
          <p:nvGrpSpPr>
            <p:cNvPr id="7" name="Group 6">
              <a:extLst>
                <a:ext uri="{FF2B5EF4-FFF2-40B4-BE49-F238E27FC236}">
                  <a16:creationId xmlns:a16="http://schemas.microsoft.com/office/drawing/2014/main" id="{CB0FDD35-398B-BCDF-80EB-041C6F40AC6B}"/>
                </a:ext>
              </a:extLst>
            </p:cNvPr>
            <p:cNvGrpSpPr/>
            <p:nvPr/>
          </p:nvGrpSpPr>
          <p:grpSpPr>
            <a:xfrm>
              <a:off x="-1" y="6559909"/>
              <a:ext cx="12192001" cy="291730"/>
              <a:chOff x="-1" y="6559909"/>
              <a:chExt cx="12192001" cy="291730"/>
            </a:xfrm>
          </p:grpSpPr>
          <p:sp>
            <p:nvSpPr>
              <p:cNvPr id="10" name="Rectangle 14">
                <a:extLst>
                  <a:ext uri="{FF2B5EF4-FFF2-40B4-BE49-F238E27FC236}">
                    <a16:creationId xmlns:a16="http://schemas.microsoft.com/office/drawing/2014/main" id="{83EE56AE-92A5-09AB-5A3E-B321245469D9}"/>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C71D9311-1D49-0B44-6025-DD5973A857D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9695046-FADA-3C3F-C22A-F3896BAC309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30</a:t>
                </a:fld>
                <a:endParaRPr lang="en-US" sz="1200" dirty="0">
                  <a:latin typeface="Bahnschrift Light" panose="020B0502040204020203" pitchFamily="34" charset="0"/>
                  <a:cs typeface="Arial" pitchFamily="34" charset="0"/>
                </a:endParaRPr>
              </a:p>
            </p:txBody>
          </p:sp>
        </p:grpSp>
        <p:sp>
          <p:nvSpPr>
            <p:cNvPr id="9" name="Θέση υποσέλιδου 4">
              <a:extLst>
                <a:ext uri="{FF2B5EF4-FFF2-40B4-BE49-F238E27FC236}">
                  <a16:creationId xmlns:a16="http://schemas.microsoft.com/office/drawing/2014/main" id="{D05F6257-FAB3-4F4D-2525-87878D904ABB}"/>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Tree>
    <p:extLst>
      <p:ext uri="{BB962C8B-B14F-4D97-AF65-F5344CB8AC3E}">
        <p14:creationId xmlns:p14="http://schemas.microsoft.com/office/powerpoint/2010/main" val="21722466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AD2A-8417-5D50-EE0B-83262489C3F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7CFBCEA-FEA9-7298-6A04-596D27E4D13D}"/>
              </a:ext>
            </a:extLst>
          </p:cNvPr>
          <p:cNvSpPr>
            <a:spLocks noGrp="1"/>
          </p:cNvSpPr>
          <p:nvPr>
            <p:ph type="title" idx="4294967295"/>
          </p:nvPr>
        </p:nvSpPr>
        <p:spPr>
          <a:xfrm>
            <a:off x="0" y="0"/>
            <a:ext cx="12191999" cy="646776"/>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l-GR" b="1" dirty="0">
                <a:solidFill>
                  <a:srgbClr val="F9853D"/>
                </a:solidFill>
                <a:latin typeface="Bahnschrift" panose="020B0502040204020203" pitchFamily="34" charset="0"/>
              </a:rPr>
              <a:t> 6η  έκδοση - Δύο αρχεία πηγαίου κώδικα </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74779A5F-EE12-050B-00EF-7EED6305180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CCCED933-6693-6E96-5201-7D7D81926D56}"/>
              </a:ext>
            </a:extLst>
          </p:cNvPr>
          <p:cNvPicPr>
            <a:picLocks noChangeAspect="1"/>
          </p:cNvPicPr>
          <p:nvPr/>
        </p:nvPicPr>
        <p:blipFill>
          <a:blip r:embed="rId3"/>
          <a:stretch>
            <a:fillRect/>
          </a:stretch>
        </p:blipFill>
        <p:spPr>
          <a:xfrm>
            <a:off x="94262" y="2338721"/>
            <a:ext cx="3652106" cy="2688905"/>
          </a:xfrm>
          <a:prstGeom prst="rect">
            <a:avLst/>
          </a:prstGeom>
        </p:spPr>
      </p:pic>
      <p:grpSp>
        <p:nvGrpSpPr>
          <p:cNvPr id="17" name="Group 16">
            <a:extLst>
              <a:ext uri="{FF2B5EF4-FFF2-40B4-BE49-F238E27FC236}">
                <a16:creationId xmlns:a16="http://schemas.microsoft.com/office/drawing/2014/main" id="{C31F2045-DEC3-2D13-1E58-EED41DCD3300}"/>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A0753068-C4B0-37B5-84BA-F5CF0255CF9F}"/>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4A6ABA42-E8DF-6942-6C03-6DBAD5AE93C5}"/>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57AA8B82-9568-06C8-A1E8-A2DD42E1BEA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B2E7EC71-97A0-0C02-9CB8-269F9DA6981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31</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23FC0AD5-2713-F759-F8D8-5772ADB9ECCD}"/>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01BF94F5-48B8-10F8-2937-712B92E09F0F}"/>
              </a:ext>
            </a:extLst>
          </p:cNvPr>
          <p:cNvSpPr txBox="1">
            <a:spLocks/>
          </p:cNvSpPr>
          <p:nvPr/>
        </p:nvSpPr>
        <p:spPr bwMode="auto">
          <a:xfrm>
            <a:off x="1" y="688467"/>
            <a:ext cx="12191999" cy="1530077"/>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-9   6η  έκδοση - Δύο αρχεία πηγαίου κώδικα </a:t>
            </a:r>
          </a:p>
          <a:p>
            <a:pPr marL="0" indent="0">
              <a:buClr>
                <a:srgbClr val="3333CC"/>
              </a:buClr>
              <a:buNone/>
              <a:defRPr/>
            </a:pPr>
            <a:r>
              <a:rPr lang="el-GR" sz="2400" kern="0" dirty="0">
                <a:solidFill>
                  <a:srgbClr val="000000"/>
                </a:solidFill>
                <a:latin typeface="Tahoma"/>
              </a:rPr>
              <a:t>Δώστε μια νέα έκδοση του προγράμματος στην οποία θα έχετε μια αρθρωτή υλοποίηση της </a:t>
            </a:r>
            <a:r>
              <a:rPr lang="el-GR" sz="2400" kern="0" dirty="0" err="1">
                <a:solidFill>
                  <a:srgbClr val="000000"/>
                </a:solidFill>
                <a:latin typeface="Tahoma"/>
              </a:rPr>
              <a:t>charStats</a:t>
            </a:r>
            <a:r>
              <a:rPr lang="el-GR" sz="2400" kern="0" dirty="0">
                <a:solidFill>
                  <a:srgbClr val="000000"/>
                </a:solidFill>
                <a:latin typeface="Tahoma"/>
              </a:rPr>
              <a:t>. </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57B2A555-C33E-35A3-FADD-1EB60BC9E6C9}"/>
              </a:ext>
            </a:extLst>
          </p:cNvPr>
          <p:cNvSpPr/>
          <p:nvPr/>
        </p:nvSpPr>
        <p:spPr>
          <a:xfrm>
            <a:off x="4984955" y="2303989"/>
            <a:ext cx="5683045" cy="1395068"/>
          </a:xfrm>
          <a:prstGeom prst="wedgeRoundRectCallout">
            <a:avLst>
              <a:gd name="adj1" fmla="val -59388"/>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1</a:t>
            </a:r>
            <a:r>
              <a:rPr lang="el-GR" sz="2800" b="1" baseline="30000" dirty="0">
                <a:solidFill>
                  <a:schemeClr val="bg1"/>
                </a:solidFill>
              </a:rPr>
              <a:t>η</a:t>
            </a:r>
            <a:r>
              <a:rPr lang="el-GR" sz="2800" b="1" dirty="0">
                <a:solidFill>
                  <a:schemeClr val="bg1"/>
                </a:solidFill>
              </a:rPr>
              <a:t> επιλογή : καθολικές μεταβλητές περιορισμένης ορατότητας</a:t>
            </a:r>
            <a:endParaRPr lang="en-GB" sz="2800" b="1" dirty="0">
              <a:solidFill>
                <a:schemeClr val="tx1"/>
              </a:solidFill>
              <a:highlight>
                <a:srgbClr val="FFFF00"/>
              </a:highlight>
            </a:endParaRPr>
          </a:p>
        </p:txBody>
      </p:sp>
      <p:sp>
        <p:nvSpPr>
          <p:cNvPr id="4" name="Speech Bubble: Rectangle with Corners Rounded 3">
            <a:extLst>
              <a:ext uri="{FF2B5EF4-FFF2-40B4-BE49-F238E27FC236}">
                <a16:creationId xmlns:a16="http://schemas.microsoft.com/office/drawing/2014/main" id="{E8AC8E06-C3CA-7E6D-814D-5C56A3710D96}"/>
              </a:ext>
            </a:extLst>
          </p:cNvPr>
          <p:cNvSpPr/>
          <p:nvPr/>
        </p:nvSpPr>
        <p:spPr>
          <a:xfrm>
            <a:off x="5425056" y="4305337"/>
            <a:ext cx="5683045" cy="1395068"/>
          </a:xfrm>
          <a:prstGeom prst="wedgeRoundRectCallout">
            <a:avLst>
              <a:gd name="adj1" fmla="val -59388"/>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2</a:t>
            </a:r>
            <a:r>
              <a:rPr lang="el-GR" sz="2800" b="1" baseline="30000" dirty="0">
                <a:solidFill>
                  <a:schemeClr val="bg1"/>
                </a:solidFill>
              </a:rPr>
              <a:t>η</a:t>
            </a:r>
            <a:r>
              <a:rPr lang="el-GR" sz="2800" b="1" dirty="0">
                <a:solidFill>
                  <a:schemeClr val="bg1"/>
                </a:solidFill>
              </a:rPr>
              <a:t> επιλογή : δημιουργία 2ου αρχείου πηγαίου κώδικα</a:t>
            </a:r>
            <a:endParaRPr lang="en-GB" sz="2800" b="1" dirty="0">
              <a:solidFill>
                <a:schemeClr val="tx1"/>
              </a:solidFill>
              <a:highlight>
                <a:srgbClr val="FFFF00"/>
              </a:highlight>
            </a:endParaRPr>
          </a:p>
        </p:txBody>
      </p:sp>
    </p:spTree>
    <p:extLst>
      <p:ext uri="{BB962C8B-B14F-4D97-AF65-F5344CB8AC3E}">
        <p14:creationId xmlns:p14="http://schemas.microsoft.com/office/powerpoint/2010/main" val="3887811896"/>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7F89E-7430-2125-651A-B1880140E5FE}"/>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2C3657C-B366-CEBF-8639-F4A0E8ABAD26}"/>
              </a:ext>
            </a:extLst>
          </p:cNvPr>
          <p:cNvSpPr>
            <a:spLocks noGrp="1"/>
          </p:cNvSpPr>
          <p:nvPr>
            <p:ph type="title" idx="4294967295"/>
          </p:nvPr>
        </p:nvSpPr>
        <p:spPr>
          <a:xfrm>
            <a:off x="0" y="0"/>
            <a:ext cx="12191999" cy="983024"/>
          </a:xfrm>
          <a:prstGeom prst="rect">
            <a:avLst/>
          </a:prstGeom>
          <a:solidFill>
            <a:srgbClr val="FDCBAD"/>
          </a:solidFill>
        </p:spPr>
        <p:txBody>
          <a:bodyPr>
            <a:normAutofit fontScale="90000"/>
          </a:bodyPr>
          <a:lstStyle/>
          <a:p>
            <a:r>
              <a:rPr lang="en-US" b="1" dirty="0">
                <a:solidFill>
                  <a:srgbClr val="F9853D"/>
                </a:solidFill>
                <a:latin typeface="Bahnschrift" panose="020B0502040204020203" pitchFamily="34" charset="0"/>
              </a:rPr>
              <a:t>Hands-on :</a:t>
            </a:r>
            <a:r>
              <a:rPr lang="el-GR" b="1" dirty="0">
                <a:solidFill>
                  <a:srgbClr val="F9853D"/>
                </a:solidFill>
                <a:latin typeface="Bahnschrift" panose="020B0502040204020203" pitchFamily="34" charset="0"/>
              </a:rPr>
              <a:t> 7η  έκδοση - Πίνακας Δεικτών σε συμβολοσειρές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EE2A2CB3-E349-DDE4-31C0-273C1E45C33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7" name="Picture 6">
            <a:extLst>
              <a:ext uri="{FF2B5EF4-FFF2-40B4-BE49-F238E27FC236}">
                <a16:creationId xmlns:a16="http://schemas.microsoft.com/office/drawing/2014/main" id="{804D6C4E-9B31-3345-2BA3-9E9744580A0A}"/>
              </a:ext>
            </a:extLst>
          </p:cNvPr>
          <p:cNvPicPr>
            <a:picLocks noChangeAspect="1"/>
          </p:cNvPicPr>
          <p:nvPr/>
        </p:nvPicPr>
        <p:blipFill>
          <a:blip r:embed="rId3"/>
          <a:stretch>
            <a:fillRect/>
          </a:stretch>
        </p:blipFill>
        <p:spPr>
          <a:xfrm>
            <a:off x="188527" y="3810760"/>
            <a:ext cx="3652106" cy="2688905"/>
          </a:xfrm>
          <a:prstGeom prst="rect">
            <a:avLst/>
          </a:prstGeom>
        </p:spPr>
      </p:pic>
      <p:grpSp>
        <p:nvGrpSpPr>
          <p:cNvPr id="17" name="Group 16">
            <a:extLst>
              <a:ext uri="{FF2B5EF4-FFF2-40B4-BE49-F238E27FC236}">
                <a16:creationId xmlns:a16="http://schemas.microsoft.com/office/drawing/2014/main" id="{7742AA86-0CF7-765D-E982-23C15F3B0B78}"/>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0ED01644-3A91-E000-F779-9E4725C54932}"/>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EC7A25EA-8C31-7B4D-9AB5-CA97591DA4F9}"/>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E61C2513-7826-BCDA-937F-43708EB9203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E5D759BE-0449-29C6-2441-D21C0578927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32</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D5ED13DF-9737-1233-7199-2630485B72CD}"/>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E91C67A8-723D-19F3-FBE5-8A9CAE0E61CC}"/>
              </a:ext>
            </a:extLst>
          </p:cNvPr>
          <p:cNvSpPr txBox="1">
            <a:spLocks/>
          </p:cNvSpPr>
          <p:nvPr/>
        </p:nvSpPr>
        <p:spPr bwMode="auto">
          <a:xfrm>
            <a:off x="1" y="1057998"/>
            <a:ext cx="12191999" cy="1053505"/>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b="1" dirty="0">
                <a:solidFill>
                  <a:srgbClr val="F9853D"/>
                </a:solidFill>
                <a:latin typeface="Bahnschrift" panose="020B0502040204020203" pitchFamily="34" charset="0"/>
              </a:rPr>
              <a:t>Δράση </a:t>
            </a:r>
            <a:r>
              <a:rPr lang="en-US" b="1" dirty="0">
                <a:solidFill>
                  <a:srgbClr val="F9853D"/>
                </a:solidFill>
                <a:latin typeface="Bahnschrift" panose="020B0502040204020203" pitchFamily="34" charset="0"/>
              </a:rPr>
              <a:t>8</a:t>
            </a:r>
            <a:r>
              <a:rPr lang="el-GR" b="1" dirty="0">
                <a:solidFill>
                  <a:srgbClr val="F9853D"/>
                </a:solidFill>
                <a:latin typeface="Bahnschrift" panose="020B0502040204020203" pitchFamily="34" charset="0"/>
              </a:rPr>
              <a:t>-10   7η  έκδοση - Πίνακας Δεικτών σε συμβολοσειρές</a:t>
            </a:r>
          </a:p>
          <a:p>
            <a:pPr marL="0" indent="0">
              <a:buClr>
                <a:srgbClr val="3333CC"/>
              </a:buClr>
              <a:buNone/>
              <a:defRPr/>
            </a:pPr>
            <a:r>
              <a:rPr lang="el-GR" sz="2400" kern="0" dirty="0">
                <a:solidFill>
                  <a:srgbClr val="000000"/>
                </a:solidFill>
                <a:latin typeface="Tahoma"/>
              </a:rPr>
              <a:t>Δώστε μια εκδοχή της 3ης έκδοσης με τη χρήση πίνακα δεικτών.</a:t>
            </a:r>
            <a:endParaRPr lang="en-US" sz="1400" kern="0" dirty="0">
              <a:solidFill>
                <a:srgbClr val="000000"/>
              </a:solidFill>
              <a:latin typeface="Tahoma"/>
            </a:endParaRPr>
          </a:p>
        </p:txBody>
      </p:sp>
      <p:sp>
        <p:nvSpPr>
          <p:cNvPr id="24" name="Speech Bubble: Rectangle with Corners Rounded 23">
            <a:extLst>
              <a:ext uri="{FF2B5EF4-FFF2-40B4-BE49-F238E27FC236}">
                <a16:creationId xmlns:a16="http://schemas.microsoft.com/office/drawing/2014/main" id="{7E58BC4B-D749-7A97-2D05-670113B74636}"/>
              </a:ext>
            </a:extLst>
          </p:cNvPr>
          <p:cNvSpPr/>
          <p:nvPr/>
        </p:nvSpPr>
        <p:spPr>
          <a:xfrm>
            <a:off x="4984955" y="3351430"/>
            <a:ext cx="5683045" cy="1395068"/>
          </a:xfrm>
          <a:prstGeom prst="wedgeRoundRectCallout">
            <a:avLst>
              <a:gd name="adj1" fmla="val -59388"/>
              <a:gd name="adj2" fmla="val 9345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solidFill>
                  <a:schemeClr val="bg1"/>
                </a:solidFill>
              </a:rPr>
              <a:t>Αξιοποιήστε Δυναμική διαχείριση Μνήμης</a:t>
            </a:r>
            <a:endParaRPr lang="en-GB" sz="2800" b="1" dirty="0">
              <a:solidFill>
                <a:schemeClr val="tx1"/>
              </a:solidFill>
              <a:highlight>
                <a:srgbClr val="FFFF00"/>
              </a:highlight>
            </a:endParaRPr>
          </a:p>
        </p:txBody>
      </p:sp>
    </p:spTree>
    <p:extLst>
      <p:ext uri="{BB962C8B-B14F-4D97-AF65-F5344CB8AC3E}">
        <p14:creationId xmlns:p14="http://schemas.microsoft.com/office/powerpoint/2010/main" val="2438512926"/>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4BD6-2FAC-C69D-26CF-386DAAA5AF84}"/>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78CEF2D-F3F8-EEA9-E65B-607724F2AA2B}"/>
              </a:ext>
            </a:extLst>
          </p:cNvPr>
          <p:cNvSpPr>
            <a:spLocks noGrp="1"/>
          </p:cNvSpPr>
          <p:nvPr>
            <p:ph type="title" idx="4294967295"/>
          </p:nvPr>
        </p:nvSpPr>
        <p:spPr>
          <a:xfrm>
            <a:off x="0" y="0"/>
            <a:ext cx="12191999" cy="983024"/>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Δυναμική διαχείριση Μνήμης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50558216-2161-5E75-6168-A99C398FE35A}"/>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7B1E674C-6561-9850-7F45-720FD107ED58}"/>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9CD05E0E-E167-5D6A-6AC1-2FCCBEF66CBE}"/>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D164E195-5D46-F7C4-A832-CDE1256DA3F5}"/>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654424CD-089C-2C2E-99AE-CEBFD3D0EDA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CDD2136D-2593-3CA4-C26E-97218F6CA01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33</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5E033E27-48AA-935C-86FB-D5FD1E737B02}"/>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5" name="TextBox 4">
            <a:extLst>
              <a:ext uri="{FF2B5EF4-FFF2-40B4-BE49-F238E27FC236}">
                <a16:creationId xmlns:a16="http://schemas.microsoft.com/office/drawing/2014/main" id="{CE8871DD-A3CE-E618-D0F3-E50EACFE4D9E}"/>
              </a:ext>
            </a:extLst>
          </p:cNvPr>
          <p:cNvSpPr txBox="1"/>
          <p:nvPr/>
        </p:nvSpPr>
        <p:spPr>
          <a:xfrm>
            <a:off x="266989" y="1813755"/>
            <a:ext cx="9533744" cy="523220"/>
          </a:xfrm>
          <a:prstGeom prst="rect">
            <a:avLst/>
          </a:prstGeom>
          <a:noFill/>
        </p:spPr>
        <p:txBody>
          <a:bodyPr wrap="square">
            <a:spAutoFit/>
          </a:bodyPr>
          <a:lstStyle/>
          <a:p>
            <a:r>
              <a:rPr lang="en-US" sz="2800" dirty="0">
                <a:solidFill>
                  <a:srgbClr val="202122"/>
                </a:solidFill>
                <a:effectLst/>
                <a:latin typeface="Courier New" panose="02070309020205020404" pitchFamily="49" charset="0"/>
                <a:ea typeface="Calibri" panose="020F0502020204030204" pitchFamily="34" charset="0"/>
                <a:cs typeface="Courier New" panose="02070309020205020404" pitchFamily="49" charset="0"/>
              </a:rPr>
              <a:t>char words[MAX_WORDS][MAX_WORD_LEN]; </a:t>
            </a:r>
            <a:endParaRPr lang="en-GB" sz="440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5906502D-A684-5155-A226-8BE15E9C2B13}"/>
              </a:ext>
            </a:extLst>
          </p:cNvPr>
          <p:cNvSpPr txBox="1"/>
          <p:nvPr/>
        </p:nvSpPr>
        <p:spPr>
          <a:xfrm>
            <a:off x="266989" y="1178761"/>
            <a:ext cx="4429995" cy="584775"/>
          </a:xfrm>
          <a:prstGeom prst="rect">
            <a:avLst/>
          </a:prstGeom>
          <a:noFill/>
        </p:spPr>
        <p:txBody>
          <a:bodyPr wrap="none" rtlCol="0">
            <a:spAutoFit/>
          </a:bodyPr>
          <a:lstStyle/>
          <a:p>
            <a:r>
              <a:rPr lang="en-US" sz="3200" b="1" dirty="0"/>
              <a:t>Static memory allocation</a:t>
            </a:r>
            <a:endParaRPr lang="en-GB" sz="3200" b="1" dirty="0"/>
          </a:p>
        </p:txBody>
      </p:sp>
      <p:sp>
        <p:nvSpPr>
          <p:cNvPr id="8" name="TextBox 7">
            <a:extLst>
              <a:ext uri="{FF2B5EF4-FFF2-40B4-BE49-F238E27FC236}">
                <a16:creationId xmlns:a16="http://schemas.microsoft.com/office/drawing/2014/main" id="{402EDBDB-8A4C-D1E4-97B8-550CA384CD4A}"/>
              </a:ext>
            </a:extLst>
          </p:cNvPr>
          <p:cNvSpPr txBox="1"/>
          <p:nvPr/>
        </p:nvSpPr>
        <p:spPr>
          <a:xfrm>
            <a:off x="266988" y="2442106"/>
            <a:ext cx="4963603" cy="584775"/>
          </a:xfrm>
          <a:prstGeom prst="rect">
            <a:avLst/>
          </a:prstGeom>
          <a:noFill/>
        </p:spPr>
        <p:txBody>
          <a:bodyPr wrap="none" rtlCol="0">
            <a:spAutoFit/>
          </a:bodyPr>
          <a:lstStyle/>
          <a:p>
            <a:r>
              <a:rPr lang="en-US" sz="3200" b="1" dirty="0"/>
              <a:t>Dynamic memory allocation</a:t>
            </a:r>
            <a:endParaRPr lang="en-GB" sz="3200" b="1" dirty="0"/>
          </a:p>
        </p:txBody>
      </p:sp>
      <p:sp>
        <p:nvSpPr>
          <p:cNvPr id="10" name="TextBox 9">
            <a:extLst>
              <a:ext uri="{FF2B5EF4-FFF2-40B4-BE49-F238E27FC236}">
                <a16:creationId xmlns:a16="http://schemas.microsoft.com/office/drawing/2014/main" id="{7E281CAF-2607-F88B-5BEC-7204AFA2AB92}"/>
              </a:ext>
            </a:extLst>
          </p:cNvPr>
          <p:cNvSpPr txBox="1"/>
          <p:nvPr/>
        </p:nvSpPr>
        <p:spPr>
          <a:xfrm>
            <a:off x="266988" y="5689505"/>
            <a:ext cx="6205926" cy="523220"/>
          </a:xfrm>
          <a:prstGeom prst="rect">
            <a:avLst/>
          </a:prstGeom>
          <a:noFill/>
        </p:spPr>
        <p:txBody>
          <a:bodyPr wrap="square">
            <a:spAutoFit/>
          </a:bodyPr>
          <a:lstStyle/>
          <a:p>
            <a:pPr algn="just">
              <a:spcBef>
                <a:spcPts val="600"/>
              </a:spcBef>
              <a:spcAft>
                <a:spcPts val="600"/>
              </a:spcAft>
              <a:buNone/>
            </a:pPr>
            <a:r>
              <a:rPr lang="en-US"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void *</a:t>
            </a:r>
            <a:r>
              <a:rPr lang="en-US" sz="2800" b="1" dirty="0">
                <a:solidFill>
                  <a:srgbClr val="C00000"/>
                </a:solidFill>
                <a:latin typeface="Courier New" panose="02070309020205020404" pitchFamily="49" charset="0"/>
                <a:ea typeface="Calibri" panose="020F0502020204030204" pitchFamily="34" charset="0"/>
                <a:cs typeface="Courier New" panose="02070309020205020404" pitchFamily="49" charset="0"/>
              </a:rPr>
              <a:t>malloc</a:t>
            </a:r>
            <a:r>
              <a:rPr lang="en-US"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a:t>
            </a:r>
            <a:r>
              <a:rPr lang="en-US" sz="2800" dirty="0" err="1">
                <a:solidFill>
                  <a:srgbClr val="202122"/>
                </a:solidFill>
                <a:latin typeface="Courier New" panose="02070309020205020404" pitchFamily="49" charset="0"/>
                <a:ea typeface="Calibri" panose="020F0502020204030204" pitchFamily="34" charset="0"/>
                <a:cs typeface="Courier New" panose="02070309020205020404" pitchFamily="49" charset="0"/>
              </a:rPr>
              <a:t>size_t</a:t>
            </a:r>
            <a:r>
              <a:rPr lang="en-US"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 size);</a:t>
            </a:r>
            <a:endParaRPr lang="en-GB" sz="2800" dirty="0">
              <a:solidFill>
                <a:srgbClr val="202122"/>
              </a:solidFill>
              <a:latin typeface="Courier New" panose="02070309020205020404" pitchFamily="49" charset="0"/>
              <a:ea typeface="Calibri" panose="020F0502020204030204" pitchFamily="34" charset="0"/>
              <a:cs typeface="Courier New" panose="02070309020205020404" pitchFamily="49" charset="0"/>
            </a:endParaRPr>
          </a:p>
        </p:txBody>
      </p:sp>
      <p:sp>
        <p:nvSpPr>
          <p:cNvPr id="12" name="TextBox 11">
            <a:extLst>
              <a:ext uri="{FF2B5EF4-FFF2-40B4-BE49-F238E27FC236}">
                <a16:creationId xmlns:a16="http://schemas.microsoft.com/office/drawing/2014/main" id="{C765B35F-1266-176F-DCC2-89B1E019BF95}"/>
              </a:ext>
            </a:extLst>
          </p:cNvPr>
          <p:cNvSpPr txBox="1"/>
          <p:nvPr/>
        </p:nvSpPr>
        <p:spPr>
          <a:xfrm>
            <a:off x="266988" y="4788493"/>
            <a:ext cx="6205927" cy="523220"/>
          </a:xfrm>
          <a:prstGeom prst="rect">
            <a:avLst/>
          </a:prstGeom>
          <a:noFill/>
        </p:spPr>
        <p:txBody>
          <a:bodyPr wrap="square">
            <a:spAutoFit/>
          </a:bodyPr>
          <a:lstStyle/>
          <a:p>
            <a:pPr algn="just">
              <a:spcBef>
                <a:spcPts val="600"/>
              </a:spcBef>
              <a:spcAft>
                <a:spcPts val="600"/>
              </a:spcAft>
              <a:buNone/>
            </a:pPr>
            <a:r>
              <a:rPr lang="en-US"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char</a:t>
            </a:r>
            <a:r>
              <a:rPr lang="el-GR"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 </a:t>
            </a:r>
            <a:r>
              <a:rPr lang="el-GR" sz="2800" b="1" dirty="0">
                <a:solidFill>
                  <a:srgbClr val="C00000"/>
                </a:solidFill>
                <a:latin typeface="Courier New" panose="02070309020205020404" pitchFamily="49" charset="0"/>
                <a:ea typeface="Calibri" panose="020F0502020204030204" pitchFamily="34" charset="0"/>
                <a:cs typeface="Courier New" panose="02070309020205020404" pitchFamily="49" charset="0"/>
              </a:rPr>
              <a:t>*</a:t>
            </a:r>
            <a:r>
              <a:rPr lang="en-US" sz="2800" b="1" dirty="0" err="1">
                <a:solidFill>
                  <a:srgbClr val="C00000"/>
                </a:solidFill>
                <a:latin typeface="Courier New" panose="02070309020205020404" pitchFamily="49" charset="0"/>
                <a:ea typeface="Calibri" panose="020F0502020204030204" pitchFamily="34" charset="0"/>
                <a:cs typeface="Courier New" panose="02070309020205020404" pitchFamily="49" charset="0"/>
              </a:rPr>
              <a:t>wordsPtr</a:t>
            </a:r>
            <a:r>
              <a:rPr lang="el-GR"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a:t>
            </a:r>
            <a:r>
              <a:rPr lang="en-US"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MAX</a:t>
            </a:r>
            <a:r>
              <a:rPr lang="el-GR"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_</a:t>
            </a:r>
            <a:r>
              <a:rPr lang="en-US"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WORDS</a:t>
            </a:r>
            <a:r>
              <a:rPr lang="el-GR" sz="2800" dirty="0">
                <a:solidFill>
                  <a:srgbClr val="202122"/>
                </a:solidFill>
                <a:latin typeface="Courier New" panose="02070309020205020404" pitchFamily="49" charset="0"/>
                <a:ea typeface="Calibri" panose="020F0502020204030204" pitchFamily="34" charset="0"/>
                <a:cs typeface="Courier New" panose="02070309020205020404" pitchFamily="49" charset="0"/>
              </a:rPr>
              <a:t>];</a:t>
            </a:r>
            <a:endParaRPr lang="en-GB" sz="2800" dirty="0">
              <a:solidFill>
                <a:srgbClr val="202122"/>
              </a:solidFill>
              <a:latin typeface="Courier New" panose="02070309020205020404" pitchFamily="49" charset="0"/>
              <a:ea typeface="Calibri" panose="020F0502020204030204" pitchFamily="34" charset="0"/>
              <a:cs typeface="Courier New" panose="02070309020205020404" pitchFamily="49" charset="0"/>
            </a:endParaRPr>
          </a:p>
        </p:txBody>
      </p:sp>
      <p:sp>
        <p:nvSpPr>
          <p:cNvPr id="13" name="TextBox 12">
            <a:extLst>
              <a:ext uri="{FF2B5EF4-FFF2-40B4-BE49-F238E27FC236}">
                <a16:creationId xmlns:a16="http://schemas.microsoft.com/office/drawing/2014/main" id="{CCB55E8B-487C-B743-94EB-FB038FD51A47}"/>
              </a:ext>
            </a:extLst>
          </p:cNvPr>
          <p:cNvSpPr txBox="1"/>
          <p:nvPr/>
        </p:nvSpPr>
        <p:spPr>
          <a:xfrm>
            <a:off x="0" y="3267856"/>
            <a:ext cx="12192000" cy="1384995"/>
          </a:xfrm>
          <a:prstGeom prst="rect">
            <a:avLst/>
          </a:prstGeom>
          <a:solidFill>
            <a:srgbClr val="92D050"/>
          </a:solidFill>
        </p:spPr>
        <p:txBody>
          <a:bodyPr wrap="square" rtlCol="0">
            <a:spAutoFit/>
          </a:bodyPr>
          <a:lstStyle/>
          <a:p>
            <a:r>
              <a:rPr lang="el-GR" sz="2800" dirty="0"/>
              <a:t>Η τεχνική της </a:t>
            </a:r>
            <a:r>
              <a:rPr lang="el-GR" sz="2800" b="1" dirty="0"/>
              <a:t>δυναμικής δέσμευση μνήμης</a:t>
            </a:r>
            <a:r>
              <a:rPr lang="el-GR" sz="2800" dirty="0"/>
              <a:t> (</a:t>
            </a:r>
            <a:r>
              <a:rPr lang="en-US" sz="2800" dirty="0"/>
              <a:t>dynamic memory allocation</a:t>
            </a:r>
            <a:r>
              <a:rPr lang="el-GR" sz="2800" dirty="0"/>
              <a:t>) μας δίνει τη δυνατότητα να δεσμεύουμε μνήμη κατά την εκτέλεση του προγράμματος προσδιορίζοντας και το μέγεθος που κάθε φορά η εφαρμογή απαιτεί.</a:t>
            </a:r>
            <a:endParaRPr lang="en-GB" sz="2800" dirty="0"/>
          </a:p>
        </p:txBody>
      </p:sp>
    </p:spTree>
    <p:extLst>
      <p:ext uri="{BB962C8B-B14F-4D97-AF65-F5344CB8AC3E}">
        <p14:creationId xmlns:p14="http://schemas.microsoft.com/office/powerpoint/2010/main" val="711711448"/>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P spid="12" grpId="0"/>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21EE9-5D32-C8AE-0EF2-9C1C85BDBE18}"/>
            </a:ext>
          </a:extLst>
        </p:cNvPr>
        <p:cNvGrpSpPr/>
        <p:nvPr/>
      </p:nvGrpSpPr>
      <p:grpSpPr>
        <a:xfrm>
          <a:off x="0" y="0"/>
          <a:ext cx="0" cy="0"/>
          <a:chOff x="0" y="0"/>
          <a:chExt cx="0" cy="0"/>
        </a:xfrm>
      </p:grpSpPr>
      <p:grpSp>
        <p:nvGrpSpPr>
          <p:cNvPr id="88" name="Group 87">
            <a:extLst>
              <a:ext uri="{FF2B5EF4-FFF2-40B4-BE49-F238E27FC236}">
                <a16:creationId xmlns:a16="http://schemas.microsoft.com/office/drawing/2014/main" id="{B16C3E84-2A21-FEF5-8E3C-01541D2B3FFD}"/>
              </a:ext>
            </a:extLst>
          </p:cNvPr>
          <p:cNvGrpSpPr/>
          <p:nvPr/>
        </p:nvGrpSpPr>
        <p:grpSpPr>
          <a:xfrm>
            <a:off x="801897" y="3351119"/>
            <a:ext cx="2286000" cy="2643188"/>
            <a:chOff x="801897" y="3351119"/>
            <a:chExt cx="2286000" cy="2643188"/>
          </a:xfrm>
        </p:grpSpPr>
        <p:pic>
          <p:nvPicPr>
            <p:cNvPr id="46" name="Picture 6">
              <a:extLst>
                <a:ext uri="{FF2B5EF4-FFF2-40B4-BE49-F238E27FC236}">
                  <a16:creationId xmlns:a16="http://schemas.microsoft.com/office/drawing/2014/main" id="{87421738-4CDF-0368-099A-9ECDEA1C7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897" y="3351119"/>
              <a:ext cx="2286000"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Rectangle 86">
              <a:extLst>
                <a:ext uri="{FF2B5EF4-FFF2-40B4-BE49-F238E27FC236}">
                  <a16:creationId xmlns:a16="http://schemas.microsoft.com/office/drawing/2014/main" id="{A544E315-EE1D-7286-1C93-05CD0B7D972D}"/>
                </a:ext>
              </a:extLst>
            </p:cNvPr>
            <p:cNvSpPr/>
            <p:nvPr/>
          </p:nvSpPr>
          <p:spPr>
            <a:xfrm>
              <a:off x="1117901" y="3402146"/>
              <a:ext cx="1835161" cy="313313"/>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t>wordsPtr</a:t>
              </a:r>
              <a:endParaRPr lang="en-GB" sz="2400" b="1" dirty="0"/>
            </a:p>
          </p:txBody>
        </p:sp>
      </p:grpSp>
      <p:sp>
        <p:nvSpPr>
          <p:cNvPr id="2" name="Τίτλος 1">
            <a:extLst>
              <a:ext uri="{FF2B5EF4-FFF2-40B4-BE49-F238E27FC236}">
                <a16:creationId xmlns:a16="http://schemas.microsoft.com/office/drawing/2014/main" id="{20BEBE06-C92D-103E-ADFC-8189213614B1}"/>
              </a:ext>
            </a:extLst>
          </p:cNvPr>
          <p:cNvSpPr>
            <a:spLocks noGrp="1"/>
          </p:cNvSpPr>
          <p:nvPr>
            <p:ph type="title" idx="4294967295"/>
          </p:nvPr>
        </p:nvSpPr>
        <p:spPr>
          <a:xfrm>
            <a:off x="0" y="0"/>
            <a:ext cx="12191999" cy="983024"/>
          </a:xfrm>
          <a:prstGeom prst="rect">
            <a:avLst/>
          </a:prstGeom>
          <a:solidFill>
            <a:srgbClr val="FDCBAD"/>
          </a:solidFill>
        </p:spPr>
        <p:txBody>
          <a:bodyPr>
            <a:normAutofit/>
          </a:bodyPr>
          <a:lstStyle/>
          <a:p>
            <a:r>
              <a:rPr lang="el-GR" b="1" dirty="0">
                <a:solidFill>
                  <a:srgbClr val="F9853D"/>
                </a:solidFill>
                <a:latin typeface="Bahnschrift" panose="020B0502040204020203" pitchFamily="34" charset="0"/>
              </a:rPr>
              <a:t>Ταξινόμηση Πίνακα Δεικτών σε συμβολοσειρές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F663C511-69B7-53F5-EB2F-0F376A21930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D6FB5047-2E24-4C9F-CEA5-A8C722FD9D73}"/>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D32CD904-72B6-18F5-F45B-6A95EA945CE1}"/>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9DC4FE74-EE63-6697-00F0-8887C84C5B23}"/>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EB48A2EF-C2C2-857D-02A0-3A23033DD51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68458091-6661-1888-3AD3-87B4EA71A66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34</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E08B2025-EA00-710B-CD46-56C735F25962}"/>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
        <p:nvSpPr>
          <p:cNvPr id="23" name="Content Placeholder 2">
            <a:extLst>
              <a:ext uri="{FF2B5EF4-FFF2-40B4-BE49-F238E27FC236}">
                <a16:creationId xmlns:a16="http://schemas.microsoft.com/office/drawing/2014/main" id="{C01C7662-22B0-3E50-472A-B11946E0C707}"/>
              </a:ext>
            </a:extLst>
          </p:cNvPr>
          <p:cNvSpPr txBox="1">
            <a:spLocks/>
          </p:cNvSpPr>
          <p:nvPr/>
        </p:nvSpPr>
        <p:spPr bwMode="auto">
          <a:xfrm>
            <a:off x="1" y="1057999"/>
            <a:ext cx="12191999" cy="770802"/>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400" b="1" dirty="0">
                <a:solidFill>
                  <a:srgbClr val="F9853D"/>
                </a:solidFill>
                <a:latin typeface="Bahnschrift" panose="020B0502040204020203" pitchFamily="34" charset="0"/>
              </a:rPr>
              <a:t>Δράση </a:t>
            </a:r>
            <a:r>
              <a:rPr lang="en-US" sz="2400" b="1" dirty="0">
                <a:solidFill>
                  <a:srgbClr val="F9853D"/>
                </a:solidFill>
                <a:latin typeface="Bahnschrift" panose="020B0502040204020203" pitchFamily="34" charset="0"/>
              </a:rPr>
              <a:t>8</a:t>
            </a:r>
            <a:r>
              <a:rPr lang="el-GR" sz="2400" b="1" dirty="0">
                <a:solidFill>
                  <a:srgbClr val="F9853D"/>
                </a:solidFill>
                <a:latin typeface="Bahnschrift" panose="020B0502040204020203" pitchFamily="34" charset="0"/>
              </a:rPr>
              <a:t>-10   7η  έκδοση - Πίνακας Δεικτών σε συμβολοσειρές</a:t>
            </a:r>
          </a:p>
          <a:p>
            <a:pPr marL="0" indent="0">
              <a:buClr>
                <a:srgbClr val="3333CC"/>
              </a:buClr>
              <a:buNone/>
              <a:defRPr/>
            </a:pPr>
            <a:r>
              <a:rPr lang="el-GR" sz="1800" kern="0" dirty="0">
                <a:solidFill>
                  <a:srgbClr val="000000"/>
                </a:solidFill>
                <a:latin typeface="Tahoma"/>
              </a:rPr>
              <a:t>Δώστε μια εκδοχή της 3ης έκδοσης με τη χρήση πίνακα δεικτών.</a:t>
            </a:r>
            <a:endParaRPr lang="en-US" sz="1100" kern="0" dirty="0">
              <a:solidFill>
                <a:srgbClr val="000000"/>
              </a:solidFill>
              <a:latin typeface="Tahoma"/>
            </a:endParaRPr>
          </a:p>
        </p:txBody>
      </p:sp>
      <p:sp>
        <p:nvSpPr>
          <p:cNvPr id="41" name="Rectangle 3">
            <a:extLst>
              <a:ext uri="{FF2B5EF4-FFF2-40B4-BE49-F238E27FC236}">
                <a16:creationId xmlns:a16="http://schemas.microsoft.com/office/drawing/2014/main" id="{3C7CAE88-6E67-3455-25E0-C2B02744DBBE}"/>
              </a:ext>
            </a:extLst>
          </p:cNvPr>
          <p:cNvSpPr txBox="1">
            <a:spLocks noChangeArrowheads="1"/>
          </p:cNvSpPr>
          <p:nvPr/>
        </p:nvSpPr>
        <p:spPr bwMode="auto">
          <a:xfrm>
            <a:off x="587584" y="2136682"/>
            <a:ext cx="87757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609600" marR="0" lvl="0" indent="-6096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lang="en-US" altLang="el-GR" sz="2400" b="1" kern="0" dirty="0">
                <a:solidFill>
                  <a:srgbClr val="FF0000"/>
                </a:solidFill>
                <a:latin typeface="Tahoma"/>
              </a:rPr>
              <a:t>char </a:t>
            </a:r>
            <a:r>
              <a:rPr kumimoji="0" lang="el-GR" altLang="el-GR" sz="2400" b="1" i="0" u="none" strike="noStrike" kern="0" cap="none" spc="0" normalizeH="0" baseline="0" noProof="0" dirty="0">
                <a:ln>
                  <a:noFill/>
                </a:ln>
                <a:solidFill>
                  <a:srgbClr val="FF0000"/>
                </a:solidFill>
                <a:effectLst/>
                <a:uLnTx/>
                <a:uFillTx/>
                <a:latin typeface="Tahoma"/>
                <a:ea typeface="+mn-ea"/>
                <a:cs typeface="+mn-cs"/>
              </a:rPr>
              <a:t>*</a:t>
            </a:r>
            <a:r>
              <a:rPr lang="en-US" altLang="el-GR" sz="2400" b="1" kern="0" dirty="0" err="1">
                <a:solidFill>
                  <a:srgbClr val="FF0000"/>
                </a:solidFill>
                <a:latin typeface="Tahoma"/>
              </a:rPr>
              <a:t>wordsPtr</a:t>
            </a:r>
            <a:r>
              <a:rPr kumimoji="0" lang="en-US" altLang="el-GR" sz="2400" b="1" i="0" u="none" strike="noStrike" kern="0" cap="none" spc="0" normalizeH="0" baseline="0" noProof="0" dirty="0">
                <a:ln>
                  <a:noFill/>
                </a:ln>
                <a:solidFill>
                  <a:srgbClr val="FF0000"/>
                </a:solidFill>
                <a:effectLst/>
                <a:uLnTx/>
                <a:uFillTx/>
                <a:latin typeface="Tahoma"/>
                <a:ea typeface="+mn-ea"/>
                <a:cs typeface="+mn-cs"/>
              </a:rPr>
              <a:t>[MAX_WORDS];</a:t>
            </a:r>
          </a:p>
          <a:p>
            <a:pPr marL="609600" marR="0" lvl="0" indent="-6096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int </a:t>
            </a:r>
            <a:r>
              <a:rPr lang="en-US" altLang="el-GR" sz="2400" kern="0" dirty="0">
                <a:solidFill>
                  <a:srgbClr val="000000"/>
                </a:solidFill>
                <a:latin typeface="Tahoma"/>
              </a:rPr>
              <a:t>f</a:t>
            </a:r>
            <a:r>
              <a:rPr kumimoji="0" lang="en-US" altLang="el-GR" sz="2400" b="0" i="0" u="none" strike="noStrike" kern="0" cap="none" spc="0" normalizeH="0" baseline="0" noProof="0" dirty="0" err="1">
                <a:ln>
                  <a:noFill/>
                </a:ln>
                <a:solidFill>
                  <a:srgbClr val="000000"/>
                </a:solidFill>
                <a:effectLst/>
                <a:uLnTx/>
                <a:uFillTx/>
                <a:latin typeface="Tahoma"/>
                <a:ea typeface="+mn-ea"/>
                <a:cs typeface="+mn-cs"/>
              </a:rPr>
              <a:t>ree</a:t>
            </a:r>
            <a:r>
              <a:rPr lang="en-US" altLang="el-GR" sz="2400" kern="0" dirty="0">
                <a:solidFill>
                  <a:srgbClr val="000000"/>
                </a:solidFill>
                <a:latin typeface="Tahoma"/>
              </a:rPr>
              <a:t>post </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0;</a:t>
            </a:r>
          </a:p>
        </p:txBody>
      </p:sp>
      <p:sp>
        <p:nvSpPr>
          <p:cNvPr id="50" name="Oval 16">
            <a:extLst>
              <a:ext uri="{FF2B5EF4-FFF2-40B4-BE49-F238E27FC236}">
                <a16:creationId xmlns:a16="http://schemas.microsoft.com/office/drawing/2014/main" id="{182B0432-D441-C6FC-3900-83094F8CAAD6}"/>
              </a:ext>
            </a:extLst>
          </p:cNvPr>
          <p:cNvSpPr>
            <a:spLocks noChangeArrowheads="1"/>
          </p:cNvSpPr>
          <p:nvPr/>
        </p:nvSpPr>
        <p:spPr bwMode="auto">
          <a:xfrm>
            <a:off x="1882985" y="4003582"/>
            <a:ext cx="142875" cy="6491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
                <a:srgbClr val="3333CC"/>
              </a:buClr>
              <a:buSzPct val="60000"/>
              <a:buFont typeface="Wingdings" panose="05000000000000000000" pitchFamily="2" charset="2"/>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91" name="Group 90">
            <a:extLst>
              <a:ext uri="{FF2B5EF4-FFF2-40B4-BE49-F238E27FC236}">
                <a16:creationId xmlns:a16="http://schemas.microsoft.com/office/drawing/2014/main" id="{353C8422-5B51-DB49-84C7-2276C38F2BF3}"/>
              </a:ext>
            </a:extLst>
          </p:cNvPr>
          <p:cNvGrpSpPr/>
          <p:nvPr/>
        </p:nvGrpSpPr>
        <p:grpSpPr>
          <a:xfrm>
            <a:off x="1659147" y="4916498"/>
            <a:ext cx="2428875" cy="677736"/>
            <a:chOff x="1659147" y="4916498"/>
            <a:chExt cx="2428875" cy="677736"/>
          </a:xfrm>
        </p:grpSpPr>
        <p:cxnSp>
          <p:nvCxnSpPr>
            <p:cNvPr id="55" name="Straight Arrow Connector 21">
              <a:extLst>
                <a:ext uri="{FF2B5EF4-FFF2-40B4-BE49-F238E27FC236}">
                  <a16:creationId xmlns:a16="http://schemas.microsoft.com/office/drawing/2014/main" id="{B937DA24-4DD2-D483-C6BE-9914A90B8EDE}"/>
                </a:ext>
              </a:extLst>
            </p:cNvPr>
            <p:cNvCxnSpPr>
              <a:cxnSpLocks noChangeShapeType="1"/>
            </p:cNvCxnSpPr>
            <p:nvPr/>
          </p:nvCxnSpPr>
          <p:spPr bwMode="auto">
            <a:xfrm>
              <a:off x="1730584" y="5037022"/>
              <a:ext cx="2357438" cy="557212"/>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56" name="Oval 22">
              <a:extLst>
                <a:ext uri="{FF2B5EF4-FFF2-40B4-BE49-F238E27FC236}">
                  <a16:creationId xmlns:a16="http://schemas.microsoft.com/office/drawing/2014/main" id="{047DAF00-F90F-1C02-E926-7154C9F270C1}"/>
                </a:ext>
              </a:extLst>
            </p:cNvPr>
            <p:cNvSpPr>
              <a:spLocks noChangeArrowheads="1"/>
            </p:cNvSpPr>
            <p:nvPr/>
          </p:nvSpPr>
          <p:spPr bwMode="auto">
            <a:xfrm flipH="1">
              <a:off x="1659147" y="4916498"/>
              <a:ext cx="142875" cy="250711"/>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
                  <a:srgbClr val="3333CC"/>
                </a:buClr>
                <a:buSzPct val="60000"/>
                <a:buFont typeface="Wingdings" panose="05000000000000000000" pitchFamily="2" charset="2"/>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90" name="Group 89">
            <a:extLst>
              <a:ext uri="{FF2B5EF4-FFF2-40B4-BE49-F238E27FC236}">
                <a16:creationId xmlns:a16="http://schemas.microsoft.com/office/drawing/2014/main" id="{9E884FC8-C997-18DB-5847-C69EEEC002C0}"/>
              </a:ext>
            </a:extLst>
          </p:cNvPr>
          <p:cNvGrpSpPr/>
          <p:nvPr/>
        </p:nvGrpSpPr>
        <p:grpSpPr>
          <a:xfrm>
            <a:off x="1699629" y="4542557"/>
            <a:ext cx="2888456" cy="250711"/>
            <a:chOff x="1699629" y="4542557"/>
            <a:chExt cx="2888456" cy="250711"/>
          </a:xfrm>
        </p:grpSpPr>
        <p:cxnSp>
          <p:nvCxnSpPr>
            <p:cNvPr id="54" name="Straight Arrow Connector 20">
              <a:extLst>
                <a:ext uri="{FF2B5EF4-FFF2-40B4-BE49-F238E27FC236}">
                  <a16:creationId xmlns:a16="http://schemas.microsoft.com/office/drawing/2014/main" id="{0F03C777-10F0-A367-DB5D-7E81F4B0A930}"/>
                </a:ext>
              </a:extLst>
            </p:cNvPr>
            <p:cNvCxnSpPr>
              <a:cxnSpLocks noChangeShapeType="1"/>
              <a:stCxn id="69" idx="2"/>
            </p:cNvCxnSpPr>
            <p:nvPr/>
          </p:nvCxnSpPr>
          <p:spPr bwMode="auto">
            <a:xfrm>
              <a:off x="1842504" y="4667913"/>
              <a:ext cx="2745581" cy="26231"/>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69" name="Oval 22">
              <a:extLst>
                <a:ext uri="{FF2B5EF4-FFF2-40B4-BE49-F238E27FC236}">
                  <a16:creationId xmlns:a16="http://schemas.microsoft.com/office/drawing/2014/main" id="{D6D97D2F-CB86-A9B3-E1DA-8D92E45A6243}"/>
                </a:ext>
              </a:extLst>
            </p:cNvPr>
            <p:cNvSpPr>
              <a:spLocks noChangeArrowheads="1"/>
            </p:cNvSpPr>
            <p:nvPr/>
          </p:nvSpPr>
          <p:spPr bwMode="auto">
            <a:xfrm flipH="1">
              <a:off x="1699629" y="4542557"/>
              <a:ext cx="142875" cy="250711"/>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
                  <a:srgbClr val="3333CC"/>
                </a:buClr>
                <a:buSzPct val="60000"/>
                <a:buFont typeface="Wingdings" panose="05000000000000000000" pitchFamily="2" charset="2"/>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pic>
        <p:nvPicPr>
          <p:cNvPr id="76" name="Picture 75">
            <a:extLst>
              <a:ext uri="{FF2B5EF4-FFF2-40B4-BE49-F238E27FC236}">
                <a16:creationId xmlns:a16="http://schemas.microsoft.com/office/drawing/2014/main" id="{21408A8D-6FC0-306A-B988-25B3539798C9}"/>
              </a:ext>
            </a:extLst>
          </p:cNvPr>
          <p:cNvPicPr>
            <a:picLocks noChangeAspect="1"/>
          </p:cNvPicPr>
          <p:nvPr/>
        </p:nvPicPr>
        <p:blipFill>
          <a:blip r:embed="rId4"/>
          <a:stretch>
            <a:fillRect/>
          </a:stretch>
        </p:blipFill>
        <p:spPr>
          <a:xfrm>
            <a:off x="4802398" y="3519267"/>
            <a:ext cx="5528139" cy="391758"/>
          </a:xfrm>
          <a:prstGeom prst="rect">
            <a:avLst/>
          </a:prstGeom>
        </p:spPr>
      </p:pic>
      <p:sp>
        <p:nvSpPr>
          <p:cNvPr id="77" name="Rectangle 76">
            <a:extLst>
              <a:ext uri="{FF2B5EF4-FFF2-40B4-BE49-F238E27FC236}">
                <a16:creationId xmlns:a16="http://schemas.microsoft.com/office/drawing/2014/main" id="{18A51933-3412-A6CF-8964-9D290AD97F65}"/>
              </a:ext>
            </a:extLst>
          </p:cNvPr>
          <p:cNvSpPr/>
          <p:nvPr/>
        </p:nvSpPr>
        <p:spPr>
          <a:xfrm>
            <a:off x="4802398" y="3276145"/>
            <a:ext cx="3891897" cy="24312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2" name="Group 91">
            <a:extLst>
              <a:ext uri="{FF2B5EF4-FFF2-40B4-BE49-F238E27FC236}">
                <a16:creationId xmlns:a16="http://schemas.microsoft.com/office/drawing/2014/main" id="{6DE2142E-04E1-6FC3-74C5-FFCDD04E334C}"/>
              </a:ext>
            </a:extLst>
          </p:cNvPr>
          <p:cNvGrpSpPr/>
          <p:nvPr/>
        </p:nvGrpSpPr>
        <p:grpSpPr>
          <a:xfrm>
            <a:off x="5720777" y="3982554"/>
            <a:ext cx="5528139" cy="591123"/>
            <a:chOff x="5720777" y="3982554"/>
            <a:chExt cx="5528139" cy="591123"/>
          </a:xfrm>
        </p:grpSpPr>
        <p:pic>
          <p:nvPicPr>
            <p:cNvPr id="82" name="Picture 81">
              <a:extLst>
                <a:ext uri="{FF2B5EF4-FFF2-40B4-BE49-F238E27FC236}">
                  <a16:creationId xmlns:a16="http://schemas.microsoft.com/office/drawing/2014/main" id="{D6FF48C2-F189-188F-063C-D705BA7C28CD}"/>
                </a:ext>
              </a:extLst>
            </p:cNvPr>
            <p:cNvPicPr>
              <a:picLocks noChangeAspect="1"/>
            </p:cNvPicPr>
            <p:nvPr/>
          </p:nvPicPr>
          <p:blipFill>
            <a:blip r:embed="rId4"/>
            <a:stretch>
              <a:fillRect/>
            </a:stretch>
          </p:blipFill>
          <p:spPr>
            <a:xfrm>
              <a:off x="5720777" y="4181919"/>
              <a:ext cx="5528139" cy="391758"/>
            </a:xfrm>
            <a:prstGeom prst="rect">
              <a:avLst/>
            </a:prstGeom>
          </p:spPr>
        </p:pic>
        <p:sp>
          <p:nvSpPr>
            <p:cNvPr id="78" name="Rectangle 77">
              <a:extLst>
                <a:ext uri="{FF2B5EF4-FFF2-40B4-BE49-F238E27FC236}">
                  <a16:creationId xmlns:a16="http://schemas.microsoft.com/office/drawing/2014/main" id="{1B782454-C653-D386-7E69-BA9DAB114328}"/>
                </a:ext>
              </a:extLst>
            </p:cNvPr>
            <p:cNvSpPr/>
            <p:nvPr/>
          </p:nvSpPr>
          <p:spPr>
            <a:xfrm>
              <a:off x="5824228" y="3982554"/>
              <a:ext cx="3891897" cy="24312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a:extLst>
              <a:ext uri="{FF2B5EF4-FFF2-40B4-BE49-F238E27FC236}">
                <a16:creationId xmlns:a16="http://schemas.microsoft.com/office/drawing/2014/main" id="{BC009834-BF94-E5A0-904D-F0BF7B96626F}"/>
              </a:ext>
            </a:extLst>
          </p:cNvPr>
          <p:cNvGrpSpPr/>
          <p:nvPr/>
        </p:nvGrpSpPr>
        <p:grpSpPr>
          <a:xfrm>
            <a:off x="4562515" y="4631426"/>
            <a:ext cx="5528139" cy="709854"/>
            <a:chOff x="4562515" y="4631426"/>
            <a:chExt cx="5528139" cy="709854"/>
          </a:xfrm>
        </p:grpSpPr>
        <p:sp>
          <p:nvSpPr>
            <p:cNvPr id="79" name="Rectangle 78">
              <a:extLst>
                <a:ext uri="{FF2B5EF4-FFF2-40B4-BE49-F238E27FC236}">
                  <a16:creationId xmlns:a16="http://schemas.microsoft.com/office/drawing/2014/main" id="{344038A8-9C5D-D519-9435-E11D4EE37BA5}"/>
                </a:ext>
              </a:extLst>
            </p:cNvPr>
            <p:cNvSpPr/>
            <p:nvPr/>
          </p:nvSpPr>
          <p:spPr>
            <a:xfrm>
              <a:off x="4669047" y="4631426"/>
              <a:ext cx="3891897" cy="24312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3" name="Picture 82">
              <a:extLst>
                <a:ext uri="{FF2B5EF4-FFF2-40B4-BE49-F238E27FC236}">
                  <a16:creationId xmlns:a16="http://schemas.microsoft.com/office/drawing/2014/main" id="{F90FE3AE-A230-1737-3109-16D647119C77}"/>
                </a:ext>
              </a:extLst>
            </p:cNvPr>
            <p:cNvPicPr>
              <a:picLocks noChangeAspect="1"/>
            </p:cNvPicPr>
            <p:nvPr/>
          </p:nvPicPr>
          <p:blipFill>
            <a:blip r:embed="rId4"/>
            <a:stretch>
              <a:fillRect/>
            </a:stretch>
          </p:blipFill>
          <p:spPr>
            <a:xfrm>
              <a:off x="4562515" y="4949522"/>
              <a:ext cx="5528139" cy="391758"/>
            </a:xfrm>
            <a:prstGeom prst="rect">
              <a:avLst/>
            </a:prstGeom>
          </p:spPr>
        </p:pic>
      </p:grpSp>
      <p:grpSp>
        <p:nvGrpSpPr>
          <p:cNvPr id="94" name="Group 93">
            <a:extLst>
              <a:ext uri="{FF2B5EF4-FFF2-40B4-BE49-F238E27FC236}">
                <a16:creationId xmlns:a16="http://schemas.microsoft.com/office/drawing/2014/main" id="{E0605B42-6FBC-D0D5-12C3-6BC141F60E88}"/>
              </a:ext>
            </a:extLst>
          </p:cNvPr>
          <p:cNvGrpSpPr/>
          <p:nvPr/>
        </p:nvGrpSpPr>
        <p:grpSpPr>
          <a:xfrm>
            <a:off x="4088022" y="5471472"/>
            <a:ext cx="5528139" cy="783315"/>
            <a:chOff x="4088022" y="5471472"/>
            <a:chExt cx="5528139" cy="783315"/>
          </a:xfrm>
        </p:grpSpPr>
        <p:sp>
          <p:nvSpPr>
            <p:cNvPr id="80" name="Rectangle 79">
              <a:extLst>
                <a:ext uri="{FF2B5EF4-FFF2-40B4-BE49-F238E27FC236}">
                  <a16:creationId xmlns:a16="http://schemas.microsoft.com/office/drawing/2014/main" id="{B371D56B-5779-9BE4-4549-150629F97D24}"/>
                </a:ext>
              </a:extLst>
            </p:cNvPr>
            <p:cNvSpPr/>
            <p:nvPr/>
          </p:nvSpPr>
          <p:spPr>
            <a:xfrm>
              <a:off x="4159459" y="5471472"/>
              <a:ext cx="3891897" cy="24312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4" name="Picture 83">
              <a:extLst>
                <a:ext uri="{FF2B5EF4-FFF2-40B4-BE49-F238E27FC236}">
                  <a16:creationId xmlns:a16="http://schemas.microsoft.com/office/drawing/2014/main" id="{88EA95E6-1C75-C5C5-4F28-5B49D15C5344}"/>
                </a:ext>
              </a:extLst>
            </p:cNvPr>
            <p:cNvPicPr>
              <a:picLocks noChangeAspect="1"/>
            </p:cNvPicPr>
            <p:nvPr/>
          </p:nvPicPr>
          <p:blipFill>
            <a:blip r:embed="rId4"/>
            <a:stretch>
              <a:fillRect/>
            </a:stretch>
          </p:blipFill>
          <p:spPr>
            <a:xfrm>
              <a:off x="4088022" y="5863029"/>
              <a:ext cx="5528139" cy="391758"/>
            </a:xfrm>
            <a:prstGeom prst="rect">
              <a:avLst/>
            </a:prstGeom>
          </p:spPr>
        </p:pic>
      </p:grpSp>
      <p:pic>
        <p:nvPicPr>
          <p:cNvPr id="85" name="Picture 84">
            <a:extLst>
              <a:ext uri="{FF2B5EF4-FFF2-40B4-BE49-F238E27FC236}">
                <a16:creationId xmlns:a16="http://schemas.microsoft.com/office/drawing/2014/main" id="{8EAC3D29-AE69-98FA-CA93-144D04399E61}"/>
              </a:ext>
            </a:extLst>
          </p:cNvPr>
          <p:cNvPicPr>
            <a:picLocks noChangeAspect="1"/>
          </p:cNvPicPr>
          <p:nvPr/>
        </p:nvPicPr>
        <p:blipFill>
          <a:blip r:embed="rId5"/>
          <a:stretch>
            <a:fillRect/>
          </a:stretch>
        </p:blipFill>
        <p:spPr>
          <a:xfrm>
            <a:off x="10405749" y="1933589"/>
            <a:ext cx="1623020" cy="1194967"/>
          </a:xfrm>
          <a:prstGeom prst="rect">
            <a:avLst/>
          </a:prstGeom>
        </p:spPr>
      </p:pic>
      <p:grpSp>
        <p:nvGrpSpPr>
          <p:cNvPr id="47" name="Group 46">
            <a:extLst>
              <a:ext uri="{FF2B5EF4-FFF2-40B4-BE49-F238E27FC236}">
                <a16:creationId xmlns:a16="http://schemas.microsoft.com/office/drawing/2014/main" id="{0B41EF88-8E1D-2D43-8951-B30BBD416CF3}"/>
              </a:ext>
            </a:extLst>
          </p:cNvPr>
          <p:cNvGrpSpPr/>
          <p:nvPr/>
        </p:nvGrpSpPr>
        <p:grpSpPr>
          <a:xfrm>
            <a:off x="1730585" y="3462677"/>
            <a:ext cx="3000375" cy="614881"/>
            <a:chOff x="1285875" y="1843088"/>
            <a:chExt cx="3000375" cy="1592163"/>
          </a:xfrm>
        </p:grpSpPr>
        <p:cxnSp>
          <p:nvCxnSpPr>
            <p:cNvPr id="48" name="Straight Arrow Connector 14">
              <a:extLst>
                <a:ext uri="{FF2B5EF4-FFF2-40B4-BE49-F238E27FC236}">
                  <a16:creationId xmlns:a16="http://schemas.microsoft.com/office/drawing/2014/main" id="{BF0E151F-E44D-021E-36F3-2517F03284AF}"/>
                </a:ext>
              </a:extLst>
            </p:cNvPr>
            <p:cNvCxnSpPr>
              <a:cxnSpLocks noChangeShapeType="1"/>
            </p:cNvCxnSpPr>
            <p:nvPr/>
          </p:nvCxnSpPr>
          <p:spPr bwMode="auto">
            <a:xfrm flipV="1">
              <a:off x="1357313" y="1843088"/>
              <a:ext cx="2928937" cy="1014412"/>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49" name="Oval 15">
              <a:extLst>
                <a:ext uri="{FF2B5EF4-FFF2-40B4-BE49-F238E27FC236}">
                  <a16:creationId xmlns:a16="http://schemas.microsoft.com/office/drawing/2014/main" id="{9B5215BF-82AD-8D16-EBEF-8C899AF91394}"/>
                </a:ext>
              </a:extLst>
            </p:cNvPr>
            <p:cNvSpPr>
              <a:spLocks noChangeArrowheads="1"/>
            </p:cNvSpPr>
            <p:nvPr/>
          </p:nvSpPr>
          <p:spPr bwMode="auto">
            <a:xfrm>
              <a:off x="1285875" y="2786063"/>
              <a:ext cx="142875" cy="649188"/>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
                  <a:srgbClr val="3333CC"/>
                </a:buClr>
                <a:buSzPct val="60000"/>
                <a:buFont typeface="Wingdings" panose="05000000000000000000" pitchFamily="2" charset="2"/>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89" name="Group 88">
            <a:extLst>
              <a:ext uri="{FF2B5EF4-FFF2-40B4-BE49-F238E27FC236}">
                <a16:creationId xmlns:a16="http://schemas.microsoft.com/office/drawing/2014/main" id="{56ED748A-5B39-9274-2F1F-68B92E685CB9}"/>
              </a:ext>
            </a:extLst>
          </p:cNvPr>
          <p:cNvGrpSpPr/>
          <p:nvPr/>
        </p:nvGrpSpPr>
        <p:grpSpPr>
          <a:xfrm>
            <a:off x="1730584" y="4102313"/>
            <a:ext cx="3980668" cy="319174"/>
            <a:chOff x="1730584" y="4102313"/>
            <a:chExt cx="3980668" cy="319174"/>
          </a:xfrm>
        </p:grpSpPr>
        <p:sp>
          <p:nvSpPr>
            <p:cNvPr id="70" name="Oval 22">
              <a:extLst>
                <a:ext uri="{FF2B5EF4-FFF2-40B4-BE49-F238E27FC236}">
                  <a16:creationId xmlns:a16="http://schemas.microsoft.com/office/drawing/2014/main" id="{7B352C8B-0FA1-17D9-4E96-1305D1D07512}"/>
                </a:ext>
              </a:extLst>
            </p:cNvPr>
            <p:cNvSpPr>
              <a:spLocks noChangeArrowheads="1"/>
            </p:cNvSpPr>
            <p:nvPr/>
          </p:nvSpPr>
          <p:spPr bwMode="auto">
            <a:xfrm flipH="1">
              <a:off x="1730584" y="4170776"/>
              <a:ext cx="142875" cy="250711"/>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
                  <a:srgbClr val="3333CC"/>
                </a:buClr>
                <a:buSzPct val="60000"/>
                <a:buFont typeface="Wingdings" panose="05000000000000000000" pitchFamily="2" charset="2"/>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cxnSp>
          <p:nvCxnSpPr>
            <p:cNvPr id="53" name="Straight Arrow Connector 19">
              <a:extLst>
                <a:ext uri="{FF2B5EF4-FFF2-40B4-BE49-F238E27FC236}">
                  <a16:creationId xmlns:a16="http://schemas.microsoft.com/office/drawing/2014/main" id="{040A0302-EBF5-8F38-1BBF-124A3B7F877B}"/>
                </a:ext>
              </a:extLst>
            </p:cNvPr>
            <p:cNvCxnSpPr>
              <a:cxnSpLocks noChangeShapeType="1"/>
            </p:cNvCxnSpPr>
            <p:nvPr/>
          </p:nvCxnSpPr>
          <p:spPr bwMode="auto">
            <a:xfrm flipV="1">
              <a:off x="1802023" y="4102313"/>
              <a:ext cx="3909229" cy="191782"/>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845295831"/>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blinds(horizontal)">
                                      <p:cBhvr>
                                        <p:cTn id="7" dur="500"/>
                                        <p:tgtEl>
                                          <p:spTgt spid="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
                                            <p:txEl>
                                              <p:pRg st="1" end="1"/>
                                            </p:txEl>
                                          </p:spTgt>
                                        </p:tgtEl>
                                        <p:attrNameLst>
                                          <p:attrName>style.visibility</p:attrName>
                                        </p:attrNameLst>
                                      </p:cBhvr>
                                      <p:to>
                                        <p:strVal val="visible"/>
                                      </p:to>
                                    </p:set>
                                    <p:animEffect transition="in" filter="blinds(horizontal)">
                                      <p:cBhvr>
                                        <p:cTn id="12" dur="500"/>
                                        <p:tgtEl>
                                          <p:spTgt spid="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uild="p"/>
      <p:bldP spid="7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8EE63-B676-41FF-E8F2-16928DA889E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AB3040B-0E8E-6215-8404-48F365BF3C5E}"/>
              </a:ext>
            </a:extLst>
          </p:cNvPr>
          <p:cNvPicPr>
            <a:picLocks noChangeAspect="1"/>
          </p:cNvPicPr>
          <p:nvPr/>
        </p:nvPicPr>
        <p:blipFill>
          <a:blip r:embed="rId3"/>
          <a:stretch>
            <a:fillRect/>
          </a:stretch>
        </p:blipFill>
        <p:spPr>
          <a:xfrm>
            <a:off x="5740471" y="4368033"/>
            <a:ext cx="6310860" cy="2131668"/>
          </a:xfrm>
          <a:prstGeom prst="rect">
            <a:avLst/>
          </a:prstGeom>
        </p:spPr>
      </p:pic>
      <p:sp>
        <p:nvSpPr>
          <p:cNvPr id="2" name="Τίτλος 1">
            <a:extLst>
              <a:ext uri="{FF2B5EF4-FFF2-40B4-BE49-F238E27FC236}">
                <a16:creationId xmlns:a16="http://schemas.microsoft.com/office/drawing/2014/main" id="{CC133F82-1B00-7BF2-F50F-0C19B91E208C}"/>
              </a:ext>
            </a:extLst>
          </p:cNvPr>
          <p:cNvSpPr>
            <a:spLocks noGrp="1"/>
          </p:cNvSpPr>
          <p:nvPr>
            <p:ph type="title" idx="4294967295"/>
          </p:nvPr>
        </p:nvSpPr>
        <p:spPr>
          <a:xfrm>
            <a:off x="0" y="0"/>
            <a:ext cx="12191999" cy="777101"/>
          </a:xfrm>
          <a:prstGeom prst="rect">
            <a:avLst/>
          </a:prstGeom>
          <a:solidFill>
            <a:srgbClr val="FDCBAD"/>
          </a:solidFill>
        </p:spPr>
        <p:txBody>
          <a:bodyPr>
            <a:normAutofit/>
          </a:bodyPr>
          <a:lstStyle/>
          <a:p>
            <a:r>
              <a:rPr lang="en-GB" sz="4000" b="1" dirty="0" err="1">
                <a:solidFill>
                  <a:srgbClr val="F9853D"/>
                </a:solidFill>
                <a:latin typeface="Bahnschrift" panose="020B0502040204020203" pitchFamily="34" charset="0"/>
              </a:rPr>
              <a:t>WordStats</a:t>
            </a:r>
            <a:r>
              <a:rPr lang="el-GR" sz="4000" b="1" dirty="0">
                <a:solidFill>
                  <a:srgbClr val="F9853D"/>
                </a:solidFill>
                <a:latin typeface="Bahnschrift" panose="020B0502040204020203" pitchFamily="34" charset="0"/>
              </a:rPr>
              <a:t> με Δείκτες και Δομές (</a:t>
            </a:r>
            <a:r>
              <a:rPr lang="el-GR" sz="4000" b="1" dirty="0" err="1">
                <a:solidFill>
                  <a:srgbClr val="F9853D"/>
                </a:solidFill>
                <a:latin typeface="Bahnschrift" panose="020B0502040204020203" pitchFamily="34" charset="0"/>
              </a:rPr>
              <a:t>struct</a:t>
            </a:r>
            <a:r>
              <a:rPr lang="el-GR" sz="4000" b="1" dirty="0">
                <a:solidFill>
                  <a:srgbClr val="F9853D"/>
                </a:solidFill>
                <a:latin typeface="Bahnschrift" panose="020B0502040204020203" pitchFamily="34" charset="0"/>
              </a:rPr>
              <a:t>)</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51D9EF02-9A6A-4A77-3CE0-AB73AAF89C5A}"/>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2E91D977-11BD-0FEA-5337-5AE82E7A39BD}"/>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985233AF-BEE2-75A5-C683-2216AC9F11AF}"/>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9A9A221C-DAB5-E2EF-57FB-0D9E21E54B57}"/>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FE3850F8-81C5-64F3-8EC7-F065F9631DB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E7676BFC-90EF-4EC2-2BF7-8C8E31055C8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35</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75356DA3-7855-DDC5-6624-87549536359A}"/>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pic>
        <p:nvPicPr>
          <p:cNvPr id="4" name="Picture 3">
            <a:extLst>
              <a:ext uri="{FF2B5EF4-FFF2-40B4-BE49-F238E27FC236}">
                <a16:creationId xmlns:a16="http://schemas.microsoft.com/office/drawing/2014/main" id="{E998656A-7408-8371-5B34-DE39A14BFEEF}"/>
              </a:ext>
            </a:extLst>
          </p:cNvPr>
          <p:cNvPicPr>
            <a:picLocks noChangeAspect="1"/>
          </p:cNvPicPr>
          <p:nvPr/>
        </p:nvPicPr>
        <p:blipFill>
          <a:blip r:embed="rId4"/>
          <a:stretch>
            <a:fillRect/>
          </a:stretch>
        </p:blipFill>
        <p:spPr>
          <a:xfrm>
            <a:off x="191344" y="908720"/>
            <a:ext cx="8491709" cy="3384376"/>
          </a:xfrm>
          <a:prstGeom prst="rect">
            <a:avLst/>
          </a:prstGeom>
        </p:spPr>
      </p:pic>
      <p:sp>
        <p:nvSpPr>
          <p:cNvPr id="7" name="Speech Bubble: Rectangle with Corners Rounded 6">
            <a:extLst>
              <a:ext uri="{FF2B5EF4-FFF2-40B4-BE49-F238E27FC236}">
                <a16:creationId xmlns:a16="http://schemas.microsoft.com/office/drawing/2014/main" id="{8E2E73E2-4205-FE9D-9233-831DC1D81F17}"/>
              </a:ext>
            </a:extLst>
          </p:cNvPr>
          <p:cNvSpPr/>
          <p:nvPr/>
        </p:nvSpPr>
        <p:spPr bwMode="auto">
          <a:xfrm>
            <a:off x="6655966" y="1690255"/>
            <a:ext cx="5395365" cy="2118465"/>
          </a:xfrm>
          <a:prstGeom prst="wedgeRoundRectCallout">
            <a:avLst>
              <a:gd name="adj1" fmla="val -60259"/>
              <a:gd name="adj2" fmla="val 65070"/>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l-GR" sz="2400" dirty="0"/>
              <a:t>Διαμόρφωσε τις συναρτήσεις που καλεί η </a:t>
            </a:r>
            <a:r>
              <a:rPr lang="en-US" sz="2400" dirty="0" err="1"/>
              <a:t>wordStats</a:t>
            </a:r>
            <a:r>
              <a:rPr lang="en-US" sz="2400" dirty="0"/>
              <a:t> </a:t>
            </a:r>
            <a:r>
              <a:rPr lang="el-GR" sz="2400" dirty="0"/>
              <a:t>ώστε να λειτουργούν με τις μεταβλητές στατιστικών λέξης ως τοπικές στην </a:t>
            </a:r>
            <a:r>
              <a:rPr lang="en-US" sz="2400" dirty="0" err="1"/>
              <a:t>wordStats</a:t>
            </a:r>
            <a:r>
              <a:rPr lang="el-GR" sz="2400" dirty="0"/>
              <a:t>. </a:t>
            </a:r>
            <a:endParaRPr lang="en-US" sz="2400" dirty="0"/>
          </a:p>
          <a:p>
            <a:pPr marL="0" marR="0" indent="0" algn="l" defTabSz="914400" rtl="0" eaLnBrk="1" fontAlgn="base" latinLnBrk="0" hangingPunct="1">
              <a:lnSpc>
                <a:spcPct val="100000"/>
              </a:lnSpc>
              <a:spcBef>
                <a:spcPct val="0"/>
              </a:spcBef>
              <a:spcAft>
                <a:spcPct val="0"/>
              </a:spcAft>
              <a:buClrTx/>
              <a:buSzTx/>
              <a:buFontTx/>
              <a:buNone/>
              <a:tabLst/>
            </a:pPr>
            <a:r>
              <a:rPr lang="el-GR" sz="2400" dirty="0"/>
              <a:t>Δες τι επιλογές έχεις;</a:t>
            </a:r>
            <a:endParaRPr kumimoji="0" lang="en-GB" sz="3200" b="0" i="0" u="none" strike="noStrike" cap="none" normalizeH="0" baseline="0" dirty="0">
              <a:ln>
                <a:noFill/>
              </a:ln>
              <a:solidFill>
                <a:schemeClr val="tx1"/>
              </a:solidFill>
              <a:effectLst/>
              <a:latin typeface="Tahoma" pitchFamily="34" charset="0"/>
            </a:endParaRPr>
          </a:p>
        </p:txBody>
      </p:sp>
      <p:sp>
        <p:nvSpPr>
          <p:cNvPr id="9" name="Speech Bubble: Rectangle with Corners Rounded 8">
            <a:extLst>
              <a:ext uri="{FF2B5EF4-FFF2-40B4-BE49-F238E27FC236}">
                <a16:creationId xmlns:a16="http://schemas.microsoft.com/office/drawing/2014/main" id="{B7060275-3250-F5DD-9443-D3E56A445256}"/>
              </a:ext>
            </a:extLst>
          </p:cNvPr>
          <p:cNvSpPr/>
          <p:nvPr/>
        </p:nvSpPr>
        <p:spPr bwMode="auto">
          <a:xfrm>
            <a:off x="931631" y="4844384"/>
            <a:ext cx="2909001" cy="1333260"/>
          </a:xfrm>
          <a:prstGeom prst="wedgeRoundRectCallout">
            <a:avLst>
              <a:gd name="adj1" fmla="val 57962"/>
              <a:gd name="adj2" fmla="val 64383"/>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l-GR" sz="2400" b="0" i="0" u="none" strike="noStrike" cap="none" normalizeH="0" baseline="0" dirty="0">
                <a:ln>
                  <a:noFill/>
                </a:ln>
                <a:solidFill>
                  <a:schemeClr val="tx1"/>
                </a:solidFill>
                <a:effectLst/>
                <a:latin typeface="Tahoma" pitchFamily="34" charset="0"/>
              </a:rPr>
              <a:t>Δοκ</a:t>
            </a:r>
            <a:r>
              <a:rPr lang="el-GR" sz="2400" dirty="0">
                <a:latin typeface="Tahoma" pitchFamily="34" charset="0"/>
              </a:rPr>
              <a:t>ιμάστε</a:t>
            </a:r>
            <a:r>
              <a:rPr kumimoji="0" lang="el-GR" sz="2400" b="0" i="0" u="none" strike="noStrike" cap="none" normalizeH="0" baseline="0" dirty="0">
                <a:ln>
                  <a:noFill/>
                </a:ln>
                <a:solidFill>
                  <a:schemeClr val="tx1"/>
                </a:solidFill>
                <a:effectLst/>
                <a:latin typeface="Tahoma" pitchFamily="34" charset="0"/>
              </a:rPr>
              <a:t> με δείκτες ανάλογα με την </a:t>
            </a:r>
            <a:r>
              <a:rPr kumimoji="0" lang="en-US" sz="2400" b="0" i="0" u="none" strike="noStrike" cap="none" normalizeH="0" baseline="0" dirty="0">
                <a:ln>
                  <a:noFill/>
                </a:ln>
                <a:solidFill>
                  <a:schemeClr val="tx1"/>
                </a:solidFill>
                <a:effectLst/>
                <a:latin typeface="Tahoma" pitchFamily="34" charset="0"/>
              </a:rPr>
              <a:t>getIntV2</a:t>
            </a:r>
            <a:endParaRPr kumimoji="0" lang="en-GB" sz="24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2265685174"/>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28C61-77CF-F905-16A1-0619E3E18EF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82F5082-E3FC-2B35-C056-82FAA30AE420}"/>
              </a:ext>
            </a:extLst>
          </p:cNvPr>
          <p:cNvSpPr>
            <a:spLocks noGrp="1"/>
          </p:cNvSpPr>
          <p:nvPr>
            <p:ph type="title" idx="4294967295"/>
          </p:nvPr>
        </p:nvSpPr>
        <p:spPr>
          <a:xfrm>
            <a:off x="0" y="0"/>
            <a:ext cx="12191999" cy="777101"/>
          </a:xfrm>
          <a:prstGeom prst="rect">
            <a:avLst/>
          </a:prstGeom>
          <a:solidFill>
            <a:srgbClr val="FDCBAD"/>
          </a:solidFill>
        </p:spPr>
        <p:txBody>
          <a:bodyPr>
            <a:normAutofit/>
          </a:bodyPr>
          <a:lstStyle/>
          <a:p>
            <a:r>
              <a:rPr lang="en-GB" sz="4000" b="1" dirty="0" err="1">
                <a:solidFill>
                  <a:srgbClr val="F9853D"/>
                </a:solidFill>
                <a:latin typeface="Bahnschrift" panose="020B0502040204020203" pitchFamily="34" charset="0"/>
              </a:rPr>
              <a:t>WordStats</a:t>
            </a:r>
            <a:r>
              <a:rPr lang="el-GR" sz="4000" b="1" dirty="0">
                <a:solidFill>
                  <a:srgbClr val="F9853D"/>
                </a:solidFill>
                <a:latin typeface="Bahnschrift" panose="020B0502040204020203" pitchFamily="34" charset="0"/>
              </a:rPr>
              <a:t> με Δείκτες</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16091AD0-C233-5DBC-6C2F-B1B1CE99D54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17" name="Group 16">
            <a:extLst>
              <a:ext uri="{FF2B5EF4-FFF2-40B4-BE49-F238E27FC236}">
                <a16:creationId xmlns:a16="http://schemas.microsoft.com/office/drawing/2014/main" id="{5F3B0789-933E-BA71-9816-DA15AF5CA55F}"/>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91DED862-74CE-285F-9C8B-0E2B735391AC}"/>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2D25E0A0-32D3-9767-46B7-F58AD244CD5B}"/>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1AFFA1F3-BE18-C6EB-EF91-47EF0DD7493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4900A189-04C6-0057-265C-A6FF97842FB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36</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4CEF8EFA-2CF4-A9D8-9224-ECE11D338895}"/>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pic>
        <p:nvPicPr>
          <p:cNvPr id="5" name="Picture 4">
            <a:extLst>
              <a:ext uri="{FF2B5EF4-FFF2-40B4-BE49-F238E27FC236}">
                <a16:creationId xmlns:a16="http://schemas.microsoft.com/office/drawing/2014/main" id="{FE69DD33-9930-60C5-3F3F-53ADC730CD10}"/>
              </a:ext>
            </a:extLst>
          </p:cNvPr>
          <p:cNvPicPr>
            <a:picLocks noChangeAspect="1"/>
          </p:cNvPicPr>
          <p:nvPr/>
        </p:nvPicPr>
        <p:blipFill>
          <a:blip r:embed="rId3"/>
          <a:stretch>
            <a:fillRect/>
          </a:stretch>
        </p:blipFill>
        <p:spPr>
          <a:xfrm>
            <a:off x="27439" y="714526"/>
            <a:ext cx="7411124" cy="1922385"/>
          </a:xfrm>
          <a:prstGeom prst="rect">
            <a:avLst/>
          </a:prstGeom>
        </p:spPr>
      </p:pic>
      <p:pic>
        <p:nvPicPr>
          <p:cNvPr id="6" name="Picture 5">
            <a:extLst>
              <a:ext uri="{FF2B5EF4-FFF2-40B4-BE49-F238E27FC236}">
                <a16:creationId xmlns:a16="http://schemas.microsoft.com/office/drawing/2014/main" id="{75E4ACEC-48D1-AB48-CE36-E8F73A7A7B5F}"/>
              </a:ext>
            </a:extLst>
          </p:cNvPr>
          <p:cNvPicPr>
            <a:picLocks noChangeAspect="1"/>
          </p:cNvPicPr>
          <p:nvPr/>
        </p:nvPicPr>
        <p:blipFill>
          <a:blip r:embed="rId4"/>
          <a:stretch>
            <a:fillRect/>
          </a:stretch>
        </p:blipFill>
        <p:spPr>
          <a:xfrm>
            <a:off x="-20252" y="2617339"/>
            <a:ext cx="9052107" cy="1334605"/>
          </a:xfrm>
          <a:prstGeom prst="rect">
            <a:avLst/>
          </a:prstGeom>
        </p:spPr>
      </p:pic>
      <p:pic>
        <p:nvPicPr>
          <p:cNvPr id="8" name="Picture 7">
            <a:extLst>
              <a:ext uri="{FF2B5EF4-FFF2-40B4-BE49-F238E27FC236}">
                <a16:creationId xmlns:a16="http://schemas.microsoft.com/office/drawing/2014/main" id="{0C0B97FF-35D1-1AEF-FD2E-00C83A2FF772}"/>
              </a:ext>
            </a:extLst>
          </p:cNvPr>
          <p:cNvPicPr>
            <a:picLocks noChangeAspect="1"/>
          </p:cNvPicPr>
          <p:nvPr/>
        </p:nvPicPr>
        <p:blipFill>
          <a:blip r:embed="rId5"/>
          <a:stretch>
            <a:fillRect/>
          </a:stretch>
        </p:blipFill>
        <p:spPr>
          <a:xfrm>
            <a:off x="27439" y="3905639"/>
            <a:ext cx="7073192" cy="1705677"/>
          </a:xfrm>
          <a:prstGeom prst="rect">
            <a:avLst/>
          </a:prstGeom>
        </p:spPr>
      </p:pic>
      <p:pic>
        <p:nvPicPr>
          <p:cNvPr id="10" name="Picture 9">
            <a:extLst>
              <a:ext uri="{FF2B5EF4-FFF2-40B4-BE49-F238E27FC236}">
                <a16:creationId xmlns:a16="http://schemas.microsoft.com/office/drawing/2014/main" id="{A6A96C49-CC06-4493-91F5-E7DC37CE5544}"/>
              </a:ext>
            </a:extLst>
          </p:cNvPr>
          <p:cNvPicPr>
            <a:picLocks noChangeAspect="1"/>
          </p:cNvPicPr>
          <p:nvPr/>
        </p:nvPicPr>
        <p:blipFill>
          <a:blip r:embed="rId6"/>
          <a:stretch>
            <a:fillRect/>
          </a:stretch>
        </p:blipFill>
        <p:spPr>
          <a:xfrm>
            <a:off x="3564035" y="5264353"/>
            <a:ext cx="8544272" cy="1180807"/>
          </a:xfrm>
          <a:prstGeom prst="rect">
            <a:avLst/>
          </a:prstGeom>
        </p:spPr>
      </p:pic>
      <p:pic>
        <p:nvPicPr>
          <p:cNvPr id="12" name="Picture 11">
            <a:extLst>
              <a:ext uri="{FF2B5EF4-FFF2-40B4-BE49-F238E27FC236}">
                <a16:creationId xmlns:a16="http://schemas.microsoft.com/office/drawing/2014/main" id="{1AC8288A-95D8-276F-073D-E02A27F03572}"/>
              </a:ext>
            </a:extLst>
          </p:cNvPr>
          <p:cNvPicPr>
            <a:picLocks noChangeAspect="1"/>
          </p:cNvPicPr>
          <p:nvPr/>
        </p:nvPicPr>
        <p:blipFill>
          <a:blip r:embed="rId7"/>
          <a:stretch>
            <a:fillRect/>
          </a:stretch>
        </p:blipFill>
        <p:spPr>
          <a:xfrm>
            <a:off x="6693803" y="31050"/>
            <a:ext cx="5498197" cy="1468043"/>
          </a:xfrm>
          <a:prstGeom prst="rect">
            <a:avLst/>
          </a:prstGeom>
        </p:spPr>
      </p:pic>
      <p:sp>
        <p:nvSpPr>
          <p:cNvPr id="13" name="Callout: Line 12">
            <a:extLst>
              <a:ext uri="{FF2B5EF4-FFF2-40B4-BE49-F238E27FC236}">
                <a16:creationId xmlns:a16="http://schemas.microsoft.com/office/drawing/2014/main" id="{949BDE64-E1F9-48DF-8E4A-3589CBBBE031}"/>
              </a:ext>
            </a:extLst>
          </p:cNvPr>
          <p:cNvSpPr/>
          <p:nvPr/>
        </p:nvSpPr>
        <p:spPr bwMode="auto">
          <a:xfrm>
            <a:off x="8616281" y="1675718"/>
            <a:ext cx="3312368" cy="457138"/>
          </a:xfrm>
          <a:prstGeom prst="borderCallout1">
            <a:avLst>
              <a:gd name="adj1" fmla="val 3061"/>
              <a:gd name="adj2" fmla="val 47991"/>
              <a:gd name="adj3" fmla="val -315009"/>
              <a:gd name="adj4" fmla="val 12181"/>
            </a:avLst>
          </a:prstGeom>
          <a:solidFill>
            <a:srgbClr val="FFCF01"/>
          </a:solidFill>
          <a:ln w="57150" cap="flat" cmpd="sng" algn="ctr">
            <a:solidFill>
              <a:srgbClr val="FFC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Για </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reusable </a:t>
            </a:r>
            <a:r>
              <a:rPr kumimoji="0" lang="en-US" sz="2400" b="0" i="0" u="none" strike="noStrike" kern="0" cap="none" spc="0" normalizeH="0" baseline="0" noProof="0" dirty="0" err="1">
                <a:ln>
                  <a:noFill/>
                </a:ln>
                <a:solidFill>
                  <a:srgbClr val="000000"/>
                </a:solidFill>
                <a:effectLst/>
                <a:uLnTx/>
                <a:uFillTx/>
                <a:latin typeface="Tahoma" panose="020B0604030504040204" pitchFamily="34" charset="0"/>
              </a:rPr>
              <a:t>wordStats</a:t>
            </a:r>
            <a:endParaRPr kumimoji="0" lang="en-GB" sz="2400" b="0" i="0" u="none" strike="noStrike" kern="0" cap="none" spc="0" normalizeH="0" baseline="0" noProof="0" dirty="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4238589588"/>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5EB8E-091F-285E-5E0C-EDDBC8315F6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4339D51-6227-3D4E-87FA-346400F1054F}"/>
              </a:ext>
            </a:extLst>
          </p:cNvPr>
          <p:cNvSpPr>
            <a:spLocks noGrp="1"/>
          </p:cNvSpPr>
          <p:nvPr>
            <p:ph type="title" idx="4294967295"/>
          </p:nvPr>
        </p:nvSpPr>
        <p:spPr>
          <a:xfrm>
            <a:off x="0" y="0"/>
            <a:ext cx="12191999" cy="777101"/>
          </a:xfrm>
          <a:prstGeom prst="rect">
            <a:avLst/>
          </a:prstGeom>
          <a:solidFill>
            <a:srgbClr val="FDCBAD"/>
          </a:solidFill>
        </p:spPr>
        <p:txBody>
          <a:bodyPr>
            <a:normAutofit/>
          </a:bodyPr>
          <a:lstStyle/>
          <a:p>
            <a:r>
              <a:rPr lang="en-GB" sz="4000" b="1" dirty="0" err="1">
                <a:solidFill>
                  <a:srgbClr val="F9853D"/>
                </a:solidFill>
                <a:latin typeface="Bahnschrift" panose="020B0502040204020203" pitchFamily="34" charset="0"/>
              </a:rPr>
              <a:t>WordStats</a:t>
            </a:r>
            <a:r>
              <a:rPr lang="el-GR" sz="4000" b="1" dirty="0">
                <a:solidFill>
                  <a:srgbClr val="F9853D"/>
                </a:solidFill>
                <a:latin typeface="Bahnschrift" panose="020B0502040204020203" pitchFamily="34" charset="0"/>
              </a:rPr>
              <a:t> με Δομές</a:t>
            </a:r>
            <a:endParaRPr lang="en-GB" sz="4000" b="1" dirty="0">
              <a:solidFill>
                <a:srgbClr val="F9853D"/>
              </a:solidFill>
              <a:latin typeface="Bahnschrift" panose="020B0502040204020203" pitchFamily="34" charset="0"/>
            </a:endParaRPr>
          </a:p>
        </p:txBody>
      </p:sp>
      <p:grpSp>
        <p:nvGrpSpPr>
          <p:cNvPr id="17" name="Group 16">
            <a:extLst>
              <a:ext uri="{FF2B5EF4-FFF2-40B4-BE49-F238E27FC236}">
                <a16:creationId xmlns:a16="http://schemas.microsoft.com/office/drawing/2014/main" id="{DAC1F62D-B3AA-AC08-25E4-87DEAE288D11}"/>
              </a:ext>
            </a:extLst>
          </p:cNvPr>
          <p:cNvGrpSpPr/>
          <p:nvPr/>
        </p:nvGrpSpPr>
        <p:grpSpPr>
          <a:xfrm>
            <a:off x="-1" y="6559909"/>
            <a:ext cx="12192001" cy="366704"/>
            <a:chOff x="-1" y="6559909"/>
            <a:chExt cx="12192001" cy="366704"/>
          </a:xfrm>
        </p:grpSpPr>
        <p:grpSp>
          <p:nvGrpSpPr>
            <p:cNvPr id="18" name="Group 17">
              <a:extLst>
                <a:ext uri="{FF2B5EF4-FFF2-40B4-BE49-F238E27FC236}">
                  <a16:creationId xmlns:a16="http://schemas.microsoft.com/office/drawing/2014/main" id="{0D25F8D2-D246-683C-47E9-B07829FF3721}"/>
                </a:ext>
              </a:extLst>
            </p:cNvPr>
            <p:cNvGrpSpPr/>
            <p:nvPr/>
          </p:nvGrpSpPr>
          <p:grpSpPr>
            <a:xfrm>
              <a:off x="-1" y="6559909"/>
              <a:ext cx="12192001" cy="291730"/>
              <a:chOff x="-1" y="6559909"/>
              <a:chExt cx="12192001" cy="291730"/>
            </a:xfrm>
          </p:grpSpPr>
          <p:sp>
            <p:nvSpPr>
              <p:cNvPr id="20" name="Rectangle 14">
                <a:extLst>
                  <a:ext uri="{FF2B5EF4-FFF2-40B4-BE49-F238E27FC236}">
                    <a16:creationId xmlns:a16="http://schemas.microsoft.com/office/drawing/2014/main" id="{EFA0437B-0AE8-B710-45CA-01F133888493}"/>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Θέση υποσέλιδου 4">
                <a:extLst>
                  <a:ext uri="{FF2B5EF4-FFF2-40B4-BE49-F238E27FC236}">
                    <a16:creationId xmlns:a16="http://schemas.microsoft.com/office/drawing/2014/main" id="{A8D9E860-909A-E45D-288D-80E1CCED5F2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2" name="TextBox 21">
                <a:extLst>
                  <a:ext uri="{FF2B5EF4-FFF2-40B4-BE49-F238E27FC236}">
                    <a16:creationId xmlns:a16="http://schemas.microsoft.com/office/drawing/2014/main" id="{05E8801B-F764-C522-5936-94DDB090583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37</a:t>
                </a:fld>
                <a:endParaRPr lang="en-US" sz="1200" dirty="0">
                  <a:latin typeface="Bahnschrift Light" panose="020B0502040204020203" pitchFamily="34" charset="0"/>
                  <a:cs typeface="Arial" pitchFamily="34" charset="0"/>
                </a:endParaRPr>
              </a:p>
            </p:txBody>
          </p:sp>
        </p:grpSp>
        <p:sp>
          <p:nvSpPr>
            <p:cNvPr id="19" name="Θέση υποσέλιδου 4">
              <a:extLst>
                <a:ext uri="{FF2B5EF4-FFF2-40B4-BE49-F238E27FC236}">
                  <a16:creationId xmlns:a16="http://schemas.microsoft.com/office/drawing/2014/main" id="{22762D5D-1A12-C4E2-89F7-ACCECF75D4DF}"/>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pic>
        <p:nvPicPr>
          <p:cNvPr id="4" name="Picture 3">
            <a:extLst>
              <a:ext uri="{FF2B5EF4-FFF2-40B4-BE49-F238E27FC236}">
                <a16:creationId xmlns:a16="http://schemas.microsoft.com/office/drawing/2014/main" id="{58CB16C4-BBEB-0AE9-A46C-5E2E6034BF20}"/>
              </a:ext>
            </a:extLst>
          </p:cNvPr>
          <p:cNvPicPr>
            <a:picLocks noChangeAspect="1"/>
          </p:cNvPicPr>
          <p:nvPr/>
        </p:nvPicPr>
        <p:blipFill>
          <a:blip r:embed="rId3"/>
          <a:stretch>
            <a:fillRect/>
          </a:stretch>
        </p:blipFill>
        <p:spPr>
          <a:xfrm>
            <a:off x="6130392" y="1936798"/>
            <a:ext cx="6061608" cy="1800199"/>
          </a:xfrm>
          <a:prstGeom prst="rect">
            <a:avLst/>
          </a:prstGeom>
        </p:spPr>
      </p:pic>
      <p:pic>
        <p:nvPicPr>
          <p:cNvPr id="5" name="Picture 4">
            <a:extLst>
              <a:ext uri="{FF2B5EF4-FFF2-40B4-BE49-F238E27FC236}">
                <a16:creationId xmlns:a16="http://schemas.microsoft.com/office/drawing/2014/main" id="{8E78D695-42B2-E472-3454-A2F27BD9E3FD}"/>
              </a:ext>
            </a:extLst>
          </p:cNvPr>
          <p:cNvPicPr>
            <a:picLocks noChangeAspect="1"/>
          </p:cNvPicPr>
          <p:nvPr/>
        </p:nvPicPr>
        <p:blipFill>
          <a:blip r:embed="rId4"/>
          <a:stretch>
            <a:fillRect/>
          </a:stretch>
        </p:blipFill>
        <p:spPr>
          <a:xfrm>
            <a:off x="30834" y="3852167"/>
            <a:ext cx="7120098" cy="1572613"/>
          </a:xfrm>
          <a:prstGeom prst="rect">
            <a:avLst/>
          </a:prstGeom>
        </p:spPr>
      </p:pic>
      <p:pic>
        <p:nvPicPr>
          <p:cNvPr id="6" name="Picture 5">
            <a:extLst>
              <a:ext uri="{FF2B5EF4-FFF2-40B4-BE49-F238E27FC236}">
                <a16:creationId xmlns:a16="http://schemas.microsoft.com/office/drawing/2014/main" id="{D2E423DD-23E1-880E-14C3-2F40C8B3B2C7}"/>
              </a:ext>
            </a:extLst>
          </p:cNvPr>
          <p:cNvPicPr>
            <a:picLocks noChangeAspect="1"/>
          </p:cNvPicPr>
          <p:nvPr/>
        </p:nvPicPr>
        <p:blipFill>
          <a:blip r:embed="rId5"/>
          <a:stretch>
            <a:fillRect/>
          </a:stretch>
        </p:blipFill>
        <p:spPr>
          <a:xfrm>
            <a:off x="2768715" y="5373216"/>
            <a:ext cx="9138134" cy="1215746"/>
          </a:xfrm>
          <a:prstGeom prst="rect">
            <a:avLst/>
          </a:prstGeom>
        </p:spPr>
      </p:pic>
      <p:pic>
        <p:nvPicPr>
          <p:cNvPr id="7" name="Picture 6">
            <a:extLst>
              <a:ext uri="{FF2B5EF4-FFF2-40B4-BE49-F238E27FC236}">
                <a16:creationId xmlns:a16="http://schemas.microsoft.com/office/drawing/2014/main" id="{F380ED40-2B0F-2C40-A68C-A12A5CD7D0CA}"/>
              </a:ext>
            </a:extLst>
          </p:cNvPr>
          <p:cNvPicPr>
            <a:picLocks noChangeAspect="1"/>
          </p:cNvPicPr>
          <p:nvPr/>
        </p:nvPicPr>
        <p:blipFill>
          <a:blip r:embed="rId6"/>
          <a:stretch>
            <a:fillRect/>
          </a:stretch>
        </p:blipFill>
        <p:spPr>
          <a:xfrm>
            <a:off x="54572" y="1310734"/>
            <a:ext cx="6096000" cy="1741715"/>
          </a:xfrm>
          <a:prstGeom prst="rect">
            <a:avLst/>
          </a:prstGeom>
        </p:spPr>
      </p:pic>
      <p:pic>
        <p:nvPicPr>
          <p:cNvPr id="8" name="Picture 7">
            <a:extLst>
              <a:ext uri="{FF2B5EF4-FFF2-40B4-BE49-F238E27FC236}">
                <a16:creationId xmlns:a16="http://schemas.microsoft.com/office/drawing/2014/main" id="{7554AC75-1EB9-C6A4-DD1D-E5BA07DC5EB9}"/>
              </a:ext>
            </a:extLst>
          </p:cNvPr>
          <p:cNvPicPr>
            <a:picLocks noChangeAspect="1"/>
          </p:cNvPicPr>
          <p:nvPr/>
        </p:nvPicPr>
        <p:blipFill>
          <a:blip r:embed="rId7"/>
          <a:stretch>
            <a:fillRect/>
          </a:stretch>
        </p:blipFill>
        <p:spPr>
          <a:xfrm>
            <a:off x="6265271" y="84253"/>
            <a:ext cx="5641578" cy="1400531"/>
          </a:xfrm>
          <a:prstGeom prst="rect">
            <a:avLst/>
          </a:prstGeom>
        </p:spPr>
      </p:pic>
    </p:spTree>
    <p:extLst>
      <p:ext uri="{BB962C8B-B14F-4D97-AF65-F5344CB8AC3E}">
        <p14:creationId xmlns:p14="http://schemas.microsoft.com/office/powerpoint/2010/main" val="634277363"/>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0E781-77B5-03F4-951E-1FFD7F1495EF}"/>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6C6DA220-F8FD-EEFF-276E-6FD0972EA23F}"/>
              </a:ext>
            </a:extLst>
          </p:cNvPr>
          <p:cNvSpPr>
            <a:spLocks noGrp="1"/>
          </p:cNvSpPr>
          <p:nvPr>
            <p:ph type="title" idx="4294967295"/>
          </p:nvPr>
        </p:nvSpPr>
        <p:spPr>
          <a:xfrm>
            <a:off x="0" y="0"/>
            <a:ext cx="12191999" cy="719331"/>
          </a:xfrm>
          <a:prstGeom prst="rect">
            <a:avLst/>
          </a:prstGeo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3" name="Rectangle 2">
            <a:extLst>
              <a:ext uri="{FF2B5EF4-FFF2-40B4-BE49-F238E27FC236}">
                <a16:creationId xmlns:a16="http://schemas.microsoft.com/office/drawing/2014/main" id="{7CB6602F-D514-86BF-CD9B-80C032037D57}"/>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B9B85E8D-5092-C7DE-928A-00A2DE19C091}"/>
              </a:ext>
            </a:extLst>
          </p:cNvPr>
          <p:cNvSpPr txBox="1">
            <a:spLocks noChangeArrowheads="1"/>
          </p:cNvSpPr>
          <p:nvPr/>
        </p:nvSpPr>
        <p:spPr bwMode="auto">
          <a:xfrm>
            <a:off x="267579" y="975392"/>
            <a:ext cx="11207100" cy="51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1</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rPr>
              <a:t>Επιλογή λειτουργίας (Μενού)</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Μενού επιλογής λειτουργίας</a:t>
            </a:r>
          </a:p>
          <a:p>
            <a:pPr lvl="1" eaLnBrk="1" hangingPunct="1">
              <a:lnSpc>
                <a:spcPct val="80000"/>
              </a:lnSpc>
            </a:pPr>
            <a:r>
              <a:rPr lang="el-GR" sz="2400" kern="0" dirty="0">
                <a:solidFill>
                  <a:srgbClr val="000000"/>
                </a:solidFill>
                <a:latin typeface="Tahoma"/>
              </a:rPr>
              <a:t>Η </a:t>
            </a:r>
            <a:r>
              <a:rPr lang="el-GR" sz="2400" kern="0" dirty="0" err="1">
                <a:solidFill>
                  <a:srgbClr val="000000"/>
                </a:solidFill>
                <a:latin typeface="Tahoma"/>
              </a:rPr>
              <a:t>top-down</a:t>
            </a:r>
            <a:r>
              <a:rPr lang="el-GR" sz="2400" kern="0" dirty="0">
                <a:solidFill>
                  <a:srgbClr val="000000"/>
                </a:solidFill>
                <a:latin typeface="Tahoma"/>
              </a:rPr>
              <a:t> προσέγγιση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rPr>
              <a:t>Διαχείριση Λέξεων</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Διαχείριση πολυπλοκότητας (Πλάνο εκδόσεων)</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Ταξινόμηση – Αναζήτηση</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Οργάνωση πηγαίου κώδικα σε περισσότερα του ενός αρχεία</a:t>
            </a:r>
          </a:p>
          <a:p>
            <a:pPr lvl="1" eaLnBrk="1" hangingPunct="1">
              <a:lnSpc>
                <a:spcPct val="80000"/>
              </a:lnSpc>
            </a:pPr>
            <a:r>
              <a:rPr lang="el-GR" altLang="el-GR" sz="2400" dirty="0">
                <a:latin typeface="Tahoma" panose="020B0604030504040204" pitchFamily="34" charset="0"/>
                <a:ea typeface="Tahoma" panose="020B0604030504040204" pitchFamily="34" charset="0"/>
                <a:cs typeface="Tahoma" panose="020B0604030504040204" pitchFamily="34" charset="0"/>
              </a:rPr>
              <a:t>Δυναμική διαχείριση μνήμης</a:t>
            </a:r>
          </a:p>
          <a:p>
            <a:pPr marL="0" indent="0" eaLnBrk="1" hangingPunct="1">
              <a:lnSpc>
                <a:spcPct val="80000"/>
              </a:lnSpc>
              <a:buNone/>
            </a:pPr>
            <a:r>
              <a:rPr lang="el-GR" altLang="el-GR" sz="2800" b="1" u="sng" dirty="0">
                <a:latin typeface="Tahoma" panose="020B0604030504040204" pitchFamily="34" charset="0"/>
                <a:ea typeface="Tahoma" panose="020B0604030504040204" pitchFamily="34" charset="0"/>
                <a:cs typeface="Tahoma" panose="020B0604030504040204" pitchFamily="34" charset="0"/>
              </a:rPr>
              <a:t>Μέρος 2</a:t>
            </a:r>
            <a:r>
              <a:rPr lang="el-GR" altLang="el-GR" sz="2800" b="1" u="sng" baseline="30000" dirty="0">
                <a:latin typeface="Tahoma" panose="020B0604030504040204" pitchFamily="34" charset="0"/>
                <a:ea typeface="Tahoma" panose="020B0604030504040204" pitchFamily="34" charset="0"/>
                <a:cs typeface="Tahoma" panose="020B0604030504040204" pitchFamily="34" charset="0"/>
              </a:rPr>
              <a:t>ο</a:t>
            </a:r>
            <a:r>
              <a:rPr lang="el-GR" altLang="el-GR" sz="2800" b="1" u="sng" dirty="0">
                <a:latin typeface="Tahoma" panose="020B0604030504040204" pitchFamily="34" charset="0"/>
                <a:ea typeface="Tahoma" panose="020B0604030504040204" pitchFamily="34" charset="0"/>
                <a:cs typeface="Tahoma" panose="020B0604030504040204" pitchFamily="34" charset="0"/>
              </a:rPr>
              <a:t> </a:t>
            </a:r>
            <a:endParaRPr lang="en-US" altLang="el-GR" sz="2800" b="1" u="sng"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με χρήση της i2p βιβλιοθήκης</a:t>
            </a: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Ταξινόμηση -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Bubble</a:t>
            </a: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 </a:t>
            </a:r>
            <a:r>
              <a:rPr lang="el-GR" altLang="el-GR" sz="2400" b="1" dirty="0" err="1">
                <a:solidFill>
                  <a:srgbClr val="F9853D"/>
                </a:solidFill>
                <a:latin typeface="Tahoma" panose="020B0604030504040204" pitchFamily="34" charset="0"/>
                <a:ea typeface="Tahoma" panose="020B0604030504040204" pitchFamily="34" charset="0"/>
                <a:cs typeface="Tahoma" panose="020B0604030504040204" pitchFamily="34" charset="0"/>
              </a:rPr>
              <a:t>Sort</a:t>
            </a:r>
            <a:endPar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r>
              <a:rPr lang="el-GR" altLang="el-GR" sz="2400" b="1" dirty="0">
                <a:solidFill>
                  <a:srgbClr val="F9853D"/>
                </a:solidFill>
                <a:latin typeface="Tahoma" panose="020B0604030504040204" pitchFamily="34" charset="0"/>
                <a:ea typeface="Tahoma" panose="020B0604030504040204" pitchFamily="34" charset="0"/>
                <a:cs typeface="Tahoma" panose="020B0604030504040204" pitchFamily="34" charset="0"/>
              </a:rPr>
              <a:t>Αναζήτηση</a:t>
            </a:r>
            <a:r>
              <a:rPr lang="el-GR" altLang="el-GR" sz="2400" dirty="0">
                <a:solidFill>
                  <a:srgbClr val="F9853D"/>
                </a:solidFill>
                <a:latin typeface="Tahoma" panose="020B0604030504040204" pitchFamily="34" charset="0"/>
                <a:ea typeface="Tahoma" panose="020B0604030504040204" pitchFamily="34" charset="0"/>
                <a:cs typeface="Tahoma" panose="020B0604030504040204" pitchFamily="34" charset="0"/>
              </a:rPr>
              <a:t> </a:t>
            </a:r>
          </a:p>
          <a:p>
            <a:pPr eaLnBrk="1" hangingPunct="1">
              <a:lnSpc>
                <a:spcPct val="80000"/>
              </a:lnSpc>
            </a:pPr>
            <a:r>
              <a:rPr lang="el-GR" sz="2400" b="1" dirty="0">
                <a:solidFill>
                  <a:srgbClr val="F9853D"/>
                </a:solidFill>
                <a:latin typeface="Bahnschrift" panose="020B0502040204020203" pitchFamily="34" charset="0"/>
              </a:rPr>
              <a:t>Ταξινόμηση και Αναζήτηση με την τυπική βιβλιοθήκη</a:t>
            </a:r>
            <a:endParaRPr lang="el-GR" altLang="el-GR" sz="2400" dirty="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pPr>
            <a:endParaRPr lang="en-US" altLang="el-GR" sz="2800" b="1" dirty="0">
              <a:solidFill>
                <a:srgbClr val="F9853D"/>
              </a:solidFill>
              <a:latin typeface="Tahoma" panose="020B0604030504040204" pitchFamily="34" charset="0"/>
              <a:ea typeface="Tahoma" panose="020B0604030504040204" pitchFamily="34" charset="0"/>
              <a:cs typeface="Tahoma" panose="020B0604030504040204" pitchFamily="34" charset="0"/>
            </a:endParaRPr>
          </a:p>
        </p:txBody>
      </p:sp>
      <p:grpSp>
        <p:nvGrpSpPr>
          <p:cNvPr id="5" name="Group 4">
            <a:extLst>
              <a:ext uri="{FF2B5EF4-FFF2-40B4-BE49-F238E27FC236}">
                <a16:creationId xmlns:a16="http://schemas.microsoft.com/office/drawing/2014/main" id="{DA0F1196-F976-9C82-096B-C4FF28A82B74}"/>
              </a:ext>
            </a:extLst>
          </p:cNvPr>
          <p:cNvGrpSpPr/>
          <p:nvPr/>
        </p:nvGrpSpPr>
        <p:grpSpPr>
          <a:xfrm>
            <a:off x="-1" y="6559909"/>
            <a:ext cx="12192001" cy="366704"/>
            <a:chOff x="-1" y="6559909"/>
            <a:chExt cx="12192001" cy="366704"/>
          </a:xfrm>
        </p:grpSpPr>
        <p:grpSp>
          <p:nvGrpSpPr>
            <p:cNvPr id="7" name="Group 6">
              <a:extLst>
                <a:ext uri="{FF2B5EF4-FFF2-40B4-BE49-F238E27FC236}">
                  <a16:creationId xmlns:a16="http://schemas.microsoft.com/office/drawing/2014/main" id="{6DA85CF4-102E-705B-B3E7-5D8B20A28DF6}"/>
                </a:ext>
              </a:extLst>
            </p:cNvPr>
            <p:cNvGrpSpPr/>
            <p:nvPr/>
          </p:nvGrpSpPr>
          <p:grpSpPr>
            <a:xfrm>
              <a:off x="-1" y="6559909"/>
              <a:ext cx="12192001" cy="291730"/>
              <a:chOff x="-1" y="6559909"/>
              <a:chExt cx="12192001" cy="291730"/>
            </a:xfrm>
          </p:grpSpPr>
          <p:sp>
            <p:nvSpPr>
              <p:cNvPr id="10" name="Rectangle 14">
                <a:extLst>
                  <a:ext uri="{FF2B5EF4-FFF2-40B4-BE49-F238E27FC236}">
                    <a16:creationId xmlns:a16="http://schemas.microsoft.com/office/drawing/2014/main" id="{B701B3C0-206F-712C-9430-C52A97BCC055}"/>
                  </a:ext>
                </a:extLst>
              </p:cNvPr>
              <p:cNvSpPr/>
              <p:nvPr/>
            </p:nvSpPr>
            <p:spPr>
              <a:xfrm>
                <a:off x="0" y="6574639"/>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D316BCD5-D316-5EC7-1C74-EE3DB86EA7F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0BE3025-B13C-B6CF-37A0-B877577CB98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38</a:t>
                </a:fld>
                <a:endParaRPr lang="en-US" sz="1200" dirty="0">
                  <a:latin typeface="Bahnschrift Light" panose="020B0502040204020203" pitchFamily="34" charset="0"/>
                  <a:cs typeface="Arial" pitchFamily="34" charset="0"/>
                </a:endParaRPr>
              </a:p>
            </p:txBody>
          </p:sp>
        </p:grpSp>
        <p:sp>
          <p:nvSpPr>
            <p:cNvPr id="9" name="Θέση υποσέλιδου 4">
              <a:extLst>
                <a:ext uri="{FF2B5EF4-FFF2-40B4-BE49-F238E27FC236}">
                  <a16:creationId xmlns:a16="http://schemas.microsoft.com/office/drawing/2014/main" id="{74CB4B05-FF2B-71BE-A916-A28A625F38F2}"/>
                </a:ext>
              </a:extLst>
            </p:cNvPr>
            <p:cNvSpPr txBox="1">
              <a:spLocks/>
            </p:cNvSpPr>
            <p:nvPr/>
          </p:nvSpPr>
          <p:spPr>
            <a:xfrm>
              <a:off x="3719657" y="6649613"/>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Sorting and Searching</a:t>
              </a:r>
            </a:p>
            <a:p>
              <a:endParaRPr lang="el-GR" sz="1100" dirty="0">
                <a:solidFill>
                  <a:schemeClr val="tx1"/>
                </a:solidFill>
                <a:latin typeface="Bahnschrift" panose="020B0502040204020203" pitchFamily="34" charset="0"/>
              </a:endParaRPr>
            </a:p>
          </p:txBody>
        </p:sp>
      </p:grpSp>
    </p:spTree>
    <p:extLst>
      <p:ext uri="{BB962C8B-B14F-4D97-AF65-F5344CB8AC3E}">
        <p14:creationId xmlns:p14="http://schemas.microsoft.com/office/powerpoint/2010/main" val="34563297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25234</TotalTime>
  <Words>2621</Words>
  <Application>Microsoft Office PowerPoint</Application>
  <PresentationFormat>Widescreen</PresentationFormat>
  <Paragraphs>394</Paragraphs>
  <Slides>38</Slides>
  <Notes>38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38</vt:i4>
      </vt:variant>
    </vt:vector>
  </HeadingPairs>
  <TitlesOfParts>
    <vt:vector size="50" baseType="lpstr">
      <vt:lpstr>Arial</vt:lpstr>
      <vt:lpstr>Bahnschrift</vt:lpstr>
      <vt:lpstr>Bahnschrift Light</vt:lpstr>
      <vt:lpstr>Calibri</vt:lpstr>
      <vt:lpstr>Calibri Light</vt:lpstr>
      <vt:lpstr>Courier New</vt:lpstr>
      <vt:lpstr>HellasTimes</vt:lpstr>
      <vt:lpstr>Tahoma</vt:lpstr>
      <vt:lpstr>Times New Roman</vt:lpstr>
      <vt:lpstr>Wingdings</vt:lpstr>
      <vt:lpstr>Προσαρμοσμένη σχεδίαση</vt:lpstr>
      <vt:lpstr>Θέμα του Office</vt:lpstr>
      <vt:lpstr>PowerPoint Presentation</vt:lpstr>
      <vt:lpstr>Στόχος Ενότητας </vt:lpstr>
      <vt:lpstr>Η ενότητα …</vt:lpstr>
      <vt:lpstr>Οργάνωση Διάλεξης</vt:lpstr>
      <vt:lpstr>Δραστηριότητα 8.1  - SelectOperation</vt:lpstr>
      <vt:lpstr>Hands-on : SimpleCalculator</vt:lpstr>
      <vt:lpstr>SimpleCalculator - Γραφική αναπαράσταση </vt:lpstr>
      <vt:lpstr>Hands-on : Πηγαίος κώδικας επιλογής λειτουργίας</vt:lpstr>
      <vt:lpstr>SimpleCalculator - Έξοδος</vt:lpstr>
      <vt:lpstr>SimpleCalculator - main</vt:lpstr>
      <vt:lpstr>Βελτιώνοντας τη λύση (συμπαγής κώδικας)</vt:lpstr>
      <vt:lpstr>Οργάνωση Διάλεξης</vt:lpstr>
      <vt:lpstr>Δραστηριότητα 8.2  - WordsHandlingApp</vt:lpstr>
      <vt:lpstr>Hands-on : Γραφική αναπαράσταση</vt:lpstr>
      <vt:lpstr>WordsHandlingApp - Γραφική αναπαράσταση</vt:lpstr>
      <vt:lpstr>WordsHandlingApp - Μεταβλητές</vt:lpstr>
      <vt:lpstr>Hands-on : 1η έκδοση (Ορισμός δομής της main)</vt:lpstr>
      <vt:lpstr>1η έκδοση - Ορισμός δομής της main</vt:lpstr>
      <vt:lpstr>Πλάνο εκδόσεων</vt:lpstr>
      <vt:lpstr>Hands-on : 2η  έκδοση - Εισαγωγή λέξης και εμφάνιση λίστας </vt:lpstr>
      <vt:lpstr>2η  έκδοση - Εισαγωγή λέξης και εμφάνιση λίστας </vt:lpstr>
      <vt:lpstr>Hands-on : 3η έκδοση - Ταξινόμηση και Αναζήτηση</vt:lpstr>
      <vt:lpstr>3η έκδοση - Ταξινόμηση και Αναζήτηση</vt:lpstr>
      <vt:lpstr>3η έκδοση - Η συνάρτηση search4Word</vt:lpstr>
      <vt:lpstr>Hands-on : 4η έκδοση - Στατιστικά λέξεων </vt:lpstr>
      <vt:lpstr>4η έκδοση - Στατιστικά λέξεων </vt:lpstr>
      <vt:lpstr>Hands-on : 5η  έκδοση - Στατιστικά χαρακτήρα</vt:lpstr>
      <vt:lpstr>Στατιστικά χαρακτήρα – Λεκτική Περιγραφή</vt:lpstr>
      <vt:lpstr>5η  έκδοση - Στατιστικά χαρακτήρα</vt:lpstr>
      <vt:lpstr>Οργάνωση Διάλεξης</vt:lpstr>
      <vt:lpstr>Hands-on : 6η  έκδοση - Δύο αρχεία πηγαίου κώδικα </vt:lpstr>
      <vt:lpstr>Hands-on : 7η  έκδοση - Πίνακας Δεικτών σε συμβολοσειρές</vt:lpstr>
      <vt:lpstr>Δυναμική διαχείριση Μνήμης</vt:lpstr>
      <vt:lpstr>Ταξινόμηση Πίνακα Δεικτών σε συμβολοσειρές</vt:lpstr>
      <vt:lpstr>WordStats με Δείκτες και Δομές (struct)</vt:lpstr>
      <vt:lpstr>WordStats με Δείκτες</vt:lpstr>
      <vt:lpstr>WordStats με Δομές</vt:lpstr>
      <vt:lpstr>Οργάνωση Διάλεξης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OOP-Introduction</dc:title>
  <dc:creator>Kleanthis Thramboulidis</dc:creator>
  <cp:lastModifiedBy>Kleanthis Thramboulidis</cp:lastModifiedBy>
  <cp:revision>106</cp:revision>
  <cp:lastPrinted>2023-02-24T15:57:04Z</cp:lastPrinted>
  <dcterms:created xsi:type="dcterms:W3CDTF">2020-03-13T12:21:17Z</dcterms:created>
  <dcterms:modified xsi:type="dcterms:W3CDTF">2025-11-05T15:45:47Z</dcterms:modified>
</cp:coreProperties>
</file>