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892" r:id="rId5"/>
  </p:sldMasterIdLst>
  <p:notesMasterIdLst>
    <p:notesMasterId r:id="rId42"/>
  </p:notesMasterIdLst>
  <p:sldIdLst>
    <p:sldId id="262" r:id="rId6"/>
    <p:sldId id="818" r:id="rId7"/>
    <p:sldId id="822" r:id="rId8"/>
    <p:sldId id="823" r:id="rId9"/>
    <p:sldId id="839" r:id="rId10"/>
    <p:sldId id="825" r:id="rId11"/>
    <p:sldId id="840" r:id="rId12"/>
    <p:sldId id="841" r:id="rId13"/>
    <p:sldId id="842" r:id="rId14"/>
    <p:sldId id="844" r:id="rId15"/>
    <p:sldId id="845" r:id="rId16"/>
    <p:sldId id="863" r:id="rId17"/>
    <p:sldId id="864" r:id="rId18"/>
    <p:sldId id="846" r:id="rId19"/>
    <p:sldId id="843" r:id="rId20"/>
    <p:sldId id="848" r:id="rId21"/>
    <p:sldId id="847" r:id="rId22"/>
    <p:sldId id="849" r:id="rId23"/>
    <p:sldId id="850" r:id="rId24"/>
    <p:sldId id="851" r:id="rId25"/>
    <p:sldId id="852" r:id="rId26"/>
    <p:sldId id="853" r:id="rId27"/>
    <p:sldId id="855" r:id="rId28"/>
    <p:sldId id="856" r:id="rId29"/>
    <p:sldId id="854" r:id="rId30"/>
    <p:sldId id="857" r:id="rId31"/>
    <p:sldId id="858" r:id="rId32"/>
    <p:sldId id="860" r:id="rId33"/>
    <p:sldId id="869" r:id="rId34"/>
    <p:sldId id="859" r:id="rId35"/>
    <p:sldId id="865" r:id="rId36"/>
    <p:sldId id="868" r:id="rId37"/>
    <p:sldId id="866" r:id="rId38"/>
    <p:sldId id="867" r:id="rId39"/>
    <p:sldId id="861" r:id="rId40"/>
    <p:sldId id="862" r:id="rId41"/>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CDBB"/>
    <a:srgbClr val="60D69E"/>
    <a:srgbClr val="869391"/>
    <a:srgbClr val="F9853D"/>
    <a:srgbClr val="FDCBAD"/>
    <a:srgbClr val="FBAD7D"/>
    <a:srgbClr val="61649B"/>
    <a:srgbClr val="E49252"/>
    <a:srgbClr val="FFFFFF"/>
    <a:srgbClr val="2E359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D3F424-D682-411C-BCB1-8E7B08C55C2B}" v="1" dt="2025-09-25T13:32:05.3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508" autoAdjust="0"/>
    <p:restoredTop sz="93969" autoAdjust="0"/>
  </p:normalViewPr>
  <p:slideViewPr>
    <p:cSldViewPr snapToGrid="0">
      <p:cViewPr varScale="1">
        <p:scale>
          <a:sx n="67" d="100"/>
          <a:sy n="67" d="100"/>
        </p:scale>
        <p:origin x="348" y="6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notesMaster" Target="notesMasters/notesMaster1.xml"/><Relationship Id="rId47"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a:p>
        </p:txBody>
      </p:sp>
      <p:sp>
        <p:nvSpPr>
          <p:cNvPr id="3" name="Θέση ημερομηνίας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120127-9FC1-4D44-BFF2-2F77E5433948}" type="datetimeFigureOut">
              <a:rPr lang="el-GR" smtClean="0"/>
              <a:t>14/10/2025</a:t>
            </a:fld>
            <a:endParaRPr lang="el-GR"/>
          </a:p>
        </p:txBody>
      </p:sp>
      <p:sp>
        <p:nvSpPr>
          <p:cNvPr id="4" name="Θέση εικόνας διαφάνειας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Θέση σημειώσεων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6" name="Θέση υποσέλιδου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7" name="Θέση αριθμού διαφάνειας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D89646-4F35-49C2-BD28-89287C170EC3}" type="slidenum">
              <a:rPr lang="el-GR" smtClean="0"/>
              <a:t>‹#›</a:t>
            </a:fld>
            <a:endParaRPr lang="el-GR"/>
          </a:p>
        </p:txBody>
      </p:sp>
    </p:spTree>
    <p:extLst>
      <p:ext uri="{BB962C8B-B14F-4D97-AF65-F5344CB8AC3E}">
        <p14:creationId xmlns:p14="http://schemas.microsoft.com/office/powerpoint/2010/main" val="548665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Θέση αριθμού διαφάνειας 3"/>
          <p:cNvSpPr>
            <a:spLocks noGrp="1"/>
          </p:cNvSpPr>
          <p:nvPr>
            <p:ph type="sldNum" sz="quarter" idx="10"/>
          </p:nvPr>
        </p:nvSpPr>
        <p:spPr/>
        <p:txBody>
          <a:bodyPr/>
          <a:lstStyle/>
          <a:p>
            <a:fld id="{C9D89646-4F35-49C2-BD28-89287C170EC3}" type="slidenum">
              <a:rPr lang="el-GR" smtClean="0"/>
              <a:t>1</a:t>
            </a:fld>
            <a:endParaRPr lang="el-GR"/>
          </a:p>
        </p:txBody>
      </p:sp>
    </p:spTree>
    <p:extLst>
      <p:ext uri="{BB962C8B-B14F-4D97-AF65-F5344CB8AC3E}">
        <p14:creationId xmlns:p14="http://schemas.microsoft.com/office/powerpoint/2010/main" val="338972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5E02B-7508-585E-4F49-009EAA438CA7}"/>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C5B95EB3-1D7B-031E-2AA8-257488295E83}"/>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2DB813BF-C23F-3E4D-900A-75A69D377856}"/>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EDDD72C6-8023-8803-518A-C93D5F36A914}"/>
              </a:ext>
            </a:extLst>
          </p:cNvPr>
          <p:cNvSpPr>
            <a:spLocks noGrp="1"/>
          </p:cNvSpPr>
          <p:nvPr>
            <p:ph type="sldNum" sz="quarter" idx="5"/>
          </p:nvPr>
        </p:nvSpPr>
        <p:spPr/>
        <p:txBody>
          <a:bodyPr/>
          <a:lstStyle/>
          <a:p>
            <a:fld id="{C9D89646-4F35-49C2-BD28-89287C170EC3}" type="slidenum">
              <a:rPr lang="el-GR" smtClean="0"/>
              <a:t>2</a:t>
            </a:fld>
            <a:endParaRPr lang="el-GR"/>
          </a:p>
        </p:txBody>
      </p:sp>
    </p:spTree>
    <p:extLst>
      <p:ext uri="{BB962C8B-B14F-4D97-AF65-F5344CB8AC3E}">
        <p14:creationId xmlns:p14="http://schemas.microsoft.com/office/powerpoint/2010/main" val="20121066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CDE23-4703-0D09-F7FD-B53EBCD35F5B}"/>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44EA007E-0955-EB39-593C-63135B7BC6AA}"/>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7035F853-1C3C-9864-FAB8-3F5825FBFD6E}"/>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EEDBCB8F-1A44-2FD8-5F19-EF2AA7A25148}"/>
              </a:ext>
            </a:extLst>
          </p:cNvPr>
          <p:cNvSpPr>
            <a:spLocks noGrp="1"/>
          </p:cNvSpPr>
          <p:nvPr>
            <p:ph type="sldNum" sz="quarter" idx="5"/>
          </p:nvPr>
        </p:nvSpPr>
        <p:spPr/>
        <p:txBody>
          <a:bodyPr/>
          <a:lstStyle/>
          <a:p>
            <a:fld id="{C9D89646-4F35-49C2-BD28-89287C170EC3}" type="slidenum">
              <a:rPr lang="el-GR" smtClean="0"/>
              <a:t>3</a:t>
            </a:fld>
            <a:endParaRPr lang="el-GR"/>
          </a:p>
        </p:txBody>
      </p:sp>
    </p:spTree>
    <p:extLst>
      <p:ext uri="{BB962C8B-B14F-4D97-AF65-F5344CB8AC3E}">
        <p14:creationId xmlns:p14="http://schemas.microsoft.com/office/powerpoint/2010/main" val="21274034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44010-604E-A9C4-08FF-6E8F43E3BCC6}"/>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018FE744-AF5F-2E73-FE34-DCBCE45D4437}"/>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60A26F44-E2F0-0922-09ED-136D46DBF98A}"/>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3B5A2B3D-D097-919C-65C8-DEBDF474B530}"/>
              </a:ext>
            </a:extLst>
          </p:cNvPr>
          <p:cNvSpPr>
            <a:spLocks noGrp="1"/>
          </p:cNvSpPr>
          <p:nvPr>
            <p:ph type="sldNum" sz="quarter" idx="5"/>
          </p:nvPr>
        </p:nvSpPr>
        <p:spPr/>
        <p:txBody>
          <a:bodyPr/>
          <a:lstStyle/>
          <a:p>
            <a:fld id="{C9D89646-4F35-49C2-BD28-89287C170EC3}" type="slidenum">
              <a:rPr lang="el-GR" smtClean="0"/>
              <a:t>4</a:t>
            </a:fld>
            <a:endParaRPr lang="el-GR"/>
          </a:p>
        </p:txBody>
      </p:sp>
    </p:spTree>
    <p:extLst>
      <p:ext uri="{BB962C8B-B14F-4D97-AF65-F5344CB8AC3E}">
        <p14:creationId xmlns:p14="http://schemas.microsoft.com/office/powerpoint/2010/main" val="4164301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7D6C0-6744-E048-7D5D-766BBD2607CB}"/>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D146BDAF-AC1A-8821-8957-E1CB40FBA4EB}"/>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6654778A-DA8A-BA25-F14A-F46F64ECE384}"/>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56C44D16-BD2B-B0DC-E520-935C737F6E3D}"/>
              </a:ext>
            </a:extLst>
          </p:cNvPr>
          <p:cNvSpPr>
            <a:spLocks noGrp="1"/>
          </p:cNvSpPr>
          <p:nvPr>
            <p:ph type="sldNum" sz="quarter" idx="5"/>
          </p:nvPr>
        </p:nvSpPr>
        <p:spPr/>
        <p:txBody>
          <a:bodyPr/>
          <a:lstStyle/>
          <a:p>
            <a:fld id="{C9D89646-4F35-49C2-BD28-89287C170EC3}" type="slidenum">
              <a:rPr lang="el-GR" smtClean="0"/>
              <a:t>5</a:t>
            </a:fld>
            <a:endParaRPr lang="el-GR"/>
          </a:p>
        </p:txBody>
      </p:sp>
    </p:spTree>
    <p:extLst>
      <p:ext uri="{BB962C8B-B14F-4D97-AF65-F5344CB8AC3E}">
        <p14:creationId xmlns:p14="http://schemas.microsoft.com/office/powerpoint/2010/main" val="6219603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C901C-8FB9-D266-510B-42ECCEEFBEFA}"/>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03A9A391-08D6-91F7-567A-714F9C3E8420}"/>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474F34D5-D057-272C-1666-8C5D9B6551A9}"/>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5D467CC2-CB42-454C-4BDE-EB9FBFAA5E2A}"/>
              </a:ext>
            </a:extLst>
          </p:cNvPr>
          <p:cNvSpPr>
            <a:spLocks noGrp="1"/>
          </p:cNvSpPr>
          <p:nvPr>
            <p:ph type="sldNum" sz="quarter" idx="5"/>
          </p:nvPr>
        </p:nvSpPr>
        <p:spPr/>
        <p:txBody>
          <a:bodyPr/>
          <a:lstStyle/>
          <a:p>
            <a:fld id="{C9D89646-4F35-49C2-BD28-89287C170EC3}" type="slidenum">
              <a:rPr lang="el-GR" smtClean="0"/>
              <a:t>6</a:t>
            </a:fld>
            <a:endParaRPr lang="el-GR"/>
          </a:p>
        </p:txBody>
      </p:sp>
    </p:spTree>
    <p:extLst>
      <p:ext uri="{BB962C8B-B14F-4D97-AF65-F5344CB8AC3E}">
        <p14:creationId xmlns:p14="http://schemas.microsoft.com/office/powerpoint/2010/main" val="5224465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43DB4-B4BA-C345-365C-644121DD1A35}"/>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C44201B2-8505-C9BF-B1E5-897816C54442}"/>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34714ACE-D894-EA01-75FD-B50F2503B2CE}"/>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BF22903F-82E5-50E5-8632-8B0E5FBB8FAD}"/>
              </a:ext>
            </a:extLst>
          </p:cNvPr>
          <p:cNvSpPr>
            <a:spLocks noGrp="1"/>
          </p:cNvSpPr>
          <p:nvPr>
            <p:ph type="sldNum" sz="quarter" idx="5"/>
          </p:nvPr>
        </p:nvSpPr>
        <p:spPr/>
        <p:txBody>
          <a:bodyPr/>
          <a:lstStyle/>
          <a:p>
            <a:fld id="{C9D89646-4F35-49C2-BD28-89287C170EC3}" type="slidenum">
              <a:rPr lang="el-GR" smtClean="0"/>
              <a:t>7</a:t>
            </a:fld>
            <a:endParaRPr lang="el-GR"/>
          </a:p>
        </p:txBody>
      </p:sp>
    </p:spTree>
    <p:extLst>
      <p:ext uri="{BB962C8B-B14F-4D97-AF65-F5344CB8AC3E}">
        <p14:creationId xmlns:p14="http://schemas.microsoft.com/office/powerpoint/2010/main" val="31370736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B2AE2-BF04-8AE2-D7E7-C045B363A230}"/>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C4FA014A-23DB-5C83-6797-50C6AA992742}"/>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E7AA5CB3-75A9-5C94-0D53-B52E3A23809F}"/>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EB16EEB1-AB47-D67A-EF1E-EA6C73068CE2}"/>
              </a:ext>
            </a:extLst>
          </p:cNvPr>
          <p:cNvSpPr>
            <a:spLocks noGrp="1"/>
          </p:cNvSpPr>
          <p:nvPr>
            <p:ph type="sldNum" sz="quarter" idx="5"/>
          </p:nvPr>
        </p:nvSpPr>
        <p:spPr/>
        <p:txBody>
          <a:bodyPr/>
          <a:lstStyle/>
          <a:p>
            <a:fld id="{C9D89646-4F35-49C2-BD28-89287C170EC3}" type="slidenum">
              <a:rPr lang="el-GR" smtClean="0"/>
              <a:t>8</a:t>
            </a:fld>
            <a:endParaRPr lang="el-GR"/>
          </a:p>
        </p:txBody>
      </p:sp>
    </p:spTree>
    <p:extLst>
      <p:ext uri="{BB962C8B-B14F-4D97-AF65-F5344CB8AC3E}">
        <p14:creationId xmlns:p14="http://schemas.microsoft.com/office/powerpoint/2010/main" val="18889995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530E3-4ED1-83AA-45DD-A00275D70A9C}"/>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7035B6E1-F784-668A-925B-14B35B321502}"/>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DB4750A7-C12D-7237-9CBD-5786574CF0CE}"/>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182456F5-27DA-58BC-D08D-158227264648}"/>
              </a:ext>
            </a:extLst>
          </p:cNvPr>
          <p:cNvSpPr>
            <a:spLocks noGrp="1"/>
          </p:cNvSpPr>
          <p:nvPr>
            <p:ph type="sldNum" sz="quarter" idx="5"/>
          </p:nvPr>
        </p:nvSpPr>
        <p:spPr/>
        <p:txBody>
          <a:bodyPr/>
          <a:lstStyle/>
          <a:p>
            <a:fld id="{C9D89646-4F35-49C2-BD28-89287C170EC3}" type="slidenum">
              <a:rPr lang="el-GR" smtClean="0"/>
              <a:t>9</a:t>
            </a:fld>
            <a:endParaRPr lang="el-GR"/>
          </a:p>
        </p:txBody>
      </p:sp>
    </p:spTree>
    <p:extLst>
      <p:ext uri="{BB962C8B-B14F-4D97-AF65-F5344CB8AC3E}">
        <p14:creationId xmlns:p14="http://schemas.microsoft.com/office/powerpoint/2010/main" val="10409020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A81FA-1FEF-399F-86DE-4397C904E0BC}"/>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67D8B404-D76D-7CCD-BA67-01FCB692A036}"/>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67F56FDA-88AC-0C8E-B9DA-D95C563CEAE5}"/>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9F98FE99-3C91-B8B3-EEF8-0552FBDB8EF0}"/>
              </a:ext>
            </a:extLst>
          </p:cNvPr>
          <p:cNvSpPr>
            <a:spLocks noGrp="1"/>
          </p:cNvSpPr>
          <p:nvPr>
            <p:ph type="sldNum" sz="quarter" idx="5"/>
          </p:nvPr>
        </p:nvSpPr>
        <p:spPr/>
        <p:txBody>
          <a:bodyPr/>
          <a:lstStyle/>
          <a:p>
            <a:fld id="{C9D89646-4F35-49C2-BD28-89287C170EC3}" type="slidenum">
              <a:rPr lang="el-GR" smtClean="0"/>
              <a:t>10</a:t>
            </a:fld>
            <a:endParaRPr lang="el-GR"/>
          </a:p>
        </p:txBody>
      </p:sp>
    </p:spTree>
    <p:extLst>
      <p:ext uri="{BB962C8B-B14F-4D97-AF65-F5344CB8AC3E}">
        <p14:creationId xmlns:p14="http://schemas.microsoft.com/office/powerpoint/2010/main" val="2247645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64B08-8AF2-4915-77DC-FF868628E282}"/>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6D8DB22A-09BD-25C9-D96C-8221D06DF730}"/>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DECFEC13-DDB7-3476-38B0-D90CE9BFCA55}"/>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C2AEEDD6-9D6D-0C25-3585-C3AC96B3AE91}"/>
              </a:ext>
            </a:extLst>
          </p:cNvPr>
          <p:cNvSpPr>
            <a:spLocks noGrp="1"/>
          </p:cNvSpPr>
          <p:nvPr>
            <p:ph type="sldNum" sz="quarter" idx="5"/>
          </p:nvPr>
        </p:nvSpPr>
        <p:spPr/>
        <p:txBody>
          <a:bodyPr/>
          <a:lstStyle/>
          <a:p>
            <a:fld id="{C9D89646-4F35-49C2-BD28-89287C170EC3}" type="slidenum">
              <a:rPr lang="el-GR" smtClean="0"/>
              <a:t>11</a:t>
            </a:fld>
            <a:endParaRPr lang="el-GR"/>
          </a:p>
        </p:txBody>
      </p:sp>
    </p:spTree>
    <p:extLst>
      <p:ext uri="{BB962C8B-B14F-4D97-AF65-F5344CB8AC3E}">
        <p14:creationId xmlns:p14="http://schemas.microsoft.com/office/powerpoint/2010/main" val="24438412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FBB26-BE76-3E94-9BA2-D99A7D4E6312}"/>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F0927F51-C69F-6B97-E144-FC8F2172FE3E}"/>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5177BB1C-40CA-DA3D-EF99-83058D6BD921}"/>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E4E72010-61EE-6516-1D4D-FF97E2A025B4}"/>
              </a:ext>
            </a:extLst>
          </p:cNvPr>
          <p:cNvSpPr>
            <a:spLocks noGrp="1"/>
          </p:cNvSpPr>
          <p:nvPr>
            <p:ph type="sldNum" sz="quarter" idx="5"/>
          </p:nvPr>
        </p:nvSpPr>
        <p:spPr/>
        <p:txBody>
          <a:bodyPr/>
          <a:lstStyle/>
          <a:p>
            <a:fld id="{C9D89646-4F35-49C2-BD28-89287C170EC3}" type="slidenum">
              <a:rPr lang="el-GR" smtClean="0"/>
              <a:t>12</a:t>
            </a:fld>
            <a:endParaRPr lang="el-GR"/>
          </a:p>
        </p:txBody>
      </p:sp>
    </p:spTree>
    <p:extLst>
      <p:ext uri="{BB962C8B-B14F-4D97-AF65-F5344CB8AC3E}">
        <p14:creationId xmlns:p14="http://schemas.microsoft.com/office/powerpoint/2010/main" val="3701319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7FB18-1EEA-6E38-CDD2-FD5E642C8AC7}"/>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46EE13EF-ED73-FB88-4012-7E9EAAF942F1}"/>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F6B43514-C1A7-1B2F-6641-9A4ABEAE1D41}"/>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C2F79286-DFB3-08B7-DDFE-B1D289F5BC39}"/>
              </a:ext>
            </a:extLst>
          </p:cNvPr>
          <p:cNvSpPr>
            <a:spLocks noGrp="1"/>
          </p:cNvSpPr>
          <p:nvPr>
            <p:ph type="sldNum" sz="quarter" idx="5"/>
          </p:nvPr>
        </p:nvSpPr>
        <p:spPr/>
        <p:txBody>
          <a:bodyPr/>
          <a:lstStyle/>
          <a:p>
            <a:fld id="{C9D89646-4F35-49C2-BD28-89287C170EC3}" type="slidenum">
              <a:rPr lang="el-GR" smtClean="0"/>
              <a:t>13</a:t>
            </a:fld>
            <a:endParaRPr lang="el-GR"/>
          </a:p>
        </p:txBody>
      </p:sp>
    </p:spTree>
    <p:extLst>
      <p:ext uri="{BB962C8B-B14F-4D97-AF65-F5344CB8AC3E}">
        <p14:creationId xmlns:p14="http://schemas.microsoft.com/office/powerpoint/2010/main" val="2922827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001E9-12C0-8207-A594-94AF0FF86F36}"/>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F16CAE12-35A8-2673-1051-6B45DDDF9039}"/>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2BBC2F12-221B-E5A1-844F-7B138AB3FB4D}"/>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418D9784-658D-4E2B-9BC4-4221C8150DB0}"/>
              </a:ext>
            </a:extLst>
          </p:cNvPr>
          <p:cNvSpPr>
            <a:spLocks noGrp="1"/>
          </p:cNvSpPr>
          <p:nvPr>
            <p:ph type="sldNum" sz="quarter" idx="5"/>
          </p:nvPr>
        </p:nvSpPr>
        <p:spPr/>
        <p:txBody>
          <a:bodyPr/>
          <a:lstStyle/>
          <a:p>
            <a:fld id="{C9D89646-4F35-49C2-BD28-89287C170EC3}" type="slidenum">
              <a:rPr lang="el-GR" smtClean="0"/>
              <a:t>14</a:t>
            </a:fld>
            <a:endParaRPr lang="el-GR"/>
          </a:p>
        </p:txBody>
      </p:sp>
    </p:spTree>
    <p:extLst>
      <p:ext uri="{BB962C8B-B14F-4D97-AF65-F5344CB8AC3E}">
        <p14:creationId xmlns:p14="http://schemas.microsoft.com/office/powerpoint/2010/main" val="24764860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C591A-AB7E-832A-FAE6-6BC9D35E2574}"/>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AC7A6C48-E181-C0D5-70E5-A70F3D0EC78A}"/>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B15869E8-C24F-B2DA-C90F-3AB39FED0225}"/>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55C5D1D1-6881-D413-33F1-7684E0AB324D}"/>
              </a:ext>
            </a:extLst>
          </p:cNvPr>
          <p:cNvSpPr>
            <a:spLocks noGrp="1"/>
          </p:cNvSpPr>
          <p:nvPr>
            <p:ph type="sldNum" sz="quarter" idx="5"/>
          </p:nvPr>
        </p:nvSpPr>
        <p:spPr/>
        <p:txBody>
          <a:bodyPr/>
          <a:lstStyle/>
          <a:p>
            <a:fld id="{C9D89646-4F35-49C2-BD28-89287C170EC3}" type="slidenum">
              <a:rPr lang="el-GR" smtClean="0"/>
              <a:t>15</a:t>
            </a:fld>
            <a:endParaRPr lang="el-GR"/>
          </a:p>
        </p:txBody>
      </p:sp>
    </p:spTree>
    <p:extLst>
      <p:ext uri="{BB962C8B-B14F-4D97-AF65-F5344CB8AC3E}">
        <p14:creationId xmlns:p14="http://schemas.microsoft.com/office/powerpoint/2010/main" val="10401341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88270-F521-32C8-DD95-9372927CF090}"/>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899DD6B3-B5AD-78A1-E496-2696CF804298}"/>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6899A75A-8E6A-4BBB-DAF9-6FB5D00BE0CF}"/>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BDA6CB19-733E-D876-C05C-858B0CE0A5A3}"/>
              </a:ext>
            </a:extLst>
          </p:cNvPr>
          <p:cNvSpPr>
            <a:spLocks noGrp="1"/>
          </p:cNvSpPr>
          <p:nvPr>
            <p:ph type="sldNum" sz="quarter" idx="5"/>
          </p:nvPr>
        </p:nvSpPr>
        <p:spPr/>
        <p:txBody>
          <a:bodyPr/>
          <a:lstStyle/>
          <a:p>
            <a:fld id="{C9D89646-4F35-49C2-BD28-89287C170EC3}" type="slidenum">
              <a:rPr lang="el-GR" smtClean="0"/>
              <a:t>16</a:t>
            </a:fld>
            <a:endParaRPr lang="el-GR"/>
          </a:p>
        </p:txBody>
      </p:sp>
    </p:spTree>
    <p:extLst>
      <p:ext uri="{BB962C8B-B14F-4D97-AF65-F5344CB8AC3E}">
        <p14:creationId xmlns:p14="http://schemas.microsoft.com/office/powerpoint/2010/main" val="11054137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F904D-20AF-B3F1-C628-F0505F83EBA3}"/>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DE4A46E9-8828-7169-884C-5B3F1ABF885F}"/>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41ACA65A-4722-D272-DA81-93856800C518}"/>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3C0CED19-3AA3-436B-D0A6-ACA649163AC0}"/>
              </a:ext>
            </a:extLst>
          </p:cNvPr>
          <p:cNvSpPr>
            <a:spLocks noGrp="1"/>
          </p:cNvSpPr>
          <p:nvPr>
            <p:ph type="sldNum" sz="quarter" idx="5"/>
          </p:nvPr>
        </p:nvSpPr>
        <p:spPr/>
        <p:txBody>
          <a:bodyPr/>
          <a:lstStyle/>
          <a:p>
            <a:fld id="{C9D89646-4F35-49C2-BD28-89287C170EC3}" type="slidenum">
              <a:rPr lang="el-GR" smtClean="0"/>
              <a:t>17</a:t>
            </a:fld>
            <a:endParaRPr lang="el-GR"/>
          </a:p>
        </p:txBody>
      </p:sp>
    </p:spTree>
    <p:extLst>
      <p:ext uri="{BB962C8B-B14F-4D97-AF65-F5344CB8AC3E}">
        <p14:creationId xmlns:p14="http://schemas.microsoft.com/office/powerpoint/2010/main" val="3446507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FE20A-EDFD-2420-C8D9-160B382F10F4}"/>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06DB0BE5-E405-D606-860A-7CE9554406A0}"/>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F2FC33B1-0FDE-1887-6C0A-6BF9B1CD8A3B}"/>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BBD14B69-202E-6ACE-17EB-CD0F75317C10}"/>
              </a:ext>
            </a:extLst>
          </p:cNvPr>
          <p:cNvSpPr>
            <a:spLocks noGrp="1"/>
          </p:cNvSpPr>
          <p:nvPr>
            <p:ph type="sldNum" sz="quarter" idx="5"/>
          </p:nvPr>
        </p:nvSpPr>
        <p:spPr/>
        <p:txBody>
          <a:bodyPr/>
          <a:lstStyle/>
          <a:p>
            <a:fld id="{C9D89646-4F35-49C2-BD28-89287C170EC3}" type="slidenum">
              <a:rPr lang="el-GR" smtClean="0"/>
              <a:t>18</a:t>
            </a:fld>
            <a:endParaRPr lang="el-GR"/>
          </a:p>
        </p:txBody>
      </p:sp>
    </p:spTree>
    <p:extLst>
      <p:ext uri="{BB962C8B-B14F-4D97-AF65-F5344CB8AC3E}">
        <p14:creationId xmlns:p14="http://schemas.microsoft.com/office/powerpoint/2010/main" val="659829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CD4E8-050B-AC36-4052-B65B5576B11A}"/>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0E543BFD-91A8-00BD-65FF-FDA41C82DCD4}"/>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CAD84F28-8622-396F-89EF-71875C47BB09}"/>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63D9E2C2-7DF7-FE96-22BC-88DEF9061D00}"/>
              </a:ext>
            </a:extLst>
          </p:cNvPr>
          <p:cNvSpPr>
            <a:spLocks noGrp="1"/>
          </p:cNvSpPr>
          <p:nvPr>
            <p:ph type="sldNum" sz="quarter" idx="5"/>
          </p:nvPr>
        </p:nvSpPr>
        <p:spPr/>
        <p:txBody>
          <a:bodyPr/>
          <a:lstStyle/>
          <a:p>
            <a:fld id="{C9D89646-4F35-49C2-BD28-89287C170EC3}" type="slidenum">
              <a:rPr lang="el-GR" smtClean="0"/>
              <a:t>19</a:t>
            </a:fld>
            <a:endParaRPr lang="el-GR"/>
          </a:p>
        </p:txBody>
      </p:sp>
    </p:spTree>
    <p:extLst>
      <p:ext uri="{BB962C8B-B14F-4D97-AF65-F5344CB8AC3E}">
        <p14:creationId xmlns:p14="http://schemas.microsoft.com/office/powerpoint/2010/main" val="19087399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BD693-ABD2-9685-B05A-60003D9B6045}"/>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8677609A-F333-5564-44BE-1627BA2CEB9C}"/>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AE7BBE7B-C023-BEC4-C9EE-F1C62BC2C52F}"/>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57BA6C80-ADF1-3214-0221-BFFA8E74485A}"/>
              </a:ext>
            </a:extLst>
          </p:cNvPr>
          <p:cNvSpPr>
            <a:spLocks noGrp="1"/>
          </p:cNvSpPr>
          <p:nvPr>
            <p:ph type="sldNum" sz="quarter" idx="5"/>
          </p:nvPr>
        </p:nvSpPr>
        <p:spPr/>
        <p:txBody>
          <a:bodyPr/>
          <a:lstStyle/>
          <a:p>
            <a:fld id="{C9D89646-4F35-49C2-BD28-89287C170EC3}" type="slidenum">
              <a:rPr lang="el-GR" smtClean="0"/>
              <a:t>20</a:t>
            </a:fld>
            <a:endParaRPr lang="el-GR"/>
          </a:p>
        </p:txBody>
      </p:sp>
    </p:spTree>
    <p:extLst>
      <p:ext uri="{BB962C8B-B14F-4D97-AF65-F5344CB8AC3E}">
        <p14:creationId xmlns:p14="http://schemas.microsoft.com/office/powerpoint/2010/main" val="17648375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FD618-8C88-0197-9332-D2709A057DFD}"/>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5ACD58E9-17B4-4343-AC46-7F125E282243}"/>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D8FD8144-8758-4ED9-A39E-7797D8F6EEC5}"/>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238AA115-E93B-5711-FEB2-50F843D41DE3}"/>
              </a:ext>
            </a:extLst>
          </p:cNvPr>
          <p:cNvSpPr>
            <a:spLocks noGrp="1"/>
          </p:cNvSpPr>
          <p:nvPr>
            <p:ph type="sldNum" sz="quarter" idx="5"/>
          </p:nvPr>
        </p:nvSpPr>
        <p:spPr/>
        <p:txBody>
          <a:bodyPr/>
          <a:lstStyle/>
          <a:p>
            <a:fld id="{C9D89646-4F35-49C2-BD28-89287C170EC3}" type="slidenum">
              <a:rPr lang="el-GR" smtClean="0"/>
              <a:t>21</a:t>
            </a:fld>
            <a:endParaRPr lang="el-GR"/>
          </a:p>
        </p:txBody>
      </p:sp>
    </p:spTree>
    <p:extLst>
      <p:ext uri="{BB962C8B-B14F-4D97-AF65-F5344CB8AC3E}">
        <p14:creationId xmlns:p14="http://schemas.microsoft.com/office/powerpoint/2010/main" val="20200841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1D9F7-552B-CC4B-D4D6-1E93E4C91FB6}"/>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78E9C238-F033-881D-EAAF-A9F68728655F}"/>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82445E06-F240-9611-2824-D3008C86AB23}"/>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9CB6479D-DB5B-F5DE-670D-6B87DB4F8130}"/>
              </a:ext>
            </a:extLst>
          </p:cNvPr>
          <p:cNvSpPr>
            <a:spLocks noGrp="1"/>
          </p:cNvSpPr>
          <p:nvPr>
            <p:ph type="sldNum" sz="quarter" idx="5"/>
          </p:nvPr>
        </p:nvSpPr>
        <p:spPr/>
        <p:txBody>
          <a:bodyPr/>
          <a:lstStyle/>
          <a:p>
            <a:fld id="{C9D89646-4F35-49C2-BD28-89287C170EC3}" type="slidenum">
              <a:rPr lang="el-GR" smtClean="0"/>
              <a:t>22</a:t>
            </a:fld>
            <a:endParaRPr lang="el-GR"/>
          </a:p>
        </p:txBody>
      </p:sp>
    </p:spTree>
    <p:extLst>
      <p:ext uri="{BB962C8B-B14F-4D97-AF65-F5344CB8AC3E}">
        <p14:creationId xmlns:p14="http://schemas.microsoft.com/office/powerpoint/2010/main" val="29845237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60FB1-9EFA-87E7-2D6B-445C138AB1F7}"/>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BFC3B82E-1232-46F1-C6DF-D6C1CEA0CBEB}"/>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B4F17A73-C6AA-1F91-C6A7-4BA6B886C6B1}"/>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1924F570-B52C-ECFE-7D8B-D41D3F6BD094}"/>
              </a:ext>
            </a:extLst>
          </p:cNvPr>
          <p:cNvSpPr>
            <a:spLocks noGrp="1"/>
          </p:cNvSpPr>
          <p:nvPr>
            <p:ph type="sldNum" sz="quarter" idx="5"/>
          </p:nvPr>
        </p:nvSpPr>
        <p:spPr/>
        <p:txBody>
          <a:bodyPr/>
          <a:lstStyle/>
          <a:p>
            <a:fld id="{C9D89646-4F35-49C2-BD28-89287C170EC3}" type="slidenum">
              <a:rPr lang="el-GR" smtClean="0"/>
              <a:t>23</a:t>
            </a:fld>
            <a:endParaRPr lang="el-GR"/>
          </a:p>
        </p:txBody>
      </p:sp>
    </p:spTree>
    <p:extLst>
      <p:ext uri="{BB962C8B-B14F-4D97-AF65-F5344CB8AC3E}">
        <p14:creationId xmlns:p14="http://schemas.microsoft.com/office/powerpoint/2010/main" val="39467708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C0DBD-552D-A71B-01F8-917EF00BC804}"/>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9F1AD681-70F6-BB2F-1AC8-654112A72445}"/>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7B042BE2-1DC8-692D-8068-98C243EAB2F4}"/>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3D5160A8-67D7-88CB-C1BC-23B0F3CDE79F}"/>
              </a:ext>
            </a:extLst>
          </p:cNvPr>
          <p:cNvSpPr>
            <a:spLocks noGrp="1"/>
          </p:cNvSpPr>
          <p:nvPr>
            <p:ph type="sldNum" sz="quarter" idx="5"/>
          </p:nvPr>
        </p:nvSpPr>
        <p:spPr/>
        <p:txBody>
          <a:bodyPr/>
          <a:lstStyle/>
          <a:p>
            <a:fld id="{C9D89646-4F35-49C2-BD28-89287C170EC3}" type="slidenum">
              <a:rPr lang="el-GR" smtClean="0"/>
              <a:t>24</a:t>
            </a:fld>
            <a:endParaRPr lang="el-GR"/>
          </a:p>
        </p:txBody>
      </p:sp>
    </p:spTree>
    <p:extLst>
      <p:ext uri="{BB962C8B-B14F-4D97-AF65-F5344CB8AC3E}">
        <p14:creationId xmlns:p14="http://schemas.microsoft.com/office/powerpoint/2010/main" val="14605720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9647C-FBDB-80FD-DA6F-AB5C2336FC55}"/>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BE1E0A04-CCCC-E740-BAEA-7C823B830B75}"/>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8E2A2068-5806-50CA-5127-60C97FC364CB}"/>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E549C69F-76C3-4A1B-9E37-ABFE61FF61A9}"/>
              </a:ext>
            </a:extLst>
          </p:cNvPr>
          <p:cNvSpPr>
            <a:spLocks noGrp="1"/>
          </p:cNvSpPr>
          <p:nvPr>
            <p:ph type="sldNum" sz="quarter" idx="5"/>
          </p:nvPr>
        </p:nvSpPr>
        <p:spPr/>
        <p:txBody>
          <a:bodyPr/>
          <a:lstStyle/>
          <a:p>
            <a:fld id="{C9D89646-4F35-49C2-BD28-89287C170EC3}" type="slidenum">
              <a:rPr lang="el-GR" smtClean="0"/>
              <a:t>25</a:t>
            </a:fld>
            <a:endParaRPr lang="el-GR"/>
          </a:p>
        </p:txBody>
      </p:sp>
    </p:spTree>
    <p:extLst>
      <p:ext uri="{BB962C8B-B14F-4D97-AF65-F5344CB8AC3E}">
        <p14:creationId xmlns:p14="http://schemas.microsoft.com/office/powerpoint/2010/main" val="12993996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6585A-039B-BB38-E593-1E4749E7B85B}"/>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945B6EE1-D01B-1EB2-FA16-14A1F6F06411}"/>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BB2ED106-838F-9C22-5E96-34AA68EB1D2A}"/>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0FA009A5-822F-C50D-97C4-FA40EE6CB0C8}"/>
              </a:ext>
            </a:extLst>
          </p:cNvPr>
          <p:cNvSpPr>
            <a:spLocks noGrp="1"/>
          </p:cNvSpPr>
          <p:nvPr>
            <p:ph type="sldNum" sz="quarter" idx="5"/>
          </p:nvPr>
        </p:nvSpPr>
        <p:spPr/>
        <p:txBody>
          <a:bodyPr/>
          <a:lstStyle/>
          <a:p>
            <a:fld id="{C9D89646-4F35-49C2-BD28-89287C170EC3}" type="slidenum">
              <a:rPr lang="el-GR" smtClean="0"/>
              <a:t>26</a:t>
            </a:fld>
            <a:endParaRPr lang="el-GR"/>
          </a:p>
        </p:txBody>
      </p:sp>
    </p:spTree>
    <p:extLst>
      <p:ext uri="{BB962C8B-B14F-4D97-AF65-F5344CB8AC3E}">
        <p14:creationId xmlns:p14="http://schemas.microsoft.com/office/powerpoint/2010/main" val="21360035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4F736-4C82-C91C-698C-DC0C1F28D999}"/>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2E34C1D6-CFD8-0784-19E7-603A9138BFE7}"/>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786FB97F-BAF2-0929-6546-CAB32C34E1F2}"/>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10F3C96A-AE4E-498E-D068-52606FDDC63D}"/>
              </a:ext>
            </a:extLst>
          </p:cNvPr>
          <p:cNvSpPr>
            <a:spLocks noGrp="1"/>
          </p:cNvSpPr>
          <p:nvPr>
            <p:ph type="sldNum" sz="quarter" idx="5"/>
          </p:nvPr>
        </p:nvSpPr>
        <p:spPr/>
        <p:txBody>
          <a:bodyPr/>
          <a:lstStyle/>
          <a:p>
            <a:fld id="{C9D89646-4F35-49C2-BD28-89287C170EC3}" type="slidenum">
              <a:rPr lang="el-GR" smtClean="0"/>
              <a:t>27</a:t>
            </a:fld>
            <a:endParaRPr lang="el-GR"/>
          </a:p>
        </p:txBody>
      </p:sp>
    </p:spTree>
    <p:extLst>
      <p:ext uri="{BB962C8B-B14F-4D97-AF65-F5344CB8AC3E}">
        <p14:creationId xmlns:p14="http://schemas.microsoft.com/office/powerpoint/2010/main" val="42707914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FA05F-4BE6-3AE0-7191-7C495A722DC5}"/>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62E1541E-D265-6DCA-7BE7-35E6199839E8}"/>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05F149B4-CD0E-C7C0-3F6E-CAA5F03F6BF1}"/>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8A188D76-1D54-D658-9B95-749652D94A58}"/>
              </a:ext>
            </a:extLst>
          </p:cNvPr>
          <p:cNvSpPr>
            <a:spLocks noGrp="1"/>
          </p:cNvSpPr>
          <p:nvPr>
            <p:ph type="sldNum" sz="quarter" idx="5"/>
          </p:nvPr>
        </p:nvSpPr>
        <p:spPr/>
        <p:txBody>
          <a:bodyPr/>
          <a:lstStyle/>
          <a:p>
            <a:fld id="{C9D89646-4F35-49C2-BD28-89287C170EC3}" type="slidenum">
              <a:rPr lang="el-GR" smtClean="0"/>
              <a:t>28</a:t>
            </a:fld>
            <a:endParaRPr lang="el-GR"/>
          </a:p>
        </p:txBody>
      </p:sp>
    </p:spTree>
    <p:extLst>
      <p:ext uri="{BB962C8B-B14F-4D97-AF65-F5344CB8AC3E}">
        <p14:creationId xmlns:p14="http://schemas.microsoft.com/office/powerpoint/2010/main" val="35039616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12F5E-813E-E7FB-E1F6-3E86A936C52F}"/>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2EAB9CFD-444E-7025-DF6D-B6FD1E328EE9}"/>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0AE084C1-EA4B-7D83-0977-5A321436A751}"/>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4B347A88-57E5-62FB-3B96-0590778A6AD8}"/>
              </a:ext>
            </a:extLst>
          </p:cNvPr>
          <p:cNvSpPr>
            <a:spLocks noGrp="1"/>
          </p:cNvSpPr>
          <p:nvPr>
            <p:ph type="sldNum" sz="quarter" idx="5"/>
          </p:nvPr>
        </p:nvSpPr>
        <p:spPr/>
        <p:txBody>
          <a:bodyPr/>
          <a:lstStyle/>
          <a:p>
            <a:fld id="{C9D89646-4F35-49C2-BD28-89287C170EC3}" type="slidenum">
              <a:rPr lang="el-GR" smtClean="0"/>
              <a:t>29</a:t>
            </a:fld>
            <a:endParaRPr lang="el-GR"/>
          </a:p>
        </p:txBody>
      </p:sp>
    </p:spTree>
    <p:extLst>
      <p:ext uri="{BB962C8B-B14F-4D97-AF65-F5344CB8AC3E}">
        <p14:creationId xmlns:p14="http://schemas.microsoft.com/office/powerpoint/2010/main" val="36890073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AAA44-DE39-3CEC-AAEA-CDC3764B09EA}"/>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EE775603-D72F-C58B-392E-060DE95283E9}"/>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89152CBD-0F90-1AD0-356A-A439E8C13461}"/>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EDE2524F-E73A-35A4-55FE-9C48AA25A251}"/>
              </a:ext>
            </a:extLst>
          </p:cNvPr>
          <p:cNvSpPr>
            <a:spLocks noGrp="1"/>
          </p:cNvSpPr>
          <p:nvPr>
            <p:ph type="sldNum" sz="quarter" idx="5"/>
          </p:nvPr>
        </p:nvSpPr>
        <p:spPr/>
        <p:txBody>
          <a:bodyPr/>
          <a:lstStyle/>
          <a:p>
            <a:fld id="{C9D89646-4F35-49C2-BD28-89287C170EC3}" type="slidenum">
              <a:rPr lang="el-GR" smtClean="0"/>
              <a:t>30</a:t>
            </a:fld>
            <a:endParaRPr lang="el-GR"/>
          </a:p>
        </p:txBody>
      </p:sp>
    </p:spTree>
    <p:extLst>
      <p:ext uri="{BB962C8B-B14F-4D97-AF65-F5344CB8AC3E}">
        <p14:creationId xmlns:p14="http://schemas.microsoft.com/office/powerpoint/2010/main" val="28965440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FB40-1741-30EA-43B6-86BDE58E4D15}"/>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8A80D860-A214-68C6-ACDD-E1F00CBCDEF9}"/>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FF996718-E432-1D89-8C9A-0EDE25757C47}"/>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5BE15C0E-4471-6362-8F6D-AF13CBB0AC51}"/>
              </a:ext>
            </a:extLst>
          </p:cNvPr>
          <p:cNvSpPr>
            <a:spLocks noGrp="1"/>
          </p:cNvSpPr>
          <p:nvPr>
            <p:ph type="sldNum" sz="quarter" idx="5"/>
          </p:nvPr>
        </p:nvSpPr>
        <p:spPr/>
        <p:txBody>
          <a:bodyPr/>
          <a:lstStyle/>
          <a:p>
            <a:fld id="{C9D89646-4F35-49C2-BD28-89287C170EC3}" type="slidenum">
              <a:rPr lang="el-GR" smtClean="0"/>
              <a:t>31</a:t>
            </a:fld>
            <a:endParaRPr lang="el-GR"/>
          </a:p>
        </p:txBody>
      </p:sp>
    </p:spTree>
    <p:extLst>
      <p:ext uri="{BB962C8B-B14F-4D97-AF65-F5344CB8AC3E}">
        <p14:creationId xmlns:p14="http://schemas.microsoft.com/office/powerpoint/2010/main" val="23147892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D930F-85FD-F11A-7C35-F2EB1EE76FA4}"/>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34C5C63F-6565-6795-9A91-C9D58968C1AC}"/>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4011F11E-70E3-3B13-EC2A-1F2D49391549}"/>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4178570E-BBF5-CEDA-DBED-63BAFBD3FCC5}"/>
              </a:ext>
            </a:extLst>
          </p:cNvPr>
          <p:cNvSpPr>
            <a:spLocks noGrp="1"/>
          </p:cNvSpPr>
          <p:nvPr>
            <p:ph type="sldNum" sz="quarter" idx="5"/>
          </p:nvPr>
        </p:nvSpPr>
        <p:spPr/>
        <p:txBody>
          <a:bodyPr/>
          <a:lstStyle/>
          <a:p>
            <a:fld id="{C9D89646-4F35-49C2-BD28-89287C170EC3}" type="slidenum">
              <a:rPr lang="el-GR" smtClean="0"/>
              <a:t>32</a:t>
            </a:fld>
            <a:endParaRPr lang="el-GR"/>
          </a:p>
        </p:txBody>
      </p:sp>
    </p:spTree>
    <p:extLst>
      <p:ext uri="{BB962C8B-B14F-4D97-AF65-F5344CB8AC3E}">
        <p14:creationId xmlns:p14="http://schemas.microsoft.com/office/powerpoint/2010/main" val="24744287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8E95B-F35B-6A63-FA96-68F8FFEADE6F}"/>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6FC8FFF8-30FE-EAEE-314F-14BF01B531B0}"/>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361DACE0-01DF-397F-00B4-F938A5BC12C7}"/>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22E0DAA3-FC0A-F349-15D2-C2E7BF3BD47C}"/>
              </a:ext>
            </a:extLst>
          </p:cNvPr>
          <p:cNvSpPr>
            <a:spLocks noGrp="1"/>
          </p:cNvSpPr>
          <p:nvPr>
            <p:ph type="sldNum" sz="quarter" idx="5"/>
          </p:nvPr>
        </p:nvSpPr>
        <p:spPr/>
        <p:txBody>
          <a:bodyPr/>
          <a:lstStyle/>
          <a:p>
            <a:fld id="{C9D89646-4F35-49C2-BD28-89287C170EC3}" type="slidenum">
              <a:rPr lang="el-GR" smtClean="0"/>
              <a:t>33</a:t>
            </a:fld>
            <a:endParaRPr lang="el-GR"/>
          </a:p>
        </p:txBody>
      </p:sp>
    </p:spTree>
    <p:extLst>
      <p:ext uri="{BB962C8B-B14F-4D97-AF65-F5344CB8AC3E}">
        <p14:creationId xmlns:p14="http://schemas.microsoft.com/office/powerpoint/2010/main" val="18117071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D5D60-AE0D-A628-230B-3F73F16CDE96}"/>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C65A22FB-A0E3-4737-AE2A-543E97EA1F40}"/>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1F0E395E-A0D5-F1E2-C010-EF03498AEDD2}"/>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C722F30A-FB18-C2A8-92D3-4193F6078F33}"/>
              </a:ext>
            </a:extLst>
          </p:cNvPr>
          <p:cNvSpPr>
            <a:spLocks noGrp="1"/>
          </p:cNvSpPr>
          <p:nvPr>
            <p:ph type="sldNum" sz="quarter" idx="5"/>
          </p:nvPr>
        </p:nvSpPr>
        <p:spPr/>
        <p:txBody>
          <a:bodyPr/>
          <a:lstStyle/>
          <a:p>
            <a:fld id="{C9D89646-4F35-49C2-BD28-89287C170EC3}" type="slidenum">
              <a:rPr lang="el-GR" smtClean="0"/>
              <a:t>34</a:t>
            </a:fld>
            <a:endParaRPr lang="el-GR"/>
          </a:p>
        </p:txBody>
      </p:sp>
    </p:spTree>
    <p:extLst>
      <p:ext uri="{BB962C8B-B14F-4D97-AF65-F5344CB8AC3E}">
        <p14:creationId xmlns:p14="http://schemas.microsoft.com/office/powerpoint/2010/main" val="396131355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10D4A-F05C-9011-1673-7893921B4E20}"/>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BAF27239-5F0C-03E6-A518-92751528005B}"/>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9430EC53-73E6-C614-8A8F-FDB550DEBECD}"/>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6B6A8712-6AD9-1C9D-7F81-31ABFC736994}"/>
              </a:ext>
            </a:extLst>
          </p:cNvPr>
          <p:cNvSpPr>
            <a:spLocks noGrp="1"/>
          </p:cNvSpPr>
          <p:nvPr>
            <p:ph type="sldNum" sz="quarter" idx="5"/>
          </p:nvPr>
        </p:nvSpPr>
        <p:spPr/>
        <p:txBody>
          <a:bodyPr/>
          <a:lstStyle/>
          <a:p>
            <a:fld id="{C9D89646-4F35-49C2-BD28-89287C170EC3}" type="slidenum">
              <a:rPr lang="el-GR" smtClean="0"/>
              <a:t>35</a:t>
            </a:fld>
            <a:endParaRPr lang="el-GR"/>
          </a:p>
        </p:txBody>
      </p:sp>
    </p:spTree>
    <p:extLst>
      <p:ext uri="{BB962C8B-B14F-4D97-AF65-F5344CB8AC3E}">
        <p14:creationId xmlns:p14="http://schemas.microsoft.com/office/powerpoint/2010/main" val="22994754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55F19-1FC7-5E81-DFA2-79E557D5F566}"/>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F9D88104-C62C-619E-BD11-DCA4512E1404}"/>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E784BFD7-1840-94C5-8D9B-86E33296E4CA}"/>
              </a:ext>
            </a:extLst>
          </p:cNvPr>
          <p:cNvSpPr>
            <a:spLocks noGrp="1"/>
          </p:cNvSpPr>
          <p:nvPr>
            <p:ph type="body" idx="1"/>
          </p:nvPr>
        </p:nvSpPr>
        <p:spPr/>
        <p:txBody>
          <a:bodyPr/>
          <a:lstStyle/>
          <a:p>
            <a:endParaRPr lang="en-US" dirty="0"/>
          </a:p>
        </p:txBody>
      </p:sp>
      <p:sp>
        <p:nvSpPr>
          <p:cNvPr id="4" name="Θέση αριθμού διαφάνειας 3">
            <a:extLst>
              <a:ext uri="{FF2B5EF4-FFF2-40B4-BE49-F238E27FC236}">
                <a16:creationId xmlns:a16="http://schemas.microsoft.com/office/drawing/2014/main" id="{7779C54C-5AB9-C76F-7B85-9F70FFB0DADF}"/>
              </a:ext>
            </a:extLst>
          </p:cNvPr>
          <p:cNvSpPr>
            <a:spLocks noGrp="1"/>
          </p:cNvSpPr>
          <p:nvPr>
            <p:ph type="sldNum" sz="quarter" idx="5"/>
          </p:nvPr>
        </p:nvSpPr>
        <p:spPr/>
        <p:txBody>
          <a:bodyPr/>
          <a:lstStyle/>
          <a:p>
            <a:fld id="{C9D89646-4F35-49C2-BD28-89287C170EC3}" type="slidenum">
              <a:rPr lang="el-GR" smtClean="0"/>
              <a:t>36</a:t>
            </a:fld>
            <a:endParaRPr lang="el-GR"/>
          </a:p>
        </p:txBody>
      </p:sp>
    </p:spTree>
    <p:extLst>
      <p:ext uri="{BB962C8B-B14F-4D97-AF65-F5344CB8AC3E}">
        <p14:creationId xmlns:p14="http://schemas.microsoft.com/office/powerpoint/2010/main" val="31767884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720F0C6-20AC-41EB-97A9-F4D49B814E72}"/>
              </a:ext>
            </a:extLst>
          </p:cNvPr>
          <p:cNvSpPr>
            <a:spLocks noGrp="1"/>
          </p:cNvSpPr>
          <p:nvPr>
            <p:ph type="ctrTitle"/>
          </p:nvPr>
        </p:nvSpPr>
        <p:spPr>
          <a:xfrm>
            <a:off x="1524000" y="1122363"/>
            <a:ext cx="9144000" cy="2387600"/>
          </a:xfrm>
        </p:spPr>
        <p:txBody>
          <a:bodyPr anchor="b"/>
          <a:lstStyle>
            <a:lvl1pPr algn="ctr">
              <a:defRPr sz="6000"/>
            </a:lvl1pPr>
          </a:lstStyle>
          <a:p>
            <a:r>
              <a:rPr lang="el-GR"/>
              <a:t>Κάντε κλικ για να επεξεργαστείτε τον τίτλο υποδείγματος</a:t>
            </a:r>
          </a:p>
        </p:txBody>
      </p:sp>
      <p:sp>
        <p:nvSpPr>
          <p:cNvPr id="3" name="Υπότιτλος 2">
            <a:extLst>
              <a:ext uri="{FF2B5EF4-FFF2-40B4-BE49-F238E27FC236}">
                <a16:creationId xmlns:a16="http://schemas.microsoft.com/office/drawing/2014/main" id="{E32E3D7A-E6B7-4F3B-A3A4-4325517390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Κάντε κλικ για να επεξεργαστείτε τον υπότιτλο του υποδείγματος</a:t>
            </a:r>
          </a:p>
        </p:txBody>
      </p:sp>
      <p:sp>
        <p:nvSpPr>
          <p:cNvPr id="4" name="Θέση ημερομηνίας 3">
            <a:extLst>
              <a:ext uri="{FF2B5EF4-FFF2-40B4-BE49-F238E27FC236}">
                <a16:creationId xmlns:a16="http://schemas.microsoft.com/office/drawing/2014/main" id="{5913F9FC-9EB9-4B41-B003-FC4C036B10AF}"/>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5" name="Θέση υποσέλιδου 4">
            <a:extLst>
              <a:ext uri="{FF2B5EF4-FFF2-40B4-BE49-F238E27FC236}">
                <a16:creationId xmlns:a16="http://schemas.microsoft.com/office/drawing/2014/main" id="{3FB8E113-6156-4872-81CC-442E8373B36D}"/>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76173B9A-A0EA-47D7-8D18-B6E2BD95D9D4}"/>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99227115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FF7B4CC-9312-4102-9C7A-DD5776C36EC4}"/>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59207E59-B014-409F-8E39-F07CF6FA4572}"/>
              </a:ext>
            </a:extLst>
          </p:cNvPr>
          <p:cNvSpPr>
            <a:spLocks noGrp="1"/>
          </p:cNvSpPr>
          <p:nvPr>
            <p:ph idx="1"/>
          </p:nvPr>
        </p:nvSpPr>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D28C698E-FDE3-406F-AEF7-58C354D6FB0E}"/>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5" name="Θέση υποσέλιδου 4">
            <a:extLst>
              <a:ext uri="{FF2B5EF4-FFF2-40B4-BE49-F238E27FC236}">
                <a16:creationId xmlns:a16="http://schemas.microsoft.com/office/drawing/2014/main" id="{1DBB6EE0-1F7E-4C3D-8524-627F4FAB7F04}"/>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115A0C17-4537-4F4D-B727-1C89BF11BF9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20215051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0FAD7298-5AF8-4835-97EB-C16ED6D23C12}"/>
              </a:ext>
            </a:extLst>
          </p:cNvPr>
          <p:cNvSpPr>
            <a:spLocks noGrp="1"/>
          </p:cNvSpPr>
          <p:nvPr>
            <p:ph type="title"/>
          </p:nvPr>
        </p:nvSpPr>
        <p:spPr>
          <a:xfrm>
            <a:off x="831850" y="1709738"/>
            <a:ext cx="10515600" cy="2852737"/>
          </a:xfrm>
        </p:spPr>
        <p:txBody>
          <a:bodyPr anchor="b"/>
          <a:lstStyle>
            <a:lvl1pPr>
              <a:defRPr sz="6000"/>
            </a:lvl1p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3D2EC4FE-ACD0-4F71-A34B-36ED905061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Επεξεργασία στυλ υποδείγματος κειμένου</a:t>
            </a:r>
          </a:p>
        </p:txBody>
      </p:sp>
      <p:sp>
        <p:nvSpPr>
          <p:cNvPr id="4" name="Θέση ημερομηνίας 3">
            <a:extLst>
              <a:ext uri="{FF2B5EF4-FFF2-40B4-BE49-F238E27FC236}">
                <a16:creationId xmlns:a16="http://schemas.microsoft.com/office/drawing/2014/main" id="{0525369C-E8DA-4A41-A021-C2AFFA6BA4A0}"/>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5" name="Θέση υποσέλιδου 4">
            <a:extLst>
              <a:ext uri="{FF2B5EF4-FFF2-40B4-BE49-F238E27FC236}">
                <a16:creationId xmlns:a16="http://schemas.microsoft.com/office/drawing/2014/main" id="{09E6631D-4B2B-42B6-B88C-990FA7605C60}"/>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54B4A319-5C9B-46DF-96B8-F30BC39F7913}"/>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94177447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8DD86A31-D5EC-46FA-A235-F151422FA948}"/>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052F68FD-8072-4020-B6C4-C8DEF5ACC9D2}"/>
              </a:ext>
            </a:extLst>
          </p:cNvPr>
          <p:cNvSpPr>
            <a:spLocks noGrp="1"/>
          </p:cNvSpPr>
          <p:nvPr>
            <p:ph sz="half" idx="1"/>
          </p:nvPr>
        </p:nvSpPr>
        <p:spPr>
          <a:xfrm>
            <a:off x="838200" y="1825625"/>
            <a:ext cx="5181600" cy="435133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περιεχομένου 3">
            <a:extLst>
              <a:ext uri="{FF2B5EF4-FFF2-40B4-BE49-F238E27FC236}">
                <a16:creationId xmlns:a16="http://schemas.microsoft.com/office/drawing/2014/main" id="{CB43AF00-F0E0-4F57-8814-5AB4B0C031DB}"/>
              </a:ext>
            </a:extLst>
          </p:cNvPr>
          <p:cNvSpPr>
            <a:spLocks noGrp="1"/>
          </p:cNvSpPr>
          <p:nvPr>
            <p:ph sz="half" idx="2"/>
          </p:nvPr>
        </p:nvSpPr>
        <p:spPr>
          <a:xfrm>
            <a:off x="6172200" y="1825625"/>
            <a:ext cx="5181600" cy="435133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ημερομηνίας 4">
            <a:extLst>
              <a:ext uri="{FF2B5EF4-FFF2-40B4-BE49-F238E27FC236}">
                <a16:creationId xmlns:a16="http://schemas.microsoft.com/office/drawing/2014/main" id="{89D9695B-1677-4255-A36B-ADA53963E256}"/>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6" name="Θέση υποσέλιδου 5">
            <a:extLst>
              <a:ext uri="{FF2B5EF4-FFF2-40B4-BE49-F238E27FC236}">
                <a16:creationId xmlns:a16="http://schemas.microsoft.com/office/drawing/2014/main" id="{32F05351-67C2-46C6-A91C-414650F2CC4A}"/>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7D2959A3-E6A4-4BB0-BE95-F23CF5F5668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29874069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41550276-9848-4578-8364-691220AD21E6}"/>
              </a:ext>
            </a:extLst>
          </p:cNvPr>
          <p:cNvSpPr>
            <a:spLocks noGrp="1"/>
          </p:cNvSpPr>
          <p:nvPr>
            <p:ph type="title"/>
          </p:nvPr>
        </p:nvSpPr>
        <p:spPr>
          <a:xfrm>
            <a:off x="839788" y="365125"/>
            <a:ext cx="10515600" cy="1325563"/>
          </a:xfrm>
        </p:spPr>
        <p:txBody>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11C9CFA5-81EF-4418-9CE2-C9EB8CE5F8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Επεξεργασία στυλ υποδείγματος κειμένου</a:t>
            </a:r>
          </a:p>
        </p:txBody>
      </p:sp>
      <p:sp>
        <p:nvSpPr>
          <p:cNvPr id="4" name="Θέση περιεχομένου 3">
            <a:extLst>
              <a:ext uri="{FF2B5EF4-FFF2-40B4-BE49-F238E27FC236}">
                <a16:creationId xmlns:a16="http://schemas.microsoft.com/office/drawing/2014/main" id="{8144BA92-B3F1-426D-9721-D505666C5228}"/>
              </a:ext>
            </a:extLst>
          </p:cNvPr>
          <p:cNvSpPr>
            <a:spLocks noGrp="1"/>
          </p:cNvSpPr>
          <p:nvPr>
            <p:ph sz="half" idx="2"/>
          </p:nvPr>
        </p:nvSpPr>
        <p:spPr>
          <a:xfrm>
            <a:off x="839788" y="2505075"/>
            <a:ext cx="5157787" cy="368458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κειμένου 4">
            <a:extLst>
              <a:ext uri="{FF2B5EF4-FFF2-40B4-BE49-F238E27FC236}">
                <a16:creationId xmlns:a16="http://schemas.microsoft.com/office/drawing/2014/main" id="{34964523-2FE6-420B-BF7F-3ED5906588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Επεξεργασία στυλ υποδείγματος κειμένου</a:t>
            </a:r>
          </a:p>
        </p:txBody>
      </p:sp>
      <p:sp>
        <p:nvSpPr>
          <p:cNvPr id="6" name="Θέση περιεχομένου 5">
            <a:extLst>
              <a:ext uri="{FF2B5EF4-FFF2-40B4-BE49-F238E27FC236}">
                <a16:creationId xmlns:a16="http://schemas.microsoft.com/office/drawing/2014/main" id="{4EE8D821-AC0B-4F1C-AC1B-68CAEA6E8CA5}"/>
              </a:ext>
            </a:extLst>
          </p:cNvPr>
          <p:cNvSpPr>
            <a:spLocks noGrp="1"/>
          </p:cNvSpPr>
          <p:nvPr>
            <p:ph sz="quarter" idx="4"/>
          </p:nvPr>
        </p:nvSpPr>
        <p:spPr>
          <a:xfrm>
            <a:off x="6172200" y="2505075"/>
            <a:ext cx="5183188" cy="368458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7" name="Θέση ημερομηνίας 6">
            <a:extLst>
              <a:ext uri="{FF2B5EF4-FFF2-40B4-BE49-F238E27FC236}">
                <a16:creationId xmlns:a16="http://schemas.microsoft.com/office/drawing/2014/main" id="{0836FDB2-AE28-437A-B450-FC5FA0970633}"/>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8" name="Θέση υποσέλιδου 7">
            <a:extLst>
              <a:ext uri="{FF2B5EF4-FFF2-40B4-BE49-F238E27FC236}">
                <a16:creationId xmlns:a16="http://schemas.microsoft.com/office/drawing/2014/main" id="{3CC56F37-5360-4ED6-9EFB-B4959D6A052A}"/>
              </a:ext>
            </a:extLst>
          </p:cNvPr>
          <p:cNvSpPr>
            <a:spLocks noGrp="1"/>
          </p:cNvSpPr>
          <p:nvPr>
            <p:ph type="ftr" sz="quarter" idx="11"/>
          </p:nvPr>
        </p:nvSpPr>
        <p:spPr/>
        <p:txBody>
          <a:bodyPr/>
          <a:lstStyle/>
          <a:p>
            <a:endParaRPr lang="el-GR"/>
          </a:p>
        </p:txBody>
      </p:sp>
      <p:sp>
        <p:nvSpPr>
          <p:cNvPr id="9" name="Θέση αριθμού διαφάνειας 8">
            <a:extLst>
              <a:ext uri="{FF2B5EF4-FFF2-40B4-BE49-F238E27FC236}">
                <a16:creationId xmlns:a16="http://schemas.microsoft.com/office/drawing/2014/main" id="{8423FDBB-6E0A-4AD0-AD73-FB22040EE5F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188523971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2BE337C-659B-44A0-815E-1CE7F2FDBE91}"/>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ημερομηνίας 2">
            <a:extLst>
              <a:ext uri="{FF2B5EF4-FFF2-40B4-BE49-F238E27FC236}">
                <a16:creationId xmlns:a16="http://schemas.microsoft.com/office/drawing/2014/main" id="{59D7B6A3-3626-4AD7-97D4-F6210A23721E}"/>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4" name="Θέση υποσέλιδου 3">
            <a:extLst>
              <a:ext uri="{FF2B5EF4-FFF2-40B4-BE49-F238E27FC236}">
                <a16:creationId xmlns:a16="http://schemas.microsoft.com/office/drawing/2014/main" id="{D50B290B-CDC6-4F07-927A-EB7F796E2DA3}"/>
              </a:ext>
            </a:extLst>
          </p:cNvPr>
          <p:cNvSpPr>
            <a:spLocks noGrp="1"/>
          </p:cNvSpPr>
          <p:nvPr>
            <p:ph type="ftr" sz="quarter" idx="11"/>
          </p:nvPr>
        </p:nvSpPr>
        <p:spPr/>
        <p:txBody>
          <a:bodyPr/>
          <a:lstStyle/>
          <a:p>
            <a:endParaRPr lang="el-GR"/>
          </a:p>
        </p:txBody>
      </p:sp>
      <p:sp>
        <p:nvSpPr>
          <p:cNvPr id="5" name="Θέση αριθμού διαφάνειας 4">
            <a:extLst>
              <a:ext uri="{FF2B5EF4-FFF2-40B4-BE49-F238E27FC236}">
                <a16:creationId xmlns:a16="http://schemas.microsoft.com/office/drawing/2014/main" id="{5AD0E512-8E7A-4A77-8496-D36864CFC6EE}"/>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22446073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Θέση ημερομηνίας 1">
            <a:extLst>
              <a:ext uri="{FF2B5EF4-FFF2-40B4-BE49-F238E27FC236}">
                <a16:creationId xmlns:a16="http://schemas.microsoft.com/office/drawing/2014/main" id="{05F803E6-97F1-4D9B-A18A-566A4A16D1A4}"/>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3" name="Θέση υποσέλιδου 2">
            <a:extLst>
              <a:ext uri="{FF2B5EF4-FFF2-40B4-BE49-F238E27FC236}">
                <a16:creationId xmlns:a16="http://schemas.microsoft.com/office/drawing/2014/main" id="{D16003C0-6EB6-4C9B-A531-7B4E3CE4C6EF}"/>
              </a:ext>
            </a:extLst>
          </p:cNvPr>
          <p:cNvSpPr>
            <a:spLocks noGrp="1"/>
          </p:cNvSpPr>
          <p:nvPr>
            <p:ph type="ftr" sz="quarter" idx="11"/>
          </p:nvPr>
        </p:nvSpPr>
        <p:spPr/>
        <p:txBody>
          <a:bodyPr/>
          <a:lstStyle/>
          <a:p>
            <a:endParaRPr lang="el-GR"/>
          </a:p>
        </p:txBody>
      </p:sp>
      <p:sp>
        <p:nvSpPr>
          <p:cNvPr id="4" name="Θέση αριθμού διαφάνειας 3">
            <a:extLst>
              <a:ext uri="{FF2B5EF4-FFF2-40B4-BE49-F238E27FC236}">
                <a16:creationId xmlns:a16="http://schemas.microsoft.com/office/drawing/2014/main" id="{2EA301AA-05AA-466A-BB11-E4CEB6F9F9F8}"/>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70658160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EAAEFBB-DCF4-46CF-9FC6-8D65BCEB99F2}"/>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DFACB05B-E524-44F7-BF66-694B0E3338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κειμένου 3">
            <a:extLst>
              <a:ext uri="{FF2B5EF4-FFF2-40B4-BE49-F238E27FC236}">
                <a16:creationId xmlns:a16="http://schemas.microsoft.com/office/drawing/2014/main" id="{5473C60C-80C9-4542-852E-B22F6BA607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Επεξεργασία στυλ υποδείγματος κειμένου</a:t>
            </a:r>
          </a:p>
        </p:txBody>
      </p:sp>
      <p:sp>
        <p:nvSpPr>
          <p:cNvPr id="5" name="Θέση ημερομηνίας 4">
            <a:extLst>
              <a:ext uri="{FF2B5EF4-FFF2-40B4-BE49-F238E27FC236}">
                <a16:creationId xmlns:a16="http://schemas.microsoft.com/office/drawing/2014/main" id="{5209058B-2FCA-4D37-A928-B77A09F78313}"/>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6" name="Θέση υποσέλιδου 5">
            <a:extLst>
              <a:ext uri="{FF2B5EF4-FFF2-40B4-BE49-F238E27FC236}">
                <a16:creationId xmlns:a16="http://schemas.microsoft.com/office/drawing/2014/main" id="{2F8D9052-7B1B-4DEA-BE59-76E1CA206034}"/>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7F7BFCBB-BB2D-41CB-8EF4-1D6154D0585F}"/>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54644047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AA72A12-B4CE-41C0-824E-4DB22C0C50F5}"/>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εικόνας 2">
            <a:extLst>
              <a:ext uri="{FF2B5EF4-FFF2-40B4-BE49-F238E27FC236}">
                <a16:creationId xmlns:a16="http://schemas.microsoft.com/office/drawing/2014/main" id="{4331ABF6-AF41-4DA6-82BC-340BA63822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a:extLst>
              <a:ext uri="{FF2B5EF4-FFF2-40B4-BE49-F238E27FC236}">
                <a16:creationId xmlns:a16="http://schemas.microsoft.com/office/drawing/2014/main" id="{D4AD854A-F202-4241-AFA5-8F8D5175F3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Επεξεργασία στυλ υποδείγματος κειμένου</a:t>
            </a:r>
          </a:p>
        </p:txBody>
      </p:sp>
      <p:sp>
        <p:nvSpPr>
          <p:cNvPr id="5" name="Θέση ημερομηνίας 4">
            <a:extLst>
              <a:ext uri="{FF2B5EF4-FFF2-40B4-BE49-F238E27FC236}">
                <a16:creationId xmlns:a16="http://schemas.microsoft.com/office/drawing/2014/main" id="{D2D25601-E5C6-4DAA-A438-750D7B0C4393}"/>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6" name="Θέση υποσέλιδου 5">
            <a:extLst>
              <a:ext uri="{FF2B5EF4-FFF2-40B4-BE49-F238E27FC236}">
                <a16:creationId xmlns:a16="http://schemas.microsoft.com/office/drawing/2014/main" id="{C1A411BF-7CE1-4136-85D0-CEA759EB38CE}"/>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EBD64BFB-00A3-49A7-B9AF-C93C938A5D40}"/>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0686341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CBF383B-9D9C-4567-A73F-3964FF66D08D}"/>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42568873-5978-4A13-BA12-F77F173EB2AE}"/>
              </a:ext>
            </a:extLst>
          </p:cNvPr>
          <p:cNvSpPr>
            <a:spLocks noGrp="1"/>
          </p:cNvSpPr>
          <p:nvPr>
            <p:ph type="body" orient="vert" idx="1"/>
          </p:nvPr>
        </p:nvSpPr>
        <p:spPr/>
        <p:txBody>
          <a:bodyPr vert="eaVert"/>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788EFFCE-A34B-4F95-B3D5-603927E16998}"/>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5" name="Θέση υποσέλιδου 4">
            <a:extLst>
              <a:ext uri="{FF2B5EF4-FFF2-40B4-BE49-F238E27FC236}">
                <a16:creationId xmlns:a16="http://schemas.microsoft.com/office/drawing/2014/main" id="{1BE576DF-BE6C-4DE7-BDD8-60E8F026DE82}"/>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74B323CB-AAB1-4C9E-AE28-C6179CB9C31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9965647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a:extLst>
              <a:ext uri="{FF2B5EF4-FFF2-40B4-BE49-F238E27FC236}">
                <a16:creationId xmlns:a16="http://schemas.microsoft.com/office/drawing/2014/main" id="{E176F3CB-2A60-46CD-8CF9-DD053E08C844}"/>
              </a:ext>
            </a:extLst>
          </p:cNvPr>
          <p:cNvSpPr>
            <a:spLocks noGrp="1"/>
          </p:cNvSpPr>
          <p:nvPr>
            <p:ph type="title" orient="vert"/>
          </p:nvPr>
        </p:nvSpPr>
        <p:spPr>
          <a:xfrm>
            <a:off x="8724900" y="365125"/>
            <a:ext cx="2628900" cy="5811838"/>
          </a:xfrm>
        </p:spPr>
        <p:txBody>
          <a:bodyPr vert="eaVert"/>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62F4BEC8-6DEB-41E5-B12D-18B14C6B0A04}"/>
              </a:ext>
            </a:extLst>
          </p:cNvPr>
          <p:cNvSpPr>
            <a:spLocks noGrp="1"/>
          </p:cNvSpPr>
          <p:nvPr>
            <p:ph type="body" orient="vert" idx="1"/>
          </p:nvPr>
        </p:nvSpPr>
        <p:spPr>
          <a:xfrm>
            <a:off x="838200" y="365125"/>
            <a:ext cx="7734300" cy="5811838"/>
          </a:xfrm>
        </p:spPr>
        <p:txBody>
          <a:bodyPr vert="eaVert"/>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CC7DD041-7F64-4984-A13C-EE7907028650}"/>
              </a:ext>
            </a:extLst>
          </p:cNvPr>
          <p:cNvSpPr>
            <a:spLocks noGrp="1"/>
          </p:cNvSpPr>
          <p:nvPr>
            <p:ph type="dt" sz="half" idx="10"/>
          </p:nvPr>
        </p:nvSpPr>
        <p:spPr/>
        <p:txBody>
          <a:bodyPr/>
          <a:lstStyle/>
          <a:p>
            <a:fld id="{77C47DEE-5753-44EA-A073-053903F4D65C}" type="datetimeFigureOut">
              <a:rPr lang="el-GR" smtClean="0"/>
              <a:t>14/10/2025</a:t>
            </a:fld>
            <a:endParaRPr lang="el-GR"/>
          </a:p>
        </p:txBody>
      </p:sp>
      <p:sp>
        <p:nvSpPr>
          <p:cNvPr id="5" name="Θέση υποσέλιδου 4">
            <a:extLst>
              <a:ext uri="{FF2B5EF4-FFF2-40B4-BE49-F238E27FC236}">
                <a16:creationId xmlns:a16="http://schemas.microsoft.com/office/drawing/2014/main" id="{6502BD5F-24B7-4FDD-BD59-39295F5737B5}"/>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4E0B5687-7B67-47CF-995B-36EF0D417F48}"/>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99713989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p:cNvSpPr>
            <a:spLocks noGrp="1"/>
          </p:cNvSpPr>
          <p:nvPr>
            <p:ph type="ctrTitle"/>
          </p:nvPr>
        </p:nvSpPr>
        <p:spPr>
          <a:xfrm>
            <a:off x="1524000" y="1122363"/>
            <a:ext cx="9144000" cy="2387600"/>
          </a:xfrm>
        </p:spPr>
        <p:txBody>
          <a:bodyPr anchor="b"/>
          <a:lstStyle>
            <a:lvl1pPr algn="ctr">
              <a:defRPr sz="6000"/>
            </a:lvl1pPr>
          </a:lstStyle>
          <a:p>
            <a:r>
              <a:rPr lang="el-GR"/>
              <a:t>Στυλ κύριου τίτλου</a:t>
            </a:r>
          </a:p>
        </p:txBody>
      </p:sp>
      <p:sp>
        <p:nvSpPr>
          <p:cNvPr id="3" name="Υπότιτλος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Στυλ κύριου υπότιτλου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14/10/2025</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42421661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περιεχομένου 2"/>
          <p:cNvSpPr>
            <a:spLocks noGrp="1"/>
          </p:cNvSpPr>
          <p:nvPr>
            <p:ph idx="1"/>
          </p:nvPr>
        </p:nvSpPr>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14/10/2025</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41009571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p:cNvSpPr>
            <a:spLocks noGrp="1"/>
          </p:cNvSpPr>
          <p:nvPr>
            <p:ph type="title"/>
          </p:nvPr>
        </p:nvSpPr>
        <p:spPr>
          <a:xfrm>
            <a:off x="831850" y="1709738"/>
            <a:ext cx="10515600" cy="2852737"/>
          </a:xfrm>
        </p:spPr>
        <p:txBody>
          <a:bodyPr anchor="b"/>
          <a:lstStyle>
            <a:lvl1pPr>
              <a:defRPr sz="6000"/>
            </a:lvl1pPr>
          </a:lstStyle>
          <a:p>
            <a:r>
              <a:rPr lang="el-GR"/>
              <a:t>Στυλ κύριου τίτλου</a:t>
            </a:r>
          </a:p>
        </p:txBody>
      </p:sp>
      <p:sp>
        <p:nvSpPr>
          <p:cNvPr id="3" name="Θέση κειμένου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Στυλ υποδείγματος κειμένου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14/10/2025</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5258685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περιεχομένου 2"/>
          <p:cNvSpPr>
            <a:spLocks noGrp="1"/>
          </p:cNvSpPr>
          <p:nvPr>
            <p:ph sz="half" idx="1"/>
          </p:nvPr>
        </p:nvSpPr>
        <p:spPr>
          <a:xfrm>
            <a:off x="838200" y="1825625"/>
            <a:ext cx="5181600" cy="435133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περιεχομένου 3"/>
          <p:cNvSpPr>
            <a:spLocks noGrp="1"/>
          </p:cNvSpPr>
          <p:nvPr>
            <p:ph sz="half" idx="2"/>
          </p:nvPr>
        </p:nvSpPr>
        <p:spPr>
          <a:xfrm>
            <a:off x="6172200" y="1825625"/>
            <a:ext cx="5181600" cy="435133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ημερομηνίας 4"/>
          <p:cNvSpPr>
            <a:spLocks noGrp="1"/>
          </p:cNvSpPr>
          <p:nvPr>
            <p:ph type="dt" sz="half" idx="10"/>
          </p:nvPr>
        </p:nvSpPr>
        <p:spPr/>
        <p:txBody>
          <a:bodyPr/>
          <a:lstStyle/>
          <a:p>
            <a:fld id="{C858F2E9-5724-40D7-A084-8A9A9CED4F62}" type="datetimeFigureOut">
              <a:rPr lang="el-GR" smtClean="0"/>
              <a:t>14/10/2025</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2414378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365125"/>
            <a:ext cx="10515600" cy="1325563"/>
          </a:xfrm>
        </p:spPr>
        <p:txBody>
          <a:bodyPr/>
          <a:lstStyle/>
          <a:p>
            <a:r>
              <a:rPr lang="el-GR"/>
              <a:t>Στυλ κύριου τίτλου</a:t>
            </a:r>
          </a:p>
        </p:txBody>
      </p:sp>
      <p:sp>
        <p:nvSpPr>
          <p:cNvPr id="3" name="Θέση κειμένου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υποδείγματος κειμένου</a:t>
            </a:r>
          </a:p>
        </p:txBody>
      </p:sp>
      <p:sp>
        <p:nvSpPr>
          <p:cNvPr id="4" name="Θέση περιεχομένου 3"/>
          <p:cNvSpPr>
            <a:spLocks noGrp="1"/>
          </p:cNvSpPr>
          <p:nvPr>
            <p:ph sz="half" idx="2"/>
          </p:nvPr>
        </p:nvSpPr>
        <p:spPr>
          <a:xfrm>
            <a:off x="839788" y="2505075"/>
            <a:ext cx="5157787" cy="368458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κειμένου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υποδείγματος κειμένου</a:t>
            </a:r>
          </a:p>
        </p:txBody>
      </p:sp>
      <p:sp>
        <p:nvSpPr>
          <p:cNvPr id="6" name="Θέση περιεχομένου 5"/>
          <p:cNvSpPr>
            <a:spLocks noGrp="1"/>
          </p:cNvSpPr>
          <p:nvPr>
            <p:ph sz="quarter" idx="4"/>
          </p:nvPr>
        </p:nvSpPr>
        <p:spPr>
          <a:xfrm>
            <a:off x="6172200" y="2505075"/>
            <a:ext cx="5183188" cy="368458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7" name="Θέση ημερομηνίας 6"/>
          <p:cNvSpPr>
            <a:spLocks noGrp="1"/>
          </p:cNvSpPr>
          <p:nvPr>
            <p:ph type="dt" sz="half" idx="10"/>
          </p:nvPr>
        </p:nvSpPr>
        <p:spPr/>
        <p:txBody>
          <a:bodyPr/>
          <a:lstStyle/>
          <a:p>
            <a:fld id="{C858F2E9-5724-40D7-A084-8A9A9CED4F62}" type="datetimeFigureOut">
              <a:rPr lang="el-GR" smtClean="0"/>
              <a:t>14/10/2025</a:t>
            </a:fld>
            <a:endParaRPr lang="el-GR"/>
          </a:p>
        </p:txBody>
      </p:sp>
      <p:sp>
        <p:nvSpPr>
          <p:cNvPr id="8" name="Θέση υποσέλιδου 7"/>
          <p:cNvSpPr>
            <a:spLocks noGrp="1"/>
          </p:cNvSpPr>
          <p:nvPr>
            <p:ph type="ftr" sz="quarter" idx="11"/>
          </p:nvPr>
        </p:nvSpPr>
        <p:spPr/>
        <p:txBody>
          <a:bodyPr/>
          <a:lstStyle/>
          <a:p>
            <a:endParaRPr lang="el-GR"/>
          </a:p>
        </p:txBody>
      </p:sp>
      <p:sp>
        <p:nvSpPr>
          <p:cNvPr id="9" name="Θέση αριθμού διαφάνειας 8"/>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32613590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ημερομηνίας 2"/>
          <p:cNvSpPr>
            <a:spLocks noGrp="1"/>
          </p:cNvSpPr>
          <p:nvPr>
            <p:ph type="dt" sz="half" idx="10"/>
          </p:nvPr>
        </p:nvSpPr>
        <p:spPr/>
        <p:txBody>
          <a:bodyPr/>
          <a:lstStyle/>
          <a:p>
            <a:fld id="{C858F2E9-5724-40D7-A084-8A9A9CED4F62}" type="datetimeFigureOut">
              <a:rPr lang="el-GR" smtClean="0"/>
              <a:t>14/10/2025</a:t>
            </a:fld>
            <a:endParaRPr lang="el-GR"/>
          </a:p>
        </p:txBody>
      </p:sp>
      <p:sp>
        <p:nvSpPr>
          <p:cNvPr id="4" name="Θέση υποσέλιδου 3"/>
          <p:cNvSpPr>
            <a:spLocks noGrp="1"/>
          </p:cNvSpPr>
          <p:nvPr>
            <p:ph type="ftr" sz="quarter" idx="11"/>
          </p:nvPr>
        </p:nvSpPr>
        <p:spPr/>
        <p:txBody>
          <a:bodyPr/>
          <a:lstStyle/>
          <a:p>
            <a:endParaRPr lang="el-GR"/>
          </a:p>
        </p:txBody>
      </p:sp>
      <p:sp>
        <p:nvSpPr>
          <p:cNvPr id="5" name="Θέση αριθμού διαφάνειας 4"/>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312742299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Κενή">
    <p:spTree>
      <p:nvGrpSpPr>
        <p:cNvPr id="1" name=""/>
        <p:cNvGrpSpPr/>
        <p:nvPr/>
      </p:nvGrpSpPr>
      <p:grpSpPr>
        <a:xfrm>
          <a:off x="0" y="0"/>
          <a:ext cx="0" cy="0"/>
          <a:chOff x="0" y="0"/>
          <a:chExt cx="0" cy="0"/>
        </a:xfrm>
      </p:grpSpPr>
      <p:sp>
        <p:nvSpPr>
          <p:cNvPr id="2" name="Θέση ημερομηνίας 1"/>
          <p:cNvSpPr>
            <a:spLocks noGrp="1"/>
          </p:cNvSpPr>
          <p:nvPr>
            <p:ph type="dt" sz="half" idx="10"/>
          </p:nvPr>
        </p:nvSpPr>
        <p:spPr/>
        <p:txBody>
          <a:bodyPr/>
          <a:lstStyle/>
          <a:p>
            <a:fld id="{77C47DEE-5753-44EA-A073-053903F4D65C}" type="datetimeFigureOut">
              <a:rPr lang="el-GR" smtClean="0"/>
              <a:t>14/10/2025</a:t>
            </a:fld>
            <a:endParaRPr lang="el-GR"/>
          </a:p>
        </p:txBody>
      </p:sp>
      <p:sp>
        <p:nvSpPr>
          <p:cNvPr id="3" name="Θέση υποσέλιδου 2"/>
          <p:cNvSpPr>
            <a:spLocks noGrp="1"/>
          </p:cNvSpPr>
          <p:nvPr>
            <p:ph type="ftr" sz="quarter" idx="11"/>
          </p:nvPr>
        </p:nvSpPr>
        <p:spPr/>
        <p:txBody>
          <a:bodyPr/>
          <a:lstStyle/>
          <a:p>
            <a:endParaRPr lang="el-GR"/>
          </a:p>
        </p:txBody>
      </p:sp>
      <p:sp>
        <p:nvSpPr>
          <p:cNvPr id="4" name="Θέση αριθμού διαφάνειας 3"/>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5529390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457200"/>
            <a:ext cx="3932237" cy="1600200"/>
          </a:xfrm>
        </p:spPr>
        <p:txBody>
          <a:bodyPr anchor="b"/>
          <a:lstStyle>
            <a:lvl1pPr>
              <a:defRPr sz="3200"/>
            </a:lvl1pPr>
          </a:lstStyle>
          <a:p>
            <a:r>
              <a:rPr lang="el-GR"/>
              <a:t>Στυλ κύριου τίτλου</a:t>
            </a:r>
          </a:p>
        </p:txBody>
      </p:sp>
      <p:sp>
        <p:nvSpPr>
          <p:cNvPr id="3" name="Θέση περιεχομένου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κειμένου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υποδείγματος κειμένου</a:t>
            </a:r>
          </a:p>
        </p:txBody>
      </p:sp>
      <p:sp>
        <p:nvSpPr>
          <p:cNvPr id="5" name="Θέση ημερομηνίας 4"/>
          <p:cNvSpPr>
            <a:spLocks noGrp="1"/>
          </p:cNvSpPr>
          <p:nvPr>
            <p:ph type="dt" sz="half" idx="10"/>
          </p:nvPr>
        </p:nvSpPr>
        <p:spPr/>
        <p:txBody>
          <a:bodyPr/>
          <a:lstStyle/>
          <a:p>
            <a:fld id="{C858F2E9-5724-40D7-A084-8A9A9CED4F62}" type="datetimeFigureOut">
              <a:rPr lang="el-GR" smtClean="0"/>
              <a:t>14/10/2025</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407656930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457200"/>
            <a:ext cx="3932237" cy="1600200"/>
          </a:xfrm>
        </p:spPr>
        <p:txBody>
          <a:bodyPr anchor="b"/>
          <a:lstStyle>
            <a:lvl1pPr>
              <a:defRPr sz="3200"/>
            </a:lvl1pPr>
          </a:lstStyle>
          <a:p>
            <a:r>
              <a:rPr lang="el-GR"/>
              <a:t>Στυλ κύριου τίτλου</a:t>
            </a:r>
          </a:p>
        </p:txBody>
      </p:sp>
      <p:sp>
        <p:nvSpPr>
          <p:cNvPr id="3" name="Θέση εικόνας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υποδείγματος κειμένου</a:t>
            </a:r>
          </a:p>
        </p:txBody>
      </p:sp>
      <p:sp>
        <p:nvSpPr>
          <p:cNvPr id="5" name="Θέση ημερομηνίας 4"/>
          <p:cNvSpPr>
            <a:spLocks noGrp="1"/>
          </p:cNvSpPr>
          <p:nvPr>
            <p:ph type="dt" sz="half" idx="10"/>
          </p:nvPr>
        </p:nvSpPr>
        <p:spPr/>
        <p:txBody>
          <a:bodyPr/>
          <a:lstStyle/>
          <a:p>
            <a:fld id="{C858F2E9-5724-40D7-A084-8A9A9CED4F62}" type="datetimeFigureOut">
              <a:rPr lang="el-GR" smtClean="0"/>
              <a:t>14/10/2025</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45792381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κατακόρυφου κειμένου 2"/>
          <p:cNvSpPr>
            <a:spLocks noGrp="1"/>
          </p:cNvSpPr>
          <p:nvPr>
            <p:ph type="body" orient="vert" idx="1"/>
          </p:nvPr>
        </p:nvSpPr>
        <p:spPr/>
        <p:txBody>
          <a:bodyPr vert="eaVert"/>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14/10/2025</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72890431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p:cNvSpPr>
            <a:spLocks noGrp="1"/>
          </p:cNvSpPr>
          <p:nvPr>
            <p:ph type="title" orient="vert"/>
          </p:nvPr>
        </p:nvSpPr>
        <p:spPr>
          <a:xfrm>
            <a:off x="8724900" y="365125"/>
            <a:ext cx="2628900" cy="5811838"/>
          </a:xfrm>
        </p:spPr>
        <p:txBody>
          <a:bodyPr vert="eaVert"/>
          <a:lstStyle/>
          <a:p>
            <a:r>
              <a:rPr lang="el-GR"/>
              <a:t>Στυλ κύριου τίτλου</a:t>
            </a:r>
          </a:p>
        </p:txBody>
      </p:sp>
      <p:sp>
        <p:nvSpPr>
          <p:cNvPr id="3" name="Θέση κατακόρυφου κειμένου 2"/>
          <p:cNvSpPr>
            <a:spLocks noGrp="1"/>
          </p:cNvSpPr>
          <p:nvPr>
            <p:ph type="body" orient="vert" idx="1"/>
          </p:nvPr>
        </p:nvSpPr>
        <p:spPr>
          <a:xfrm>
            <a:off x="838200" y="365125"/>
            <a:ext cx="7734300" cy="5811838"/>
          </a:xfrm>
        </p:spPr>
        <p:txBody>
          <a:bodyPr vert="eaVert"/>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14/10/2025</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232701990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Θέση τίτλου 1">
            <a:extLst>
              <a:ext uri="{FF2B5EF4-FFF2-40B4-BE49-F238E27FC236}">
                <a16:creationId xmlns:a16="http://schemas.microsoft.com/office/drawing/2014/main" id="{992F1800-E376-4EAC-8DCE-EF767BC9FA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93EDA18A-E08C-433A-8864-CE510E638F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F5AF37D2-402E-4529-9EEC-414BB35C59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47DEE-5753-44EA-A073-053903F4D65C}" type="datetimeFigureOut">
              <a:rPr lang="el-GR" smtClean="0"/>
              <a:t>14/10/2025</a:t>
            </a:fld>
            <a:endParaRPr lang="el-GR"/>
          </a:p>
        </p:txBody>
      </p:sp>
      <p:sp>
        <p:nvSpPr>
          <p:cNvPr id="5" name="Θέση υποσέλιδου 4">
            <a:extLst>
              <a:ext uri="{FF2B5EF4-FFF2-40B4-BE49-F238E27FC236}">
                <a16:creationId xmlns:a16="http://schemas.microsoft.com/office/drawing/2014/main" id="{3CF16FB6-3B9A-47F7-BC11-0CD0D44781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l-GR"/>
          </a:p>
        </p:txBody>
      </p:sp>
      <p:sp>
        <p:nvSpPr>
          <p:cNvPr id="6" name="Θέση αριθμού διαφάνειας 5">
            <a:extLst>
              <a:ext uri="{FF2B5EF4-FFF2-40B4-BE49-F238E27FC236}">
                <a16:creationId xmlns:a16="http://schemas.microsoft.com/office/drawing/2014/main" id="{1A057F2B-A2D8-4FC1-B53F-4487A38756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C6C20E-1D6A-4E7C-944C-DE305A6F1CA5}" type="slidenum">
              <a:rPr lang="el-GR" smtClean="0"/>
              <a:t>‹#›</a:t>
            </a:fld>
            <a:endParaRPr lang="el-GR"/>
          </a:p>
        </p:txBody>
      </p:sp>
    </p:spTree>
    <p:extLst>
      <p:ext uri="{BB962C8B-B14F-4D97-AF65-F5344CB8AC3E}">
        <p14:creationId xmlns:p14="http://schemas.microsoft.com/office/powerpoint/2010/main" val="17776414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τίτλου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Στυλ κύριου τίτλου</a:t>
            </a:r>
          </a:p>
        </p:txBody>
      </p:sp>
      <p:sp>
        <p:nvSpPr>
          <p:cNvPr id="3" name="Θέση κειμένου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47DEE-5753-44EA-A073-053903F4D65C}" type="datetimeFigureOut">
              <a:rPr lang="el-GR" smtClean="0"/>
              <a:t>14/10/2025</a:t>
            </a:fld>
            <a:endParaRPr lang="el-GR"/>
          </a:p>
        </p:txBody>
      </p:sp>
      <p:sp>
        <p:nvSpPr>
          <p:cNvPr id="5" name="Θέση υποσέλιδου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l-GR"/>
          </a:p>
        </p:txBody>
      </p:sp>
      <p:sp>
        <p:nvSpPr>
          <p:cNvPr id="6" name="Θέση αριθμού διαφάνειας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C6C20E-1D6A-4E7C-944C-DE305A6F1CA5}" type="slidenum">
              <a:rPr lang="el-GR" smtClean="0"/>
              <a:t>‹#›</a:t>
            </a:fld>
            <a:endParaRPr lang="el-GR"/>
          </a:p>
        </p:txBody>
      </p:sp>
    </p:spTree>
    <p:extLst>
      <p:ext uri="{BB962C8B-B14F-4D97-AF65-F5344CB8AC3E}">
        <p14:creationId xmlns:p14="http://schemas.microsoft.com/office/powerpoint/2010/main" val="2543682789"/>
      </p:ext>
    </p:extLst>
  </p:cSld>
  <p:clrMap bg1="lt1" tx1="dk1" bg2="lt2" tx2="dk2" accent1="accent1" accent2="accent2" accent3="accent3" accent4="accent4" accent5="accent5" accent6="accent6" hlink="hlink" folHlink="folHlink"/>
  <p:sldLayoutIdLst>
    <p:sldLayoutId id="2147483893" r:id="rId1"/>
    <p:sldLayoutId id="2147483894" r:id="rId2"/>
    <p:sldLayoutId id="2147483895" r:id="rId3"/>
    <p:sldLayoutId id="2147483896" r:id="rId4"/>
    <p:sldLayoutId id="2147483897" r:id="rId5"/>
    <p:sldLayoutId id="2147483898" r:id="rId6"/>
    <p:sldLayoutId id="2147483899" r:id="rId7"/>
    <p:sldLayoutId id="2147483900" r:id="rId8"/>
    <p:sldLayoutId id="2147483901" r:id="rId9"/>
    <p:sldLayoutId id="2147483902" r:id="rId10"/>
    <p:sldLayoutId id="2147483903" r:id="rId11"/>
  </p:sldLayoutIdLst>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hyperlink" Target="https://sites.google.com/view/i2art-of-programming/home"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hyperlink" Target="https://eclass.upatras.gr/modules/document/file.php/CEID1456/Resources/LanguageOverview/I2P_Variables%26DataTypes.pdf"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76E192A2-3ED3-4081-8A86-A22B51141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152902" y="-1181101"/>
            <a:ext cx="3886200" cy="121920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Υπότιτλος 2">
            <a:extLst>
              <a:ext uri="{FF2B5EF4-FFF2-40B4-BE49-F238E27FC236}">
                <a16:creationId xmlns:a16="http://schemas.microsoft.com/office/drawing/2014/main" id="{1FEF44B4-5484-7F60-BA37-96313DC3B896}"/>
              </a:ext>
            </a:extLst>
          </p:cNvPr>
          <p:cNvSpPr txBox="1">
            <a:spLocks/>
          </p:cNvSpPr>
          <p:nvPr/>
        </p:nvSpPr>
        <p:spPr>
          <a:xfrm>
            <a:off x="16237" y="1648086"/>
            <a:ext cx="8865031" cy="720408"/>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spcBef>
                <a:spcPct val="0"/>
              </a:spcBef>
              <a:spcAft>
                <a:spcPts val="600"/>
              </a:spcAft>
            </a:pPr>
            <a:r>
              <a:rPr lang="el-GR" sz="4000" b="1" dirty="0">
                <a:solidFill>
                  <a:srgbClr val="60D69E"/>
                </a:solidFill>
                <a:latin typeface="Bahnschrift" panose="020B0502040204020203" pitchFamily="34" charset="0"/>
              </a:rPr>
              <a:t>Πηγαίος Κώδικας – Βασικές Έννοιες</a:t>
            </a:r>
            <a:endParaRPr lang="en-US" sz="4000" b="1" dirty="0">
              <a:solidFill>
                <a:srgbClr val="60D69E"/>
              </a:solidFill>
              <a:latin typeface="Bahnschrift" panose="020B0502040204020203" pitchFamily="34" charset="0"/>
            </a:endParaRPr>
          </a:p>
        </p:txBody>
      </p:sp>
      <p:sp>
        <p:nvSpPr>
          <p:cNvPr id="18" name="Υπότιτλος 2">
            <a:extLst>
              <a:ext uri="{FF2B5EF4-FFF2-40B4-BE49-F238E27FC236}">
                <a16:creationId xmlns:a16="http://schemas.microsoft.com/office/drawing/2014/main" id="{1CC770C9-EFCA-6DAF-8AF4-65DBC6C0060B}"/>
              </a:ext>
            </a:extLst>
          </p:cNvPr>
          <p:cNvSpPr txBox="1">
            <a:spLocks/>
          </p:cNvSpPr>
          <p:nvPr/>
        </p:nvSpPr>
        <p:spPr>
          <a:xfrm>
            <a:off x="7420598" y="2904201"/>
            <a:ext cx="3861807" cy="3644015"/>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ct val="0"/>
              </a:spcBef>
              <a:spcAft>
                <a:spcPts val="600"/>
              </a:spcAft>
            </a:pPr>
            <a:r>
              <a:rPr lang="en-US" sz="4000" b="1" dirty="0">
                <a:solidFill>
                  <a:srgbClr val="C00000"/>
                </a:solidFill>
                <a:latin typeface="Bahnschrift" panose="020B0502040204020203" pitchFamily="34" charset="0"/>
              </a:rPr>
              <a:t>Source Code </a:t>
            </a:r>
            <a:br>
              <a:rPr lang="en-US" sz="4000" b="1" dirty="0">
                <a:solidFill>
                  <a:srgbClr val="C00000"/>
                </a:solidFill>
                <a:latin typeface="Bahnschrift" panose="020B0502040204020203" pitchFamily="34" charset="0"/>
              </a:rPr>
            </a:br>
            <a:r>
              <a:rPr lang="en-US" sz="4000" b="1" dirty="0">
                <a:solidFill>
                  <a:srgbClr val="C00000"/>
                </a:solidFill>
                <a:latin typeface="Bahnschrift" panose="020B0502040204020203" pitchFamily="34" charset="0"/>
              </a:rPr>
              <a:t>Basic Concepts</a:t>
            </a:r>
          </a:p>
        </p:txBody>
      </p:sp>
      <p:pic>
        <p:nvPicPr>
          <p:cNvPr id="20" name="Picture 19">
            <a:extLst>
              <a:ext uri="{FF2B5EF4-FFF2-40B4-BE49-F238E27FC236}">
                <a16:creationId xmlns:a16="http://schemas.microsoft.com/office/drawing/2014/main" id="{F8104CF0-71DB-277D-FF43-3A47565FC2FF}"/>
              </a:ext>
            </a:extLst>
          </p:cNvPr>
          <p:cNvPicPr>
            <a:picLocks noChangeAspect="1"/>
          </p:cNvPicPr>
          <p:nvPr/>
        </p:nvPicPr>
        <p:blipFill>
          <a:blip r:embed="rId3"/>
          <a:stretch>
            <a:fillRect/>
          </a:stretch>
        </p:blipFill>
        <p:spPr>
          <a:xfrm>
            <a:off x="9565650" y="27543"/>
            <a:ext cx="2610113" cy="3728733"/>
          </a:xfrm>
          <a:prstGeom prst="rect">
            <a:avLst/>
          </a:prstGeom>
        </p:spPr>
      </p:pic>
      <p:pic>
        <p:nvPicPr>
          <p:cNvPr id="3" name="Picture 2">
            <a:extLst>
              <a:ext uri="{FF2B5EF4-FFF2-40B4-BE49-F238E27FC236}">
                <a16:creationId xmlns:a16="http://schemas.microsoft.com/office/drawing/2014/main" id="{A6EDBDBC-ED89-8949-ADFF-FC8722A0A654}"/>
              </a:ext>
            </a:extLst>
          </p:cNvPr>
          <p:cNvPicPr>
            <a:picLocks noChangeAspect="1"/>
          </p:cNvPicPr>
          <p:nvPr/>
        </p:nvPicPr>
        <p:blipFill>
          <a:blip r:embed="rId4"/>
          <a:stretch>
            <a:fillRect/>
          </a:stretch>
        </p:blipFill>
        <p:spPr>
          <a:xfrm>
            <a:off x="16237" y="2920905"/>
            <a:ext cx="7404361" cy="3987987"/>
          </a:xfrm>
          <a:prstGeom prst="rect">
            <a:avLst/>
          </a:prstGeom>
        </p:spPr>
      </p:pic>
      <p:sp>
        <p:nvSpPr>
          <p:cNvPr id="2" name="TextBox 1">
            <a:extLst>
              <a:ext uri="{FF2B5EF4-FFF2-40B4-BE49-F238E27FC236}">
                <a16:creationId xmlns:a16="http://schemas.microsoft.com/office/drawing/2014/main" id="{9BB838D7-CE47-03FC-37D7-C173C4E2FAEA}"/>
              </a:ext>
            </a:extLst>
          </p:cNvPr>
          <p:cNvSpPr txBox="1"/>
          <p:nvPr/>
        </p:nvSpPr>
        <p:spPr>
          <a:xfrm flipH="1">
            <a:off x="4448752" y="2418951"/>
            <a:ext cx="5370738" cy="369332"/>
          </a:xfrm>
          <a:prstGeom prst="rect">
            <a:avLst/>
          </a:prstGeom>
          <a:noFill/>
        </p:spPr>
        <p:txBody>
          <a:bodyPr wrap="square" rtlCol="0">
            <a:spAutoFit/>
          </a:bodyPr>
          <a:lstStyle/>
          <a:p>
            <a:r>
              <a:rPr lang="en-GB" dirty="0"/>
              <a:t>https://sites.google.com/view/i2art-of-programming</a:t>
            </a:r>
          </a:p>
        </p:txBody>
      </p:sp>
      <p:sp>
        <p:nvSpPr>
          <p:cNvPr id="5" name="TextBox 4">
            <a:extLst>
              <a:ext uri="{FF2B5EF4-FFF2-40B4-BE49-F238E27FC236}">
                <a16:creationId xmlns:a16="http://schemas.microsoft.com/office/drawing/2014/main" id="{81B90C6B-53DF-FE22-29F6-92E6684E0015}"/>
              </a:ext>
            </a:extLst>
          </p:cNvPr>
          <p:cNvSpPr txBox="1"/>
          <p:nvPr/>
        </p:nvSpPr>
        <p:spPr>
          <a:xfrm>
            <a:off x="9565650" y="3746541"/>
            <a:ext cx="2610113" cy="923330"/>
          </a:xfrm>
          <a:prstGeom prst="rect">
            <a:avLst/>
          </a:prstGeom>
          <a:noFill/>
        </p:spPr>
        <p:txBody>
          <a:bodyPr wrap="square" rtlCol="0">
            <a:spAutoFit/>
          </a:bodyPr>
          <a:lstStyle/>
          <a:p>
            <a:r>
              <a:rPr lang="el-GR" dirty="0"/>
              <a:t>Πηγή: </a:t>
            </a:r>
            <a:r>
              <a:rPr lang="el-GR" dirty="0">
                <a:hlinkClick r:id="rId5"/>
              </a:rPr>
              <a:t>Μια Εισαγωγή στην Τέχνη του Προγραμματισμού</a:t>
            </a:r>
            <a:endParaRPr lang="en-GB" dirty="0"/>
          </a:p>
        </p:txBody>
      </p:sp>
      <p:sp>
        <p:nvSpPr>
          <p:cNvPr id="6" name="Υπότιτλος 2">
            <a:extLst>
              <a:ext uri="{FF2B5EF4-FFF2-40B4-BE49-F238E27FC236}">
                <a16:creationId xmlns:a16="http://schemas.microsoft.com/office/drawing/2014/main" id="{5FBAD1F1-DFE0-0EB6-62AC-77228542DF83}"/>
              </a:ext>
            </a:extLst>
          </p:cNvPr>
          <p:cNvSpPr txBox="1">
            <a:spLocks/>
          </p:cNvSpPr>
          <p:nvPr/>
        </p:nvSpPr>
        <p:spPr>
          <a:xfrm>
            <a:off x="-16239" y="-1461"/>
            <a:ext cx="12192002" cy="1639614"/>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ct val="0"/>
              </a:spcBef>
            </a:pPr>
            <a:r>
              <a:rPr lang="el-GR" sz="4800" b="1" dirty="0">
                <a:latin typeface="Bahnschrift" panose="020B0502040204020203" pitchFamily="34" charset="0"/>
              </a:rPr>
              <a:t>Εισαγωγή στην Τέχνη του</a:t>
            </a:r>
          </a:p>
          <a:p>
            <a:pPr algn="l">
              <a:lnSpc>
                <a:spcPct val="100000"/>
              </a:lnSpc>
              <a:spcBef>
                <a:spcPct val="0"/>
              </a:spcBef>
            </a:pPr>
            <a:r>
              <a:rPr lang="el-GR" sz="4800" b="1" dirty="0">
                <a:latin typeface="Bahnschrift" panose="020B0502040204020203" pitchFamily="34" charset="0"/>
              </a:rPr>
              <a:t>Προγραμματισμού (με τη </a:t>
            </a:r>
            <a:r>
              <a:rPr lang="en-US" sz="4800" b="1" dirty="0">
                <a:latin typeface="Bahnschrift" panose="020B0502040204020203" pitchFamily="34" charset="0"/>
              </a:rPr>
              <a:t>C</a:t>
            </a:r>
            <a:r>
              <a:rPr lang="el-GR" sz="4800" b="1" dirty="0">
                <a:latin typeface="Bahnschrift" panose="020B0502040204020203" pitchFamily="34" charset="0"/>
              </a:rPr>
              <a:t>)</a:t>
            </a:r>
            <a:endParaRPr lang="en-US" sz="3200" b="1" dirty="0">
              <a:latin typeface="Bahnschrift" panose="020B0502040204020203" pitchFamily="34" charset="0"/>
            </a:endParaRPr>
          </a:p>
        </p:txBody>
      </p:sp>
    </p:spTree>
    <p:extLst>
      <p:ext uri="{BB962C8B-B14F-4D97-AF65-F5344CB8AC3E}">
        <p14:creationId xmlns:p14="http://schemas.microsoft.com/office/powerpoint/2010/main" val="307325276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E635E-13B9-9C1B-C13D-3FFB3D544CDA}"/>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C28A9634-4676-80EF-67E2-A6D4D1470B18}"/>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CB1C13C6-17D1-7C66-983F-D7B6E57CB931}"/>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Στόχος Ενότητας </a:t>
            </a:r>
          </a:p>
        </p:txBody>
      </p:sp>
      <p:sp>
        <p:nvSpPr>
          <p:cNvPr id="8" name="Θέση υποσέλιδου 4">
            <a:extLst>
              <a:ext uri="{FF2B5EF4-FFF2-40B4-BE49-F238E27FC236}">
                <a16:creationId xmlns:a16="http://schemas.microsoft.com/office/drawing/2014/main" id="{1F0DD3F0-F993-07FA-CF3E-EC2B3B0D151F}"/>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1EE05CF8-C118-C650-A095-0EE349F5B946}"/>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a:t>
            </a:fld>
            <a:endParaRPr lang="en-US" sz="1200" dirty="0">
              <a:latin typeface="Bahnschrift Light" panose="020B0502040204020203" pitchFamily="34" charset="0"/>
              <a:cs typeface="Arial" pitchFamily="34" charset="0"/>
            </a:endParaRPr>
          </a:p>
        </p:txBody>
      </p:sp>
      <p:sp>
        <p:nvSpPr>
          <p:cNvPr id="5" name="Θέση υποσέλιδου 4">
            <a:extLst>
              <a:ext uri="{FF2B5EF4-FFF2-40B4-BE49-F238E27FC236}">
                <a16:creationId xmlns:a16="http://schemas.microsoft.com/office/drawing/2014/main" id="{022D7C49-9DEB-8E6A-F5E3-97DFE5BE0160}"/>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sp>
        <p:nvSpPr>
          <p:cNvPr id="3" name="Rectangle 2">
            <a:extLst>
              <a:ext uri="{FF2B5EF4-FFF2-40B4-BE49-F238E27FC236}">
                <a16:creationId xmlns:a16="http://schemas.microsoft.com/office/drawing/2014/main" id="{6E116A2B-F56B-26DB-A6D1-1ECEEB4E2B4C}"/>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2" name="Content Placeholder 2">
            <a:extLst>
              <a:ext uri="{FF2B5EF4-FFF2-40B4-BE49-F238E27FC236}">
                <a16:creationId xmlns:a16="http://schemas.microsoft.com/office/drawing/2014/main" id="{CA111B06-1E70-E8F2-34FB-B4873DAA7401}"/>
              </a:ext>
            </a:extLst>
          </p:cNvPr>
          <p:cNvSpPr txBox="1">
            <a:spLocks/>
          </p:cNvSpPr>
          <p:nvPr/>
        </p:nvSpPr>
        <p:spPr bwMode="auto">
          <a:xfrm>
            <a:off x="-1" y="861413"/>
            <a:ext cx="12191999" cy="5509776"/>
          </a:xfrm>
          <a:prstGeom prst="rect">
            <a:avLst/>
          </a:prstGeom>
          <a:solidFill>
            <a:srgbClr val="92D050"/>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a:buClr>
                <a:srgbClr val="3333CC"/>
              </a:buClr>
              <a:defRPr/>
            </a:pPr>
            <a:r>
              <a:rPr lang="el-GR" sz="2400" b="1" kern="0" dirty="0">
                <a:solidFill>
                  <a:srgbClr val="000000"/>
                </a:solidFill>
                <a:latin typeface="Tahoma"/>
              </a:rPr>
              <a:t>εισάγει</a:t>
            </a:r>
            <a:r>
              <a:rPr lang="el-GR" sz="2400" kern="0" dirty="0">
                <a:solidFill>
                  <a:srgbClr val="000000"/>
                </a:solidFill>
                <a:latin typeface="Tahoma"/>
              </a:rPr>
              <a:t> βασικές έννοιες πηγαίου κώδικα και το πως η </a:t>
            </a:r>
            <a:r>
              <a:rPr lang="en-US" sz="2400" kern="0" dirty="0">
                <a:solidFill>
                  <a:srgbClr val="000000"/>
                </a:solidFill>
                <a:latin typeface="Tahoma"/>
              </a:rPr>
              <a:t>C </a:t>
            </a:r>
            <a:r>
              <a:rPr lang="el-GR" sz="2400" kern="0" dirty="0">
                <a:solidFill>
                  <a:srgbClr val="000000"/>
                </a:solidFill>
                <a:latin typeface="Tahoma"/>
              </a:rPr>
              <a:t>τις υποστηρίζει</a:t>
            </a:r>
          </a:p>
          <a:p>
            <a:pPr lvl="1">
              <a:buClr>
                <a:srgbClr val="3333CC"/>
              </a:buClr>
              <a:defRPr/>
            </a:pPr>
            <a:r>
              <a:rPr lang="el-GR" sz="2000" b="1" kern="0" dirty="0">
                <a:solidFill>
                  <a:srgbClr val="C00000"/>
                </a:solidFill>
                <a:latin typeface="Tahoma"/>
              </a:rPr>
              <a:t>συναρτήσεις, μεταβλητές, τύποι δεδομένων, τελεστές και εκφράσεις</a:t>
            </a:r>
            <a:r>
              <a:rPr lang="el-GR" sz="2000" kern="0" dirty="0">
                <a:solidFill>
                  <a:srgbClr val="000000"/>
                </a:solidFill>
                <a:latin typeface="Tahoma"/>
              </a:rPr>
              <a:t>. </a:t>
            </a:r>
          </a:p>
          <a:p>
            <a:pPr>
              <a:buClr>
                <a:srgbClr val="3333CC"/>
              </a:buClr>
              <a:defRPr/>
            </a:pPr>
            <a:r>
              <a:rPr lang="el-GR" sz="2400" kern="0" dirty="0">
                <a:solidFill>
                  <a:srgbClr val="000000"/>
                </a:solidFill>
                <a:latin typeface="Tahoma"/>
              </a:rPr>
              <a:t>Εισάγει την έννοια της βιβλιοθήκης στον προγραμματισμό </a:t>
            </a:r>
          </a:p>
          <a:p>
            <a:pPr lvl="1">
              <a:buClr>
                <a:srgbClr val="3333CC"/>
              </a:buClr>
              <a:defRPr/>
            </a:pPr>
            <a:r>
              <a:rPr lang="el-GR" sz="2000" kern="0" dirty="0">
                <a:solidFill>
                  <a:srgbClr val="000000"/>
                </a:solidFill>
                <a:latin typeface="Tahoma"/>
              </a:rPr>
              <a:t>παρουσιάζει τον τρόπο αξιοποίησης βιβλιοθηκών (τυπικής βιβλιοθήκης και βιβλιοθήκης τρίτου κατασκευαστή) στην διαδικασία ανάπτυξης προγράμματος.</a:t>
            </a:r>
          </a:p>
          <a:p>
            <a:pPr>
              <a:buClr>
                <a:srgbClr val="3333CC"/>
              </a:buClr>
              <a:defRPr/>
            </a:pPr>
            <a:r>
              <a:rPr lang="el-GR" sz="2400" b="1" kern="0" dirty="0">
                <a:solidFill>
                  <a:srgbClr val="000000"/>
                </a:solidFill>
                <a:latin typeface="Tahoma"/>
              </a:rPr>
              <a:t>προτείνει</a:t>
            </a:r>
            <a:r>
              <a:rPr lang="el-GR" sz="2400" kern="0" dirty="0">
                <a:solidFill>
                  <a:srgbClr val="000000"/>
                </a:solidFill>
                <a:latin typeface="Tahoma"/>
              </a:rPr>
              <a:t> την αξιοποίηση της τεχνικής της αυξητικής ανάπτυξης (</a:t>
            </a:r>
            <a:r>
              <a:rPr lang="en-US" sz="2400" kern="0" dirty="0">
                <a:solidFill>
                  <a:srgbClr val="000000"/>
                </a:solidFill>
                <a:latin typeface="Tahoma"/>
              </a:rPr>
              <a:t>incremental development</a:t>
            </a:r>
            <a:r>
              <a:rPr lang="el-GR" sz="2400" kern="0" dirty="0">
                <a:solidFill>
                  <a:srgbClr val="000000"/>
                </a:solidFill>
                <a:latin typeface="Tahoma"/>
              </a:rPr>
              <a:t>)</a:t>
            </a:r>
            <a:endParaRPr lang="en-US" sz="2400" kern="0" dirty="0">
              <a:solidFill>
                <a:srgbClr val="000000"/>
              </a:solidFill>
              <a:latin typeface="Tahoma"/>
            </a:endParaRPr>
          </a:p>
          <a:p>
            <a:pPr lvl="1">
              <a:buClr>
                <a:srgbClr val="3333CC"/>
              </a:buClr>
              <a:defRPr/>
            </a:pPr>
            <a:r>
              <a:rPr lang="el-GR" sz="2000" kern="0" dirty="0">
                <a:solidFill>
                  <a:srgbClr val="000000"/>
                </a:solidFill>
                <a:latin typeface="Tahoma"/>
              </a:rPr>
              <a:t>Αναπτύσσουμε ένα απλό πρόγραμμα, το Add2Numbers, δημιουργώντας τέσσερις διαφορετικές εκδόσεις του,  για να κατανοήσουμε πώς μπορούμε να οργανώνουμε και να εξελίσσουμε τον κώδικά μας σταδιακά.</a:t>
            </a:r>
          </a:p>
          <a:p>
            <a:pPr lvl="1">
              <a:buClr>
                <a:srgbClr val="3333CC"/>
              </a:buClr>
              <a:defRPr/>
            </a:pPr>
            <a:endParaRPr lang="el-GR" sz="2000" kern="0" dirty="0">
              <a:solidFill>
                <a:srgbClr val="000000"/>
              </a:solidFill>
              <a:latin typeface="Tahoma"/>
            </a:endParaRPr>
          </a:p>
          <a:p>
            <a:pPr>
              <a:buClr>
                <a:srgbClr val="3333CC"/>
              </a:buClr>
              <a:defRPr/>
            </a:pPr>
            <a:r>
              <a:rPr lang="el-GR" sz="2400" b="1" kern="0" dirty="0">
                <a:solidFill>
                  <a:srgbClr val="000000"/>
                </a:solidFill>
                <a:latin typeface="Tahoma"/>
              </a:rPr>
              <a:t>Εισάγει </a:t>
            </a:r>
            <a:r>
              <a:rPr lang="el-GR" sz="2400" kern="0" dirty="0">
                <a:solidFill>
                  <a:srgbClr val="000000"/>
                </a:solidFill>
                <a:latin typeface="Tahoma"/>
              </a:rPr>
              <a:t>την δημιουργία συναρτήσεων ως μηχανισμό επαναχρησιμοποίησης κώδικα </a:t>
            </a:r>
          </a:p>
          <a:p>
            <a:pPr>
              <a:buClr>
                <a:srgbClr val="3333CC"/>
              </a:buClr>
              <a:defRPr/>
            </a:pPr>
            <a:r>
              <a:rPr lang="el-GR" sz="2400" kern="0" dirty="0">
                <a:solidFill>
                  <a:srgbClr val="000000"/>
                </a:solidFill>
                <a:latin typeface="Tahoma"/>
              </a:rPr>
              <a:t>Εισαγωγή στη χρήση της </a:t>
            </a:r>
            <a:r>
              <a:rPr lang="el-GR" sz="2400" b="1" kern="0" dirty="0">
                <a:solidFill>
                  <a:srgbClr val="000000"/>
                </a:solidFill>
                <a:latin typeface="Tahoma"/>
              </a:rPr>
              <a:t>τεχνητής νοημοσύνης ως συνεργάτη</a:t>
            </a:r>
            <a:r>
              <a:rPr lang="el-GR" sz="2400" kern="0" dirty="0">
                <a:solidFill>
                  <a:srgbClr val="000000"/>
                </a:solidFill>
                <a:latin typeface="Tahoma"/>
              </a:rPr>
              <a:t> στη διαδικασία ανάπτυξης προγράμματος</a:t>
            </a:r>
          </a:p>
        </p:txBody>
      </p:sp>
    </p:spTree>
    <p:extLst>
      <p:ext uri="{BB962C8B-B14F-4D97-AF65-F5344CB8AC3E}">
        <p14:creationId xmlns:p14="http://schemas.microsoft.com/office/powerpoint/2010/main" val="327100388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bg/>
                                          </p:spTgt>
                                        </p:tgtEl>
                                        <p:attrNameLst>
                                          <p:attrName>style.visibility</p:attrName>
                                        </p:attrNameLst>
                                      </p:cBhvr>
                                      <p:to>
                                        <p:strVal val="visible"/>
                                      </p:to>
                                    </p:set>
                                    <p:animEffect transition="in" filter="fade">
                                      <p:cBhvr>
                                        <p:cTn id="7" dur="500"/>
                                        <p:tgtEl>
                                          <p:spTgt spid="12">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xEl>
                                              <p:pRg st="0" end="0"/>
                                            </p:txEl>
                                          </p:spTgt>
                                        </p:tgtEl>
                                        <p:attrNameLst>
                                          <p:attrName>style.visibility</p:attrName>
                                        </p:attrNameLst>
                                      </p:cBhvr>
                                      <p:to>
                                        <p:strVal val="visible"/>
                                      </p:to>
                                    </p:set>
                                    <p:animEffect transition="in" filter="fade">
                                      <p:cBhvr>
                                        <p:cTn id="10" dur="500"/>
                                        <p:tgtEl>
                                          <p:spTgt spid="12">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xEl>
                                              <p:pRg st="1" end="1"/>
                                            </p:txEl>
                                          </p:spTgt>
                                        </p:tgtEl>
                                        <p:attrNameLst>
                                          <p:attrName>style.visibility</p:attrName>
                                        </p:attrNameLst>
                                      </p:cBhvr>
                                      <p:to>
                                        <p:strVal val="visible"/>
                                      </p:to>
                                    </p:set>
                                    <p:animEffect transition="in" filter="fade">
                                      <p:cBhvr>
                                        <p:cTn id="13" dur="500"/>
                                        <p:tgtEl>
                                          <p:spTgt spid="12">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xEl>
                                              <p:pRg st="2" end="2"/>
                                            </p:txEl>
                                          </p:spTgt>
                                        </p:tgtEl>
                                        <p:attrNameLst>
                                          <p:attrName>style.visibility</p:attrName>
                                        </p:attrNameLst>
                                      </p:cBhvr>
                                      <p:to>
                                        <p:strVal val="visible"/>
                                      </p:to>
                                    </p:set>
                                    <p:animEffect transition="in" filter="fade">
                                      <p:cBhvr>
                                        <p:cTn id="16" dur="500"/>
                                        <p:tgtEl>
                                          <p:spTgt spid="12">
                                            <p:txEl>
                                              <p:pRg st="2" end="2"/>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animEffect transition="in" filter="fade">
                                      <p:cBhvr>
                                        <p:cTn id="19" dur="500"/>
                                        <p:tgtEl>
                                          <p:spTgt spid="12">
                                            <p:txEl>
                                              <p:pRg st="3" end="3"/>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xEl>
                                              <p:pRg st="4" end="4"/>
                                            </p:txEl>
                                          </p:spTgt>
                                        </p:tgtEl>
                                        <p:attrNameLst>
                                          <p:attrName>style.visibility</p:attrName>
                                        </p:attrNameLst>
                                      </p:cBhvr>
                                      <p:to>
                                        <p:strVal val="visible"/>
                                      </p:to>
                                    </p:set>
                                    <p:animEffect transition="in" filter="fade">
                                      <p:cBhvr>
                                        <p:cTn id="22" dur="500"/>
                                        <p:tgtEl>
                                          <p:spTgt spid="12">
                                            <p:txEl>
                                              <p:pRg st="4" end="4"/>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xEl>
                                              <p:pRg st="5" end="5"/>
                                            </p:txEl>
                                          </p:spTgt>
                                        </p:tgtEl>
                                        <p:attrNameLst>
                                          <p:attrName>style.visibility</p:attrName>
                                        </p:attrNameLst>
                                      </p:cBhvr>
                                      <p:to>
                                        <p:strVal val="visible"/>
                                      </p:to>
                                    </p:set>
                                    <p:animEffect transition="in" filter="fade">
                                      <p:cBhvr>
                                        <p:cTn id="25" dur="500"/>
                                        <p:tgtEl>
                                          <p:spTgt spid="12">
                                            <p:txEl>
                                              <p:pRg st="5" end="5"/>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xEl>
                                              <p:pRg st="7" end="7"/>
                                            </p:txEl>
                                          </p:spTgt>
                                        </p:tgtEl>
                                        <p:attrNameLst>
                                          <p:attrName>style.visibility</p:attrName>
                                        </p:attrNameLst>
                                      </p:cBhvr>
                                      <p:to>
                                        <p:strVal val="visible"/>
                                      </p:to>
                                    </p:set>
                                    <p:animEffect transition="in" filter="fade">
                                      <p:cBhvr>
                                        <p:cTn id="28" dur="500"/>
                                        <p:tgtEl>
                                          <p:spTgt spid="1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allAtOnce"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B28CF-E681-26C9-8D97-B3BCE1DFBBF7}"/>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718EF5EC-6240-08EF-09DC-3401690F5A6A}"/>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711F938E-4720-BC45-BB9B-C3E2B87F7668}"/>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Δραστηριότητα 4-1   </a:t>
            </a:r>
            <a:r>
              <a:rPr lang="en-US" sz="4000" b="1" dirty="0">
                <a:solidFill>
                  <a:srgbClr val="F9853D"/>
                </a:solidFill>
                <a:latin typeface="Bahnschrift" panose="020B0502040204020203" pitchFamily="34" charset="0"/>
              </a:rPr>
              <a:t>Add2Numbers</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4CBA5E8F-CA46-4D89-4467-369B19EA55DF}"/>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7FEC4CF8-BA63-2A51-3CA2-CBDC54C9842A}"/>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3</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D99C3B9D-3E44-1536-B2C1-AA08E650683F}"/>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2" name="Content Placeholder 2">
            <a:extLst>
              <a:ext uri="{FF2B5EF4-FFF2-40B4-BE49-F238E27FC236}">
                <a16:creationId xmlns:a16="http://schemas.microsoft.com/office/drawing/2014/main" id="{F5DE8881-1F28-FAD6-ECCC-15C2C20030EE}"/>
              </a:ext>
            </a:extLst>
          </p:cNvPr>
          <p:cNvSpPr txBox="1">
            <a:spLocks/>
          </p:cNvSpPr>
          <p:nvPr/>
        </p:nvSpPr>
        <p:spPr bwMode="auto">
          <a:xfrm>
            <a:off x="1" y="1005665"/>
            <a:ext cx="12191999" cy="2887462"/>
          </a:xfrm>
          <a:prstGeom prst="rect">
            <a:avLst/>
          </a:pr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sz="2800" b="1" kern="0" dirty="0">
                <a:solidFill>
                  <a:srgbClr val="000000"/>
                </a:solidFill>
                <a:latin typeface="Tahoma"/>
              </a:rPr>
              <a:t>Αναθέστε στη μηχανή το έργο </a:t>
            </a:r>
            <a:r>
              <a:rPr lang="el-GR" sz="2800" kern="0" dirty="0">
                <a:solidFill>
                  <a:srgbClr val="000000"/>
                </a:solidFill>
                <a:latin typeface="Tahoma"/>
              </a:rPr>
              <a:t>της πρόσθεσης δύο ακέραιων αριθμών και της εμφάνισης του αποτελέσματος στην οθόνη.</a:t>
            </a:r>
          </a:p>
          <a:p>
            <a:pPr marL="0" indent="0">
              <a:buClr>
                <a:srgbClr val="3333CC"/>
              </a:buClr>
              <a:buNone/>
              <a:defRPr/>
            </a:pPr>
            <a:endParaRPr lang="el-GR" sz="1600" kern="0" dirty="0">
              <a:solidFill>
                <a:srgbClr val="000000"/>
              </a:solidFill>
              <a:latin typeface="Tahoma"/>
            </a:endParaRPr>
          </a:p>
          <a:p>
            <a:pPr marL="0" indent="0">
              <a:buClr>
                <a:srgbClr val="3333CC"/>
              </a:buClr>
              <a:buNone/>
              <a:defRPr/>
            </a:pPr>
            <a:r>
              <a:rPr lang="el-GR" sz="2400" u="sng" kern="0" dirty="0">
                <a:solidFill>
                  <a:srgbClr val="000000"/>
                </a:solidFill>
                <a:latin typeface="Tahoma"/>
              </a:rPr>
              <a:t>Σχόλιο: </a:t>
            </a:r>
            <a:r>
              <a:rPr lang="el-GR" sz="2400" i="1" kern="0" dirty="0">
                <a:solidFill>
                  <a:srgbClr val="000000"/>
                </a:solidFill>
                <a:latin typeface="Tahoma"/>
              </a:rPr>
              <a:t>Εκτελώντας τη διεργασία Add2Numbers η μηχανή προσφέρει στο χρήστη μια </a:t>
            </a:r>
            <a:r>
              <a:rPr lang="el-GR" sz="2400" b="1" i="1" kern="0" dirty="0">
                <a:solidFill>
                  <a:srgbClr val="000000"/>
                </a:solidFill>
                <a:latin typeface="Tahoma"/>
              </a:rPr>
              <a:t>υπηρεσία</a:t>
            </a:r>
            <a:r>
              <a:rPr lang="el-GR" sz="2400" i="1" kern="0" dirty="0">
                <a:solidFill>
                  <a:srgbClr val="000000"/>
                </a:solidFill>
                <a:latin typeface="Tahoma"/>
              </a:rPr>
              <a:t>, την οποία αυτός μπορεί να αξιοποιήσει για να βρει το άθροισμα δύο αριθμών. Στα πλαίσια αυτά θα πρέπει να δώσει στη μηχανή τους δύο αριθμούς, η μηχανή να τους πάρει, να τους προσθέσει και να δώσει το αποτέλεσμα στο χρήστη. </a:t>
            </a:r>
          </a:p>
          <a:p>
            <a:pPr marL="0" indent="0">
              <a:buClr>
                <a:srgbClr val="3333CC"/>
              </a:buClr>
              <a:buNone/>
              <a:defRPr/>
            </a:pPr>
            <a:endParaRPr lang="el-GR" sz="2800" kern="0" dirty="0">
              <a:solidFill>
                <a:srgbClr val="000000"/>
              </a:solidFill>
              <a:latin typeface="Tahoma"/>
            </a:endParaRPr>
          </a:p>
          <a:p>
            <a:pPr marL="0" indent="0">
              <a:buClr>
                <a:srgbClr val="3333CC"/>
              </a:buClr>
              <a:buNone/>
              <a:defRPr/>
            </a:pPr>
            <a:endParaRPr lang="en-US" sz="1600" kern="0" dirty="0">
              <a:solidFill>
                <a:srgbClr val="000000"/>
              </a:solidFill>
              <a:latin typeface="Tahoma"/>
            </a:endParaRPr>
          </a:p>
        </p:txBody>
      </p:sp>
      <p:pic>
        <p:nvPicPr>
          <p:cNvPr id="7" name="Picture 6">
            <a:extLst>
              <a:ext uri="{FF2B5EF4-FFF2-40B4-BE49-F238E27FC236}">
                <a16:creationId xmlns:a16="http://schemas.microsoft.com/office/drawing/2014/main" id="{FF59C3E0-AF30-B6EA-4E97-23D696447495}"/>
              </a:ext>
            </a:extLst>
          </p:cNvPr>
          <p:cNvPicPr>
            <a:picLocks noChangeAspect="1"/>
          </p:cNvPicPr>
          <p:nvPr/>
        </p:nvPicPr>
        <p:blipFill>
          <a:blip r:embed="rId3"/>
          <a:stretch>
            <a:fillRect/>
          </a:stretch>
        </p:blipFill>
        <p:spPr>
          <a:xfrm>
            <a:off x="3717896" y="3990742"/>
            <a:ext cx="6852448" cy="2548074"/>
          </a:xfrm>
          <a:prstGeom prst="rect">
            <a:avLst/>
          </a:prstGeom>
        </p:spPr>
      </p:pic>
      <p:sp>
        <p:nvSpPr>
          <p:cNvPr id="13" name="Θέση υποσέλιδου 4">
            <a:extLst>
              <a:ext uri="{FF2B5EF4-FFF2-40B4-BE49-F238E27FC236}">
                <a16:creationId xmlns:a16="http://schemas.microsoft.com/office/drawing/2014/main" id="{53D3EC36-5888-3929-CFE0-D0273B01BC44}"/>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spTree>
    <p:extLst>
      <p:ext uri="{BB962C8B-B14F-4D97-AF65-F5344CB8AC3E}">
        <p14:creationId xmlns:p14="http://schemas.microsoft.com/office/powerpoint/2010/main" val="99337758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bg/>
                                          </p:spTgt>
                                        </p:tgtEl>
                                        <p:attrNameLst>
                                          <p:attrName>style.visibility</p:attrName>
                                        </p:attrNameLst>
                                      </p:cBhvr>
                                      <p:to>
                                        <p:strVal val="visible"/>
                                      </p:to>
                                    </p:set>
                                    <p:animEffect transition="in" filter="fade">
                                      <p:cBhvr>
                                        <p:cTn id="7" dur="500"/>
                                        <p:tgtEl>
                                          <p:spTgt spid="12">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xEl>
                                              <p:pRg st="0" end="0"/>
                                            </p:txEl>
                                          </p:spTgt>
                                        </p:tgtEl>
                                        <p:attrNameLst>
                                          <p:attrName>style.visibility</p:attrName>
                                        </p:attrNameLst>
                                      </p:cBhvr>
                                      <p:to>
                                        <p:strVal val="visible"/>
                                      </p:to>
                                    </p:set>
                                    <p:animEffect transition="in" filter="fade">
                                      <p:cBhvr>
                                        <p:cTn id="10" dur="500"/>
                                        <p:tgtEl>
                                          <p:spTgt spid="12">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xEl>
                                              <p:pRg st="2" end="2"/>
                                            </p:txEl>
                                          </p:spTgt>
                                        </p:tgtEl>
                                        <p:attrNameLst>
                                          <p:attrName>style.visibility</p:attrName>
                                        </p:attrNameLst>
                                      </p:cBhvr>
                                      <p:to>
                                        <p:strVal val="visible"/>
                                      </p:to>
                                    </p:set>
                                    <p:animEffect transition="in" filter="fade">
                                      <p:cBhvr>
                                        <p:cTn id="13" dur="500"/>
                                        <p:tgtEl>
                                          <p:spTgt spid="1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allAtOnce"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5E94D-F380-B6C6-3519-C1604CAAB2CC}"/>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532535F2-2843-103E-3490-4E4C239C9BDA}"/>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6D425543-32C7-9B31-2126-73915BDD549E}"/>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Βήματα Διαδικασίας Ανάπτυξης Προγράμματος</a:t>
            </a:r>
          </a:p>
        </p:txBody>
      </p:sp>
      <p:sp>
        <p:nvSpPr>
          <p:cNvPr id="8" name="Θέση υποσέλιδου 4">
            <a:extLst>
              <a:ext uri="{FF2B5EF4-FFF2-40B4-BE49-F238E27FC236}">
                <a16:creationId xmlns:a16="http://schemas.microsoft.com/office/drawing/2014/main" id="{89A71A5C-F007-E85E-12D2-35CFFE252529}"/>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73B4AB5A-B92C-4FD1-58BF-EA9C729AE232}"/>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4</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0E6463B7-9EC0-A401-7030-7F6B8B7EA52E}"/>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aphicFrame>
        <p:nvGraphicFramePr>
          <p:cNvPr id="7" name="Table 6">
            <a:extLst>
              <a:ext uri="{FF2B5EF4-FFF2-40B4-BE49-F238E27FC236}">
                <a16:creationId xmlns:a16="http://schemas.microsoft.com/office/drawing/2014/main" id="{03932D12-058A-BD6F-9ED1-810B3400AFF0}"/>
              </a:ext>
            </a:extLst>
          </p:cNvPr>
          <p:cNvGraphicFramePr>
            <a:graphicFrameLocks noGrp="1"/>
          </p:cNvGraphicFramePr>
          <p:nvPr>
            <p:extLst>
              <p:ext uri="{D42A27DB-BD31-4B8C-83A1-F6EECF244321}">
                <p14:modId xmlns:p14="http://schemas.microsoft.com/office/powerpoint/2010/main" val="3997890017"/>
              </p:ext>
            </p:extLst>
          </p:nvPr>
        </p:nvGraphicFramePr>
        <p:xfrm>
          <a:off x="479015" y="1425518"/>
          <a:ext cx="1670628" cy="4828325"/>
        </p:xfrm>
        <a:graphic>
          <a:graphicData uri="http://schemas.openxmlformats.org/drawingml/2006/table">
            <a:tbl>
              <a:tblPr firstRow="1" bandRow="1"/>
              <a:tblGrid>
                <a:gridCol w="1670628">
                  <a:extLst>
                    <a:ext uri="{9D8B030D-6E8A-4147-A177-3AD203B41FA5}">
                      <a16:colId xmlns:a16="http://schemas.microsoft.com/office/drawing/2014/main" val="421076342"/>
                    </a:ext>
                  </a:extLst>
                </a:gridCol>
              </a:tblGrid>
              <a:tr h="370840">
                <a:tc>
                  <a:txBody>
                    <a:bodyPr/>
                    <a:lstStyle/>
                    <a:p>
                      <a:r>
                        <a:rPr lang="el-GR" sz="3600" dirty="0"/>
                        <a:t>Βήμα 1</a:t>
                      </a:r>
                      <a:endParaRPr lang="en-GB" sz="3600" dirty="0"/>
                    </a:p>
                  </a:txBody>
                  <a:tcPr>
                    <a:solidFill>
                      <a:schemeClr val="accent1"/>
                    </a:solidFill>
                  </a:tcPr>
                </a:tc>
                <a:extLst>
                  <a:ext uri="{0D108BD9-81ED-4DB2-BD59-A6C34878D82A}">
                    <a16:rowId xmlns:a16="http://schemas.microsoft.com/office/drawing/2014/main" val="217164540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3600" dirty="0"/>
                        <a:t>Βήμα 2</a:t>
                      </a:r>
                      <a:endParaRPr lang="en-GB" sz="3600" dirty="0"/>
                    </a:p>
                  </a:txBody>
                  <a:tcPr>
                    <a:solidFill>
                      <a:schemeClr val="accent1"/>
                    </a:solidFill>
                  </a:tcPr>
                </a:tc>
                <a:extLst>
                  <a:ext uri="{0D108BD9-81ED-4DB2-BD59-A6C34878D82A}">
                    <a16:rowId xmlns:a16="http://schemas.microsoft.com/office/drawing/2014/main" val="628387748"/>
                  </a:ext>
                </a:extLst>
              </a:tr>
              <a:tr h="11641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3600" dirty="0"/>
                        <a:t>Βήμα 3</a:t>
                      </a:r>
                      <a:endParaRPr lang="en-GB" sz="3600" dirty="0"/>
                    </a:p>
                  </a:txBody>
                  <a:tcPr>
                    <a:solidFill>
                      <a:schemeClr val="accent1"/>
                    </a:solidFill>
                  </a:tcPr>
                </a:tc>
                <a:extLst>
                  <a:ext uri="{0D108BD9-81ED-4DB2-BD59-A6C34878D82A}">
                    <a16:rowId xmlns:a16="http://schemas.microsoft.com/office/drawing/2014/main" val="1881143437"/>
                  </a:ext>
                </a:extLst>
              </a:tr>
              <a:tr h="12246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3600" dirty="0"/>
                        <a:t>Βήμα 4</a:t>
                      </a:r>
                      <a:endParaRPr lang="en-GB" sz="3600" dirty="0"/>
                    </a:p>
                  </a:txBody>
                  <a:tcPr>
                    <a:solidFill>
                      <a:schemeClr val="accent1"/>
                    </a:solidFill>
                  </a:tcPr>
                </a:tc>
                <a:extLst>
                  <a:ext uri="{0D108BD9-81ED-4DB2-BD59-A6C34878D82A}">
                    <a16:rowId xmlns:a16="http://schemas.microsoft.com/office/drawing/2014/main" val="180313603"/>
                  </a:ext>
                </a:extLst>
              </a:tr>
              <a:tr h="11593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3600" dirty="0"/>
                        <a:t>Βήμα 5</a:t>
                      </a:r>
                      <a:endParaRPr lang="en-GB" sz="3600" dirty="0"/>
                    </a:p>
                  </a:txBody>
                  <a:tcPr>
                    <a:solidFill>
                      <a:schemeClr val="accent1"/>
                    </a:solidFill>
                  </a:tcPr>
                </a:tc>
                <a:extLst>
                  <a:ext uri="{0D108BD9-81ED-4DB2-BD59-A6C34878D82A}">
                    <a16:rowId xmlns:a16="http://schemas.microsoft.com/office/drawing/2014/main" val="3223280970"/>
                  </a:ext>
                </a:extLst>
              </a:tr>
            </a:tbl>
          </a:graphicData>
        </a:graphic>
      </p:graphicFrame>
      <p:graphicFrame>
        <p:nvGraphicFramePr>
          <p:cNvPr id="9" name="Table 8">
            <a:extLst>
              <a:ext uri="{FF2B5EF4-FFF2-40B4-BE49-F238E27FC236}">
                <a16:creationId xmlns:a16="http://schemas.microsoft.com/office/drawing/2014/main" id="{CDF6EA23-9057-DF39-23DA-ABC3D694C3A3}"/>
              </a:ext>
            </a:extLst>
          </p:cNvPr>
          <p:cNvGraphicFramePr>
            <a:graphicFrameLocks noGrp="1"/>
          </p:cNvGraphicFramePr>
          <p:nvPr>
            <p:extLst>
              <p:ext uri="{D42A27DB-BD31-4B8C-83A1-F6EECF244321}">
                <p14:modId xmlns:p14="http://schemas.microsoft.com/office/powerpoint/2010/main" val="1972882171"/>
              </p:ext>
            </p:extLst>
          </p:nvPr>
        </p:nvGraphicFramePr>
        <p:xfrm>
          <a:off x="2170003" y="1425518"/>
          <a:ext cx="9341640" cy="4846320"/>
        </p:xfrm>
        <a:graphic>
          <a:graphicData uri="http://schemas.openxmlformats.org/drawingml/2006/table">
            <a:tbl>
              <a:tblPr firstRow="1" bandRow="1"/>
              <a:tblGrid>
                <a:gridCol w="9341640">
                  <a:extLst>
                    <a:ext uri="{9D8B030D-6E8A-4147-A177-3AD203B41FA5}">
                      <a16:colId xmlns:a16="http://schemas.microsoft.com/office/drawing/2014/main" val="421076342"/>
                    </a:ext>
                  </a:extLst>
                </a:gridCol>
              </a:tblGrid>
              <a:tr h="370840">
                <a:tc>
                  <a:txBody>
                    <a:bodyPr/>
                    <a:lstStyle/>
                    <a:p>
                      <a:r>
                        <a:rPr lang="el-GR" sz="3600" dirty="0"/>
                        <a:t>Γραφική αναπαράσταση διεργασίας</a:t>
                      </a:r>
                      <a:endParaRPr lang="en-GB" sz="3600" dirty="0"/>
                    </a:p>
                  </a:txBody>
                  <a:tcPr>
                    <a:solidFill>
                      <a:schemeClr val="accent4">
                        <a:lumMod val="40000"/>
                        <a:lumOff val="60000"/>
                      </a:schemeClr>
                    </a:solidFill>
                  </a:tcPr>
                </a:tc>
                <a:extLst>
                  <a:ext uri="{0D108BD9-81ED-4DB2-BD59-A6C34878D82A}">
                    <a16:rowId xmlns:a16="http://schemas.microsoft.com/office/drawing/2014/main" val="217164540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3600" dirty="0"/>
                        <a:t>Λεκτική Περιγραφή</a:t>
                      </a:r>
                      <a:endParaRPr lang="en-GB" sz="3600" dirty="0"/>
                    </a:p>
                  </a:txBody>
                  <a:tcPr>
                    <a:solidFill>
                      <a:schemeClr val="accent4">
                        <a:lumMod val="40000"/>
                        <a:lumOff val="60000"/>
                      </a:schemeClr>
                    </a:solidFill>
                  </a:tcPr>
                </a:tc>
                <a:extLst>
                  <a:ext uri="{0D108BD9-81ED-4DB2-BD59-A6C34878D82A}">
                    <a16:rowId xmlns:a16="http://schemas.microsoft.com/office/drawing/2014/main" val="62838774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3600" dirty="0"/>
                        <a:t>Μετατροπή Λεκτικής περιγραφής σε πηγαίο κώδικα. Δημιουργία </a:t>
                      </a:r>
                      <a:r>
                        <a:rPr lang="el-GR" sz="3600" dirty="0" err="1"/>
                        <a:t>project</a:t>
                      </a:r>
                      <a:endParaRPr lang="el-GR" sz="3600" dirty="0"/>
                    </a:p>
                  </a:txBody>
                  <a:tcPr>
                    <a:solidFill>
                      <a:schemeClr val="accent4">
                        <a:lumMod val="40000"/>
                        <a:lumOff val="60000"/>
                      </a:schemeClr>
                    </a:solidFill>
                  </a:tcPr>
                </a:tc>
                <a:extLst>
                  <a:ext uri="{0D108BD9-81ED-4DB2-BD59-A6C34878D82A}">
                    <a16:rowId xmlns:a16="http://schemas.microsoft.com/office/drawing/2014/main" val="188114343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3600" dirty="0"/>
                        <a:t>Μετασχηματισμός πηγαίου κώδικα σε εκτελέσιμο (</a:t>
                      </a:r>
                      <a:r>
                        <a:rPr lang="el-GR" sz="3600" dirty="0" err="1"/>
                        <a:t>Build</a:t>
                      </a:r>
                      <a:r>
                        <a:rPr lang="el-GR" sz="3600" dirty="0"/>
                        <a:t>)</a:t>
                      </a:r>
                      <a:endParaRPr lang="en-GB" sz="3600" dirty="0"/>
                    </a:p>
                  </a:txBody>
                  <a:tcPr>
                    <a:solidFill>
                      <a:schemeClr val="accent4">
                        <a:lumMod val="40000"/>
                        <a:lumOff val="60000"/>
                      </a:schemeClr>
                    </a:solidFill>
                  </a:tcPr>
                </a:tc>
                <a:extLst>
                  <a:ext uri="{0D108BD9-81ED-4DB2-BD59-A6C34878D82A}">
                    <a16:rowId xmlns:a16="http://schemas.microsoft.com/office/drawing/2014/main" val="18031360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3600" dirty="0"/>
                        <a:t>Εκτέλεση προγράμματος (</a:t>
                      </a:r>
                      <a:r>
                        <a:rPr lang="en-US" sz="3600" dirty="0"/>
                        <a:t>Run)</a:t>
                      </a:r>
                      <a:r>
                        <a:rPr lang="el-GR" sz="3600" dirty="0"/>
                        <a:t>, έλεγχος και διορθώσεις αν απαιτούνται</a:t>
                      </a:r>
                      <a:endParaRPr lang="en-GB" sz="3600" dirty="0"/>
                    </a:p>
                  </a:txBody>
                  <a:tcPr>
                    <a:solidFill>
                      <a:schemeClr val="accent4">
                        <a:lumMod val="40000"/>
                        <a:lumOff val="60000"/>
                      </a:schemeClr>
                    </a:solidFill>
                  </a:tcPr>
                </a:tc>
                <a:extLst>
                  <a:ext uri="{0D108BD9-81ED-4DB2-BD59-A6C34878D82A}">
                    <a16:rowId xmlns:a16="http://schemas.microsoft.com/office/drawing/2014/main" val="3223280970"/>
                  </a:ext>
                </a:extLst>
              </a:tr>
            </a:tbl>
          </a:graphicData>
        </a:graphic>
      </p:graphicFrame>
      <p:sp>
        <p:nvSpPr>
          <p:cNvPr id="4" name="Θέση υποσέλιδου 4">
            <a:extLst>
              <a:ext uri="{FF2B5EF4-FFF2-40B4-BE49-F238E27FC236}">
                <a16:creationId xmlns:a16="http://schemas.microsoft.com/office/drawing/2014/main" id="{640F3D94-AF77-E9A6-DB39-B33940F68C44}"/>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spTree>
    <p:extLst>
      <p:ext uri="{BB962C8B-B14F-4D97-AF65-F5344CB8AC3E}">
        <p14:creationId xmlns:p14="http://schemas.microsoft.com/office/powerpoint/2010/main" val="92372038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FD22C-321E-F64D-E630-82B5F05C8CFF}"/>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0798BF3A-BFD4-18CB-AEF6-CC6BD40B9536}"/>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D41ED09B-CAE3-6EDE-941F-988FC0CD312F}"/>
              </a:ext>
            </a:extLst>
          </p:cNvPr>
          <p:cNvSpPr>
            <a:spLocks noGrp="1"/>
          </p:cNvSpPr>
          <p:nvPr>
            <p:ph type="title"/>
          </p:nvPr>
        </p:nvSpPr>
        <p:spPr>
          <a:xfrm>
            <a:off x="0" y="0"/>
            <a:ext cx="12191999" cy="908050"/>
          </a:xfrm>
          <a:solidFill>
            <a:srgbClr val="FDCBAD"/>
          </a:solidFill>
        </p:spPr>
        <p:txBody>
          <a:bodyPr>
            <a:normAutofit fontScale="90000"/>
          </a:bodyPr>
          <a:lstStyle/>
          <a:p>
            <a:r>
              <a:rPr lang="el-GR" sz="4000" b="1" dirty="0">
                <a:solidFill>
                  <a:srgbClr val="F9853D"/>
                </a:solidFill>
                <a:latin typeface="Bahnschrift" panose="020B0502040204020203" pitchFamily="34" charset="0"/>
              </a:rPr>
              <a:t>Συνοπτική περιγραφή διαδικασίας εκτέλεσης Δραστηριότητας</a:t>
            </a:r>
          </a:p>
        </p:txBody>
      </p:sp>
      <p:sp>
        <p:nvSpPr>
          <p:cNvPr id="8" name="Θέση υποσέλιδου 4">
            <a:extLst>
              <a:ext uri="{FF2B5EF4-FFF2-40B4-BE49-F238E27FC236}">
                <a16:creationId xmlns:a16="http://schemas.microsoft.com/office/drawing/2014/main" id="{D2790C6A-10DC-4EB0-A9BE-0600C21E6D38}"/>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CCF990E9-665A-4228-FF4A-9B09E85C477F}"/>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5</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56DCBE25-FEF2-A8A2-DA76-C9A5C63DFB1D}"/>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graphicFrame>
        <p:nvGraphicFramePr>
          <p:cNvPr id="7" name="Table 6">
            <a:extLst>
              <a:ext uri="{FF2B5EF4-FFF2-40B4-BE49-F238E27FC236}">
                <a16:creationId xmlns:a16="http://schemas.microsoft.com/office/drawing/2014/main" id="{431C7A8B-01FD-16FD-08A9-074730A431C1}"/>
              </a:ext>
            </a:extLst>
          </p:cNvPr>
          <p:cNvGraphicFramePr>
            <a:graphicFrameLocks noGrp="1"/>
          </p:cNvGraphicFramePr>
          <p:nvPr>
            <p:extLst>
              <p:ext uri="{D42A27DB-BD31-4B8C-83A1-F6EECF244321}">
                <p14:modId xmlns:p14="http://schemas.microsoft.com/office/powerpoint/2010/main" val="3702770548"/>
              </p:ext>
            </p:extLst>
          </p:nvPr>
        </p:nvGraphicFramePr>
        <p:xfrm>
          <a:off x="479015" y="1425519"/>
          <a:ext cx="1670628" cy="3474720"/>
        </p:xfrm>
        <a:graphic>
          <a:graphicData uri="http://schemas.openxmlformats.org/drawingml/2006/table">
            <a:tbl>
              <a:tblPr firstRow="1" bandRow="1"/>
              <a:tblGrid>
                <a:gridCol w="1670628">
                  <a:extLst>
                    <a:ext uri="{9D8B030D-6E8A-4147-A177-3AD203B41FA5}">
                      <a16:colId xmlns:a16="http://schemas.microsoft.com/office/drawing/2014/main" val="421076342"/>
                    </a:ext>
                  </a:extLst>
                </a:gridCol>
              </a:tblGrid>
              <a:tr h="480390">
                <a:tc>
                  <a:txBody>
                    <a:bodyPr/>
                    <a:lstStyle/>
                    <a:p>
                      <a:pPr algn="ctr"/>
                      <a:r>
                        <a:rPr lang="el-GR" sz="3200" dirty="0"/>
                        <a:t>1</a:t>
                      </a:r>
                      <a:endParaRPr lang="en-GB" sz="3200" dirty="0"/>
                    </a:p>
                  </a:txBody>
                  <a:tcPr>
                    <a:solidFill>
                      <a:schemeClr val="accent1"/>
                    </a:solidFill>
                  </a:tcPr>
                </a:tc>
                <a:extLst>
                  <a:ext uri="{0D108BD9-81ED-4DB2-BD59-A6C34878D82A}">
                    <a16:rowId xmlns:a16="http://schemas.microsoft.com/office/drawing/2014/main" val="2171645402"/>
                  </a:ext>
                </a:extLst>
              </a:tr>
              <a:tr h="48039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3200" dirty="0"/>
                        <a:t>2</a:t>
                      </a:r>
                      <a:endParaRPr lang="en-GB" sz="3200" dirty="0"/>
                    </a:p>
                  </a:txBody>
                  <a:tcPr>
                    <a:solidFill>
                      <a:schemeClr val="accent1"/>
                    </a:solidFill>
                  </a:tcPr>
                </a:tc>
                <a:extLst>
                  <a:ext uri="{0D108BD9-81ED-4DB2-BD59-A6C34878D82A}">
                    <a16:rowId xmlns:a16="http://schemas.microsoft.com/office/drawing/2014/main" val="628387748"/>
                  </a:ext>
                </a:extLst>
              </a:tr>
              <a:tr h="48039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3200" dirty="0"/>
                        <a:t>3</a:t>
                      </a:r>
                      <a:endParaRPr lang="en-GB" sz="3200" dirty="0"/>
                    </a:p>
                  </a:txBody>
                  <a:tcPr>
                    <a:solidFill>
                      <a:schemeClr val="accent1"/>
                    </a:solidFill>
                  </a:tcPr>
                </a:tc>
                <a:extLst>
                  <a:ext uri="{0D108BD9-81ED-4DB2-BD59-A6C34878D82A}">
                    <a16:rowId xmlns:a16="http://schemas.microsoft.com/office/drawing/2014/main" val="1881143437"/>
                  </a:ext>
                </a:extLst>
              </a:tr>
              <a:tr h="48039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3200" dirty="0"/>
                        <a:t>4</a:t>
                      </a:r>
                      <a:endParaRPr lang="en-GB" sz="3200" dirty="0"/>
                    </a:p>
                  </a:txBody>
                  <a:tcPr>
                    <a:solidFill>
                      <a:schemeClr val="accent1"/>
                    </a:solidFill>
                  </a:tcPr>
                </a:tc>
                <a:extLst>
                  <a:ext uri="{0D108BD9-81ED-4DB2-BD59-A6C34878D82A}">
                    <a16:rowId xmlns:a16="http://schemas.microsoft.com/office/drawing/2014/main" val="180313603"/>
                  </a:ext>
                </a:extLst>
              </a:tr>
              <a:tr h="55291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3200" dirty="0"/>
                        <a:t>5</a:t>
                      </a:r>
                      <a:endParaRPr lang="en-GB" sz="3200" dirty="0"/>
                    </a:p>
                  </a:txBody>
                  <a:tcPr>
                    <a:solidFill>
                      <a:schemeClr val="accent1"/>
                    </a:solidFill>
                  </a:tcPr>
                </a:tc>
                <a:extLst>
                  <a:ext uri="{0D108BD9-81ED-4DB2-BD59-A6C34878D82A}">
                    <a16:rowId xmlns:a16="http://schemas.microsoft.com/office/drawing/2014/main" val="3223280970"/>
                  </a:ext>
                </a:extLst>
              </a:tr>
              <a:tr h="54182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200" dirty="0"/>
                        <a:t>6</a:t>
                      </a:r>
                      <a:endParaRPr lang="en-GB" sz="3200" dirty="0"/>
                    </a:p>
                  </a:txBody>
                  <a:tcPr>
                    <a:solidFill>
                      <a:schemeClr val="accent1"/>
                    </a:solidFill>
                  </a:tcPr>
                </a:tc>
                <a:extLst>
                  <a:ext uri="{0D108BD9-81ED-4DB2-BD59-A6C34878D82A}">
                    <a16:rowId xmlns:a16="http://schemas.microsoft.com/office/drawing/2014/main" val="1698063230"/>
                  </a:ext>
                </a:extLst>
              </a:tr>
            </a:tbl>
          </a:graphicData>
        </a:graphic>
      </p:graphicFrame>
      <p:graphicFrame>
        <p:nvGraphicFramePr>
          <p:cNvPr id="9" name="Table 8">
            <a:extLst>
              <a:ext uri="{FF2B5EF4-FFF2-40B4-BE49-F238E27FC236}">
                <a16:creationId xmlns:a16="http://schemas.microsoft.com/office/drawing/2014/main" id="{AC252ADE-D9A4-A8BE-1434-FC3A2A785540}"/>
              </a:ext>
            </a:extLst>
          </p:cNvPr>
          <p:cNvGraphicFramePr>
            <a:graphicFrameLocks noGrp="1"/>
          </p:cNvGraphicFramePr>
          <p:nvPr>
            <p:extLst>
              <p:ext uri="{D42A27DB-BD31-4B8C-83A1-F6EECF244321}">
                <p14:modId xmlns:p14="http://schemas.microsoft.com/office/powerpoint/2010/main" val="2931422352"/>
              </p:ext>
            </p:extLst>
          </p:nvPr>
        </p:nvGraphicFramePr>
        <p:xfrm>
          <a:off x="2170003" y="1425518"/>
          <a:ext cx="9341640" cy="3474720"/>
        </p:xfrm>
        <a:graphic>
          <a:graphicData uri="http://schemas.openxmlformats.org/drawingml/2006/table">
            <a:tbl>
              <a:tblPr firstRow="1" bandRow="1"/>
              <a:tblGrid>
                <a:gridCol w="9341640">
                  <a:extLst>
                    <a:ext uri="{9D8B030D-6E8A-4147-A177-3AD203B41FA5}">
                      <a16:colId xmlns:a16="http://schemas.microsoft.com/office/drawing/2014/main" val="421076342"/>
                    </a:ext>
                  </a:extLst>
                </a:gridCol>
              </a:tblGrid>
              <a:tr h="370840">
                <a:tc>
                  <a:txBody>
                    <a:bodyPr/>
                    <a:lstStyle/>
                    <a:p>
                      <a:r>
                        <a:rPr lang="el-GR" sz="3200" dirty="0"/>
                        <a:t>Δημιουργία Λεκτικής Περιγραφής</a:t>
                      </a:r>
                      <a:endParaRPr lang="en-GB" sz="3200" dirty="0"/>
                    </a:p>
                  </a:txBody>
                  <a:tcPr>
                    <a:solidFill>
                      <a:schemeClr val="accent4">
                        <a:lumMod val="40000"/>
                        <a:lumOff val="60000"/>
                      </a:schemeClr>
                    </a:solidFill>
                  </a:tcPr>
                </a:tc>
                <a:extLst>
                  <a:ext uri="{0D108BD9-81ED-4DB2-BD59-A6C34878D82A}">
                    <a16:rowId xmlns:a16="http://schemas.microsoft.com/office/drawing/2014/main" val="217164540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3200" dirty="0"/>
                        <a:t>Μετατροπή Λεκτικής Περιγραφής σε Πηγαίο Κώδικα</a:t>
                      </a:r>
                      <a:endParaRPr lang="en-GB" sz="3200" dirty="0"/>
                    </a:p>
                  </a:txBody>
                  <a:tcPr>
                    <a:solidFill>
                      <a:schemeClr val="accent4">
                        <a:lumMod val="40000"/>
                        <a:lumOff val="60000"/>
                      </a:schemeClr>
                    </a:solidFill>
                  </a:tcPr>
                </a:tc>
                <a:extLst>
                  <a:ext uri="{0D108BD9-81ED-4DB2-BD59-A6C34878D82A}">
                    <a16:rowId xmlns:a16="http://schemas.microsoft.com/office/drawing/2014/main" val="62838774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3200" dirty="0"/>
                        <a:t>Δημιουργία 1ης έκδοσης του Add2Numbers</a:t>
                      </a:r>
                    </a:p>
                  </a:txBody>
                  <a:tcPr>
                    <a:solidFill>
                      <a:schemeClr val="accent4">
                        <a:lumMod val="40000"/>
                        <a:lumOff val="60000"/>
                      </a:schemeClr>
                    </a:solidFill>
                  </a:tcPr>
                </a:tc>
                <a:extLst>
                  <a:ext uri="{0D108BD9-81ED-4DB2-BD59-A6C34878D82A}">
                    <a16:rowId xmlns:a16="http://schemas.microsoft.com/office/drawing/2014/main" val="188114343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3200" dirty="0"/>
                        <a:t>Δημιουργία </a:t>
                      </a:r>
                      <a:r>
                        <a:rPr lang="en-US" sz="3200" dirty="0"/>
                        <a:t>2</a:t>
                      </a:r>
                      <a:r>
                        <a:rPr lang="el-GR" sz="3200" dirty="0"/>
                        <a:t>ης έκδοσης του Add2Numbers</a:t>
                      </a:r>
                      <a:endParaRPr lang="en-GB" sz="3200" dirty="0"/>
                    </a:p>
                  </a:txBody>
                  <a:tcPr>
                    <a:solidFill>
                      <a:schemeClr val="accent4">
                        <a:lumMod val="40000"/>
                        <a:lumOff val="60000"/>
                      </a:schemeClr>
                    </a:solidFill>
                  </a:tcPr>
                </a:tc>
                <a:extLst>
                  <a:ext uri="{0D108BD9-81ED-4DB2-BD59-A6C34878D82A}">
                    <a16:rowId xmlns:a16="http://schemas.microsoft.com/office/drawing/2014/main" val="18031360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3200" dirty="0"/>
                        <a:t>Δημιουργία </a:t>
                      </a:r>
                      <a:r>
                        <a:rPr lang="en-US" sz="3200" dirty="0"/>
                        <a:t>3</a:t>
                      </a:r>
                      <a:r>
                        <a:rPr lang="el-GR" sz="3200" dirty="0"/>
                        <a:t>ης έκδοσης του Add2Numbers</a:t>
                      </a:r>
                      <a:endParaRPr lang="en-GB" sz="3200" dirty="0"/>
                    </a:p>
                  </a:txBody>
                  <a:tcPr>
                    <a:solidFill>
                      <a:schemeClr val="accent4">
                        <a:lumMod val="40000"/>
                        <a:lumOff val="60000"/>
                      </a:schemeClr>
                    </a:solidFill>
                  </a:tcPr>
                </a:tc>
                <a:extLst>
                  <a:ext uri="{0D108BD9-81ED-4DB2-BD59-A6C34878D82A}">
                    <a16:rowId xmlns:a16="http://schemas.microsoft.com/office/drawing/2014/main" val="322328097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3200" dirty="0"/>
                        <a:t>Δημιουργία </a:t>
                      </a:r>
                      <a:r>
                        <a:rPr lang="en-US" sz="3200" dirty="0"/>
                        <a:t>4</a:t>
                      </a:r>
                      <a:r>
                        <a:rPr lang="el-GR" sz="3200" dirty="0"/>
                        <a:t>ης έκδοσης του Add2Numbers</a:t>
                      </a:r>
                      <a:endParaRPr lang="en-GB" sz="3200" dirty="0"/>
                    </a:p>
                  </a:txBody>
                  <a:tcPr>
                    <a:solidFill>
                      <a:schemeClr val="accent4">
                        <a:lumMod val="40000"/>
                        <a:lumOff val="60000"/>
                      </a:schemeClr>
                    </a:solidFill>
                  </a:tcPr>
                </a:tc>
                <a:extLst>
                  <a:ext uri="{0D108BD9-81ED-4DB2-BD59-A6C34878D82A}">
                    <a16:rowId xmlns:a16="http://schemas.microsoft.com/office/drawing/2014/main" val="4024436335"/>
                  </a:ext>
                </a:extLst>
              </a:tr>
            </a:tbl>
          </a:graphicData>
        </a:graphic>
      </p:graphicFrame>
      <p:sp>
        <p:nvSpPr>
          <p:cNvPr id="4" name="Θέση υποσέλιδου 4">
            <a:extLst>
              <a:ext uri="{FF2B5EF4-FFF2-40B4-BE49-F238E27FC236}">
                <a16:creationId xmlns:a16="http://schemas.microsoft.com/office/drawing/2014/main" id="{E3803ACD-50F2-5364-29A2-B24BEA898B15}"/>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spTree>
    <p:extLst>
      <p:ext uri="{BB962C8B-B14F-4D97-AF65-F5344CB8AC3E}">
        <p14:creationId xmlns:p14="http://schemas.microsoft.com/office/powerpoint/2010/main" val="141191912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24502-B3D2-092B-8D96-121147E5AF94}"/>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AA379BA6-BCA5-AC53-9F26-62D412CECF2D}"/>
              </a:ext>
            </a:extLst>
          </p:cNvPr>
          <p:cNvSpPr/>
          <p:nvPr/>
        </p:nvSpPr>
        <p:spPr>
          <a:xfrm>
            <a:off x="-3" y="2558974"/>
            <a:ext cx="12192001" cy="289945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14">
            <a:extLst>
              <a:ext uri="{FF2B5EF4-FFF2-40B4-BE49-F238E27FC236}">
                <a16:creationId xmlns:a16="http://schemas.microsoft.com/office/drawing/2014/main" id="{895F5C30-5433-6D0E-7961-3A3F29C52552}"/>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D1EC3B37-D2C9-6B35-B55B-B4C0DEBDB478}"/>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Δημιουργία Λεκτικής Περιγραφής</a:t>
            </a:r>
          </a:p>
        </p:txBody>
      </p:sp>
      <p:sp>
        <p:nvSpPr>
          <p:cNvPr id="8" name="Θέση υποσέλιδου 4">
            <a:extLst>
              <a:ext uri="{FF2B5EF4-FFF2-40B4-BE49-F238E27FC236}">
                <a16:creationId xmlns:a16="http://schemas.microsoft.com/office/drawing/2014/main" id="{FA0F8B3A-8CA7-18A0-1511-B8022CBA348B}"/>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59171F34-0E1E-FBA4-BFD6-6C59606EC981}"/>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6</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FFA285BC-89B7-27CD-05AB-EA378D6DE735}"/>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2" name="Content Placeholder 2">
            <a:extLst>
              <a:ext uri="{FF2B5EF4-FFF2-40B4-BE49-F238E27FC236}">
                <a16:creationId xmlns:a16="http://schemas.microsoft.com/office/drawing/2014/main" id="{471628C0-8D7A-530C-E62D-FC0565A1A89A}"/>
              </a:ext>
            </a:extLst>
          </p:cNvPr>
          <p:cNvSpPr txBox="1">
            <a:spLocks/>
          </p:cNvSpPr>
          <p:nvPr/>
        </p:nvSpPr>
        <p:spPr bwMode="auto">
          <a:xfrm>
            <a:off x="-1" y="817878"/>
            <a:ext cx="12191999" cy="1369877"/>
          </a:xfrm>
          <a:prstGeom prst="rect">
            <a:avLst/>
          </a:prstGeom>
          <a:solidFill>
            <a:srgbClr val="92D050"/>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sz="2000" kern="0" dirty="0">
                <a:solidFill>
                  <a:srgbClr val="000000"/>
                </a:solidFill>
                <a:latin typeface="Tahoma"/>
              </a:rPr>
              <a:t>Δημιουργούμε μια </a:t>
            </a:r>
            <a:r>
              <a:rPr lang="el-GR" sz="2000" b="1" kern="0" dirty="0">
                <a:solidFill>
                  <a:srgbClr val="000000"/>
                </a:solidFill>
                <a:latin typeface="Tahoma"/>
              </a:rPr>
              <a:t>ακολουθία προτάσεων</a:t>
            </a:r>
            <a:r>
              <a:rPr lang="el-GR" sz="2000" kern="0" dirty="0">
                <a:solidFill>
                  <a:srgbClr val="000000"/>
                </a:solidFill>
                <a:latin typeface="Tahoma"/>
              </a:rPr>
              <a:t>, σε </a:t>
            </a:r>
            <a:r>
              <a:rPr lang="el-GR" sz="2000" b="1" kern="0" dirty="0">
                <a:solidFill>
                  <a:srgbClr val="000000"/>
                </a:solidFill>
                <a:latin typeface="Tahoma"/>
              </a:rPr>
              <a:t>προστακτική μορφή</a:t>
            </a:r>
            <a:r>
              <a:rPr lang="el-GR" sz="2000" kern="0" dirty="0">
                <a:solidFill>
                  <a:srgbClr val="000000"/>
                </a:solidFill>
                <a:latin typeface="Tahoma"/>
              </a:rPr>
              <a:t>, οι οποίες προσδιορίζουν τις ενέργειες που πρέπει να κάνει μια οντότητα, πιθανόν άνθρωπος, και </a:t>
            </a:r>
            <a:r>
              <a:rPr lang="el-GR" sz="2000" b="1" kern="0" dirty="0">
                <a:solidFill>
                  <a:srgbClr val="000000"/>
                </a:solidFill>
                <a:latin typeface="Tahoma"/>
              </a:rPr>
              <a:t>τη σειρά </a:t>
            </a:r>
            <a:r>
              <a:rPr lang="el-GR" sz="2000" kern="0" dirty="0">
                <a:solidFill>
                  <a:srgbClr val="000000"/>
                </a:solidFill>
                <a:latin typeface="Tahoma"/>
              </a:rPr>
              <a:t>με την οποία πρέπει να τις εκτελέσει για να φέρει σε πέρας το έργο</a:t>
            </a:r>
            <a:r>
              <a:rPr lang="en-US" sz="2000" kern="0" dirty="0">
                <a:solidFill>
                  <a:srgbClr val="000000"/>
                </a:solidFill>
                <a:latin typeface="Tahoma"/>
              </a:rPr>
              <a:t>.</a:t>
            </a:r>
            <a:r>
              <a:rPr lang="el-GR" sz="2000" kern="0" dirty="0">
                <a:solidFill>
                  <a:srgbClr val="000000"/>
                </a:solidFill>
                <a:latin typeface="Tahoma"/>
              </a:rPr>
              <a:t> </a:t>
            </a:r>
            <a:endParaRPr lang="en-US" sz="2000" kern="0" dirty="0">
              <a:solidFill>
                <a:srgbClr val="000000"/>
              </a:solidFill>
              <a:latin typeface="Tahoma"/>
            </a:endParaRPr>
          </a:p>
          <a:p>
            <a:pPr marL="0" indent="0">
              <a:buClr>
                <a:srgbClr val="3333CC"/>
              </a:buClr>
              <a:buNone/>
              <a:defRPr/>
            </a:pPr>
            <a:r>
              <a:rPr lang="el-GR" sz="2000" b="1" kern="0" dirty="0">
                <a:solidFill>
                  <a:srgbClr val="000000"/>
                </a:solidFill>
                <a:latin typeface="Tahoma"/>
              </a:rPr>
              <a:t>Δεν απαιτούνται γνώσεις προγραμματισμού υπολογιστών.</a:t>
            </a:r>
          </a:p>
        </p:txBody>
      </p:sp>
      <p:sp>
        <p:nvSpPr>
          <p:cNvPr id="4" name="Rectangle 3">
            <a:extLst>
              <a:ext uri="{FF2B5EF4-FFF2-40B4-BE49-F238E27FC236}">
                <a16:creationId xmlns:a16="http://schemas.microsoft.com/office/drawing/2014/main" id="{CD9A859C-C557-EDFF-02E8-8C519CC57380}"/>
              </a:ext>
            </a:extLst>
          </p:cNvPr>
          <p:cNvSpPr txBox="1">
            <a:spLocks noChangeArrowheads="1"/>
          </p:cNvSpPr>
          <p:nvPr/>
        </p:nvSpPr>
        <p:spPr>
          <a:xfrm>
            <a:off x="140669" y="3226095"/>
            <a:ext cx="11910662" cy="2054107"/>
          </a:xfrm>
          <a:prstGeom prst="rect">
            <a:avLst/>
          </a:prstGeom>
          <a:solidFill>
            <a:srgbClr val="00B0F0"/>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l-GR" altLang="el-GR" sz="3600" b="1" dirty="0"/>
          </a:p>
          <a:p>
            <a:pPr marL="0" indent="0" algn="ctr">
              <a:buNone/>
            </a:pPr>
            <a:endParaRPr lang="el-GR" altLang="el-GR" sz="3600" dirty="0">
              <a:solidFill>
                <a:srgbClr val="0033CC"/>
              </a:solidFill>
              <a:latin typeface="Times New Roman" panose="02020603050405020304" pitchFamily="18" charset="0"/>
            </a:endParaRPr>
          </a:p>
        </p:txBody>
      </p:sp>
      <p:sp>
        <p:nvSpPr>
          <p:cNvPr id="7" name="TextBox 6">
            <a:extLst>
              <a:ext uri="{FF2B5EF4-FFF2-40B4-BE49-F238E27FC236}">
                <a16:creationId xmlns:a16="http://schemas.microsoft.com/office/drawing/2014/main" id="{039DCF86-BE18-F8C1-C3ED-E5EC8C1516AD}"/>
              </a:ext>
            </a:extLst>
          </p:cNvPr>
          <p:cNvSpPr txBox="1"/>
          <p:nvPr/>
        </p:nvSpPr>
        <p:spPr>
          <a:xfrm>
            <a:off x="-140669" y="2540279"/>
            <a:ext cx="12192000" cy="646331"/>
          </a:xfrm>
          <a:prstGeom prst="rect">
            <a:avLst/>
          </a:prstGeom>
          <a:noFill/>
        </p:spPr>
        <p:txBody>
          <a:bodyPr wrap="square">
            <a:spAutoFit/>
          </a:bodyPr>
          <a:lstStyle/>
          <a:p>
            <a:pPr algn="ctr"/>
            <a:r>
              <a:rPr lang="el-GR" altLang="el-GR" sz="3600" b="1" dirty="0">
                <a:solidFill>
                  <a:srgbClr val="C00000"/>
                </a:solidFill>
                <a:latin typeface="Times New Roman" panose="02020603050405020304" pitchFamily="18" charset="0"/>
              </a:rPr>
              <a:t>Λεκτική περιγραφή για το </a:t>
            </a:r>
            <a:r>
              <a:rPr lang="en-US" altLang="el-GR" sz="3600" b="1" dirty="0">
                <a:solidFill>
                  <a:srgbClr val="C00000"/>
                </a:solidFill>
                <a:latin typeface="Times New Roman" panose="02020603050405020304" pitchFamily="18" charset="0"/>
              </a:rPr>
              <a:t>Add2Numbers</a:t>
            </a:r>
            <a:endParaRPr lang="en-GB" sz="3600" b="1" dirty="0">
              <a:solidFill>
                <a:srgbClr val="C00000"/>
              </a:solidFill>
            </a:endParaRPr>
          </a:p>
        </p:txBody>
      </p:sp>
      <p:sp>
        <p:nvSpPr>
          <p:cNvPr id="9" name="Callout: Bent Line 8">
            <a:extLst>
              <a:ext uri="{FF2B5EF4-FFF2-40B4-BE49-F238E27FC236}">
                <a16:creationId xmlns:a16="http://schemas.microsoft.com/office/drawing/2014/main" id="{6B59DC27-6F2B-294C-FFA2-E00BEE7071F7}"/>
              </a:ext>
            </a:extLst>
          </p:cNvPr>
          <p:cNvSpPr/>
          <p:nvPr/>
        </p:nvSpPr>
        <p:spPr bwMode="auto">
          <a:xfrm>
            <a:off x="2673697" y="5590741"/>
            <a:ext cx="7629631" cy="948076"/>
          </a:xfrm>
          <a:prstGeom prst="borderCallout2">
            <a:avLst>
              <a:gd name="adj1" fmla="val 48078"/>
              <a:gd name="adj2" fmla="val 78"/>
              <a:gd name="adj3" fmla="val 8583"/>
              <a:gd name="adj4" fmla="val -6435"/>
              <a:gd name="adj5" fmla="val -27299"/>
              <a:gd name="adj6" fmla="val -7771"/>
            </a:avLst>
          </a:prstGeom>
          <a:solidFill>
            <a:srgbClr val="FFFF00"/>
          </a:solidFill>
          <a:ln w="57150" cap="flat" cmpd="sng" algn="ctr">
            <a:solidFill>
              <a:srgbClr val="FFFF00"/>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l-GR" sz="2400" b="0" i="0" u="none" strike="noStrike" cap="none" normalizeH="0" baseline="0" dirty="0">
                <a:ln>
                  <a:noFill/>
                </a:ln>
                <a:solidFill>
                  <a:schemeClr val="tx1"/>
                </a:solidFill>
                <a:effectLst/>
                <a:latin typeface="Tahoma" pitchFamily="34" charset="0"/>
              </a:rPr>
              <a:t>Προστακτική!</a:t>
            </a:r>
            <a:br>
              <a:rPr kumimoji="0" lang="el-GR" sz="2400" b="0" i="0" u="none" strike="noStrike" cap="none" normalizeH="0" baseline="0" dirty="0">
                <a:ln>
                  <a:noFill/>
                </a:ln>
                <a:solidFill>
                  <a:schemeClr val="tx1"/>
                </a:solidFill>
                <a:effectLst/>
                <a:latin typeface="Tahoma" pitchFamily="34" charset="0"/>
              </a:rPr>
            </a:br>
            <a:r>
              <a:rPr kumimoji="0" lang="el-GR" sz="2400" b="0" i="0" u="none" strike="noStrike" cap="none" normalizeH="0" baseline="0" dirty="0">
                <a:ln>
                  <a:noFill/>
                </a:ln>
                <a:solidFill>
                  <a:schemeClr val="tx1"/>
                </a:solidFill>
                <a:effectLst/>
                <a:latin typeface="Tahoma" pitchFamily="34" charset="0"/>
              </a:rPr>
              <a:t>Περιγράφει ενέργειες που πρέπει να εκτελεστο</a:t>
            </a:r>
            <a:r>
              <a:rPr lang="el-GR" sz="2400" dirty="0">
                <a:latin typeface="Tahoma" pitchFamily="34" charset="0"/>
              </a:rPr>
              <a:t>ύν</a:t>
            </a:r>
            <a:endParaRPr kumimoji="0" lang="en-GB" sz="2400" b="0" i="0" u="none" strike="noStrike" cap="none" normalizeH="0" baseline="0" dirty="0">
              <a:ln>
                <a:noFill/>
              </a:ln>
              <a:solidFill>
                <a:schemeClr val="tx1"/>
              </a:solidFill>
              <a:effectLst/>
              <a:latin typeface="Tahoma" pitchFamily="34" charset="0"/>
            </a:endParaRPr>
          </a:p>
        </p:txBody>
      </p:sp>
      <p:sp>
        <p:nvSpPr>
          <p:cNvPr id="6" name="TextBox 5">
            <a:extLst>
              <a:ext uri="{FF2B5EF4-FFF2-40B4-BE49-F238E27FC236}">
                <a16:creationId xmlns:a16="http://schemas.microsoft.com/office/drawing/2014/main" id="{4170099C-2F97-CE52-73FF-EA9B459607E4}"/>
              </a:ext>
            </a:extLst>
          </p:cNvPr>
          <p:cNvSpPr txBox="1"/>
          <p:nvPr/>
        </p:nvSpPr>
        <p:spPr>
          <a:xfrm>
            <a:off x="3138051" y="3289231"/>
            <a:ext cx="5915891" cy="2246769"/>
          </a:xfrm>
          <a:prstGeom prst="rect">
            <a:avLst/>
          </a:prstGeom>
          <a:noFill/>
        </p:spPr>
        <p:txBody>
          <a:bodyPr wrap="square" rtlCol="0">
            <a:spAutoFit/>
          </a:bodyPr>
          <a:lstStyle/>
          <a:p>
            <a:r>
              <a:rPr lang="el-GR" altLang="el-GR" sz="2800" b="1" dirty="0"/>
              <a:t>1. Πάρε τον πρώτο αριθμό</a:t>
            </a:r>
          </a:p>
          <a:p>
            <a:r>
              <a:rPr lang="el-GR" altLang="el-GR" sz="2800" b="1" dirty="0"/>
              <a:t>2. Πάρε τον δεύτερο αριθμό</a:t>
            </a:r>
          </a:p>
          <a:p>
            <a:r>
              <a:rPr lang="el-GR" altLang="el-GR" sz="2800" b="1" dirty="0"/>
              <a:t>3. Πρόσθεσε τους δύο αριθμούς</a:t>
            </a:r>
          </a:p>
          <a:p>
            <a:r>
              <a:rPr lang="el-GR" altLang="el-GR" sz="2800" b="1" dirty="0"/>
              <a:t>4. Εμφάνισε το άθροισμα στην οθόνη</a:t>
            </a:r>
          </a:p>
          <a:p>
            <a:endParaRPr lang="en-GB" sz="2800" dirty="0"/>
          </a:p>
        </p:txBody>
      </p:sp>
      <p:sp>
        <p:nvSpPr>
          <p:cNvPr id="14" name="Θέση υποσέλιδου 4">
            <a:extLst>
              <a:ext uri="{FF2B5EF4-FFF2-40B4-BE49-F238E27FC236}">
                <a16:creationId xmlns:a16="http://schemas.microsoft.com/office/drawing/2014/main" id="{7141F60A-1EB9-7117-968B-4C146548423E}"/>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spTree>
    <p:extLst>
      <p:ext uri="{BB962C8B-B14F-4D97-AF65-F5344CB8AC3E}">
        <p14:creationId xmlns:p14="http://schemas.microsoft.com/office/powerpoint/2010/main" val="53711525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bg/>
                                          </p:spTgt>
                                        </p:tgtEl>
                                        <p:attrNameLst>
                                          <p:attrName>style.visibility</p:attrName>
                                        </p:attrNameLst>
                                      </p:cBhvr>
                                      <p:to>
                                        <p:strVal val="visible"/>
                                      </p:to>
                                    </p:set>
                                    <p:animEffect transition="in" filter="fade">
                                      <p:cBhvr>
                                        <p:cTn id="7" dur="500"/>
                                        <p:tgtEl>
                                          <p:spTgt spid="12">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xEl>
                                              <p:pRg st="0" end="0"/>
                                            </p:txEl>
                                          </p:spTgt>
                                        </p:tgtEl>
                                        <p:attrNameLst>
                                          <p:attrName>style.visibility</p:attrName>
                                        </p:attrNameLst>
                                      </p:cBhvr>
                                      <p:to>
                                        <p:strVal val="visible"/>
                                      </p:to>
                                    </p:set>
                                    <p:animEffect transition="in" filter="fade">
                                      <p:cBhvr>
                                        <p:cTn id="10" dur="500"/>
                                        <p:tgtEl>
                                          <p:spTgt spid="12">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xEl>
                                              <p:pRg st="1" end="1"/>
                                            </p:txEl>
                                          </p:spTgt>
                                        </p:tgtEl>
                                        <p:attrNameLst>
                                          <p:attrName>style.visibility</p:attrName>
                                        </p:attrNameLst>
                                      </p:cBhvr>
                                      <p:to>
                                        <p:strVal val="visible"/>
                                      </p:to>
                                    </p:set>
                                    <p:animEffect transition="in" filter="fade">
                                      <p:cBhvr>
                                        <p:cTn id="13" dur="500"/>
                                        <p:tgtEl>
                                          <p:spTgt spid="12">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allAtOnce" animBg="1"/>
      <p:bldP spid="7" grpId="0"/>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48A40-C887-14EC-317C-01F891160A24}"/>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D639331A-C999-EF08-A1EE-ED0F25911813}"/>
              </a:ext>
            </a:extLst>
          </p:cNvPr>
          <p:cNvSpPr/>
          <p:nvPr/>
        </p:nvSpPr>
        <p:spPr>
          <a:xfrm>
            <a:off x="-3" y="2558974"/>
            <a:ext cx="6303821" cy="289945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14">
            <a:extLst>
              <a:ext uri="{FF2B5EF4-FFF2-40B4-BE49-F238E27FC236}">
                <a16:creationId xmlns:a16="http://schemas.microsoft.com/office/drawing/2014/main" id="{1343BDA8-0D07-A46C-2662-CF0669C9705D}"/>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32D07E5F-CEB5-F016-24A8-8227E7DE9EE2}"/>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Προϋποθέσεις για ανάθεση του έργου στη μηχανή</a:t>
            </a:r>
          </a:p>
        </p:txBody>
      </p:sp>
      <p:sp>
        <p:nvSpPr>
          <p:cNvPr id="8" name="Θέση υποσέλιδου 4">
            <a:extLst>
              <a:ext uri="{FF2B5EF4-FFF2-40B4-BE49-F238E27FC236}">
                <a16:creationId xmlns:a16="http://schemas.microsoft.com/office/drawing/2014/main" id="{0ACE4606-5E0B-D639-FE87-A92BF234B5EC}"/>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72E3407D-E2D6-B4DD-49DF-813209C3E27A}"/>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7</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BDE2D372-B9E4-F280-E884-77AB903B4C47}"/>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2" name="Content Placeholder 2">
            <a:extLst>
              <a:ext uri="{FF2B5EF4-FFF2-40B4-BE49-F238E27FC236}">
                <a16:creationId xmlns:a16="http://schemas.microsoft.com/office/drawing/2014/main" id="{4AF5E98F-4CAF-3F05-FCE8-545DF9F3CB0B}"/>
              </a:ext>
            </a:extLst>
          </p:cNvPr>
          <p:cNvSpPr txBox="1">
            <a:spLocks/>
          </p:cNvSpPr>
          <p:nvPr/>
        </p:nvSpPr>
        <p:spPr bwMode="auto">
          <a:xfrm>
            <a:off x="-1" y="817878"/>
            <a:ext cx="12191999" cy="1369877"/>
          </a:xfrm>
          <a:prstGeom prst="rect">
            <a:avLst/>
          </a:prstGeom>
          <a:solidFill>
            <a:srgbClr val="92D050"/>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sz="3600" kern="0" dirty="0">
                <a:solidFill>
                  <a:srgbClr val="000000"/>
                </a:solidFill>
                <a:latin typeface="Tahoma"/>
              </a:rPr>
              <a:t>Η Μηχανή θα πρέπει να μπορεί να εκτελέσει τις διεργασίες που η Λεκτική Περιγραφή  αναφέρει. </a:t>
            </a:r>
            <a:endParaRPr lang="el-GR" sz="3600" b="1" kern="0" dirty="0">
              <a:solidFill>
                <a:srgbClr val="000000"/>
              </a:solidFill>
              <a:latin typeface="Tahoma"/>
            </a:endParaRPr>
          </a:p>
        </p:txBody>
      </p:sp>
      <p:sp>
        <p:nvSpPr>
          <p:cNvPr id="4" name="Rectangle 3">
            <a:extLst>
              <a:ext uri="{FF2B5EF4-FFF2-40B4-BE49-F238E27FC236}">
                <a16:creationId xmlns:a16="http://schemas.microsoft.com/office/drawing/2014/main" id="{57BE73B2-8BD6-7CCF-BAA3-2B0F88412216}"/>
              </a:ext>
            </a:extLst>
          </p:cNvPr>
          <p:cNvSpPr txBox="1">
            <a:spLocks noChangeArrowheads="1"/>
          </p:cNvSpPr>
          <p:nvPr/>
        </p:nvSpPr>
        <p:spPr>
          <a:xfrm>
            <a:off x="140669" y="3226095"/>
            <a:ext cx="5955328" cy="2054107"/>
          </a:xfrm>
          <a:prstGeom prst="rect">
            <a:avLst/>
          </a:prstGeom>
          <a:solidFill>
            <a:srgbClr val="00B0F0"/>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l-GR" altLang="el-GR" sz="3600" b="1" dirty="0"/>
          </a:p>
          <a:p>
            <a:pPr marL="0" indent="0" algn="ctr">
              <a:buNone/>
            </a:pPr>
            <a:endParaRPr lang="el-GR" altLang="el-GR" sz="3600" dirty="0">
              <a:solidFill>
                <a:srgbClr val="0033CC"/>
              </a:solidFill>
              <a:latin typeface="Times New Roman" panose="02020603050405020304" pitchFamily="18" charset="0"/>
            </a:endParaRPr>
          </a:p>
        </p:txBody>
      </p:sp>
      <p:grpSp>
        <p:nvGrpSpPr>
          <p:cNvPr id="9" name="Group 8">
            <a:extLst>
              <a:ext uri="{FF2B5EF4-FFF2-40B4-BE49-F238E27FC236}">
                <a16:creationId xmlns:a16="http://schemas.microsoft.com/office/drawing/2014/main" id="{E0553790-F238-9B6B-AA0D-A4B51EEA3133}"/>
              </a:ext>
            </a:extLst>
          </p:cNvPr>
          <p:cNvGrpSpPr/>
          <p:nvPr/>
        </p:nvGrpSpPr>
        <p:grpSpPr>
          <a:xfrm>
            <a:off x="-140669" y="2540279"/>
            <a:ext cx="6444487" cy="2936848"/>
            <a:chOff x="-140669" y="2540279"/>
            <a:chExt cx="6444487" cy="2936848"/>
          </a:xfrm>
        </p:grpSpPr>
        <p:sp>
          <p:nvSpPr>
            <p:cNvPr id="7" name="TextBox 6">
              <a:extLst>
                <a:ext uri="{FF2B5EF4-FFF2-40B4-BE49-F238E27FC236}">
                  <a16:creationId xmlns:a16="http://schemas.microsoft.com/office/drawing/2014/main" id="{1628C1DC-7559-E211-D1F8-C21CBA65766E}"/>
                </a:ext>
              </a:extLst>
            </p:cNvPr>
            <p:cNvSpPr txBox="1"/>
            <p:nvPr/>
          </p:nvSpPr>
          <p:spPr>
            <a:xfrm>
              <a:off x="-140669" y="2540279"/>
              <a:ext cx="6444487" cy="523220"/>
            </a:xfrm>
            <a:prstGeom prst="rect">
              <a:avLst/>
            </a:prstGeom>
            <a:noFill/>
          </p:spPr>
          <p:txBody>
            <a:bodyPr wrap="square">
              <a:spAutoFit/>
            </a:bodyPr>
            <a:lstStyle/>
            <a:p>
              <a:pPr algn="ctr"/>
              <a:r>
                <a:rPr lang="el-GR" altLang="el-GR" sz="2800" b="1" dirty="0">
                  <a:solidFill>
                    <a:srgbClr val="C00000"/>
                  </a:solidFill>
                  <a:latin typeface="Times New Roman" panose="02020603050405020304" pitchFamily="18" charset="0"/>
                </a:rPr>
                <a:t>Λεκτική Περιγραφή (</a:t>
              </a:r>
              <a:r>
                <a:rPr lang="en-US" altLang="el-GR" sz="2800" b="1" dirty="0">
                  <a:solidFill>
                    <a:srgbClr val="C00000"/>
                  </a:solidFill>
                  <a:latin typeface="Times New Roman" panose="02020603050405020304" pitchFamily="18" charset="0"/>
                </a:rPr>
                <a:t>Add2Numbers</a:t>
              </a:r>
              <a:r>
                <a:rPr lang="el-GR" altLang="el-GR" sz="2800" b="1" dirty="0">
                  <a:solidFill>
                    <a:srgbClr val="C00000"/>
                  </a:solidFill>
                  <a:latin typeface="Times New Roman" panose="02020603050405020304" pitchFamily="18" charset="0"/>
                </a:rPr>
                <a:t>)</a:t>
              </a:r>
              <a:endParaRPr lang="en-GB" sz="2800" b="1" dirty="0">
                <a:solidFill>
                  <a:srgbClr val="C00000"/>
                </a:solidFill>
              </a:endParaRPr>
            </a:p>
          </p:txBody>
        </p:sp>
        <p:sp>
          <p:nvSpPr>
            <p:cNvPr id="6" name="TextBox 5">
              <a:extLst>
                <a:ext uri="{FF2B5EF4-FFF2-40B4-BE49-F238E27FC236}">
                  <a16:creationId xmlns:a16="http://schemas.microsoft.com/office/drawing/2014/main" id="{6A661C47-0CC7-9F2D-4003-C9F1187AA74D}"/>
                </a:ext>
              </a:extLst>
            </p:cNvPr>
            <p:cNvSpPr txBox="1"/>
            <p:nvPr/>
          </p:nvSpPr>
          <p:spPr>
            <a:xfrm>
              <a:off x="180106" y="3230358"/>
              <a:ext cx="5915891" cy="2246769"/>
            </a:xfrm>
            <a:prstGeom prst="rect">
              <a:avLst/>
            </a:prstGeom>
            <a:noFill/>
          </p:spPr>
          <p:txBody>
            <a:bodyPr wrap="square" rtlCol="0">
              <a:spAutoFit/>
            </a:bodyPr>
            <a:lstStyle/>
            <a:p>
              <a:r>
                <a:rPr lang="el-GR" altLang="el-GR" sz="2800" b="1" dirty="0"/>
                <a:t>1. Πάρε τον πρώτο αριθμό</a:t>
              </a:r>
            </a:p>
            <a:p>
              <a:r>
                <a:rPr lang="el-GR" altLang="el-GR" sz="2800" b="1" dirty="0"/>
                <a:t>2. Πάρε τον δεύτερο αριθμό</a:t>
              </a:r>
            </a:p>
            <a:p>
              <a:r>
                <a:rPr lang="el-GR" altLang="el-GR" sz="2800" b="1" dirty="0"/>
                <a:t>3. Πρόσθεσε τους δύο αριθμούς</a:t>
              </a:r>
            </a:p>
            <a:p>
              <a:r>
                <a:rPr lang="el-GR" altLang="el-GR" sz="2800" b="1" dirty="0"/>
                <a:t>4. Εμφάνισε το άθροισμα στην οθόνη</a:t>
              </a:r>
            </a:p>
            <a:p>
              <a:endParaRPr lang="en-GB" sz="2800" dirty="0"/>
            </a:p>
          </p:txBody>
        </p:sp>
      </p:grpSp>
      <p:sp>
        <p:nvSpPr>
          <p:cNvPr id="14" name="Θέση υποσέλιδου 4">
            <a:extLst>
              <a:ext uri="{FF2B5EF4-FFF2-40B4-BE49-F238E27FC236}">
                <a16:creationId xmlns:a16="http://schemas.microsoft.com/office/drawing/2014/main" id="{0BB2D8C1-65FC-92E5-480F-401815AFD749}"/>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sp>
        <p:nvSpPr>
          <p:cNvPr id="5" name="TextBox 4">
            <a:extLst>
              <a:ext uri="{FF2B5EF4-FFF2-40B4-BE49-F238E27FC236}">
                <a16:creationId xmlns:a16="http://schemas.microsoft.com/office/drawing/2014/main" id="{D12FD338-7D3F-206D-890F-2EEAE0F11593}"/>
              </a:ext>
            </a:extLst>
          </p:cNvPr>
          <p:cNvSpPr txBox="1"/>
          <p:nvPr/>
        </p:nvSpPr>
        <p:spPr>
          <a:xfrm>
            <a:off x="6580909" y="2531624"/>
            <a:ext cx="5430985" cy="2215991"/>
          </a:xfrm>
          <a:prstGeom prst="rect">
            <a:avLst/>
          </a:prstGeom>
          <a:noFill/>
        </p:spPr>
        <p:txBody>
          <a:bodyPr wrap="square" rtlCol="0">
            <a:spAutoFit/>
          </a:bodyPr>
          <a:lstStyle/>
          <a:p>
            <a:r>
              <a:rPr lang="el-GR" sz="2400" dirty="0">
                <a:latin typeface="Tahoma" panose="020B0604030504040204" pitchFamily="34" charset="0"/>
                <a:ea typeface="Tahoma" panose="020B0604030504040204" pitchFamily="34" charset="0"/>
                <a:cs typeface="Tahoma" panose="020B0604030504040204" pitchFamily="34" charset="0"/>
              </a:rPr>
              <a:t>Βασικές Διεργασίες που η μηχανή πρέπει να υποστηρίζει</a:t>
            </a:r>
          </a:p>
          <a:p>
            <a:pPr marL="285750" indent="-285750">
              <a:buFont typeface="Arial" panose="020B0604020202020204" pitchFamily="34" charset="0"/>
              <a:buChar char="•"/>
            </a:pPr>
            <a:r>
              <a:rPr lang="el-GR" dirty="0">
                <a:latin typeface="Tahoma" panose="020B0604030504040204" pitchFamily="34" charset="0"/>
                <a:ea typeface="Tahoma" panose="020B0604030504040204" pitchFamily="34" charset="0"/>
                <a:cs typeface="Tahoma" panose="020B0604030504040204" pitchFamily="34" charset="0"/>
              </a:rPr>
              <a:t>Διεργασία εισόδου αριθμού (</a:t>
            </a:r>
            <a:r>
              <a:rPr lang="en-US" dirty="0">
                <a:latin typeface="Tahoma" panose="020B0604030504040204" pitchFamily="34" charset="0"/>
                <a:ea typeface="Tahoma" panose="020B0604030504040204" pitchFamily="34" charset="0"/>
                <a:cs typeface="Tahoma" panose="020B0604030504040204" pitchFamily="34" charset="0"/>
              </a:rPr>
              <a:t>Input)</a:t>
            </a:r>
            <a:endParaRPr lang="el-GR" dirty="0">
              <a:latin typeface="Tahoma" panose="020B0604030504040204" pitchFamily="34" charset="0"/>
              <a:ea typeface="Tahoma" panose="020B0604030504040204" pitchFamily="34" charset="0"/>
              <a:cs typeface="Tahoma" panose="020B0604030504040204" pitchFamily="34" charset="0"/>
            </a:endParaRPr>
          </a:p>
          <a:p>
            <a:pPr marL="285750" indent="-285750">
              <a:buFont typeface="Arial" panose="020B0604020202020204" pitchFamily="34" charset="0"/>
              <a:buChar char="•"/>
            </a:pPr>
            <a:r>
              <a:rPr lang="el-GR" dirty="0">
                <a:latin typeface="Tahoma" panose="020B0604030504040204" pitchFamily="34" charset="0"/>
                <a:ea typeface="Tahoma" panose="020B0604030504040204" pitchFamily="34" charset="0"/>
                <a:cs typeface="Tahoma" panose="020B0604030504040204" pitchFamily="34" charset="0"/>
              </a:rPr>
              <a:t>Δυνατότητα αποθήκευσης αριθμού</a:t>
            </a:r>
            <a:r>
              <a:rPr lang="en-US" dirty="0">
                <a:latin typeface="Tahoma" panose="020B0604030504040204" pitchFamily="34" charset="0"/>
                <a:ea typeface="Tahoma" panose="020B0604030504040204" pitchFamily="34" charset="0"/>
                <a:cs typeface="Tahoma" panose="020B0604030504040204" pitchFamily="34" charset="0"/>
              </a:rPr>
              <a:t> (storage-memory)</a:t>
            </a:r>
          </a:p>
          <a:p>
            <a:pPr marL="285750" indent="-285750">
              <a:buFont typeface="Arial" panose="020B0604020202020204" pitchFamily="34" charset="0"/>
              <a:buChar char="•"/>
            </a:pPr>
            <a:r>
              <a:rPr lang="el-GR" dirty="0">
                <a:latin typeface="Tahoma" panose="020B0604030504040204" pitchFamily="34" charset="0"/>
                <a:ea typeface="Tahoma" panose="020B0604030504040204" pitchFamily="34" charset="0"/>
                <a:cs typeface="Tahoma" panose="020B0604030504040204" pitchFamily="34" charset="0"/>
              </a:rPr>
              <a:t>Διεργασία πρόσθεσης αριθμών</a:t>
            </a:r>
          </a:p>
          <a:p>
            <a:pPr marL="285750" indent="-285750">
              <a:buFont typeface="Arial" panose="020B0604020202020204" pitchFamily="34" charset="0"/>
              <a:buChar char="•"/>
            </a:pPr>
            <a:r>
              <a:rPr lang="el-GR" dirty="0">
                <a:latin typeface="Tahoma" panose="020B0604030504040204" pitchFamily="34" charset="0"/>
                <a:ea typeface="Tahoma" panose="020B0604030504040204" pitchFamily="34" charset="0"/>
                <a:cs typeface="Tahoma" panose="020B0604030504040204" pitchFamily="34" charset="0"/>
              </a:rPr>
              <a:t>Διεργασία εμφάνισης αριθμού στην οθόνη</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15" name="Content Placeholder 2">
            <a:extLst>
              <a:ext uri="{FF2B5EF4-FFF2-40B4-BE49-F238E27FC236}">
                <a16:creationId xmlns:a16="http://schemas.microsoft.com/office/drawing/2014/main" id="{F6C43C1D-3F9F-7958-D324-59A8B73C4761}"/>
              </a:ext>
            </a:extLst>
          </p:cNvPr>
          <p:cNvSpPr txBox="1">
            <a:spLocks/>
          </p:cNvSpPr>
          <p:nvPr/>
        </p:nvSpPr>
        <p:spPr bwMode="auto">
          <a:xfrm>
            <a:off x="6422644" y="5125393"/>
            <a:ext cx="5747514" cy="1369877"/>
          </a:xfrm>
          <a:prstGeom prst="rect">
            <a:avLst/>
          </a:prstGeom>
          <a:solidFill>
            <a:srgbClr val="92D050"/>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sz="2000" kern="0" dirty="0">
                <a:solidFill>
                  <a:srgbClr val="000000"/>
                </a:solidFill>
                <a:latin typeface="Tahoma"/>
              </a:rPr>
              <a:t>Η </a:t>
            </a:r>
            <a:r>
              <a:rPr lang="el-GR" sz="2000" b="1" kern="0" dirty="0">
                <a:solidFill>
                  <a:srgbClr val="000000"/>
                </a:solidFill>
                <a:latin typeface="Tahoma"/>
              </a:rPr>
              <a:t>σύνθεση</a:t>
            </a:r>
            <a:r>
              <a:rPr lang="el-GR" sz="2000" kern="0" dirty="0">
                <a:solidFill>
                  <a:srgbClr val="000000"/>
                </a:solidFill>
                <a:latin typeface="Tahoma"/>
              </a:rPr>
              <a:t> αυτών των διεργασιών είναι το πηγαίο πρόγραμμα το οποίο θα προκύψει με την μετατροπή της Λεκτικής περιγραφής σε πηγαίο κώδικα.</a:t>
            </a:r>
            <a:endParaRPr lang="el-GR" sz="2000" b="1" kern="0" dirty="0">
              <a:solidFill>
                <a:srgbClr val="000000"/>
              </a:solidFill>
              <a:latin typeface="Tahoma"/>
            </a:endParaRPr>
          </a:p>
        </p:txBody>
      </p:sp>
    </p:spTree>
    <p:extLst>
      <p:ext uri="{BB962C8B-B14F-4D97-AF65-F5344CB8AC3E}">
        <p14:creationId xmlns:p14="http://schemas.microsoft.com/office/powerpoint/2010/main" val="50111236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bg/>
                                          </p:spTgt>
                                        </p:tgtEl>
                                        <p:attrNameLst>
                                          <p:attrName>style.visibility</p:attrName>
                                        </p:attrNameLst>
                                      </p:cBhvr>
                                      <p:to>
                                        <p:strVal val="visible"/>
                                      </p:to>
                                    </p:set>
                                    <p:animEffect transition="in" filter="fade">
                                      <p:cBhvr>
                                        <p:cTn id="7" dur="500"/>
                                        <p:tgtEl>
                                          <p:spTgt spid="12">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xEl>
                                              <p:pRg st="0" end="0"/>
                                            </p:txEl>
                                          </p:spTgt>
                                        </p:tgtEl>
                                        <p:attrNameLst>
                                          <p:attrName>style.visibility</p:attrName>
                                        </p:attrNameLst>
                                      </p:cBhvr>
                                      <p:to>
                                        <p:strVal val="visible"/>
                                      </p:to>
                                    </p:set>
                                    <p:animEffect transition="in" filter="fade">
                                      <p:cBhvr>
                                        <p:cTn id="10" dur="500"/>
                                        <p:tgtEl>
                                          <p:spTgt spid="12">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5">
                                            <p:bg/>
                                          </p:spTgt>
                                        </p:tgtEl>
                                        <p:attrNameLst>
                                          <p:attrName>style.visibility</p:attrName>
                                        </p:attrNameLst>
                                      </p:cBhvr>
                                      <p:to>
                                        <p:strVal val="visible"/>
                                      </p:to>
                                    </p:set>
                                    <p:animEffect transition="in" filter="fade">
                                      <p:cBhvr>
                                        <p:cTn id="24" dur="500"/>
                                        <p:tgtEl>
                                          <p:spTgt spid="15">
                                            <p:bg/>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xEl>
                                              <p:pRg st="0" end="0"/>
                                            </p:txEl>
                                          </p:spTgt>
                                        </p:tgtEl>
                                        <p:attrNameLst>
                                          <p:attrName>style.visibility</p:attrName>
                                        </p:attrNameLst>
                                      </p:cBhvr>
                                      <p:to>
                                        <p:strVal val="visible"/>
                                      </p:to>
                                    </p:set>
                                    <p:animEffect transition="in" filter="fade">
                                      <p:cBhvr>
                                        <p:cTn id="27"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allAtOnce" animBg="1"/>
      <p:bldP spid="5" grpId="0"/>
      <p:bldP spid="15" grpId="0" build="allAtOnce"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D60FB-10C4-1223-B663-1C7BAA6CF7A0}"/>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57D587EE-2C9A-B306-1C3C-3B5A658AC805}"/>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5249D9D9-0108-A7D6-D175-6149C942D3B1}"/>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Μετατροπή Λεκτικής περιγραφής σε πηγαίο κώδικα</a:t>
            </a:r>
          </a:p>
        </p:txBody>
      </p:sp>
      <p:sp>
        <p:nvSpPr>
          <p:cNvPr id="8" name="Θέση υποσέλιδου 4">
            <a:extLst>
              <a:ext uri="{FF2B5EF4-FFF2-40B4-BE49-F238E27FC236}">
                <a16:creationId xmlns:a16="http://schemas.microsoft.com/office/drawing/2014/main" id="{DB76D7F2-87F2-554F-830D-49A07333CFB8}"/>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62769366-32B3-1F00-EC67-E40A4D97E677}"/>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8</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884B967C-025D-B415-E126-C1FA9E1CF933}"/>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4" name="Θέση υποσέλιδου 4">
            <a:extLst>
              <a:ext uri="{FF2B5EF4-FFF2-40B4-BE49-F238E27FC236}">
                <a16:creationId xmlns:a16="http://schemas.microsoft.com/office/drawing/2014/main" id="{41897C59-832A-60AC-59B9-2B13309BF0E5}"/>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sp>
        <p:nvSpPr>
          <p:cNvPr id="9" name="TextBox 8">
            <a:extLst>
              <a:ext uri="{FF2B5EF4-FFF2-40B4-BE49-F238E27FC236}">
                <a16:creationId xmlns:a16="http://schemas.microsoft.com/office/drawing/2014/main" id="{B2125907-098E-BC46-0702-A0C18EEED650}"/>
              </a:ext>
            </a:extLst>
          </p:cNvPr>
          <p:cNvSpPr txBox="1"/>
          <p:nvPr/>
        </p:nvSpPr>
        <p:spPr>
          <a:xfrm>
            <a:off x="140669" y="848607"/>
            <a:ext cx="11919161" cy="1569660"/>
          </a:xfrm>
          <a:prstGeom prst="rect">
            <a:avLst/>
          </a:prstGeom>
          <a:solidFill>
            <a:srgbClr val="92D050"/>
          </a:solidFill>
        </p:spPr>
        <p:txBody>
          <a:bodyPr wrap="square" rtlCol="0">
            <a:spAutoFit/>
          </a:bodyPr>
          <a:lstStyle/>
          <a:p>
            <a:pPr marL="457200" indent="-457200">
              <a:buClr>
                <a:srgbClr val="002060"/>
              </a:buClr>
              <a:buFont typeface="Wingdings" panose="05000000000000000000" pitchFamily="2" charset="2"/>
              <a:buChar char="§"/>
            </a:pPr>
            <a:r>
              <a:rPr lang="en-US" sz="3200" dirty="0">
                <a:latin typeface="Tahoma" panose="020B0604030504040204" pitchFamily="34" charset="0"/>
                <a:ea typeface="Tahoma" panose="020B0604030504040204" pitchFamily="34" charset="0"/>
                <a:cs typeface="Tahoma" panose="020B0604030504040204" pitchFamily="34" charset="0"/>
              </a:rPr>
              <a:t> </a:t>
            </a:r>
            <a:r>
              <a:rPr lang="el-GR" sz="3200" dirty="0">
                <a:latin typeface="Tahoma" panose="020B0604030504040204" pitchFamily="34" charset="0"/>
                <a:ea typeface="Tahoma" panose="020B0604030504040204" pitchFamily="34" charset="0"/>
                <a:cs typeface="Tahoma" panose="020B0604030504040204" pitchFamily="34" charset="0"/>
              </a:rPr>
              <a:t>Διεργασίες και Συναρτήσεις</a:t>
            </a:r>
            <a:endParaRPr lang="en-GB" sz="3200" dirty="0">
              <a:latin typeface="Tahoma" panose="020B0604030504040204" pitchFamily="34" charset="0"/>
              <a:ea typeface="Tahoma" panose="020B0604030504040204" pitchFamily="34" charset="0"/>
              <a:cs typeface="Tahoma" panose="020B0604030504040204" pitchFamily="34" charset="0"/>
            </a:endParaRPr>
          </a:p>
          <a:p>
            <a:pPr marL="457200" indent="-457200">
              <a:buClr>
                <a:srgbClr val="002060"/>
              </a:buClr>
              <a:buFont typeface="Wingdings" panose="05000000000000000000" pitchFamily="2" charset="2"/>
              <a:buChar char="§"/>
            </a:pPr>
            <a:r>
              <a:rPr lang="en-US" sz="3200" dirty="0">
                <a:latin typeface="Tahoma" panose="020B0604030504040204" pitchFamily="34" charset="0"/>
                <a:ea typeface="Tahoma" panose="020B0604030504040204" pitchFamily="34" charset="0"/>
                <a:cs typeface="Tahoma" panose="020B0604030504040204" pitchFamily="34" charset="0"/>
              </a:rPr>
              <a:t> </a:t>
            </a:r>
            <a:r>
              <a:rPr lang="el-GR" sz="3200" dirty="0">
                <a:latin typeface="Tahoma" panose="020B0604030504040204" pitchFamily="34" charset="0"/>
                <a:ea typeface="Tahoma" panose="020B0604030504040204" pitchFamily="34" charset="0"/>
                <a:cs typeface="Tahoma" panose="020B0604030504040204" pitchFamily="34" charset="0"/>
              </a:rPr>
              <a:t>Όνομα και σημασία συνάρτησης</a:t>
            </a:r>
          </a:p>
          <a:p>
            <a:pPr marL="457200" indent="-457200">
              <a:buClr>
                <a:srgbClr val="002060"/>
              </a:buClr>
              <a:buFont typeface="Wingdings" panose="05000000000000000000" pitchFamily="2" charset="2"/>
              <a:buChar char="§"/>
            </a:pPr>
            <a:r>
              <a:rPr lang="el-GR" sz="3200" dirty="0">
                <a:latin typeface="Tahoma" panose="020B0604030504040204" pitchFamily="34" charset="0"/>
                <a:ea typeface="Tahoma" panose="020B0604030504040204" pitchFamily="34" charset="0"/>
                <a:cs typeface="Tahoma" panose="020B0604030504040204" pitchFamily="34" charset="0"/>
              </a:rPr>
              <a:t> </a:t>
            </a:r>
            <a:r>
              <a:rPr lang="en-US" sz="3200" dirty="0">
                <a:latin typeface="Tahoma" panose="020B0604030504040204" pitchFamily="34" charset="0"/>
                <a:ea typeface="Tahoma" panose="020B0604030504040204" pitchFamily="34" charset="0"/>
                <a:cs typeface="Tahoma" panose="020B0604030504040204" pitchFamily="34" charset="0"/>
              </a:rPr>
              <a:t>H </a:t>
            </a:r>
            <a:r>
              <a:rPr lang="el-GR" sz="3200" dirty="0">
                <a:latin typeface="Tahoma" panose="020B0604030504040204" pitchFamily="34" charset="0"/>
                <a:ea typeface="Tahoma" panose="020B0604030504040204" pitchFamily="34" charset="0"/>
                <a:cs typeface="Tahoma" panose="020B0604030504040204" pitchFamily="34" charset="0"/>
              </a:rPr>
              <a:t>συνάρτηση </a:t>
            </a:r>
            <a:r>
              <a:rPr lang="en-US" sz="3200" dirty="0" err="1">
                <a:latin typeface="Tahoma" panose="020B0604030504040204" pitchFamily="34" charset="0"/>
                <a:ea typeface="Tahoma" panose="020B0604030504040204" pitchFamily="34" charset="0"/>
                <a:cs typeface="Tahoma" panose="020B0604030504040204" pitchFamily="34" charset="0"/>
              </a:rPr>
              <a:t>getInt</a:t>
            </a:r>
            <a:endParaRPr lang="en-GB" sz="3200" dirty="0">
              <a:latin typeface="Tahoma" panose="020B0604030504040204" pitchFamily="34" charset="0"/>
              <a:ea typeface="Tahoma" panose="020B0604030504040204" pitchFamily="34" charset="0"/>
              <a:cs typeface="Tahoma" panose="020B0604030504040204" pitchFamily="34" charset="0"/>
            </a:endParaRPr>
          </a:p>
        </p:txBody>
      </p:sp>
      <p:grpSp>
        <p:nvGrpSpPr>
          <p:cNvPr id="24" name="Group 23">
            <a:extLst>
              <a:ext uri="{FF2B5EF4-FFF2-40B4-BE49-F238E27FC236}">
                <a16:creationId xmlns:a16="http://schemas.microsoft.com/office/drawing/2014/main" id="{DF00261E-B264-77E5-7E90-F330D1758040}"/>
              </a:ext>
            </a:extLst>
          </p:cNvPr>
          <p:cNvGrpSpPr/>
          <p:nvPr/>
        </p:nvGrpSpPr>
        <p:grpSpPr>
          <a:xfrm>
            <a:off x="5747512" y="2973822"/>
            <a:ext cx="6444487" cy="1731470"/>
            <a:chOff x="5747512" y="2973822"/>
            <a:chExt cx="6444487" cy="1731470"/>
          </a:xfrm>
        </p:grpSpPr>
        <p:sp>
          <p:nvSpPr>
            <p:cNvPr id="16" name="Rectangle 15">
              <a:extLst>
                <a:ext uri="{FF2B5EF4-FFF2-40B4-BE49-F238E27FC236}">
                  <a16:creationId xmlns:a16="http://schemas.microsoft.com/office/drawing/2014/main" id="{EDB078BE-F8FC-EE50-D6FC-0CFAF9BC792F}"/>
                </a:ext>
              </a:extLst>
            </p:cNvPr>
            <p:cNvSpPr/>
            <p:nvPr/>
          </p:nvSpPr>
          <p:spPr>
            <a:xfrm>
              <a:off x="6122093" y="2973822"/>
              <a:ext cx="5937737" cy="17314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3">
              <a:extLst>
                <a:ext uri="{FF2B5EF4-FFF2-40B4-BE49-F238E27FC236}">
                  <a16:creationId xmlns:a16="http://schemas.microsoft.com/office/drawing/2014/main" id="{FBA5B4DF-0368-33E0-4DC7-EC407764B1E8}"/>
                </a:ext>
              </a:extLst>
            </p:cNvPr>
            <p:cNvSpPr txBox="1">
              <a:spLocks noChangeArrowheads="1"/>
            </p:cNvSpPr>
            <p:nvPr/>
          </p:nvSpPr>
          <p:spPr>
            <a:xfrm>
              <a:off x="6217204" y="3817893"/>
              <a:ext cx="5747513" cy="849412"/>
            </a:xfrm>
            <a:prstGeom prst="rect">
              <a:avLst/>
            </a:prstGeom>
            <a:solidFill>
              <a:srgbClr val="00B0F0"/>
            </a:solidFill>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AutoNum type="arabicPeriod"/>
              </a:pPr>
              <a:r>
                <a:rPr lang="en-US" altLang="el-GR" sz="3600" b="1"/>
                <a:t>getInt(“Enter 1</a:t>
              </a:r>
              <a:r>
                <a:rPr lang="en-US" altLang="el-GR" sz="3600" b="1" baseline="30000"/>
                <a:t>st</a:t>
              </a:r>
              <a:r>
                <a:rPr lang="en-US" altLang="el-GR" sz="3600" b="1"/>
                <a:t> integer:”);</a:t>
              </a:r>
            </a:p>
            <a:p>
              <a:pPr marL="514350" indent="-514350">
                <a:buAutoNum type="arabicPeriod"/>
              </a:pPr>
              <a:r>
                <a:rPr lang="en-US" altLang="el-GR" sz="3600" b="1"/>
                <a:t>…</a:t>
              </a:r>
              <a:endParaRPr lang="el-GR" altLang="el-GR" sz="3600" b="1" dirty="0"/>
            </a:p>
          </p:txBody>
        </p:sp>
        <p:sp>
          <p:nvSpPr>
            <p:cNvPr id="17" name="TextBox 16">
              <a:extLst>
                <a:ext uri="{FF2B5EF4-FFF2-40B4-BE49-F238E27FC236}">
                  <a16:creationId xmlns:a16="http://schemas.microsoft.com/office/drawing/2014/main" id="{6962F1D9-CD5A-EC0F-1E7D-FC1FC7AB3952}"/>
                </a:ext>
              </a:extLst>
            </p:cNvPr>
            <p:cNvSpPr txBox="1"/>
            <p:nvPr/>
          </p:nvSpPr>
          <p:spPr>
            <a:xfrm>
              <a:off x="5747512" y="3100894"/>
              <a:ext cx="6444487" cy="523220"/>
            </a:xfrm>
            <a:prstGeom prst="rect">
              <a:avLst/>
            </a:prstGeom>
            <a:noFill/>
          </p:spPr>
          <p:txBody>
            <a:bodyPr wrap="square">
              <a:spAutoFit/>
            </a:bodyPr>
            <a:lstStyle/>
            <a:p>
              <a:pPr algn="ctr"/>
              <a:r>
                <a:rPr lang="el-GR" altLang="el-GR" sz="2800" b="1" dirty="0">
                  <a:solidFill>
                    <a:srgbClr val="C00000"/>
                  </a:solidFill>
                  <a:latin typeface="Times New Roman" panose="02020603050405020304" pitchFamily="18" charset="0"/>
                </a:rPr>
                <a:t>Πηγαίος Κώδικας (</a:t>
              </a:r>
              <a:r>
                <a:rPr lang="en-US" altLang="el-GR" sz="2800" b="1" dirty="0">
                  <a:solidFill>
                    <a:srgbClr val="C00000"/>
                  </a:solidFill>
                  <a:latin typeface="Times New Roman" panose="02020603050405020304" pitchFamily="18" charset="0"/>
                </a:rPr>
                <a:t>Add2Numbers</a:t>
              </a:r>
              <a:r>
                <a:rPr lang="el-GR" altLang="el-GR" sz="2800" b="1" dirty="0">
                  <a:solidFill>
                    <a:srgbClr val="C00000"/>
                  </a:solidFill>
                  <a:latin typeface="Times New Roman" panose="02020603050405020304" pitchFamily="18" charset="0"/>
                </a:rPr>
                <a:t>)</a:t>
              </a:r>
              <a:endParaRPr lang="en-GB" sz="2800" b="1" dirty="0">
                <a:solidFill>
                  <a:srgbClr val="C00000"/>
                </a:solidFill>
              </a:endParaRPr>
            </a:p>
          </p:txBody>
        </p:sp>
      </p:grpSp>
      <p:grpSp>
        <p:nvGrpSpPr>
          <p:cNvPr id="23" name="Group 22">
            <a:extLst>
              <a:ext uri="{FF2B5EF4-FFF2-40B4-BE49-F238E27FC236}">
                <a16:creationId xmlns:a16="http://schemas.microsoft.com/office/drawing/2014/main" id="{91141639-0595-691F-A9C8-6ECAFE8BA712}"/>
              </a:ext>
            </a:extLst>
          </p:cNvPr>
          <p:cNvGrpSpPr/>
          <p:nvPr/>
        </p:nvGrpSpPr>
        <p:grpSpPr>
          <a:xfrm>
            <a:off x="-207818" y="2981393"/>
            <a:ext cx="6444487" cy="1731470"/>
            <a:chOff x="-207818" y="2981393"/>
            <a:chExt cx="6444487" cy="1731470"/>
          </a:xfrm>
        </p:grpSpPr>
        <p:sp>
          <p:nvSpPr>
            <p:cNvPr id="13" name="Rectangle 12">
              <a:extLst>
                <a:ext uri="{FF2B5EF4-FFF2-40B4-BE49-F238E27FC236}">
                  <a16:creationId xmlns:a16="http://schemas.microsoft.com/office/drawing/2014/main" id="{2782D3DB-0631-4DE2-2116-F3353872E794}"/>
                </a:ext>
              </a:extLst>
            </p:cNvPr>
            <p:cNvSpPr/>
            <p:nvPr/>
          </p:nvSpPr>
          <p:spPr>
            <a:xfrm>
              <a:off x="64286" y="2981393"/>
              <a:ext cx="5937737" cy="17314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6736D621-D239-641F-1733-78FB296FE63E}"/>
                </a:ext>
              </a:extLst>
            </p:cNvPr>
            <p:cNvSpPr txBox="1"/>
            <p:nvPr/>
          </p:nvSpPr>
          <p:spPr>
            <a:xfrm>
              <a:off x="-207818" y="3081484"/>
              <a:ext cx="6444487" cy="523220"/>
            </a:xfrm>
            <a:prstGeom prst="rect">
              <a:avLst/>
            </a:prstGeom>
            <a:noFill/>
          </p:spPr>
          <p:txBody>
            <a:bodyPr wrap="square">
              <a:spAutoFit/>
            </a:bodyPr>
            <a:lstStyle/>
            <a:p>
              <a:pPr algn="ctr"/>
              <a:r>
                <a:rPr lang="el-GR" altLang="el-GR" sz="2800" b="1" dirty="0">
                  <a:solidFill>
                    <a:srgbClr val="C00000"/>
                  </a:solidFill>
                  <a:latin typeface="Times New Roman" panose="02020603050405020304" pitchFamily="18" charset="0"/>
                </a:rPr>
                <a:t>Λεκτική Περιγραφή (</a:t>
              </a:r>
              <a:r>
                <a:rPr lang="en-US" altLang="el-GR" sz="2800" b="1" dirty="0">
                  <a:solidFill>
                    <a:srgbClr val="C00000"/>
                  </a:solidFill>
                  <a:latin typeface="Times New Roman" panose="02020603050405020304" pitchFamily="18" charset="0"/>
                </a:rPr>
                <a:t>Add2Numbers</a:t>
              </a:r>
              <a:r>
                <a:rPr lang="el-GR" altLang="el-GR" sz="2800" b="1" dirty="0">
                  <a:solidFill>
                    <a:srgbClr val="C00000"/>
                  </a:solidFill>
                  <a:latin typeface="Times New Roman" panose="02020603050405020304" pitchFamily="18" charset="0"/>
                </a:rPr>
                <a:t>)</a:t>
              </a:r>
              <a:endParaRPr lang="en-GB" sz="2800" b="1" dirty="0">
                <a:solidFill>
                  <a:srgbClr val="C00000"/>
                </a:solidFill>
              </a:endParaRPr>
            </a:p>
          </p:txBody>
        </p:sp>
        <p:sp>
          <p:nvSpPr>
            <p:cNvPr id="4" name="Rectangle 3">
              <a:extLst>
                <a:ext uri="{FF2B5EF4-FFF2-40B4-BE49-F238E27FC236}">
                  <a16:creationId xmlns:a16="http://schemas.microsoft.com/office/drawing/2014/main" id="{9A340FC7-79FE-3C6C-4A82-307BE5B7C011}"/>
                </a:ext>
              </a:extLst>
            </p:cNvPr>
            <p:cNvSpPr txBox="1">
              <a:spLocks noChangeArrowheads="1"/>
            </p:cNvSpPr>
            <p:nvPr/>
          </p:nvSpPr>
          <p:spPr>
            <a:xfrm>
              <a:off x="180930" y="3720587"/>
              <a:ext cx="5747513" cy="849412"/>
            </a:xfrm>
            <a:prstGeom prst="rect">
              <a:avLst/>
            </a:prstGeom>
            <a:solidFill>
              <a:srgbClr val="00B0F0"/>
            </a:solidFill>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AutoNum type="arabicPeriod"/>
              </a:pPr>
              <a:r>
                <a:rPr lang="el-GR" altLang="el-GR" sz="3600" b="1" dirty="0"/>
                <a:t>Πάρε τον πρώτο αριθμό</a:t>
              </a:r>
              <a:endParaRPr lang="en-US" altLang="el-GR" sz="3600" b="1" dirty="0"/>
            </a:p>
            <a:p>
              <a:pPr marL="514350" indent="-514350">
                <a:buAutoNum type="arabicPeriod"/>
              </a:pPr>
              <a:r>
                <a:rPr lang="en-US" altLang="el-GR" sz="3600" b="1" dirty="0"/>
                <a:t>…</a:t>
              </a:r>
              <a:endParaRPr lang="el-GR" altLang="el-GR" sz="3600" b="1" dirty="0"/>
            </a:p>
          </p:txBody>
        </p:sp>
      </p:grpSp>
    </p:spTree>
    <p:extLst>
      <p:ext uri="{BB962C8B-B14F-4D97-AF65-F5344CB8AC3E}">
        <p14:creationId xmlns:p14="http://schemas.microsoft.com/office/powerpoint/2010/main" val="344060617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B010A-32CB-5960-44ED-C6549EF0AAF2}"/>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259486EA-8F33-8C21-AE4E-04D1AEAD6FF3}"/>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00FB47DC-DA1B-95B2-ED2B-42155F399717}"/>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Συνάρτηση, κλήση συνάρτησης και ορίσματα </a:t>
            </a:r>
          </a:p>
        </p:txBody>
      </p:sp>
      <p:sp>
        <p:nvSpPr>
          <p:cNvPr id="8" name="Θέση υποσέλιδου 4">
            <a:extLst>
              <a:ext uri="{FF2B5EF4-FFF2-40B4-BE49-F238E27FC236}">
                <a16:creationId xmlns:a16="http://schemas.microsoft.com/office/drawing/2014/main" id="{B9E3F2B2-DB04-A657-DCB7-9916B5F368DF}"/>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C40E998D-F854-10B7-56CD-22F8FCDD3260}"/>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9</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F9B1CA10-5A32-D6B1-5ADE-C4CE791A7397}"/>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4" name="Θέση υποσέλιδου 4">
            <a:extLst>
              <a:ext uri="{FF2B5EF4-FFF2-40B4-BE49-F238E27FC236}">
                <a16:creationId xmlns:a16="http://schemas.microsoft.com/office/drawing/2014/main" id="{5984FF08-67DC-0822-5475-73F072F386C6}"/>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grpSp>
        <p:nvGrpSpPr>
          <p:cNvPr id="20" name="Group 19">
            <a:extLst>
              <a:ext uri="{FF2B5EF4-FFF2-40B4-BE49-F238E27FC236}">
                <a16:creationId xmlns:a16="http://schemas.microsoft.com/office/drawing/2014/main" id="{F72A232C-4E72-10C5-8DE4-020CDC82BA2D}"/>
              </a:ext>
            </a:extLst>
          </p:cNvPr>
          <p:cNvGrpSpPr/>
          <p:nvPr/>
        </p:nvGrpSpPr>
        <p:grpSpPr>
          <a:xfrm>
            <a:off x="140669" y="4239704"/>
            <a:ext cx="6444487" cy="1731470"/>
            <a:chOff x="5981424" y="2429518"/>
            <a:chExt cx="6444487" cy="1731470"/>
          </a:xfrm>
        </p:grpSpPr>
        <p:sp>
          <p:nvSpPr>
            <p:cNvPr id="16" name="Rectangle 15">
              <a:extLst>
                <a:ext uri="{FF2B5EF4-FFF2-40B4-BE49-F238E27FC236}">
                  <a16:creationId xmlns:a16="http://schemas.microsoft.com/office/drawing/2014/main" id="{26A71095-74A5-70E0-4FA9-4433AA9B4FD6}"/>
                </a:ext>
              </a:extLst>
            </p:cNvPr>
            <p:cNvSpPr/>
            <p:nvPr/>
          </p:nvSpPr>
          <p:spPr>
            <a:xfrm>
              <a:off x="6169520" y="2429518"/>
              <a:ext cx="5937737" cy="17314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7B505AEB-0CC5-02FD-7A2E-AE15980641E4}"/>
                </a:ext>
              </a:extLst>
            </p:cNvPr>
            <p:cNvSpPr txBox="1"/>
            <p:nvPr/>
          </p:nvSpPr>
          <p:spPr>
            <a:xfrm>
              <a:off x="5981424" y="2520443"/>
              <a:ext cx="6444487" cy="523220"/>
            </a:xfrm>
            <a:prstGeom prst="rect">
              <a:avLst/>
            </a:prstGeom>
            <a:noFill/>
          </p:spPr>
          <p:txBody>
            <a:bodyPr wrap="square">
              <a:spAutoFit/>
            </a:bodyPr>
            <a:lstStyle/>
            <a:p>
              <a:pPr algn="ctr"/>
              <a:r>
                <a:rPr lang="el-GR" altLang="el-GR" sz="2800" b="1" dirty="0">
                  <a:solidFill>
                    <a:srgbClr val="C00000"/>
                  </a:solidFill>
                  <a:latin typeface="Times New Roman" panose="02020603050405020304" pitchFamily="18" charset="0"/>
                </a:rPr>
                <a:t>Πηγαίος Κώδικας (</a:t>
              </a:r>
              <a:r>
                <a:rPr lang="en-US" altLang="el-GR" sz="2800" b="1" dirty="0">
                  <a:solidFill>
                    <a:srgbClr val="C00000"/>
                  </a:solidFill>
                  <a:latin typeface="Times New Roman" panose="02020603050405020304" pitchFamily="18" charset="0"/>
                </a:rPr>
                <a:t>Add2Numbers</a:t>
              </a:r>
              <a:r>
                <a:rPr lang="el-GR" altLang="el-GR" sz="2800" b="1" dirty="0">
                  <a:solidFill>
                    <a:srgbClr val="C00000"/>
                  </a:solidFill>
                  <a:latin typeface="Times New Roman" panose="02020603050405020304" pitchFamily="18" charset="0"/>
                </a:rPr>
                <a:t>)</a:t>
              </a:r>
              <a:endParaRPr lang="en-GB" sz="2800" b="1" dirty="0">
                <a:solidFill>
                  <a:srgbClr val="C00000"/>
                </a:solidFill>
              </a:endParaRPr>
            </a:p>
          </p:txBody>
        </p:sp>
        <p:sp>
          <p:nvSpPr>
            <p:cNvPr id="18" name="TextBox 17">
              <a:extLst>
                <a:ext uri="{FF2B5EF4-FFF2-40B4-BE49-F238E27FC236}">
                  <a16:creationId xmlns:a16="http://schemas.microsoft.com/office/drawing/2014/main" id="{33D15080-85D5-773B-2881-B68DDC014916}"/>
                </a:ext>
              </a:extLst>
            </p:cNvPr>
            <p:cNvSpPr txBox="1"/>
            <p:nvPr/>
          </p:nvSpPr>
          <p:spPr>
            <a:xfrm>
              <a:off x="6316054" y="3206881"/>
              <a:ext cx="5403275" cy="954107"/>
            </a:xfrm>
            <a:prstGeom prst="rect">
              <a:avLst/>
            </a:prstGeom>
            <a:noFill/>
          </p:spPr>
          <p:txBody>
            <a:bodyPr wrap="square" rtlCol="0">
              <a:spAutoFit/>
            </a:bodyPr>
            <a:lstStyle/>
            <a:p>
              <a:pPr marL="514350" indent="-514350">
                <a:buAutoNum type="arabicPeriod"/>
              </a:pPr>
              <a:r>
                <a:rPr lang="en-US" altLang="el-GR" sz="2800" b="1" dirty="0" err="1"/>
                <a:t>getInt</a:t>
              </a:r>
              <a:r>
                <a:rPr lang="en-US" altLang="el-GR" sz="2800" b="1" dirty="0"/>
                <a:t>(“Enter 1</a:t>
              </a:r>
              <a:r>
                <a:rPr lang="en-US" altLang="el-GR" sz="2800" b="1" baseline="30000" dirty="0"/>
                <a:t>st</a:t>
              </a:r>
              <a:r>
                <a:rPr lang="en-US" altLang="el-GR" sz="2800" b="1" dirty="0"/>
                <a:t> integer:”);</a:t>
              </a:r>
            </a:p>
            <a:p>
              <a:pPr marL="514350" indent="-514350">
                <a:buAutoNum type="arabicPeriod"/>
              </a:pPr>
              <a:r>
                <a:rPr lang="en-US" altLang="el-GR" sz="2800" b="1" dirty="0"/>
                <a:t>…</a:t>
              </a:r>
              <a:endParaRPr lang="el-GR" altLang="el-GR" sz="2800" b="1" dirty="0"/>
            </a:p>
          </p:txBody>
        </p:sp>
      </p:grpSp>
      <p:sp>
        <p:nvSpPr>
          <p:cNvPr id="19" name="Content Placeholder 2">
            <a:extLst>
              <a:ext uri="{FF2B5EF4-FFF2-40B4-BE49-F238E27FC236}">
                <a16:creationId xmlns:a16="http://schemas.microsoft.com/office/drawing/2014/main" id="{EFA2F665-916B-1DEE-E7FB-4DB414B04AC4}"/>
              </a:ext>
            </a:extLst>
          </p:cNvPr>
          <p:cNvSpPr txBox="1">
            <a:spLocks/>
          </p:cNvSpPr>
          <p:nvPr/>
        </p:nvSpPr>
        <p:spPr bwMode="auto">
          <a:xfrm>
            <a:off x="84743" y="848607"/>
            <a:ext cx="11966588" cy="2847405"/>
          </a:xfrm>
          <a:prstGeom prst="rect">
            <a:avLst/>
          </a:prstGeom>
          <a:solidFill>
            <a:srgbClr val="92D050"/>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sz="2000" b="1" kern="0" dirty="0">
                <a:solidFill>
                  <a:srgbClr val="000000"/>
                </a:solidFill>
                <a:latin typeface="Tahoma"/>
              </a:rPr>
              <a:t>Η συνάρτηση (</a:t>
            </a:r>
            <a:r>
              <a:rPr lang="el-GR" sz="2000" b="1" kern="0" dirty="0" err="1">
                <a:solidFill>
                  <a:srgbClr val="000000"/>
                </a:solidFill>
                <a:latin typeface="Tahoma"/>
              </a:rPr>
              <a:t>function</a:t>
            </a:r>
            <a:r>
              <a:rPr lang="el-GR" sz="2000" b="1" kern="0" dirty="0">
                <a:solidFill>
                  <a:srgbClr val="000000"/>
                </a:solidFill>
                <a:latin typeface="Tahoma"/>
              </a:rPr>
              <a:t>) είναι </a:t>
            </a:r>
            <a:r>
              <a:rPr lang="el-GR" sz="2000" kern="0" dirty="0">
                <a:solidFill>
                  <a:srgbClr val="000000"/>
                </a:solidFill>
                <a:latin typeface="Tahoma"/>
              </a:rPr>
              <a:t>μια κατασκευή της γλώσσας προγραμματισμού που επιτρέπει στον προγραμματιστή να περιγράψει τις ενέργειες που πρέπει να κάνει η μηχανή για να εκτελέσει επιτυχώς μια συγκεκριμένη διεργασία. </a:t>
            </a:r>
          </a:p>
          <a:p>
            <a:pPr marL="0" indent="0">
              <a:buClr>
                <a:srgbClr val="3333CC"/>
              </a:buClr>
              <a:buNone/>
              <a:defRPr/>
            </a:pPr>
            <a:endParaRPr lang="el-GR" sz="2000" kern="0" dirty="0">
              <a:solidFill>
                <a:srgbClr val="000000"/>
              </a:solidFill>
              <a:latin typeface="Tahoma"/>
            </a:endParaRPr>
          </a:p>
          <a:p>
            <a:pPr marL="0" indent="0">
              <a:buClr>
                <a:srgbClr val="3333CC"/>
              </a:buClr>
              <a:buNone/>
              <a:defRPr/>
            </a:pPr>
            <a:r>
              <a:rPr lang="el-GR" sz="2000" b="1" kern="0" dirty="0">
                <a:solidFill>
                  <a:srgbClr val="000000"/>
                </a:solidFill>
                <a:latin typeface="Tahoma"/>
              </a:rPr>
              <a:t>Η συνάρτηση </a:t>
            </a:r>
            <a:r>
              <a:rPr lang="el-GR" sz="2000" b="1" kern="0" dirty="0" err="1">
                <a:solidFill>
                  <a:srgbClr val="000000"/>
                </a:solidFill>
                <a:latin typeface="Tahoma"/>
              </a:rPr>
              <a:t>getInt</a:t>
            </a:r>
            <a:r>
              <a:rPr lang="el-GR" sz="2000" b="1" kern="0" dirty="0">
                <a:solidFill>
                  <a:srgbClr val="000000"/>
                </a:solidFill>
                <a:latin typeface="Tahoma"/>
              </a:rPr>
              <a:t> </a:t>
            </a:r>
            <a:r>
              <a:rPr lang="el-GR" sz="2000" kern="0" dirty="0">
                <a:solidFill>
                  <a:srgbClr val="000000"/>
                </a:solidFill>
                <a:latin typeface="Tahoma"/>
              </a:rPr>
              <a:t>περιγράφει τις ενέργειες που πρέπει να κάνει η μηχανή για να διαβάσει από το πληκτρολόγιο έναν αριθμό που θα πληκτρολογήσει ο χρήστης. </a:t>
            </a:r>
            <a:endParaRPr lang="en-US" sz="2000" kern="0" dirty="0">
              <a:solidFill>
                <a:srgbClr val="000000"/>
              </a:solidFill>
              <a:latin typeface="Tahoma"/>
            </a:endParaRPr>
          </a:p>
          <a:p>
            <a:pPr marL="0" indent="0">
              <a:buClr>
                <a:srgbClr val="3333CC"/>
              </a:buClr>
              <a:buNone/>
              <a:defRPr/>
            </a:pPr>
            <a:endParaRPr lang="el-GR" sz="2000" b="1" kern="0" dirty="0">
              <a:solidFill>
                <a:srgbClr val="000000"/>
              </a:solidFill>
              <a:latin typeface="Tahoma"/>
            </a:endParaRPr>
          </a:p>
          <a:p>
            <a:pPr marL="0" indent="0">
              <a:buClr>
                <a:srgbClr val="3333CC"/>
              </a:buClr>
              <a:buNone/>
              <a:defRPr/>
            </a:pPr>
            <a:r>
              <a:rPr lang="el-GR" sz="2000" b="1" kern="0" dirty="0">
                <a:solidFill>
                  <a:srgbClr val="000000"/>
                </a:solidFill>
                <a:latin typeface="Tahoma"/>
              </a:rPr>
              <a:t>Ποιες είναι οι ενέργειες αυτές;</a:t>
            </a:r>
          </a:p>
          <a:p>
            <a:pPr marL="0" indent="0">
              <a:buClr>
                <a:srgbClr val="3333CC"/>
              </a:buClr>
              <a:buNone/>
              <a:defRPr/>
            </a:pPr>
            <a:endParaRPr lang="el-GR" sz="2000" kern="0" dirty="0">
              <a:solidFill>
                <a:srgbClr val="000000"/>
              </a:solidFill>
              <a:latin typeface="Tahoma"/>
            </a:endParaRPr>
          </a:p>
        </p:txBody>
      </p:sp>
      <p:sp>
        <p:nvSpPr>
          <p:cNvPr id="21" name="Callout: Bent Line 20">
            <a:extLst>
              <a:ext uri="{FF2B5EF4-FFF2-40B4-BE49-F238E27FC236}">
                <a16:creationId xmlns:a16="http://schemas.microsoft.com/office/drawing/2014/main" id="{E2A98E46-BB7B-DAEA-BA98-89059F31FBFF}"/>
              </a:ext>
            </a:extLst>
          </p:cNvPr>
          <p:cNvSpPr/>
          <p:nvPr/>
        </p:nvSpPr>
        <p:spPr>
          <a:xfrm>
            <a:off x="7273636" y="3978094"/>
            <a:ext cx="3699164" cy="523220"/>
          </a:xfrm>
          <a:prstGeom prst="borderCallout2">
            <a:avLst>
              <a:gd name="adj1" fmla="val 37286"/>
              <a:gd name="adj2" fmla="val 656"/>
              <a:gd name="adj3" fmla="val 18750"/>
              <a:gd name="adj4" fmla="val -16667"/>
              <a:gd name="adj5" fmla="val 215769"/>
              <a:gd name="adj6" fmla="val -145169"/>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000" b="1" dirty="0"/>
              <a:t>Κλήση</a:t>
            </a:r>
            <a:r>
              <a:rPr lang="el-GR" sz="2000" dirty="0"/>
              <a:t> της συνάρτησης </a:t>
            </a:r>
            <a:r>
              <a:rPr lang="en-US" sz="2000" dirty="0" err="1"/>
              <a:t>getInt</a:t>
            </a:r>
            <a:endParaRPr lang="en-GB" sz="2000" dirty="0"/>
          </a:p>
        </p:txBody>
      </p:sp>
      <p:sp>
        <p:nvSpPr>
          <p:cNvPr id="22" name="Callout: Bent Line 21">
            <a:extLst>
              <a:ext uri="{FF2B5EF4-FFF2-40B4-BE49-F238E27FC236}">
                <a16:creationId xmlns:a16="http://schemas.microsoft.com/office/drawing/2014/main" id="{CB2E1140-C80B-FFE9-3948-A55EB2406D8B}"/>
              </a:ext>
            </a:extLst>
          </p:cNvPr>
          <p:cNvSpPr/>
          <p:nvPr/>
        </p:nvSpPr>
        <p:spPr>
          <a:xfrm>
            <a:off x="7273636" y="5405748"/>
            <a:ext cx="3699164" cy="954107"/>
          </a:xfrm>
          <a:prstGeom prst="borderCallout2">
            <a:avLst>
              <a:gd name="adj1" fmla="val 37286"/>
              <a:gd name="adj2" fmla="val 656"/>
              <a:gd name="adj3" fmla="val 74357"/>
              <a:gd name="adj4" fmla="val -54869"/>
              <a:gd name="adj5" fmla="val 11109"/>
              <a:gd name="adj6" fmla="val -105843"/>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000" b="1" dirty="0"/>
              <a:t>Όρισμα </a:t>
            </a:r>
            <a:r>
              <a:rPr lang="el-GR" sz="2000" dirty="0"/>
              <a:t>συνάρτησης.</a:t>
            </a:r>
          </a:p>
          <a:p>
            <a:pPr algn="ctr"/>
            <a:r>
              <a:rPr lang="el-GR" sz="2000" dirty="0"/>
              <a:t>Κάνει τη συνάρτηση </a:t>
            </a:r>
            <a:r>
              <a:rPr lang="el-GR" sz="2000" b="1" dirty="0"/>
              <a:t>επαναχρησιμοποιήσιμη</a:t>
            </a:r>
            <a:endParaRPr lang="en-GB" sz="2000" b="1" dirty="0"/>
          </a:p>
        </p:txBody>
      </p:sp>
      <p:cxnSp>
        <p:nvCxnSpPr>
          <p:cNvPr id="25" name="Straight Connector 24">
            <a:extLst>
              <a:ext uri="{FF2B5EF4-FFF2-40B4-BE49-F238E27FC236}">
                <a16:creationId xmlns:a16="http://schemas.microsoft.com/office/drawing/2014/main" id="{0EF410CC-CC8C-97E3-23FB-817398F4B3F3}"/>
              </a:ext>
            </a:extLst>
          </p:cNvPr>
          <p:cNvCxnSpPr/>
          <p:nvPr/>
        </p:nvCxnSpPr>
        <p:spPr>
          <a:xfrm>
            <a:off x="2092036" y="5502730"/>
            <a:ext cx="2715491"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03469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bg/>
                                          </p:spTgt>
                                        </p:tgtEl>
                                        <p:attrNameLst>
                                          <p:attrName>style.visibility</p:attrName>
                                        </p:attrNameLst>
                                      </p:cBhvr>
                                      <p:to>
                                        <p:strVal val="visible"/>
                                      </p:to>
                                    </p:set>
                                    <p:animEffect transition="in" filter="fade">
                                      <p:cBhvr>
                                        <p:cTn id="7" dur="500"/>
                                        <p:tgtEl>
                                          <p:spTgt spid="19">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xEl>
                                              <p:pRg st="0" end="0"/>
                                            </p:txEl>
                                          </p:spTgt>
                                        </p:tgtEl>
                                        <p:attrNameLst>
                                          <p:attrName>style.visibility</p:attrName>
                                        </p:attrNameLst>
                                      </p:cBhvr>
                                      <p:to>
                                        <p:strVal val="visible"/>
                                      </p:to>
                                    </p:set>
                                    <p:animEffect transition="in" filter="fade">
                                      <p:cBhvr>
                                        <p:cTn id="10" dur="500"/>
                                        <p:tgtEl>
                                          <p:spTgt spid="19">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xEl>
                                              <p:pRg st="2" end="2"/>
                                            </p:txEl>
                                          </p:spTgt>
                                        </p:tgtEl>
                                        <p:attrNameLst>
                                          <p:attrName>style.visibility</p:attrName>
                                        </p:attrNameLst>
                                      </p:cBhvr>
                                      <p:to>
                                        <p:strVal val="visible"/>
                                      </p:to>
                                    </p:set>
                                    <p:animEffect transition="in" filter="fade">
                                      <p:cBhvr>
                                        <p:cTn id="13" dur="500"/>
                                        <p:tgtEl>
                                          <p:spTgt spid="19">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9">
                                            <p:txEl>
                                              <p:pRg st="4" end="4"/>
                                            </p:txEl>
                                          </p:spTgt>
                                        </p:tgtEl>
                                        <p:attrNameLst>
                                          <p:attrName>style.visibility</p:attrName>
                                        </p:attrNameLst>
                                      </p:cBhvr>
                                      <p:to>
                                        <p:strVal val="visible"/>
                                      </p:to>
                                    </p:set>
                                    <p:animEffect transition="in" filter="fade">
                                      <p:cBhvr>
                                        <p:cTn id="16" dur="500"/>
                                        <p:tgtEl>
                                          <p:spTgt spid="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uild="allAtOnce"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1C59F-5D3A-0FF4-169E-71806B5B83BF}"/>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25882487-EE3B-56D6-93A7-C8461B384F0A}"/>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FD5BF04D-A359-379E-B87D-3203C2224597}"/>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Μεταβλητή</a:t>
            </a:r>
          </a:p>
        </p:txBody>
      </p:sp>
      <p:sp>
        <p:nvSpPr>
          <p:cNvPr id="8" name="Θέση υποσέλιδου 4">
            <a:extLst>
              <a:ext uri="{FF2B5EF4-FFF2-40B4-BE49-F238E27FC236}">
                <a16:creationId xmlns:a16="http://schemas.microsoft.com/office/drawing/2014/main" id="{BA8BA865-72E8-E2B8-6886-27539840DBDF}"/>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CB077C2D-DC7A-1754-45D9-6AAC36D4E34F}"/>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10</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EBAE4AC2-2ACC-EE2E-E646-E935CC82E5E5}"/>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4" name="Θέση υποσέλιδου 4">
            <a:extLst>
              <a:ext uri="{FF2B5EF4-FFF2-40B4-BE49-F238E27FC236}">
                <a16:creationId xmlns:a16="http://schemas.microsoft.com/office/drawing/2014/main" id="{7CF7F452-31E6-B56B-55B7-00FD70BEDE42}"/>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sp>
        <p:nvSpPr>
          <p:cNvPr id="9" name="TextBox 8">
            <a:extLst>
              <a:ext uri="{FF2B5EF4-FFF2-40B4-BE49-F238E27FC236}">
                <a16:creationId xmlns:a16="http://schemas.microsoft.com/office/drawing/2014/main" id="{C7CE02A1-0B7C-6DE0-13E8-CD82D6A2E020}"/>
              </a:ext>
            </a:extLst>
          </p:cNvPr>
          <p:cNvSpPr txBox="1"/>
          <p:nvPr/>
        </p:nvSpPr>
        <p:spPr>
          <a:xfrm>
            <a:off x="140669" y="848607"/>
            <a:ext cx="11919161" cy="954107"/>
          </a:xfrm>
          <a:prstGeom prst="rect">
            <a:avLst/>
          </a:prstGeom>
          <a:noFill/>
        </p:spPr>
        <p:txBody>
          <a:bodyPr wrap="square" rtlCol="0">
            <a:spAutoFit/>
          </a:bodyPr>
          <a:lstStyle/>
          <a:p>
            <a:pPr marL="285750" indent="-285750">
              <a:buFont typeface="Wingdings" panose="05000000000000000000" pitchFamily="2" charset="2"/>
              <a:buChar char="Ø"/>
            </a:pPr>
            <a:r>
              <a:rPr lang="en-US" sz="2800" dirty="0">
                <a:latin typeface="Tahoma" panose="020B0604030504040204" pitchFamily="34" charset="0"/>
                <a:ea typeface="Tahoma" panose="020B0604030504040204" pitchFamily="34" charset="0"/>
                <a:cs typeface="Tahoma" panose="020B0604030504040204" pitchFamily="34" charset="0"/>
              </a:rPr>
              <a:t> </a:t>
            </a:r>
            <a:r>
              <a:rPr lang="el-GR" sz="2800" dirty="0">
                <a:latin typeface="Tahoma" panose="020B0604030504040204" pitchFamily="34" charset="0"/>
                <a:ea typeface="Tahoma" panose="020B0604030504040204" pitchFamily="34" charset="0"/>
                <a:cs typeface="Tahoma" panose="020B0604030504040204" pitchFamily="34" charset="0"/>
              </a:rPr>
              <a:t>Μνήμη υπολογιστή – Διεύθυνση θέσεων μνήμης</a:t>
            </a:r>
            <a:endParaRPr lang="en-GB" sz="2800" dirty="0">
              <a:latin typeface="Tahoma" panose="020B0604030504040204" pitchFamily="34" charset="0"/>
              <a:ea typeface="Tahoma" panose="020B0604030504040204" pitchFamily="34" charset="0"/>
              <a:cs typeface="Tahoma" panose="020B0604030504040204" pitchFamily="34" charset="0"/>
            </a:endParaRPr>
          </a:p>
          <a:p>
            <a:pPr marL="285750" indent="-285750">
              <a:buFont typeface="Wingdings" panose="05000000000000000000" pitchFamily="2" charset="2"/>
              <a:buChar char="Ø"/>
            </a:pPr>
            <a:r>
              <a:rPr lang="en-US" sz="2800" dirty="0">
                <a:latin typeface="Tahoma" panose="020B0604030504040204" pitchFamily="34" charset="0"/>
                <a:ea typeface="Tahoma" panose="020B0604030504040204" pitchFamily="34" charset="0"/>
                <a:cs typeface="Tahoma" panose="020B0604030504040204" pitchFamily="34" charset="0"/>
              </a:rPr>
              <a:t> </a:t>
            </a:r>
            <a:r>
              <a:rPr lang="el-GR" sz="2800" dirty="0">
                <a:latin typeface="Tahoma" panose="020B0604030504040204" pitchFamily="34" charset="0"/>
                <a:ea typeface="Tahoma" panose="020B0604030504040204" pitchFamily="34" charset="0"/>
                <a:cs typeface="Tahoma" panose="020B0604030504040204" pitchFamily="34" charset="0"/>
              </a:rPr>
              <a:t>Μεταβλητή</a:t>
            </a:r>
          </a:p>
        </p:txBody>
      </p:sp>
      <p:grpSp>
        <p:nvGrpSpPr>
          <p:cNvPr id="4" name="Group 3">
            <a:extLst>
              <a:ext uri="{FF2B5EF4-FFF2-40B4-BE49-F238E27FC236}">
                <a16:creationId xmlns:a16="http://schemas.microsoft.com/office/drawing/2014/main" id="{7E9F88E7-8D9E-DF5E-797B-550202A6C1E7}"/>
              </a:ext>
            </a:extLst>
          </p:cNvPr>
          <p:cNvGrpSpPr/>
          <p:nvPr/>
        </p:nvGrpSpPr>
        <p:grpSpPr>
          <a:xfrm>
            <a:off x="2450130" y="4610790"/>
            <a:ext cx="6444487" cy="1731470"/>
            <a:chOff x="5747512" y="2973822"/>
            <a:chExt cx="6444487" cy="1731470"/>
          </a:xfrm>
        </p:grpSpPr>
        <p:sp>
          <p:nvSpPr>
            <p:cNvPr id="16" name="Rectangle 15">
              <a:extLst>
                <a:ext uri="{FF2B5EF4-FFF2-40B4-BE49-F238E27FC236}">
                  <a16:creationId xmlns:a16="http://schemas.microsoft.com/office/drawing/2014/main" id="{7D742CFD-A8B4-28A6-3E40-13BB226D6C28}"/>
                </a:ext>
              </a:extLst>
            </p:cNvPr>
            <p:cNvSpPr/>
            <p:nvPr/>
          </p:nvSpPr>
          <p:spPr>
            <a:xfrm>
              <a:off x="5923375" y="2973822"/>
              <a:ext cx="6136456" cy="17314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D434F3A1-5E32-B1D9-E873-FFD8E0F233AC}"/>
                </a:ext>
              </a:extLst>
            </p:cNvPr>
            <p:cNvSpPr txBox="1"/>
            <p:nvPr/>
          </p:nvSpPr>
          <p:spPr>
            <a:xfrm>
              <a:off x="5747512" y="3100894"/>
              <a:ext cx="6444487" cy="523220"/>
            </a:xfrm>
            <a:prstGeom prst="rect">
              <a:avLst/>
            </a:prstGeom>
            <a:noFill/>
          </p:spPr>
          <p:txBody>
            <a:bodyPr wrap="square">
              <a:spAutoFit/>
            </a:bodyPr>
            <a:lstStyle/>
            <a:p>
              <a:pPr algn="ctr"/>
              <a:r>
                <a:rPr lang="el-GR" altLang="el-GR" sz="2800" b="1" dirty="0">
                  <a:solidFill>
                    <a:srgbClr val="C00000"/>
                  </a:solidFill>
                  <a:latin typeface="Times New Roman" panose="02020603050405020304" pitchFamily="18" charset="0"/>
                </a:rPr>
                <a:t>Πηγαίος Κώδικας (</a:t>
              </a:r>
              <a:r>
                <a:rPr lang="en-US" altLang="el-GR" sz="2800" b="1" dirty="0">
                  <a:solidFill>
                    <a:srgbClr val="C00000"/>
                  </a:solidFill>
                  <a:latin typeface="Times New Roman" panose="02020603050405020304" pitchFamily="18" charset="0"/>
                </a:rPr>
                <a:t>Add2Numbers</a:t>
              </a:r>
              <a:r>
                <a:rPr lang="el-GR" altLang="el-GR" sz="2800" b="1" dirty="0">
                  <a:solidFill>
                    <a:srgbClr val="C00000"/>
                  </a:solidFill>
                  <a:latin typeface="Times New Roman" panose="02020603050405020304" pitchFamily="18" charset="0"/>
                </a:rPr>
                <a:t>)</a:t>
              </a:r>
              <a:endParaRPr lang="en-GB" sz="2800" b="1" dirty="0">
                <a:solidFill>
                  <a:srgbClr val="C00000"/>
                </a:solidFill>
              </a:endParaRPr>
            </a:p>
          </p:txBody>
        </p:sp>
        <p:sp>
          <p:nvSpPr>
            <p:cNvPr id="18" name="TextBox 17">
              <a:extLst>
                <a:ext uri="{FF2B5EF4-FFF2-40B4-BE49-F238E27FC236}">
                  <a16:creationId xmlns:a16="http://schemas.microsoft.com/office/drawing/2014/main" id="{80D566D5-1C96-5993-A8C5-2ADA0C453C1D}"/>
                </a:ext>
              </a:extLst>
            </p:cNvPr>
            <p:cNvSpPr txBox="1"/>
            <p:nvPr/>
          </p:nvSpPr>
          <p:spPr>
            <a:xfrm>
              <a:off x="5923375" y="3751185"/>
              <a:ext cx="6136455" cy="954107"/>
            </a:xfrm>
            <a:prstGeom prst="rect">
              <a:avLst/>
            </a:prstGeom>
            <a:noFill/>
          </p:spPr>
          <p:txBody>
            <a:bodyPr wrap="square" rtlCol="0">
              <a:spAutoFit/>
            </a:bodyPr>
            <a:lstStyle/>
            <a:p>
              <a:pPr marL="514350" indent="-514350">
                <a:buAutoNum type="arabicPeriod"/>
              </a:pPr>
              <a:r>
                <a:rPr lang="en-US" altLang="el-GR" sz="2800" b="1" dirty="0"/>
                <a:t>num1 = </a:t>
              </a:r>
              <a:r>
                <a:rPr lang="en-US" altLang="el-GR" sz="2800" b="1" dirty="0" err="1"/>
                <a:t>getInt</a:t>
              </a:r>
              <a:r>
                <a:rPr lang="en-US" altLang="el-GR" sz="2800" b="1" dirty="0"/>
                <a:t>(“Enter 1</a:t>
              </a:r>
              <a:r>
                <a:rPr lang="en-US" altLang="el-GR" sz="2800" b="1" baseline="30000" dirty="0"/>
                <a:t>st</a:t>
              </a:r>
              <a:r>
                <a:rPr lang="en-US" altLang="el-GR" sz="2800" b="1" dirty="0"/>
                <a:t> integer:”);</a:t>
              </a:r>
            </a:p>
            <a:p>
              <a:pPr marL="514350" indent="-514350">
                <a:buAutoNum type="arabicPeriod"/>
              </a:pPr>
              <a:r>
                <a:rPr lang="en-US" altLang="el-GR" sz="2800" b="1" dirty="0"/>
                <a:t>num2 = </a:t>
              </a:r>
              <a:r>
                <a:rPr lang="en-US" altLang="el-GR" sz="2800" b="1" dirty="0" err="1"/>
                <a:t>getInt</a:t>
              </a:r>
              <a:r>
                <a:rPr lang="en-US" altLang="el-GR" sz="2800" b="1" dirty="0"/>
                <a:t>(“Enter 2</a:t>
              </a:r>
              <a:r>
                <a:rPr lang="en-US" altLang="el-GR" sz="2800" b="1" baseline="30000" dirty="0"/>
                <a:t>nd</a:t>
              </a:r>
              <a:r>
                <a:rPr lang="en-US" altLang="el-GR" sz="2800" b="1" dirty="0"/>
                <a:t> integer:”);</a:t>
              </a:r>
              <a:endParaRPr lang="el-GR" altLang="el-GR" sz="2800" b="1" dirty="0"/>
            </a:p>
          </p:txBody>
        </p:sp>
      </p:grpSp>
      <p:sp>
        <p:nvSpPr>
          <p:cNvPr id="12" name="Content Placeholder 2">
            <a:extLst>
              <a:ext uri="{FF2B5EF4-FFF2-40B4-BE49-F238E27FC236}">
                <a16:creationId xmlns:a16="http://schemas.microsoft.com/office/drawing/2014/main" id="{53EE5C3C-9D31-6BA1-D56C-8C055847502C}"/>
              </a:ext>
            </a:extLst>
          </p:cNvPr>
          <p:cNvSpPr txBox="1">
            <a:spLocks/>
          </p:cNvSpPr>
          <p:nvPr/>
        </p:nvSpPr>
        <p:spPr bwMode="auto">
          <a:xfrm>
            <a:off x="187289" y="1977315"/>
            <a:ext cx="11919161" cy="2264235"/>
          </a:xfrm>
          <a:prstGeom prst="rect">
            <a:avLst/>
          </a:prstGeom>
          <a:solidFill>
            <a:srgbClr val="92D050"/>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a:buClr>
                <a:srgbClr val="3333CC"/>
              </a:buClr>
              <a:defRPr/>
            </a:pPr>
            <a:r>
              <a:rPr lang="el-GR" sz="2800" kern="0" dirty="0">
                <a:solidFill>
                  <a:srgbClr val="000000"/>
                </a:solidFill>
                <a:latin typeface="Tahoma"/>
              </a:rPr>
              <a:t>Η </a:t>
            </a:r>
            <a:r>
              <a:rPr lang="el-GR" sz="2800" b="1" kern="0" dirty="0">
                <a:solidFill>
                  <a:srgbClr val="000000"/>
                </a:solidFill>
                <a:latin typeface="Tahoma"/>
              </a:rPr>
              <a:t>μεταβλητή</a:t>
            </a:r>
            <a:r>
              <a:rPr lang="el-GR" sz="2800" kern="0" dirty="0">
                <a:solidFill>
                  <a:srgbClr val="000000"/>
                </a:solidFill>
                <a:latin typeface="Tahoma"/>
              </a:rPr>
              <a:t> </a:t>
            </a:r>
          </a:p>
          <a:p>
            <a:pPr lvl="1">
              <a:buClr>
                <a:srgbClr val="3333CC"/>
              </a:buClr>
              <a:defRPr/>
            </a:pPr>
            <a:r>
              <a:rPr lang="el-GR" sz="2000" b="1" kern="0" dirty="0">
                <a:solidFill>
                  <a:srgbClr val="000000"/>
                </a:solidFill>
                <a:latin typeface="Tahoma"/>
              </a:rPr>
              <a:t>δίνει τη δυνατότητα </a:t>
            </a:r>
            <a:r>
              <a:rPr lang="el-GR" sz="2000" kern="0" dirty="0">
                <a:solidFill>
                  <a:srgbClr val="000000"/>
                </a:solidFill>
                <a:latin typeface="Tahoma"/>
              </a:rPr>
              <a:t>στον προγραμματιστή να αναφερθεί σε μία θέση μνήμης του υπολογιστή και να τον προστάξει να αποθηκεύσει εκεί κάποια πληροφορία, αλλά και να αναφερθεί στην πληροφορία αυτή για να αναθέσει στη μηχανή τη διαχείριση της. </a:t>
            </a:r>
          </a:p>
          <a:p>
            <a:pPr lvl="1">
              <a:buClr>
                <a:srgbClr val="3333CC"/>
              </a:buClr>
              <a:defRPr/>
            </a:pPr>
            <a:r>
              <a:rPr lang="el-GR" sz="2000" b="1" kern="0" dirty="0">
                <a:solidFill>
                  <a:srgbClr val="000000"/>
                </a:solidFill>
                <a:latin typeface="Tahoma"/>
              </a:rPr>
              <a:t>είναι</a:t>
            </a:r>
            <a:r>
              <a:rPr lang="el-GR" sz="2000" kern="0" dirty="0">
                <a:solidFill>
                  <a:srgbClr val="000000"/>
                </a:solidFill>
                <a:latin typeface="Tahoma"/>
              </a:rPr>
              <a:t> μία λέξη που ορίζουμε εμείς ως προγραμματιστές και πρέπει να προσδιορίζει την πληροφορία στην οποία αυτή αναφέρεται. </a:t>
            </a:r>
            <a:endParaRPr lang="el-GR" sz="2000" b="1" kern="0" dirty="0">
              <a:solidFill>
                <a:srgbClr val="000000"/>
              </a:solidFill>
              <a:latin typeface="Tahoma"/>
            </a:endParaRPr>
          </a:p>
        </p:txBody>
      </p:sp>
    </p:spTree>
    <p:extLst>
      <p:ext uri="{BB962C8B-B14F-4D97-AF65-F5344CB8AC3E}">
        <p14:creationId xmlns:p14="http://schemas.microsoft.com/office/powerpoint/2010/main" val="304798022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bg/>
                                          </p:spTgt>
                                        </p:tgtEl>
                                        <p:attrNameLst>
                                          <p:attrName>style.visibility</p:attrName>
                                        </p:attrNameLst>
                                      </p:cBhvr>
                                      <p:to>
                                        <p:strVal val="visible"/>
                                      </p:to>
                                    </p:set>
                                    <p:animEffect transition="in" filter="fade">
                                      <p:cBhvr>
                                        <p:cTn id="7" dur="500"/>
                                        <p:tgtEl>
                                          <p:spTgt spid="12">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xEl>
                                              <p:pRg st="0" end="0"/>
                                            </p:txEl>
                                          </p:spTgt>
                                        </p:tgtEl>
                                        <p:attrNameLst>
                                          <p:attrName>style.visibility</p:attrName>
                                        </p:attrNameLst>
                                      </p:cBhvr>
                                      <p:to>
                                        <p:strVal val="visible"/>
                                      </p:to>
                                    </p:set>
                                    <p:animEffect transition="in" filter="fade">
                                      <p:cBhvr>
                                        <p:cTn id="10" dur="500"/>
                                        <p:tgtEl>
                                          <p:spTgt spid="12">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xEl>
                                              <p:pRg st="1" end="1"/>
                                            </p:txEl>
                                          </p:spTgt>
                                        </p:tgtEl>
                                        <p:attrNameLst>
                                          <p:attrName>style.visibility</p:attrName>
                                        </p:attrNameLst>
                                      </p:cBhvr>
                                      <p:to>
                                        <p:strVal val="visible"/>
                                      </p:to>
                                    </p:set>
                                    <p:animEffect transition="in" filter="fade">
                                      <p:cBhvr>
                                        <p:cTn id="13" dur="500"/>
                                        <p:tgtEl>
                                          <p:spTgt spid="12">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xEl>
                                              <p:pRg st="2" end="2"/>
                                            </p:txEl>
                                          </p:spTgt>
                                        </p:tgtEl>
                                        <p:attrNameLst>
                                          <p:attrName>style.visibility</p:attrName>
                                        </p:attrNameLst>
                                      </p:cBhvr>
                                      <p:to>
                                        <p:strVal val="visible"/>
                                      </p:to>
                                    </p:set>
                                    <p:animEffect transition="in" filter="fade">
                                      <p:cBhvr>
                                        <p:cTn id="16"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allAtOnce"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A67E0-D103-616B-61B6-DCF5D24A64CB}"/>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521384F2-845B-D30B-C808-AB55D257E16A}"/>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0DD4E1F8-A8FC-A2DE-4B84-5622C00C003F}"/>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Τύπος Δεδομένων </a:t>
            </a:r>
          </a:p>
        </p:txBody>
      </p:sp>
      <p:sp>
        <p:nvSpPr>
          <p:cNvPr id="8" name="Θέση υποσέλιδου 4">
            <a:extLst>
              <a:ext uri="{FF2B5EF4-FFF2-40B4-BE49-F238E27FC236}">
                <a16:creationId xmlns:a16="http://schemas.microsoft.com/office/drawing/2014/main" id="{4AA4662D-22DF-4DE5-5207-B5A7E3ECBDD6}"/>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CACD1377-A49E-E5F8-ED98-87892562F15B}"/>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11</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714E3EDF-6980-E774-1724-4DF440826EB1}"/>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4" name="Θέση υποσέλιδου 4">
            <a:extLst>
              <a:ext uri="{FF2B5EF4-FFF2-40B4-BE49-F238E27FC236}">
                <a16:creationId xmlns:a16="http://schemas.microsoft.com/office/drawing/2014/main" id="{C670F207-9661-FDA1-F958-1E17026B5EE9}"/>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sp>
        <p:nvSpPr>
          <p:cNvPr id="5" name="Content Placeholder 2">
            <a:extLst>
              <a:ext uri="{FF2B5EF4-FFF2-40B4-BE49-F238E27FC236}">
                <a16:creationId xmlns:a16="http://schemas.microsoft.com/office/drawing/2014/main" id="{47A6744E-5D5B-36A7-229A-46DCC0CC1C4C}"/>
              </a:ext>
            </a:extLst>
          </p:cNvPr>
          <p:cNvSpPr txBox="1">
            <a:spLocks/>
          </p:cNvSpPr>
          <p:nvPr/>
        </p:nvSpPr>
        <p:spPr bwMode="auto">
          <a:xfrm>
            <a:off x="187289" y="994899"/>
            <a:ext cx="11864042" cy="1959799"/>
          </a:xfrm>
          <a:prstGeom prst="rect">
            <a:avLst/>
          </a:prstGeom>
          <a:solidFill>
            <a:srgbClr val="92D050"/>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sz="2000" kern="0" dirty="0">
                <a:solidFill>
                  <a:srgbClr val="000000"/>
                </a:solidFill>
                <a:latin typeface="Tahoma"/>
              </a:rPr>
              <a:t>Έχετε την ικανότητα να διακρίνετε αν μια πληροφορία είναι αριθμός ή συμβολοσειρά. </a:t>
            </a:r>
          </a:p>
          <a:p>
            <a:pPr marL="0" indent="0">
              <a:buClr>
                <a:srgbClr val="3333CC"/>
              </a:buClr>
              <a:buNone/>
              <a:defRPr/>
            </a:pPr>
            <a:r>
              <a:rPr lang="el-GR" sz="2000" kern="0" dirty="0">
                <a:solidFill>
                  <a:srgbClr val="000000"/>
                </a:solidFill>
                <a:latin typeface="Tahoma"/>
              </a:rPr>
              <a:t>Την ικανότητα αυτή δεν την έχει η μηχανή (τουλάχιστο όσον αφορά την C), οπότε θα πρέπει ο προγραμματιστής να φροντίσει να την ενημερώσει για τον τύπο της πληροφορίας που πρόκειται να αποθηκευτεί στην θέση μνήμης που αναφέρεται μία μεταβλητή. </a:t>
            </a:r>
          </a:p>
          <a:p>
            <a:pPr marL="0" indent="0">
              <a:buClr>
                <a:srgbClr val="3333CC"/>
              </a:buClr>
              <a:buNone/>
              <a:defRPr/>
            </a:pPr>
            <a:r>
              <a:rPr lang="el-GR" sz="2000" kern="0" dirty="0">
                <a:solidFill>
                  <a:srgbClr val="000000"/>
                </a:solidFill>
                <a:latin typeface="Tahoma"/>
              </a:rPr>
              <a:t>Αυτός είναι  </a:t>
            </a:r>
            <a:r>
              <a:rPr lang="el-GR" sz="2000" b="1" kern="0" dirty="0">
                <a:solidFill>
                  <a:srgbClr val="000000"/>
                </a:solidFill>
                <a:latin typeface="Tahoma"/>
              </a:rPr>
              <a:t>ο ρόλος του τύπου δεδομένων </a:t>
            </a:r>
            <a:r>
              <a:rPr lang="el-GR" sz="2000" kern="0" dirty="0">
                <a:solidFill>
                  <a:srgbClr val="000000"/>
                </a:solidFill>
                <a:latin typeface="Tahoma"/>
              </a:rPr>
              <a:t>για μια γλώσσα προγραμματισμού. </a:t>
            </a:r>
            <a:endParaRPr lang="el-GR" sz="1600" b="1" kern="0" dirty="0">
              <a:solidFill>
                <a:srgbClr val="000000"/>
              </a:solidFill>
              <a:latin typeface="Tahoma"/>
            </a:endParaRPr>
          </a:p>
        </p:txBody>
      </p:sp>
      <p:sp>
        <p:nvSpPr>
          <p:cNvPr id="7" name="Content Placeholder 2">
            <a:extLst>
              <a:ext uri="{FF2B5EF4-FFF2-40B4-BE49-F238E27FC236}">
                <a16:creationId xmlns:a16="http://schemas.microsoft.com/office/drawing/2014/main" id="{095DB150-6CDF-D34D-6908-B24BD041B3EB}"/>
              </a:ext>
            </a:extLst>
          </p:cNvPr>
          <p:cNvSpPr txBox="1">
            <a:spLocks/>
          </p:cNvSpPr>
          <p:nvPr/>
        </p:nvSpPr>
        <p:spPr bwMode="auto">
          <a:xfrm>
            <a:off x="187289" y="4169212"/>
            <a:ext cx="11864042" cy="1959799"/>
          </a:xfrm>
          <a:prstGeom prst="rect">
            <a:avLst/>
          </a:prstGeom>
          <a:solidFill>
            <a:srgbClr val="92D050"/>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sz="2000" kern="0" dirty="0">
                <a:solidFill>
                  <a:srgbClr val="000000"/>
                </a:solidFill>
                <a:latin typeface="Tahoma"/>
              </a:rPr>
              <a:t>Για να υποστηρίξει τη </a:t>
            </a:r>
            <a:r>
              <a:rPr lang="el-GR" sz="2000" b="1" kern="0" dirty="0">
                <a:solidFill>
                  <a:srgbClr val="000000"/>
                </a:solidFill>
                <a:latin typeface="Tahoma"/>
              </a:rPr>
              <a:t>διαχείριση πληροφορίας </a:t>
            </a:r>
            <a:r>
              <a:rPr lang="el-GR" sz="2000" kern="0" dirty="0">
                <a:solidFill>
                  <a:srgbClr val="000000"/>
                </a:solidFill>
                <a:latin typeface="Tahoma"/>
              </a:rPr>
              <a:t>η C ορίζει ορισμένους βασικούς τύπους, μεταξύ των οποίων: </a:t>
            </a:r>
          </a:p>
          <a:p>
            <a:pPr>
              <a:buClr>
                <a:srgbClr val="3333CC"/>
              </a:buClr>
              <a:defRPr/>
            </a:pPr>
            <a:r>
              <a:rPr lang="el-GR" sz="2000" kern="0" dirty="0">
                <a:solidFill>
                  <a:srgbClr val="000000"/>
                </a:solidFill>
                <a:latin typeface="Tahoma"/>
              </a:rPr>
              <a:t>ο τύπος του ακεραίου (που συμβολίζεται με τη λέξη </a:t>
            </a:r>
            <a:r>
              <a:rPr lang="el-GR" sz="2000" b="1" kern="0" dirty="0" err="1">
                <a:solidFill>
                  <a:srgbClr val="000000"/>
                </a:solidFill>
                <a:latin typeface="Tahoma"/>
              </a:rPr>
              <a:t>int</a:t>
            </a:r>
            <a:r>
              <a:rPr lang="el-GR" sz="2000" kern="0" dirty="0">
                <a:solidFill>
                  <a:srgbClr val="000000"/>
                </a:solidFill>
                <a:latin typeface="Tahoma"/>
              </a:rPr>
              <a:t>), </a:t>
            </a:r>
          </a:p>
          <a:p>
            <a:pPr>
              <a:buClr>
                <a:srgbClr val="3333CC"/>
              </a:buClr>
              <a:defRPr/>
            </a:pPr>
            <a:r>
              <a:rPr lang="el-GR" sz="2000" kern="0" dirty="0">
                <a:solidFill>
                  <a:srgbClr val="000000"/>
                </a:solidFill>
                <a:latin typeface="Tahoma"/>
              </a:rPr>
              <a:t>οι δύο τύποι για αριθμούς με δεκαδικά (</a:t>
            </a:r>
            <a:r>
              <a:rPr lang="el-GR" sz="2000" b="1" kern="0" dirty="0" err="1">
                <a:solidFill>
                  <a:srgbClr val="000000"/>
                </a:solidFill>
                <a:latin typeface="Tahoma"/>
              </a:rPr>
              <a:t>float</a:t>
            </a:r>
            <a:r>
              <a:rPr lang="el-GR" sz="2000" kern="0" dirty="0">
                <a:solidFill>
                  <a:srgbClr val="000000"/>
                </a:solidFill>
                <a:latin typeface="Tahoma"/>
              </a:rPr>
              <a:t> και </a:t>
            </a:r>
            <a:r>
              <a:rPr lang="el-GR" sz="2000" b="1" kern="0" dirty="0" err="1">
                <a:solidFill>
                  <a:srgbClr val="000000"/>
                </a:solidFill>
                <a:latin typeface="Tahoma"/>
              </a:rPr>
              <a:t>double</a:t>
            </a:r>
            <a:r>
              <a:rPr lang="el-GR" sz="2000" kern="0" dirty="0">
                <a:solidFill>
                  <a:srgbClr val="000000"/>
                </a:solidFill>
                <a:latin typeface="Tahoma"/>
              </a:rPr>
              <a:t>), και, </a:t>
            </a:r>
          </a:p>
          <a:p>
            <a:pPr>
              <a:buClr>
                <a:srgbClr val="3333CC"/>
              </a:buClr>
              <a:defRPr/>
            </a:pPr>
            <a:r>
              <a:rPr lang="el-GR" sz="2000" kern="0" dirty="0">
                <a:solidFill>
                  <a:srgbClr val="000000"/>
                </a:solidFill>
                <a:latin typeface="Tahoma"/>
              </a:rPr>
              <a:t>ο τύπος του χαρακτήρα (που συμβολίζεται με την λέξη </a:t>
            </a:r>
            <a:r>
              <a:rPr lang="el-GR" sz="2000" b="1" kern="0" dirty="0" err="1">
                <a:solidFill>
                  <a:srgbClr val="000000"/>
                </a:solidFill>
                <a:latin typeface="Tahoma"/>
              </a:rPr>
              <a:t>char</a:t>
            </a:r>
            <a:r>
              <a:rPr lang="el-GR" sz="2000" kern="0" dirty="0">
                <a:solidFill>
                  <a:srgbClr val="000000"/>
                </a:solidFill>
                <a:latin typeface="Tahoma"/>
              </a:rPr>
              <a:t>).</a:t>
            </a:r>
          </a:p>
        </p:txBody>
      </p:sp>
      <p:sp>
        <p:nvSpPr>
          <p:cNvPr id="13" name="TextBox 12">
            <a:extLst>
              <a:ext uri="{FF2B5EF4-FFF2-40B4-BE49-F238E27FC236}">
                <a16:creationId xmlns:a16="http://schemas.microsoft.com/office/drawing/2014/main" id="{4D58EA39-CA91-F032-DFDF-52F1F944EDEB}"/>
              </a:ext>
            </a:extLst>
          </p:cNvPr>
          <p:cNvSpPr txBox="1"/>
          <p:nvPr/>
        </p:nvSpPr>
        <p:spPr>
          <a:xfrm>
            <a:off x="128352" y="3318528"/>
            <a:ext cx="7424560" cy="584775"/>
          </a:xfrm>
          <a:prstGeom prst="rect">
            <a:avLst/>
          </a:prstGeom>
          <a:noFill/>
        </p:spPr>
        <p:txBody>
          <a:bodyPr wrap="square" rtlCol="0">
            <a:spAutoFit/>
          </a:bodyPr>
          <a:lstStyle/>
          <a:p>
            <a:r>
              <a:rPr lang="el-GR" sz="3200" b="1" dirty="0">
                <a:solidFill>
                  <a:srgbClr val="F9853D"/>
                </a:solidFill>
                <a:latin typeface="Bahnschrift" panose="020B0502040204020203" pitchFamily="34" charset="0"/>
                <a:ea typeface="+mj-ea"/>
                <a:cs typeface="+mj-cs"/>
              </a:rPr>
              <a:t>Βασικοί τύποι δεδομένων της C</a:t>
            </a:r>
          </a:p>
        </p:txBody>
      </p:sp>
    </p:spTree>
    <p:extLst>
      <p:ext uri="{BB962C8B-B14F-4D97-AF65-F5344CB8AC3E}">
        <p14:creationId xmlns:p14="http://schemas.microsoft.com/office/powerpoint/2010/main" val="87410099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fade">
                                      <p:cBhvr>
                                        <p:cTn id="7" dur="500"/>
                                        <p:tgtEl>
                                          <p:spTgt spid="5">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500"/>
                                        <p:tgtEl>
                                          <p:spTgt spid="5">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Effect transition="in" filter="fade">
                                      <p:cBhvr>
                                        <p:cTn id="13" dur="500"/>
                                        <p:tgtEl>
                                          <p:spTgt spid="5">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fade">
                                      <p:cBhvr>
                                        <p:cTn id="16" dur="500"/>
                                        <p:tgtEl>
                                          <p:spTgt spid="5">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bg/>
                                          </p:spTgt>
                                        </p:tgtEl>
                                        <p:attrNameLst>
                                          <p:attrName>style.visibility</p:attrName>
                                        </p:attrNameLst>
                                      </p:cBhvr>
                                      <p:to>
                                        <p:strVal val="visible"/>
                                      </p:to>
                                    </p:set>
                                    <p:animEffect transition="in" filter="fade">
                                      <p:cBhvr>
                                        <p:cTn id="25" dur="500"/>
                                        <p:tgtEl>
                                          <p:spTgt spid="7">
                                            <p:bg/>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fade">
                                      <p:cBhvr>
                                        <p:cTn id="28" dur="500"/>
                                        <p:tgtEl>
                                          <p:spTgt spid="7">
                                            <p:txEl>
                                              <p:pRg st="0" end="0"/>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7">
                                            <p:txEl>
                                              <p:pRg st="1" end="1"/>
                                            </p:txEl>
                                          </p:spTgt>
                                        </p:tgtEl>
                                        <p:attrNameLst>
                                          <p:attrName>style.visibility</p:attrName>
                                        </p:attrNameLst>
                                      </p:cBhvr>
                                      <p:to>
                                        <p:strVal val="visible"/>
                                      </p:to>
                                    </p:set>
                                    <p:animEffect transition="in" filter="fade">
                                      <p:cBhvr>
                                        <p:cTn id="31" dur="500"/>
                                        <p:tgtEl>
                                          <p:spTgt spid="7">
                                            <p:txEl>
                                              <p:pRg st="1" end="1"/>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7">
                                            <p:txEl>
                                              <p:pRg st="2" end="2"/>
                                            </p:txEl>
                                          </p:spTgt>
                                        </p:tgtEl>
                                        <p:attrNameLst>
                                          <p:attrName>style.visibility</p:attrName>
                                        </p:attrNameLst>
                                      </p:cBhvr>
                                      <p:to>
                                        <p:strVal val="visible"/>
                                      </p:to>
                                    </p:set>
                                    <p:animEffect transition="in" filter="fade">
                                      <p:cBhvr>
                                        <p:cTn id="34" dur="500"/>
                                        <p:tgtEl>
                                          <p:spTgt spid="7">
                                            <p:txEl>
                                              <p:pRg st="2" end="2"/>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7">
                                            <p:txEl>
                                              <p:pRg st="3" end="3"/>
                                            </p:txEl>
                                          </p:spTgt>
                                        </p:tgtEl>
                                        <p:attrNameLst>
                                          <p:attrName>style.visibility</p:attrName>
                                        </p:attrNameLst>
                                      </p:cBhvr>
                                      <p:to>
                                        <p:strVal val="visible"/>
                                      </p:to>
                                    </p:set>
                                    <p:animEffect transition="in" filter="fade">
                                      <p:cBhvr>
                                        <p:cTn id="37"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animBg="1"/>
      <p:bldP spid="7" grpId="0" build="allAtOnce" animBg="1"/>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9C257-597E-3D03-CC61-D733CF79BB4D}"/>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74ABC74E-338D-B9DF-3214-D6B4A93449D2}"/>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8AE70153-0A76-FD2B-839D-628F798C1D89}"/>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Πρόταση Δήλωσης μεταβλητής</a:t>
            </a:r>
          </a:p>
        </p:txBody>
      </p:sp>
      <p:sp>
        <p:nvSpPr>
          <p:cNvPr id="8" name="Θέση υποσέλιδου 4">
            <a:extLst>
              <a:ext uri="{FF2B5EF4-FFF2-40B4-BE49-F238E27FC236}">
                <a16:creationId xmlns:a16="http://schemas.microsoft.com/office/drawing/2014/main" id="{220F75FA-6EA8-847E-7D36-CA818F1087F7}"/>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807B1C50-ACB2-F117-238D-2FE62B2943E6}"/>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12</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7F7317DC-31F1-EF99-CDE5-CED512309259}"/>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4" name="Θέση υποσέλιδου 4">
            <a:extLst>
              <a:ext uri="{FF2B5EF4-FFF2-40B4-BE49-F238E27FC236}">
                <a16:creationId xmlns:a16="http://schemas.microsoft.com/office/drawing/2014/main" id="{03A0EC8C-9860-2C6F-A486-BD644011B16C}"/>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sp>
        <p:nvSpPr>
          <p:cNvPr id="4" name="TextBox 3">
            <a:extLst>
              <a:ext uri="{FF2B5EF4-FFF2-40B4-BE49-F238E27FC236}">
                <a16:creationId xmlns:a16="http://schemas.microsoft.com/office/drawing/2014/main" id="{BA32EFCF-A176-0060-9D2B-FDDC0118FA0C}"/>
              </a:ext>
            </a:extLst>
          </p:cNvPr>
          <p:cNvSpPr txBox="1"/>
          <p:nvPr/>
        </p:nvSpPr>
        <p:spPr>
          <a:xfrm>
            <a:off x="-3110" y="1990724"/>
            <a:ext cx="12165969" cy="1015663"/>
          </a:xfrm>
          <a:prstGeom prst="rect">
            <a:avLst/>
          </a:prstGeom>
          <a:solidFill>
            <a:srgbClr val="92D050"/>
          </a:solidFill>
        </p:spPr>
        <p:txBody>
          <a:bodyPr wrap="square" rtlCol="0">
            <a:spAutoFit/>
          </a:bodyPr>
          <a:lstStyle/>
          <a:p>
            <a:pPr eaLnBrk="0" fontAlgn="base" hangingPunct="0">
              <a:spcBef>
                <a:spcPct val="0"/>
              </a:spcBef>
              <a:spcAft>
                <a:spcPct val="0"/>
              </a:spcAft>
            </a:pPr>
            <a:r>
              <a:rPr lang="el-GR" sz="2000" dirty="0">
                <a:solidFill>
                  <a:srgbClr val="000000"/>
                </a:solidFill>
                <a:latin typeface="Tahoma" panose="020B0604030504040204" pitchFamily="34" charset="0"/>
              </a:rPr>
              <a:t>Η γραμμή 6 είναι μια πρόταση δήλωσης γενικής </a:t>
            </a:r>
            <a:r>
              <a:rPr lang="en-US" sz="2000" dirty="0">
                <a:solidFill>
                  <a:srgbClr val="000000"/>
                </a:solidFill>
                <a:latin typeface="Tahoma" panose="020B0604030504040204" pitchFamily="34" charset="0"/>
              </a:rPr>
              <a:t>(global) </a:t>
            </a:r>
            <a:r>
              <a:rPr lang="el-GR" sz="2000" dirty="0">
                <a:solidFill>
                  <a:srgbClr val="000000"/>
                </a:solidFill>
                <a:latin typeface="Tahoma" panose="020B0604030504040204" pitchFamily="34" charset="0"/>
              </a:rPr>
              <a:t>μεταβλητής.</a:t>
            </a:r>
            <a:endParaRPr lang="en-US" sz="2000" dirty="0">
              <a:solidFill>
                <a:srgbClr val="000000"/>
              </a:solidFill>
              <a:latin typeface="Tahoma" panose="020B0604030504040204" pitchFamily="34" charset="0"/>
            </a:endParaRPr>
          </a:p>
          <a:p>
            <a:pPr eaLnBrk="0" fontAlgn="base" hangingPunct="0">
              <a:spcBef>
                <a:spcPct val="0"/>
              </a:spcBef>
              <a:spcAft>
                <a:spcPct val="0"/>
              </a:spcAft>
            </a:pPr>
            <a:r>
              <a:rPr lang="el-GR" sz="2000" dirty="0">
                <a:solidFill>
                  <a:srgbClr val="000000"/>
                </a:solidFill>
                <a:latin typeface="Tahoma" panose="020B0604030504040204" pitchFamily="34" charset="0"/>
              </a:rPr>
              <a:t>Ζητά από το σύστημα να δεσμεύσει χώρο στη μνήμη για την αποθήκευση ενός ακέραιου αριθμού </a:t>
            </a:r>
            <a:r>
              <a:rPr lang="en-US" sz="2000" dirty="0">
                <a:solidFill>
                  <a:srgbClr val="000000"/>
                </a:solidFill>
                <a:latin typeface="Tahoma" panose="020B0604030504040204" pitchFamily="34" charset="0"/>
              </a:rPr>
              <a:t>(</a:t>
            </a:r>
            <a:r>
              <a:rPr lang="en-US" sz="2000" b="1" dirty="0">
                <a:solidFill>
                  <a:srgbClr val="000000"/>
                </a:solidFill>
                <a:latin typeface="Tahoma" panose="020B0604030504040204" pitchFamily="34" charset="0"/>
              </a:rPr>
              <a:t>int</a:t>
            </a:r>
            <a:r>
              <a:rPr lang="en-US" sz="2000" dirty="0">
                <a:solidFill>
                  <a:srgbClr val="000000"/>
                </a:solidFill>
                <a:latin typeface="Tahoma" panose="020B0604030504040204" pitchFamily="34" charset="0"/>
              </a:rPr>
              <a:t>) </a:t>
            </a:r>
            <a:r>
              <a:rPr lang="el-GR" sz="2000" dirty="0">
                <a:solidFill>
                  <a:srgbClr val="000000"/>
                </a:solidFill>
                <a:latin typeface="Tahoma" panose="020B0604030504040204" pitchFamily="34" charset="0"/>
              </a:rPr>
              <a:t>και αποδίδει στη θέση αυτή το συμβολικό όνομα </a:t>
            </a:r>
            <a:r>
              <a:rPr lang="en-US" sz="2000" b="1" dirty="0">
                <a:solidFill>
                  <a:srgbClr val="000000"/>
                </a:solidFill>
                <a:latin typeface="Tahoma" panose="020B0604030504040204" pitchFamily="34" charset="0"/>
              </a:rPr>
              <a:t>num1 </a:t>
            </a:r>
            <a:r>
              <a:rPr lang="el-GR" sz="2000" dirty="0">
                <a:solidFill>
                  <a:srgbClr val="000000"/>
                </a:solidFill>
                <a:latin typeface="Tahoma" panose="020B0604030504040204" pitchFamily="34" charset="0"/>
              </a:rPr>
              <a:t>(όνομα μεταβλητής)</a:t>
            </a:r>
            <a:r>
              <a:rPr lang="en-US" sz="2000" dirty="0">
                <a:solidFill>
                  <a:srgbClr val="000000"/>
                </a:solidFill>
                <a:latin typeface="Tahoma" panose="020B0604030504040204" pitchFamily="34" charset="0"/>
              </a:rPr>
              <a:t>.</a:t>
            </a:r>
          </a:p>
        </p:txBody>
      </p:sp>
      <p:pic>
        <p:nvPicPr>
          <p:cNvPr id="6" name="Picture 5">
            <a:extLst>
              <a:ext uri="{FF2B5EF4-FFF2-40B4-BE49-F238E27FC236}">
                <a16:creationId xmlns:a16="http://schemas.microsoft.com/office/drawing/2014/main" id="{AC667394-682B-BEB2-3A29-1D276873D703}"/>
              </a:ext>
            </a:extLst>
          </p:cNvPr>
          <p:cNvPicPr>
            <a:picLocks noChangeAspect="1"/>
          </p:cNvPicPr>
          <p:nvPr/>
        </p:nvPicPr>
        <p:blipFill>
          <a:blip r:embed="rId3"/>
          <a:stretch>
            <a:fillRect/>
          </a:stretch>
        </p:blipFill>
        <p:spPr>
          <a:xfrm>
            <a:off x="31576" y="866109"/>
            <a:ext cx="12186455" cy="828000"/>
          </a:xfrm>
          <a:prstGeom prst="rect">
            <a:avLst/>
          </a:prstGeom>
        </p:spPr>
      </p:pic>
      <p:sp>
        <p:nvSpPr>
          <p:cNvPr id="9" name="Rectangle 3">
            <a:extLst>
              <a:ext uri="{FF2B5EF4-FFF2-40B4-BE49-F238E27FC236}">
                <a16:creationId xmlns:a16="http://schemas.microsoft.com/office/drawing/2014/main" id="{B00BC5EA-DA1C-B50F-138B-56F653E5089D}"/>
              </a:ext>
            </a:extLst>
          </p:cNvPr>
          <p:cNvSpPr txBox="1">
            <a:spLocks noChangeArrowheads="1"/>
          </p:cNvSpPr>
          <p:nvPr/>
        </p:nvSpPr>
        <p:spPr bwMode="auto">
          <a:xfrm>
            <a:off x="26031" y="3179081"/>
            <a:ext cx="12192000" cy="2238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a:lnSpc>
                <a:spcPct val="90000"/>
              </a:lnSpc>
              <a:buClr>
                <a:srgbClr val="3333CC"/>
              </a:buClr>
            </a:pPr>
            <a:r>
              <a:rPr lang="el-GR" altLang="el-GR" sz="2400" b="1" kern="0" dirty="0">
                <a:solidFill>
                  <a:srgbClr val="000000"/>
                </a:solidFill>
                <a:latin typeface="Tahoma" panose="020B0604030504040204" pitchFamily="34" charset="0"/>
                <a:ea typeface="Tahoma" panose="020B0604030504040204" pitchFamily="34" charset="0"/>
                <a:cs typeface="Tahoma" panose="020B0604030504040204" pitchFamily="34" charset="0"/>
              </a:rPr>
              <a:t>Μεταβλητή είναι ένα Συμβολικό όνομα</a:t>
            </a:r>
            <a:r>
              <a:rPr lang="el-GR" altLang="el-GR" sz="2400" kern="0" dirty="0">
                <a:solidFill>
                  <a:srgbClr val="000000"/>
                </a:solidFill>
                <a:latin typeface="Tahoma" panose="020B0604030504040204" pitchFamily="34" charset="0"/>
                <a:ea typeface="Tahoma" panose="020B0604030504040204" pitchFamily="34" charset="0"/>
                <a:cs typeface="Tahoma" panose="020B0604030504040204" pitchFamily="34" charset="0"/>
              </a:rPr>
              <a:t> </a:t>
            </a:r>
          </a:p>
          <a:p>
            <a:pPr lvl="1">
              <a:lnSpc>
                <a:spcPct val="90000"/>
              </a:lnSpc>
              <a:buClr>
                <a:srgbClr val="FF0000"/>
              </a:buClr>
            </a:pPr>
            <a:r>
              <a:rPr lang="el-GR" altLang="el-GR" sz="2000" kern="0" dirty="0">
                <a:solidFill>
                  <a:srgbClr val="000000"/>
                </a:solidFill>
                <a:latin typeface="Tahoma" panose="020B0604030504040204" pitchFamily="34" charset="0"/>
                <a:ea typeface="Tahoma" panose="020B0604030504040204" pitchFamily="34" charset="0"/>
                <a:cs typeface="Tahoma" panose="020B0604030504040204" pitchFamily="34" charset="0"/>
              </a:rPr>
              <a:t>που δίνει λύση στο πρόβλημα της αναφοράς σε πληροφορία της κύριας μνήμης του υπολογιστή.</a:t>
            </a:r>
          </a:p>
          <a:p>
            <a:pPr>
              <a:lnSpc>
                <a:spcPct val="90000"/>
              </a:lnSpc>
              <a:buClr>
                <a:srgbClr val="3333CC"/>
              </a:buClr>
            </a:pPr>
            <a:r>
              <a:rPr lang="el-GR" altLang="el-GR" sz="2400" kern="0" dirty="0">
                <a:solidFill>
                  <a:srgbClr val="000000"/>
                </a:solidFill>
                <a:latin typeface="Tahoma" panose="020B0604030504040204" pitchFamily="34" charset="0"/>
                <a:ea typeface="Tahoma" panose="020B0604030504040204" pitchFamily="34" charset="0"/>
                <a:cs typeface="Tahoma" panose="020B0604030504040204" pitchFamily="34" charset="0"/>
              </a:rPr>
              <a:t>Το </a:t>
            </a:r>
            <a:r>
              <a:rPr lang="el-GR" altLang="el-GR" sz="2400" b="1" kern="0" dirty="0">
                <a:solidFill>
                  <a:srgbClr val="000000"/>
                </a:solidFill>
                <a:latin typeface="Tahoma" panose="020B0604030504040204" pitchFamily="34" charset="0"/>
                <a:ea typeface="Tahoma" panose="020B0604030504040204" pitchFamily="34" charset="0"/>
                <a:cs typeface="Tahoma" panose="020B0604030504040204" pitchFamily="34" charset="0"/>
              </a:rPr>
              <a:t>όνομα της μεταβλητής</a:t>
            </a:r>
            <a:r>
              <a:rPr lang="el-GR" altLang="el-GR" sz="2400" kern="0" dirty="0">
                <a:solidFill>
                  <a:srgbClr val="000000"/>
                </a:solidFill>
                <a:latin typeface="Tahoma" panose="020B0604030504040204" pitchFamily="34" charset="0"/>
                <a:ea typeface="Tahoma" panose="020B0604030504040204" pitchFamily="34" charset="0"/>
                <a:cs typeface="Tahoma" panose="020B0604030504040204" pitchFamily="34" charset="0"/>
              </a:rPr>
              <a:t> μας επιτρέπει να αναφερόμαστε </a:t>
            </a:r>
          </a:p>
          <a:p>
            <a:pPr lvl="1">
              <a:lnSpc>
                <a:spcPct val="90000"/>
              </a:lnSpc>
              <a:buClr>
                <a:srgbClr val="FF0000"/>
              </a:buClr>
            </a:pPr>
            <a:r>
              <a:rPr lang="el-GR" altLang="el-GR" sz="2000" kern="0" dirty="0">
                <a:solidFill>
                  <a:srgbClr val="FF0000"/>
                </a:solidFill>
                <a:latin typeface="Tahoma" panose="020B0604030504040204" pitchFamily="34" charset="0"/>
                <a:ea typeface="Tahoma" panose="020B0604030504040204" pitchFamily="34" charset="0"/>
                <a:cs typeface="Tahoma" panose="020B0604030504040204" pitchFamily="34" charset="0"/>
              </a:rPr>
              <a:t>στη τιμή</a:t>
            </a:r>
            <a:r>
              <a:rPr lang="el-GR" altLang="el-GR" sz="2000" kern="0" dirty="0">
                <a:solidFill>
                  <a:srgbClr val="000000"/>
                </a:solidFill>
                <a:latin typeface="Tahoma" panose="020B0604030504040204" pitchFamily="34" charset="0"/>
                <a:ea typeface="Tahoma" panose="020B0604030504040204" pitchFamily="34" charset="0"/>
                <a:cs typeface="Tahoma" panose="020B0604030504040204" pitchFamily="34" charset="0"/>
              </a:rPr>
              <a:t>, χωρίς να είναι απαραίτητο να γνωρίζουμε την ακριβή διεύθυνση της μνήμης που αυτή είναι αποθηκευμένη, </a:t>
            </a:r>
          </a:p>
          <a:p>
            <a:pPr lvl="1">
              <a:lnSpc>
                <a:spcPct val="90000"/>
              </a:lnSpc>
              <a:buClr>
                <a:srgbClr val="FF0000"/>
              </a:buClr>
            </a:pPr>
            <a:r>
              <a:rPr lang="el-GR" altLang="el-GR" sz="2000" kern="0" dirty="0">
                <a:solidFill>
                  <a:srgbClr val="FF0000"/>
                </a:solidFill>
                <a:latin typeface="Tahoma" panose="020B0604030504040204" pitchFamily="34" charset="0"/>
                <a:ea typeface="Tahoma" panose="020B0604030504040204" pitchFamily="34" charset="0"/>
                <a:cs typeface="Tahoma" panose="020B0604030504040204" pitchFamily="34" charset="0"/>
              </a:rPr>
              <a:t>στην θέση της μνήμης</a:t>
            </a:r>
            <a:r>
              <a:rPr lang="el-GR" altLang="el-GR" sz="2000" kern="0" dirty="0">
                <a:solidFill>
                  <a:srgbClr val="000000"/>
                </a:solidFill>
                <a:latin typeface="Tahoma" panose="020B0604030504040204" pitchFamily="34" charset="0"/>
                <a:ea typeface="Tahoma" panose="020B0604030504040204" pitchFamily="34" charset="0"/>
                <a:cs typeface="Tahoma" panose="020B0604030504040204" pitchFamily="34" charset="0"/>
              </a:rPr>
              <a:t> για να τροποποιήσουμε την τρέχουσα-τιμή της.</a:t>
            </a:r>
            <a:r>
              <a:rPr lang="en-GB" altLang="el-GR" sz="2000" kern="0" dirty="0">
                <a:solidFill>
                  <a:srgbClr val="000000"/>
                </a:solidFill>
                <a:latin typeface="Tahoma" panose="020B0604030504040204" pitchFamily="34" charset="0"/>
                <a:ea typeface="Tahoma" panose="020B0604030504040204" pitchFamily="34" charset="0"/>
                <a:cs typeface="Tahoma" panose="020B0604030504040204" pitchFamily="34" charset="0"/>
              </a:rPr>
              <a:t> </a:t>
            </a:r>
          </a:p>
        </p:txBody>
      </p:sp>
      <p:sp>
        <p:nvSpPr>
          <p:cNvPr id="15" name="TextBox 14">
            <a:extLst>
              <a:ext uri="{FF2B5EF4-FFF2-40B4-BE49-F238E27FC236}">
                <a16:creationId xmlns:a16="http://schemas.microsoft.com/office/drawing/2014/main" id="{014440ED-E68F-568A-FB46-9CEB0581A47D}"/>
              </a:ext>
            </a:extLst>
          </p:cNvPr>
          <p:cNvSpPr txBox="1"/>
          <p:nvPr/>
        </p:nvSpPr>
        <p:spPr>
          <a:xfrm>
            <a:off x="2174191" y="5685154"/>
            <a:ext cx="5643154" cy="646331"/>
          </a:xfrm>
          <a:prstGeom prst="rect">
            <a:avLst/>
          </a:prstGeom>
          <a:noFill/>
        </p:spPr>
        <p:txBody>
          <a:bodyPr wrap="square" rtlCol="0">
            <a:spAutoFit/>
          </a:bodyPr>
          <a:lstStyle/>
          <a:p>
            <a:r>
              <a:rPr lang="en-US" altLang="el-GR" sz="3600" b="1" kern="0" dirty="0">
                <a:solidFill>
                  <a:srgbClr val="FF0000"/>
                </a:solidFill>
                <a:latin typeface="Courier New" panose="02070309020205020404" pitchFamily="49" charset="0"/>
                <a:cs typeface="Courier New" panose="02070309020205020404" pitchFamily="49" charset="0"/>
              </a:rPr>
              <a:t>count = count + 1</a:t>
            </a:r>
            <a:endParaRPr lang="en-GB" altLang="el-GR" sz="3600" b="1" kern="0" dirty="0">
              <a:solidFill>
                <a:srgbClr val="FF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86455442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96F1D-1AF4-DCAB-8DF8-D3E194396DA0}"/>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0B9EAC52-124E-6440-F275-8BBDEDE496E1}"/>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A1C4EA2F-EC9C-2B05-2776-1135F4472D7E}"/>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Δήλωση του τύπου της μεταβλητής</a:t>
            </a:r>
          </a:p>
        </p:txBody>
      </p:sp>
      <p:sp>
        <p:nvSpPr>
          <p:cNvPr id="8" name="Θέση υποσέλιδου 4">
            <a:extLst>
              <a:ext uri="{FF2B5EF4-FFF2-40B4-BE49-F238E27FC236}">
                <a16:creationId xmlns:a16="http://schemas.microsoft.com/office/drawing/2014/main" id="{358BF67B-8463-D943-D68D-330EB2CDE5AB}"/>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6FE0C0CB-6D25-DCD8-B724-83E41A0F262A}"/>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13</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A9E40C26-B8C4-625A-A670-CBD59EFECE07}"/>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4" name="Θέση υποσέλιδου 4">
            <a:extLst>
              <a:ext uri="{FF2B5EF4-FFF2-40B4-BE49-F238E27FC236}">
                <a16:creationId xmlns:a16="http://schemas.microsoft.com/office/drawing/2014/main" id="{2894577B-13D1-0F96-DC0F-340CF299A864}"/>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pic>
        <p:nvPicPr>
          <p:cNvPr id="6" name="Picture 5">
            <a:extLst>
              <a:ext uri="{FF2B5EF4-FFF2-40B4-BE49-F238E27FC236}">
                <a16:creationId xmlns:a16="http://schemas.microsoft.com/office/drawing/2014/main" id="{D5D6E6D7-A380-242F-7500-7D9B4D942B38}"/>
              </a:ext>
            </a:extLst>
          </p:cNvPr>
          <p:cNvPicPr>
            <a:picLocks noChangeAspect="1"/>
          </p:cNvPicPr>
          <p:nvPr/>
        </p:nvPicPr>
        <p:blipFill>
          <a:blip r:embed="rId3"/>
          <a:stretch>
            <a:fillRect/>
          </a:stretch>
        </p:blipFill>
        <p:spPr>
          <a:xfrm>
            <a:off x="31576" y="866109"/>
            <a:ext cx="12186455" cy="828000"/>
          </a:xfrm>
          <a:prstGeom prst="rect">
            <a:avLst/>
          </a:prstGeom>
        </p:spPr>
      </p:pic>
      <p:sp>
        <p:nvSpPr>
          <p:cNvPr id="5" name="TextBox 4">
            <a:extLst>
              <a:ext uri="{FF2B5EF4-FFF2-40B4-BE49-F238E27FC236}">
                <a16:creationId xmlns:a16="http://schemas.microsoft.com/office/drawing/2014/main" id="{1CEE9F60-AF08-58E0-102D-653771AB229A}"/>
              </a:ext>
            </a:extLst>
          </p:cNvPr>
          <p:cNvSpPr txBox="1"/>
          <p:nvPr/>
        </p:nvSpPr>
        <p:spPr>
          <a:xfrm>
            <a:off x="14975" y="1925197"/>
            <a:ext cx="12192000" cy="1015663"/>
          </a:xfrm>
          <a:prstGeom prst="rect">
            <a:avLst/>
          </a:prstGeom>
          <a:solidFill>
            <a:srgbClr val="92D050"/>
          </a:solidFill>
        </p:spPr>
        <p:txBody>
          <a:bodyPr wrap="square" rtlCol="0">
            <a:spAutoFit/>
          </a:bodyPr>
          <a:lstStyle/>
          <a:p>
            <a:pPr eaLnBrk="0" fontAlgn="base" hangingPunct="0">
              <a:spcBef>
                <a:spcPct val="0"/>
              </a:spcBef>
              <a:spcAft>
                <a:spcPct val="0"/>
              </a:spcAft>
            </a:pPr>
            <a:r>
              <a:rPr lang="el-GR" sz="2000" dirty="0">
                <a:solidFill>
                  <a:srgbClr val="000000"/>
                </a:solidFill>
                <a:latin typeface="Tahoma" panose="020B0604030504040204" pitchFamily="34" charset="0"/>
              </a:rPr>
              <a:t>Αν θέλουμε να αποθηκεύσουμε δεδομένα πρέπει </a:t>
            </a:r>
            <a:r>
              <a:rPr lang="el-GR" sz="2000" b="1" dirty="0">
                <a:solidFill>
                  <a:srgbClr val="000000"/>
                </a:solidFill>
                <a:latin typeface="Tahoma" panose="020B0604030504040204" pitchFamily="34" charset="0"/>
              </a:rPr>
              <a:t>πρώτα να δηλώσουμε </a:t>
            </a:r>
            <a:r>
              <a:rPr lang="el-GR" sz="2000" dirty="0">
                <a:solidFill>
                  <a:srgbClr val="000000"/>
                </a:solidFill>
                <a:latin typeface="Tahoma" panose="020B0604030504040204" pitchFamily="34" charset="0"/>
              </a:rPr>
              <a:t>την κατάλληλη μεταβλητή.</a:t>
            </a:r>
          </a:p>
          <a:p>
            <a:pPr eaLnBrk="0" fontAlgn="base" hangingPunct="0">
              <a:spcBef>
                <a:spcPct val="0"/>
              </a:spcBef>
              <a:spcAft>
                <a:spcPct val="0"/>
              </a:spcAft>
            </a:pPr>
            <a:r>
              <a:rPr lang="el-GR" sz="2000" dirty="0">
                <a:solidFill>
                  <a:srgbClr val="000000"/>
                </a:solidFill>
                <a:latin typeface="Tahoma" panose="020B0604030504040204" pitchFamily="34" charset="0"/>
              </a:rPr>
              <a:t>Η δήλωση μεταβλητής </a:t>
            </a:r>
            <a:r>
              <a:rPr lang="el-GR" sz="2000" b="1" dirty="0">
                <a:solidFill>
                  <a:srgbClr val="000000"/>
                </a:solidFill>
                <a:latin typeface="Tahoma" panose="020B0604030504040204" pitchFamily="34" charset="0"/>
              </a:rPr>
              <a:t>προσδιορίζει</a:t>
            </a:r>
            <a:r>
              <a:rPr lang="el-GR" sz="2000" dirty="0">
                <a:solidFill>
                  <a:srgbClr val="000000"/>
                </a:solidFill>
                <a:latin typeface="Tahoma" panose="020B0604030504040204" pitchFamily="34" charset="0"/>
              </a:rPr>
              <a:t> εκτός από το όνομα της </a:t>
            </a:r>
            <a:r>
              <a:rPr lang="el-GR" sz="2000" b="1" dirty="0">
                <a:solidFill>
                  <a:srgbClr val="000000"/>
                </a:solidFill>
                <a:latin typeface="Tahoma" panose="020B0604030504040204" pitchFamily="34" charset="0"/>
              </a:rPr>
              <a:t>και τον τύπο του δεδομένου</a:t>
            </a:r>
            <a:r>
              <a:rPr lang="el-GR" sz="2000" dirty="0">
                <a:solidFill>
                  <a:srgbClr val="000000"/>
                </a:solidFill>
                <a:latin typeface="Tahoma" panose="020B0604030504040204" pitchFamily="34" charset="0"/>
              </a:rPr>
              <a:t> για το οποίο αυτή δηλώνεται.</a:t>
            </a:r>
          </a:p>
        </p:txBody>
      </p:sp>
      <p:sp>
        <p:nvSpPr>
          <p:cNvPr id="7" name="Speech Bubble: Rectangle with Corners Rounded 6">
            <a:extLst>
              <a:ext uri="{FF2B5EF4-FFF2-40B4-BE49-F238E27FC236}">
                <a16:creationId xmlns:a16="http://schemas.microsoft.com/office/drawing/2014/main" id="{146DED88-053E-AF9B-229E-600F13EE9FCE}"/>
              </a:ext>
            </a:extLst>
          </p:cNvPr>
          <p:cNvSpPr/>
          <p:nvPr/>
        </p:nvSpPr>
        <p:spPr bwMode="auto">
          <a:xfrm>
            <a:off x="335360" y="5763869"/>
            <a:ext cx="10729192" cy="487139"/>
          </a:xfrm>
          <a:prstGeom prst="wedgeRoundRectCallout">
            <a:avLst>
              <a:gd name="adj1" fmla="val -46256"/>
              <a:gd name="adj2" fmla="val 90929"/>
              <a:gd name="adj3" fmla="val 16667"/>
            </a:avLst>
          </a:prstGeom>
          <a:solidFill>
            <a:srgbClr val="FFFF00"/>
          </a:solidFill>
          <a:ln w="9525" cap="flat" cmpd="sng" algn="ctr">
            <a:solidFill>
              <a:srgbClr val="FFFFFF"/>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l-GR" sz="1800" b="0" i="0" u="none" strike="noStrike" kern="0" cap="none" spc="0" normalizeH="0" baseline="0" noProof="0" dirty="0">
                <a:ln>
                  <a:noFill/>
                </a:ln>
                <a:solidFill>
                  <a:srgbClr val="000000"/>
                </a:solidFill>
                <a:effectLst/>
                <a:uLnTx/>
                <a:uFillTx/>
                <a:latin typeface="Tahoma" panose="020B0604030504040204" pitchFamily="34" charset="0"/>
              </a:rPr>
              <a:t>Τα βασικά για τύπους δεδομένων θα βρείτε στο </a:t>
            </a:r>
            <a:r>
              <a:rPr kumimoji="0" lang="en-GB" sz="1800" b="0" i="0" u="none" strike="noStrike" kern="0" cap="none" spc="0" normalizeH="0" baseline="0" noProof="0" dirty="0">
                <a:ln>
                  <a:noFill/>
                </a:ln>
                <a:solidFill>
                  <a:srgbClr val="777777"/>
                </a:solidFill>
                <a:effectLst/>
                <a:uLnTx/>
                <a:uFillTx/>
                <a:latin typeface="Open Sans" panose="020B0606030504020204" pitchFamily="34" charset="0"/>
                <a:hlinkClick r:id="rId4" tooltip="I2P_Variables&amp;amp;DataTypes.pdf"/>
              </a:rPr>
              <a:t>Module13-Variables&amp;DataTypes.pdf</a:t>
            </a:r>
            <a:r>
              <a:rPr kumimoji="0" lang="el-GR" sz="1800" b="0" i="0" u="none" strike="noStrike" kern="0" cap="none" spc="0" normalizeH="0" baseline="0" noProof="0" dirty="0">
                <a:ln>
                  <a:noFill/>
                </a:ln>
                <a:solidFill>
                  <a:srgbClr val="777777"/>
                </a:solidFill>
                <a:effectLst/>
                <a:uLnTx/>
                <a:uFillTx/>
                <a:latin typeface="Open Sans" panose="020B0606030504020204" pitchFamily="34" charset="0"/>
              </a:rPr>
              <a:t>  (</a:t>
            </a:r>
            <a:r>
              <a:rPr kumimoji="0" lang="en-US" sz="1800" b="0" i="0" u="none" strike="noStrike" kern="0" cap="none" spc="0" normalizeH="0" baseline="0" noProof="0" dirty="0">
                <a:ln>
                  <a:noFill/>
                </a:ln>
                <a:solidFill>
                  <a:srgbClr val="777777"/>
                </a:solidFill>
                <a:effectLst/>
                <a:uLnTx/>
                <a:uFillTx/>
                <a:latin typeface="Open Sans" panose="020B0606030504020204" pitchFamily="34" charset="0"/>
              </a:rPr>
              <a:t>slides </a:t>
            </a:r>
            <a:r>
              <a:rPr kumimoji="0" lang="el-GR" sz="1800" b="0" i="0" u="none" strike="noStrike" kern="0" cap="none" spc="0" normalizeH="0" baseline="0" noProof="0" dirty="0">
                <a:ln>
                  <a:noFill/>
                </a:ln>
                <a:solidFill>
                  <a:srgbClr val="777777"/>
                </a:solidFill>
                <a:effectLst/>
                <a:uLnTx/>
                <a:uFillTx/>
                <a:latin typeface="Open Sans" panose="020B0606030504020204" pitchFamily="34" charset="0"/>
              </a:rPr>
              <a:t>9</a:t>
            </a:r>
            <a:r>
              <a:rPr kumimoji="0" lang="en-US" sz="1800" b="0" i="0" u="none" strike="noStrike" kern="0" cap="none" spc="0" normalizeH="0" baseline="0" noProof="0" dirty="0">
                <a:ln>
                  <a:noFill/>
                </a:ln>
                <a:solidFill>
                  <a:srgbClr val="777777"/>
                </a:solidFill>
                <a:effectLst/>
                <a:uLnTx/>
                <a:uFillTx/>
                <a:latin typeface="Open Sans" panose="020B0606030504020204" pitchFamily="34" charset="0"/>
              </a:rPr>
              <a:t>-</a:t>
            </a:r>
            <a:r>
              <a:rPr kumimoji="0" lang="el-GR" sz="1800" b="0" i="0" u="none" strike="noStrike" kern="0" cap="none" spc="0" normalizeH="0" baseline="0" noProof="0" dirty="0">
                <a:ln>
                  <a:noFill/>
                </a:ln>
                <a:solidFill>
                  <a:srgbClr val="777777"/>
                </a:solidFill>
                <a:effectLst/>
                <a:uLnTx/>
                <a:uFillTx/>
                <a:latin typeface="Open Sans" panose="020B0606030504020204" pitchFamily="34" charset="0"/>
              </a:rPr>
              <a:t>14</a:t>
            </a:r>
            <a:r>
              <a:rPr kumimoji="0" lang="en-US" sz="1800" b="0" i="0" u="none" strike="noStrike" kern="0" cap="none" spc="0" normalizeH="0" baseline="0" noProof="0" dirty="0">
                <a:ln>
                  <a:noFill/>
                </a:ln>
                <a:solidFill>
                  <a:srgbClr val="777777"/>
                </a:solidFill>
                <a:effectLst/>
                <a:uLnTx/>
                <a:uFillTx/>
                <a:latin typeface="Open Sans" panose="020B0606030504020204" pitchFamily="34" charset="0"/>
              </a:rPr>
              <a:t>)</a:t>
            </a:r>
            <a:endParaRPr kumimoji="0" lang="en-GB" sz="18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12" name="Rectangle 3">
            <a:extLst>
              <a:ext uri="{FF2B5EF4-FFF2-40B4-BE49-F238E27FC236}">
                <a16:creationId xmlns:a16="http://schemas.microsoft.com/office/drawing/2014/main" id="{1AB79A2C-E085-3BD4-C441-BEE20000A81D}"/>
              </a:ext>
            </a:extLst>
          </p:cNvPr>
          <p:cNvSpPr txBox="1">
            <a:spLocks noChangeArrowheads="1"/>
          </p:cNvSpPr>
          <p:nvPr/>
        </p:nvSpPr>
        <p:spPr bwMode="auto">
          <a:xfrm>
            <a:off x="0" y="3077669"/>
            <a:ext cx="12192000" cy="2232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algn="just">
              <a:buClr>
                <a:srgbClr val="3333CC"/>
              </a:buClr>
            </a:pPr>
            <a:r>
              <a:rPr lang="el-GR" altLang="el-GR" kern="0" dirty="0">
                <a:solidFill>
                  <a:srgbClr val="000000"/>
                </a:solidFill>
                <a:latin typeface="Tahoma" panose="020B0604030504040204" pitchFamily="34" charset="0"/>
                <a:ea typeface="Tahoma" panose="020B0604030504040204" pitchFamily="34" charset="0"/>
                <a:cs typeface="Tahoma" panose="020B0604030504040204" pitchFamily="34" charset="0"/>
              </a:rPr>
              <a:t>Οι σύγχρονες προστακτικές γλώσσες</a:t>
            </a:r>
          </a:p>
          <a:p>
            <a:pPr lvl="1" algn="just">
              <a:buClr>
                <a:srgbClr val="FF0000"/>
              </a:buClr>
            </a:pPr>
            <a:r>
              <a:rPr lang="el-GR" altLang="el-GR" sz="2400" kern="0" dirty="0">
                <a:solidFill>
                  <a:srgbClr val="FF0000"/>
                </a:solidFill>
                <a:latin typeface="Tahoma" panose="020B0604030504040204" pitchFamily="34" charset="0"/>
                <a:ea typeface="Tahoma" panose="020B0604030504040204" pitchFamily="34" charset="0"/>
                <a:cs typeface="Tahoma" panose="020B0604030504040204" pitchFamily="34" charset="0"/>
              </a:rPr>
              <a:t>περιλαμβάνουν</a:t>
            </a:r>
            <a:r>
              <a:rPr lang="el-GR" altLang="el-GR" sz="2400" kern="0" dirty="0">
                <a:solidFill>
                  <a:srgbClr val="000000"/>
                </a:solidFill>
                <a:latin typeface="Tahoma" panose="020B0604030504040204" pitchFamily="34" charset="0"/>
                <a:ea typeface="Tahoma" panose="020B0604030504040204" pitchFamily="34" charset="0"/>
                <a:cs typeface="Tahoma" panose="020B0604030504040204" pitchFamily="34" charset="0"/>
              </a:rPr>
              <a:t> ορισμένους </a:t>
            </a:r>
            <a:r>
              <a:rPr lang="el-GR" altLang="el-GR" sz="2400" b="1" kern="0" dirty="0">
                <a:solidFill>
                  <a:srgbClr val="000000"/>
                </a:solidFill>
                <a:latin typeface="Tahoma" panose="020B0604030504040204" pitchFamily="34" charset="0"/>
                <a:ea typeface="Tahoma" panose="020B0604030504040204" pitchFamily="34" charset="0"/>
                <a:cs typeface="Tahoma" panose="020B0604030504040204" pitchFamily="34" charset="0"/>
              </a:rPr>
              <a:t>ενσωματωμένους τύπους</a:t>
            </a:r>
            <a:r>
              <a:rPr lang="el-GR" altLang="el-GR" sz="2400" kern="0" dirty="0">
                <a:solidFill>
                  <a:srgbClr val="000000"/>
                </a:solidFill>
                <a:latin typeface="Tahoma" panose="020B0604030504040204" pitchFamily="34" charset="0"/>
                <a:ea typeface="Tahoma" panose="020B0604030504040204" pitchFamily="34" charset="0"/>
                <a:cs typeface="Tahoma" panose="020B0604030504040204" pitchFamily="34" charset="0"/>
              </a:rPr>
              <a:t>, </a:t>
            </a:r>
          </a:p>
          <a:p>
            <a:pPr lvl="2" algn="just">
              <a:buClr>
                <a:srgbClr val="3333CC"/>
              </a:buClr>
            </a:pPr>
            <a:r>
              <a:rPr lang="en-US" altLang="el-GR" sz="2000" b="1" kern="0" dirty="0">
                <a:solidFill>
                  <a:srgbClr val="000000"/>
                </a:solidFill>
                <a:latin typeface="Tahoma" panose="020B0604030504040204" pitchFamily="34" charset="0"/>
                <a:ea typeface="Tahoma" panose="020B0604030504040204" pitchFamily="34" charset="0"/>
                <a:cs typeface="Tahoma" panose="020B0604030504040204" pitchFamily="34" charset="0"/>
              </a:rPr>
              <a:t>int</a:t>
            </a:r>
            <a:r>
              <a:rPr lang="el-GR" altLang="el-GR" sz="2000" b="1" kern="0"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altLang="el-GR" sz="2000" kern="0" dirty="0">
                <a:solidFill>
                  <a:srgbClr val="000000"/>
                </a:solidFill>
                <a:latin typeface="Tahoma" panose="020B0604030504040204" pitchFamily="34" charset="0"/>
                <a:ea typeface="Tahoma" panose="020B0604030504040204" pitchFamily="34" charset="0"/>
                <a:cs typeface="Tahoma" panose="020B0604030504040204" pitchFamily="34" charset="0"/>
              </a:rPr>
              <a:t>(</a:t>
            </a:r>
            <a:r>
              <a:rPr lang="el-GR" altLang="el-GR" sz="2000" kern="0" dirty="0">
                <a:solidFill>
                  <a:srgbClr val="000000"/>
                </a:solidFill>
                <a:latin typeface="Tahoma" panose="020B0604030504040204" pitchFamily="34" charset="0"/>
                <a:ea typeface="Tahoma" panose="020B0604030504040204" pitchFamily="34" charset="0"/>
                <a:cs typeface="Tahoma" panose="020B0604030504040204" pitchFamily="34" charset="0"/>
              </a:rPr>
              <a:t>ακέραιος</a:t>
            </a:r>
            <a:r>
              <a:rPr lang="en-US" altLang="el-GR" sz="2000" kern="0"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altLang="el-GR" sz="2000" b="1" kern="0" dirty="0">
                <a:solidFill>
                  <a:srgbClr val="000000"/>
                </a:solidFill>
                <a:latin typeface="Tahoma" panose="020B0604030504040204" pitchFamily="34" charset="0"/>
                <a:ea typeface="Tahoma" panose="020B0604030504040204" pitchFamily="34" charset="0"/>
                <a:cs typeface="Tahoma" panose="020B0604030504040204" pitchFamily="34" charset="0"/>
              </a:rPr>
              <a:t>char</a:t>
            </a:r>
            <a:r>
              <a:rPr lang="el-GR" altLang="el-GR" sz="2000" b="1" kern="0"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l-GR" altLang="el-GR" sz="2000" kern="0" dirty="0">
                <a:solidFill>
                  <a:srgbClr val="000000"/>
                </a:solidFill>
                <a:latin typeface="Tahoma" panose="020B0604030504040204" pitchFamily="34" charset="0"/>
                <a:ea typeface="Tahoma" panose="020B0604030504040204" pitchFamily="34" charset="0"/>
                <a:cs typeface="Tahoma" panose="020B0604030504040204" pitchFamily="34" charset="0"/>
              </a:rPr>
              <a:t>(χαρακτήρας)</a:t>
            </a:r>
            <a:r>
              <a:rPr lang="en-US" altLang="el-GR" sz="2000" kern="0"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altLang="el-GR" sz="2000" b="1" kern="0" dirty="0">
                <a:solidFill>
                  <a:srgbClr val="000000"/>
                </a:solidFill>
                <a:latin typeface="Tahoma" panose="020B0604030504040204" pitchFamily="34" charset="0"/>
                <a:ea typeface="Tahoma" panose="020B0604030504040204" pitchFamily="34" charset="0"/>
                <a:cs typeface="Tahoma" panose="020B0604030504040204" pitchFamily="34" charset="0"/>
              </a:rPr>
              <a:t>float, double …</a:t>
            </a:r>
            <a:endParaRPr lang="el-GR" altLang="el-GR" sz="2000" b="1" kern="0" dirty="0">
              <a:solidFill>
                <a:srgbClr val="000000"/>
              </a:solidFill>
              <a:latin typeface="Tahoma" panose="020B0604030504040204" pitchFamily="34" charset="0"/>
              <a:ea typeface="Tahoma" panose="020B0604030504040204" pitchFamily="34" charset="0"/>
              <a:cs typeface="Tahoma" panose="020B0604030504040204" pitchFamily="34" charset="0"/>
            </a:endParaRPr>
          </a:p>
          <a:p>
            <a:pPr lvl="1" algn="just">
              <a:buClr>
                <a:srgbClr val="FF0000"/>
              </a:buClr>
            </a:pPr>
            <a:r>
              <a:rPr lang="el-GR" altLang="el-GR" sz="2400" kern="0" dirty="0">
                <a:solidFill>
                  <a:srgbClr val="FF0000"/>
                </a:solidFill>
                <a:latin typeface="Tahoma" panose="020B0604030504040204" pitchFamily="34" charset="0"/>
                <a:ea typeface="Tahoma" panose="020B0604030504040204" pitchFamily="34" charset="0"/>
                <a:cs typeface="Tahoma" panose="020B0604030504040204" pitchFamily="34" charset="0"/>
              </a:rPr>
              <a:t>προσφέρουν</a:t>
            </a:r>
            <a:r>
              <a:rPr lang="el-GR" altLang="el-GR" sz="2400" kern="0" dirty="0">
                <a:solidFill>
                  <a:srgbClr val="000000"/>
                </a:solidFill>
                <a:latin typeface="Tahoma" panose="020B0604030504040204" pitchFamily="34" charset="0"/>
                <a:ea typeface="Tahoma" panose="020B0604030504040204" pitchFamily="34" charset="0"/>
                <a:cs typeface="Tahoma" panose="020B0604030504040204" pitchFamily="34" charset="0"/>
              </a:rPr>
              <a:t> ένα </a:t>
            </a:r>
            <a:r>
              <a:rPr lang="el-GR" altLang="el-GR" sz="2400" b="1" kern="0" dirty="0">
                <a:solidFill>
                  <a:srgbClr val="000000"/>
                </a:solidFill>
                <a:latin typeface="Tahoma" panose="020B0604030504040204" pitchFamily="34" charset="0"/>
                <a:ea typeface="Tahoma" panose="020B0604030504040204" pitchFamily="34" charset="0"/>
                <a:cs typeface="Tahoma" panose="020B0604030504040204" pitchFamily="34" charset="0"/>
              </a:rPr>
              <a:t>μηχανισμό για τον ορισμό νέων τύπων</a:t>
            </a:r>
            <a:endParaRPr lang="en-US" altLang="el-GR" sz="2400" b="1" kern="0" dirty="0">
              <a:solidFill>
                <a:srgbClr val="000000"/>
              </a:solidFill>
              <a:latin typeface="Tahoma" panose="020B0604030504040204" pitchFamily="34" charset="0"/>
              <a:ea typeface="Tahoma" panose="020B0604030504040204" pitchFamily="34" charset="0"/>
              <a:cs typeface="Tahoma" panose="020B0604030504040204" pitchFamily="34" charset="0"/>
            </a:endParaRPr>
          </a:p>
          <a:p>
            <a:pPr lvl="2" algn="just">
              <a:buClr>
                <a:srgbClr val="3333CC"/>
              </a:buClr>
            </a:pPr>
            <a:r>
              <a:rPr lang="en-US" altLang="el-GR" sz="2000" kern="0" dirty="0">
                <a:solidFill>
                  <a:srgbClr val="000000"/>
                </a:solidFill>
                <a:latin typeface="Tahoma" panose="020B0604030504040204" pitchFamily="34" charset="0"/>
                <a:ea typeface="Tahoma" panose="020B0604030504040204" pitchFamily="34" charset="0"/>
                <a:cs typeface="Tahoma" panose="020B0604030504040204" pitchFamily="34" charset="0"/>
              </a:rPr>
              <a:t>struct </a:t>
            </a:r>
            <a:r>
              <a:rPr lang="el-GR" altLang="el-GR" sz="2000" kern="0" dirty="0">
                <a:solidFill>
                  <a:srgbClr val="000000"/>
                </a:solidFill>
                <a:latin typeface="Tahoma" panose="020B0604030504040204" pitchFamily="34" charset="0"/>
                <a:ea typeface="Tahoma" panose="020B0604030504040204" pitchFamily="34" charset="0"/>
                <a:cs typeface="Tahoma" panose="020B0604030504040204" pitchFamily="34" charset="0"/>
              </a:rPr>
              <a:t> </a:t>
            </a:r>
            <a:r>
              <a:rPr lang="en-US" altLang="el-GR" sz="2000" kern="0" dirty="0">
                <a:solidFill>
                  <a:srgbClr val="000000"/>
                </a:solidFill>
                <a:latin typeface="Tahoma" panose="020B0604030504040204" pitchFamily="34" charset="0"/>
                <a:ea typeface="Tahoma" panose="020B0604030504040204" pitchFamily="34" charset="0"/>
                <a:cs typeface="Tahoma" panose="020B0604030504040204" pitchFamily="34" charset="0"/>
              </a:rPr>
              <a:t>student { … };</a:t>
            </a:r>
          </a:p>
          <a:p>
            <a:pPr lvl="2" algn="just">
              <a:buClr>
                <a:srgbClr val="3333CC"/>
              </a:buClr>
            </a:pPr>
            <a:r>
              <a:rPr lang="en-US" altLang="el-GR" sz="2000" kern="0" dirty="0">
                <a:solidFill>
                  <a:srgbClr val="000000"/>
                </a:solidFill>
                <a:latin typeface="Tahoma" panose="020B0604030504040204" pitchFamily="34" charset="0"/>
                <a:ea typeface="Tahoma" panose="020B0604030504040204" pitchFamily="34" charset="0"/>
                <a:cs typeface="Tahoma" panose="020B0604030504040204" pitchFamily="34" charset="0"/>
              </a:rPr>
              <a:t>struct rectangle { … };</a:t>
            </a:r>
            <a:endParaRPr lang="el-GR" altLang="el-GR" sz="2000" kern="0" dirty="0">
              <a:solidFill>
                <a:srgbClr val="00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60133283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DD35C-1A31-742B-DC24-2AA605158FF9}"/>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275DEECA-8070-322A-B8E1-81F0F9D29429}"/>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48C03FA8-D783-9794-C09B-64FBA2D47D32}"/>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Μεταβλητή – Δήλωση και απόδοση τιμής  </a:t>
            </a:r>
          </a:p>
        </p:txBody>
      </p:sp>
      <p:sp>
        <p:nvSpPr>
          <p:cNvPr id="8" name="Θέση υποσέλιδου 4">
            <a:extLst>
              <a:ext uri="{FF2B5EF4-FFF2-40B4-BE49-F238E27FC236}">
                <a16:creationId xmlns:a16="http://schemas.microsoft.com/office/drawing/2014/main" id="{05D66891-71DC-552C-C893-9656833436BB}"/>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187D7F8F-123D-5080-27E0-D2335D333C07}"/>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14</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7529B9DD-0BD2-C43B-4225-55558BB4A045}"/>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4" name="Θέση υποσέλιδου 4">
            <a:extLst>
              <a:ext uri="{FF2B5EF4-FFF2-40B4-BE49-F238E27FC236}">
                <a16:creationId xmlns:a16="http://schemas.microsoft.com/office/drawing/2014/main" id="{CBF23BEC-C9C2-8BC9-59DD-C394DC33D56F}"/>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sp>
        <p:nvSpPr>
          <p:cNvPr id="12" name="TextBox 11">
            <a:extLst>
              <a:ext uri="{FF2B5EF4-FFF2-40B4-BE49-F238E27FC236}">
                <a16:creationId xmlns:a16="http://schemas.microsoft.com/office/drawing/2014/main" id="{AA7A0BDB-A772-D98F-A08F-B9D2F8DEE999}"/>
              </a:ext>
            </a:extLst>
          </p:cNvPr>
          <p:cNvSpPr txBox="1"/>
          <p:nvPr/>
        </p:nvSpPr>
        <p:spPr>
          <a:xfrm>
            <a:off x="140669" y="851845"/>
            <a:ext cx="6276108" cy="584775"/>
          </a:xfrm>
          <a:prstGeom prst="rect">
            <a:avLst/>
          </a:prstGeom>
          <a:noFill/>
        </p:spPr>
        <p:txBody>
          <a:bodyPr wrap="square">
            <a:spAutoFit/>
          </a:bodyPr>
          <a:lstStyle/>
          <a:p>
            <a:r>
              <a:rPr kumimoji="0" lang="el-GR" sz="3200" b="1" i="0" u="none" strike="noStrike" kern="1200" cap="none" spc="0" normalizeH="0" baseline="0" noProof="0" dirty="0">
                <a:ln>
                  <a:noFill/>
                </a:ln>
                <a:solidFill>
                  <a:srgbClr val="F9853D"/>
                </a:solidFill>
                <a:effectLst/>
                <a:uLnTx/>
                <a:uFillTx/>
                <a:latin typeface="Bahnschrift" panose="020B0502040204020203" pitchFamily="34" charset="0"/>
                <a:ea typeface="+mj-ea"/>
                <a:cs typeface="+mj-cs"/>
              </a:rPr>
              <a:t>Δήλωση</a:t>
            </a:r>
            <a:endParaRPr lang="en-GB" sz="1400" dirty="0"/>
          </a:p>
        </p:txBody>
      </p:sp>
      <p:sp>
        <p:nvSpPr>
          <p:cNvPr id="15" name="TextBox 14">
            <a:extLst>
              <a:ext uri="{FF2B5EF4-FFF2-40B4-BE49-F238E27FC236}">
                <a16:creationId xmlns:a16="http://schemas.microsoft.com/office/drawing/2014/main" id="{578D0A36-8726-1D7E-38AD-9BD0F530EA03}"/>
              </a:ext>
            </a:extLst>
          </p:cNvPr>
          <p:cNvSpPr txBox="1"/>
          <p:nvPr/>
        </p:nvSpPr>
        <p:spPr>
          <a:xfrm>
            <a:off x="187289" y="1533021"/>
            <a:ext cx="6276108" cy="584775"/>
          </a:xfrm>
          <a:prstGeom prst="rect">
            <a:avLst/>
          </a:prstGeom>
          <a:noFill/>
        </p:spPr>
        <p:txBody>
          <a:bodyPr wrap="square">
            <a:spAutoFit/>
          </a:bodyPr>
          <a:lstStyle/>
          <a:p>
            <a:r>
              <a:rPr lang="en-GB" sz="3200" b="1" dirty="0"/>
              <a:t>int num1; </a:t>
            </a:r>
          </a:p>
        </p:txBody>
      </p:sp>
      <p:sp>
        <p:nvSpPr>
          <p:cNvPr id="20" name="Callout: Bent Line 19">
            <a:extLst>
              <a:ext uri="{FF2B5EF4-FFF2-40B4-BE49-F238E27FC236}">
                <a16:creationId xmlns:a16="http://schemas.microsoft.com/office/drawing/2014/main" id="{8DAC7445-EED4-8389-1721-30E335A56E11}"/>
              </a:ext>
            </a:extLst>
          </p:cNvPr>
          <p:cNvSpPr/>
          <p:nvPr/>
        </p:nvSpPr>
        <p:spPr>
          <a:xfrm>
            <a:off x="5098474" y="1035122"/>
            <a:ext cx="6906238" cy="861316"/>
          </a:xfrm>
          <a:prstGeom prst="borderCallout2">
            <a:avLst>
              <a:gd name="adj1" fmla="val 50710"/>
              <a:gd name="adj2" fmla="val 99"/>
              <a:gd name="adj3" fmla="val 57803"/>
              <a:gd name="adj4" fmla="val -20896"/>
              <a:gd name="adj5" fmla="val 98403"/>
              <a:gd name="adj6" fmla="val -44895"/>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t>Η πρόταση δηλώνει μία μεταβλητή με όνομα  num1 και δεσμεύει χώρο για αποθήκευση ακεραίου</a:t>
            </a:r>
            <a:endParaRPr lang="en-GB" sz="2400" dirty="0"/>
          </a:p>
        </p:txBody>
      </p:sp>
      <p:sp>
        <p:nvSpPr>
          <p:cNvPr id="21" name="TextBox 20">
            <a:extLst>
              <a:ext uri="{FF2B5EF4-FFF2-40B4-BE49-F238E27FC236}">
                <a16:creationId xmlns:a16="http://schemas.microsoft.com/office/drawing/2014/main" id="{DBC594E5-6595-1D3F-2CCC-B1EEB3F9BF1B}"/>
              </a:ext>
            </a:extLst>
          </p:cNvPr>
          <p:cNvSpPr txBox="1"/>
          <p:nvPr/>
        </p:nvSpPr>
        <p:spPr>
          <a:xfrm>
            <a:off x="140668" y="2317217"/>
            <a:ext cx="11704967" cy="584775"/>
          </a:xfrm>
          <a:prstGeom prst="rect">
            <a:avLst/>
          </a:prstGeom>
          <a:noFill/>
        </p:spPr>
        <p:txBody>
          <a:bodyPr wrap="square">
            <a:spAutoFit/>
          </a:bodyPr>
          <a:lstStyle/>
          <a:p>
            <a:r>
              <a:rPr kumimoji="0" lang="el-GR" sz="3200" b="1" i="0" u="none" strike="noStrike" kern="1200" cap="none" spc="0" normalizeH="0" baseline="0" noProof="0" dirty="0">
                <a:ln>
                  <a:noFill/>
                </a:ln>
                <a:solidFill>
                  <a:srgbClr val="F9853D"/>
                </a:solidFill>
                <a:effectLst/>
                <a:uLnTx/>
                <a:uFillTx/>
                <a:latin typeface="Bahnschrift" panose="020B0502040204020203" pitchFamily="34" charset="0"/>
                <a:ea typeface="+mj-ea"/>
                <a:cs typeface="+mj-cs"/>
              </a:rPr>
              <a:t>Δήλωση και απόδοση τιμής στο χρόνο συγγραφής (</a:t>
            </a:r>
            <a:r>
              <a:rPr kumimoji="0" lang="el-GR" sz="3200" b="1" i="0" u="none" strike="noStrike" kern="1200" cap="none" spc="0" normalizeH="0" baseline="0" noProof="0" dirty="0" err="1">
                <a:ln>
                  <a:noFill/>
                </a:ln>
                <a:solidFill>
                  <a:srgbClr val="F9853D"/>
                </a:solidFill>
                <a:effectLst/>
                <a:uLnTx/>
                <a:uFillTx/>
                <a:latin typeface="Bahnschrift" panose="020B0502040204020203" pitchFamily="34" charset="0"/>
                <a:ea typeface="+mj-ea"/>
                <a:cs typeface="+mj-cs"/>
              </a:rPr>
              <a:t>edit-time</a:t>
            </a:r>
            <a:r>
              <a:rPr kumimoji="0" lang="el-GR" sz="3200" b="1" i="0" u="none" strike="noStrike" kern="1200" cap="none" spc="0" normalizeH="0" baseline="0" noProof="0" dirty="0">
                <a:ln>
                  <a:noFill/>
                </a:ln>
                <a:solidFill>
                  <a:srgbClr val="F9853D"/>
                </a:solidFill>
                <a:effectLst/>
                <a:uLnTx/>
                <a:uFillTx/>
                <a:latin typeface="Bahnschrift" panose="020B0502040204020203" pitchFamily="34" charset="0"/>
                <a:ea typeface="+mj-ea"/>
                <a:cs typeface="+mj-cs"/>
              </a:rPr>
              <a:t>)</a:t>
            </a:r>
            <a:endParaRPr lang="en-GB" sz="1400" dirty="0"/>
          </a:p>
        </p:txBody>
      </p:sp>
      <p:sp>
        <p:nvSpPr>
          <p:cNvPr id="22" name="TextBox 21">
            <a:extLst>
              <a:ext uri="{FF2B5EF4-FFF2-40B4-BE49-F238E27FC236}">
                <a16:creationId xmlns:a16="http://schemas.microsoft.com/office/drawing/2014/main" id="{963DE01A-FE6E-0EA1-151B-3539726A6A4B}"/>
              </a:ext>
            </a:extLst>
          </p:cNvPr>
          <p:cNvSpPr txBox="1"/>
          <p:nvPr/>
        </p:nvSpPr>
        <p:spPr>
          <a:xfrm>
            <a:off x="187289" y="2946944"/>
            <a:ext cx="6276108" cy="584775"/>
          </a:xfrm>
          <a:prstGeom prst="rect">
            <a:avLst/>
          </a:prstGeom>
          <a:noFill/>
        </p:spPr>
        <p:txBody>
          <a:bodyPr wrap="square">
            <a:spAutoFit/>
          </a:bodyPr>
          <a:lstStyle/>
          <a:p>
            <a:r>
              <a:rPr lang="en-GB" sz="3200" b="1" dirty="0"/>
              <a:t>int num1</a:t>
            </a:r>
            <a:r>
              <a:rPr lang="el-GR" sz="3200" b="1" dirty="0"/>
              <a:t> = 12</a:t>
            </a:r>
            <a:r>
              <a:rPr lang="en-GB" sz="3200" b="1" dirty="0"/>
              <a:t>; </a:t>
            </a:r>
          </a:p>
        </p:txBody>
      </p:sp>
      <p:sp>
        <p:nvSpPr>
          <p:cNvPr id="23" name="Callout: Bent Line 22">
            <a:extLst>
              <a:ext uri="{FF2B5EF4-FFF2-40B4-BE49-F238E27FC236}">
                <a16:creationId xmlns:a16="http://schemas.microsoft.com/office/drawing/2014/main" id="{C04E438B-EEA7-4AEE-1E6A-1235BFB1FDF1}"/>
              </a:ext>
            </a:extLst>
          </p:cNvPr>
          <p:cNvSpPr/>
          <p:nvPr/>
        </p:nvSpPr>
        <p:spPr>
          <a:xfrm>
            <a:off x="3505201" y="2863880"/>
            <a:ext cx="8340433" cy="861316"/>
          </a:xfrm>
          <a:prstGeom prst="borderCallout2">
            <a:avLst>
              <a:gd name="adj1" fmla="val 50710"/>
              <a:gd name="adj2" fmla="val 99"/>
              <a:gd name="adj3" fmla="val 48152"/>
              <a:gd name="adj4" fmla="val -5850"/>
              <a:gd name="adj5" fmla="val 46931"/>
              <a:gd name="adj6" fmla="val -7823"/>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t>Η πρόταση δηλώνει μία μεταβλητή με όνομα  num1, δεσμεύει χώρο για αποθήκευση ακεραίου και αποδίδει αρχική τιμή 12</a:t>
            </a:r>
            <a:endParaRPr lang="en-GB" sz="2400" dirty="0"/>
          </a:p>
        </p:txBody>
      </p:sp>
      <p:sp>
        <p:nvSpPr>
          <p:cNvPr id="24" name="TextBox 23">
            <a:extLst>
              <a:ext uri="{FF2B5EF4-FFF2-40B4-BE49-F238E27FC236}">
                <a16:creationId xmlns:a16="http://schemas.microsoft.com/office/drawing/2014/main" id="{A4124815-9FC6-459C-AFBE-1A53762D4F7B}"/>
              </a:ext>
            </a:extLst>
          </p:cNvPr>
          <p:cNvSpPr txBox="1"/>
          <p:nvPr/>
        </p:nvSpPr>
        <p:spPr>
          <a:xfrm>
            <a:off x="132169" y="3783846"/>
            <a:ext cx="11704967" cy="584775"/>
          </a:xfrm>
          <a:prstGeom prst="rect">
            <a:avLst/>
          </a:prstGeom>
          <a:noFill/>
        </p:spPr>
        <p:txBody>
          <a:bodyPr wrap="square">
            <a:spAutoFit/>
          </a:bodyPr>
          <a:lstStyle/>
          <a:p>
            <a:r>
              <a:rPr kumimoji="0" lang="el-GR" sz="3200" b="1" i="0" u="none" strike="noStrike" kern="1200" cap="none" spc="0" normalizeH="0" baseline="0" noProof="0" dirty="0">
                <a:ln>
                  <a:noFill/>
                </a:ln>
                <a:solidFill>
                  <a:srgbClr val="F9853D"/>
                </a:solidFill>
                <a:effectLst/>
                <a:uLnTx/>
                <a:uFillTx/>
                <a:latin typeface="Bahnschrift" panose="020B0502040204020203" pitchFamily="34" charset="0"/>
                <a:ea typeface="+mj-ea"/>
                <a:cs typeface="+mj-cs"/>
              </a:rPr>
              <a:t>Απόδοση τιμής στο χρόνο εκτέλεσης (</a:t>
            </a:r>
            <a:r>
              <a:rPr lang="en-US" sz="3200" b="1">
                <a:solidFill>
                  <a:srgbClr val="F9853D"/>
                </a:solidFill>
                <a:latin typeface="Bahnschrift" panose="020B0502040204020203" pitchFamily="34" charset="0"/>
                <a:ea typeface="+mj-ea"/>
                <a:cs typeface="+mj-cs"/>
              </a:rPr>
              <a:t>run</a:t>
            </a:r>
            <a:r>
              <a:rPr kumimoji="0" lang="el-GR" sz="3200" b="1" i="0" u="none" strike="noStrike" kern="1200" cap="none" spc="0" normalizeH="0" baseline="0" noProof="0">
                <a:ln>
                  <a:noFill/>
                </a:ln>
                <a:solidFill>
                  <a:srgbClr val="F9853D"/>
                </a:solidFill>
                <a:effectLst/>
                <a:uLnTx/>
                <a:uFillTx/>
                <a:latin typeface="Bahnschrift" panose="020B0502040204020203" pitchFamily="34" charset="0"/>
                <a:ea typeface="+mj-ea"/>
                <a:cs typeface="+mj-cs"/>
              </a:rPr>
              <a:t>-</a:t>
            </a:r>
            <a:r>
              <a:rPr kumimoji="0" lang="el-GR" sz="3200" b="1" i="0" u="none" strike="noStrike" kern="1200" cap="none" spc="0" normalizeH="0" baseline="0" noProof="0" dirty="0" err="1">
                <a:ln>
                  <a:noFill/>
                </a:ln>
                <a:solidFill>
                  <a:srgbClr val="F9853D"/>
                </a:solidFill>
                <a:effectLst/>
                <a:uLnTx/>
                <a:uFillTx/>
                <a:latin typeface="Bahnschrift" panose="020B0502040204020203" pitchFamily="34" charset="0"/>
                <a:ea typeface="+mj-ea"/>
                <a:cs typeface="+mj-cs"/>
              </a:rPr>
              <a:t>time</a:t>
            </a:r>
            <a:r>
              <a:rPr kumimoji="0" lang="el-GR" sz="3200" b="1" i="0" u="none" strike="noStrike" kern="1200" cap="none" spc="0" normalizeH="0" baseline="0" noProof="0" dirty="0">
                <a:ln>
                  <a:noFill/>
                </a:ln>
                <a:solidFill>
                  <a:srgbClr val="F9853D"/>
                </a:solidFill>
                <a:effectLst/>
                <a:uLnTx/>
                <a:uFillTx/>
                <a:latin typeface="Bahnschrift" panose="020B0502040204020203" pitchFamily="34" charset="0"/>
                <a:ea typeface="+mj-ea"/>
                <a:cs typeface="+mj-cs"/>
              </a:rPr>
              <a:t>)</a:t>
            </a:r>
            <a:endParaRPr lang="en-GB" sz="1400" dirty="0"/>
          </a:p>
        </p:txBody>
      </p:sp>
      <p:sp>
        <p:nvSpPr>
          <p:cNvPr id="25" name="TextBox 24">
            <a:extLst>
              <a:ext uri="{FF2B5EF4-FFF2-40B4-BE49-F238E27FC236}">
                <a16:creationId xmlns:a16="http://schemas.microsoft.com/office/drawing/2014/main" id="{54D73014-27B1-6DD4-7E5F-C4952BECA1DA}"/>
              </a:ext>
            </a:extLst>
          </p:cNvPr>
          <p:cNvSpPr txBox="1"/>
          <p:nvPr/>
        </p:nvSpPr>
        <p:spPr>
          <a:xfrm>
            <a:off x="178790" y="4413573"/>
            <a:ext cx="6276108" cy="584775"/>
          </a:xfrm>
          <a:prstGeom prst="rect">
            <a:avLst/>
          </a:prstGeom>
          <a:noFill/>
        </p:spPr>
        <p:txBody>
          <a:bodyPr wrap="square">
            <a:spAutoFit/>
          </a:bodyPr>
          <a:lstStyle/>
          <a:p>
            <a:r>
              <a:rPr lang="en-GB" sz="3200" b="1" dirty="0"/>
              <a:t>num1 = </a:t>
            </a:r>
            <a:r>
              <a:rPr lang="en-GB" sz="3200" b="1" dirty="0" err="1"/>
              <a:t>getInt</a:t>
            </a:r>
            <a:r>
              <a:rPr lang="en-GB" sz="3200" b="1" dirty="0"/>
              <a:t>(“Enter 1st integer:”);</a:t>
            </a:r>
          </a:p>
        </p:txBody>
      </p:sp>
      <p:sp>
        <p:nvSpPr>
          <p:cNvPr id="26" name="Callout: Bent Line 25">
            <a:extLst>
              <a:ext uri="{FF2B5EF4-FFF2-40B4-BE49-F238E27FC236}">
                <a16:creationId xmlns:a16="http://schemas.microsoft.com/office/drawing/2014/main" id="{635F1EF1-E368-DBCC-56D9-3FD468C15C50}"/>
              </a:ext>
            </a:extLst>
          </p:cNvPr>
          <p:cNvSpPr/>
          <p:nvPr/>
        </p:nvSpPr>
        <p:spPr>
          <a:xfrm>
            <a:off x="3496703" y="5144839"/>
            <a:ext cx="8340433" cy="861316"/>
          </a:xfrm>
          <a:prstGeom prst="borderCallout2">
            <a:avLst>
              <a:gd name="adj1" fmla="val 50710"/>
              <a:gd name="adj2" fmla="val 99"/>
              <a:gd name="adj3" fmla="val 48152"/>
              <a:gd name="adj4" fmla="val -5850"/>
              <a:gd name="adj5" fmla="val -14193"/>
              <a:gd name="adj6" fmla="val -16295"/>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t>Η πρόταση αποδίδει στην μεταβλητή num1, την τιμή που θα διαβάσει η συνάρτηση </a:t>
            </a:r>
            <a:r>
              <a:rPr lang="en-US" sz="2400" b="1" dirty="0" err="1"/>
              <a:t>getInt</a:t>
            </a:r>
            <a:r>
              <a:rPr lang="el-GR" sz="2400" b="1" dirty="0"/>
              <a:t>()</a:t>
            </a:r>
            <a:r>
              <a:rPr lang="en-US" sz="2400" b="1" dirty="0"/>
              <a:t> </a:t>
            </a:r>
            <a:r>
              <a:rPr lang="el-GR" sz="2400" b="1" dirty="0"/>
              <a:t>από την βασική είσοδο.</a:t>
            </a:r>
            <a:endParaRPr lang="en-GB" sz="2400" dirty="0"/>
          </a:p>
        </p:txBody>
      </p:sp>
    </p:spTree>
    <p:extLst>
      <p:ext uri="{BB962C8B-B14F-4D97-AF65-F5344CB8AC3E}">
        <p14:creationId xmlns:p14="http://schemas.microsoft.com/office/powerpoint/2010/main" val="275407181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0" grpId="0" animBg="1"/>
      <p:bldP spid="21" grpId="0"/>
      <p:bldP spid="22" grpId="0"/>
      <p:bldP spid="23" grpId="0" animBg="1"/>
      <p:bldP spid="24" grpId="0"/>
      <p:bldP spid="25" grpId="0"/>
      <p:bldP spid="2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190F3-B47A-8939-2EC2-F95B5DE36384}"/>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CC5070EE-334A-3508-910F-EA9EB30FF3EC}"/>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BCE0E12F-3E24-9385-4BBB-B752489E0DEC}"/>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Αυξητική Ανάπτυξη (</a:t>
            </a:r>
            <a:r>
              <a:rPr lang="en-GB" sz="4000" b="1" dirty="0">
                <a:solidFill>
                  <a:srgbClr val="F9853D"/>
                </a:solidFill>
                <a:latin typeface="Bahnschrift" panose="020B0502040204020203" pitchFamily="34" charset="0"/>
              </a:rPr>
              <a:t>incremental development)</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34DB00E7-CACA-AF89-D1A8-C83A422A0963}"/>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AB4435A7-7FC4-DF42-833D-4BEDC6A7B1E6}"/>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15</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478F68D5-484C-A8D1-3028-C5433A83EF18}"/>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4" name="Θέση υποσέλιδου 4">
            <a:extLst>
              <a:ext uri="{FF2B5EF4-FFF2-40B4-BE49-F238E27FC236}">
                <a16:creationId xmlns:a16="http://schemas.microsoft.com/office/drawing/2014/main" id="{3C232FB5-0FDF-582E-45B9-9E8091D7004A}"/>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sp>
        <p:nvSpPr>
          <p:cNvPr id="12" name="Content Placeholder 2">
            <a:extLst>
              <a:ext uri="{FF2B5EF4-FFF2-40B4-BE49-F238E27FC236}">
                <a16:creationId xmlns:a16="http://schemas.microsoft.com/office/drawing/2014/main" id="{488448D2-5566-8917-3449-A14E0F18AB55}"/>
              </a:ext>
            </a:extLst>
          </p:cNvPr>
          <p:cNvSpPr txBox="1">
            <a:spLocks/>
          </p:cNvSpPr>
          <p:nvPr/>
        </p:nvSpPr>
        <p:spPr bwMode="auto">
          <a:xfrm>
            <a:off x="326642" y="1210314"/>
            <a:ext cx="11538713" cy="2334945"/>
          </a:xfrm>
          <a:prstGeom prst="rect">
            <a:avLst/>
          </a:prstGeom>
          <a:solidFill>
            <a:srgbClr val="92D050"/>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n-US" sz="2400" kern="0" dirty="0">
                <a:solidFill>
                  <a:srgbClr val="000000"/>
                </a:solidFill>
                <a:latin typeface="Tahoma"/>
              </a:rPr>
              <a:t>«A complex system that works is invariably found to have evolved from a simple system that worked… </a:t>
            </a:r>
          </a:p>
          <a:p>
            <a:pPr marL="0" indent="0">
              <a:buClr>
                <a:srgbClr val="3333CC"/>
              </a:buClr>
              <a:buNone/>
              <a:defRPr/>
            </a:pPr>
            <a:r>
              <a:rPr lang="en-US" sz="2400" kern="0" dirty="0">
                <a:solidFill>
                  <a:srgbClr val="000000"/>
                </a:solidFill>
                <a:latin typeface="Tahoma"/>
              </a:rPr>
              <a:t>A complex system designed from scratch never works and cannot be patched up to make it work. You have to start over, beginning with a working simple system»</a:t>
            </a:r>
          </a:p>
          <a:p>
            <a:pPr marL="0" indent="0" algn="r">
              <a:buClr>
                <a:srgbClr val="3333CC"/>
              </a:buClr>
              <a:buNone/>
              <a:defRPr/>
            </a:pPr>
            <a:r>
              <a:rPr lang="en-US" sz="2400" kern="0" dirty="0">
                <a:solidFill>
                  <a:srgbClr val="000000"/>
                </a:solidFill>
                <a:latin typeface="Tahoma"/>
              </a:rPr>
              <a:t>&lt;J. Gall&gt; </a:t>
            </a:r>
            <a:endParaRPr lang="el-GR" sz="1800" b="1" kern="0" dirty="0">
              <a:solidFill>
                <a:srgbClr val="000000"/>
              </a:solidFill>
              <a:latin typeface="Tahoma"/>
            </a:endParaRPr>
          </a:p>
        </p:txBody>
      </p:sp>
      <p:sp>
        <p:nvSpPr>
          <p:cNvPr id="15" name="Speech Bubble: Rectangle with Corners Rounded 14">
            <a:extLst>
              <a:ext uri="{FF2B5EF4-FFF2-40B4-BE49-F238E27FC236}">
                <a16:creationId xmlns:a16="http://schemas.microsoft.com/office/drawing/2014/main" id="{0CF7F935-2FDE-C12D-620A-8EFBA85247C1}"/>
              </a:ext>
            </a:extLst>
          </p:cNvPr>
          <p:cNvSpPr/>
          <p:nvPr/>
        </p:nvSpPr>
        <p:spPr>
          <a:xfrm>
            <a:off x="2005782" y="3832741"/>
            <a:ext cx="10045550" cy="1814945"/>
          </a:xfrm>
          <a:prstGeom prst="wedgeRoundRectCallout">
            <a:avLst>
              <a:gd name="adj1" fmla="val -53942"/>
              <a:gd name="adj2" fmla="val 87500"/>
              <a:gd name="adj3" fmla="val 16667"/>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800" b="1" dirty="0"/>
              <a:t>Αναπτύξτε το πρόγραμμα σας σταδιακά σε διαδοχικές εκδόσεις με κάθε έκδοση να προσθέτει επιπλέον λειτουργικότητα στην προηγούμενη που έχει ήδη ολοκληρωθεί.</a:t>
            </a:r>
            <a:endParaRPr lang="en-GB" sz="2800" b="1" dirty="0"/>
          </a:p>
        </p:txBody>
      </p:sp>
    </p:spTree>
    <p:extLst>
      <p:ext uri="{BB962C8B-B14F-4D97-AF65-F5344CB8AC3E}">
        <p14:creationId xmlns:p14="http://schemas.microsoft.com/office/powerpoint/2010/main" val="340953641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34674-F535-E843-E512-284532EC6379}"/>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4C67E461-34E7-0F46-EAB3-B2D1DAC1B36E}"/>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16EEA29A-6C82-71F0-C9A5-B81ECB655226}"/>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Add2Numbers </a:t>
            </a:r>
            <a:r>
              <a:rPr lang="el-GR" sz="4000" b="1" dirty="0">
                <a:solidFill>
                  <a:srgbClr val="F9853D"/>
                </a:solidFill>
                <a:latin typeface="Bahnschrift" panose="020B0502040204020203" pitchFamily="34" charset="0"/>
              </a:rPr>
              <a:t>- Αυξητική Ανάπτυξη</a:t>
            </a:r>
          </a:p>
        </p:txBody>
      </p:sp>
      <p:sp>
        <p:nvSpPr>
          <p:cNvPr id="8" name="Θέση υποσέλιδου 4">
            <a:extLst>
              <a:ext uri="{FF2B5EF4-FFF2-40B4-BE49-F238E27FC236}">
                <a16:creationId xmlns:a16="http://schemas.microsoft.com/office/drawing/2014/main" id="{BA096046-1D94-FDAC-3B10-721E5E796D3C}"/>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AFBBDE22-53DE-E216-7399-7F3CD1DA6056}"/>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16</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142003EA-E9AF-E21B-675D-0E1EAF94A5CE}"/>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4" name="Θέση υποσέλιδου 4">
            <a:extLst>
              <a:ext uri="{FF2B5EF4-FFF2-40B4-BE49-F238E27FC236}">
                <a16:creationId xmlns:a16="http://schemas.microsoft.com/office/drawing/2014/main" id="{C5B6F92D-1616-517A-813A-76DF22DC38F2}"/>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grpSp>
        <p:nvGrpSpPr>
          <p:cNvPr id="28" name="Group 27">
            <a:extLst>
              <a:ext uri="{FF2B5EF4-FFF2-40B4-BE49-F238E27FC236}">
                <a16:creationId xmlns:a16="http://schemas.microsoft.com/office/drawing/2014/main" id="{769AFC4A-2D18-5BA5-D4D4-3FFA9E8356E6}"/>
              </a:ext>
            </a:extLst>
          </p:cNvPr>
          <p:cNvGrpSpPr/>
          <p:nvPr/>
        </p:nvGrpSpPr>
        <p:grpSpPr>
          <a:xfrm>
            <a:off x="-140669" y="2540279"/>
            <a:ext cx="6444487" cy="2665902"/>
            <a:chOff x="-140669" y="2540279"/>
            <a:chExt cx="6444487" cy="2665902"/>
          </a:xfrm>
        </p:grpSpPr>
        <p:sp>
          <p:nvSpPr>
            <p:cNvPr id="19" name="Rectangle 18">
              <a:extLst>
                <a:ext uri="{FF2B5EF4-FFF2-40B4-BE49-F238E27FC236}">
                  <a16:creationId xmlns:a16="http://schemas.microsoft.com/office/drawing/2014/main" id="{21153636-833D-F3EE-F934-2ABC5752EBEA}"/>
                </a:ext>
              </a:extLst>
            </p:cNvPr>
            <p:cNvSpPr/>
            <p:nvPr/>
          </p:nvSpPr>
          <p:spPr>
            <a:xfrm>
              <a:off x="-3" y="2558974"/>
              <a:ext cx="6303821" cy="26472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a16="http://schemas.microsoft.com/office/drawing/2014/main" id="{65F18BF1-7A1A-81EE-E248-B955B73B9A36}"/>
                </a:ext>
              </a:extLst>
            </p:cNvPr>
            <p:cNvSpPr txBox="1"/>
            <p:nvPr/>
          </p:nvSpPr>
          <p:spPr>
            <a:xfrm>
              <a:off x="-140669" y="2540279"/>
              <a:ext cx="6444487" cy="523220"/>
            </a:xfrm>
            <a:prstGeom prst="rect">
              <a:avLst/>
            </a:prstGeom>
            <a:noFill/>
          </p:spPr>
          <p:txBody>
            <a:bodyPr wrap="square">
              <a:spAutoFit/>
            </a:bodyPr>
            <a:lstStyle/>
            <a:p>
              <a:pPr algn="ctr"/>
              <a:r>
                <a:rPr lang="el-GR" altLang="el-GR" sz="2800" b="1" dirty="0">
                  <a:solidFill>
                    <a:srgbClr val="C00000"/>
                  </a:solidFill>
                  <a:latin typeface="Times New Roman" panose="02020603050405020304" pitchFamily="18" charset="0"/>
                </a:rPr>
                <a:t>Λεκτική Περιγραφή (</a:t>
              </a:r>
              <a:r>
                <a:rPr lang="en-US" altLang="el-GR" sz="2800" b="1" dirty="0">
                  <a:solidFill>
                    <a:srgbClr val="C00000"/>
                  </a:solidFill>
                  <a:latin typeface="Times New Roman" panose="02020603050405020304" pitchFamily="18" charset="0"/>
                </a:rPr>
                <a:t>Add2Numbers</a:t>
              </a:r>
              <a:r>
                <a:rPr lang="el-GR" altLang="el-GR" sz="2800" b="1" dirty="0">
                  <a:solidFill>
                    <a:srgbClr val="C00000"/>
                  </a:solidFill>
                  <a:latin typeface="Times New Roman" panose="02020603050405020304" pitchFamily="18" charset="0"/>
                </a:rPr>
                <a:t>)</a:t>
              </a:r>
              <a:endParaRPr lang="en-GB" sz="2800" b="1" dirty="0">
                <a:solidFill>
                  <a:srgbClr val="C00000"/>
                </a:solidFill>
              </a:endParaRPr>
            </a:p>
          </p:txBody>
        </p:sp>
        <p:sp>
          <p:nvSpPr>
            <p:cNvPr id="21" name="TextBox 20">
              <a:extLst>
                <a:ext uri="{FF2B5EF4-FFF2-40B4-BE49-F238E27FC236}">
                  <a16:creationId xmlns:a16="http://schemas.microsoft.com/office/drawing/2014/main" id="{66780B6C-9D17-A5E0-1A21-270CEEB0554C}"/>
                </a:ext>
              </a:extLst>
            </p:cNvPr>
            <p:cNvSpPr txBox="1"/>
            <p:nvPr/>
          </p:nvSpPr>
          <p:spPr>
            <a:xfrm>
              <a:off x="180106" y="3230358"/>
              <a:ext cx="5915891" cy="1815882"/>
            </a:xfrm>
            <a:prstGeom prst="rect">
              <a:avLst/>
            </a:prstGeom>
            <a:solidFill>
              <a:schemeClr val="accent1"/>
            </a:solidFill>
          </p:spPr>
          <p:txBody>
            <a:bodyPr wrap="square" rtlCol="0">
              <a:spAutoFit/>
            </a:bodyPr>
            <a:lstStyle/>
            <a:p>
              <a:r>
                <a:rPr lang="el-GR" altLang="el-GR" sz="2800" b="1" dirty="0"/>
                <a:t>1. Πάρε τον πρώτο αριθμό</a:t>
              </a:r>
            </a:p>
            <a:p>
              <a:r>
                <a:rPr lang="el-GR" altLang="el-GR" sz="2800" b="1" dirty="0"/>
                <a:t>2. Πάρε τον δεύτερο αριθμό</a:t>
              </a:r>
            </a:p>
            <a:p>
              <a:r>
                <a:rPr lang="el-GR" altLang="el-GR" sz="2800" b="1" dirty="0"/>
                <a:t>3. Πρόσθεσε τους δύο αριθμούς</a:t>
              </a:r>
            </a:p>
            <a:p>
              <a:r>
                <a:rPr lang="el-GR" altLang="el-GR" sz="2800" b="1" dirty="0"/>
                <a:t>4. Εμφάνισε το άθροισμα στην οθόνη</a:t>
              </a:r>
            </a:p>
          </p:txBody>
        </p:sp>
      </p:grpSp>
      <p:grpSp>
        <p:nvGrpSpPr>
          <p:cNvPr id="29" name="Group 28">
            <a:extLst>
              <a:ext uri="{FF2B5EF4-FFF2-40B4-BE49-F238E27FC236}">
                <a16:creationId xmlns:a16="http://schemas.microsoft.com/office/drawing/2014/main" id="{33753A58-A542-15BE-E7B8-C4AAE97EE9AA}"/>
              </a:ext>
            </a:extLst>
          </p:cNvPr>
          <p:cNvGrpSpPr/>
          <p:nvPr/>
        </p:nvGrpSpPr>
        <p:grpSpPr>
          <a:xfrm>
            <a:off x="4732333" y="1187522"/>
            <a:ext cx="7424779" cy="2950777"/>
            <a:chOff x="4732333" y="1187522"/>
            <a:chExt cx="7424779" cy="2950777"/>
          </a:xfrm>
        </p:grpSpPr>
        <p:cxnSp>
          <p:nvCxnSpPr>
            <p:cNvPr id="22" name="Straight Connector 21">
              <a:extLst>
                <a:ext uri="{FF2B5EF4-FFF2-40B4-BE49-F238E27FC236}">
                  <a16:creationId xmlns:a16="http://schemas.microsoft.com/office/drawing/2014/main" id="{A75AC622-81D7-23C3-B2A4-8F17EFB64BAA}"/>
                </a:ext>
              </a:extLst>
            </p:cNvPr>
            <p:cNvCxnSpPr>
              <a:cxnSpLocks/>
            </p:cNvCxnSpPr>
            <p:nvPr/>
          </p:nvCxnSpPr>
          <p:spPr>
            <a:xfrm>
              <a:off x="4732333" y="3250165"/>
              <a:ext cx="0" cy="888134"/>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25" name="Callout: Bent Line 24">
              <a:extLst>
                <a:ext uri="{FF2B5EF4-FFF2-40B4-BE49-F238E27FC236}">
                  <a16:creationId xmlns:a16="http://schemas.microsoft.com/office/drawing/2014/main" id="{4F01280A-4012-CF92-6593-1390FF42EE49}"/>
                </a:ext>
              </a:extLst>
            </p:cNvPr>
            <p:cNvSpPr/>
            <p:nvPr/>
          </p:nvSpPr>
          <p:spPr>
            <a:xfrm>
              <a:off x="5250874" y="1187522"/>
              <a:ext cx="6906238" cy="861316"/>
            </a:xfrm>
            <a:prstGeom prst="borderCallout2">
              <a:avLst>
                <a:gd name="adj1" fmla="val 96942"/>
                <a:gd name="adj2" fmla="val 51138"/>
                <a:gd name="adj3" fmla="val 162254"/>
                <a:gd name="adj4" fmla="val 45733"/>
                <a:gd name="adj5" fmla="val 257648"/>
                <a:gd name="adj6" fmla="val -7738"/>
              </a:avLst>
            </a:prstGeom>
            <a:solidFill>
              <a:schemeClr val="accent6">
                <a:lumMod val="75000"/>
              </a:schemeClr>
            </a:solid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t>1η Έκδοση: Υλοποιεί τη λειτουργικότητα των 2 πρώτων προτάσεων της ΛΠ</a:t>
              </a:r>
            </a:p>
          </p:txBody>
        </p:sp>
      </p:grpSp>
      <p:grpSp>
        <p:nvGrpSpPr>
          <p:cNvPr id="30" name="Group 29">
            <a:extLst>
              <a:ext uri="{FF2B5EF4-FFF2-40B4-BE49-F238E27FC236}">
                <a16:creationId xmlns:a16="http://schemas.microsoft.com/office/drawing/2014/main" id="{C4B9A613-22AB-D80B-36EC-CF94E67C5188}"/>
              </a:ext>
            </a:extLst>
          </p:cNvPr>
          <p:cNvGrpSpPr/>
          <p:nvPr/>
        </p:nvGrpSpPr>
        <p:grpSpPr>
          <a:xfrm>
            <a:off x="4584655" y="3250165"/>
            <a:ext cx="6906238" cy="3063519"/>
            <a:chOff x="4584655" y="3250165"/>
            <a:chExt cx="6906238" cy="3063519"/>
          </a:xfrm>
        </p:grpSpPr>
        <p:sp>
          <p:nvSpPr>
            <p:cNvPr id="17" name="Callout: Bent Line 16">
              <a:extLst>
                <a:ext uri="{FF2B5EF4-FFF2-40B4-BE49-F238E27FC236}">
                  <a16:creationId xmlns:a16="http://schemas.microsoft.com/office/drawing/2014/main" id="{B84BD900-39DF-2BC3-D900-C54C2619BD2D}"/>
                </a:ext>
              </a:extLst>
            </p:cNvPr>
            <p:cNvSpPr/>
            <p:nvPr/>
          </p:nvSpPr>
          <p:spPr>
            <a:xfrm>
              <a:off x="4584655" y="5452368"/>
              <a:ext cx="6906238" cy="861316"/>
            </a:xfrm>
            <a:prstGeom prst="borderCallout2">
              <a:avLst>
                <a:gd name="adj1" fmla="val 1053"/>
                <a:gd name="adj2" fmla="val 50070"/>
                <a:gd name="adj3" fmla="val -55209"/>
                <a:gd name="adj4" fmla="val 49149"/>
                <a:gd name="adj5" fmla="val -155018"/>
                <a:gd name="adj6" fmla="val 19170"/>
              </a:avLst>
            </a:prstGeom>
            <a:solidFill>
              <a:schemeClr val="accent6">
                <a:lumMod val="75000"/>
              </a:schemeClr>
            </a:solid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t>2η Έκδοση: Υλοποιεί όλη τη λειτουργικότητα (4 προτάσεις της ΛΠ)</a:t>
              </a:r>
            </a:p>
          </p:txBody>
        </p:sp>
        <p:cxnSp>
          <p:nvCxnSpPr>
            <p:cNvPr id="26" name="Straight Connector 25">
              <a:extLst>
                <a:ext uri="{FF2B5EF4-FFF2-40B4-BE49-F238E27FC236}">
                  <a16:creationId xmlns:a16="http://schemas.microsoft.com/office/drawing/2014/main" id="{CB7B7F4E-29A8-B450-9E79-57944FFDCF40}"/>
                </a:ext>
              </a:extLst>
            </p:cNvPr>
            <p:cNvCxnSpPr>
              <a:cxnSpLocks/>
            </p:cNvCxnSpPr>
            <p:nvPr/>
          </p:nvCxnSpPr>
          <p:spPr>
            <a:xfrm flipH="1">
              <a:off x="5880764" y="3250165"/>
              <a:ext cx="17765" cy="1796075"/>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6929929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CEAE8-79E9-A021-921A-25AF6303A4AE}"/>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9870D7BE-1437-7324-1580-8F6FBF63D921}"/>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22DDAE48-F613-22B7-8330-C63B943FEB18}"/>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1</a:t>
            </a:r>
            <a:r>
              <a:rPr lang="el-GR" sz="4000" b="1" baseline="30000" dirty="0">
                <a:solidFill>
                  <a:srgbClr val="F9853D"/>
                </a:solidFill>
                <a:latin typeface="Bahnschrift" panose="020B0502040204020203" pitchFamily="34" charset="0"/>
              </a:rPr>
              <a:t>η</a:t>
            </a:r>
            <a:r>
              <a:rPr lang="el-GR" sz="4000" b="1" dirty="0">
                <a:solidFill>
                  <a:srgbClr val="F9853D"/>
                </a:solidFill>
                <a:latin typeface="Bahnschrift" panose="020B0502040204020203" pitchFamily="34" charset="0"/>
              </a:rPr>
              <a:t> έκδοση του </a:t>
            </a:r>
            <a:r>
              <a:rPr lang="en-GB" sz="4000" b="1" dirty="0">
                <a:solidFill>
                  <a:srgbClr val="F9853D"/>
                </a:solidFill>
                <a:latin typeface="Bahnschrift" panose="020B0502040204020203" pitchFamily="34" charset="0"/>
              </a:rPr>
              <a:t>Add2Numbers</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A126E981-4F84-E7A2-665B-F51D0D6F0980}"/>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4AD738C1-151F-CABF-5A73-847E53579860}"/>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17</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364F0D3B-164D-9ECC-F04B-AD186FEB6E02}"/>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4" name="Θέση υποσέλιδου 4">
            <a:extLst>
              <a:ext uri="{FF2B5EF4-FFF2-40B4-BE49-F238E27FC236}">
                <a16:creationId xmlns:a16="http://schemas.microsoft.com/office/drawing/2014/main" id="{E606D1BB-6C5C-7E38-B387-7D24C7926445}"/>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pic>
        <p:nvPicPr>
          <p:cNvPr id="4" name="Picture 3" descr="A screenshot of a computer&#10;&#10;AI-generated content may be incorrect.">
            <a:extLst>
              <a:ext uri="{FF2B5EF4-FFF2-40B4-BE49-F238E27FC236}">
                <a16:creationId xmlns:a16="http://schemas.microsoft.com/office/drawing/2014/main" id="{AB860B82-2F41-A706-9DD0-54290BA6F35D}"/>
              </a:ext>
            </a:extLst>
          </p:cNvPr>
          <p:cNvPicPr>
            <a:picLocks noChangeAspect="1"/>
          </p:cNvPicPr>
          <p:nvPr/>
        </p:nvPicPr>
        <p:blipFill>
          <a:blip r:embed="rId3"/>
          <a:stretch>
            <a:fillRect/>
          </a:stretch>
        </p:blipFill>
        <p:spPr>
          <a:xfrm>
            <a:off x="140669" y="1037326"/>
            <a:ext cx="11684820" cy="4961808"/>
          </a:xfrm>
          <a:prstGeom prst="rect">
            <a:avLst/>
          </a:prstGeom>
        </p:spPr>
      </p:pic>
    </p:spTree>
    <p:extLst>
      <p:ext uri="{BB962C8B-B14F-4D97-AF65-F5344CB8AC3E}">
        <p14:creationId xmlns:p14="http://schemas.microsoft.com/office/powerpoint/2010/main" val="135418082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F594F-3F41-3D68-442D-A0DF2A65E9F2}"/>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680748DB-C5E6-E480-E7AC-B9F5D8B0E91D}"/>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F3944B47-0A09-85A6-1A57-BE9DFF6835C9}"/>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Βιβλιοθήκη (</a:t>
            </a:r>
            <a:r>
              <a:rPr lang="en-GB" sz="4000" b="1" dirty="0">
                <a:solidFill>
                  <a:srgbClr val="F9853D"/>
                </a:solidFill>
                <a:latin typeface="Bahnschrift" panose="020B0502040204020203" pitchFamily="34" charset="0"/>
              </a:rPr>
              <a:t>library)</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2F4044F5-1B54-AC99-891E-AEBD95D7B9D0}"/>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21F619D5-168B-176E-CF00-408109723E9D}"/>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18</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8F01D949-D9D4-1F0E-F017-01CB18E09B92}"/>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4" name="Θέση υποσέλιδου 4">
            <a:extLst>
              <a:ext uri="{FF2B5EF4-FFF2-40B4-BE49-F238E27FC236}">
                <a16:creationId xmlns:a16="http://schemas.microsoft.com/office/drawing/2014/main" id="{063AAB01-591B-17A2-7233-20C9F6E24556}"/>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sp>
        <p:nvSpPr>
          <p:cNvPr id="5" name="Content Placeholder 2">
            <a:extLst>
              <a:ext uri="{FF2B5EF4-FFF2-40B4-BE49-F238E27FC236}">
                <a16:creationId xmlns:a16="http://schemas.microsoft.com/office/drawing/2014/main" id="{073FB714-191A-7234-DC98-15C1F742F676}"/>
              </a:ext>
            </a:extLst>
          </p:cNvPr>
          <p:cNvSpPr txBox="1">
            <a:spLocks/>
          </p:cNvSpPr>
          <p:nvPr/>
        </p:nvSpPr>
        <p:spPr bwMode="auto">
          <a:xfrm>
            <a:off x="326643" y="1082087"/>
            <a:ext cx="11538713" cy="1695118"/>
          </a:xfrm>
          <a:prstGeom prst="rect">
            <a:avLst/>
          </a:prstGeom>
          <a:solidFill>
            <a:srgbClr val="92D050"/>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None/>
              <a:defRPr/>
            </a:pPr>
            <a:r>
              <a:rPr lang="el-GR" sz="2400" kern="0" dirty="0">
                <a:solidFill>
                  <a:srgbClr val="000000"/>
                </a:solidFill>
                <a:latin typeface="Tahoma"/>
              </a:rPr>
              <a:t>Ο όρος βιβλιοθήκη χρησιμοποιείται στον προγραμματισμό για να αναφερθούμε σε ένα σύνολο συναρτήσεων που υλοποιούν διεργασίες και οι οποίες είναι σε μορφή που μπορούν να αξιοποιηθούν στα προγράμματα μας χωρίς να χρειάζεται να «ανακαλύψουμε πάλι τον τροχό». </a:t>
            </a:r>
            <a:endParaRPr lang="el-GR" sz="1800" b="1" kern="0" dirty="0">
              <a:solidFill>
                <a:srgbClr val="000000"/>
              </a:solidFill>
              <a:latin typeface="Tahoma"/>
            </a:endParaRPr>
          </a:p>
        </p:txBody>
      </p:sp>
      <p:sp>
        <p:nvSpPr>
          <p:cNvPr id="6" name="Content Placeholder 2">
            <a:extLst>
              <a:ext uri="{FF2B5EF4-FFF2-40B4-BE49-F238E27FC236}">
                <a16:creationId xmlns:a16="http://schemas.microsoft.com/office/drawing/2014/main" id="{2F78F2B9-BEC6-0CA1-6F90-3F8C69C3686E}"/>
              </a:ext>
            </a:extLst>
          </p:cNvPr>
          <p:cNvSpPr txBox="1">
            <a:spLocks/>
          </p:cNvSpPr>
          <p:nvPr/>
        </p:nvSpPr>
        <p:spPr bwMode="auto">
          <a:xfrm>
            <a:off x="326642" y="3139960"/>
            <a:ext cx="11538713" cy="2635953"/>
          </a:xfrm>
          <a:prstGeom prst="rect">
            <a:avLst/>
          </a:prstGeom>
          <a:solidFill>
            <a:srgbClr val="92D050"/>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a:buClr>
                <a:srgbClr val="3333CC"/>
              </a:buClr>
              <a:defRPr/>
            </a:pPr>
            <a:r>
              <a:rPr lang="el-GR" sz="2400" kern="0" dirty="0">
                <a:solidFill>
                  <a:srgbClr val="000000"/>
                </a:solidFill>
                <a:latin typeface="Tahoma"/>
              </a:rPr>
              <a:t>Η </a:t>
            </a:r>
            <a:r>
              <a:rPr lang="el-GR" sz="2400" b="1" kern="0" dirty="0" err="1">
                <a:solidFill>
                  <a:srgbClr val="000000"/>
                </a:solidFill>
                <a:latin typeface="Tahoma"/>
              </a:rPr>
              <a:t>printf</a:t>
            </a:r>
            <a:r>
              <a:rPr lang="el-GR" sz="2400" kern="0" dirty="0">
                <a:solidFill>
                  <a:srgbClr val="000000"/>
                </a:solidFill>
                <a:latin typeface="Tahoma"/>
              </a:rPr>
              <a:t> είναι μια από τις συναρτήσεις που μας δίνει μια ειδική βιβλιοθήκη, που ονομάζεται </a:t>
            </a:r>
            <a:r>
              <a:rPr lang="el-GR" sz="2400" b="1" kern="0" dirty="0">
                <a:solidFill>
                  <a:srgbClr val="000000"/>
                </a:solidFill>
                <a:latin typeface="Tahoma"/>
              </a:rPr>
              <a:t>πρότυπη βιβλιοθήκη </a:t>
            </a:r>
            <a:r>
              <a:rPr lang="el-GR" sz="2400" kern="0" dirty="0">
                <a:solidFill>
                  <a:srgbClr val="000000"/>
                </a:solidFill>
                <a:latin typeface="Tahoma"/>
              </a:rPr>
              <a:t>της C (</a:t>
            </a:r>
            <a:r>
              <a:rPr lang="el-GR" sz="2400" kern="0" dirty="0" err="1">
                <a:solidFill>
                  <a:srgbClr val="000000"/>
                </a:solidFill>
                <a:latin typeface="Tahoma"/>
              </a:rPr>
              <a:t>standard</a:t>
            </a:r>
            <a:r>
              <a:rPr lang="el-GR" sz="2400" kern="0" dirty="0">
                <a:solidFill>
                  <a:srgbClr val="000000"/>
                </a:solidFill>
                <a:latin typeface="Tahoma"/>
              </a:rPr>
              <a:t> C </a:t>
            </a:r>
            <a:r>
              <a:rPr lang="el-GR" sz="2400" kern="0" dirty="0" err="1">
                <a:solidFill>
                  <a:srgbClr val="000000"/>
                </a:solidFill>
                <a:latin typeface="Tahoma"/>
              </a:rPr>
              <a:t>library</a:t>
            </a:r>
            <a:r>
              <a:rPr lang="el-GR" sz="2400" kern="0" dirty="0">
                <a:solidFill>
                  <a:srgbClr val="000000"/>
                </a:solidFill>
                <a:latin typeface="Tahoma"/>
              </a:rPr>
              <a:t>). </a:t>
            </a:r>
          </a:p>
          <a:p>
            <a:pPr marL="0" indent="0">
              <a:buClr>
                <a:srgbClr val="3333CC"/>
              </a:buClr>
              <a:buNone/>
              <a:defRPr/>
            </a:pPr>
            <a:endParaRPr lang="el-GR" sz="2400" kern="0" dirty="0">
              <a:solidFill>
                <a:srgbClr val="000000"/>
              </a:solidFill>
              <a:latin typeface="Tahoma"/>
            </a:endParaRPr>
          </a:p>
          <a:p>
            <a:pPr>
              <a:buClr>
                <a:srgbClr val="3333CC"/>
              </a:buClr>
              <a:defRPr/>
            </a:pPr>
            <a:r>
              <a:rPr lang="el-GR" sz="2400" kern="0" dirty="0">
                <a:solidFill>
                  <a:srgbClr val="000000"/>
                </a:solidFill>
                <a:latin typeface="Tahoma"/>
              </a:rPr>
              <a:t>Αντίθετα η συνάρτηση </a:t>
            </a:r>
            <a:r>
              <a:rPr lang="el-GR" sz="2400" b="1" kern="0" dirty="0" err="1">
                <a:solidFill>
                  <a:srgbClr val="000000"/>
                </a:solidFill>
                <a:latin typeface="Tahoma"/>
              </a:rPr>
              <a:t>getInt</a:t>
            </a:r>
            <a:r>
              <a:rPr lang="el-GR" sz="2400" kern="0" dirty="0">
                <a:solidFill>
                  <a:srgbClr val="000000"/>
                </a:solidFill>
                <a:latin typeface="Tahoma"/>
              </a:rPr>
              <a:t>   δεν βρίσκεται στην πρότυπη βιβλιοθήκη αλλά σε μία άλλη την οποία καλούμε </a:t>
            </a:r>
            <a:r>
              <a:rPr lang="el-GR" sz="2400" b="1" kern="0" dirty="0">
                <a:solidFill>
                  <a:srgbClr val="000000"/>
                </a:solidFill>
                <a:latin typeface="Tahoma"/>
              </a:rPr>
              <a:t>βιβλιοθήκη τρίτου κατασκευαστή </a:t>
            </a:r>
            <a:r>
              <a:rPr lang="el-GR" sz="2400" kern="0" dirty="0">
                <a:solidFill>
                  <a:srgbClr val="000000"/>
                </a:solidFill>
                <a:latin typeface="Tahoma"/>
              </a:rPr>
              <a:t>(</a:t>
            </a:r>
            <a:r>
              <a:rPr lang="el-GR" sz="2400" kern="0" dirty="0" err="1">
                <a:solidFill>
                  <a:srgbClr val="000000"/>
                </a:solidFill>
                <a:latin typeface="Tahoma"/>
              </a:rPr>
              <a:t>third</a:t>
            </a:r>
            <a:r>
              <a:rPr lang="el-GR" sz="2400" kern="0" dirty="0">
                <a:solidFill>
                  <a:srgbClr val="000000"/>
                </a:solidFill>
                <a:latin typeface="Tahoma"/>
              </a:rPr>
              <a:t> </a:t>
            </a:r>
            <a:r>
              <a:rPr lang="el-GR" sz="2400" kern="0" dirty="0" err="1">
                <a:solidFill>
                  <a:srgbClr val="000000"/>
                </a:solidFill>
                <a:latin typeface="Tahoma"/>
              </a:rPr>
              <a:t>party</a:t>
            </a:r>
            <a:r>
              <a:rPr lang="el-GR" sz="2400" kern="0" dirty="0">
                <a:solidFill>
                  <a:srgbClr val="000000"/>
                </a:solidFill>
                <a:latin typeface="Tahoma"/>
              </a:rPr>
              <a:t> </a:t>
            </a:r>
            <a:r>
              <a:rPr lang="el-GR" sz="2400" kern="0" dirty="0" err="1">
                <a:solidFill>
                  <a:srgbClr val="000000"/>
                </a:solidFill>
                <a:latin typeface="Tahoma"/>
              </a:rPr>
              <a:t>library</a:t>
            </a:r>
            <a:r>
              <a:rPr lang="el-GR" sz="2400" kern="0" dirty="0">
                <a:solidFill>
                  <a:srgbClr val="000000"/>
                </a:solidFill>
                <a:latin typeface="Tahoma"/>
              </a:rPr>
              <a:t>). </a:t>
            </a:r>
            <a:endParaRPr lang="el-GR" sz="1800" b="1" kern="0" dirty="0">
              <a:solidFill>
                <a:srgbClr val="000000"/>
              </a:solidFill>
              <a:latin typeface="Tahoma"/>
            </a:endParaRPr>
          </a:p>
        </p:txBody>
      </p:sp>
    </p:spTree>
    <p:extLst>
      <p:ext uri="{BB962C8B-B14F-4D97-AF65-F5344CB8AC3E}">
        <p14:creationId xmlns:p14="http://schemas.microsoft.com/office/powerpoint/2010/main" val="226060060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B7AE4-4A0A-965A-099A-8636301DEC87}"/>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65A06FA4-A602-7095-C8F1-D9F6842E4B43}"/>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87BBE4E4-F134-2758-FA4D-BAC257AEE40D}"/>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Πρότυπη βιβλιοθήκη της </a:t>
            </a:r>
            <a:r>
              <a:rPr lang="en-GB" sz="4000" b="1" dirty="0">
                <a:solidFill>
                  <a:srgbClr val="F9853D"/>
                </a:solidFill>
                <a:latin typeface="Bahnschrift" panose="020B0502040204020203" pitchFamily="34" charset="0"/>
              </a:rPr>
              <a:t>C (standard C library)</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272F2748-3199-71E5-50AD-2AA532E9A0A2}"/>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0B703255-2A99-BE62-49DD-867A2FA8744D}"/>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19</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FBB79EBE-215C-E182-F9C6-63CA193BD570}"/>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4" name="Θέση υποσέλιδου 4">
            <a:extLst>
              <a:ext uri="{FF2B5EF4-FFF2-40B4-BE49-F238E27FC236}">
                <a16:creationId xmlns:a16="http://schemas.microsoft.com/office/drawing/2014/main" id="{74095C01-B63E-C21D-ACEC-9CE8756CF00D}"/>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sp>
        <p:nvSpPr>
          <p:cNvPr id="5" name="Content Placeholder 2">
            <a:extLst>
              <a:ext uri="{FF2B5EF4-FFF2-40B4-BE49-F238E27FC236}">
                <a16:creationId xmlns:a16="http://schemas.microsoft.com/office/drawing/2014/main" id="{30CF0F25-0B0E-F1A2-F75D-B0A81281D3A0}"/>
              </a:ext>
            </a:extLst>
          </p:cNvPr>
          <p:cNvSpPr txBox="1">
            <a:spLocks/>
          </p:cNvSpPr>
          <p:nvPr/>
        </p:nvSpPr>
        <p:spPr bwMode="auto">
          <a:xfrm>
            <a:off x="326643" y="1082087"/>
            <a:ext cx="11538713" cy="1273878"/>
          </a:xfrm>
          <a:prstGeom prst="rect">
            <a:avLst/>
          </a:prstGeom>
          <a:solidFill>
            <a:srgbClr val="92D050"/>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a:buClr>
                <a:srgbClr val="3333CC"/>
              </a:buClr>
              <a:defRPr/>
            </a:pPr>
            <a:r>
              <a:rPr lang="el-GR" sz="2400" kern="0" dirty="0">
                <a:solidFill>
                  <a:srgbClr val="000000"/>
                </a:solidFill>
                <a:latin typeface="Tahoma"/>
              </a:rPr>
              <a:t>ορίζει ένα σύνολο από συναρτήσεις που υλοποιούν βασικές διεργασίες. </a:t>
            </a:r>
          </a:p>
          <a:p>
            <a:pPr>
              <a:buClr>
                <a:srgbClr val="3333CC"/>
              </a:buClr>
              <a:defRPr/>
            </a:pPr>
            <a:r>
              <a:rPr lang="el-GR" sz="2400" kern="0" dirty="0">
                <a:solidFill>
                  <a:srgbClr val="000000"/>
                </a:solidFill>
                <a:latin typeface="Tahoma"/>
              </a:rPr>
              <a:t>η επαναχρησιμοποίηση έτοιμων τμημάτων κώδικα μειώνει σημαντικά το χρόνο ανάπτυξης, αυξάνοντας ταυτόχρονα την αξιοπιστία. </a:t>
            </a:r>
            <a:endParaRPr lang="el-GR" sz="1800" b="1" kern="0" dirty="0">
              <a:solidFill>
                <a:srgbClr val="000000"/>
              </a:solidFill>
              <a:latin typeface="Tahoma"/>
            </a:endParaRPr>
          </a:p>
        </p:txBody>
      </p:sp>
      <p:pic>
        <p:nvPicPr>
          <p:cNvPr id="4" name="Picture 3">
            <a:extLst>
              <a:ext uri="{FF2B5EF4-FFF2-40B4-BE49-F238E27FC236}">
                <a16:creationId xmlns:a16="http://schemas.microsoft.com/office/drawing/2014/main" id="{A4E4730F-AADD-1FDE-AEAE-D318D0D10207}"/>
              </a:ext>
            </a:extLst>
          </p:cNvPr>
          <p:cNvPicPr>
            <a:picLocks noChangeAspect="1"/>
          </p:cNvPicPr>
          <p:nvPr/>
        </p:nvPicPr>
        <p:blipFill>
          <a:blip r:embed="rId3"/>
          <a:stretch>
            <a:fillRect/>
          </a:stretch>
        </p:blipFill>
        <p:spPr>
          <a:xfrm>
            <a:off x="140669" y="2718721"/>
            <a:ext cx="10527331" cy="3289791"/>
          </a:xfrm>
          <a:prstGeom prst="rect">
            <a:avLst/>
          </a:prstGeom>
        </p:spPr>
      </p:pic>
      <p:sp>
        <p:nvSpPr>
          <p:cNvPr id="7" name="Callout: Bent Line 6">
            <a:extLst>
              <a:ext uri="{FF2B5EF4-FFF2-40B4-BE49-F238E27FC236}">
                <a16:creationId xmlns:a16="http://schemas.microsoft.com/office/drawing/2014/main" id="{970E2C61-F168-6C24-DE46-6BA58E2EF01E}"/>
              </a:ext>
            </a:extLst>
          </p:cNvPr>
          <p:cNvSpPr/>
          <p:nvPr/>
        </p:nvSpPr>
        <p:spPr>
          <a:xfrm>
            <a:off x="6095999" y="2485241"/>
            <a:ext cx="2968894" cy="616697"/>
          </a:xfrm>
          <a:prstGeom prst="borderCallout2">
            <a:avLst>
              <a:gd name="adj1" fmla="val 50710"/>
              <a:gd name="adj2" fmla="val 99"/>
              <a:gd name="adj3" fmla="val 57803"/>
              <a:gd name="adj4" fmla="val -20896"/>
              <a:gd name="adj5" fmla="val 127101"/>
              <a:gd name="adj6" fmla="val -47379"/>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t>Συνάρτηση</a:t>
            </a:r>
            <a:endParaRPr lang="en-GB" sz="2400" dirty="0"/>
          </a:p>
        </p:txBody>
      </p:sp>
      <p:sp>
        <p:nvSpPr>
          <p:cNvPr id="9" name="Callout: Bent Line 8">
            <a:extLst>
              <a:ext uri="{FF2B5EF4-FFF2-40B4-BE49-F238E27FC236}">
                <a16:creationId xmlns:a16="http://schemas.microsoft.com/office/drawing/2014/main" id="{5D61E1C0-DB1C-1A6A-1840-76EE48F2CD92}"/>
              </a:ext>
            </a:extLst>
          </p:cNvPr>
          <p:cNvSpPr/>
          <p:nvPr/>
        </p:nvSpPr>
        <p:spPr>
          <a:xfrm>
            <a:off x="7580446" y="5975862"/>
            <a:ext cx="3228224" cy="616697"/>
          </a:xfrm>
          <a:prstGeom prst="borderCallout2">
            <a:avLst>
              <a:gd name="adj1" fmla="val 50710"/>
              <a:gd name="adj2" fmla="val 99"/>
              <a:gd name="adj3" fmla="val 57803"/>
              <a:gd name="adj4" fmla="val -20896"/>
              <a:gd name="adj5" fmla="val 7525"/>
              <a:gd name="adj6" fmla="val -40424"/>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t>Αρχείο επικεφαλίδας</a:t>
            </a:r>
          </a:p>
          <a:p>
            <a:pPr algn="ctr"/>
            <a:r>
              <a:rPr lang="el-GR" sz="2400" b="1" dirty="0"/>
              <a:t>(</a:t>
            </a:r>
            <a:r>
              <a:rPr lang="en-US" sz="2400" b="1" dirty="0"/>
              <a:t>header file)</a:t>
            </a:r>
            <a:endParaRPr lang="en-GB" sz="2400" dirty="0"/>
          </a:p>
        </p:txBody>
      </p:sp>
    </p:spTree>
    <p:extLst>
      <p:ext uri="{BB962C8B-B14F-4D97-AF65-F5344CB8AC3E}">
        <p14:creationId xmlns:p14="http://schemas.microsoft.com/office/powerpoint/2010/main" val="214663900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FF07C-DF60-97BE-EADB-2DFECDBB1251}"/>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CB24C8EA-B0CF-2022-CCAA-78585A30B808}"/>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A85A46D4-DB8C-A4DB-A6A4-862F2D0DD646}"/>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Βιβλιοθήκη τρίτου κατασκευαστή</a:t>
            </a:r>
            <a:r>
              <a:rPr lang="en-US" sz="4000" b="1" dirty="0">
                <a:solidFill>
                  <a:srgbClr val="F9853D"/>
                </a:solidFill>
                <a:latin typeface="Bahnschrift" panose="020B0502040204020203" pitchFamily="34" charset="0"/>
              </a:rPr>
              <a:t> – i2p library</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31944623-F765-56A4-515C-2D970A716E6A}"/>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C456571E-9410-A01D-317D-CF24002DE370}"/>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20</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5015FC98-5979-EA6D-590C-89DE1B8A5565}"/>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4" name="Θέση υποσέλιδου 4">
            <a:extLst>
              <a:ext uri="{FF2B5EF4-FFF2-40B4-BE49-F238E27FC236}">
                <a16:creationId xmlns:a16="http://schemas.microsoft.com/office/drawing/2014/main" id="{A631554F-A770-EDA3-2D17-CBA376BC86A1}"/>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sp>
        <p:nvSpPr>
          <p:cNvPr id="5" name="Content Placeholder 2">
            <a:extLst>
              <a:ext uri="{FF2B5EF4-FFF2-40B4-BE49-F238E27FC236}">
                <a16:creationId xmlns:a16="http://schemas.microsoft.com/office/drawing/2014/main" id="{D67AE481-41FC-60D6-37B1-C05C2283955B}"/>
              </a:ext>
            </a:extLst>
          </p:cNvPr>
          <p:cNvSpPr txBox="1">
            <a:spLocks/>
          </p:cNvSpPr>
          <p:nvPr/>
        </p:nvSpPr>
        <p:spPr bwMode="auto">
          <a:xfrm>
            <a:off x="187289" y="862693"/>
            <a:ext cx="11864042" cy="2566307"/>
          </a:xfrm>
          <a:prstGeom prst="rect">
            <a:avLst/>
          </a:prstGeom>
          <a:solidFill>
            <a:srgbClr val="92D050"/>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a:buClr>
                <a:srgbClr val="3333CC"/>
              </a:buClr>
              <a:defRPr/>
            </a:pPr>
            <a:r>
              <a:rPr lang="el-GR" sz="2400" kern="0" dirty="0">
                <a:solidFill>
                  <a:srgbClr val="000000"/>
                </a:solidFill>
                <a:latin typeface="Tahoma"/>
              </a:rPr>
              <a:t>Υλοποιεί διεργασίες που συχνά συναντώνται σε κατηγορίες προγραμμάτων.</a:t>
            </a:r>
          </a:p>
          <a:p>
            <a:pPr>
              <a:buClr>
                <a:srgbClr val="3333CC"/>
              </a:buClr>
              <a:defRPr/>
            </a:pPr>
            <a:r>
              <a:rPr lang="el-GR" sz="2400" kern="0" dirty="0">
                <a:solidFill>
                  <a:srgbClr val="000000"/>
                </a:solidFill>
                <a:latin typeface="Tahoma"/>
              </a:rPr>
              <a:t> Η βιβλιοθήκη i2p (</a:t>
            </a:r>
            <a:r>
              <a:rPr lang="el-GR" sz="2400" kern="0" dirty="0" err="1">
                <a:solidFill>
                  <a:srgbClr val="000000"/>
                </a:solidFill>
                <a:latin typeface="Tahoma"/>
              </a:rPr>
              <a:t>introduction</a:t>
            </a:r>
            <a:r>
              <a:rPr lang="el-GR" sz="2400" kern="0" dirty="0">
                <a:solidFill>
                  <a:srgbClr val="000000"/>
                </a:solidFill>
                <a:latin typeface="Tahoma"/>
              </a:rPr>
              <a:t> </a:t>
            </a:r>
            <a:r>
              <a:rPr lang="el-GR" sz="2400" kern="0" dirty="0" err="1">
                <a:solidFill>
                  <a:srgbClr val="000000"/>
                </a:solidFill>
                <a:latin typeface="Tahoma"/>
              </a:rPr>
              <a:t>to</a:t>
            </a:r>
            <a:r>
              <a:rPr lang="el-GR" sz="2400" kern="0" dirty="0">
                <a:solidFill>
                  <a:srgbClr val="000000"/>
                </a:solidFill>
                <a:latin typeface="Tahoma"/>
              </a:rPr>
              <a:t> </a:t>
            </a:r>
            <a:r>
              <a:rPr lang="el-GR" sz="2400" kern="0" dirty="0" err="1">
                <a:solidFill>
                  <a:srgbClr val="000000"/>
                </a:solidFill>
                <a:latin typeface="Tahoma"/>
              </a:rPr>
              <a:t>programming</a:t>
            </a:r>
            <a:r>
              <a:rPr lang="el-GR" sz="2400" kern="0" dirty="0">
                <a:solidFill>
                  <a:srgbClr val="000000"/>
                </a:solidFill>
                <a:latin typeface="Tahoma"/>
              </a:rPr>
              <a:t>) δημιουργήθηκε για να διευκολύνει την εισαγωγή στην τέχνη του προγραμματισμού με την γλώσσα C. </a:t>
            </a:r>
          </a:p>
          <a:p>
            <a:pPr>
              <a:buClr>
                <a:srgbClr val="3333CC"/>
              </a:buClr>
              <a:defRPr/>
            </a:pPr>
            <a:r>
              <a:rPr lang="el-GR" sz="2400" kern="0" dirty="0">
                <a:solidFill>
                  <a:srgbClr val="000000"/>
                </a:solidFill>
                <a:latin typeface="Tahoma"/>
              </a:rPr>
              <a:t>Αποτελείται από 2 αρχεία: </a:t>
            </a:r>
          </a:p>
          <a:p>
            <a:pPr lvl="1">
              <a:buClr>
                <a:srgbClr val="3333CC"/>
              </a:buClr>
              <a:defRPr/>
            </a:pPr>
            <a:r>
              <a:rPr lang="el-GR" sz="2000" kern="0" dirty="0" err="1">
                <a:solidFill>
                  <a:srgbClr val="000000"/>
                </a:solidFill>
                <a:latin typeface="Tahoma"/>
              </a:rPr>
              <a:t>To</a:t>
            </a:r>
            <a:r>
              <a:rPr lang="el-GR" sz="2000" kern="0" dirty="0">
                <a:solidFill>
                  <a:srgbClr val="000000"/>
                </a:solidFill>
                <a:latin typeface="Tahoma"/>
              </a:rPr>
              <a:t> </a:t>
            </a:r>
            <a:r>
              <a:rPr lang="el-GR" sz="2000" b="1" kern="0" dirty="0">
                <a:solidFill>
                  <a:srgbClr val="000000"/>
                </a:solidFill>
                <a:latin typeface="Tahoma"/>
              </a:rPr>
              <a:t>libi2p.a</a:t>
            </a:r>
            <a:r>
              <a:rPr lang="el-GR" sz="2000" kern="0" dirty="0">
                <a:solidFill>
                  <a:srgbClr val="000000"/>
                </a:solidFill>
                <a:latin typeface="Tahoma"/>
              </a:rPr>
              <a:t> περιέχει τον εκτελέσιμο κώδικα των συναρτήσεων που η βιβλιοθήκη περιλαμβάνει. </a:t>
            </a:r>
          </a:p>
          <a:p>
            <a:pPr lvl="1">
              <a:buClr>
                <a:srgbClr val="3333CC"/>
              </a:buClr>
              <a:defRPr/>
            </a:pPr>
            <a:r>
              <a:rPr lang="el-GR" sz="2000" kern="0" dirty="0">
                <a:solidFill>
                  <a:srgbClr val="000000"/>
                </a:solidFill>
                <a:latin typeface="Tahoma"/>
              </a:rPr>
              <a:t>Το </a:t>
            </a:r>
            <a:r>
              <a:rPr lang="el-GR" sz="2000" b="1" kern="0" dirty="0">
                <a:solidFill>
                  <a:srgbClr val="000000"/>
                </a:solidFill>
                <a:latin typeface="Tahoma"/>
              </a:rPr>
              <a:t>i2p.h</a:t>
            </a:r>
            <a:r>
              <a:rPr lang="el-GR" sz="2000" kern="0" dirty="0">
                <a:solidFill>
                  <a:srgbClr val="000000"/>
                </a:solidFill>
                <a:latin typeface="Tahoma"/>
              </a:rPr>
              <a:t> είναι το αρχείο επικεφαλίδας της βιβλιοθήκης.</a:t>
            </a:r>
            <a:endParaRPr lang="el-GR" sz="1400" b="1" kern="0" dirty="0">
              <a:solidFill>
                <a:srgbClr val="000000"/>
              </a:solidFill>
              <a:latin typeface="Tahoma"/>
            </a:endParaRPr>
          </a:p>
        </p:txBody>
      </p:sp>
      <p:sp>
        <p:nvSpPr>
          <p:cNvPr id="12" name="TextBox 11">
            <a:extLst>
              <a:ext uri="{FF2B5EF4-FFF2-40B4-BE49-F238E27FC236}">
                <a16:creationId xmlns:a16="http://schemas.microsoft.com/office/drawing/2014/main" id="{B19AB24F-F397-5B9B-7F21-6044DEB2FA24}"/>
              </a:ext>
            </a:extLst>
          </p:cNvPr>
          <p:cNvSpPr txBox="1"/>
          <p:nvPr/>
        </p:nvSpPr>
        <p:spPr>
          <a:xfrm>
            <a:off x="187289" y="3548813"/>
            <a:ext cx="9738376" cy="584775"/>
          </a:xfrm>
          <a:prstGeom prst="rect">
            <a:avLst/>
          </a:prstGeom>
          <a:noFill/>
        </p:spPr>
        <p:txBody>
          <a:bodyPr wrap="square" rtlCol="0">
            <a:spAutoFit/>
          </a:bodyPr>
          <a:lstStyle/>
          <a:p>
            <a:r>
              <a:rPr lang="el-GR" sz="3200" b="1" dirty="0">
                <a:solidFill>
                  <a:srgbClr val="F9853D"/>
                </a:solidFill>
                <a:latin typeface="Bahnschrift" panose="020B0502040204020203" pitchFamily="34" charset="0"/>
                <a:ea typeface="+mj-ea"/>
                <a:cs typeface="+mj-cs"/>
              </a:rPr>
              <a:t>Ενέργειες για αξιοποίηση της βιβλιοθήκης i2p</a:t>
            </a:r>
          </a:p>
        </p:txBody>
      </p:sp>
      <p:sp>
        <p:nvSpPr>
          <p:cNvPr id="13" name="TextBox 12">
            <a:extLst>
              <a:ext uri="{FF2B5EF4-FFF2-40B4-BE49-F238E27FC236}">
                <a16:creationId xmlns:a16="http://schemas.microsoft.com/office/drawing/2014/main" id="{A4EDC1B5-5504-EB70-0346-B03C1A8F31B6}"/>
              </a:ext>
            </a:extLst>
          </p:cNvPr>
          <p:cNvSpPr txBox="1"/>
          <p:nvPr/>
        </p:nvSpPr>
        <p:spPr>
          <a:xfrm>
            <a:off x="187289" y="4276950"/>
            <a:ext cx="5100763" cy="1815882"/>
          </a:xfrm>
          <a:prstGeom prst="rect">
            <a:avLst/>
          </a:prstGeom>
          <a:noFill/>
        </p:spPr>
        <p:txBody>
          <a:bodyPr wrap="square" rtlCol="0">
            <a:spAutoFit/>
          </a:bodyPr>
          <a:lstStyle/>
          <a:p>
            <a:r>
              <a:rPr lang="el-GR" sz="2800" dirty="0"/>
              <a:t>#</a:t>
            </a:r>
            <a:r>
              <a:rPr lang="en-US" sz="2800" dirty="0"/>
              <a:t>include</a:t>
            </a:r>
            <a:r>
              <a:rPr lang="el-GR" sz="2800" dirty="0"/>
              <a:t> "..\</a:t>
            </a:r>
            <a:r>
              <a:rPr lang="en-US" sz="2800" dirty="0" err="1"/>
              <a:t>i</a:t>
            </a:r>
            <a:r>
              <a:rPr lang="el-GR" sz="2800" dirty="0"/>
              <a:t>2</a:t>
            </a:r>
            <a:r>
              <a:rPr lang="en-US" sz="2800" dirty="0"/>
              <a:t>p</a:t>
            </a:r>
            <a:r>
              <a:rPr lang="el-GR" sz="2800" dirty="0"/>
              <a:t>.</a:t>
            </a:r>
            <a:r>
              <a:rPr lang="en-US" sz="2800" dirty="0"/>
              <a:t>h</a:t>
            </a:r>
            <a:endParaRPr lang="el-GR" sz="2800" dirty="0"/>
          </a:p>
          <a:p>
            <a:endParaRPr lang="el-GR" sz="2800" dirty="0"/>
          </a:p>
          <a:p>
            <a:r>
              <a:rPr lang="el-GR" sz="2800" dirty="0"/>
              <a:t>#include "C:\Code\I2P\i2p.h"</a:t>
            </a:r>
            <a:endParaRPr lang="en-GB" sz="2800" dirty="0"/>
          </a:p>
          <a:p>
            <a:endParaRPr lang="en-GB" sz="2800" dirty="0"/>
          </a:p>
        </p:txBody>
      </p:sp>
      <p:grpSp>
        <p:nvGrpSpPr>
          <p:cNvPr id="17" name="Group 16">
            <a:extLst>
              <a:ext uri="{FF2B5EF4-FFF2-40B4-BE49-F238E27FC236}">
                <a16:creationId xmlns:a16="http://schemas.microsoft.com/office/drawing/2014/main" id="{174B4BCF-FACA-1E77-0613-924631D35676}"/>
              </a:ext>
            </a:extLst>
          </p:cNvPr>
          <p:cNvGrpSpPr/>
          <p:nvPr/>
        </p:nvGrpSpPr>
        <p:grpSpPr>
          <a:xfrm>
            <a:off x="5686972" y="4158056"/>
            <a:ext cx="7187283" cy="2429924"/>
            <a:chOff x="5686972" y="4158056"/>
            <a:chExt cx="7187283" cy="2429924"/>
          </a:xfrm>
        </p:grpSpPr>
        <p:pic>
          <p:nvPicPr>
            <p:cNvPr id="15" name="Picture 14">
              <a:extLst>
                <a:ext uri="{FF2B5EF4-FFF2-40B4-BE49-F238E27FC236}">
                  <a16:creationId xmlns:a16="http://schemas.microsoft.com/office/drawing/2014/main" id="{68A4E326-6BDB-600E-534E-6F819E700ABC}"/>
                </a:ext>
              </a:extLst>
            </p:cNvPr>
            <p:cNvPicPr>
              <a:picLocks noChangeAspect="1"/>
            </p:cNvPicPr>
            <p:nvPr/>
          </p:nvPicPr>
          <p:blipFill>
            <a:blip r:embed="rId3"/>
            <a:stretch>
              <a:fillRect/>
            </a:stretch>
          </p:blipFill>
          <p:spPr>
            <a:xfrm>
              <a:off x="5686972" y="4158056"/>
              <a:ext cx="5884498" cy="2290970"/>
            </a:xfrm>
            <a:prstGeom prst="rect">
              <a:avLst/>
            </a:prstGeom>
          </p:spPr>
        </p:pic>
        <p:sp>
          <p:nvSpPr>
            <p:cNvPr id="16" name="TextBox 15">
              <a:extLst>
                <a:ext uri="{FF2B5EF4-FFF2-40B4-BE49-F238E27FC236}">
                  <a16:creationId xmlns:a16="http://schemas.microsoft.com/office/drawing/2014/main" id="{C130CD83-099E-A7CB-5B44-5F8B4D39B0E9}"/>
                </a:ext>
              </a:extLst>
            </p:cNvPr>
            <p:cNvSpPr txBox="1"/>
            <p:nvPr/>
          </p:nvSpPr>
          <p:spPr>
            <a:xfrm>
              <a:off x="10550024" y="6064760"/>
              <a:ext cx="2324231" cy="523220"/>
            </a:xfrm>
            <a:prstGeom prst="rect">
              <a:avLst/>
            </a:prstGeom>
            <a:noFill/>
          </p:spPr>
          <p:txBody>
            <a:bodyPr wrap="square" rtlCol="0">
              <a:spAutoFit/>
            </a:bodyPr>
            <a:lstStyle/>
            <a:p>
              <a:r>
                <a:rPr lang="en-US" sz="2800" b="1" dirty="0"/>
                <a:t>libi2p.a</a:t>
              </a:r>
              <a:endParaRPr lang="en-GB" sz="2800" b="1" dirty="0"/>
            </a:p>
          </p:txBody>
        </p:sp>
      </p:grpSp>
    </p:spTree>
    <p:extLst>
      <p:ext uri="{BB962C8B-B14F-4D97-AF65-F5344CB8AC3E}">
        <p14:creationId xmlns:p14="http://schemas.microsoft.com/office/powerpoint/2010/main" val="420449638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4DD9E-4D2A-108B-93E8-3882FDF01167}"/>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54F9318B-DB20-3807-BEED-00B4BC612D8E}"/>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58B1FA30-0BA3-7163-41DA-2AAC8B9C65D1}"/>
              </a:ext>
            </a:extLst>
          </p:cNvPr>
          <p:cNvSpPr>
            <a:spLocks noGrp="1"/>
          </p:cNvSpPr>
          <p:nvPr>
            <p:ph type="title"/>
          </p:nvPr>
        </p:nvSpPr>
        <p:spPr>
          <a:xfrm>
            <a:off x="0" y="0"/>
            <a:ext cx="12191999" cy="719331"/>
          </a:xfrm>
          <a:solidFill>
            <a:srgbClr val="FDCBAD"/>
          </a:solidFill>
        </p:spPr>
        <p:txBody>
          <a:bodyPr>
            <a:normAutofit/>
          </a:bodyPr>
          <a:lstStyle/>
          <a:p>
            <a:r>
              <a:rPr lang="en-US" sz="4000" b="1" dirty="0">
                <a:solidFill>
                  <a:srgbClr val="F9853D"/>
                </a:solidFill>
                <a:latin typeface="Bahnschrift" panose="020B0502040204020203" pitchFamily="34" charset="0"/>
              </a:rPr>
              <a:t>i2p library</a:t>
            </a:r>
            <a:r>
              <a:rPr lang="el-GR" sz="4000" b="1" dirty="0">
                <a:solidFill>
                  <a:srgbClr val="F9853D"/>
                </a:solidFill>
                <a:latin typeface="Bahnschrift" panose="020B0502040204020203" pitchFamily="34" charset="0"/>
              </a:rPr>
              <a:t>  στο </a:t>
            </a:r>
            <a:r>
              <a:rPr lang="en-US" sz="4000" b="1" dirty="0" err="1">
                <a:solidFill>
                  <a:srgbClr val="F9853D"/>
                </a:solidFill>
                <a:latin typeface="Bahnschrift" panose="020B0502040204020203" pitchFamily="34" charset="0"/>
              </a:rPr>
              <a:t>github</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2AF25B1E-3F63-A71A-8E8F-4AAB6AEB99C2}"/>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6E0B838E-2EBC-230E-AA19-D1F41392C4D3}"/>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21</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6C5B4B50-CDBE-063A-FCE0-2CE096BD7894}"/>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4" name="Θέση υποσέλιδου 4">
            <a:extLst>
              <a:ext uri="{FF2B5EF4-FFF2-40B4-BE49-F238E27FC236}">
                <a16:creationId xmlns:a16="http://schemas.microsoft.com/office/drawing/2014/main" id="{AC8AB73C-79BD-E1D6-B6E1-11759F618381}"/>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pic>
        <p:nvPicPr>
          <p:cNvPr id="6" name="Picture 5">
            <a:extLst>
              <a:ext uri="{FF2B5EF4-FFF2-40B4-BE49-F238E27FC236}">
                <a16:creationId xmlns:a16="http://schemas.microsoft.com/office/drawing/2014/main" id="{D6902147-4E48-A921-47C7-1CBA33B5D7B8}"/>
              </a:ext>
            </a:extLst>
          </p:cNvPr>
          <p:cNvPicPr>
            <a:picLocks noChangeAspect="1"/>
          </p:cNvPicPr>
          <p:nvPr/>
        </p:nvPicPr>
        <p:blipFill>
          <a:blip r:embed="rId3"/>
          <a:stretch>
            <a:fillRect/>
          </a:stretch>
        </p:blipFill>
        <p:spPr>
          <a:xfrm>
            <a:off x="527436" y="1037326"/>
            <a:ext cx="8970525" cy="4581572"/>
          </a:xfrm>
          <a:prstGeom prst="rect">
            <a:avLst/>
          </a:prstGeom>
        </p:spPr>
      </p:pic>
    </p:spTree>
    <p:extLst>
      <p:ext uri="{BB962C8B-B14F-4D97-AF65-F5344CB8AC3E}">
        <p14:creationId xmlns:p14="http://schemas.microsoft.com/office/powerpoint/2010/main" val="274554394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669CB-1A8F-7825-26EF-22F014D42C80}"/>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B0BCC4C9-36BD-6AEF-91AE-B1CC8C8461B0}"/>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B039A75A-FCB0-98A3-D1E5-92DD7B5B7169}"/>
              </a:ext>
            </a:extLst>
          </p:cNvPr>
          <p:cNvSpPr>
            <a:spLocks noGrp="1"/>
          </p:cNvSpPr>
          <p:nvPr>
            <p:ph type="title"/>
          </p:nvPr>
        </p:nvSpPr>
        <p:spPr>
          <a:xfrm>
            <a:off x="0" y="0"/>
            <a:ext cx="12191999" cy="719331"/>
          </a:xfrm>
          <a:solidFill>
            <a:srgbClr val="FDCBAD"/>
          </a:solidFill>
        </p:spPr>
        <p:txBody>
          <a:bodyPr>
            <a:normAutofit/>
          </a:bodyPr>
          <a:lstStyle/>
          <a:p>
            <a:r>
              <a:rPr lang="en-US" sz="4000" b="1" dirty="0">
                <a:solidFill>
                  <a:srgbClr val="F9853D"/>
                </a:solidFill>
                <a:latin typeface="Bahnschrift" panose="020B0502040204020203" pitchFamily="34" charset="0"/>
              </a:rPr>
              <a:t>Hands-on</a:t>
            </a:r>
            <a:r>
              <a:rPr lang="el-GR" sz="4000" b="1" dirty="0">
                <a:solidFill>
                  <a:srgbClr val="F9853D"/>
                </a:solidFill>
                <a:latin typeface="Bahnschrift" panose="020B0502040204020203" pitchFamily="34" charset="0"/>
              </a:rPr>
              <a:t>  (</a:t>
            </a:r>
            <a:r>
              <a:rPr lang="en-US" sz="4000" b="1" dirty="0">
                <a:solidFill>
                  <a:srgbClr val="F9853D"/>
                </a:solidFill>
                <a:latin typeface="Bahnschrift" panose="020B0502040204020203" pitchFamily="34" charset="0"/>
              </a:rPr>
              <a:t>Add2Numbers Version 1)</a:t>
            </a:r>
          </a:p>
        </p:txBody>
      </p:sp>
      <p:sp>
        <p:nvSpPr>
          <p:cNvPr id="8" name="Θέση υποσέλιδου 4">
            <a:extLst>
              <a:ext uri="{FF2B5EF4-FFF2-40B4-BE49-F238E27FC236}">
                <a16:creationId xmlns:a16="http://schemas.microsoft.com/office/drawing/2014/main" id="{AF9EDEE6-04DE-4921-25D1-DB5F59F89D4E}"/>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B23FB871-2F76-0567-2A5C-4185C65C6613}"/>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22</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9D55E2AE-B727-3CAD-1B3E-AA039CA3E66F}"/>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4" name="Θέση υποσέλιδου 4">
            <a:extLst>
              <a:ext uri="{FF2B5EF4-FFF2-40B4-BE49-F238E27FC236}">
                <a16:creationId xmlns:a16="http://schemas.microsoft.com/office/drawing/2014/main" id="{F6F10548-35B3-72CF-8A34-20CE849CF5ED}"/>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sp>
        <p:nvSpPr>
          <p:cNvPr id="7" name="Speech Bubble: Rectangle with Corners Rounded 6">
            <a:extLst>
              <a:ext uri="{FF2B5EF4-FFF2-40B4-BE49-F238E27FC236}">
                <a16:creationId xmlns:a16="http://schemas.microsoft.com/office/drawing/2014/main" id="{4A8178FE-D3B1-F896-2EA3-AF72A15E120E}"/>
              </a:ext>
            </a:extLst>
          </p:cNvPr>
          <p:cNvSpPr/>
          <p:nvPr/>
        </p:nvSpPr>
        <p:spPr>
          <a:xfrm>
            <a:off x="6203273" y="1604478"/>
            <a:ext cx="5633357" cy="1418942"/>
          </a:xfrm>
          <a:prstGeom prst="wedgeRoundRectCallout">
            <a:avLst>
              <a:gd name="adj1" fmla="val -59222"/>
              <a:gd name="adj2" fmla="val 98719"/>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solidFill>
                  <a:schemeClr val="tx1"/>
                </a:solidFill>
                <a:highlight>
                  <a:srgbClr val="FFFF00"/>
                </a:highlight>
              </a:rPr>
              <a:t>Αναπτύξτε την 1</a:t>
            </a:r>
            <a:r>
              <a:rPr lang="el-GR" sz="2400" b="1" baseline="30000" dirty="0">
                <a:solidFill>
                  <a:schemeClr val="tx1"/>
                </a:solidFill>
                <a:highlight>
                  <a:srgbClr val="FFFF00"/>
                </a:highlight>
              </a:rPr>
              <a:t>η</a:t>
            </a:r>
            <a:r>
              <a:rPr lang="el-GR" sz="2400" b="1" dirty="0">
                <a:solidFill>
                  <a:schemeClr val="tx1"/>
                </a:solidFill>
                <a:highlight>
                  <a:srgbClr val="FFFF00"/>
                </a:highlight>
              </a:rPr>
              <a:t> έκδοση του  προγράμματος </a:t>
            </a:r>
            <a:r>
              <a:rPr lang="en-US" sz="2400" b="1" dirty="0">
                <a:solidFill>
                  <a:schemeClr val="tx1"/>
                </a:solidFill>
                <a:highlight>
                  <a:srgbClr val="FFFF00"/>
                </a:highlight>
              </a:rPr>
              <a:t>Add2Numbers </a:t>
            </a:r>
            <a:r>
              <a:rPr lang="el-GR" sz="2400" b="1" dirty="0">
                <a:solidFill>
                  <a:schemeClr val="tx1"/>
                </a:solidFill>
                <a:highlight>
                  <a:srgbClr val="FFFF00"/>
                </a:highlight>
              </a:rPr>
              <a:t>αξιοποιώντας την </a:t>
            </a:r>
            <a:r>
              <a:rPr lang="en-US" sz="2400" b="1" dirty="0">
                <a:solidFill>
                  <a:schemeClr val="tx1"/>
                </a:solidFill>
                <a:highlight>
                  <a:srgbClr val="FFFF00"/>
                </a:highlight>
              </a:rPr>
              <a:t>i2p library</a:t>
            </a:r>
            <a:endParaRPr lang="en-GB" sz="2400" b="1" dirty="0">
              <a:solidFill>
                <a:schemeClr val="tx1"/>
              </a:solidFill>
              <a:highlight>
                <a:srgbClr val="FFFF00"/>
              </a:highlight>
            </a:endParaRPr>
          </a:p>
        </p:txBody>
      </p:sp>
      <p:pic>
        <p:nvPicPr>
          <p:cNvPr id="9" name="Picture 8">
            <a:extLst>
              <a:ext uri="{FF2B5EF4-FFF2-40B4-BE49-F238E27FC236}">
                <a16:creationId xmlns:a16="http://schemas.microsoft.com/office/drawing/2014/main" id="{F459FF4C-9B96-6B21-8028-EB38E2BEE452}"/>
              </a:ext>
            </a:extLst>
          </p:cNvPr>
          <p:cNvPicPr>
            <a:picLocks noChangeAspect="1"/>
          </p:cNvPicPr>
          <p:nvPr/>
        </p:nvPicPr>
        <p:blipFill>
          <a:blip r:embed="rId3"/>
          <a:stretch>
            <a:fillRect/>
          </a:stretch>
        </p:blipFill>
        <p:spPr>
          <a:xfrm>
            <a:off x="355370" y="1848073"/>
            <a:ext cx="4812974" cy="3543607"/>
          </a:xfrm>
          <a:prstGeom prst="rect">
            <a:avLst/>
          </a:prstGeom>
        </p:spPr>
      </p:pic>
      <p:sp>
        <p:nvSpPr>
          <p:cNvPr id="12" name="Speech Bubble: Rectangle with Corners Rounded 11">
            <a:extLst>
              <a:ext uri="{FF2B5EF4-FFF2-40B4-BE49-F238E27FC236}">
                <a16:creationId xmlns:a16="http://schemas.microsoft.com/office/drawing/2014/main" id="{0A0ED9F6-59B7-B45A-49C6-9CA0BF2C325A}"/>
              </a:ext>
            </a:extLst>
          </p:cNvPr>
          <p:cNvSpPr/>
          <p:nvPr/>
        </p:nvSpPr>
        <p:spPr>
          <a:xfrm>
            <a:off x="6095999" y="4072332"/>
            <a:ext cx="5633357" cy="719331"/>
          </a:xfrm>
          <a:prstGeom prst="wedgeRoundRectCallout">
            <a:avLst>
              <a:gd name="adj1" fmla="val -59222"/>
              <a:gd name="adj2" fmla="val 98719"/>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solidFill>
                  <a:schemeClr val="tx1"/>
                </a:solidFill>
                <a:highlight>
                  <a:srgbClr val="FFFF00"/>
                </a:highlight>
              </a:rPr>
              <a:t>Ελέγξτε αν αποδόθηκαν σωστά οι τιμές στις μεταβλητές </a:t>
            </a:r>
            <a:r>
              <a:rPr lang="en-US" sz="2400" b="1" dirty="0">
                <a:solidFill>
                  <a:schemeClr val="tx1"/>
                </a:solidFill>
                <a:highlight>
                  <a:srgbClr val="FFFF00"/>
                </a:highlight>
              </a:rPr>
              <a:t>num1 </a:t>
            </a:r>
            <a:r>
              <a:rPr lang="el-GR" sz="2400" b="1" dirty="0">
                <a:solidFill>
                  <a:schemeClr val="tx1"/>
                </a:solidFill>
                <a:highlight>
                  <a:srgbClr val="FFFF00"/>
                </a:highlight>
              </a:rPr>
              <a:t>και </a:t>
            </a:r>
            <a:r>
              <a:rPr lang="en-US" sz="2400" b="1" dirty="0">
                <a:solidFill>
                  <a:schemeClr val="tx1"/>
                </a:solidFill>
                <a:highlight>
                  <a:srgbClr val="FFFF00"/>
                </a:highlight>
              </a:rPr>
              <a:t>num2</a:t>
            </a:r>
            <a:endParaRPr lang="en-GB" sz="2400" b="1" dirty="0">
              <a:solidFill>
                <a:schemeClr val="tx1"/>
              </a:solidFill>
              <a:highlight>
                <a:srgbClr val="FFFF00"/>
              </a:highlight>
            </a:endParaRPr>
          </a:p>
        </p:txBody>
      </p:sp>
    </p:spTree>
    <p:extLst>
      <p:ext uri="{BB962C8B-B14F-4D97-AF65-F5344CB8AC3E}">
        <p14:creationId xmlns:p14="http://schemas.microsoft.com/office/powerpoint/2010/main" val="197284893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522C2-41BF-61A5-DE0B-6B98066B3CEC}"/>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3410B810-210E-1400-1D30-888F8CE9229F}"/>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C1748B73-B697-A068-F491-3BE6B0D31E43}"/>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Δράση 4.3 – 2</a:t>
            </a:r>
            <a:r>
              <a:rPr lang="el-GR" sz="4000" b="1" baseline="30000" dirty="0">
                <a:solidFill>
                  <a:srgbClr val="F9853D"/>
                </a:solidFill>
                <a:latin typeface="Bahnschrift" panose="020B0502040204020203" pitchFamily="34" charset="0"/>
              </a:rPr>
              <a:t>η</a:t>
            </a:r>
            <a:r>
              <a:rPr lang="el-GR" sz="4000" b="1" dirty="0">
                <a:solidFill>
                  <a:srgbClr val="F9853D"/>
                </a:solidFill>
                <a:latin typeface="Bahnschrift" panose="020B0502040204020203" pitchFamily="34" charset="0"/>
              </a:rPr>
              <a:t> έκδοση του </a:t>
            </a:r>
            <a:r>
              <a:rPr lang="en-US" sz="4000" b="1" dirty="0">
                <a:solidFill>
                  <a:srgbClr val="F9853D"/>
                </a:solidFill>
                <a:latin typeface="Bahnschrift" panose="020B0502040204020203" pitchFamily="34" charset="0"/>
              </a:rPr>
              <a:t>Add2Numbers</a:t>
            </a:r>
          </a:p>
        </p:txBody>
      </p:sp>
      <p:sp>
        <p:nvSpPr>
          <p:cNvPr id="8" name="Θέση υποσέλιδου 4">
            <a:extLst>
              <a:ext uri="{FF2B5EF4-FFF2-40B4-BE49-F238E27FC236}">
                <a16:creationId xmlns:a16="http://schemas.microsoft.com/office/drawing/2014/main" id="{9E7CE2BE-4601-74C6-C1D9-7CB103D54875}"/>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EE2017C5-F357-AAF4-8A75-F8714FAA81A5}"/>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23</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9719A869-0744-49E9-E7C5-C8FE709F6F43}"/>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4" name="Θέση υποσέλιδου 4">
            <a:extLst>
              <a:ext uri="{FF2B5EF4-FFF2-40B4-BE49-F238E27FC236}">
                <a16:creationId xmlns:a16="http://schemas.microsoft.com/office/drawing/2014/main" id="{7409E2A1-2F30-0FF4-C20D-AE0FB201ADA0}"/>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grpSp>
        <p:nvGrpSpPr>
          <p:cNvPr id="5" name="Group 4">
            <a:extLst>
              <a:ext uri="{FF2B5EF4-FFF2-40B4-BE49-F238E27FC236}">
                <a16:creationId xmlns:a16="http://schemas.microsoft.com/office/drawing/2014/main" id="{76F6B126-A77D-D87D-940F-A59B1670312A}"/>
              </a:ext>
            </a:extLst>
          </p:cNvPr>
          <p:cNvGrpSpPr/>
          <p:nvPr/>
        </p:nvGrpSpPr>
        <p:grpSpPr>
          <a:xfrm>
            <a:off x="-140669" y="2540279"/>
            <a:ext cx="6444487" cy="2665902"/>
            <a:chOff x="-140669" y="2540279"/>
            <a:chExt cx="6444487" cy="2665902"/>
          </a:xfrm>
        </p:grpSpPr>
        <p:sp>
          <p:nvSpPr>
            <p:cNvPr id="6" name="Rectangle 5">
              <a:extLst>
                <a:ext uri="{FF2B5EF4-FFF2-40B4-BE49-F238E27FC236}">
                  <a16:creationId xmlns:a16="http://schemas.microsoft.com/office/drawing/2014/main" id="{936D47A5-6FBA-82EA-827D-A656A34FEC42}"/>
                </a:ext>
              </a:extLst>
            </p:cNvPr>
            <p:cNvSpPr/>
            <p:nvPr/>
          </p:nvSpPr>
          <p:spPr>
            <a:xfrm>
              <a:off x="-3" y="2558974"/>
              <a:ext cx="6303821" cy="26472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13C85CF8-038E-C0F2-5804-E6BFCC0A6FB3}"/>
                </a:ext>
              </a:extLst>
            </p:cNvPr>
            <p:cNvSpPr txBox="1"/>
            <p:nvPr/>
          </p:nvSpPr>
          <p:spPr>
            <a:xfrm>
              <a:off x="-140669" y="2540279"/>
              <a:ext cx="6444487" cy="523220"/>
            </a:xfrm>
            <a:prstGeom prst="rect">
              <a:avLst/>
            </a:prstGeom>
            <a:noFill/>
          </p:spPr>
          <p:txBody>
            <a:bodyPr wrap="square">
              <a:spAutoFit/>
            </a:bodyPr>
            <a:lstStyle/>
            <a:p>
              <a:pPr algn="ctr"/>
              <a:r>
                <a:rPr lang="el-GR" altLang="el-GR" sz="2800" b="1" dirty="0">
                  <a:solidFill>
                    <a:srgbClr val="C00000"/>
                  </a:solidFill>
                  <a:latin typeface="Times New Roman" panose="02020603050405020304" pitchFamily="18" charset="0"/>
                </a:rPr>
                <a:t>Λεκτική Περιγραφή (</a:t>
              </a:r>
              <a:r>
                <a:rPr lang="en-US" altLang="el-GR" sz="2800" b="1" dirty="0">
                  <a:solidFill>
                    <a:srgbClr val="C00000"/>
                  </a:solidFill>
                  <a:latin typeface="Times New Roman" panose="02020603050405020304" pitchFamily="18" charset="0"/>
                </a:rPr>
                <a:t>Add2Numbers</a:t>
              </a:r>
              <a:r>
                <a:rPr lang="el-GR" altLang="el-GR" sz="2800" b="1" dirty="0">
                  <a:solidFill>
                    <a:srgbClr val="C00000"/>
                  </a:solidFill>
                  <a:latin typeface="Times New Roman" panose="02020603050405020304" pitchFamily="18" charset="0"/>
                </a:rPr>
                <a:t>)</a:t>
              </a:r>
              <a:endParaRPr lang="en-GB" sz="2800" b="1" dirty="0">
                <a:solidFill>
                  <a:srgbClr val="C00000"/>
                </a:solidFill>
              </a:endParaRPr>
            </a:p>
          </p:txBody>
        </p:sp>
        <p:sp>
          <p:nvSpPr>
            <p:cNvPr id="15" name="TextBox 14">
              <a:extLst>
                <a:ext uri="{FF2B5EF4-FFF2-40B4-BE49-F238E27FC236}">
                  <a16:creationId xmlns:a16="http://schemas.microsoft.com/office/drawing/2014/main" id="{A9FC471A-F155-AC25-6E27-4DA856AD44B7}"/>
                </a:ext>
              </a:extLst>
            </p:cNvPr>
            <p:cNvSpPr txBox="1"/>
            <p:nvPr/>
          </p:nvSpPr>
          <p:spPr>
            <a:xfrm>
              <a:off x="180106" y="3230358"/>
              <a:ext cx="5915891" cy="1815882"/>
            </a:xfrm>
            <a:prstGeom prst="rect">
              <a:avLst/>
            </a:prstGeom>
            <a:solidFill>
              <a:schemeClr val="accent1"/>
            </a:solidFill>
          </p:spPr>
          <p:txBody>
            <a:bodyPr wrap="square" rtlCol="0">
              <a:spAutoFit/>
            </a:bodyPr>
            <a:lstStyle/>
            <a:p>
              <a:r>
                <a:rPr lang="el-GR" altLang="el-GR" sz="2800" b="1" dirty="0"/>
                <a:t>1. Πάρε τον πρώτο αριθμό</a:t>
              </a:r>
            </a:p>
            <a:p>
              <a:r>
                <a:rPr lang="el-GR" altLang="el-GR" sz="2800" b="1" dirty="0"/>
                <a:t>2. Πάρε τον δεύτερο αριθμό</a:t>
              </a:r>
              <a:endParaRPr lang="el-GR" altLang="el-GR" sz="2800" b="1" dirty="0">
                <a:solidFill>
                  <a:srgbClr val="FF0000"/>
                </a:solidFill>
              </a:endParaRPr>
            </a:p>
            <a:p>
              <a:r>
                <a:rPr lang="el-GR" altLang="el-GR" sz="2800" b="1" dirty="0">
                  <a:solidFill>
                    <a:srgbClr val="FF0000"/>
                  </a:solidFill>
                </a:rPr>
                <a:t>3. Πρόσθεσε τους δύο αριθμούς</a:t>
              </a:r>
            </a:p>
            <a:p>
              <a:r>
                <a:rPr lang="el-GR" altLang="el-GR" sz="2800" b="1" dirty="0">
                  <a:solidFill>
                    <a:srgbClr val="FF0000"/>
                  </a:solidFill>
                </a:rPr>
                <a:t>4. Εμφάνισε το άθροισμα στην οθόνη</a:t>
              </a:r>
            </a:p>
          </p:txBody>
        </p:sp>
      </p:grpSp>
      <p:grpSp>
        <p:nvGrpSpPr>
          <p:cNvPr id="16" name="Group 15">
            <a:extLst>
              <a:ext uri="{FF2B5EF4-FFF2-40B4-BE49-F238E27FC236}">
                <a16:creationId xmlns:a16="http://schemas.microsoft.com/office/drawing/2014/main" id="{D57CECAD-688B-E115-E268-02BBAE48795E}"/>
              </a:ext>
            </a:extLst>
          </p:cNvPr>
          <p:cNvGrpSpPr/>
          <p:nvPr/>
        </p:nvGrpSpPr>
        <p:grpSpPr>
          <a:xfrm>
            <a:off x="4732333" y="1187522"/>
            <a:ext cx="7424779" cy="2950777"/>
            <a:chOff x="4732333" y="1187522"/>
            <a:chExt cx="7424779" cy="2950777"/>
          </a:xfrm>
        </p:grpSpPr>
        <p:cxnSp>
          <p:nvCxnSpPr>
            <p:cNvPr id="17" name="Straight Connector 16">
              <a:extLst>
                <a:ext uri="{FF2B5EF4-FFF2-40B4-BE49-F238E27FC236}">
                  <a16:creationId xmlns:a16="http://schemas.microsoft.com/office/drawing/2014/main" id="{6924CD99-3166-C32A-9D40-048E456CEB22}"/>
                </a:ext>
              </a:extLst>
            </p:cNvPr>
            <p:cNvCxnSpPr>
              <a:cxnSpLocks/>
            </p:cNvCxnSpPr>
            <p:nvPr/>
          </p:nvCxnSpPr>
          <p:spPr>
            <a:xfrm>
              <a:off x="4732333" y="3250165"/>
              <a:ext cx="0" cy="888134"/>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allout: Bent Line 17">
              <a:extLst>
                <a:ext uri="{FF2B5EF4-FFF2-40B4-BE49-F238E27FC236}">
                  <a16:creationId xmlns:a16="http://schemas.microsoft.com/office/drawing/2014/main" id="{714BB8DE-970B-7CEC-D0C3-FB8F3989A826}"/>
                </a:ext>
              </a:extLst>
            </p:cNvPr>
            <p:cNvSpPr/>
            <p:nvPr/>
          </p:nvSpPr>
          <p:spPr>
            <a:xfrm>
              <a:off x="5250874" y="1187522"/>
              <a:ext cx="6906238" cy="861316"/>
            </a:xfrm>
            <a:prstGeom prst="borderCallout2">
              <a:avLst>
                <a:gd name="adj1" fmla="val 96942"/>
                <a:gd name="adj2" fmla="val 51138"/>
                <a:gd name="adj3" fmla="val 162254"/>
                <a:gd name="adj4" fmla="val 45733"/>
                <a:gd name="adj5" fmla="val 257648"/>
                <a:gd name="adj6" fmla="val -7738"/>
              </a:avLst>
            </a:prstGeom>
            <a:solidFill>
              <a:schemeClr val="accent6">
                <a:lumMod val="75000"/>
              </a:schemeClr>
            </a:solid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t>1η Έκδοση: Υλοποιεί τη λειτουργικότητα των 2 πρώτων προτάσεων της ΛΠ</a:t>
              </a:r>
            </a:p>
          </p:txBody>
        </p:sp>
      </p:grpSp>
      <p:grpSp>
        <p:nvGrpSpPr>
          <p:cNvPr id="19" name="Group 18">
            <a:extLst>
              <a:ext uri="{FF2B5EF4-FFF2-40B4-BE49-F238E27FC236}">
                <a16:creationId xmlns:a16="http://schemas.microsoft.com/office/drawing/2014/main" id="{4E468CB0-50A5-85C6-8375-C9E4ABB9B25D}"/>
              </a:ext>
            </a:extLst>
          </p:cNvPr>
          <p:cNvGrpSpPr/>
          <p:nvPr/>
        </p:nvGrpSpPr>
        <p:grpSpPr>
          <a:xfrm>
            <a:off x="4584655" y="3250165"/>
            <a:ext cx="6906238" cy="3063519"/>
            <a:chOff x="4584655" y="3250165"/>
            <a:chExt cx="6906238" cy="3063519"/>
          </a:xfrm>
        </p:grpSpPr>
        <p:sp>
          <p:nvSpPr>
            <p:cNvPr id="20" name="Callout: Bent Line 19">
              <a:extLst>
                <a:ext uri="{FF2B5EF4-FFF2-40B4-BE49-F238E27FC236}">
                  <a16:creationId xmlns:a16="http://schemas.microsoft.com/office/drawing/2014/main" id="{C8FF2649-F438-0740-FC8C-55A7829A6D48}"/>
                </a:ext>
              </a:extLst>
            </p:cNvPr>
            <p:cNvSpPr/>
            <p:nvPr/>
          </p:nvSpPr>
          <p:spPr>
            <a:xfrm>
              <a:off x="4584655" y="5452368"/>
              <a:ext cx="6906238" cy="861316"/>
            </a:xfrm>
            <a:prstGeom prst="borderCallout2">
              <a:avLst>
                <a:gd name="adj1" fmla="val 1053"/>
                <a:gd name="adj2" fmla="val 50070"/>
                <a:gd name="adj3" fmla="val -55209"/>
                <a:gd name="adj4" fmla="val 49149"/>
                <a:gd name="adj5" fmla="val -155018"/>
                <a:gd name="adj6" fmla="val 19170"/>
              </a:avLst>
            </a:prstGeom>
            <a:solidFill>
              <a:schemeClr val="accent6">
                <a:lumMod val="75000"/>
              </a:schemeClr>
            </a:solid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solidFill>
                    <a:srgbClr val="FF0000"/>
                  </a:solidFill>
                </a:rPr>
                <a:t>2η Έκδοση: Υλοποιεί όλη τη λειτουργικότητα (4 προτάσεις της ΛΠ)</a:t>
              </a:r>
            </a:p>
          </p:txBody>
        </p:sp>
        <p:cxnSp>
          <p:nvCxnSpPr>
            <p:cNvPr id="21" name="Straight Connector 20">
              <a:extLst>
                <a:ext uri="{FF2B5EF4-FFF2-40B4-BE49-F238E27FC236}">
                  <a16:creationId xmlns:a16="http://schemas.microsoft.com/office/drawing/2014/main" id="{1BEEEB05-C71D-7A66-792F-020B8D8A64D3}"/>
                </a:ext>
              </a:extLst>
            </p:cNvPr>
            <p:cNvCxnSpPr>
              <a:cxnSpLocks/>
            </p:cNvCxnSpPr>
            <p:nvPr/>
          </p:nvCxnSpPr>
          <p:spPr>
            <a:xfrm flipH="1">
              <a:off x="5880764" y="3250165"/>
              <a:ext cx="17765" cy="1796075"/>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250682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3A5F7-42E6-F89B-21BD-AEE411401F4E}"/>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FF57584D-910D-A825-96BD-311BB736196D}"/>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50436ED5-F064-2EC8-4AA7-5B79FA83249B}"/>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Τελεστής, έκφραση και πρόταση</a:t>
            </a:r>
            <a:endParaRPr lang="en-US"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3C083372-566B-F2E4-0091-310E72346673}"/>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C63BC26A-7A3E-1857-40DC-9B267B129F7D}"/>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24</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90C56A98-5758-0A65-F710-BC4EE2DB42F6}"/>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4" name="Θέση υποσέλιδου 4">
            <a:extLst>
              <a:ext uri="{FF2B5EF4-FFF2-40B4-BE49-F238E27FC236}">
                <a16:creationId xmlns:a16="http://schemas.microsoft.com/office/drawing/2014/main" id="{5D614128-C0E6-0DC8-AED6-CF1FC8C431C6}"/>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sp>
        <p:nvSpPr>
          <p:cNvPr id="4" name="Content Placeholder 2">
            <a:extLst>
              <a:ext uri="{FF2B5EF4-FFF2-40B4-BE49-F238E27FC236}">
                <a16:creationId xmlns:a16="http://schemas.microsoft.com/office/drawing/2014/main" id="{9343122D-03C7-3042-7582-D91CB9CECCCF}"/>
              </a:ext>
            </a:extLst>
          </p:cNvPr>
          <p:cNvSpPr txBox="1">
            <a:spLocks/>
          </p:cNvSpPr>
          <p:nvPr/>
        </p:nvSpPr>
        <p:spPr bwMode="auto">
          <a:xfrm>
            <a:off x="140669" y="810514"/>
            <a:ext cx="11910662" cy="2485192"/>
          </a:xfrm>
          <a:prstGeom prst="rect">
            <a:avLst/>
          </a:prstGeom>
          <a:solidFill>
            <a:srgbClr val="92D050"/>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a:buClr>
                <a:srgbClr val="3333CC"/>
              </a:buClr>
              <a:defRPr/>
            </a:pPr>
            <a:r>
              <a:rPr lang="el-GR" sz="2400" b="1" kern="0" dirty="0">
                <a:solidFill>
                  <a:srgbClr val="000000"/>
                </a:solidFill>
                <a:latin typeface="Tahoma"/>
              </a:rPr>
              <a:t>Τελεστής </a:t>
            </a:r>
          </a:p>
          <a:p>
            <a:pPr lvl="1">
              <a:buClr>
                <a:srgbClr val="3333CC"/>
              </a:buClr>
              <a:defRPr/>
            </a:pPr>
            <a:r>
              <a:rPr lang="el-GR" sz="1800" b="1" kern="0" dirty="0">
                <a:solidFill>
                  <a:srgbClr val="000000"/>
                </a:solidFill>
                <a:latin typeface="Tahoma"/>
              </a:rPr>
              <a:t>είναι</a:t>
            </a:r>
            <a:r>
              <a:rPr lang="el-GR" sz="1800" kern="0" dirty="0">
                <a:solidFill>
                  <a:srgbClr val="000000"/>
                </a:solidFill>
                <a:latin typeface="Tahoma"/>
              </a:rPr>
              <a:t> ένα σύμβολο ή  μια λέξη της γλώσσας προγραμματισμού</a:t>
            </a:r>
            <a:endParaRPr lang="en-US" sz="1800" kern="0" dirty="0">
              <a:solidFill>
                <a:srgbClr val="000000"/>
              </a:solidFill>
              <a:latin typeface="Tahoma"/>
            </a:endParaRPr>
          </a:p>
          <a:p>
            <a:pPr lvl="1">
              <a:buClr>
                <a:srgbClr val="3333CC"/>
              </a:buClr>
              <a:defRPr/>
            </a:pPr>
            <a:r>
              <a:rPr lang="el-GR" sz="1800" b="1" kern="0" dirty="0">
                <a:solidFill>
                  <a:srgbClr val="000000"/>
                </a:solidFill>
                <a:latin typeface="Tahoma"/>
              </a:rPr>
              <a:t>Αναπαριστά</a:t>
            </a:r>
            <a:r>
              <a:rPr lang="el-GR" sz="1800" kern="0" dirty="0">
                <a:solidFill>
                  <a:srgbClr val="000000"/>
                </a:solidFill>
                <a:latin typeface="Tahoma"/>
              </a:rPr>
              <a:t>, για τη γλώσσα προγραμματισμού, μια διεργασία που εκτελείται πάνω σε ένα ή περισσότερους </a:t>
            </a:r>
            <a:r>
              <a:rPr lang="el-GR" sz="1800" kern="0" dirty="0" err="1">
                <a:solidFill>
                  <a:srgbClr val="000000"/>
                </a:solidFill>
                <a:latin typeface="Tahoma"/>
              </a:rPr>
              <a:t>τελεστέους</a:t>
            </a:r>
            <a:r>
              <a:rPr lang="el-GR" sz="1800" kern="0" dirty="0">
                <a:solidFill>
                  <a:srgbClr val="000000"/>
                </a:solidFill>
                <a:latin typeface="Tahoma"/>
              </a:rPr>
              <a:t>. Το αποτέλεσμα της διεργασίας είναι ο υπολογισμός μιας τιμής, η οποία αποτελεί την </a:t>
            </a:r>
            <a:r>
              <a:rPr lang="el-GR" sz="1800" b="1" kern="0" dirty="0">
                <a:solidFill>
                  <a:srgbClr val="FF0000"/>
                </a:solidFill>
                <a:latin typeface="Tahoma"/>
              </a:rPr>
              <a:t>τιμή της έκφρασης</a:t>
            </a:r>
            <a:r>
              <a:rPr lang="el-GR" sz="1800" kern="0" dirty="0">
                <a:solidFill>
                  <a:srgbClr val="000000"/>
                </a:solidFill>
                <a:latin typeface="Tahoma"/>
              </a:rPr>
              <a:t>. </a:t>
            </a:r>
          </a:p>
          <a:p>
            <a:pPr lvl="1">
              <a:buClr>
                <a:srgbClr val="3333CC"/>
              </a:buClr>
              <a:defRPr/>
            </a:pPr>
            <a:r>
              <a:rPr lang="el-GR" sz="1800" b="1" kern="0" dirty="0">
                <a:solidFill>
                  <a:srgbClr val="000000"/>
                </a:solidFill>
                <a:latin typeface="Tahoma"/>
              </a:rPr>
              <a:t>Χρησιμοποιείται</a:t>
            </a:r>
            <a:r>
              <a:rPr lang="el-GR" sz="1800" kern="0" dirty="0">
                <a:solidFill>
                  <a:srgbClr val="000000"/>
                </a:solidFill>
                <a:latin typeface="Tahoma"/>
              </a:rPr>
              <a:t> για τον σχηματισμό εκφράσεων (</a:t>
            </a:r>
            <a:r>
              <a:rPr lang="el-GR" sz="1800" kern="0" dirty="0" err="1">
                <a:solidFill>
                  <a:srgbClr val="000000"/>
                </a:solidFill>
                <a:latin typeface="Tahoma"/>
              </a:rPr>
              <a:t>expressions</a:t>
            </a:r>
            <a:r>
              <a:rPr lang="el-GR" sz="1800" kern="0" dirty="0">
                <a:solidFill>
                  <a:srgbClr val="000000"/>
                </a:solidFill>
                <a:latin typeface="Tahoma"/>
              </a:rPr>
              <a:t>)</a:t>
            </a:r>
          </a:p>
          <a:p>
            <a:pPr>
              <a:buClr>
                <a:srgbClr val="3333CC"/>
              </a:buClr>
              <a:defRPr/>
            </a:pPr>
            <a:r>
              <a:rPr lang="el-GR" sz="2000" kern="0" dirty="0">
                <a:solidFill>
                  <a:srgbClr val="000000"/>
                </a:solidFill>
                <a:latin typeface="Tahoma"/>
              </a:rPr>
              <a:t>Ο </a:t>
            </a:r>
            <a:r>
              <a:rPr lang="el-GR" sz="2000" b="1" kern="0" dirty="0" err="1">
                <a:solidFill>
                  <a:srgbClr val="000000"/>
                </a:solidFill>
                <a:latin typeface="Tahoma"/>
              </a:rPr>
              <a:t>τελεστέος</a:t>
            </a:r>
            <a:r>
              <a:rPr lang="el-GR" sz="2000" kern="0" dirty="0">
                <a:solidFill>
                  <a:srgbClr val="000000"/>
                </a:solidFill>
                <a:latin typeface="Tahoma"/>
              </a:rPr>
              <a:t> μπορεί να είναι σταθερά, μεταβλητή ή ακόμη και μια έκφραση. </a:t>
            </a:r>
          </a:p>
        </p:txBody>
      </p:sp>
      <p:sp>
        <p:nvSpPr>
          <p:cNvPr id="9" name="TextBox 8">
            <a:extLst>
              <a:ext uri="{FF2B5EF4-FFF2-40B4-BE49-F238E27FC236}">
                <a16:creationId xmlns:a16="http://schemas.microsoft.com/office/drawing/2014/main" id="{FF2C2014-637F-4AAA-BF7A-04AFED676329}"/>
              </a:ext>
            </a:extLst>
          </p:cNvPr>
          <p:cNvSpPr txBox="1"/>
          <p:nvPr/>
        </p:nvSpPr>
        <p:spPr>
          <a:xfrm>
            <a:off x="326643" y="4149637"/>
            <a:ext cx="6275438" cy="523220"/>
          </a:xfrm>
          <a:prstGeom prst="rect">
            <a:avLst/>
          </a:prstGeom>
          <a:noFill/>
        </p:spPr>
        <p:txBody>
          <a:bodyPr wrap="square">
            <a:spAutoFit/>
          </a:bodyPr>
          <a:lstStyle/>
          <a:p>
            <a:r>
              <a:rPr lang="en-GB" sz="2800" dirty="0"/>
              <a:t>num1 + num2</a:t>
            </a:r>
          </a:p>
        </p:txBody>
      </p:sp>
      <p:grpSp>
        <p:nvGrpSpPr>
          <p:cNvPr id="27" name="Group 26">
            <a:extLst>
              <a:ext uri="{FF2B5EF4-FFF2-40B4-BE49-F238E27FC236}">
                <a16:creationId xmlns:a16="http://schemas.microsoft.com/office/drawing/2014/main" id="{0686CA67-40AC-23EA-E14B-5FBA912458CC}"/>
              </a:ext>
            </a:extLst>
          </p:cNvPr>
          <p:cNvGrpSpPr/>
          <p:nvPr/>
        </p:nvGrpSpPr>
        <p:grpSpPr>
          <a:xfrm>
            <a:off x="476436" y="3298240"/>
            <a:ext cx="5760233" cy="860533"/>
            <a:chOff x="476436" y="3298240"/>
            <a:chExt cx="5760233" cy="860533"/>
          </a:xfrm>
        </p:grpSpPr>
        <p:cxnSp>
          <p:nvCxnSpPr>
            <p:cNvPr id="22" name="Straight Connector 21">
              <a:extLst>
                <a:ext uri="{FF2B5EF4-FFF2-40B4-BE49-F238E27FC236}">
                  <a16:creationId xmlns:a16="http://schemas.microsoft.com/office/drawing/2014/main" id="{2F93C117-2E88-963C-63C0-70F6C3E90A67}"/>
                </a:ext>
              </a:extLst>
            </p:cNvPr>
            <p:cNvCxnSpPr>
              <a:cxnSpLocks/>
            </p:cNvCxnSpPr>
            <p:nvPr/>
          </p:nvCxnSpPr>
          <p:spPr>
            <a:xfrm flipH="1">
              <a:off x="476436" y="4158773"/>
              <a:ext cx="2095128" cy="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26" name="Callout: Bent Line 25">
              <a:extLst>
                <a:ext uri="{FF2B5EF4-FFF2-40B4-BE49-F238E27FC236}">
                  <a16:creationId xmlns:a16="http://schemas.microsoft.com/office/drawing/2014/main" id="{5A6C015C-47B1-7275-5525-D20D4098D383}"/>
                </a:ext>
              </a:extLst>
            </p:cNvPr>
            <p:cNvSpPr/>
            <p:nvPr/>
          </p:nvSpPr>
          <p:spPr>
            <a:xfrm>
              <a:off x="3267775" y="3298240"/>
              <a:ext cx="2968894" cy="773637"/>
            </a:xfrm>
            <a:prstGeom prst="borderCallout2">
              <a:avLst>
                <a:gd name="adj1" fmla="val 50710"/>
                <a:gd name="adj2" fmla="val 99"/>
                <a:gd name="adj3" fmla="val 54221"/>
                <a:gd name="adj4" fmla="val -57762"/>
                <a:gd name="adj5" fmla="val 109193"/>
                <a:gd name="adj6" fmla="val -70712"/>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t>Έκφραση</a:t>
              </a:r>
            </a:p>
            <a:p>
              <a:pPr algn="ctr"/>
              <a:r>
                <a:rPr lang="el-GR" sz="2400" b="1" dirty="0"/>
                <a:t>(</a:t>
              </a:r>
              <a:r>
                <a:rPr lang="en-US" sz="2400" b="1" dirty="0"/>
                <a:t>expression)</a:t>
              </a:r>
              <a:endParaRPr lang="en-GB" sz="2400" dirty="0"/>
            </a:p>
          </p:txBody>
        </p:sp>
      </p:grpSp>
      <p:sp>
        <p:nvSpPr>
          <p:cNvPr id="30" name="Callout: Bent Line 29">
            <a:extLst>
              <a:ext uri="{FF2B5EF4-FFF2-40B4-BE49-F238E27FC236}">
                <a16:creationId xmlns:a16="http://schemas.microsoft.com/office/drawing/2014/main" id="{25030B24-FDFB-FC96-2B4D-9F0A75478DDA}"/>
              </a:ext>
            </a:extLst>
          </p:cNvPr>
          <p:cNvSpPr/>
          <p:nvPr/>
        </p:nvSpPr>
        <p:spPr>
          <a:xfrm>
            <a:off x="1642454" y="5563131"/>
            <a:ext cx="2968894" cy="773637"/>
          </a:xfrm>
          <a:prstGeom prst="borderCallout2">
            <a:avLst>
              <a:gd name="adj1" fmla="val 50710"/>
              <a:gd name="adj2" fmla="val 99"/>
              <a:gd name="adj3" fmla="val -1295"/>
              <a:gd name="adj4" fmla="val -12948"/>
              <a:gd name="adj5" fmla="val -126446"/>
              <a:gd name="adj6" fmla="val -7638"/>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t>Τελεστής</a:t>
            </a:r>
          </a:p>
          <a:p>
            <a:pPr algn="ctr"/>
            <a:r>
              <a:rPr lang="el-GR" sz="2400" b="1" dirty="0"/>
              <a:t>(</a:t>
            </a:r>
            <a:r>
              <a:rPr lang="en-US" sz="2400" b="1" dirty="0"/>
              <a:t>operator)</a:t>
            </a:r>
            <a:endParaRPr lang="en-GB" sz="2400" dirty="0"/>
          </a:p>
        </p:txBody>
      </p:sp>
      <p:grpSp>
        <p:nvGrpSpPr>
          <p:cNvPr id="38" name="Group 37">
            <a:extLst>
              <a:ext uri="{FF2B5EF4-FFF2-40B4-BE49-F238E27FC236}">
                <a16:creationId xmlns:a16="http://schemas.microsoft.com/office/drawing/2014/main" id="{8A613262-1272-502C-BC3A-52F9A860B6E8}"/>
              </a:ext>
            </a:extLst>
          </p:cNvPr>
          <p:cNvGrpSpPr/>
          <p:nvPr/>
        </p:nvGrpSpPr>
        <p:grpSpPr>
          <a:xfrm>
            <a:off x="476436" y="4672857"/>
            <a:ext cx="5874381" cy="773637"/>
            <a:chOff x="476436" y="4672857"/>
            <a:chExt cx="5874381" cy="773637"/>
          </a:xfrm>
        </p:grpSpPr>
        <p:cxnSp>
          <p:nvCxnSpPr>
            <p:cNvPr id="32" name="Straight Connector 31">
              <a:extLst>
                <a:ext uri="{FF2B5EF4-FFF2-40B4-BE49-F238E27FC236}">
                  <a16:creationId xmlns:a16="http://schemas.microsoft.com/office/drawing/2014/main" id="{A0BBEA26-C8D9-65E9-FE71-6691FDFA3771}"/>
                </a:ext>
              </a:extLst>
            </p:cNvPr>
            <p:cNvCxnSpPr>
              <a:cxnSpLocks/>
            </p:cNvCxnSpPr>
            <p:nvPr/>
          </p:nvCxnSpPr>
          <p:spPr>
            <a:xfrm flipH="1">
              <a:off x="476436" y="4675391"/>
              <a:ext cx="702540" cy="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2ADB3ED2-998C-3949-E49F-B51EDED1AF42}"/>
                </a:ext>
              </a:extLst>
            </p:cNvPr>
            <p:cNvGrpSpPr/>
            <p:nvPr/>
          </p:nvGrpSpPr>
          <p:grpSpPr>
            <a:xfrm>
              <a:off x="1642454" y="4672857"/>
              <a:ext cx="4708363" cy="773637"/>
              <a:chOff x="1642454" y="4672857"/>
              <a:chExt cx="4708363" cy="773637"/>
            </a:xfrm>
          </p:grpSpPr>
          <p:cxnSp>
            <p:nvCxnSpPr>
              <p:cNvPr id="29" name="Straight Connector 28">
                <a:extLst>
                  <a:ext uri="{FF2B5EF4-FFF2-40B4-BE49-F238E27FC236}">
                    <a16:creationId xmlns:a16="http://schemas.microsoft.com/office/drawing/2014/main" id="{A102B06B-801B-7EC4-16C2-70A68F888FDC}"/>
                  </a:ext>
                </a:extLst>
              </p:cNvPr>
              <p:cNvCxnSpPr>
                <a:cxnSpLocks/>
              </p:cNvCxnSpPr>
              <p:nvPr/>
            </p:nvCxnSpPr>
            <p:spPr>
              <a:xfrm flipH="1">
                <a:off x="1642454" y="4672857"/>
                <a:ext cx="702540" cy="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33" name="Callout: Bent Line 32">
                <a:extLst>
                  <a:ext uri="{FF2B5EF4-FFF2-40B4-BE49-F238E27FC236}">
                    <a16:creationId xmlns:a16="http://schemas.microsoft.com/office/drawing/2014/main" id="{67922A0E-E75E-D1D1-7208-1116C2F50320}"/>
                  </a:ext>
                </a:extLst>
              </p:cNvPr>
              <p:cNvSpPr/>
              <p:nvPr/>
            </p:nvSpPr>
            <p:spPr>
              <a:xfrm>
                <a:off x="3381923" y="4672857"/>
                <a:ext cx="2968894" cy="773637"/>
              </a:xfrm>
              <a:prstGeom prst="borderCallout2">
                <a:avLst>
                  <a:gd name="adj1" fmla="val 50710"/>
                  <a:gd name="adj2" fmla="val 99"/>
                  <a:gd name="adj3" fmla="val 50177"/>
                  <a:gd name="adj4" fmla="val -46231"/>
                  <a:gd name="adj5" fmla="val 1281"/>
                  <a:gd name="adj6" fmla="val -47875"/>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err="1"/>
                  <a:t>Τελεστέος</a:t>
                </a:r>
                <a:endParaRPr lang="el-GR" sz="2400" b="1" dirty="0"/>
              </a:p>
              <a:p>
                <a:pPr algn="ctr"/>
                <a:r>
                  <a:rPr lang="el-GR" sz="2400" b="1" dirty="0"/>
                  <a:t>(</a:t>
                </a:r>
                <a:r>
                  <a:rPr lang="en-US" sz="2400" b="1" dirty="0"/>
                  <a:t>operand)</a:t>
                </a:r>
                <a:endParaRPr lang="en-GB" sz="2400" dirty="0"/>
              </a:p>
            </p:txBody>
          </p:sp>
        </p:grpSp>
      </p:grpSp>
      <p:sp>
        <p:nvSpPr>
          <p:cNvPr id="35" name="TextBox 34">
            <a:extLst>
              <a:ext uri="{FF2B5EF4-FFF2-40B4-BE49-F238E27FC236}">
                <a16:creationId xmlns:a16="http://schemas.microsoft.com/office/drawing/2014/main" id="{0C1C44B1-15A1-C2A3-5372-B38FB677899B}"/>
              </a:ext>
            </a:extLst>
          </p:cNvPr>
          <p:cNvSpPr txBox="1"/>
          <p:nvPr/>
        </p:nvSpPr>
        <p:spPr>
          <a:xfrm>
            <a:off x="7204132" y="4711618"/>
            <a:ext cx="6275438" cy="646331"/>
          </a:xfrm>
          <a:prstGeom prst="rect">
            <a:avLst/>
          </a:prstGeom>
          <a:noFill/>
        </p:spPr>
        <p:txBody>
          <a:bodyPr wrap="square">
            <a:spAutoFit/>
          </a:bodyPr>
          <a:lstStyle/>
          <a:p>
            <a:r>
              <a:rPr lang="en-GB" sz="3200" dirty="0"/>
              <a:t>result = num1 + num2</a:t>
            </a:r>
            <a:r>
              <a:rPr lang="el-GR" sz="3600" b="1" dirty="0">
                <a:solidFill>
                  <a:srgbClr val="FF0000"/>
                </a:solidFill>
              </a:rPr>
              <a:t>;</a:t>
            </a:r>
            <a:endParaRPr lang="en-GB" sz="3200" b="1" dirty="0">
              <a:solidFill>
                <a:srgbClr val="FF0000"/>
              </a:solidFill>
            </a:endParaRPr>
          </a:p>
        </p:txBody>
      </p:sp>
      <p:grpSp>
        <p:nvGrpSpPr>
          <p:cNvPr id="5" name="Group 4">
            <a:extLst>
              <a:ext uri="{FF2B5EF4-FFF2-40B4-BE49-F238E27FC236}">
                <a16:creationId xmlns:a16="http://schemas.microsoft.com/office/drawing/2014/main" id="{8FEDA82F-E3C7-93C2-F346-223A3BA5D45E}"/>
              </a:ext>
            </a:extLst>
          </p:cNvPr>
          <p:cNvGrpSpPr/>
          <p:nvPr/>
        </p:nvGrpSpPr>
        <p:grpSpPr>
          <a:xfrm>
            <a:off x="7327169" y="3318321"/>
            <a:ext cx="4538187" cy="1393297"/>
            <a:chOff x="7327169" y="3318321"/>
            <a:chExt cx="4538187" cy="1393297"/>
          </a:xfrm>
        </p:grpSpPr>
        <p:sp>
          <p:nvSpPr>
            <p:cNvPr id="36" name="Callout: Bent Line 35">
              <a:extLst>
                <a:ext uri="{FF2B5EF4-FFF2-40B4-BE49-F238E27FC236}">
                  <a16:creationId xmlns:a16="http://schemas.microsoft.com/office/drawing/2014/main" id="{6C94EA12-A146-FE6D-6976-F5ACEF46CA9A}"/>
                </a:ext>
              </a:extLst>
            </p:cNvPr>
            <p:cNvSpPr/>
            <p:nvPr/>
          </p:nvSpPr>
          <p:spPr>
            <a:xfrm>
              <a:off x="8896462" y="3318321"/>
              <a:ext cx="2968894" cy="773637"/>
            </a:xfrm>
            <a:prstGeom prst="borderCallout2">
              <a:avLst>
                <a:gd name="adj1" fmla="val 50710"/>
                <a:gd name="adj2" fmla="val 99"/>
                <a:gd name="adj3" fmla="val 59709"/>
                <a:gd name="adj4" fmla="val -20896"/>
                <a:gd name="adj5" fmla="val 180480"/>
                <a:gd name="adj6" fmla="val -186"/>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t>Πρόταση</a:t>
              </a:r>
            </a:p>
            <a:p>
              <a:pPr algn="ctr"/>
              <a:r>
                <a:rPr lang="el-GR" sz="2400" b="1" dirty="0"/>
                <a:t>(</a:t>
              </a:r>
              <a:r>
                <a:rPr lang="en-US" sz="2400" b="1" dirty="0"/>
                <a:t>Statement)</a:t>
              </a:r>
              <a:endParaRPr lang="en-GB" sz="2400" dirty="0"/>
            </a:p>
          </p:txBody>
        </p:sp>
        <p:cxnSp>
          <p:nvCxnSpPr>
            <p:cNvPr id="39" name="Straight Connector 38">
              <a:extLst>
                <a:ext uri="{FF2B5EF4-FFF2-40B4-BE49-F238E27FC236}">
                  <a16:creationId xmlns:a16="http://schemas.microsoft.com/office/drawing/2014/main" id="{0CC44D18-A31B-5F76-EFEA-922E0350EBCD}"/>
                </a:ext>
              </a:extLst>
            </p:cNvPr>
            <p:cNvCxnSpPr>
              <a:cxnSpLocks/>
            </p:cNvCxnSpPr>
            <p:nvPr/>
          </p:nvCxnSpPr>
          <p:spPr>
            <a:xfrm flipH="1">
              <a:off x="7327169" y="4711618"/>
              <a:ext cx="3780932" cy="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grpSp>
      <p:sp>
        <p:nvSpPr>
          <p:cNvPr id="41" name="Callout: Bent Line 40">
            <a:extLst>
              <a:ext uri="{FF2B5EF4-FFF2-40B4-BE49-F238E27FC236}">
                <a16:creationId xmlns:a16="http://schemas.microsoft.com/office/drawing/2014/main" id="{F7171D6F-E6DD-DF00-851B-90E2FC1A646D}"/>
              </a:ext>
            </a:extLst>
          </p:cNvPr>
          <p:cNvSpPr/>
          <p:nvPr/>
        </p:nvSpPr>
        <p:spPr>
          <a:xfrm>
            <a:off x="8680424" y="5673974"/>
            <a:ext cx="2968894" cy="773637"/>
          </a:xfrm>
          <a:prstGeom prst="borderCallout2">
            <a:avLst>
              <a:gd name="adj1" fmla="val 50710"/>
              <a:gd name="adj2" fmla="val 99"/>
              <a:gd name="adj3" fmla="val -1295"/>
              <a:gd name="adj4" fmla="val -12948"/>
              <a:gd name="adj5" fmla="val -63536"/>
              <a:gd name="adj6" fmla="val -9128"/>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000" b="1" dirty="0"/>
              <a:t>Τελεστής</a:t>
            </a:r>
            <a:r>
              <a:rPr lang="en-US" sz="2000" b="1" dirty="0"/>
              <a:t> </a:t>
            </a:r>
            <a:r>
              <a:rPr lang="el-GR" sz="2000" b="1" dirty="0"/>
              <a:t>ανάθεσης</a:t>
            </a:r>
          </a:p>
          <a:p>
            <a:pPr algn="ctr"/>
            <a:r>
              <a:rPr lang="el-GR" sz="2000" b="1" dirty="0"/>
              <a:t>(</a:t>
            </a:r>
            <a:r>
              <a:rPr lang="en-US" sz="2000" b="1" dirty="0"/>
              <a:t>Assignment operator)</a:t>
            </a:r>
            <a:endParaRPr lang="en-GB" sz="2000" dirty="0"/>
          </a:p>
        </p:txBody>
      </p:sp>
    </p:spTree>
    <p:extLst>
      <p:ext uri="{BB962C8B-B14F-4D97-AF65-F5344CB8AC3E}">
        <p14:creationId xmlns:p14="http://schemas.microsoft.com/office/powerpoint/2010/main" val="347540551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0" grpId="0" animBg="1"/>
      <p:bldP spid="35" grpId="0"/>
      <p:bldP spid="4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64D3D-129F-FFDC-388E-BD9027CB98FE}"/>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53E568DF-6251-2BED-6D16-ED175D10D532}"/>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1EC51BD7-122C-38A4-EFCA-447A9182DC39}"/>
              </a:ext>
            </a:extLst>
          </p:cNvPr>
          <p:cNvSpPr>
            <a:spLocks noGrp="1"/>
          </p:cNvSpPr>
          <p:nvPr>
            <p:ph type="title"/>
          </p:nvPr>
        </p:nvSpPr>
        <p:spPr>
          <a:xfrm>
            <a:off x="0" y="0"/>
            <a:ext cx="12191999" cy="719331"/>
          </a:xfrm>
          <a:solidFill>
            <a:srgbClr val="FDCBAD"/>
          </a:solidFill>
        </p:spPr>
        <p:txBody>
          <a:bodyPr>
            <a:normAutofit/>
          </a:bodyPr>
          <a:lstStyle/>
          <a:p>
            <a:r>
              <a:rPr lang="en-US" sz="4000" b="1" dirty="0">
                <a:solidFill>
                  <a:srgbClr val="F9853D"/>
                </a:solidFill>
                <a:latin typeface="Bahnschrift" panose="020B0502040204020203" pitchFamily="34" charset="0"/>
              </a:rPr>
              <a:t>Hands-on</a:t>
            </a:r>
            <a:r>
              <a:rPr lang="el-GR" sz="4000" b="1" dirty="0">
                <a:solidFill>
                  <a:srgbClr val="F9853D"/>
                </a:solidFill>
                <a:latin typeface="Bahnschrift" panose="020B0502040204020203" pitchFamily="34" charset="0"/>
              </a:rPr>
              <a:t>  (</a:t>
            </a:r>
            <a:r>
              <a:rPr lang="en-US" sz="4000" b="1" dirty="0">
                <a:solidFill>
                  <a:srgbClr val="F9853D"/>
                </a:solidFill>
                <a:latin typeface="Bahnschrift" panose="020B0502040204020203" pitchFamily="34" charset="0"/>
              </a:rPr>
              <a:t>Add2Numbers Version 2)</a:t>
            </a:r>
          </a:p>
        </p:txBody>
      </p:sp>
      <p:sp>
        <p:nvSpPr>
          <p:cNvPr id="8" name="Θέση υποσέλιδου 4">
            <a:extLst>
              <a:ext uri="{FF2B5EF4-FFF2-40B4-BE49-F238E27FC236}">
                <a16:creationId xmlns:a16="http://schemas.microsoft.com/office/drawing/2014/main" id="{73A43203-53DF-05E7-7EAA-628C6431A5C9}"/>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026380E2-F53F-21B4-C2A0-8B8680637192}"/>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25</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61747D87-4517-705A-8CB4-F783A1079DC5}"/>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4" name="Θέση υποσέλιδου 4">
            <a:extLst>
              <a:ext uri="{FF2B5EF4-FFF2-40B4-BE49-F238E27FC236}">
                <a16:creationId xmlns:a16="http://schemas.microsoft.com/office/drawing/2014/main" id="{251CDD3A-F80A-B709-495B-0A682AA6783A}"/>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sp>
        <p:nvSpPr>
          <p:cNvPr id="7" name="Speech Bubble: Rectangle with Corners Rounded 6">
            <a:extLst>
              <a:ext uri="{FF2B5EF4-FFF2-40B4-BE49-F238E27FC236}">
                <a16:creationId xmlns:a16="http://schemas.microsoft.com/office/drawing/2014/main" id="{4851EC3C-454B-AA81-85B5-238C61A2DF1C}"/>
              </a:ext>
            </a:extLst>
          </p:cNvPr>
          <p:cNvSpPr/>
          <p:nvPr/>
        </p:nvSpPr>
        <p:spPr>
          <a:xfrm>
            <a:off x="6203273" y="1604478"/>
            <a:ext cx="5633357" cy="1418942"/>
          </a:xfrm>
          <a:prstGeom prst="wedgeRoundRectCallout">
            <a:avLst>
              <a:gd name="adj1" fmla="val -59222"/>
              <a:gd name="adj2" fmla="val 98719"/>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solidFill>
                  <a:schemeClr val="tx1"/>
                </a:solidFill>
                <a:highlight>
                  <a:srgbClr val="FFFF00"/>
                </a:highlight>
              </a:rPr>
              <a:t>Αναπτύξτε την 2</a:t>
            </a:r>
            <a:r>
              <a:rPr lang="el-GR" sz="2400" b="1" baseline="30000" dirty="0">
                <a:solidFill>
                  <a:schemeClr val="tx1"/>
                </a:solidFill>
                <a:highlight>
                  <a:srgbClr val="FFFF00"/>
                </a:highlight>
              </a:rPr>
              <a:t>η</a:t>
            </a:r>
            <a:r>
              <a:rPr lang="el-GR" sz="2400" b="1" dirty="0">
                <a:solidFill>
                  <a:schemeClr val="tx1"/>
                </a:solidFill>
                <a:highlight>
                  <a:srgbClr val="FFFF00"/>
                </a:highlight>
              </a:rPr>
              <a:t> έκδοση του  προγράμματος </a:t>
            </a:r>
            <a:r>
              <a:rPr lang="en-US" sz="2400" b="1" dirty="0">
                <a:solidFill>
                  <a:schemeClr val="tx1"/>
                </a:solidFill>
                <a:highlight>
                  <a:srgbClr val="FFFF00"/>
                </a:highlight>
              </a:rPr>
              <a:t>Add2Numbers </a:t>
            </a:r>
            <a:r>
              <a:rPr lang="el-GR" sz="2400" b="1" dirty="0">
                <a:solidFill>
                  <a:schemeClr val="tx1"/>
                </a:solidFill>
                <a:highlight>
                  <a:srgbClr val="FFFF00"/>
                </a:highlight>
              </a:rPr>
              <a:t>αξιοποιώντας την 1</a:t>
            </a:r>
            <a:r>
              <a:rPr lang="el-GR" sz="2400" b="1" baseline="30000" dirty="0">
                <a:solidFill>
                  <a:schemeClr val="tx1"/>
                </a:solidFill>
                <a:highlight>
                  <a:srgbClr val="FFFF00"/>
                </a:highlight>
              </a:rPr>
              <a:t>η</a:t>
            </a:r>
            <a:r>
              <a:rPr lang="el-GR" sz="2400" b="1" dirty="0">
                <a:solidFill>
                  <a:schemeClr val="tx1"/>
                </a:solidFill>
                <a:highlight>
                  <a:srgbClr val="FFFF00"/>
                </a:highlight>
              </a:rPr>
              <a:t> </a:t>
            </a:r>
            <a:endParaRPr lang="en-GB" sz="2400" b="1" dirty="0">
              <a:solidFill>
                <a:schemeClr val="tx1"/>
              </a:solidFill>
              <a:highlight>
                <a:srgbClr val="FFFF00"/>
              </a:highlight>
            </a:endParaRPr>
          </a:p>
        </p:txBody>
      </p:sp>
      <p:pic>
        <p:nvPicPr>
          <p:cNvPr id="9" name="Picture 8">
            <a:extLst>
              <a:ext uri="{FF2B5EF4-FFF2-40B4-BE49-F238E27FC236}">
                <a16:creationId xmlns:a16="http://schemas.microsoft.com/office/drawing/2014/main" id="{D808DAFA-8FC4-6631-A0FE-D17673101C95}"/>
              </a:ext>
            </a:extLst>
          </p:cNvPr>
          <p:cNvPicPr>
            <a:picLocks noChangeAspect="1"/>
          </p:cNvPicPr>
          <p:nvPr/>
        </p:nvPicPr>
        <p:blipFill>
          <a:blip r:embed="rId3"/>
          <a:stretch>
            <a:fillRect/>
          </a:stretch>
        </p:blipFill>
        <p:spPr>
          <a:xfrm>
            <a:off x="355370" y="1848073"/>
            <a:ext cx="4812974" cy="3543607"/>
          </a:xfrm>
          <a:prstGeom prst="rect">
            <a:avLst/>
          </a:prstGeom>
        </p:spPr>
      </p:pic>
      <p:sp>
        <p:nvSpPr>
          <p:cNvPr id="12" name="Speech Bubble: Rectangle with Corners Rounded 11">
            <a:extLst>
              <a:ext uri="{FF2B5EF4-FFF2-40B4-BE49-F238E27FC236}">
                <a16:creationId xmlns:a16="http://schemas.microsoft.com/office/drawing/2014/main" id="{33417CDD-1E7C-2BDA-48F8-7FA68E0F4A7A}"/>
              </a:ext>
            </a:extLst>
          </p:cNvPr>
          <p:cNvSpPr/>
          <p:nvPr/>
        </p:nvSpPr>
        <p:spPr>
          <a:xfrm>
            <a:off x="6095999" y="4072332"/>
            <a:ext cx="5633357" cy="719331"/>
          </a:xfrm>
          <a:prstGeom prst="wedgeRoundRectCallout">
            <a:avLst>
              <a:gd name="adj1" fmla="val -59222"/>
              <a:gd name="adj2" fmla="val 98719"/>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solidFill>
                  <a:schemeClr val="tx1"/>
                </a:solidFill>
                <a:highlight>
                  <a:srgbClr val="FFFF00"/>
                </a:highlight>
              </a:rPr>
              <a:t>Ελέγξτε αν υλοποιεί σωστά την απαιτούμενη  λειτουργικότητα </a:t>
            </a:r>
          </a:p>
        </p:txBody>
      </p:sp>
    </p:spTree>
    <p:extLst>
      <p:ext uri="{BB962C8B-B14F-4D97-AF65-F5344CB8AC3E}">
        <p14:creationId xmlns:p14="http://schemas.microsoft.com/office/powerpoint/2010/main" val="262435979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3B6CD-3ECF-6C3D-8869-A2BD4B8975CC}"/>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54D6629B-27C4-F0DC-6F95-7E487B482516}"/>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9859D72B-D69F-6629-0976-A75C072C7F4D}"/>
              </a:ext>
            </a:extLst>
          </p:cNvPr>
          <p:cNvSpPr>
            <a:spLocks noGrp="1"/>
          </p:cNvSpPr>
          <p:nvPr>
            <p:ph type="title"/>
          </p:nvPr>
        </p:nvSpPr>
        <p:spPr>
          <a:xfrm>
            <a:off x="0" y="0"/>
            <a:ext cx="12191999" cy="719331"/>
          </a:xfrm>
          <a:solidFill>
            <a:srgbClr val="FDCBAD"/>
          </a:solidFill>
        </p:spPr>
        <p:txBody>
          <a:bodyPr>
            <a:normAutofit/>
          </a:bodyPr>
          <a:lstStyle/>
          <a:p>
            <a:r>
              <a:rPr lang="it-IT" sz="4000" b="1" dirty="0">
                <a:solidFill>
                  <a:srgbClr val="F9853D"/>
                </a:solidFill>
                <a:latin typeface="Bahnschrift" panose="020B0502040204020203" pitchFamily="34" charset="0"/>
              </a:rPr>
              <a:t>O Alex και το AI chatbot</a:t>
            </a:r>
            <a:endParaRPr lang="en-US"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DED3BAD8-2AFC-4F4B-6989-39B67B117003}"/>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7CEF4B40-9561-7EF7-0F62-00336EEB67B3}"/>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26</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B28D2F10-03DE-9EDF-FC33-9DA635331E8B}"/>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4" name="Θέση υποσέλιδου 4">
            <a:extLst>
              <a:ext uri="{FF2B5EF4-FFF2-40B4-BE49-F238E27FC236}">
                <a16:creationId xmlns:a16="http://schemas.microsoft.com/office/drawing/2014/main" id="{3E29D437-602F-0D03-874B-ECE21BEE7998}"/>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pic>
        <p:nvPicPr>
          <p:cNvPr id="6" name="Picture 5">
            <a:extLst>
              <a:ext uri="{FF2B5EF4-FFF2-40B4-BE49-F238E27FC236}">
                <a16:creationId xmlns:a16="http://schemas.microsoft.com/office/drawing/2014/main" id="{FC83FC1A-5646-B011-A061-E1CE9BC97B29}"/>
              </a:ext>
            </a:extLst>
          </p:cNvPr>
          <p:cNvPicPr>
            <a:picLocks noChangeAspect="1"/>
          </p:cNvPicPr>
          <p:nvPr/>
        </p:nvPicPr>
        <p:blipFill>
          <a:blip r:embed="rId3"/>
          <a:stretch>
            <a:fillRect/>
          </a:stretch>
        </p:blipFill>
        <p:spPr>
          <a:xfrm>
            <a:off x="194868" y="891226"/>
            <a:ext cx="5409519" cy="5584727"/>
          </a:xfrm>
          <a:prstGeom prst="rect">
            <a:avLst/>
          </a:prstGeom>
        </p:spPr>
      </p:pic>
      <p:pic>
        <p:nvPicPr>
          <p:cNvPr id="15" name="Picture 14">
            <a:extLst>
              <a:ext uri="{FF2B5EF4-FFF2-40B4-BE49-F238E27FC236}">
                <a16:creationId xmlns:a16="http://schemas.microsoft.com/office/drawing/2014/main" id="{AECE3B0D-6A26-F7EE-AC1B-BFB20AC3AEEB}"/>
              </a:ext>
            </a:extLst>
          </p:cNvPr>
          <p:cNvPicPr>
            <a:picLocks noChangeAspect="1"/>
          </p:cNvPicPr>
          <p:nvPr/>
        </p:nvPicPr>
        <p:blipFill>
          <a:blip r:embed="rId4"/>
          <a:stretch>
            <a:fillRect/>
          </a:stretch>
        </p:blipFill>
        <p:spPr>
          <a:xfrm>
            <a:off x="6382668" y="21092"/>
            <a:ext cx="4594380" cy="6891572"/>
          </a:xfrm>
          <a:prstGeom prst="rect">
            <a:avLst/>
          </a:prstGeom>
        </p:spPr>
      </p:pic>
    </p:spTree>
    <p:extLst>
      <p:ext uri="{BB962C8B-B14F-4D97-AF65-F5344CB8AC3E}">
        <p14:creationId xmlns:p14="http://schemas.microsoft.com/office/powerpoint/2010/main" val="96071383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959E3-727F-C584-3BED-ABF60F7D7399}"/>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1E73A3E3-F652-BFBF-A332-9213A738E49A}"/>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1858BB31-BEF3-D0DA-4C82-DF334613D2F6}"/>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Ορίζοντας τη δική μας συνάρτηση (Add2Numbers</a:t>
            </a:r>
            <a:r>
              <a:rPr lang="en-US" sz="4000" b="1" dirty="0">
                <a:solidFill>
                  <a:srgbClr val="F9853D"/>
                </a:solidFill>
                <a:latin typeface="Bahnschrift" panose="020B0502040204020203" pitchFamily="34" charset="0"/>
              </a:rPr>
              <a:t>V3</a:t>
            </a:r>
            <a:r>
              <a:rPr lang="el-GR" sz="4000" b="1" dirty="0">
                <a:solidFill>
                  <a:srgbClr val="F9853D"/>
                </a:solidFill>
                <a:latin typeface="Bahnschrift" panose="020B0502040204020203" pitchFamily="34" charset="0"/>
              </a:rPr>
              <a:t>)</a:t>
            </a:r>
            <a:endParaRPr lang="en-US"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A6E3EB6D-FC4A-22D8-11D9-A16F02E897B5}"/>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ED502D1C-1BEB-E3E0-B6EA-DDC6F61E0894}"/>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27</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6B9D808F-0ED2-15BD-8FF8-2E6B0E1B46F6}"/>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4" name="Θέση υποσέλιδου 4">
            <a:extLst>
              <a:ext uri="{FF2B5EF4-FFF2-40B4-BE49-F238E27FC236}">
                <a16:creationId xmlns:a16="http://schemas.microsoft.com/office/drawing/2014/main" id="{4037AA76-B170-E304-DADA-663E0DB885FF}"/>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pic>
        <p:nvPicPr>
          <p:cNvPr id="4" name="Picture 3">
            <a:extLst>
              <a:ext uri="{FF2B5EF4-FFF2-40B4-BE49-F238E27FC236}">
                <a16:creationId xmlns:a16="http://schemas.microsoft.com/office/drawing/2014/main" id="{C1CED2F9-A284-D43A-D964-EA8631A83FC7}"/>
              </a:ext>
            </a:extLst>
          </p:cNvPr>
          <p:cNvPicPr>
            <a:picLocks noChangeAspect="1"/>
          </p:cNvPicPr>
          <p:nvPr/>
        </p:nvPicPr>
        <p:blipFill>
          <a:blip r:embed="rId3"/>
          <a:stretch>
            <a:fillRect/>
          </a:stretch>
        </p:blipFill>
        <p:spPr>
          <a:xfrm>
            <a:off x="0" y="968807"/>
            <a:ext cx="10533331" cy="5294096"/>
          </a:xfrm>
          <a:prstGeom prst="rect">
            <a:avLst/>
          </a:prstGeom>
        </p:spPr>
      </p:pic>
      <p:sp>
        <p:nvSpPr>
          <p:cNvPr id="7" name="Callout: Bent Line 6">
            <a:extLst>
              <a:ext uri="{FF2B5EF4-FFF2-40B4-BE49-F238E27FC236}">
                <a16:creationId xmlns:a16="http://schemas.microsoft.com/office/drawing/2014/main" id="{8510B6FA-180E-0030-7BEE-0815BB7E7F90}"/>
              </a:ext>
            </a:extLst>
          </p:cNvPr>
          <p:cNvSpPr/>
          <p:nvPr/>
        </p:nvSpPr>
        <p:spPr>
          <a:xfrm>
            <a:off x="8072750" y="3429000"/>
            <a:ext cx="3799702" cy="773637"/>
          </a:xfrm>
          <a:prstGeom prst="borderCallout2">
            <a:avLst>
              <a:gd name="adj1" fmla="val 50710"/>
              <a:gd name="adj2" fmla="val 99"/>
              <a:gd name="adj3" fmla="val 130244"/>
              <a:gd name="adj4" fmla="val -48961"/>
              <a:gd name="adj5" fmla="val 138540"/>
              <a:gd name="adj6" fmla="val -143820"/>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t>Κλήση της συνάρτησης </a:t>
            </a:r>
            <a:r>
              <a:rPr lang="en-US" sz="2400" b="1" dirty="0"/>
              <a:t>sum</a:t>
            </a:r>
          </a:p>
          <a:p>
            <a:pPr algn="ctr"/>
            <a:r>
              <a:rPr lang="en-US" sz="2400" b="1" dirty="0"/>
              <a:t>(function call)</a:t>
            </a:r>
            <a:endParaRPr lang="en-GB" sz="2400" dirty="0"/>
          </a:p>
        </p:txBody>
      </p:sp>
      <p:cxnSp>
        <p:nvCxnSpPr>
          <p:cNvPr id="12" name="Straight Connector 11">
            <a:extLst>
              <a:ext uri="{FF2B5EF4-FFF2-40B4-BE49-F238E27FC236}">
                <a16:creationId xmlns:a16="http://schemas.microsoft.com/office/drawing/2014/main" id="{C8E65704-A78A-F318-A453-C6901DE7D33A}"/>
              </a:ext>
            </a:extLst>
          </p:cNvPr>
          <p:cNvCxnSpPr/>
          <p:nvPr/>
        </p:nvCxnSpPr>
        <p:spPr>
          <a:xfrm flipH="1">
            <a:off x="1194619" y="4881715"/>
            <a:ext cx="4070555"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2266FFA-E513-4D29-9298-8BDE7C10ED89}"/>
              </a:ext>
            </a:extLst>
          </p:cNvPr>
          <p:cNvCxnSpPr>
            <a:cxnSpLocks/>
          </p:cNvCxnSpPr>
          <p:nvPr/>
        </p:nvCxnSpPr>
        <p:spPr>
          <a:xfrm flipH="1">
            <a:off x="1194619" y="5889193"/>
            <a:ext cx="2772697" cy="19664"/>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6F632C2-E047-C5BA-E845-4778B390C0E9}"/>
              </a:ext>
            </a:extLst>
          </p:cNvPr>
          <p:cNvSpPr txBox="1"/>
          <p:nvPr/>
        </p:nvSpPr>
        <p:spPr>
          <a:xfrm>
            <a:off x="7905135" y="719331"/>
            <a:ext cx="4192724" cy="1077218"/>
          </a:xfrm>
          <a:prstGeom prst="rect">
            <a:avLst/>
          </a:prstGeom>
          <a:noFill/>
        </p:spPr>
        <p:txBody>
          <a:bodyPr wrap="square" rtlCol="0">
            <a:spAutoFit/>
          </a:bodyPr>
          <a:lstStyle/>
          <a:p>
            <a:r>
              <a:rPr lang="el-GR" sz="3200" b="1" dirty="0"/>
              <a:t>Δομή προγράμματος </a:t>
            </a:r>
            <a:r>
              <a:rPr lang="en-US" sz="3200" b="1" dirty="0"/>
              <a:t>C</a:t>
            </a:r>
            <a:endParaRPr lang="en-GB" sz="3200" b="1" dirty="0"/>
          </a:p>
          <a:p>
            <a:endParaRPr lang="en-GB" sz="3200" dirty="0"/>
          </a:p>
        </p:txBody>
      </p:sp>
    </p:spTree>
    <p:extLst>
      <p:ext uri="{BB962C8B-B14F-4D97-AF65-F5344CB8AC3E}">
        <p14:creationId xmlns:p14="http://schemas.microsoft.com/office/powerpoint/2010/main" val="424611952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FD774-19B7-DE81-E955-464C7C9F75D1}"/>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49332F80-48F4-7F95-5553-53C6607B00A8}"/>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5A845989-B437-D3AA-1F3B-1EA3154A0A72}"/>
              </a:ext>
            </a:extLst>
          </p:cNvPr>
          <p:cNvSpPr>
            <a:spLocks noGrp="1"/>
          </p:cNvSpPr>
          <p:nvPr>
            <p:ph type="title"/>
          </p:nvPr>
        </p:nvSpPr>
        <p:spPr>
          <a:xfrm>
            <a:off x="0" y="0"/>
            <a:ext cx="12191999" cy="719331"/>
          </a:xfrm>
          <a:solidFill>
            <a:srgbClr val="FDCBAD"/>
          </a:solidFill>
        </p:spPr>
        <p:txBody>
          <a:bodyPr>
            <a:normAutofit/>
          </a:bodyPr>
          <a:lstStyle/>
          <a:p>
            <a:r>
              <a:rPr lang="en-US" sz="4000" b="1" dirty="0">
                <a:solidFill>
                  <a:srgbClr val="F9853D"/>
                </a:solidFill>
                <a:latin typeface="Bahnschrift" panose="020B0502040204020203" pitchFamily="34" charset="0"/>
              </a:rPr>
              <a:t>Hands-on</a:t>
            </a:r>
            <a:r>
              <a:rPr lang="el-GR" sz="4000" b="1" dirty="0">
                <a:solidFill>
                  <a:srgbClr val="F9853D"/>
                </a:solidFill>
                <a:latin typeface="Bahnschrift" panose="020B0502040204020203" pitchFamily="34" charset="0"/>
              </a:rPr>
              <a:t>  (</a:t>
            </a:r>
            <a:r>
              <a:rPr lang="en-US" sz="4000" b="1" dirty="0">
                <a:solidFill>
                  <a:srgbClr val="F9853D"/>
                </a:solidFill>
                <a:latin typeface="Bahnschrift" panose="020B0502040204020203" pitchFamily="34" charset="0"/>
              </a:rPr>
              <a:t>Add2Numbers Version </a:t>
            </a:r>
            <a:r>
              <a:rPr lang="el-GR" sz="4000" b="1" dirty="0">
                <a:solidFill>
                  <a:srgbClr val="F9853D"/>
                </a:solidFill>
                <a:latin typeface="Bahnschrift" panose="020B0502040204020203" pitchFamily="34" charset="0"/>
              </a:rPr>
              <a:t>3</a:t>
            </a:r>
            <a:r>
              <a:rPr lang="en-US" sz="4000" b="1" dirty="0">
                <a:solidFill>
                  <a:srgbClr val="F9853D"/>
                </a:solidFill>
                <a:latin typeface="Bahnschrift" panose="020B0502040204020203" pitchFamily="34" charset="0"/>
              </a:rPr>
              <a:t>)</a:t>
            </a:r>
          </a:p>
        </p:txBody>
      </p:sp>
      <p:sp>
        <p:nvSpPr>
          <p:cNvPr id="8" name="Θέση υποσέλιδου 4">
            <a:extLst>
              <a:ext uri="{FF2B5EF4-FFF2-40B4-BE49-F238E27FC236}">
                <a16:creationId xmlns:a16="http://schemas.microsoft.com/office/drawing/2014/main" id="{FD567293-054B-479D-F3A8-5C1E8C3A40C0}"/>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5AAA537B-45DA-DABE-5AC0-7B6547ED858A}"/>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28</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F6C25A08-8B08-0608-1017-A9E5380DA6FA}"/>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4" name="Θέση υποσέλιδου 4">
            <a:extLst>
              <a:ext uri="{FF2B5EF4-FFF2-40B4-BE49-F238E27FC236}">
                <a16:creationId xmlns:a16="http://schemas.microsoft.com/office/drawing/2014/main" id="{EC13BF0D-6320-B8E7-D5F8-28958D7293D8}"/>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sp>
        <p:nvSpPr>
          <p:cNvPr id="7" name="Speech Bubble: Rectangle with Corners Rounded 6">
            <a:extLst>
              <a:ext uri="{FF2B5EF4-FFF2-40B4-BE49-F238E27FC236}">
                <a16:creationId xmlns:a16="http://schemas.microsoft.com/office/drawing/2014/main" id="{0E1C6C6D-350A-DF96-403F-B3C3A46AB775}"/>
              </a:ext>
            </a:extLst>
          </p:cNvPr>
          <p:cNvSpPr/>
          <p:nvPr/>
        </p:nvSpPr>
        <p:spPr>
          <a:xfrm>
            <a:off x="6203273" y="1604478"/>
            <a:ext cx="5633357" cy="1418942"/>
          </a:xfrm>
          <a:prstGeom prst="wedgeRoundRectCallout">
            <a:avLst>
              <a:gd name="adj1" fmla="val -59222"/>
              <a:gd name="adj2" fmla="val 98719"/>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solidFill>
                  <a:schemeClr val="tx1"/>
                </a:solidFill>
                <a:highlight>
                  <a:srgbClr val="FFFF00"/>
                </a:highlight>
              </a:rPr>
              <a:t>Αναπτύξτε την 3</a:t>
            </a:r>
            <a:r>
              <a:rPr lang="el-GR" sz="2400" b="1" baseline="30000" dirty="0">
                <a:solidFill>
                  <a:schemeClr val="tx1"/>
                </a:solidFill>
                <a:highlight>
                  <a:srgbClr val="FFFF00"/>
                </a:highlight>
              </a:rPr>
              <a:t>η</a:t>
            </a:r>
            <a:r>
              <a:rPr lang="el-GR" sz="2400" b="1" dirty="0">
                <a:solidFill>
                  <a:schemeClr val="tx1"/>
                </a:solidFill>
                <a:highlight>
                  <a:srgbClr val="FFFF00"/>
                </a:highlight>
              </a:rPr>
              <a:t> έκδοση του  προγράμματος </a:t>
            </a:r>
            <a:r>
              <a:rPr lang="en-US" sz="2400" b="1" dirty="0">
                <a:solidFill>
                  <a:schemeClr val="tx1"/>
                </a:solidFill>
                <a:highlight>
                  <a:srgbClr val="FFFF00"/>
                </a:highlight>
              </a:rPr>
              <a:t>Add2Numbers</a:t>
            </a:r>
            <a:r>
              <a:rPr lang="el-GR" sz="2400" b="1" dirty="0">
                <a:solidFill>
                  <a:schemeClr val="tx1"/>
                </a:solidFill>
                <a:highlight>
                  <a:srgbClr val="FFFF00"/>
                </a:highlight>
              </a:rPr>
              <a:t> ορίζοντας τη δική σας συνάρτηση </a:t>
            </a:r>
            <a:r>
              <a:rPr lang="en-US" sz="2400" b="1" dirty="0">
                <a:solidFill>
                  <a:schemeClr val="tx1"/>
                </a:solidFill>
                <a:highlight>
                  <a:srgbClr val="FFFF00"/>
                </a:highlight>
              </a:rPr>
              <a:t>sum</a:t>
            </a:r>
            <a:endParaRPr lang="en-GB" sz="2400" b="1" dirty="0">
              <a:solidFill>
                <a:schemeClr val="tx1"/>
              </a:solidFill>
              <a:highlight>
                <a:srgbClr val="FFFF00"/>
              </a:highlight>
            </a:endParaRPr>
          </a:p>
        </p:txBody>
      </p:sp>
      <p:pic>
        <p:nvPicPr>
          <p:cNvPr id="9" name="Picture 8">
            <a:extLst>
              <a:ext uri="{FF2B5EF4-FFF2-40B4-BE49-F238E27FC236}">
                <a16:creationId xmlns:a16="http://schemas.microsoft.com/office/drawing/2014/main" id="{D12D1FE6-0BC4-5C91-44D5-A64BA8C149F8}"/>
              </a:ext>
            </a:extLst>
          </p:cNvPr>
          <p:cNvPicPr>
            <a:picLocks noChangeAspect="1"/>
          </p:cNvPicPr>
          <p:nvPr/>
        </p:nvPicPr>
        <p:blipFill>
          <a:blip r:embed="rId3"/>
          <a:stretch>
            <a:fillRect/>
          </a:stretch>
        </p:blipFill>
        <p:spPr>
          <a:xfrm>
            <a:off x="355370" y="1848073"/>
            <a:ext cx="4812974" cy="3543607"/>
          </a:xfrm>
          <a:prstGeom prst="rect">
            <a:avLst/>
          </a:prstGeom>
        </p:spPr>
      </p:pic>
      <p:sp>
        <p:nvSpPr>
          <p:cNvPr id="4" name="Speech Bubble: Rectangle with Corners Rounded 3">
            <a:extLst>
              <a:ext uri="{FF2B5EF4-FFF2-40B4-BE49-F238E27FC236}">
                <a16:creationId xmlns:a16="http://schemas.microsoft.com/office/drawing/2014/main" id="{3F411F2F-935E-F97C-0521-9FA53FE8BB1C}"/>
              </a:ext>
            </a:extLst>
          </p:cNvPr>
          <p:cNvSpPr/>
          <p:nvPr/>
        </p:nvSpPr>
        <p:spPr>
          <a:xfrm>
            <a:off x="6095999" y="4072332"/>
            <a:ext cx="5633357" cy="719331"/>
          </a:xfrm>
          <a:prstGeom prst="wedgeRoundRectCallout">
            <a:avLst>
              <a:gd name="adj1" fmla="val -59222"/>
              <a:gd name="adj2" fmla="val 98719"/>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solidFill>
                  <a:schemeClr val="tx1"/>
                </a:solidFill>
                <a:highlight>
                  <a:srgbClr val="FFFF00"/>
                </a:highlight>
              </a:rPr>
              <a:t>Ελέγξτε αν υλοποιεί σωστά την απαιτούμενη  λειτουργικότητα </a:t>
            </a:r>
          </a:p>
        </p:txBody>
      </p:sp>
    </p:spTree>
    <p:extLst>
      <p:ext uri="{BB962C8B-B14F-4D97-AF65-F5344CB8AC3E}">
        <p14:creationId xmlns:p14="http://schemas.microsoft.com/office/powerpoint/2010/main" val="305694178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F5093-ECB5-E040-3940-9079BBDE82CB}"/>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F832659F-866E-74E7-72E7-8BD54A5675FD}"/>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DAB3DBDE-D4F9-7EBB-A37E-DB1D3ED34806}"/>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Διεργασία ως </a:t>
            </a:r>
            <a:r>
              <a:rPr lang="en-GB" sz="4000" b="1" dirty="0">
                <a:solidFill>
                  <a:srgbClr val="F9853D"/>
                </a:solidFill>
                <a:latin typeface="Bahnschrift" panose="020B0502040204020203" pitchFamily="34" charset="0"/>
              </a:rPr>
              <a:t>Reusable function - H </a:t>
            </a:r>
            <a:r>
              <a:rPr lang="el-GR" sz="4000" b="1" dirty="0">
                <a:solidFill>
                  <a:srgbClr val="F9853D"/>
                </a:solidFill>
                <a:latin typeface="Bahnschrift" panose="020B0502040204020203" pitchFamily="34" charset="0"/>
              </a:rPr>
              <a:t>συνάρτηση  </a:t>
            </a:r>
            <a:r>
              <a:rPr lang="en-GB" sz="4000" b="1" dirty="0">
                <a:solidFill>
                  <a:srgbClr val="F9853D"/>
                </a:solidFill>
                <a:latin typeface="Bahnschrift" panose="020B0502040204020203" pitchFamily="34" charset="0"/>
              </a:rPr>
              <a:t>sum</a:t>
            </a:r>
            <a:endParaRPr lang="en-US"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E7E1AC43-00C8-F833-374F-5A23DCAEE838}"/>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B73EC762-FBD5-977F-2DFF-35AB3E49B5CF}"/>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29</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7E832C65-313A-47DF-8B66-349A09A784F3}"/>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4" name="Θέση υποσέλιδου 4">
            <a:extLst>
              <a:ext uri="{FF2B5EF4-FFF2-40B4-BE49-F238E27FC236}">
                <a16:creationId xmlns:a16="http://schemas.microsoft.com/office/drawing/2014/main" id="{4967FAAA-211C-1A60-575E-DCC87B99AF69}"/>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sp>
        <p:nvSpPr>
          <p:cNvPr id="6" name="Slide Number Placeholder 4">
            <a:extLst>
              <a:ext uri="{FF2B5EF4-FFF2-40B4-BE49-F238E27FC236}">
                <a16:creationId xmlns:a16="http://schemas.microsoft.com/office/drawing/2014/main" id="{3F3FF5DA-ACC0-D737-8614-B2278C77080C}"/>
              </a:ext>
            </a:extLst>
          </p:cNvPr>
          <p:cNvSpPr txBox="1">
            <a:spLocks/>
          </p:cNvSpPr>
          <p:nvPr/>
        </p:nvSpPr>
        <p:spPr bwMode="auto">
          <a:xfrm>
            <a:off x="10201276" y="6524626"/>
            <a:ext cx="4667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fld id="{9BABC257-ABBD-4FB8-972C-0B3D92F86389}" type="slidenum">
              <a:rPr kumimoji="0" lang="en-US" altLang="el-GR" sz="1400" b="0" i="0" u="none" strike="noStrike" kern="0" cap="none" spc="0" normalizeH="0" baseline="0" noProof="0">
                <a:ln>
                  <a:noFill/>
                </a:ln>
                <a:solidFill>
                  <a:srgbClr val="000000"/>
                </a:solidFill>
                <a:effectLst/>
                <a:uLnTx/>
                <a:uFillTx/>
                <a:latin typeface="Tahoma" panose="020B0604030504040204" pitchFamily="34" charset="0"/>
              </a:rPr>
              <a:pPr marL="0" marR="0" lvl="0" indent="0" defTabSz="914400" eaLnBrk="1" fontAlgn="base" latinLnBrk="0" hangingPunct="1">
                <a:lnSpc>
                  <a:spcPct val="100000"/>
                </a:lnSpc>
                <a:spcBef>
                  <a:spcPct val="0"/>
                </a:spcBef>
                <a:spcAft>
                  <a:spcPct val="0"/>
                </a:spcAft>
                <a:buClrTx/>
                <a:buSzTx/>
                <a:buFontTx/>
                <a:buNone/>
                <a:tabLst/>
                <a:defRPr/>
              </a:pPr>
              <a:t>29</a:t>
            </a:fld>
            <a:endParaRPr kumimoji="0" lang="en-US" altLang="el-GR" sz="1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 name="Rectangle 4">
            <a:extLst>
              <a:ext uri="{FF2B5EF4-FFF2-40B4-BE49-F238E27FC236}">
                <a16:creationId xmlns:a16="http://schemas.microsoft.com/office/drawing/2014/main" id="{C1ED60C3-5F5C-D2E1-A34E-7321A45BB1F4}"/>
              </a:ext>
            </a:extLst>
          </p:cNvPr>
          <p:cNvSpPr>
            <a:spLocks noChangeArrowheads="1"/>
          </p:cNvSpPr>
          <p:nvPr/>
        </p:nvSpPr>
        <p:spPr bwMode="auto">
          <a:xfrm>
            <a:off x="2063750" y="1916114"/>
            <a:ext cx="7772400" cy="424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342900" marR="0" lvl="0" indent="-342900" defTabSz="914400" eaLnBrk="1" fontAlgn="base" latinLnBrk="0" hangingPunct="1">
              <a:lnSpc>
                <a:spcPct val="120000"/>
              </a:lnSpc>
              <a:spcBef>
                <a:spcPct val="0"/>
              </a:spcBef>
              <a:spcAft>
                <a:spcPct val="0"/>
              </a:spcAft>
              <a:buClrTx/>
              <a:buSzTx/>
              <a:buFontTx/>
              <a:buNone/>
              <a:tabLst/>
              <a:defRPr/>
            </a:pPr>
            <a:r>
              <a:rPr kumimoji="0" lang="en-US" altLang="el-GR" sz="3600" b="0" i="0" u="none" strike="noStrike" kern="0" cap="none" spc="0" normalizeH="0" baseline="0" noProof="0">
                <a:ln>
                  <a:noFill/>
                </a:ln>
                <a:solidFill>
                  <a:srgbClr val="000000"/>
                </a:solidFill>
                <a:effectLst/>
                <a:uLnTx/>
                <a:uFillTx/>
                <a:latin typeface="Tahoma" panose="020B0604030504040204" pitchFamily="34" charset="0"/>
              </a:rPr>
              <a:t>	</a:t>
            </a:r>
            <a:endParaRPr kumimoji="0" lang="el-GR" altLang="el-GR" sz="2800" b="0" i="0" u="none" strike="noStrike" kern="0" cap="none" spc="0" normalizeH="0" baseline="0" noProof="0">
              <a:ln>
                <a:noFill/>
              </a:ln>
              <a:solidFill>
                <a:srgbClr val="000000"/>
              </a:solidFill>
              <a:effectLst/>
              <a:uLnTx/>
              <a:uFillTx/>
              <a:latin typeface="Times New Roman" panose="02020603050405020304" pitchFamily="18" charset="0"/>
            </a:endParaRPr>
          </a:p>
        </p:txBody>
      </p:sp>
      <p:sp>
        <p:nvSpPr>
          <p:cNvPr id="9" name="TextBox 8">
            <a:extLst>
              <a:ext uri="{FF2B5EF4-FFF2-40B4-BE49-F238E27FC236}">
                <a16:creationId xmlns:a16="http://schemas.microsoft.com/office/drawing/2014/main" id="{7D172626-2F4C-0B02-6A88-0E06D3A4BDE8}"/>
              </a:ext>
            </a:extLst>
          </p:cNvPr>
          <p:cNvSpPr txBox="1"/>
          <p:nvPr/>
        </p:nvSpPr>
        <p:spPr>
          <a:xfrm>
            <a:off x="140669" y="778922"/>
            <a:ext cx="11910662" cy="1077218"/>
          </a:xfrm>
          <a:prstGeom prst="rect">
            <a:avLst/>
          </a:prstGeom>
          <a:solidFill>
            <a:srgbClr val="92D050"/>
          </a:solidFill>
        </p:spPr>
        <p:txBody>
          <a:bodyPr wrap="square" rtlCol="0">
            <a:spAutoFit/>
          </a:bodyPr>
          <a:lstStyle/>
          <a:p>
            <a:pPr eaLnBrk="0" fontAlgn="base" hangingPunct="0">
              <a:spcBef>
                <a:spcPct val="0"/>
              </a:spcBef>
              <a:spcAft>
                <a:spcPct val="0"/>
              </a:spcAft>
            </a:pPr>
            <a:r>
              <a:rPr lang="el-GR" altLang="el-GR" sz="3200" dirty="0">
                <a:solidFill>
                  <a:srgbClr val="000000"/>
                </a:solidFill>
                <a:latin typeface="Times New Roman" panose="02020603050405020304" pitchFamily="18" charset="0"/>
              </a:rPr>
              <a:t>Η διεργασία </a:t>
            </a:r>
            <a:r>
              <a:rPr lang="en-US" altLang="el-GR" sz="3200" dirty="0">
                <a:solidFill>
                  <a:srgbClr val="000000"/>
                </a:solidFill>
                <a:latin typeface="Times New Roman" panose="02020603050405020304" pitchFamily="18" charset="0"/>
              </a:rPr>
              <a:t>sum </a:t>
            </a:r>
            <a:r>
              <a:rPr lang="el-GR" altLang="el-GR" sz="3200" dirty="0">
                <a:solidFill>
                  <a:srgbClr val="000000"/>
                </a:solidFill>
                <a:latin typeface="Times New Roman" panose="02020603050405020304" pitchFamily="18" charset="0"/>
              </a:rPr>
              <a:t>ως αυτόνομη </a:t>
            </a:r>
            <a:r>
              <a:rPr lang="el-GR" altLang="el-GR" sz="3200" b="1" dirty="0">
                <a:solidFill>
                  <a:srgbClr val="000000"/>
                </a:solidFill>
                <a:latin typeface="Times New Roman" panose="02020603050405020304" pitchFamily="18" charset="0"/>
              </a:rPr>
              <a:t>επαναχρησιμοποιήσιμη μονάδα</a:t>
            </a:r>
            <a:r>
              <a:rPr lang="en-US" altLang="el-GR" sz="3200" b="1" dirty="0">
                <a:solidFill>
                  <a:srgbClr val="000000"/>
                </a:solidFill>
                <a:latin typeface="Times New Roman" panose="02020603050405020304" pitchFamily="18" charset="0"/>
              </a:rPr>
              <a:t> </a:t>
            </a:r>
            <a:r>
              <a:rPr lang="el-GR" altLang="el-GR" sz="3200" dirty="0">
                <a:solidFill>
                  <a:srgbClr val="000000"/>
                </a:solidFill>
                <a:latin typeface="Times New Roman" panose="02020603050405020304" pitchFamily="18" charset="0"/>
              </a:rPr>
              <a:t>λειτουργικότητας</a:t>
            </a:r>
            <a:endParaRPr lang="el-GR" sz="3200" dirty="0">
              <a:solidFill>
                <a:srgbClr val="000000"/>
              </a:solidFill>
              <a:latin typeface="Tahoma" panose="020B0604030504040204" pitchFamily="34" charset="0"/>
            </a:endParaRPr>
          </a:p>
        </p:txBody>
      </p:sp>
      <p:sp>
        <p:nvSpPr>
          <p:cNvPr id="12" name="Oval 11">
            <a:extLst>
              <a:ext uri="{FF2B5EF4-FFF2-40B4-BE49-F238E27FC236}">
                <a16:creationId xmlns:a16="http://schemas.microsoft.com/office/drawing/2014/main" id="{3DC26EB0-C089-4068-E742-0E80AD7AB484}"/>
              </a:ext>
            </a:extLst>
          </p:cNvPr>
          <p:cNvSpPr/>
          <p:nvPr/>
        </p:nvSpPr>
        <p:spPr bwMode="auto">
          <a:xfrm>
            <a:off x="3690505" y="2180574"/>
            <a:ext cx="3168352" cy="1512168"/>
          </a:xfrm>
          <a:prstGeom prst="ellipse">
            <a:avLst/>
          </a:prstGeom>
          <a:solidFill>
            <a:srgbClr val="00E4A8"/>
          </a:solidFill>
          <a:ln w="9525" cap="flat" cmpd="sng" algn="ctr">
            <a:solidFill>
              <a:srgbClr val="00000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Υπολόγισε</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Άθροισμα 2 αριθμών</a:t>
            </a:r>
          </a:p>
        </p:txBody>
      </p:sp>
      <p:cxnSp>
        <p:nvCxnSpPr>
          <p:cNvPr id="13" name="Straight Arrow Connector 12">
            <a:extLst>
              <a:ext uri="{FF2B5EF4-FFF2-40B4-BE49-F238E27FC236}">
                <a16:creationId xmlns:a16="http://schemas.microsoft.com/office/drawing/2014/main" id="{8D32ECE4-2CF2-D884-7FB6-35D0C46A8829}"/>
              </a:ext>
            </a:extLst>
          </p:cNvPr>
          <p:cNvCxnSpPr>
            <a:cxnSpLocks/>
          </p:cNvCxnSpPr>
          <p:nvPr/>
        </p:nvCxnSpPr>
        <p:spPr bwMode="auto">
          <a:xfrm>
            <a:off x="1961055" y="2483874"/>
            <a:ext cx="1832146" cy="221452"/>
          </a:xfrm>
          <a:prstGeom prst="straightConnector1">
            <a:avLst/>
          </a:prstGeom>
          <a:solidFill>
            <a:srgbClr val="00E4A8"/>
          </a:solidFill>
          <a:ln w="28575" cap="flat" cmpd="sng" algn="ctr">
            <a:solidFill>
              <a:srgbClr val="000000"/>
            </a:solidFill>
            <a:prstDash val="solid"/>
            <a:miter lim="800000"/>
            <a:headEnd type="none" w="med" len="med"/>
            <a:tailEnd type="triangle"/>
          </a:ln>
          <a:effectLst/>
        </p:spPr>
      </p:cxnSp>
      <p:cxnSp>
        <p:nvCxnSpPr>
          <p:cNvPr id="15" name="Straight Arrow Connector 14">
            <a:extLst>
              <a:ext uri="{FF2B5EF4-FFF2-40B4-BE49-F238E27FC236}">
                <a16:creationId xmlns:a16="http://schemas.microsoft.com/office/drawing/2014/main" id="{2909C0D5-2EEB-5AB1-7926-039AA595236C}"/>
              </a:ext>
            </a:extLst>
          </p:cNvPr>
          <p:cNvCxnSpPr>
            <a:cxnSpLocks/>
          </p:cNvCxnSpPr>
          <p:nvPr/>
        </p:nvCxnSpPr>
        <p:spPr bwMode="auto">
          <a:xfrm flipV="1">
            <a:off x="2217000" y="3187286"/>
            <a:ext cx="1596703" cy="486005"/>
          </a:xfrm>
          <a:prstGeom prst="straightConnector1">
            <a:avLst/>
          </a:prstGeom>
          <a:solidFill>
            <a:srgbClr val="00E4A8"/>
          </a:solidFill>
          <a:ln w="28575" cap="flat" cmpd="sng" algn="ctr">
            <a:solidFill>
              <a:srgbClr val="000000"/>
            </a:solidFill>
            <a:prstDash val="solid"/>
            <a:miter lim="800000"/>
            <a:headEnd type="none" w="med" len="med"/>
            <a:tailEnd type="triangle"/>
          </a:ln>
          <a:effectLst/>
        </p:spPr>
      </p:cxnSp>
      <p:cxnSp>
        <p:nvCxnSpPr>
          <p:cNvPr id="16" name="Straight Arrow Connector 15">
            <a:extLst>
              <a:ext uri="{FF2B5EF4-FFF2-40B4-BE49-F238E27FC236}">
                <a16:creationId xmlns:a16="http://schemas.microsoft.com/office/drawing/2014/main" id="{2736316A-DDD6-093D-EC7E-F0404B3910BD}"/>
              </a:ext>
            </a:extLst>
          </p:cNvPr>
          <p:cNvCxnSpPr>
            <a:cxnSpLocks/>
            <a:stCxn id="12" idx="6"/>
            <a:endCxn id="19" idx="3"/>
          </p:cNvCxnSpPr>
          <p:nvPr/>
        </p:nvCxnSpPr>
        <p:spPr bwMode="auto">
          <a:xfrm>
            <a:off x="6858858" y="2936658"/>
            <a:ext cx="2160239" cy="25584"/>
          </a:xfrm>
          <a:prstGeom prst="straightConnector1">
            <a:avLst/>
          </a:prstGeom>
          <a:solidFill>
            <a:srgbClr val="00E4A8"/>
          </a:solidFill>
          <a:ln w="28575" cap="flat" cmpd="sng" algn="ctr">
            <a:solidFill>
              <a:srgbClr val="000000"/>
            </a:solidFill>
            <a:prstDash val="solid"/>
            <a:miter lim="800000"/>
            <a:headEnd type="none" w="med" len="med"/>
            <a:tailEnd type="triangle"/>
          </a:ln>
          <a:effectLst/>
        </p:spPr>
      </p:cxnSp>
      <p:sp>
        <p:nvSpPr>
          <p:cNvPr id="17" name="TextBox 16">
            <a:extLst>
              <a:ext uri="{FF2B5EF4-FFF2-40B4-BE49-F238E27FC236}">
                <a16:creationId xmlns:a16="http://schemas.microsoft.com/office/drawing/2014/main" id="{24482C93-30A4-25A4-FF3A-C62A837E1239}"/>
              </a:ext>
            </a:extLst>
          </p:cNvPr>
          <p:cNvSpPr txBox="1"/>
          <p:nvPr/>
        </p:nvSpPr>
        <p:spPr>
          <a:xfrm>
            <a:off x="2014784" y="2130208"/>
            <a:ext cx="1519968" cy="461665"/>
          </a:xfrm>
          <a:prstGeom prst="rect">
            <a:avLst/>
          </a:prstGeom>
          <a:noFill/>
        </p:spPr>
        <p:txBody>
          <a:bodyPr wrap="none" rtlCol="0">
            <a:spAutoFit/>
          </a:bodyPr>
          <a:lstStyle/>
          <a:p>
            <a:pPr eaLnBrk="0" fontAlgn="base" hangingPunct="0">
              <a:spcBef>
                <a:spcPct val="0"/>
              </a:spcBef>
              <a:spcAft>
                <a:spcPct val="0"/>
              </a:spcAft>
            </a:pPr>
            <a:r>
              <a:rPr lang="el-GR" sz="2400" dirty="0">
                <a:solidFill>
                  <a:srgbClr val="000000"/>
                </a:solidFill>
                <a:latin typeface="Tahoma" panose="020B0604030504040204" pitchFamily="34" charset="0"/>
              </a:rPr>
              <a:t>Αριθμός 1</a:t>
            </a:r>
          </a:p>
        </p:txBody>
      </p:sp>
      <p:sp>
        <p:nvSpPr>
          <p:cNvPr id="18" name="TextBox 17">
            <a:extLst>
              <a:ext uri="{FF2B5EF4-FFF2-40B4-BE49-F238E27FC236}">
                <a16:creationId xmlns:a16="http://schemas.microsoft.com/office/drawing/2014/main" id="{B1FB4C31-6156-7840-094A-CA4E38116BBF}"/>
              </a:ext>
            </a:extLst>
          </p:cNvPr>
          <p:cNvSpPr txBox="1"/>
          <p:nvPr/>
        </p:nvSpPr>
        <p:spPr>
          <a:xfrm>
            <a:off x="2342560" y="3377741"/>
            <a:ext cx="1519968" cy="461665"/>
          </a:xfrm>
          <a:prstGeom prst="rect">
            <a:avLst/>
          </a:prstGeom>
          <a:noFill/>
        </p:spPr>
        <p:txBody>
          <a:bodyPr wrap="none" rtlCol="0">
            <a:spAutoFit/>
          </a:bodyPr>
          <a:lstStyle/>
          <a:p>
            <a:pPr eaLnBrk="0" fontAlgn="base" hangingPunct="0">
              <a:spcBef>
                <a:spcPct val="0"/>
              </a:spcBef>
              <a:spcAft>
                <a:spcPct val="0"/>
              </a:spcAft>
            </a:pPr>
            <a:r>
              <a:rPr lang="el-GR" sz="2400" dirty="0">
                <a:solidFill>
                  <a:srgbClr val="000000"/>
                </a:solidFill>
                <a:latin typeface="Tahoma" panose="020B0604030504040204" pitchFamily="34" charset="0"/>
              </a:rPr>
              <a:t>Αριθμός 2</a:t>
            </a:r>
          </a:p>
        </p:txBody>
      </p:sp>
      <p:sp>
        <p:nvSpPr>
          <p:cNvPr id="19" name="TextBox 18">
            <a:extLst>
              <a:ext uri="{FF2B5EF4-FFF2-40B4-BE49-F238E27FC236}">
                <a16:creationId xmlns:a16="http://schemas.microsoft.com/office/drawing/2014/main" id="{322F72A4-0619-B003-A46E-ABD61573A6A8}"/>
              </a:ext>
            </a:extLst>
          </p:cNvPr>
          <p:cNvSpPr txBox="1"/>
          <p:nvPr/>
        </p:nvSpPr>
        <p:spPr>
          <a:xfrm>
            <a:off x="7345188" y="2546744"/>
            <a:ext cx="1673909" cy="830997"/>
          </a:xfrm>
          <a:prstGeom prst="rect">
            <a:avLst/>
          </a:prstGeom>
          <a:noFill/>
        </p:spPr>
        <p:txBody>
          <a:bodyPr wrap="square" rtlCol="0">
            <a:spAutoFit/>
          </a:bodyPr>
          <a:lstStyle/>
          <a:p>
            <a:pPr eaLnBrk="0" fontAlgn="base" hangingPunct="0">
              <a:spcBef>
                <a:spcPct val="0"/>
              </a:spcBef>
              <a:spcAft>
                <a:spcPct val="0"/>
              </a:spcAft>
            </a:pPr>
            <a:r>
              <a:rPr lang="el-GR" sz="2400" dirty="0">
                <a:solidFill>
                  <a:srgbClr val="000000"/>
                </a:solidFill>
                <a:latin typeface="Tahoma" panose="020B0604030504040204" pitchFamily="34" charset="0"/>
              </a:rPr>
              <a:t>Άθροισμα αριθμών</a:t>
            </a:r>
          </a:p>
        </p:txBody>
      </p:sp>
      <p:sp>
        <p:nvSpPr>
          <p:cNvPr id="20" name="TextBox 19">
            <a:extLst>
              <a:ext uri="{FF2B5EF4-FFF2-40B4-BE49-F238E27FC236}">
                <a16:creationId xmlns:a16="http://schemas.microsoft.com/office/drawing/2014/main" id="{74ACF903-E8F3-D15C-DF95-741539ED312E}"/>
              </a:ext>
            </a:extLst>
          </p:cNvPr>
          <p:cNvSpPr txBox="1"/>
          <p:nvPr/>
        </p:nvSpPr>
        <p:spPr>
          <a:xfrm>
            <a:off x="1703512" y="4545089"/>
            <a:ext cx="7560642" cy="1938992"/>
          </a:xfrm>
          <a:prstGeom prst="rect">
            <a:avLst/>
          </a:prstGeom>
          <a:noFill/>
        </p:spPr>
        <p:txBody>
          <a:bodyPr wrap="square" rtlCol="0">
            <a:spAutoFit/>
          </a:bodyPr>
          <a:lstStyle/>
          <a:p>
            <a:pPr eaLnBrk="0" fontAlgn="base" hangingPunct="0">
              <a:spcBef>
                <a:spcPct val="0"/>
              </a:spcBef>
              <a:spcAft>
                <a:spcPct val="0"/>
              </a:spcAft>
            </a:pPr>
            <a:r>
              <a:rPr lang="en-US" sz="2400" b="1" dirty="0">
                <a:solidFill>
                  <a:srgbClr val="FF0000"/>
                </a:solidFill>
                <a:latin typeface="Tahoma" panose="020B0604030504040204" pitchFamily="34" charset="0"/>
              </a:rPr>
              <a:t>int sum(int n1, int n2) </a:t>
            </a:r>
            <a:r>
              <a:rPr lang="en-US" sz="2400" b="1" dirty="0">
                <a:solidFill>
                  <a:srgbClr val="000000"/>
                </a:solidFill>
                <a:latin typeface="Tahoma" panose="020B0604030504040204" pitchFamily="34" charset="0"/>
              </a:rPr>
              <a:t>{</a:t>
            </a:r>
          </a:p>
          <a:p>
            <a:pPr eaLnBrk="0" fontAlgn="base" hangingPunct="0">
              <a:spcBef>
                <a:spcPct val="0"/>
              </a:spcBef>
              <a:spcAft>
                <a:spcPct val="0"/>
              </a:spcAft>
            </a:pPr>
            <a:r>
              <a:rPr lang="en-US" sz="2400" b="1" dirty="0">
                <a:solidFill>
                  <a:srgbClr val="000000"/>
                </a:solidFill>
                <a:latin typeface="Tahoma" panose="020B0604030504040204" pitchFamily="34" charset="0"/>
              </a:rPr>
              <a:t>	int sum=0;</a:t>
            </a:r>
          </a:p>
          <a:p>
            <a:pPr eaLnBrk="0" fontAlgn="base" hangingPunct="0">
              <a:spcBef>
                <a:spcPct val="0"/>
              </a:spcBef>
              <a:spcAft>
                <a:spcPct val="0"/>
              </a:spcAft>
            </a:pPr>
            <a:r>
              <a:rPr lang="en-US" sz="2400" b="1" dirty="0">
                <a:solidFill>
                  <a:srgbClr val="000000"/>
                </a:solidFill>
                <a:latin typeface="Tahoma" panose="020B0604030504040204" pitchFamily="34" charset="0"/>
              </a:rPr>
              <a:t>	sum = n1 + n2;</a:t>
            </a:r>
          </a:p>
          <a:p>
            <a:pPr eaLnBrk="0" fontAlgn="base" hangingPunct="0">
              <a:spcBef>
                <a:spcPct val="0"/>
              </a:spcBef>
              <a:spcAft>
                <a:spcPct val="0"/>
              </a:spcAft>
            </a:pPr>
            <a:r>
              <a:rPr lang="en-US" sz="2400" b="1" dirty="0">
                <a:solidFill>
                  <a:srgbClr val="000000"/>
                </a:solidFill>
                <a:latin typeface="Tahoma" panose="020B0604030504040204" pitchFamily="34" charset="0"/>
              </a:rPr>
              <a:t>	</a:t>
            </a:r>
            <a:r>
              <a:rPr lang="en-US" sz="2400" b="1" dirty="0">
                <a:solidFill>
                  <a:srgbClr val="FF0000"/>
                </a:solidFill>
                <a:latin typeface="Tahoma" panose="020B0604030504040204" pitchFamily="34" charset="0"/>
              </a:rPr>
              <a:t>return</a:t>
            </a:r>
            <a:r>
              <a:rPr lang="en-US" sz="2400" b="1" dirty="0">
                <a:solidFill>
                  <a:srgbClr val="000000"/>
                </a:solidFill>
                <a:latin typeface="Tahoma" panose="020B0604030504040204" pitchFamily="34" charset="0"/>
              </a:rPr>
              <a:t> sum;</a:t>
            </a:r>
          </a:p>
          <a:p>
            <a:pPr eaLnBrk="0" fontAlgn="base" hangingPunct="0">
              <a:spcBef>
                <a:spcPct val="0"/>
              </a:spcBef>
              <a:spcAft>
                <a:spcPct val="0"/>
              </a:spcAft>
            </a:pPr>
            <a:r>
              <a:rPr lang="en-US" sz="2400" b="1" dirty="0">
                <a:solidFill>
                  <a:srgbClr val="000000"/>
                </a:solidFill>
                <a:latin typeface="Tahoma" panose="020B0604030504040204" pitchFamily="34" charset="0"/>
              </a:rPr>
              <a:t>	} </a:t>
            </a:r>
            <a:endParaRPr lang="el-GR" sz="2400" b="1" dirty="0">
              <a:solidFill>
                <a:srgbClr val="000000"/>
              </a:solidFill>
              <a:latin typeface="Tahoma" panose="020B0604030504040204" pitchFamily="34" charset="0"/>
            </a:endParaRPr>
          </a:p>
        </p:txBody>
      </p:sp>
      <p:cxnSp>
        <p:nvCxnSpPr>
          <p:cNvPr id="21" name="Straight Arrow Connector 20">
            <a:extLst>
              <a:ext uri="{FF2B5EF4-FFF2-40B4-BE49-F238E27FC236}">
                <a16:creationId xmlns:a16="http://schemas.microsoft.com/office/drawing/2014/main" id="{8F33D123-8124-59AD-D29E-50D63F79C928}"/>
              </a:ext>
            </a:extLst>
          </p:cNvPr>
          <p:cNvCxnSpPr>
            <a:cxnSpLocks/>
          </p:cNvCxnSpPr>
          <p:nvPr/>
        </p:nvCxnSpPr>
        <p:spPr bwMode="auto">
          <a:xfrm flipH="1">
            <a:off x="4369456" y="3377740"/>
            <a:ext cx="3382728" cy="2454646"/>
          </a:xfrm>
          <a:prstGeom prst="straightConnector1">
            <a:avLst/>
          </a:prstGeom>
          <a:solidFill>
            <a:srgbClr val="00E4A8"/>
          </a:solidFill>
          <a:ln w="57150" cap="flat" cmpd="sng" algn="ctr">
            <a:solidFill>
              <a:srgbClr val="FFC000"/>
            </a:solidFill>
            <a:prstDash val="dash"/>
            <a:miter lim="800000"/>
            <a:headEnd type="none" w="med" len="med"/>
            <a:tailEnd type="triangle"/>
          </a:ln>
          <a:effectLst/>
        </p:spPr>
      </p:cxnSp>
      <p:cxnSp>
        <p:nvCxnSpPr>
          <p:cNvPr id="22" name="Straight Arrow Connector 21">
            <a:extLst>
              <a:ext uri="{FF2B5EF4-FFF2-40B4-BE49-F238E27FC236}">
                <a16:creationId xmlns:a16="http://schemas.microsoft.com/office/drawing/2014/main" id="{BBEC7EE1-85F4-A36B-3C69-29F92F03284C}"/>
              </a:ext>
            </a:extLst>
          </p:cNvPr>
          <p:cNvCxnSpPr>
            <a:cxnSpLocks/>
          </p:cNvCxnSpPr>
          <p:nvPr/>
        </p:nvCxnSpPr>
        <p:spPr bwMode="auto">
          <a:xfrm>
            <a:off x="3569872" y="3739393"/>
            <a:ext cx="1157976" cy="940609"/>
          </a:xfrm>
          <a:prstGeom prst="straightConnector1">
            <a:avLst/>
          </a:prstGeom>
          <a:solidFill>
            <a:srgbClr val="00E4A8"/>
          </a:solidFill>
          <a:ln w="57150" cap="flat" cmpd="sng" algn="ctr">
            <a:solidFill>
              <a:srgbClr val="0070C0"/>
            </a:solidFill>
            <a:prstDash val="dash"/>
            <a:miter lim="800000"/>
            <a:headEnd type="none" w="med" len="med"/>
            <a:tailEnd type="triangle"/>
          </a:ln>
          <a:effectLst/>
        </p:spPr>
      </p:cxnSp>
      <p:cxnSp>
        <p:nvCxnSpPr>
          <p:cNvPr id="23" name="Straight Arrow Connector 22">
            <a:extLst>
              <a:ext uri="{FF2B5EF4-FFF2-40B4-BE49-F238E27FC236}">
                <a16:creationId xmlns:a16="http://schemas.microsoft.com/office/drawing/2014/main" id="{79CFD8B8-7E56-BC6B-CE9B-1F7125E0309C}"/>
              </a:ext>
            </a:extLst>
          </p:cNvPr>
          <p:cNvCxnSpPr>
            <a:cxnSpLocks/>
          </p:cNvCxnSpPr>
          <p:nvPr/>
        </p:nvCxnSpPr>
        <p:spPr bwMode="auto">
          <a:xfrm>
            <a:off x="2631547" y="2444111"/>
            <a:ext cx="1005901" cy="2235891"/>
          </a:xfrm>
          <a:prstGeom prst="straightConnector1">
            <a:avLst/>
          </a:prstGeom>
          <a:solidFill>
            <a:srgbClr val="00E4A8"/>
          </a:solidFill>
          <a:ln w="57150" cap="flat" cmpd="sng" algn="ctr">
            <a:solidFill>
              <a:srgbClr val="0070C0"/>
            </a:solidFill>
            <a:prstDash val="dash"/>
            <a:miter lim="800000"/>
            <a:headEnd type="none" w="med" len="med"/>
            <a:tailEnd type="triangle"/>
          </a:ln>
          <a:effectLst/>
        </p:spPr>
      </p:cxnSp>
      <p:sp>
        <p:nvSpPr>
          <p:cNvPr id="24" name="Speech Bubble: Rectangle with Corners Rounded 23">
            <a:extLst>
              <a:ext uri="{FF2B5EF4-FFF2-40B4-BE49-F238E27FC236}">
                <a16:creationId xmlns:a16="http://schemas.microsoft.com/office/drawing/2014/main" id="{062BD92B-1187-3CB2-CA57-B7700ED2C5AC}"/>
              </a:ext>
            </a:extLst>
          </p:cNvPr>
          <p:cNvSpPr/>
          <p:nvPr/>
        </p:nvSpPr>
        <p:spPr bwMode="auto">
          <a:xfrm>
            <a:off x="7104112" y="4941169"/>
            <a:ext cx="4465748" cy="1407779"/>
          </a:xfrm>
          <a:prstGeom prst="wedgeRoundRectCallout">
            <a:avLst>
              <a:gd name="adj1" fmla="val -93857"/>
              <a:gd name="adj2" fmla="val 67741"/>
              <a:gd name="adj3" fmla="val 16667"/>
            </a:avLst>
          </a:prstGeom>
          <a:solidFill>
            <a:srgbClr val="FFFF00"/>
          </a:solidFill>
          <a:ln w="9525" cap="flat" cmpd="sng" algn="ctr">
            <a:solidFill>
              <a:srgbClr val="FFFF00"/>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r>
              <a:rPr lang="el-GR" sz="2000" b="1" dirty="0">
                <a:solidFill>
                  <a:srgbClr val="000000"/>
                </a:solidFill>
                <a:latin typeface="Tahoma" panose="020B0604030504040204" pitchFamily="34" charset="0"/>
              </a:rPr>
              <a:t>Συνάρτηση</a:t>
            </a:r>
            <a:r>
              <a:rPr lang="el-GR" sz="2000" dirty="0">
                <a:solidFill>
                  <a:srgbClr val="000000"/>
                </a:solidFill>
                <a:latin typeface="Tahoma" panose="020B0604030504040204" pitchFamily="34" charset="0"/>
              </a:rPr>
              <a:t>: Αυτόνομη επαναχρησιμοποιήσιμη μονάδα κώδικα που περιγράφει μια καλώς ορισμένη λειτουργικότητα </a:t>
            </a:r>
          </a:p>
        </p:txBody>
      </p:sp>
      <p:sp>
        <p:nvSpPr>
          <p:cNvPr id="25" name="Callout: Line 24">
            <a:extLst>
              <a:ext uri="{FF2B5EF4-FFF2-40B4-BE49-F238E27FC236}">
                <a16:creationId xmlns:a16="http://schemas.microsoft.com/office/drawing/2014/main" id="{09275DA6-CB20-CEA9-596A-9D3636FDFEA4}"/>
              </a:ext>
            </a:extLst>
          </p:cNvPr>
          <p:cNvSpPr/>
          <p:nvPr/>
        </p:nvSpPr>
        <p:spPr bwMode="auto">
          <a:xfrm>
            <a:off x="7608168" y="3739393"/>
            <a:ext cx="4320480" cy="786277"/>
          </a:xfrm>
          <a:prstGeom prst="borderCallout1">
            <a:avLst>
              <a:gd name="adj1" fmla="val 50467"/>
              <a:gd name="adj2" fmla="val -637"/>
              <a:gd name="adj3" fmla="val 125187"/>
              <a:gd name="adj4" fmla="val -82970"/>
            </a:avLst>
          </a:prstGeom>
          <a:solidFill>
            <a:srgbClr val="00E4A8"/>
          </a:solidFill>
          <a:ln w="38100" cap="flat" cmpd="sng" algn="ctr">
            <a:solidFill>
              <a:srgbClr val="00E4A8"/>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Tahoma" panose="020B0604030504040204" pitchFamily="34" charset="0"/>
              </a:rPr>
              <a:t>n1 </a:t>
            </a: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και </a:t>
            </a:r>
            <a:r>
              <a:rPr kumimoji="0" lang="en-US" sz="2400" b="0" i="0" u="none" strike="noStrike" kern="0" cap="none" spc="0" normalizeH="0" baseline="0" noProof="0" dirty="0">
                <a:ln>
                  <a:noFill/>
                </a:ln>
                <a:solidFill>
                  <a:srgbClr val="000000"/>
                </a:solidFill>
                <a:effectLst/>
                <a:uLnTx/>
                <a:uFillTx/>
                <a:latin typeface="Tahoma" panose="020B0604030504040204" pitchFamily="34" charset="0"/>
              </a:rPr>
              <a:t>n2 : </a:t>
            </a: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τυπικά ορίσματα </a:t>
            </a:r>
          </a:p>
          <a:p>
            <a:pPr marL="0" marR="0" lvl="0" indent="0"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a:t>
            </a:r>
            <a:r>
              <a:rPr kumimoji="0" lang="en-US" sz="2400" b="0" i="0" u="none" strike="noStrike" kern="0" cap="none" spc="0" normalizeH="0" baseline="0" noProof="0" dirty="0">
                <a:ln>
                  <a:noFill/>
                </a:ln>
                <a:solidFill>
                  <a:srgbClr val="000000"/>
                </a:solidFill>
                <a:effectLst/>
                <a:uLnTx/>
                <a:uFillTx/>
                <a:latin typeface="Tahoma" panose="020B0604030504040204" pitchFamily="34" charset="0"/>
              </a:rPr>
              <a:t>formal arguments</a:t>
            </a: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a:t>
            </a:r>
          </a:p>
        </p:txBody>
      </p:sp>
    </p:spTree>
    <p:extLst>
      <p:ext uri="{BB962C8B-B14F-4D97-AF65-F5344CB8AC3E}">
        <p14:creationId xmlns:p14="http://schemas.microsoft.com/office/powerpoint/2010/main" val="343766238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00"/>
                                        <p:tgtEl>
                                          <p:spTgt spid="25"/>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4" grpId="0" animBg="1"/>
      <p:bldP spid="2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905C4-48F6-837B-B2B4-3FD27478A542}"/>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BB62DC35-D13F-7DEF-BC89-1017E34A3D50}"/>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37E936D6-8905-A547-AFC8-B6070E3FAABD}"/>
              </a:ext>
            </a:extLst>
          </p:cNvPr>
          <p:cNvSpPr>
            <a:spLocks noGrp="1"/>
          </p:cNvSpPr>
          <p:nvPr>
            <p:ph type="title"/>
          </p:nvPr>
        </p:nvSpPr>
        <p:spPr>
          <a:xfrm>
            <a:off x="0" y="0"/>
            <a:ext cx="12191999" cy="719331"/>
          </a:xfrm>
          <a:solidFill>
            <a:srgbClr val="FDCBAD"/>
          </a:solidFill>
        </p:spPr>
        <p:txBody>
          <a:bodyPr>
            <a:normAutofit/>
          </a:bodyPr>
          <a:lstStyle/>
          <a:p>
            <a:r>
              <a:rPr lang="en-US" sz="4000" b="1" dirty="0">
                <a:solidFill>
                  <a:srgbClr val="F9853D"/>
                </a:solidFill>
                <a:latin typeface="Bahnschrift" panose="020B0502040204020203" pitchFamily="34" charset="0"/>
              </a:rPr>
              <a:t>H sum </a:t>
            </a:r>
            <a:r>
              <a:rPr lang="el-GR" sz="4000" b="1" dirty="0">
                <a:solidFill>
                  <a:srgbClr val="F9853D"/>
                </a:solidFill>
                <a:latin typeface="Bahnschrift" panose="020B0502040204020203" pitchFamily="34" charset="0"/>
              </a:rPr>
              <a:t>επαναχρησιμοποιήσιμη (Add2Numbers</a:t>
            </a:r>
            <a:r>
              <a:rPr lang="en-US" sz="4000" b="1" dirty="0">
                <a:solidFill>
                  <a:srgbClr val="F9853D"/>
                </a:solidFill>
                <a:latin typeface="Bahnschrift" panose="020B0502040204020203" pitchFamily="34" charset="0"/>
              </a:rPr>
              <a:t>V</a:t>
            </a:r>
            <a:r>
              <a:rPr lang="el-GR" sz="4000" b="1" dirty="0">
                <a:solidFill>
                  <a:srgbClr val="F9853D"/>
                </a:solidFill>
                <a:latin typeface="Bahnschrift" panose="020B0502040204020203" pitchFamily="34" charset="0"/>
              </a:rPr>
              <a:t>4)</a:t>
            </a:r>
            <a:endParaRPr lang="en-US"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65F5DDCA-A8A8-9DE2-A6EB-F900C40E169C}"/>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8518272C-BB8A-C6C2-A0EB-F14DC16920DE}"/>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30</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D7B34CF4-3718-22AD-47A0-839DA4B0BC9F}"/>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4" name="Θέση υποσέλιδου 4">
            <a:extLst>
              <a:ext uri="{FF2B5EF4-FFF2-40B4-BE49-F238E27FC236}">
                <a16:creationId xmlns:a16="http://schemas.microsoft.com/office/drawing/2014/main" id="{C419DBDB-0F77-2880-51E6-20332DB1A064}"/>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pic>
        <p:nvPicPr>
          <p:cNvPr id="5" name="Picture 4">
            <a:extLst>
              <a:ext uri="{FF2B5EF4-FFF2-40B4-BE49-F238E27FC236}">
                <a16:creationId xmlns:a16="http://schemas.microsoft.com/office/drawing/2014/main" id="{2AF886C0-9E83-AECC-C852-C28927A86F49}"/>
              </a:ext>
            </a:extLst>
          </p:cNvPr>
          <p:cNvPicPr>
            <a:picLocks noChangeAspect="1"/>
          </p:cNvPicPr>
          <p:nvPr/>
        </p:nvPicPr>
        <p:blipFill>
          <a:blip r:embed="rId3"/>
          <a:stretch>
            <a:fillRect/>
          </a:stretch>
        </p:blipFill>
        <p:spPr>
          <a:xfrm>
            <a:off x="259565" y="1037326"/>
            <a:ext cx="8551998" cy="5333863"/>
          </a:xfrm>
          <a:prstGeom prst="rect">
            <a:avLst/>
          </a:prstGeom>
        </p:spPr>
      </p:pic>
      <p:sp>
        <p:nvSpPr>
          <p:cNvPr id="6" name="Callout: Bent Line 5">
            <a:extLst>
              <a:ext uri="{FF2B5EF4-FFF2-40B4-BE49-F238E27FC236}">
                <a16:creationId xmlns:a16="http://schemas.microsoft.com/office/drawing/2014/main" id="{C09380B4-39E6-85AE-8D71-CCE0EEDC5F80}"/>
              </a:ext>
            </a:extLst>
          </p:cNvPr>
          <p:cNvSpPr/>
          <p:nvPr/>
        </p:nvSpPr>
        <p:spPr>
          <a:xfrm>
            <a:off x="8251629" y="3245428"/>
            <a:ext cx="3388003" cy="441670"/>
          </a:xfrm>
          <a:prstGeom prst="borderCallout2">
            <a:avLst>
              <a:gd name="adj1" fmla="val 50710"/>
              <a:gd name="adj2" fmla="val 99"/>
              <a:gd name="adj3" fmla="val 106869"/>
              <a:gd name="adj4" fmla="val -47797"/>
              <a:gd name="adj5" fmla="val 108487"/>
              <a:gd name="adj6" fmla="val -80552"/>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t>Κλήση </a:t>
            </a:r>
            <a:r>
              <a:rPr lang="en-US" sz="2400" b="1" dirty="0"/>
              <a:t>sum</a:t>
            </a:r>
          </a:p>
        </p:txBody>
      </p:sp>
      <p:grpSp>
        <p:nvGrpSpPr>
          <p:cNvPr id="23" name="Group 22">
            <a:extLst>
              <a:ext uri="{FF2B5EF4-FFF2-40B4-BE49-F238E27FC236}">
                <a16:creationId xmlns:a16="http://schemas.microsoft.com/office/drawing/2014/main" id="{2C89199D-6495-DBDB-DA67-43D910566E14}"/>
              </a:ext>
            </a:extLst>
          </p:cNvPr>
          <p:cNvGrpSpPr/>
          <p:nvPr/>
        </p:nvGrpSpPr>
        <p:grpSpPr>
          <a:xfrm>
            <a:off x="3455611" y="3812433"/>
            <a:ext cx="7212388" cy="497926"/>
            <a:chOff x="3455611" y="3812433"/>
            <a:chExt cx="7212388" cy="497926"/>
          </a:xfrm>
        </p:grpSpPr>
        <p:cxnSp>
          <p:nvCxnSpPr>
            <p:cNvPr id="15" name="Straight Connector 14">
              <a:extLst>
                <a:ext uri="{FF2B5EF4-FFF2-40B4-BE49-F238E27FC236}">
                  <a16:creationId xmlns:a16="http://schemas.microsoft.com/office/drawing/2014/main" id="{FBBC859D-33C0-9B40-EF21-218A6DBABC54}"/>
                </a:ext>
              </a:extLst>
            </p:cNvPr>
            <p:cNvCxnSpPr>
              <a:cxnSpLocks/>
            </p:cNvCxnSpPr>
            <p:nvPr/>
          </p:nvCxnSpPr>
          <p:spPr>
            <a:xfrm flipH="1">
              <a:off x="3455611" y="3814967"/>
              <a:ext cx="511706" cy="2534"/>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9" name="Callout: Bent Line 18">
              <a:extLst>
                <a:ext uri="{FF2B5EF4-FFF2-40B4-BE49-F238E27FC236}">
                  <a16:creationId xmlns:a16="http://schemas.microsoft.com/office/drawing/2014/main" id="{AAC1F30E-972C-B5F8-933D-EFF0D651C26B}"/>
                </a:ext>
              </a:extLst>
            </p:cNvPr>
            <p:cNvSpPr/>
            <p:nvPr/>
          </p:nvSpPr>
          <p:spPr>
            <a:xfrm>
              <a:off x="6346348" y="3868689"/>
              <a:ext cx="4321651" cy="441670"/>
            </a:xfrm>
            <a:prstGeom prst="borderCallout2">
              <a:avLst>
                <a:gd name="adj1" fmla="val 50710"/>
                <a:gd name="adj2" fmla="val 99"/>
                <a:gd name="adj3" fmla="val 59709"/>
                <a:gd name="adj4" fmla="val -42027"/>
                <a:gd name="adj5" fmla="val -17795"/>
                <a:gd name="adj6" fmla="val -42086"/>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solidFill>
                    <a:srgbClr val="FF0000"/>
                  </a:solidFill>
                </a:rPr>
                <a:t>Πραγματικά ορίσματα</a:t>
              </a:r>
            </a:p>
          </p:txBody>
        </p:sp>
        <p:cxnSp>
          <p:nvCxnSpPr>
            <p:cNvPr id="22" name="Straight Connector 21">
              <a:extLst>
                <a:ext uri="{FF2B5EF4-FFF2-40B4-BE49-F238E27FC236}">
                  <a16:creationId xmlns:a16="http://schemas.microsoft.com/office/drawing/2014/main" id="{204BAF75-C050-92B8-5D3A-8E918DDC105E}"/>
                </a:ext>
              </a:extLst>
            </p:cNvPr>
            <p:cNvCxnSpPr>
              <a:cxnSpLocks/>
            </p:cNvCxnSpPr>
            <p:nvPr/>
          </p:nvCxnSpPr>
          <p:spPr>
            <a:xfrm flipH="1">
              <a:off x="4279711" y="3812433"/>
              <a:ext cx="511706" cy="2534"/>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3064A910-BDFE-B9C7-D9C6-1F8DE45F268E}"/>
              </a:ext>
            </a:extLst>
          </p:cNvPr>
          <p:cNvGrpSpPr/>
          <p:nvPr/>
        </p:nvGrpSpPr>
        <p:grpSpPr>
          <a:xfrm>
            <a:off x="2630475" y="1358682"/>
            <a:ext cx="7212388" cy="497926"/>
            <a:chOff x="3455611" y="3812433"/>
            <a:chExt cx="7212388" cy="497926"/>
          </a:xfrm>
        </p:grpSpPr>
        <p:cxnSp>
          <p:nvCxnSpPr>
            <p:cNvPr id="25" name="Straight Connector 24">
              <a:extLst>
                <a:ext uri="{FF2B5EF4-FFF2-40B4-BE49-F238E27FC236}">
                  <a16:creationId xmlns:a16="http://schemas.microsoft.com/office/drawing/2014/main" id="{78299F21-B639-2583-B6E5-24E3FBA92CF8}"/>
                </a:ext>
              </a:extLst>
            </p:cNvPr>
            <p:cNvCxnSpPr>
              <a:cxnSpLocks/>
            </p:cNvCxnSpPr>
            <p:nvPr/>
          </p:nvCxnSpPr>
          <p:spPr>
            <a:xfrm flipH="1">
              <a:off x="3455611" y="3814967"/>
              <a:ext cx="511706" cy="2534"/>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26" name="Callout: Bent Line 25">
              <a:extLst>
                <a:ext uri="{FF2B5EF4-FFF2-40B4-BE49-F238E27FC236}">
                  <a16:creationId xmlns:a16="http://schemas.microsoft.com/office/drawing/2014/main" id="{C6D5C1C2-0C96-6D7C-1CEF-37AEAFCF2871}"/>
                </a:ext>
              </a:extLst>
            </p:cNvPr>
            <p:cNvSpPr/>
            <p:nvPr/>
          </p:nvSpPr>
          <p:spPr>
            <a:xfrm>
              <a:off x="6346348" y="3868689"/>
              <a:ext cx="4321651" cy="441670"/>
            </a:xfrm>
            <a:prstGeom prst="borderCallout2">
              <a:avLst>
                <a:gd name="adj1" fmla="val 50710"/>
                <a:gd name="adj2" fmla="val 99"/>
                <a:gd name="adj3" fmla="val 59709"/>
                <a:gd name="adj4" fmla="val -42027"/>
                <a:gd name="adj5" fmla="val -17795"/>
                <a:gd name="adj6" fmla="val -42086"/>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solidFill>
                    <a:srgbClr val="FF0000"/>
                  </a:solidFill>
                </a:rPr>
                <a:t>Τυπικά ορίσματα</a:t>
              </a:r>
            </a:p>
          </p:txBody>
        </p:sp>
        <p:cxnSp>
          <p:nvCxnSpPr>
            <p:cNvPr id="27" name="Straight Connector 26">
              <a:extLst>
                <a:ext uri="{FF2B5EF4-FFF2-40B4-BE49-F238E27FC236}">
                  <a16:creationId xmlns:a16="http://schemas.microsoft.com/office/drawing/2014/main" id="{4A8B0B72-01CB-AE53-2EAE-ABA3B4660786}"/>
                </a:ext>
              </a:extLst>
            </p:cNvPr>
            <p:cNvCxnSpPr>
              <a:cxnSpLocks/>
            </p:cNvCxnSpPr>
            <p:nvPr/>
          </p:nvCxnSpPr>
          <p:spPr>
            <a:xfrm flipH="1">
              <a:off x="4279711" y="3812433"/>
              <a:ext cx="511706" cy="2534"/>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grpSp>
      <p:sp>
        <p:nvSpPr>
          <p:cNvPr id="28" name="Callout: Bent Line 27">
            <a:extLst>
              <a:ext uri="{FF2B5EF4-FFF2-40B4-BE49-F238E27FC236}">
                <a16:creationId xmlns:a16="http://schemas.microsoft.com/office/drawing/2014/main" id="{268BCDDE-9250-5847-97C3-F8817C63FD92}"/>
              </a:ext>
            </a:extLst>
          </p:cNvPr>
          <p:cNvSpPr/>
          <p:nvPr/>
        </p:nvSpPr>
        <p:spPr>
          <a:xfrm>
            <a:off x="7563184" y="845267"/>
            <a:ext cx="4179619" cy="441670"/>
          </a:xfrm>
          <a:prstGeom prst="borderCallout2">
            <a:avLst>
              <a:gd name="adj1" fmla="val 50710"/>
              <a:gd name="adj2" fmla="val 99"/>
              <a:gd name="adj3" fmla="val 76816"/>
              <a:gd name="adj4" fmla="val -43915"/>
              <a:gd name="adj5" fmla="val 85113"/>
              <a:gd name="adj6" fmla="val -75259"/>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t>Δήλωση της συνάρτησης </a:t>
            </a:r>
            <a:r>
              <a:rPr lang="en-US" sz="2400" b="1" dirty="0"/>
              <a:t>sum</a:t>
            </a:r>
          </a:p>
        </p:txBody>
      </p:sp>
      <p:grpSp>
        <p:nvGrpSpPr>
          <p:cNvPr id="4" name="Group 3">
            <a:extLst>
              <a:ext uri="{FF2B5EF4-FFF2-40B4-BE49-F238E27FC236}">
                <a16:creationId xmlns:a16="http://schemas.microsoft.com/office/drawing/2014/main" id="{63D101CD-3431-FB6A-AE4F-B541E5C9D214}"/>
              </a:ext>
            </a:extLst>
          </p:cNvPr>
          <p:cNvGrpSpPr/>
          <p:nvPr/>
        </p:nvGrpSpPr>
        <p:grpSpPr>
          <a:xfrm>
            <a:off x="4513006" y="4628354"/>
            <a:ext cx="7126626" cy="1717726"/>
            <a:chOff x="4513006" y="4628354"/>
            <a:chExt cx="7126626" cy="1717726"/>
          </a:xfrm>
        </p:grpSpPr>
        <p:sp>
          <p:nvSpPr>
            <p:cNvPr id="29" name="Callout: Bent Line 28">
              <a:extLst>
                <a:ext uri="{FF2B5EF4-FFF2-40B4-BE49-F238E27FC236}">
                  <a16:creationId xmlns:a16="http://schemas.microsoft.com/office/drawing/2014/main" id="{FC0B6BC4-E2C2-0439-41A1-48A6B2809105}"/>
                </a:ext>
              </a:extLst>
            </p:cNvPr>
            <p:cNvSpPr/>
            <p:nvPr/>
          </p:nvSpPr>
          <p:spPr>
            <a:xfrm>
              <a:off x="7839930" y="4628354"/>
              <a:ext cx="3799702" cy="679138"/>
            </a:xfrm>
            <a:prstGeom prst="borderCallout2">
              <a:avLst>
                <a:gd name="adj1" fmla="val 50710"/>
                <a:gd name="adj2" fmla="val 99"/>
                <a:gd name="adj3" fmla="val 106869"/>
                <a:gd name="adj4" fmla="val -47797"/>
                <a:gd name="adj5" fmla="val 113725"/>
                <a:gd name="adj6" fmla="val -87927"/>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t>Ορισμός της </a:t>
              </a:r>
              <a:r>
                <a:rPr lang="en-US" sz="2400" b="1" dirty="0"/>
                <a:t>sum</a:t>
              </a:r>
              <a:r>
                <a:rPr lang="el-GR" sz="2400" b="1" dirty="0"/>
                <a:t> ως επαναχρησιμοποιήσιμη</a:t>
              </a:r>
              <a:endParaRPr lang="en-US" sz="2400" b="1" dirty="0"/>
            </a:p>
          </p:txBody>
        </p:sp>
        <p:cxnSp>
          <p:nvCxnSpPr>
            <p:cNvPr id="31" name="Straight Connector 30">
              <a:extLst>
                <a:ext uri="{FF2B5EF4-FFF2-40B4-BE49-F238E27FC236}">
                  <a16:creationId xmlns:a16="http://schemas.microsoft.com/office/drawing/2014/main" id="{9DF0B0AB-181E-3BEB-8402-7A181A1F2D29}"/>
                </a:ext>
              </a:extLst>
            </p:cNvPr>
            <p:cNvCxnSpPr>
              <a:cxnSpLocks/>
            </p:cNvCxnSpPr>
            <p:nvPr/>
          </p:nvCxnSpPr>
          <p:spPr>
            <a:xfrm>
              <a:off x="4513006" y="4945097"/>
              <a:ext cx="22558" cy="1400983"/>
            </a:xfrm>
            <a:prstGeom prst="line">
              <a:avLst/>
            </a:prstGeom>
            <a:ln w="57150"/>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3D7C894F-A6C2-9FA3-5228-9608D91EE01C}"/>
              </a:ext>
            </a:extLst>
          </p:cNvPr>
          <p:cNvGrpSpPr/>
          <p:nvPr/>
        </p:nvGrpSpPr>
        <p:grpSpPr>
          <a:xfrm>
            <a:off x="2656570" y="6020315"/>
            <a:ext cx="8555667" cy="441670"/>
            <a:chOff x="2656570" y="6020315"/>
            <a:chExt cx="8555667" cy="441670"/>
          </a:xfrm>
        </p:grpSpPr>
        <p:sp>
          <p:nvSpPr>
            <p:cNvPr id="36" name="Callout: Bent Line 35">
              <a:extLst>
                <a:ext uri="{FF2B5EF4-FFF2-40B4-BE49-F238E27FC236}">
                  <a16:creationId xmlns:a16="http://schemas.microsoft.com/office/drawing/2014/main" id="{823DDB98-D8C7-77AA-B381-210FCFE72323}"/>
                </a:ext>
              </a:extLst>
            </p:cNvPr>
            <p:cNvSpPr/>
            <p:nvPr/>
          </p:nvSpPr>
          <p:spPr>
            <a:xfrm>
              <a:off x="5464712" y="6020315"/>
              <a:ext cx="5747525" cy="441670"/>
            </a:xfrm>
            <a:prstGeom prst="borderCallout2">
              <a:avLst>
                <a:gd name="adj1" fmla="val 50710"/>
                <a:gd name="adj2" fmla="val 99"/>
                <a:gd name="adj3" fmla="val 59709"/>
                <a:gd name="adj4" fmla="val -42027"/>
                <a:gd name="adj5" fmla="val 22276"/>
                <a:gd name="adj6" fmla="val -42086"/>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solidFill>
                    <a:srgbClr val="FF0000"/>
                  </a:solidFill>
                </a:rPr>
                <a:t>Επιστρεφόμενη τιμή συνάρτησης</a:t>
              </a:r>
            </a:p>
          </p:txBody>
        </p:sp>
        <p:cxnSp>
          <p:nvCxnSpPr>
            <p:cNvPr id="37" name="Straight Connector 36">
              <a:extLst>
                <a:ext uri="{FF2B5EF4-FFF2-40B4-BE49-F238E27FC236}">
                  <a16:creationId xmlns:a16="http://schemas.microsoft.com/office/drawing/2014/main" id="{E439503A-AE2F-BB4E-34D5-EFD2C284455B}"/>
                </a:ext>
              </a:extLst>
            </p:cNvPr>
            <p:cNvCxnSpPr>
              <a:cxnSpLocks/>
            </p:cNvCxnSpPr>
            <p:nvPr/>
          </p:nvCxnSpPr>
          <p:spPr>
            <a:xfrm flipH="1">
              <a:off x="2656570" y="6128482"/>
              <a:ext cx="927288" cy="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grpSp>
      <p:sp>
        <p:nvSpPr>
          <p:cNvPr id="9" name="Speech Bubble: Rectangle with Corners Rounded 8">
            <a:extLst>
              <a:ext uri="{FF2B5EF4-FFF2-40B4-BE49-F238E27FC236}">
                <a16:creationId xmlns:a16="http://schemas.microsoft.com/office/drawing/2014/main" id="{EBDF8A99-D869-0CE7-A581-17ABE53C7E8D}"/>
              </a:ext>
            </a:extLst>
          </p:cNvPr>
          <p:cNvSpPr/>
          <p:nvPr/>
        </p:nvSpPr>
        <p:spPr bwMode="auto">
          <a:xfrm>
            <a:off x="5769529" y="5301273"/>
            <a:ext cx="6281802" cy="605324"/>
          </a:xfrm>
          <a:prstGeom prst="wedgeRoundRectCallout">
            <a:avLst>
              <a:gd name="adj1" fmla="val -52347"/>
              <a:gd name="adj2" fmla="val 78643"/>
              <a:gd name="adj3" fmla="val 16667"/>
            </a:avLst>
          </a:prstGeom>
          <a:solidFill>
            <a:srgbClr val="FFFF00"/>
          </a:solidFill>
          <a:ln w="9525" cap="flat" cmpd="sng" algn="ctr">
            <a:solidFill>
              <a:schemeClr val="bg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1" hangingPunct="1"/>
            <a:r>
              <a:rPr lang="el-GR" dirty="0"/>
              <a:t>Η </a:t>
            </a:r>
            <a:r>
              <a:rPr lang="en-US" dirty="0"/>
              <a:t>sum </a:t>
            </a:r>
            <a:r>
              <a:rPr lang="el-GR" b="1" dirty="0"/>
              <a:t>δεν</a:t>
            </a:r>
            <a:r>
              <a:rPr lang="el-GR" dirty="0"/>
              <a:t> </a:t>
            </a:r>
            <a:r>
              <a:rPr lang="el-GR" b="1" dirty="0"/>
              <a:t>χρησιμοποιεί</a:t>
            </a:r>
            <a:r>
              <a:rPr lang="el-GR" dirty="0"/>
              <a:t> </a:t>
            </a:r>
            <a:r>
              <a:rPr lang="el-GR" b="1" dirty="0"/>
              <a:t>γενικές μεταβλητές </a:t>
            </a:r>
            <a:r>
              <a:rPr lang="el-GR" dirty="0"/>
              <a:t>οπότε </a:t>
            </a:r>
            <a:r>
              <a:rPr lang="el-GR" b="1" dirty="0"/>
              <a:t>είναι </a:t>
            </a:r>
            <a:r>
              <a:rPr lang="el-GR" dirty="0"/>
              <a:t>επαναχρησιμοποιήσιμη (</a:t>
            </a:r>
            <a:r>
              <a:rPr lang="en-US" b="1" dirty="0"/>
              <a:t>reusable</a:t>
            </a:r>
            <a:r>
              <a:rPr lang="en-US" dirty="0"/>
              <a:t>)</a:t>
            </a:r>
            <a:endParaRPr lang="en-GB" dirty="0"/>
          </a:p>
        </p:txBody>
      </p:sp>
    </p:spTree>
    <p:extLst>
      <p:ext uri="{BB962C8B-B14F-4D97-AF65-F5344CB8AC3E}">
        <p14:creationId xmlns:p14="http://schemas.microsoft.com/office/powerpoint/2010/main" val="323397792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8" grpId="0" animBg="1"/>
      <p:bldP spid="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A4D34-F03F-B621-DDCC-63550D580E2A}"/>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9F64094E-2167-FE42-7B04-54179A72C228}"/>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577FD62D-CEE8-E614-1FDA-AE324E3AD857}"/>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Δήλωση συνάρτησης</a:t>
            </a:r>
            <a:endParaRPr lang="en-US"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9436E2E9-BD0F-FF05-2797-0E99A86A6017}"/>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9D97C29E-48AD-EDB8-9D0A-87861FC777E7}"/>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31</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1EA44B9F-D588-5C22-F17D-00E71F15ABB6}"/>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4" name="Θέση υποσέλιδου 4">
            <a:extLst>
              <a:ext uri="{FF2B5EF4-FFF2-40B4-BE49-F238E27FC236}">
                <a16:creationId xmlns:a16="http://schemas.microsoft.com/office/drawing/2014/main" id="{3F406A74-6462-3C36-D594-1FBDF6E77387}"/>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sp>
        <p:nvSpPr>
          <p:cNvPr id="6" name="Slide Number Placeholder 4">
            <a:extLst>
              <a:ext uri="{FF2B5EF4-FFF2-40B4-BE49-F238E27FC236}">
                <a16:creationId xmlns:a16="http://schemas.microsoft.com/office/drawing/2014/main" id="{45EF03A1-77AE-F594-44A3-8F574580342F}"/>
              </a:ext>
            </a:extLst>
          </p:cNvPr>
          <p:cNvSpPr txBox="1">
            <a:spLocks/>
          </p:cNvSpPr>
          <p:nvPr/>
        </p:nvSpPr>
        <p:spPr bwMode="auto">
          <a:xfrm>
            <a:off x="10201276" y="6524626"/>
            <a:ext cx="4667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fld id="{9BABC257-ABBD-4FB8-972C-0B3D92F86389}" type="slidenum">
              <a:rPr kumimoji="0" lang="en-US" altLang="el-GR" sz="1400" b="0" i="0" u="none" strike="noStrike" kern="0" cap="none" spc="0" normalizeH="0" baseline="0" noProof="0">
                <a:ln>
                  <a:noFill/>
                </a:ln>
                <a:solidFill>
                  <a:srgbClr val="000000"/>
                </a:solidFill>
                <a:effectLst/>
                <a:uLnTx/>
                <a:uFillTx/>
                <a:latin typeface="Tahoma" panose="020B0604030504040204" pitchFamily="34" charset="0"/>
              </a:rPr>
              <a:pPr marL="0" marR="0" lvl="0" indent="0" defTabSz="914400" eaLnBrk="1" fontAlgn="base" latinLnBrk="0" hangingPunct="1">
                <a:lnSpc>
                  <a:spcPct val="100000"/>
                </a:lnSpc>
                <a:spcBef>
                  <a:spcPct val="0"/>
                </a:spcBef>
                <a:spcAft>
                  <a:spcPct val="0"/>
                </a:spcAft>
                <a:buClrTx/>
                <a:buSzTx/>
                <a:buFontTx/>
                <a:buNone/>
                <a:tabLst/>
                <a:defRPr/>
              </a:pPr>
              <a:t>31</a:t>
            </a:fld>
            <a:endParaRPr kumimoji="0" lang="en-US" altLang="el-GR" sz="1400" b="0" i="0" u="none" strike="noStrike" kern="0" cap="none" spc="0" normalizeH="0" baseline="0" noProof="0">
              <a:ln>
                <a:noFill/>
              </a:ln>
              <a:solidFill>
                <a:srgbClr val="000000"/>
              </a:solidFill>
              <a:effectLst/>
              <a:uLnTx/>
              <a:uFillTx/>
              <a:latin typeface="Tahoma" panose="020B0604030504040204" pitchFamily="34" charset="0"/>
            </a:endParaRPr>
          </a:p>
        </p:txBody>
      </p:sp>
      <p:pic>
        <p:nvPicPr>
          <p:cNvPr id="12" name="Picture 11">
            <a:extLst>
              <a:ext uri="{FF2B5EF4-FFF2-40B4-BE49-F238E27FC236}">
                <a16:creationId xmlns:a16="http://schemas.microsoft.com/office/drawing/2014/main" id="{6EBAACA2-3000-D998-6EB8-85B2AF5B9E14}"/>
              </a:ext>
            </a:extLst>
          </p:cNvPr>
          <p:cNvPicPr>
            <a:picLocks noChangeAspect="1"/>
          </p:cNvPicPr>
          <p:nvPr/>
        </p:nvPicPr>
        <p:blipFill>
          <a:blip r:embed="rId3"/>
          <a:stretch>
            <a:fillRect/>
          </a:stretch>
        </p:blipFill>
        <p:spPr>
          <a:xfrm>
            <a:off x="1544039" y="928375"/>
            <a:ext cx="8126263" cy="1132473"/>
          </a:xfrm>
          <a:prstGeom prst="rect">
            <a:avLst/>
          </a:prstGeom>
        </p:spPr>
      </p:pic>
      <p:sp>
        <p:nvSpPr>
          <p:cNvPr id="13" name="Rectangle 3">
            <a:extLst>
              <a:ext uri="{FF2B5EF4-FFF2-40B4-BE49-F238E27FC236}">
                <a16:creationId xmlns:a16="http://schemas.microsoft.com/office/drawing/2014/main" id="{DFC2BC0A-B24C-95ED-3C62-B7411BD2812C}"/>
              </a:ext>
            </a:extLst>
          </p:cNvPr>
          <p:cNvSpPr txBox="1">
            <a:spLocks noChangeArrowheads="1"/>
          </p:cNvSpPr>
          <p:nvPr/>
        </p:nvSpPr>
        <p:spPr bwMode="auto">
          <a:xfrm>
            <a:off x="263352" y="2321940"/>
            <a:ext cx="11665296" cy="3292714"/>
          </a:xfrm>
          <a:prstGeom prst="rect">
            <a:avLst/>
          </a:prstGeom>
          <a:solidFill>
            <a:srgbClr val="92D050"/>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a:buClr>
                <a:srgbClr val="3333CC"/>
              </a:buClr>
            </a:pPr>
            <a:r>
              <a:rPr lang="el-GR" sz="2800" dirty="0">
                <a:solidFill>
                  <a:srgbClr val="000000"/>
                </a:solidFill>
                <a:latin typeface="Tahoma"/>
              </a:rPr>
              <a:t>Η δήλωση της συνάρτησης </a:t>
            </a:r>
          </a:p>
          <a:p>
            <a:pPr lvl="1">
              <a:buClr>
                <a:srgbClr val="FF0000"/>
              </a:buClr>
            </a:pPr>
            <a:r>
              <a:rPr lang="el-GR" sz="2400" dirty="0">
                <a:solidFill>
                  <a:srgbClr val="000000"/>
                </a:solidFill>
                <a:latin typeface="Tahoma"/>
              </a:rPr>
              <a:t>Ορίζει </a:t>
            </a:r>
          </a:p>
          <a:p>
            <a:pPr lvl="2">
              <a:buClr>
                <a:srgbClr val="3333CC"/>
              </a:buClr>
            </a:pPr>
            <a:r>
              <a:rPr lang="el-GR" sz="2000" dirty="0">
                <a:solidFill>
                  <a:srgbClr val="000000"/>
                </a:solidFill>
                <a:latin typeface="Tahoma"/>
              </a:rPr>
              <a:t>Το όνομα της συνάρτησης</a:t>
            </a:r>
            <a:r>
              <a:rPr lang="en-US" sz="2000" dirty="0">
                <a:solidFill>
                  <a:srgbClr val="000000"/>
                </a:solidFill>
                <a:latin typeface="Tahoma"/>
              </a:rPr>
              <a:t> (</a:t>
            </a:r>
            <a:r>
              <a:rPr lang="en-US" sz="2000" dirty="0" err="1">
                <a:solidFill>
                  <a:srgbClr val="000000"/>
                </a:solidFill>
                <a:latin typeface="Tahoma"/>
              </a:rPr>
              <a:t>getNumber</a:t>
            </a:r>
            <a:r>
              <a:rPr lang="en-US" sz="2000" dirty="0">
                <a:solidFill>
                  <a:srgbClr val="000000"/>
                </a:solidFill>
                <a:latin typeface="Tahoma"/>
              </a:rPr>
              <a:t>)</a:t>
            </a:r>
            <a:endParaRPr lang="el-GR" sz="2000" dirty="0">
              <a:solidFill>
                <a:srgbClr val="000000"/>
              </a:solidFill>
              <a:latin typeface="Tahoma"/>
            </a:endParaRPr>
          </a:p>
          <a:p>
            <a:pPr lvl="2">
              <a:buClr>
                <a:srgbClr val="3333CC"/>
              </a:buClr>
            </a:pPr>
            <a:r>
              <a:rPr lang="el-GR" sz="2000" dirty="0">
                <a:solidFill>
                  <a:srgbClr val="000000"/>
                </a:solidFill>
                <a:latin typeface="Tahoma"/>
              </a:rPr>
              <a:t>Τα ονόματα και τούς τύπους των ορισμάτων που αυτή δέχεται</a:t>
            </a:r>
            <a:r>
              <a:rPr lang="en-US" sz="2000" dirty="0">
                <a:solidFill>
                  <a:srgbClr val="000000"/>
                </a:solidFill>
                <a:latin typeface="Tahoma"/>
              </a:rPr>
              <a:t> (void)</a:t>
            </a:r>
            <a:r>
              <a:rPr lang="el-GR" sz="2000" dirty="0">
                <a:solidFill>
                  <a:srgbClr val="000000"/>
                </a:solidFill>
                <a:latin typeface="Tahoma"/>
              </a:rPr>
              <a:t> </a:t>
            </a:r>
          </a:p>
          <a:p>
            <a:pPr lvl="2">
              <a:buClr>
                <a:srgbClr val="3333CC"/>
              </a:buClr>
            </a:pPr>
            <a:r>
              <a:rPr lang="el-GR" sz="2000" dirty="0">
                <a:solidFill>
                  <a:srgbClr val="000000"/>
                </a:solidFill>
                <a:latin typeface="Tahoma"/>
              </a:rPr>
              <a:t>Τον τύπο της επιστρεφόμενης τιμής</a:t>
            </a:r>
            <a:r>
              <a:rPr lang="en-US" sz="2000" dirty="0">
                <a:solidFill>
                  <a:srgbClr val="000000"/>
                </a:solidFill>
                <a:latin typeface="Tahoma"/>
              </a:rPr>
              <a:t> (int)</a:t>
            </a:r>
            <a:endParaRPr lang="el-GR" sz="2000" dirty="0">
              <a:solidFill>
                <a:srgbClr val="000000"/>
              </a:solidFill>
              <a:latin typeface="Tahoma"/>
            </a:endParaRPr>
          </a:p>
          <a:p>
            <a:pPr lvl="1">
              <a:buClr>
                <a:srgbClr val="FF0000"/>
              </a:buClr>
            </a:pPr>
            <a:r>
              <a:rPr lang="el-GR" sz="2400" dirty="0">
                <a:solidFill>
                  <a:srgbClr val="000000"/>
                </a:solidFill>
                <a:latin typeface="Tahoma"/>
              </a:rPr>
              <a:t>τοποθετείται πριν τη δήλωση των γενικών μεταβλητών</a:t>
            </a:r>
          </a:p>
          <a:p>
            <a:pPr lvl="1">
              <a:buClr>
                <a:srgbClr val="FF0000"/>
              </a:buClr>
            </a:pPr>
            <a:r>
              <a:rPr lang="el-GR" altLang="el-GR" sz="2400" kern="0" dirty="0">
                <a:solidFill>
                  <a:srgbClr val="000000"/>
                </a:solidFill>
                <a:latin typeface="Tahoma"/>
              </a:rPr>
              <a:t>είναι απαραίτητη για την κλήση της συνάρτησης και τον έλεγχο τύπων (</a:t>
            </a:r>
            <a:r>
              <a:rPr lang="en-US" altLang="el-GR" sz="2400" kern="0" dirty="0">
                <a:solidFill>
                  <a:srgbClr val="000000"/>
                </a:solidFill>
                <a:latin typeface="Tahoma"/>
              </a:rPr>
              <a:t>type checking</a:t>
            </a:r>
            <a:r>
              <a:rPr lang="el-GR" altLang="el-GR" sz="2400" kern="0" dirty="0">
                <a:solidFill>
                  <a:srgbClr val="000000"/>
                </a:solidFill>
                <a:latin typeface="Tahoma"/>
              </a:rPr>
              <a:t>)</a:t>
            </a:r>
            <a:endParaRPr lang="el-GR" altLang="el-GR" kern="0" dirty="0">
              <a:solidFill>
                <a:srgbClr val="000000"/>
              </a:solidFill>
              <a:latin typeface="Tahoma"/>
            </a:endParaRPr>
          </a:p>
          <a:p>
            <a:pPr marL="0" indent="0">
              <a:buClr>
                <a:srgbClr val="3333CC"/>
              </a:buClr>
              <a:buFont typeface="Wingdings" panose="05000000000000000000" pitchFamily="2" charset="2"/>
              <a:buNone/>
            </a:pPr>
            <a:endParaRPr lang="el-GR" altLang="el-GR" sz="2800" kern="0" dirty="0">
              <a:solidFill>
                <a:srgbClr val="000000"/>
              </a:solidFill>
              <a:latin typeface="Tahoma"/>
            </a:endParaRPr>
          </a:p>
        </p:txBody>
      </p:sp>
      <p:sp>
        <p:nvSpPr>
          <p:cNvPr id="15" name="TextBox 14">
            <a:extLst>
              <a:ext uri="{FF2B5EF4-FFF2-40B4-BE49-F238E27FC236}">
                <a16:creationId xmlns:a16="http://schemas.microsoft.com/office/drawing/2014/main" id="{0DE6B07B-7BC3-6B1B-9BF6-9171902525FA}"/>
              </a:ext>
            </a:extLst>
          </p:cNvPr>
          <p:cNvSpPr txBox="1"/>
          <p:nvPr/>
        </p:nvSpPr>
        <p:spPr>
          <a:xfrm>
            <a:off x="17274" y="5929868"/>
            <a:ext cx="12174725" cy="461665"/>
          </a:xfrm>
          <a:prstGeom prst="rect">
            <a:avLst/>
          </a:prstGeom>
          <a:noFill/>
        </p:spPr>
        <p:txBody>
          <a:bodyPr wrap="square" rtlCol="0">
            <a:spAutoFit/>
          </a:bodyPr>
          <a:lstStyle/>
          <a:p>
            <a:pPr algn="ctr" eaLnBrk="0" fontAlgn="base" hangingPunct="0">
              <a:spcBef>
                <a:spcPct val="0"/>
              </a:spcBef>
              <a:spcAft>
                <a:spcPct val="0"/>
              </a:spcAft>
            </a:pPr>
            <a:r>
              <a:rPr lang="en-US" sz="2400" b="1" dirty="0">
                <a:solidFill>
                  <a:srgbClr val="000000"/>
                </a:solidFill>
                <a:latin typeface="Tahoma" panose="020B0604030504040204" pitchFamily="34" charset="0"/>
              </a:rPr>
              <a:t>void</a:t>
            </a:r>
            <a:r>
              <a:rPr lang="en-US" sz="2400" dirty="0">
                <a:solidFill>
                  <a:srgbClr val="000000"/>
                </a:solidFill>
                <a:latin typeface="Tahoma" panose="020B0604030504040204" pitchFamily="34" charset="0"/>
              </a:rPr>
              <a:t>: </a:t>
            </a:r>
            <a:r>
              <a:rPr lang="el-GR" sz="2400" dirty="0">
                <a:solidFill>
                  <a:srgbClr val="000000"/>
                </a:solidFill>
                <a:latin typeface="Tahoma" panose="020B0604030504040204" pitchFamily="34" charset="0"/>
              </a:rPr>
              <a:t>η λέξη σημαίνει πως η συνάρτηση δεν δέχεται ορίσματα</a:t>
            </a:r>
            <a:r>
              <a:rPr lang="en-US" sz="2400" dirty="0">
                <a:solidFill>
                  <a:srgbClr val="000000"/>
                </a:solidFill>
                <a:latin typeface="Tahoma" panose="020B0604030504040204" pitchFamily="34" charset="0"/>
              </a:rPr>
              <a:t> </a:t>
            </a:r>
            <a:endParaRPr lang="en-GB" sz="2400" dirty="0">
              <a:solidFill>
                <a:srgbClr val="000000"/>
              </a:solidFill>
              <a:latin typeface="Tahoma" panose="020B0604030504040204" pitchFamily="34" charset="0"/>
            </a:endParaRPr>
          </a:p>
        </p:txBody>
      </p:sp>
      <p:cxnSp>
        <p:nvCxnSpPr>
          <p:cNvPr id="16" name="Straight Arrow Connector 15">
            <a:extLst>
              <a:ext uri="{FF2B5EF4-FFF2-40B4-BE49-F238E27FC236}">
                <a16:creationId xmlns:a16="http://schemas.microsoft.com/office/drawing/2014/main" id="{BE7E6D70-7458-FA33-AE3E-FD41C3E922FB}"/>
              </a:ext>
            </a:extLst>
          </p:cNvPr>
          <p:cNvCxnSpPr/>
          <p:nvPr/>
        </p:nvCxnSpPr>
        <p:spPr bwMode="auto">
          <a:xfrm flipH="1" flipV="1">
            <a:off x="3503712" y="1243346"/>
            <a:ext cx="864096" cy="2185654"/>
          </a:xfrm>
          <a:prstGeom prst="straightConnector1">
            <a:avLst/>
          </a:prstGeom>
          <a:noFill/>
          <a:ln w="57150" cap="flat" cmpd="sng" algn="ctr">
            <a:solidFill>
              <a:srgbClr val="00E4A8">
                <a:shade val="95000"/>
                <a:satMod val="105000"/>
              </a:srgbClr>
            </a:solidFill>
            <a:prstDash val="solid"/>
            <a:headEnd type="none" w="med" len="med"/>
            <a:tailEnd type="triangle"/>
          </a:ln>
          <a:effectLst/>
        </p:spPr>
      </p:cxnSp>
      <p:cxnSp>
        <p:nvCxnSpPr>
          <p:cNvPr id="17" name="Straight Arrow Connector 16">
            <a:extLst>
              <a:ext uri="{FF2B5EF4-FFF2-40B4-BE49-F238E27FC236}">
                <a16:creationId xmlns:a16="http://schemas.microsoft.com/office/drawing/2014/main" id="{9254793E-5298-972B-CEC8-26764135FFE1}"/>
              </a:ext>
            </a:extLst>
          </p:cNvPr>
          <p:cNvCxnSpPr>
            <a:cxnSpLocks/>
          </p:cNvCxnSpPr>
          <p:nvPr/>
        </p:nvCxnSpPr>
        <p:spPr bwMode="auto">
          <a:xfrm flipH="1" flipV="1">
            <a:off x="4583832" y="1125627"/>
            <a:ext cx="1224136" cy="2570550"/>
          </a:xfrm>
          <a:prstGeom prst="straightConnector1">
            <a:avLst/>
          </a:prstGeom>
          <a:noFill/>
          <a:ln w="57150" cap="flat" cmpd="sng" algn="ctr">
            <a:solidFill>
              <a:srgbClr val="00E4A8">
                <a:shade val="95000"/>
                <a:satMod val="105000"/>
              </a:srgbClr>
            </a:solidFill>
            <a:prstDash val="solid"/>
            <a:headEnd type="none" w="med" len="med"/>
            <a:tailEnd type="triangle"/>
          </a:ln>
          <a:effectLst/>
        </p:spPr>
      </p:cxnSp>
      <p:cxnSp>
        <p:nvCxnSpPr>
          <p:cNvPr id="18" name="Straight Arrow Connector 17">
            <a:extLst>
              <a:ext uri="{FF2B5EF4-FFF2-40B4-BE49-F238E27FC236}">
                <a16:creationId xmlns:a16="http://schemas.microsoft.com/office/drawing/2014/main" id="{DA654D7C-1A90-6B43-6BBB-F8442DFD1EC2}"/>
              </a:ext>
            </a:extLst>
          </p:cNvPr>
          <p:cNvCxnSpPr>
            <a:cxnSpLocks/>
          </p:cNvCxnSpPr>
          <p:nvPr/>
        </p:nvCxnSpPr>
        <p:spPr bwMode="auto">
          <a:xfrm flipH="1" flipV="1">
            <a:off x="2687128" y="1125627"/>
            <a:ext cx="820389" cy="3059590"/>
          </a:xfrm>
          <a:prstGeom prst="straightConnector1">
            <a:avLst/>
          </a:prstGeom>
          <a:noFill/>
          <a:ln w="57150" cap="flat" cmpd="sng" algn="ctr">
            <a:solidFill>
              <a:srgbClr val="00E4A8">
                <a:shade val="95000"/>
                <a:satMod val="105000"/>
              </a:srgbClr>
            </a:solidFill>
            <a:prstDash val="solid"/>
            <a:headEnd type="none" w="med" len="med"/>
            <a:tailEnd type="triangle"/>
          </a:ln>
          <a:effectLst/>
        </p:spPr>
      </p:cxnSp>
    </p:spTree>
    <p:extLst>
      <p:ext uri="{BB962C8B-B14F-4D97-AF65-F5344CB8AC3E}">
        <p14:creationId xmlns:p14="http://schemas.microsoft.com/office/powerpoint/2010/main" val="40026551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nodeType="after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500"/>
                                        <p:tgtEl>
                                          <p:spTgt spid="16"/>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BD0183A-2495-95C4-7E9F-FCFBDC8B0998}"/>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23F2D40B-8BC1-F73E-2B98-D6C870379611}"/>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AE4F328E-D0F0-2F82-E456-00F89A8CFFF1}"/>
              </a:ext>
            </a:extLst>
          </p:cNvPr>
          <p:cNvSpPr>
            <a:spLocks noGrp="1"/>
          </p:cNvSpPr>
          <p:nvPr>
            <p:ph type="title"/>
          </p:nvPr>
        </p:nvSpPr>
        <p:spPr>
          <a:xfrm>
            <a:off x="0" y="0"/>
            <a:ext cx="12191999" cy="719331"/>
          </a:xfrm>
          <a:solidFill>
            <a:srgbClr val="FDCBAD"/>
          </a:solidFill>
        </p:spPr>
        <p:txBody>
          <a:bodyPr>
            <a:normAutofit/>
          </a:bodyPr>
          <a:lstStyle/>
          <a:p>
            <a:r>
              <a:rPr lang="en-GB" sz="4000" b="1" dirty="0" err="1">
                <a:solidFill>
                  <a:srgbClr val="F9853D"/>
                </a:solidFill>
                <a:latin typeface="Bahnschrift" panose="020B0502040204020203" pitchFamily="34" charset="0"/>
              </a:rPr>
              <a:t>getNumber</a:t>
            </a:r>
            <a:r>
              <a:rPr lang="en-GB" sz="4000" b="1" dirty="0">
                <a:solidFill>
                  <a:srgbClr val="F9853D"/>
                </a:solidFill>
                <a:latin typeface="Bahnschrift" panose="020B0502040204020203" pitchFamily="34" charset="0"/>
              </a:rPr>
              <a:t>() – </a:t>
            </a:r>
            <a:r>
              <a:rPr lang="el-GR" sz="4000" b="1" dirty="0">
                <a:solidFill>
                  <a:srgbClr val="F9853D"/>
                </a:solidFill>
                <a:latin typeface="Bahnschrift" panose="020B0502040204020203" pitchFamily="34" charset="0"/>
              </a:rPr>
              <a:t>Δύο προτάσεις βελτίωσης</a:t>
            </a:r>
            <a:endParaRPr lang="en-US"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9978AE90-82A3-7BD2-1AFC-11148B2C86B5}"/>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0C5464C2-9A63-3629-CF5C-919769FB00A8}"/>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32</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856FB3AA-334A-159B-BC21-16D99C9112A2}"/>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4" name="Θέση υποσέλιδου 4">
            <a:extLst>
              <a:ext uri="{FF2B5EF4-FFF2-40B4-BE49-F238E27FC236}">
                <a16:creationId xmlns:a16="http://schemas.microsoft.com/office/drawing/2014/main" id="{236A3375-6BFA-7C9B-D871-D170FBDF4607}"/>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sp>
        <p:nvSpPr>
          <p:cNvPr id="6" name="Slide Number Placeholder 4">
            <a:extLst>
              <a:ext uri="{FF2B5EF4-FFF2-40B4-BE49-F238E27FC236}">
                <a16:creationId xmlns:a16="http://schemas.microsoft.com/office/drawing/2014/main" id="{48EDF789-EED0-694F-58AB-E7A917EF1896}"/>
              </a:ext>
            </a:extLst>
          </p:cNvPr>
          <p:cNvSpPr txBox="1">
            <a:spLocks/>
          </p:cNvSpPr>
          <p:nvPr/>
        </p:nvSpPr>
        <p:spPr bwMode="auto">
          <a:xfrm>
            <a:off x="10201276" y="6524626"/>
            <a:ext cx="4667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fld id="{9BABC257-ABBD-4FB8-972C-0B3D92F86389}" type="slidenum">
              <a:rPr kumimoji="0" lang="en-US" altLang="el-GR" sz="1400" b="0" i="0" u="none" strike="noStrike" kern="0" cap="none" spc="0" normalizeH="0" baseline="0" noProof="0">
                <a:ln>
                  <a:noFill/>
                </a:ln>
                <a:solidFill>
                  <a:srgbClr val="000000"/>
                </a:solidFill>
                <a:effectLst/>
                <a:uLnTx/>
                <a:uFillTx/>
                <a:latin typeface="Tahoma" panose="020B0604030504040204" pitchFamily="34" charset="0"/>
              </a:rPr>
              <a:pPr marL="0" marR="0" lvl="0" indent="0" defTabSz="914400" eaLnBrk="1" fontAlgn="base" latinLnBrk="0" hangingPunct="1">
                <a:lnSpc>
                  <a:spcPct val="100000"/>
                </a:lnSpc>
                <a:spcBef>
                  <a:spcPct val="0"/>
                </a:spcBef>
                <a:spcAft>
                  <a:spcPct val="0"/>
                </a:spcAft>
                <a:buClrTx/>
                <a:buSzTx/>
                <a:buFontTx/>
                <a:buNone/>
                <a:tabLst/>
                <a:defRPr/>
              </a:pPr>
              <a:t>32</a:t>
            </a:fld>
            <a:endParaRPr kumimoji="0" lang="en-US" altLang="el-GR" sz="1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 name="Rectangle 3">
            <a:extLst>
              <a:ext uri="{FF2B5EF4-FFF2-40B4-BE49-F238E27FC236}">
                <a16:creationId xmlns:a16="http://schemas.microsoft.com/office/drawing/2014/main" id="{1A996815-3633-FAAA-A0D1-83370D32915F}"/>
              </a:ext>
            </a:extLst>
          </p:cNvPr>
          <p:cNvSpPr txBox="1">
            <a:spLocks noChangeArrowheads="1"/>
          </p:cNvSpPr>
          <p:nvPr/>
        </p:nvSpPr>
        <p:spPr bwMode="auto">
          <a:xfrm>
            <a:off x="-11903" y="876962"/>
            <a:ext cx="12191999" cy="4955306"/>
          </a:xfrm>
          <a:prstGeom prst="rect">
            <a:avLst/>
          </a:prstGeom>
          <a:solidFill>
            <a:srgbClr val="92D050"/>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sz="3200" b="1" i="0" u="none" strike="noStrike" kern="0" cap="none" spc="0" normalizeH="0" baseline="0" noProof="0" dirty="0">
                <a:ln>
                  <a:noFill/>
                </a:ln>
                <a:solidFill>
                  <a:srgbClr val="000000"/>
                </a:solidFill>
                <a:effectLst/>
                <a:uLnTx/>
                <a:uFillTx/>
                <a:latin typeface="Tahoma"/>
                <a:ea typeface="+mn-ea"/>
                <a:cs typeface="+mn-cs"/>
              </a:rPr>
              <a:t>Βελτίωση που αφορά το όνομα της συνάρτησης</a:t>
            </a:r>
            <a:endParaRPr kumimoji="0" lang="en-US" sz="3200" b="1" i="0" u="none" strike="noStrike" kern="0" cap="none" spc="0" normalizeH="0" baseline="0" noProof="0" dirty="0">
              <a:ln>
                <a:noFill/>
              </a:ln>
              <a:solidFill>
                <a:srgbClr val="000000"/>
              </a:solidFill>
              <a:effectLst/>
              <a:uLnTx/>
              <a:uFillTx/>
              <a:latin typeface="Tahoma"/>
              <a:ea typeface="+mn-ea"/>
              <a:cs typeface="+mn-cs"/>
            </a:endParaRP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anose="05000000000000000000" pitchFamily="2" charset="2"/>
              <a:buChar char="n"/>
              <a:tabLst/>
              <a:defRPr/>
            </a:pPr>
            <a:r>
              <a:rPr kumimoji="0" lang="el-GR" sz="2000" b="0" i="0" u="none" strike="noStrike" kern="0" cap="none" spc="0" normalizeH="0" baseline="0" noProof="0" dirty="0">
                <a:ln>
                  <a:noFill/>
                </a:ln>
                <a:solidFill>
                  <a:srgbClr val="000000"/>
                </a:solidFill>
                <a:effectLst/>
                <a:uLnTx/>
                <a:uFillTx/>
                <a:latin typeface="Tahoma"/>
              </a:rPr>
              <a:t>Καθώς υπάρχουν και αριθμοί κινητής υποδιαστολής απλής ακρίβειας (</a:t>
            </a:r>
            <a:r>
              <a:rPr kumimoji="0" lang="en-US" sz="2000" b="0" i="0" u="none" strike="noStrike" kern="0" cap="none" spc="0" normalizeH="0" baseline="0" noProof="0" dirty="0">
                <a:ln>
                  <a:noFill/>
                </a:ln>
                <a:solidFill>
                  <a:srgbClr val="000000"/>
                </a:solidFill>
                <a:effectLst/>
                <a:uLnTx/>
                <a:uFillTx/>
                <a:latin typeface="Tahoma"/>
              </a:rPr>
              <a:t>float</a:t>
            </a:r>
            <a:r>
              <a:rPr kumimoji="0" lang="el-GR" sz="2000" b="0" i="0" u="none" strike="noStrike" kern="0" cap="none" spc="0" normalizeH="0" baseline="0" noProof="0" dirty="0">
                <a:ln>
                  <a:noFill/>
                </a:ln>
                <a:solidFill>
                  <a:srgbClr val="000000"/>
                </a:solidFill>
                <a:effectLst/>
                <a:uLnTx/>
                <a:uFillTx/>
                <a:latin typeface="Tahoma"/>
              </a:rPr>
              <a:t>) και αριθμοί κινητής υποδιαστολής διπλής ακρίβειας (</a:t>
            </a:r>
            <a:r>
              <a:rPr kumimoji="0" lang="en-US" sz="2000" b="0" i="0" u="none" strike="noStrike" kern="0" cap="none" spc="0" normalizeH="0" baseline="0" noProof="0" dirty="0">
                <a:ln>
                  <a:noFill/>
                </a:ln>
                <a:solidFill>
                  <a:srgbClr val="000000"/>
                </a:solidFill>
                <a:effectLst/>
                <a:uLnTx/>
                <a:uFillTx/>
                <a:latin typeface="Tahoma"/>
              </a:rPr>
              <a:t>double</a:t>
            </a:r>
            <a:r>
              <a:rPr kumimoji="0" lang="el-GR" sz="2000" b="0" i="0" u="none" strike="noStrike" kern="0" cap="none" spc="0" normalizeH="0" baseline="0" noProof="0" dirty="0">
                <a:ln>
                  <a:noFill/>
                </a:ln>
                <a:solidFill>
                  <a:srgbClr val="000000"/>
                </a:solidFill>
                <a:effectLst/>
                <a:uLnTx/>
                <a:uFillTx/>
                <a:latin typeface="Tahoma"/>
              </a:rPr>
              <a:t>) μπορούμε (και είναι καλύτερο) να δώσουμε ως όνομα στην </a:t>
            </a:r>
            <a:r>
              <a:rPr kumimoji="0" lang="en-US" sz="2000" b="0" i="0" u="none" strike="noStrike" kern="0" cap="none" spc="0" normalizeH="0" baseline="0" noProof="0" dirty="0" err="1">
                <a:ln>
                  <a:noFill/>
                </a:ln>
                <a:solidFill>
                  <a:srgbClr val="000000"/>
                </a:solidFill>
                <a:effectLst/>
                <a:uLnTx/>
                <a:uFillTx/>
                <a:latin typeface="Tahoma"/>
              </a:rPr>
              <a:t>getNumber</a:t>
            </a:r>
            <a:r>
              <a:rPr kumimoji="0" lang="el-GR" sz="2000" b="0" i="0" u="none" strike="noStrike" kern="0" cap="none" spc="0" normalizeH="0" baseline="0" noProof="0" dirty="0">
                <a:ln>
                  <a:noFill/>
                </a:ln>
                <a:solidFill>
                  <a:srgbClr val="000000"/>
                </a:solidFill>
                <a:effectLst/>
                <a:uLnTx/>
                <a:uFillTx/>
                <a:latin typeface="Tahoma"/>
              </a:rPr>
              <a:t>() το </a:t>
            </a:r>
            <a:r>
              <a:rPr kumimoji="0" lang="en-US" sz="2000" b="1" i="0" u="none" strike="noStrike" kern="0" cap="none" spc="0" normalizeH="0" baseline="0" noProof="0" dirty="0" err="1">
                <a:ln>
                  <a:noFill/>
                </a:ln>
                <a:solidFill>
                  <a:srgbClr val="000000"/>
                </a:solidFill>
                <a:effectLst/>
                <a:uLnTx/>
                <a:uFillTx/>
                <a:latin typeface="Tahoma"/>
              </a:rPr>
              <a:t>getInteger</a:t>
            </a:r>
            <a:r>
              <a:rPr kumimoji="0" lang="en-US" sz="2000" b="0" i="0" u="none" strike="noStrike" kern="0" cap="none" spc="0" normalizeH="0" baseline="0" noProof="0" dirty="0">
                <a:ln>
                  <a:noFill/>
                </a:ln>
                <a:solidFill>
                  <a:srgbClr val="000000"/>
                </a:solidFill>
                <a:effectLst/>
                <a:uLnTx/>
                <a:uFillTx/>
                <a:latin typeface="Tahoma"/>
              </a:rPr>
              <a:t> </a:t>
            </a:r>
            <a:r>
              <a:rPr kumimoji="0" lang="el-GR" sz="2000" b="0" i="0" u="none" strike="noStrike" kern="0" cap="none" spc="0" normalizeH="0" baseline="0" noProof="0" dirty="0">
                <a:ln>
                  <a:noFill/>
                </a:ln>
                <a:solidFill>
                  <a:srgbClr val="000000"/>
                </a:solidFill>
                <a:effectLst/>
                <a:uLnTx/>
                <a:uFillTx/>
                <a:latin typeface="Tahoma"/>
              </a:rPr>
              <a:t>ή απλά </a:t>
            </a:r>
            <a:r>
              <a:rPr kumimoji="0" lang="en-US" sz="2000" b="1" i="0" u="none" strike="noStrike" kern="0" cap="none" spc="0" normalizeH="0" baseline="0" noProof="0" dirty="0" err="1">
                <a:ln>
                  <a:noFill/>
                </a:ln>
                <a:solidFill>
                  <a:srgbClr val="000000"/>
                </a:solidFill>
                <a:effectLst/>
                <a:uLnTx/>
                <a:uFillTx/>
                <a:latin typeface="Tahoma"/>
              </a:rPr>
              <a:t>getInt</a:t>
            </a:r>
            <a:r>
              <a:rPr kumimoji="0" lang="el-GR" sz="2000" b="0" i="0" u="none" strike="noStrike" kern="0" cap="none" spc="0" normalizeH="0" baseline="0" noProof="0" dirty="0">
                <a:ln>
                  <a:noFill/>
                </a:ln>
                <a:solidFill>
                  <a:srgbClr val="000000"/>
                </a:solidFill>
                <a:effectLst/>
                <a:uLnTx/>
                <a:uFillTx/>
                <a:latin typeface="Tahoma"/>
              </a:rPr>
              <a:t>. Αυτό θα μας επιτρέψει να ορίσουμε άλλες δύο συναρτήσεις τις </a:t>
            </a:r>
            <a:r>
              <a:rPr kumimoji="0" lang="en-US" sz="2000" b="0" i="0" u="none" strike="noStrike" kern="0" cap="none" spc="0" normalizeH="0" baseline="0" noProof="0" dirty="0" err="1">
                <a:ln>
                  <a:noFill/>
                </a:ln>
                <a:solidFill>
                  <a:srgbClr val="000000"/>
                </a:solidFill>
                <a:effectLst/>
                <a:uLnTx/>
                <a:uFillTx/>
                <a:latin typeface="Tahoma"/>
              </a:rPr>
              <a:t>getFloat</a:t>
            </a:r>
            <a:r>
              <a:rPr kumimoji="0" lang="el-GR" sz="2000" b="0" i="0" u="none" strike="noStrike" kern="0" cap="none" spc="0" normalizeH="0" baseline="0" noProof="0" dirty="0">
                <a:ln>
                  <a:noFill/>
                </a:ln>
                <a:solidFill>
                  <a:srgbClr val="000000"/>
                </a:solidFill>
                <a:effectLst/>
                <a:uLnTx/>
                <a:uFillTx/>
                <a:latin typeface="Tahoma"/>
              </a:rPr>
              <a:t>() και </a:t>
            </a:r>
            <a:r>
              <a:rPr kumimoji="0" lang="en-US" sz="2000" b="0" i="0" u="none" strike="noStrike" kern="0" cap="none" spc="0" normalizeH="0" baseline="0" noProof="0" dirty="0" err="1">
                <a:ln>
                  <a:noFill/>
                </a:ln>
                <a:solidFill>
                  <a:srgbClr val="000000"/>
                </a:solidFill>
                <a:effectLst/>
                <a:uLnTx/>
                <a:uFillTx/>
                <a:latin typeface="Tahoma"/>
              </a:rPr>
              <a:t>getDouble</a:t>
            </a:r>
            <a:r>
              <a:rPr kumimoji="0" lang="el-GR" sz="2000" b="0" i="0" u="none" strike="noStrike" kern="0" cap="none" spc="0" normalizeH="0" baseline="0" noProof="0" dirty="0">
                <a:ln>
                  <a:noFill/>
                </a:ln>
                <a:solidFill>
                  <a:srgbClr val="000000"/>
                </a:solidFill>
                <a:effectLst/>
                <a:uLnTx/>
                <a:uFillTx/>
                <a:latin typeface="Tahoma"/>
              </a:rPr>
              <a:t>(). </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sz="3200" b="1" i="0" u="none" strike="noStrike" kern="0" cap="none" spc="0" normalizeH="0" baseline="0" noProof="0" dirty="0">
                <a:ln>
                  <a:noFill/>
                </a:ln>
                <a:solidFill>
                  <a:srgbClr val="000000"/>
                </a:solidFill>
                <a:effectLst/>
                <a:uLnTx/>
                <a:uFillTx/>
                <a:latin typeface="Tahoma"/>
                <a:ea typeface="+mn-ea"/>
                <a:cs typeface="+mn-cs"/>
              </a:rPr>
              <a:t>Βελτίωση που αφορά τη λειτουργικότητα</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anose="05000000000000000000" pitchFamily="2" charset="2"/>
              <a:buChar char="n"/>
              <a:tabLst/>
              <a:defRPr/>
            </a:pPr>
            <a:r>
              <a:rPr kumimoji="0" lang="el-GR" sz="1800" b="0" i="0" u="none" strike="noStrike" kern="0" cap="none" spc="0" normalizeH="0" baseline="0" noProof="0" dirty="0">
                <a:ln>
                  <a:noFill/>
                </a:ln>
                <a:solidFill>
                  <a:srgbClr val="000000"/>
                </a:solidFill>
                <a:effectLst/>
                <a:uLnTx/>
                <a:uFillTx/>
                <a:latin typeface="Tahoma"/>
              </a:rPr>
              <a:t>Μια καλύτερη εκδοχή της συνάρτησης είναι να έχουμε τη δυνατότητα να την καλούμε και να μην εμφανίζει πάντα την φράση "</a:t>
            </a:r>
            <a:r>
              <a:rPr kumimoji="0" lang="el-GR" sz="1800" b="0" i="0" u="none" strike="noStrike" kern="0" cap="none" spc="0" normalizeH="0" baseline="0" noProof="0" dirty="0" err="1">
                <a:ln>
                  <a:noFill/>
                </a:ln>
                <a:solidFill>
                  <a:srgbClr val="000000"/>
                </a:solidFill>
                <a:effectLst/>
                <a:uLnTx/>
                <a:uFillTx/>
                <a:latin typeface="Tahoma"/>
              </a:rPr>
              <a:t>Dose</a:t>
            </a:r>
            <a:r>
              <a:rPr kumimoji="0" lang="el-GR" sz="1800" b="0" i="0" u="none" strike="noStrike" kern="0" cap="none" spc="0" normalizeH="0" baseline="0" noProof="0" dirty="0">
                <a:ln>
                  <a:noFill/>
                </a:ln>
                <a:solidFill>
                  <a:srgbClr val="000000"/>
                </a:solidFill>
                <a:effectLst/>
                <a:uLnTx/>
                <a:uFillTx/>
                <a:latin typeface="Tahoma"/>
              </a:rPr>
              <a:t> </a:t>
            </a:r>
            <a:r>
              <a:rPr kumimoji="0" lang="el-GR" sz="1800" b="0" i="0" u="none" strike="noStrike" kern="0" cap="none" spc="0" normalizeH="0" baseline="0" noProof="0" dirty="0" err="1">
                <a:ln>
                  <a:noFill/>
                </a:ln>
                <a:solidFill>
                  <a:srgbClr val="000000"/>
                </a:solidFill>
                <a:effectLst/>
                <a:uLnTx/>
                <a:uFillTx/>
                <a:latin typeface="Tahoma"/>
              </a:rPr>
              <a:t>arithmo</a:t>
            </a:r>
            <a:r>
              <a:rPr kumimoji="0" lang="el-GR" sz="1800" b="0" i="0" u="none" strike="noStrike" kern="0" cap="none" spc="0" normalizeH="0" baseline="0" noProof="0" dirty="0">
                <a:ln>
                  <a:noFill/>
                </a:ln>
                <a:solidFill>
                  <a:srgbClr val="000000"/>
                </a:solidFill>
                <a:effectLst/>
                <a:uLnTx/>
                <a:uFillTx/>
                <a:latin typeface="Tahoma"/>
              </a:rPr>
              <a:t>:", ή ότι εσείς έχετε βάλει μέσα στην </a:t>
            </a:r>
            <a:r>
              <a:rPr kumimoji="0" lang="el-GR" sz="1800" b="0" i="0" u="none" strike="noStrike" kern="0" cap="none" spc="0" normalizeH="0" baseline="0" noProof="0" dirty="0" err="1">
                <a:ln>
                  <a:noFill/>
                </a:ln>
                <a:solidFill>
                  <a:srgbClr val="000000"/>
                </a:solidFill>
                <a:effectLst/>
                <a:uLnTx/>
                <a:uFillTx/>
                <a:latin typeface="Tahoma"/>
              </a:rPr>
              <a:t>printf</a:t>
            </a:r>
            <a:r>
              <a:rPr kumimoji="0" lang="el-GR" sz="1800" b="0" i="0" u="none" strike="noStrike" kern="0" cap="none" spc="0" normalizeH="0" baseline="0" noProof="0" dirty="0">
                <a:ln>
                  <a:noFill/>
                </a:ln>
                <a:solidFill>
                  <a:srgbClr val="000000"/>
                </a:solidFill>
                <a:effectLst/>
                <a:uLnTx/>
                <a:uFillTx/>
                <a:latin typeface="Tahoma"/>
              </a:rPr>
              <a:t> στο σώμα της, αλλά μια διαφορετική φράση την οποία εσείς θα ορίζετε όταν την καλείτε. Αυτό μας δίνει μια πιο επαναχρησιμοποιήσιμη συνάρτηση. Για να το πετύχουμε αυτό θα πρέπει </a:t>
            </a:r>
          </a:p>
          <a:p>
            <a:pPr marL="457200" marR="0" lvl="1" indent="0" algn="l" defTabSz="914400" rtl="0" eaLnBrk="0" fontAlgn="base" latinLnBrk="0" hangingPunct="0">
              <a:lnSpc>
                <a:spcPct val="100000"/>
              </a:lnSpc>
              <a:spcBef>
                <a:spcPct val="20000"/>
              </a:spcBef>
              <a:spcAft>
                <a:spcPct val="0"/>
              </a:spcAft>
              <a:buClr>
                <a:srgbClr val="FF0000"/>
              </a:buClr>
              <a:buSzPct val="55000"/>
              <a:buFont typeface="Wingdings" panose="05000000000000000000" pitchFamily="2" charset="2"/>
              <a:buNone/>
              <a:tabLst/>
              <a:defRPr/>
            </a:pPr>
            <a:r>
              <a:rPr kumimoji="0" lang="el-GR" sz="1800" b="0" i="0" u="none" strike="noStrike" kern="0" cap="none" spc="0" normalizeH="0" baseline="0" noProof="0" dirty="0">
                <a:ln>
                  <a:noFill/>
                </a:ln>
                <a:solidFill>
                  <a:srgbClr val="000000"/>
                </a:solidFill>
                <a:effectLst/>
                <a:uLnTx/>
                <a:uFillTx/>
                <a:latin typeface="Tahoma"/>
              </a:rPr>
              <a:t>α) να δηλώσουμε τη συνάρτηση όπως παρακάτω, και</a:t>
            </a:r>
          </a:p>
          <a:p>
            <a:pPr marL="457200" marR="0" lvl="1" indent="0" algn="l" defTabSz="914400" rtl="0" eaLnBrk="0" fontAlgn="base" latinLnBrk="0" hangingPunct="0">
              <a:lnSpc>
                <a:spcPct val="100000"/>
              </a:lnSpc>
              <a:spcBef>
                <a:spcPct val="20000"/>
              </a:spcBef>
              <a:spcAft>
                <a:spcPct val="0"/>
              </a:spcAft>
              <a:buClr>
                <a:srgbClr val="FF0000"/>
              </a:buClr>
              <a:buSzPct val="55000"/>
              <a:buFont typeface="Wingdings" panose="05000000000000000000" pitchFamily="2" charset="2"/>
              <a:buNone/>
              <a:tabLst/>
              <a:defRPr/>
            </a:pPr>
            <a:r>
              <a:rPr kumimoji="0" lang="el-GR" sz="2000" b="1" i="0" u="none" strike="noStrike" kern="0" cap="none" spc="0" normalizeH="0" baseline="0" noProof="0" dirty="0" err="1">
                <a:ln>
                  <a:noFill/>
                </a:ln>
                <a:solidFill>
                  <a:srgbClr val="C00000"/>
                </a:solidFill>
                <a:effectLst/>
                <a:uLnTx/>
                <a:uFillTx/>
                <a:latin typeface="Tahoma"/>
              </a:rPr>
              <a:t>int</a:t>
            </a:r>
            <a:r>
              <a:rPr kumimoji="0" lang="el-GR" sz="2000" b="1" i="0" u="none" strike="noStrike" kern="0" cap="none" spc="0" normalizeH="0" baseline="0" noProof="0" dirty="0">
                <a:ln>
                  <a:noFill/>
                </a:ln>
                <a:solidFill>
                  <a:srgbClr val="C00000"/>
                </a:solidFill>
                <a:effectLst/>
                <a:uLnTx/>
                <a:uFillTx/>
                <a:latin typeface="Tahoma"/>
              </a:rPr>
              <a:t> </a:t>
            </a:r>
            <a:r>
              <a:rPr kumimoji="0" lang="el-GR" sz="2000" b="1" i="0" u="none" strike="noStrike" kern="0" cap="none" spc="0" normalizeH="0" baseline="0" noProof="0" dirty="0" err="1">
                <a:ln>
                  <a:noFill/>
                </a:ln>
                <a:solidFill>
                  <a:srgbClr val="C00000"/>
                </a:solidFill>
                <a:effectLst/>
                <a:uLnTx/>
                <a:uFillTx/>
                <a:latin typeface="Tahoma"/>
              </a:rPr>
              <a:t>getInt</a:t>
            </a:r>
            <a:r>
              <a:rPr kumimoji="0" lang="el-GR" sz="2000" b="1" i="0" u="none" strike="noStrike" kern="0" cap="none" spc="0" normalizeH="0" baseline="0" noProof="0" dirty="0">
                <a:ln>
                  <a:noFill/>
                </a:ln>
                <a:solidFill>
                  <a:srgbClr val="C00000"/>
                </a:solidFill>
                <a:effectLst/>
                <a:uLnTx/>
                <a:uFillTx/>
                <a:latin typeface="Tahoma"/>
              </a:rPr>
              <a:t>(</a:t>
            </a:r>
            <a:r>
              <a:rPr kumimoji="0" lang="el-GR" sz="2000" b="1" i="0" u="none" strike="noStrike" kern="0" cap="none" spc="0" normalizeH="0" baseline="0" noProof="0" dirty="0" err="1">
                <a:ln>
                  <a:noFill/>
                </a:ln>
                <a:solidFill>
                  <a:srgbClr val="C00000"/>
                </a:solidFill>
                <a:effectLst/>
                <a:uLnTx/>
                <a:uFillTx/>
                <a:latin typeface="Tahoma"/>
              </a:rPr>
              <a:t>char</a:t>
            </a:r>
            <a:r>
              <a:rPr kumimoji="0" lang="el-GR" sz="2000" b="1" i="0" u="none" strike="noStrike" kern="0" cap="none" spc="0" normalizeH="0" baseline="0" noProof="0" dirty="0">
                <a:ln>
                  <a:noFill/>
                </a:ln>
                <a:solidFill>
                  <a:srgbClr val="C00000"/>
                </a:solidFill>
                <a:effectLst/>
                <a:uLnTx/>
                <a:uFillTx/>
                <a:latin typeface="Tahoma"/>
              </a:rPr>
              <a:t> </a:t>
            </a:r>
            <a:r>
              <a:rPr kumimoji="0" lang="el-GR" sz="2000" b="1" i="0" u="none" strike="noStrike" kern="0" cap="none" spc="0" normalizeH="0" baseline="0" noProof="0" dirty="0" err="1">
                <a:ln>
                  <a:noFill/>
                </a:ln>
                <a:solidFill>
                  <a:srgbClr val="C00000"/>
                </a:solidFill>
                <a:effectLst/>
                <a:uLnTx/>
                <a:uFillTx/>
                <a:latin typeface="Tahoma"/>
              </a:rPr>
              <a:t>message</a:t>
            </a:r>
            <a:r>
              <a:rPr kumimoji="0" lang="el-GR" sz="2000" b="1" i="0" u="none" strike="noStrike" kern="0" cap="none" spc="0" normalizeH="0" baseline="0" noProof="0" dirty="0">
                <a:ln>
                  <a:noFill/>
                </a:ln>
                <a:solidFill>
                  <a:srgbClr val="C00000"/>
                </a:solidFill>
                <a:effectLst/>
                <a:uLnTx/>
                <a:uFillTx/>
                <a:latin typeface="Tahoma"/>
              </a:rPr>
              <a:t>[]);  </a:t>
            </a:r>
            <a:r>
              <a:rPr kumimoji="0" lang="el-GR" sz="1600" b="0" i="0" u="none" strike="noStrike" kern="0" cap="none" spc="0" normalizeH="0" baseline="0" noProof="0" dirty="0">
                <a:ln>
                  <a:noFill/>
                </a:ln>
                <a:solidFill>
                  <a:srgbClr val="000000"/>
                </a:solidFill>
                <a:effectLst/>
                <a:uLnTx/>
                <a:uFillTx/>
                <a:latin typeface="Tahoma"/>
              </a:rPr>
              <a:t>// Τη σημασία θα τη δούμε αργότερα όταν μιλήσουμε για πίνακες (</a:t>
            </a:r>
            <a:r>
              <a:rPr kumimoji="0" lang="el-GR" sz="1600" b="0" i="0" u="none" strike="noStrike" kern="0" cap="none" spc="0" normalizeH="0" baseline="0" noProof="0" dirty="0" err="1">
                <a:ln>
                  <a:noFill/>
                </a:ln>
                <a:solidFill>
                  <a:srgbClr val="000000"/>
                </a:solidFill>
                <a:effectLst/>
                <a:uLnTx/>
                <a:uFillTx/>
                <a:latin typeface="Tahoma"/>
              </a:rPr>
              <a:t>arrays</a:t>
            </a:r>
            <a:r>
              <a:rPr kumimoji="0" lang="el-GR" sz="1600" b="0" i="0" u="none" strike="noStrike" kern="0" cap="none" spc="0" normalizeH="0" baseline="0" noProof="0" dirty="0">
                <a:ln>
                  <a:noFill/>
                </a:ln>
                <a:solidFill>
                  <a:srgbClr val="000000"/>
                </a:solidFill>
                <a:effectLst/>
                <a:uLnTx/>
                <a:uFillTx/>
                <a:latin typeface="Tahoma"/>
              </a:rPr>
              <a:t>) </a:t>
            </a:r>
          </a:p>
          <a:p>
            <a:pPr marL="457200" marR="0" lvl="1" indent="0" algn="l" defTabSz="914400" rtl="0" eaLnBrk="0" fontAlgn="base" latinLnBrk="0" hangingPunct="0">
              <a:lnSpc>
                <a:spcPct val="100000"/>
              </a:lnSpc>
              <a:spcBef>
                <a:spcPct val="20000"/>
              </a:spcBef>
              <a:spcAft>
                <a:spcPct val="0"/>
              </a:spcAft>
              <a:buClr>
                <a:srgbClr val="FF0000"/>
              </a:buClr>
              <a:buSzPct val="55000"/>
              <a:buFont typeface="Wingdings" panose="05000000000000000000" pitchFamily="2" charset="2"/>
              <a:buNone/>
              <a:tabLst/>
              <a:defRPr/>
            </a:pPr>
            <a:r>
              <a:rPr kumimoji="0" lang="el-GR" sz="1800" b="0" i="0" u="none" strike="noStrike" kern="0" cap="none" spc="0" normalizeH="0" baseline="0" noProof="0" dirty="0">
                <a:ln>
                  <a:noFill/>
                </a:ln>
                <a:solidFill>
                  <a:srgbClr val="000000"/>
                </a:solidFill>
                <a:effectLst/>
                <a:uLnTx/>
                <a:uFillTx/>
                <a:latin typeface="Tahoma"/>
              </a:rPr>
              <a:t>Β) μέσα στο σώμα της να αντικαταστήσουμε </a:t>
            </a:r>
            <a:r>
              <a:rPr kumimoji="0" lang="el-GR" sz="1600" b="0" i="0" u="none" strike="noStrike" kern="0" cap="none" spc="0" normalizeH="0" baseline="0" noProof="0" dirty="0">
                <a:ln>
                  <a:noFill/>
                </a:ln>
                <a:solidFill>
                  <a:srgbClr val="000000"/>
                </a:solidFill>
                <a:effectLst/>
                <a:uLnTx/>
                <a:uFillTx/>
                <a:latin typeface="Tahoma"/>
              </a:rPr>
              <a:t>την </a:t>
            </a:r>
            <a:r>
              <a:rPr kumimoji="0" lang="el-GR" sz="1600" b="0" i="0" u="none" strike="noStrike" kern="0" cap="none" spc="0" normalizeH="0" baseline="0" noProof="0" dirty="0" err="1">
                <a:ln>
                  <a:noFill/>
                </a:ln>
                <a:solidFill>
                  <a:srgbClr val="000000"/>
                </a:solidFill>
                <a:effectLst/>
                <a:uLnTx/>
                <a:uFillTx/>
                <a:latin typeface="Tahoma"/>
              </a:rPr>
              <a:t>printf</a:t>
            </a:r>
            <a:r>
              <a:rPr kumimoji="0" lang="el-GR" sz="1600" b="0" i="0" u="none" strike="noStrike" kern="0" cap="none" spc="0" normalizeH="0" baseline="0" noProof="0" dirty="0">
                <a:ln>
                  <a:noFill/>
                </a:ln>
                <a:solidFill>
                  <a:srgbClr val="000000"/>
                </a:solidFill>
                <a:effectLst/>
                <a:uLnTx/>
                <a:uFillTx/>
                <a:latin typeface="Tahoma"/>
              </a:rPr>
              <a:t>("</a:t>
            </a:r>
            <a:r>
              <a:rPr kumimoji="0" lang="el-GR" sz="1600" b="0" i="0" u="none" strike="noStrike" kern="0" cap="none" spc="0" normalizeH="0" baseline="0" noProof="0" dirty="0" err="1">
                <a:ln>
                  <a:noFill/>
                </a:ln>
                <a:solidFill>
                  <a:srgbClr val="000000"/>
                </a:solidFill>
                <a:effectLst/>
                <a:uLnTx/>
                <a:uFillTx/>
                <a:latin typeface="Tahoma"/>
              </a:rPr>
              <a:t>Dose</a:t>
            </a:r>
            <a:r>
              <a:rPr kumimoji="0" lang="el-GR" sz="1600" b="0" i="0" u="none" strike="noStrike" kern="0" cap="none" spc="0" normalizeH="0" baseline="0" noProof="0" dirty="0">
                <a:ln>
                  <a:noFill/>
                </a:ln>
                <a:solidFill>
                  <a:srgbClr val="000000"/>
                </a:solidFill>
                <a:effectLst/>
                <a:uLnTx/>
                <a:uFillTx/>
                <a:latin typeface="Tahoma"/>
              </a:rPr>
              <a:t> </a:t>
            </a:r>
            <a:r>
              <a:rPr kumimoji="0" lang="el-GR" sz="1600" b="0" i="0" u="none" strike="noStrike" kern="0" cap="none" spc="0" normalizeH="0" baseline="0" noProof="0" dirty="0" err="1">
                <a:ln>
                  <a:noFill/>
                </a:ln>
                <a:solidFill>
                  <a:srgbClr val="000000"/>
                </a:solidFill>
                <a:effectLst/>
                <a:uLnTx/>
                <a:uFillTx/>
                <a:latin typeface="Tahoma"/>
              </a:rPr>
              <a:t>arithmo</a:t>
            </a:r>
            <a:r>
              <a:rPr kumimoji="0" lang="el-GR" sz="1600" b="0" i="0" u="none" strike="noStrike" kern="0" cap="none" spc="0" normalizeH="0" baseline="0" noProof="0" dirty="0">
                <a:ln>
                  <a:noFill/>
                </a:ln>
                <a:solidFill>
                  <a:srgbClr val="000000"/>
                </a:solidFill>
                <a:effectLst/>
                <a:uLnTx/>
                <a:uFillTx/>
                <a:latin typeface="Tahoma"/>
              </a:rPr>
              <a:t>:"); με την  </a:t>
            </a:r>
            <a:r>
              <a:rPr kumimoji="0" lang="el-GR" sz="1600" b="0" i="0" u="none" strike="noStrike" kern="0" cap="none" spc="0" normalizeH="0" baseline="0" noProof="0" dirty="0" err="1">
                <a:ln>
                  <a:noFill/>
                </a:ln>
                <a:solidFill>
                  <a:srgbClr val="C00000"/>
                </a:solidFill>
                <a:effectLst/>
                <a:uLnTx/>
                <a:uFillTx/>
                <a:latin typeface="Tahoma"/>
              </a:rPr>
              <a:t>printf</a:t>
            </a:r>
            <a:r>
              <a:rPr kumimoji="0" lang="el-GR" sz="1600" b="0" i="0" u="none" strike="noStrike" kern="0" cap="none" spc="0" normalizeH="0" baseline="0" noProof="0" dirty="0">
                <a:ln>
                  <a:noFill/>
                </a:ln>
                <a:solidFill>
                  <a:srgbClr val="C00000"/>
                </a:solidFill>
                <a:effectLst/>
                <a:uLnTx/>
                <a:uFillTx/>
                <a:latin typeface="Tahoma"/>
              </a:rPr>
              <a:t>(</a:t>
            </a:r>
            <a:r>
              <a:rPr kumimoji="0" lang="el-GR" sz="1600" b="0" i="0" u="none" strike="noStrike" kern="0" cap="none" spc="0" normalizeH="0" baseline="0" noProof="0" dirty="0" err="1">
                <a:ln>
                  <a:noFill/>
                </a:ln>
                <a:solidFill>
                  <a:srgbClr val="C00000"/>
                </a:solidFill>
                <a:effectLst/>
                <a:uLnTx/>
                <a:uFillTx/>
                <a:latin typeface="Tahoma"/>
              </a:rPr>
              <a:t>message</a:t>
            </a:r>
            <a:r>
              <a:rPr kumimoji="0" lang="el-GR" sz="1600" b="0" i="0" u="none" strike="noStrike" kern="0" cap="none" spc="0" normalizeH="0" baseline="0" noProof="0" dirty="0">
                <a:ln>
                  <a:noFill/>
                </a:ln>
                <a:solidFill>
                  <a:srgbClr val="C00000"/>
                </a:solidFill>
                <a:effectLst/>
                <a:uLnTx/>
                <a:uFillTx/>
                <a:latin typeface="Tahoma"/>
              </a:rPr>
              <a:t>);    </a:t>
            </a:r>
          </a:p>
          <a:p>
            <a:pPr marL="457200" marR="0" lvl="1" indent="0" algn="l" defTabSz="914400" rtl="0" eaLnBrk="0" fontAlgn="base" latinLnBrk="0" hangingPunct="0">
              <a:lnSpc>
                <a:spcPct val="100000"/>
              </a:lnSpc>
              <a:spcBef>
                <a:spcPct val="20000"/>
              </a:spcBef>
              <a:spcAft>
                <a:spcPct val="0"/>
              </a:spcAft>
              <a:buClr>
                <a:srgbClr val="FF0000"/>
              </a:buClr>
              <a:buSzPct val="55000"/>
              <a:buFont typeface="Wingdings" panose="05000000000000000000" pitchFamily="2" charset="2"/>
              <a:buNone/>
              <a:tabLst/>
              <a:defRPr/>
            </a:pPr>
            <a:r>
              <a:rPr kumimoji="0" lang="el-GR" sz="1600" b="0" i="0" u="none" strike="noStrike" kern="0" cap="none" spc="0" normalizeH="0" baseline="0" noProof="0" dirty="0">
                <a:ln>
                  <a:noFill/>
                </a:ln>
                <a:solidFill>
                  <a:srgbClr val="000000"/>
                </a:solidFill>
                <a:effectLst/>
                <a:uLnTx/>
                <a:uFillTx/>
                <a:latin typeface="Tahoma"/>
              </a:rPr>
              <a:t>Με βάση αυτό η </a:t>
            </a:r>
            <a:r>
              <a:rPr kumimoji="0" lang="el-GR" sz="1600" b="0" i="0" u="none" strike="noStrike" kern="0" cap="none" spc="0" normalizeH="0" baseline="0" noProof="0" dirty="0" err="1">
                <a:ln>
                  <a:noFill/>
                </a:ln>
                <a:solidFill>
                  <a:srgbClr val="000000"/>
                </a:solidFill>
                <a:effectLst/>
                <a:uLnTx/>
                <a:uFillTx/>
                <a:latin typeface="Tahoma"/>
              </a:rPr>
              <a:t>printf</a:t>
            </a:r>
            <a:r>
              <a:rPr kumimoji="0" lang="el-GR" sz="1600" b="0" i="0" u="none" strike="noStrike" kern="0" cap="none" spc="0" normalizeH="0" baseline="0" noProof="0" dirty="0">
                <a:ln>
                  <a:noFill/>
                </a:ln>
                <a:solidFill>
                  <a:srgbClr val="000000"/>
                </a:solidFill>
                <a:effectLst/>
                <a:uLnTx/>
                <a:uFillTx/>
                <a:latin typeface="Tahoma"/>
              </a:rPr>
              <a:t> θα εμφανίσει ότι περάσουμε ως όρισμα στην κλήση της συνάρτησης.</a:t>
            </a:r>
          </a:p>
        </p:txBody>
      </p:sp>
      <p:pic>
        <p:nvPicPr>
          <p:cNvPr id="5" name="Picture 4">
            <a:extLst>
              <a:ext uri="{FF2B5EF4-FFF2-40B4-BE49-F238E27FC236}">
                <a16:creationId xmlns:a16="http://schemas.microsoft.com/office/drawing/2014/main" id="{F12FD349-8F3A-F09F-8927-E5385DF932C2}"/>
              </a:ext>
            </a:extLst>
          </p:cNvPr>
          <p:cNvPicPr>
            <a:picLocks noChangeAspect="1"/>
          </p:cNvPicPr>
          <p:nvPr/>
        </p:nvPicPr>
        <p:blipFill>
          <a:blip r:embed="rId3"/>
          <a:stretch>
            <a:fillRect/>
          </a:stretch>
        </p:blipFill>
        <p:spPr>
          <a:xfrm>
            <a:off x="1847528" y="5853361"/>
            <a:ext cx="6468751" cy="566440"/>
          </a:xfrm>
          <a:prstGeom prst="rect">
            <a:avLst/>
          </a:prstGeom>
        </p:spPr>
      </p:pic>
    </p:spTree>
    <p:extLst>
      <p:ext uri="{BB962C8B-B14F-4D97-AF65-F5344CB8AC3E}">
        <p14:creationId xmlns:p14="http://schemas.microsoft.com/office/powerpoint/2010/main" val="227373834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CAD6A-A009-8292-0158-320D2C33FB08}"/>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99790724-DCF6-52F2-09A4-3CA9A4A064A6}"/>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B0AF11FF-4234-E95C-6BFF-6CACF3A7B91E}"/>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Ορισμός συνάρτησης</a:t>
            </a:r>
            <a:endParaRPr lang="en-US"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3438A51D-E7A3-0845-8858-171CAEB44BDA}"/>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268C06BA-D5DD-AC63-941F-4160E0F8EC0E}"/>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33</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C0F5B5FB-0A0B-BC04-F962-9AEA58BCA778}"/>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4" name="Θέση υποσέλιδου 4">
            <a:extLst>
              <a:ext uri="{FF2B5EF4-FFF2-40B4-BE49-F238E27FC236}">
                <a16:creationId xmlns:a16="http://schemas.microsoft.com/office/drawing/2014/main" id="{119B2CBA-2F19-2135-A57F-F6A7215F3F0C}"/>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sp>
        <p:nvSpPr>
          <p:cNvPr id="6" name="Slide Number Placeholder 4">
            <a:extLst>
              <a:ext uri="{FF2B5EF4-FFF2-40B4-BE49-F238E27FC236}">
                <a16:creationId xmlns:a16="http://schemas.microsoft.com/office/drawing/2014/main" id="{8DBAB043-0C47-EC05-E2EC-1B9403F17A14}"/>
              </a:ext>
            </a:extLst>
          </p:cNvPr>
          <p:cNvSpPr txBox="1">
            <a:spLocks/>
          </p:cNvSpPr>
          <p:nvPr/>
        </p:nvSpPr>
        <p:spPr bwMode="auto">
          <a:xfrm>
            <a:off x="10201276" y="6524626"/>
            <a:ext cx="4667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fld id="{9BABC257-ABBD-4FB8-972C-0B3D92F86389}" type="slidenum">
              <a:rPr kumimoji="0" lang="en-US" altLang="el-GR" sz="1400" b="0" i="0" u="none" strike="noStrike" kern="0" cap="none" spc="0" normalizeH="0" baseline="0" noProof="0">
                <a:ln>
                  <a:noFill/>
                </a:ln>
                <a:solidFill>
                  <a:srgbClr val="000000"/>
                </a:solidFill>
                <a:effectLst/>
                <a:uLnTx/>
                <a:uFillTx/>
                <a:latin typeface="Tahoma" panose="020B0604030504040204" pitchFamily="34" charset="0"/>
              </a:rPr>
              <a:pPr marL="0" marR="0" lvl="0" indent="0" defTabSz="914400" eaLnBrk="1" fontAlgn="base" latinLnBrk="0" hangingPunct="1">
                <a:lnSpc>
                  <a:spcPct val="100000"/>
                </a:lnSpc>
                <a:spcBef>
                  <a:spcPct val="0"/>
                </a:spcBef>
                <a:spcAft>
                  <a:spcPct val="0"/>
                </a:spcAft>
                <a:buClrTx/>
                <a:buSzTx/>
                <a:buFontTx/>
                <a:buNone/>
                <a:tabLst/>
                <a:defRPr/>
              </a:pPr>
              <a:t>33</a:t>
            </a:fld>
            <a:endParaRPr kumimoji="0" lang="en-US" altLang="el-GR" sz="1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 name="Rectangle 3">
            <a:extLst>
              <a:ext uri="{FF2B5EF4-FFF2-40B4-BE49-F238E27FC236}">
                <a16:creationId xmlns:a16="http://schemas.microsoft.com/office/drawing/2014/main" id="{7424C2B8-8930-7E79-2331-FA8EA756FA71}"/>
              </a:ext>
            </a:extLst>
          </p:cNvPr>
          <p:cNvSpPr txBox="1">
            <a:spLocks noChangeArrowheads="1"/>
          </p:cNvSpPr>
          <p:nvPr/>
        </p:nvSpPr>
        <p:spPr bwMode="auto">
          <a:xfrm>
            <a:off x="0" y="2815012"/>
            <a:ext cx="12192000" cy="3566316"/>
          </a:xfrm>
          <a:prstGeom prst="rect">
            <a:avLst/>
          </a:prstGeom>
          <a:solidFill>
            <a:srgbClr val="92D050"/>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None/>
            </a:pPr>
            <a:r>
              <a:rPr lang="el-GR" sz="2800" dirty="0"/>
              <a:t>Ο ορισμός της συνάρτησης </a:t>
            </a:r>
          </a:p>
          <a:p>
            <a:r>
              <a:rPr lang="el-GR" sz="2400" b="1" dirty="0"/>
              <a:t>Ορίζει</a:t>
            </a:r>
            <a:r>
              <a:rPr lang="el-GR" sz="2400" dirty="0"/>
              <a:t> το σώμα της συνάρτησης (</a:t>
            </a:r>
            <a:r>
              <a:rPr lang="en-US" sz="2400" dirty="0"/>
              <a:t>lines </a:t>
            </a:r>
            <a:r>
              <a:rPr lang="el-GR" sz="2400" dirty="0"/>
              <a:t>19</a:t>
            </a:r>
            <a:r>
              <a:rPr lang="en-US" sz="2400" dirty="0"/>
              <a:t>-2</a:t>
            </a:r>
            <a:r>
              <a:rPr lang="el-GR" sz="2400" dirty="0"/>
              <a:t>1</a:t>
            </a:r>
            <a:r>
              <a:rPr lang="en-US" sz="2400" dirty="0"/>
              <a:t>)</a:t>
            </a:r>
            <a:endParaRPr lang="el-GR" sz="2400" dirty="0"/>
          </a:p>
          <a:p>
            <a:pPr lvl="1"/>
            <a:r>
              <a:rPr lang="el-GR" sz="2000" dirty="0"/>
              <a:t>Αυτό πρέπει να υλοποιεί τη διεργασία που το όνομα της δηλώνει</a:t>
            </a:r>
            <a:r>
              <a:rPr lang="en-US" sz="2000" dirty="0"/>
              <a:t>. </a:t>
            </a:r>
            <a:r>
              <a:rPr lang="el-GR" sz="2000" dirty="0"/>
              <a:t>Πρέπει να προσθέτει τα δύο ορίσματα που δέχεται και να αποθηκεύει το αποτέλεσμα σε μια μεταβλητή (γραμμή 20) την οποία πρέπει πρώτα να έχει δηλωθεί (γραμμή 19). Τέλος πρέπει να επιστρέφει το άθροισμα στην συνάρτηση που την κάλεσε (γραμμή 21). Η συνάρτηση που την κάλεσε στην περίπτωση μας είναι η </a:t>
            </a:r>
            <a:r>
              <a:rPr lang="el-GR" sz="2000" dirty="0" err="1"/>
              <a:t>main</a:t>
            </a:r>
            <a:r>
              <a:rPr lang="el-GR" sz="2000" dirty="0"/>
              <a:t>. </a:t>
            </a:r>
          </a:p>
          <a:p>
            <a:r>
              <a:rPr lang="el-GR" sz="2400" b="1" dirty="0"/>
              <a:t>Επιστρέφει</a:t>
            </a:r>
            <a:r>
              <a:rPr lang="el-GR" sz="2400" dirty="0"/>
              <a:t> τιμή</a:t>
            </a:r>
            <a:r>
              <a:rPr lang="en-US" sz="2400" dirty="0"/>
              <a:t>,</a:t>
            </a:r>
            <a:r>
              <a:rPr lang="el-GR" sz="2400" dirty="0"/>
              <a:t> του τύπου που ορίζει η δήλωση της συνάρτησης</a:t>
            </a:r>
            <a:r>
              <a:rPr lang="en-US" sz="2400" dirty="0"/>
              <a:t> </a:t>
            </a:r>
            <a:r>
              <a:rPr lang="el-GR" sz="2400" dirty="0"/>
              <a:t>(</a:t>
            </a:r>
            <a:r>
              <a:rPr lang="en-US" sz="2400" b="1" dirty="0"/>
              <a:t>int</a:t>
            </a:r>
            <a:r>
              <a:rPr lang="el-GR" sz="2400" dirty="0"/>
              <a:t>)</a:t>
            </a:r>
            <a:endParaRPr lang="en-US" sz="2400" dirty="0"/>
          </a:p>
          <a:p>
            <a:r>
              <a:rPr lang="el-GR" sz="2400" dirty="0"/>
              <a:t>Η 1</a:t>
            </a:r>
            <a:r>
              <a:rPr lang="el-GR" sz="2400" baseline="30000" dirty="0"/>
              <a:t>η</a:t>
            </a:r>
            <a:r>
              <a:rPr lang="el-GR" sz="2400" dirty="0"/>
              <a:t> πρόταση ορισμού της συνάρτησης (</a:t>
            </a:r>
            <a:r>
              <a:rPr lang="en-US" sz="2400" dirty="0"/>
              <a:t>line </a:t>
            </a:r>
            <a:r>
              <a:rPr lang="el-GR" sz="2400" dirty="0"/>
              <a:t>18) πρέπει να είναι </a:t>
            </a:r>
            <a:r>
              <a:rPr lang="el-GR" sz="2400" u="sng" dirty="0"/>
              <a:t>σύμφωνη με την δήλωση της</a:t>
            </a:r>
            <a:r>
              <a:rPr lang="en-US" sz="2400" dirty="0"/>
              <a:t>.</a:t>
            </a:r>
            <a:endParaRPr lang="el-GR" sz="2400" dirty="0"/>
          </a:p>
          <a:p>
            <a:pPr marL="0" indent="0">
              <a:buNone/>
            </a:pPr>
            <a:endParaRPr lang="el-GR" altLang="el-GR" sz="2800" kern="0" dirty="0"/>
          </a:p>
        </p:txBody>
      </p:sp>
      <p:pic>
        <p:nvPicPr>
          <p:cNvPr id="7" name="Picture 6">
            <a:extLst>
              <a:ext uri="{FF2B5EF4-FFF2-40B4-BE49-F238E27FC236}">
                <a16:creationId xmlns:a16="http://schemas.microsoft.com/office/drawing/2014/main" id="{D52FB04B-C3B4-D258-764C-5BA884AF26B6}"/>
              </a:ext>
            </a:extLst>
          </p:cNvPr>
          <p:cNvPicPr>
            <a:picLocks noChangeAspect="1"/>
          </p:cNvPicPr>
          <p:nvPr/>
        </p:nvPicPr>
        <p:blipFill>
          <a:blip r:embed="rId3"/>
          <a:stretch>
            <a:fillRect/>
          </a:stretch>
        </p:blipFill>
        <p:spPr>
          <a:xfrm>
            <a:off x="724592" y="848606"/>
            <a:ext cx="5533665" cy="1823107"/>
          </a:xfrm>
          <a:prstGeom prst="rect">
            <a:avLst/>
          </a:prstGeom>
        </p:spPr>
      </p:pic>
    </p:spTree>
    <p:extLst>
      <p:ext uri="{BB962C8B-B14F-4D97-AF65-F5344CB8AC3E}">
        <p14:creationId xmlns:p14="http://schemas.microsoft.com/office/powerpoint/2010/main" val="104705794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2D143-455D-E1D6-54C0-AFCD4663CC0D}"/>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F70EBD61-24E4-6864-218C-5B0A0FCAB60A}"/>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B7421C87-7E61-85E1-BF48-52EBB86DAD14}"/>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Κλήση συνάρτησης</a:t>
            </a:r>
            <a:endParaRPr lang="en-US"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637BB97D-8E78-DFEF-9F1F-0715DF2F5660}"/>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D5FA016E-719B-D52C-A7CA-EB7FD7096A79}"/>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34</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EC13725D-92AE-1121-D4FE-9DE634C8CDA2}"/>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4" name="Θέση υποσέλιδου 4">
            <a:extLst>
              <a:ext uri="{FF2B5EF4-FFF2-40B4-BE49-F238E27FC236}">
                <a16:creationId xmlns:a16="http://schemas.microsoft.com/office/drawing/2014/main" id="{59B97319-52B1-ED59-5488-7E874001A1AE}"/>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sp>
        <p:nvSpPr>
          <p:cNvPr id="6" name="Slide Number Placeholder 4">
            <a:extLst>
              <a:ext uri="{FF2B5EF4-FFF2-40B4-BE49-F238E27FC236}">
                <a16:creationId xmlns:a16="http://schemas.microsoft.com/office/drawing/2014/main" id="{4DD087B8-DBEC-14F4-B3AA-45761C0A1079}"/>
              </a:ext>
            </a:extLst>
          </p:cNvPr>
          <p:cNvSpPr txBox="1">
            <a:spLocks/>
          </p:cNvSpPr>
          <p:nvPr/>
        </p:nvSpPr>
        <p:spPr bwMode="auto">
          <a:xfrm>
            <a:off x="10201276" y="6524626"/>
            <a:ext cx="4667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fld id="{9BABC257-ABBD-4FB8-972C-0B3D92F86389}" type="slidenum">
              <a:rPr kumimoji="0" lang="en-US" altLang="el-GR" sz="1400" b="0" i="0" u="none" strike="noStrike" kern="0" cap="none" spc="0" normalizeH="0" baseline="0" noProof="0">
                <a:ln>
                  <a:noFill/>
                </a:ln>
                <a:solidFill>
                  <a:srgbClr val="000000"/>
                </a:solidFill>
                <a:effectLst/>
                <a:uLnTx/>
                <a:uFillTx/>
                <a:latin typeface="Tahoma" panose="020B0604030504040204" pitchFamily="34" charset="0"/>
              </a:rPr>
              <a:pPr marL="0" marR="0" lvl="0" indent="0" defTabSz="914400" eaLnBrk="1" fontAlgn="base" latinLnBrk="0" hangingPunct="1">
                <a:lnSpc>
                  <a:spcPct val="100000"/>
                </a:lnSpc>
                <a:spcBef>
                  <a:spcPct val="0"/>
                </a:spcBef>
                <a:spcAft>
                  <a:spcPct val="0"/>
                </a:spcAft>
                <a:buClrTx/>
                <a:buSzTx/>
                <a:buFontTx/>
                <a:buNone/>
                <a:tabLst/>
                <a:defRPr/>
              </a:pPr>
              <a:t>34</a:t>
            </a:fld>
            <a:endParaRPr kumimoji="0" lang="en-US" altLang="el-GR" sz="1400" b="0" i="0" u="none" strike="noStrike" kern="0" cap="none" spc="0" normalizeH="0" baseline="0" noProof="0">
              <a:ln>
                <a:noFill/>
              </a:ln>
              <a:solidFill>
                <a:srgbClr val="000000"/>
              </a:solidFill>
              <a:effectLst/>
              <a:uLnTx/>
              <a:uFillTx/>
              <a:latin typeface="Tahoma" panose="020B0604030504040204" pitchFamily="34" charset="0"/>
            </a:endParaRPr>
          </a:p>
        </p:txBody>
      </p:sp>
      <p:pic>
        <p:nvPicPr>
          <p:cNvPr id="9" name="Picture 8">
            <a:extLst>
              <a:ext uri="{FF2B5EF4-FFF2-40B4-BE49-F238E27FC236}">
                <a16:creationId xmlns:a16="http://schemas.microsoft.com/office/drawing/2014/main" id="{584CFBBA-D1B6-E98A-3C0D-A0BB652379C6}"/>
              </a:ext>
            </a:extLst>
          </p:cNvPr>
          <p:cNvPicPr>
            <a:picLocks noChangeAspect="1"/>
          </p:cNvPicPr>
          <p:nvPr/>
        </p:nvPicPr>
        <p:blipFill>
          <a:blip r:embed="rId3"/>
          <a:stretch>
            <a:fillRect/>
          </a:stretch>
        </p:blipFill>
        <p:spPr>
          <a:xfrm>
            <a:off x="434411" y="886577"/>
            <a:ext cx="10421649" cy="1122332"/>
          </a:xfrm>
          <a:prstGeom prst="rect">
            <a:avLst/>
          </a:prstGeom>
        </p:spPr>
      </p:pic>
      <p:sp>
        <p:nvSpPr>
          <p:cNvPr id="12" name="Rectangle 3">
            <a:extLst>
              <a:ext uri="{FF2B5EF4-FFF2-40B4-BE49-F238E27FC236}">
                <a16:creationId xmlns:a16="http://schemas.microsoft.com/office/drawing/2014/main" id="{AC29C9D2-319B-5B5E-A1AB-2BF14104CA86}"/>
              </a:ext>
            </a:extLst>
          </p:cNvPr>
          <p:cNvSpPr txBox="1">
            <a:spLocks noChangeArrowheads="1"/>
          </p:cNvSpPr>
          <p:nvPr/>
        </p:nvSpPr>
        <p:spPr bwMode="auto">
          <a:xfrm>
            <a:off x="0" y="2527383"/>
            <a:ext cx="12191999" cy="2575098"/>
          </a:xfrm>
          <a:prstGeom prst="rect">
            <a:avLst/>
          </a:prstGeom>
          <a:solidFill>
            <a:srgbClr val="92D050"/>
          </a:solidFill>
          <a:ln>
            <a:noFill/>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0" indent="0">
              <a:buClr>
                <a:srgbClr val="3333CC"/>
              </a:buClr>
              <a:buFont typeface="Wingdings" panose="05000000000000000000" pitchFamily="2" charset="2"/>
              <a:buNone/>
            </a:pPr>
            <a:r>
              <a:rPr lang="el-GR" sz="2800" dirty="0">
                <a:solidFill>
                  <a:srgbClr val="000000"/>
                </a:solidFill>
                <a:latin typeface="Tahoma"/>
              </a:rPr>
              <a:t>Η κλήση της συνάρτησης </a:t>
            </a:r>
          </a:p>
          <a:p>
            <a:pPr>
              <a:buClr>
                <a:srgbClr val="3333CC"/>
              </a:buClr>
            </a:pPr>
            <a:r>
              <a:rPr lang="el-GR" sz="2400" dirty="0">
                <a:solidFill>
                  <a:srgbClr val="000000"/>
                </a:solidFill>
                <a:latin typeface="Tahoma"/>
              </a:rPr>
              <a:t>Γίνεται με το όνομα της ακολουθούμενο από τις τιμές που περνάμε στα ορίσματα της (</a:t>
            </a:r>
            <a:r>
              <a:rPr lang="en-US" sz="2400" dirty="0">
                <a:solidFill>
                  <a:srgbClr val="000000"/>
                </a:solidFill>
                <a:latin typeface="Tahoma"/>
              </a:rPr>
              <a:t>sum(num1,  num2))</a:t>
            </a:r>
          </a:p>
          <a:p>
            <a:pPr>
              <a:buClr>
                <a:srgbClr val="3333CC"/>
              </a:buClr>
            </a:pPr>
            <a:r>
              <a:rPr lang="el-GR" sz="2400" dirty="0">
                <a:solidFill>
                  <a:srgbClr val="000000"/>
                </a:solidFill>
                <a:latin typeface="Tahoma"/>
              </a:rPr>
              <a:t>Αν επιστρέφει τιμή αυτή πρέπει να ανατεθεί σε μία μεταβλητή (</a:t>
            </a:r>
            <a:r>
              <a:rPr lang="en-US" sz="2400" dirty="0">
                <a:solidFill>
                  <a:srgbClr val="000000"/>
                </a:solidFill>
                <a:latin typeface="Tahoma"/>
              </a:rPr>
              <a:t>result = sum(…)) </a:t>
            </a:r>
            <a:r>
              <a:rPr lang="el-GR" sz="2400" dirty="0">
                <a:solidFill>
                  <a:srgbClr val="000000"/>
                </a:solidFill>
                <a:latin typeface="Tahoma"/>
              </a:rPr>
              <a:t>ή να αξιοποιηθεί στο σχηματισμό μιας έκφρασης, π.χ.</a:t>
            </a:r>
          </a:p>
          <a:p>
            <a:pPr marL="0" indent="0">
              <a:buClr>
                <a:srgbClr val="3333CC"/>
              </a:buClr>
              <a:buFont typeface="Wingdings" panose="05000000000000000000" pitchFamily="2" charset="2"/>
              <a:buNone/>
            </a:pPr>
            <a:r>
              <a:rPr lang="el-GR" sz="2400" dirty="0">
                <a:solidFill>
                  <a:srgbClr val="000000"/>
                </a:solidFill>
                <a:latin typeface="Tahoma"/>
              </a:rPr>
              <a:t>	 </a:t>
            </a:r>
            <a:r>
              <a:rPr lang="en-US" sz="2400" dirty="0">
                <a:solidFill>
                  <a:srgbClr val="000000"/>
                </a:solidFill>
                <a:latin typeface="Tahoma"/>
              </a:rPr>
              <a:t>result = </a:t>
            </a:r>
            <a:r>
              <a:rPr lang="en-US" sz="2400" dirty="0" err="1">
                <a:solidFill>
                  <a:srgbClr val="000000"/>
                </a:solidFill>
                <a:latin typeface="Tahoma"/>
              </a:rPr>
              <a:t>getInt</a:t>
            </a:r>
            <a:r>
              <a:rPr lang="en-US" sz="2400" dirty="0">
                <a:solidFill>
                  <a:srgbClr val="000000"/>
                </a:solidFill>
                <a:latin typeface="Tahoma"/>
              </a:rPr>
              <a:t>(….) + </a:t>
            </a:r>
            <a:r>
              <a:rPr lang="en-US" sz="2400" dirty="0" err="1">
                <a:solidFill>
                  <a:srgbClr val="000000"/>
                </a:solidFill>
                <a:latin typeface="Tahoma"/>
              </a:rPr>
              <a:t>getInt</a:t>
            </a:r>
            <a:r>
              <a:rPr lang="en-US" sz="2400" dirty="0">
                <a:solidFill>
                  <a:srgbClr val="000000"/>
                </a:solidFill>
                <a:latin typeface="Tahoma"/>
              </a:rPr>
              <a:t>(…);</a:t>
            </a:r>
            <a:endParaRPr lang="el-GR" altLang="el-GR" sz="2800" kern="0" dirty="0">
              <a:solidFill>
                <a:srgbClr val="000000"/>
              </a:solidFill>
              <a:latin typeface="Tahoma"/>
            </a:endParaRPr>
          </a:p>
        </p:txBody>
      </p:sp>
      <p:sp>
        <p:nvSpPr>
          <p:cNvPr id="15" name="Speech Bubble: Rectangle with Corners Rounded 14">
            <a:extLst>
              <a:ext uri="{FF2B5EF4-FFF2-40B4-BE49-F238E27FC236}">
                <a16:creationId xmlns:a16="http://schemas.microsoft.com/office/drawing/2014/main" id="{25A616D0-8728-F672-F7DD-B3BE427270C6}"/>
              </a:ext>
            </a:extLst>
          </p:cNvPr>
          <p:cNvSpPr/>
          <p:nvPr/>
        </p:nvSpPr>
        <p:spPr bwMode="auto">
          <a:xfrm>
            <a:off x="2468781" y="5398352"/>
            <a:ext cx="8782987" cy="1015392"/>
          </a:xfrm>
          <a:prstGeom prst="wedgeRoundRectCallout">
            <a:avLst>
              <a:gd name="adj1" fmla="val -54152"/>
              <a:gd name="adj2" fmla="val 78780"/>
              <a:gd name="adj3" fmla="val 16667"/>
            </a:avLst>
          </a:prstGeom>
          <a:solidFill>
            <a:srgbClr val="FFFF00"/>
          </a:solidFill>
          <a:ln w="9525" cap="flat" cmpd="sng" algn="ctr">
            <a:solidFill>
              <a:srgbClr val="FFFFFF"/>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1" indent="0" algn="ctr" defTabSz="914400" eaLnBrk="0" fontAlgn="base" latinLnBrk="0" hangingPunct="0">
              <a:lnSpc>
                <a:spcPct val="100000"/>
              </a:lnSpc>
              <a:spcBef>
                <a:spcPct val="0"/>
              </a:spcBef>
              <a:spcAft>
                <a:spcPct val="0"/>
              </a:spcAft>
              <a:buClrTx/>
              <a:buSzTx/>
              <a:buFontTx/>
              <a:buNone/>
              <a:tabLst/>
              <a:defRPr/>
            </a:pPr>
            <a:r>
              <a:rPr kumimoji="0" lang="en-US" sz="2800" b="0" i="0" u="none" strike="noStrike" kern="0" cap="none" spc="0" normalizeH="0" baseline="0" noProof="0" dirty="0">
                <a:ln>
                  <a:noFill/>
                </a:ln>
                <a:solidFill>
                  <a:schemeClr val="bg1"/>
                </a:solidFill>
                <a:effectLst/>
                <a:uLnTx/>
                <a:uFillTx/>
                <a:latin typeface="Tahoma" panose="020B0604030504040204" pitchFamily="34" charset="0"/>
              </a:rPr>
              <a:t>O compiler </a:t>
            </a:r>
            <a:r>
              <a:rPr kumimoji="0" lang="el-GR" sz="2800" b="0" i="0" u="none" strike="noStrike" kern="0" cap="none" spc="0" normalizeH="0" baseline="0" noProof="0" dirty="0">
                <a:ln>
                  <a:noFill/>
                </a:ln>
                <a:solidFill>
                  <a:schemeClr val="bg1"/>
                </a:solidFill>
                <a:effectLst/>
                <a:uLnTx/>
                <a:uFillTx/>
                <a:latin typeface="Tahoma" panose="020B0604030504040204" pitchFamily="34" charset="0"/>
              </a:rPr>
              <a:t>ελέγχει αν η κλήση γίνεται σύμφωνα με την δήλωση της (</a:t>
            </a:r>
            <a:r>
              <a:rPr kumimoji="0" lang="el-GR" sz="2800" b="1" i="0" u="none" strike="noStrike" kern="0" cap="none" spc="0" normalizeH="0" baseline="0" noProof="0" dirty="0">
                <a:ln>
                  <a:noFill/>
                </a:ln>
                <a:solidFill>
                  <a:srgbClr val="C00000"/>
                </a:solidFill>
                <a:effectLst/>
                <a:uLnTx/>
                <a:uFillTx/>
                <a:latin typeface="Tahoma" panose="020B0604030504040204" pitchFamily="34" charset="0"/>
              </a:rPr>
              <a:t>έλεγχος τύπων</a:t>
            </a:r>
            <a:r>
              <a:rPr kumimoji="0" lang="el-GR" sz="2800" b="0" i="0" u="none" strike="noStrike" kern="0" cap="none" spc="0" normalizeH="0" baseline="0" noProof="0" dirty="0">
                <a:ln>
                  <a:noFill/>
                </a:ln>
                <a:solidFill>
                  <a:schemeClr val="bg1"/>
                </a:solidFill>
                <a:effectLst/>
                <a:uLnTx/>
                <a:uFillTx/>
                <a:latin typeface="Tahoma" panose="020B0604030504040204" pitchFamily="34" charset="0"/>
              </a:rPr>
              <a:t>)</a:t>
            </a:r>
          </a:p>
        </p:txBody>
      </p:sp>
    </p:spTree>
    <p:extLst>
      <p:ext uri="{BB962C8B-B14F-4D97-AF65-F5344CB8AC3E}">
        <p14:creationId xmlns:p14="http://schemas.microsoft.com/office/powerpoint/2010/main" val="151129590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65ABF-B765-0123-FC35-107DD53B0C1D}"/>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46F4F3D4-E2DC-5CE5-3F2C-D0A0C364E140}"/>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D6B33C1A-BEC8-D71E-0BB1-C74662D6FE7C}"/>
              </a:ext>
            </a:extLst>
          </p:cNvPr>
          <p:cNvSpPr>
            <a:spLocks noGrp="1"/>
          </p:cNvSpPr>
          <p:nvPr>
            <p:ph type="title"/>
          </p:nvPr>
        </p:nvSpPr>
        <p:spPr>
          <a:xfrm>
            <a:off x="0" y="0"/>
            <a:ext cx="12191999" cy="719331"/>
          </a:xfrm>
          <a:solidFill>
            <a:srgbClr val="FDCBAD"/>
          </a:solidFill>
        </p:spPr>
        <p:txBody>
          <a:bodyPr>
            <a:normAutofit/>
          </a:bodyPr>
          <a:lstStyle/>
          <a:p>
            <a:r>
              <a:rPr lang="en-US" sz="4000" b="1" dirty="0">
                <a:solidFill>
                  <a:srgbClr val="F9853D"/>
                </a:solidFill>
                <a:latin typeface="Bahnschrift" panose="020B0502040204020203" pitchFamily="34" charset="0"/>
              </a:rPr>
              <a:t>Hands-on</a:t>
            </a:r>
            <a:r>
              <a:rPr lang="el-GR" sz="4000" b="1" dirty="0">
                <a:solidFill>
                  <a:srgbClr val="F9853D"/>
                </a:solidFill>
                <a:latin typeface="Bahnschrift" panose="020B0502040204020203" pitchFamily="34" charset="0"/>
              </a:rPr>
              <a:t>  (</a:t>
            </a:r>
            <a:r>
              <a:rPr lang="en-US" sz="4000" b="1" dirty="0">
                <a:solidFill>
                  <a:srgbClr val="F9853D"/>
                </a:solidFill>
                <a:latin typeface="Bahnschrift" panose="020B0502040204020203" pitchFamily="34" charset="0"/>
              </a:rPr>
              <a:t>Add2Numbers Version 4)</a:t>
            </a:r>
          </a:p>
        </p:txBody>
      </p:sp>
      <p:sp>
        <p:nvSpPr>
          <p:cNvPr id="8" name="Θέση υποσέλιδου 4">
            <a:extLst>
              <a:ext uri="{FF2B5EF4-FFF2-40B4-BE49-F238E27FC236}">
                <a16:creationId xmlns:a16="http://schemas.microsoft.com/office/drawing/2014/main" id="{68C4F1C9-55FE-BEBD-11BE-E5CD1D1697EB}"/>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15FE0ED8-3E96-19BD-AD5C-7CBAA3D8C100}"/>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35</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783914EB-403E-913A-52B5-1AF97807818C}"/>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4" name="Θέση υποσέλιδου 4">
            <a:extLst>
              <a:ext uri="{FF2B5EF4-FFF2-40B4-BE49-F238E27FC236}">
                <a16:creationId xmlns:a16="http://schemas.microsoft.com/office/drawing/2014/main" id="{574489FF-03EC-21C9-6ECD-3D1649B11170}"/>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sp>
        <p:nvSpPr>
          <p:cNvPr id="7" name="Speech Bubble: Rectangle with Corners Rounded 6">
            <a:extLst>
              <a:ext uri="{FF2B5EF4-FFF2-40B4-BE49-F238E27FC236}">
                <a16:creationId xmlns:a16="http://schemas.microsoft.com/office/drawing/2014/main" id="{5CF095D6-17C1-DC10-C6E4-1C559650F684}"/>
              </a:ext>
            </a:extLst>
          </p:cNvPr>
          <p:cNvSpPr/>
          <p:nvPr/>
        </p:nvSpPr>
        <p:spPr>
          <a:xfrm>
            <a:off x="6203273" y="1604477"/>
            <a:ext cx="5633357" cy="1625419"/>
          </a:xfrm>
          <a:prstGeom prst="wedgeRoundRectCallout">
            <a:avLst>
              <a:gd name="adj1" fmla="val -59222"/>
              <a:gd name="adj2" fmla="val 98719"/>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solidFill>
                  <a:schemeClr val="tx1"/>
                </a:solidFill>
                <a:highlight>
                  <a:srgbClr val="FFFF00"/>
                </a:highlight>
              </a:rPr>
              <a:t>Αναπτύξτε την </a:t>
            </a:r>
            <a:r>
              <a:rPr lang="en-US" sz="2400" b="1" dirty="0">
                <a:solidFill>
                  <a:schemeClr val="tx1"/>
                </a:solidFill>
                <a:highlight>
                  <a:srgbClr val="FFFF00"/>
                </a:highlight>
              </a:rPr>
              <a:t>4</a:t>
            </a:r>
            <a:r>
              <a:rPr lang="el-GR" sz="2400" b="1" baseline="30000" dirty="0">
                <a:solidFill>
                  <a:schemeClr val="tx1"/>
                </a:solidFill>
                <a:highlight>
                  <a:srgbClr val="FFFF00"/>
                </a:highlight>
              </a:rPr>
              <a:t>η</a:t>
            </a:r>
            <a:r>
              <a:rPr lang="el-GR" sz="2400" b="1" dirty="0">
                <a:solidFill>
                  <a:schemeClr val="tx1"/>
                </a:solidFill>
                <a:highlight>
                  <a:srgbClr val="FFFF00"/>
                </a:highlight>
              </a:rPr>
              <a:t> έκδοση του  προγράμματος </a:t>
            </a:r>
            <a:r>
              <a:rPr lang="en-US" sz="2400" b="1" dirty="0">
                <a:solidFill>
                  <a:schemeClr val="tx1"/>
                </a:solidFill>
                <a:highlight>
                  <a:srgbClr val="FFFF00"/>
                </a:highlight>
              </a:rPr>
              <a:t>Add2Numbers</a:t>
            </a:r>
            <a:r>
              <a:rPr lang="el-GR" sz="2400" b="1" dirty="0">
                <a:solidFill>
                  <a:schemeClr val="tx1"/>
                </a:solidFill>
                <a:highlight>
                  <a:srgbClr val="FFFF00"/>
                </a:highlight>
              </a:rPr>
              <a:t> ορίζοντας τη δική σας </a:t>
            </a:r>
            <a:r>
              <a:rPr lang="el-GR" sz="2400" b="1" dirty="0">
                <a:solidFill>
                  <a:srgbClr val="FF0000"/>
                </a:solidFill>
                <a:highlight>
                  <a:srgbClr val="FFFF00"/>
                </a:highlight>
              </a:rPr>
              <a:t>επαναχρησιμοποιήσιμη (</a:t>
            </a:r>
            <a:r>
              <a:rPr lang="en-US" sz="2400" b="1" dirty="0">
                <a:solidFill>
                  <a:srgbClr val="FF0000"/>
                </a:solidFill>
                <a:highlight>
                  <a:srgbClr val="FFFF00"/>
                </a:highlight>
              </a:rPr>
              <a:t>reusable</a:t>
            </a:r>
            <a:r>
              <a:rPr lang="el-GR" sz="2400" b="1" dirty="0">
                <a:solidFill>
                  <a:srgbClr val="FF0000"/>
                </a:solidFill>
                <a:highlight>
                  <a:srgbClr val="FFFF00"/>
                </a:highlight>
              </a:rPr>
              <a:t>)</a:t>
            </a:r>
            <a:r>
              <a:rPr lang="el-GR" sz="2400" b="1" dirty="0">
                <a:solidFill>
                  <a:schemeClr val="tx1"/>
                </a:solidFill>
                <a:highlight>
                  <a:srgbClr val="FFFF00"/>
                </a:highlight>
              </a:rPr>
              <a:t> συνάρτηση </a:t>
            </a:r>
            <a:r>
              <a:rPr lang="en-US" sz="2400" b="1" dirty="0">
                <a:solidFill>
                  <a:schemeClr val="tx1"/>
                </a:solidFill>
                <a:highlight>
                  <a:srgbClr val="FFFF00"/>
                </a:highlight>
              </a:rPr>
              <a:t>sum </a:t>
            </a:r>
            <a:endParaRPr lang="en-GB" sz="2400" b="1" dirty="0">
              <a:solidFill>
                <a:schemeClr val="tx1"/>
              </a:solidFill>
              <a:highlight>
                <a:srgbClr val="FFFF00"/>
              </a:highlight>
            </a:endParaRPr>
          </a:p>
        </p:txBody>
      </p:sp>
      <p:pic>
        <p:nvPicPr>
          <p:cNvPr id="9" name="Picture 8">
            <a:extLst>
              <a:ext uri="{FF2B5EF4-FFF2-40B4-BE49-F238E27FC236}">
                <a16:creationId xmlns:a16="http://schemas.microsoft.com/office/drawing/2014/main" id="{5942D95E-5DBC-BD7A-F0AB-79E10BAC2077}"/>
              </a:ext>
            </a:extLst>
          </p:cNvPr>
          <p:cNvPicPr>
            <a:picLocks noChangeAspect="1"/>
          </p:cNvPicPr>
          <p:nvPr/>
        </p:nvPicPr>
        <p:blipFill>
          <a:blip r:embed="rId3"/>
          <a:stretch>
            <a:fillRect/>
          </a:stretch>
        </p:blipFill>
        <p:spPr>
          <a:xfrm>
            <a:off x="355370" y="1848073"/>
            <a:ext cx="4812974" cy="3543607"/>
          </a:xfrm>
          <a:prstGeom prst="rect">
            <a:avLst/>
          </a:prstGeom>
        </p:spPr>
      </p:pic>
      <p:sp>
        <p:nvSpPr>
          <p:cNvPr id="4" name="Speech Bubble: Rectangle with Corners Rounded 3">
            <a:extLst>
              <a:ext uri="{FF2B5EF4-FFF2-40B4-BE49-F238E27FC236}">
                <a16:creationId xmlns:a16="http://schemas.microsoft.com/office/drawing/2014/main" id="{170E9D4D-9B97-6477-E09A-E1B9438A0EF8}"/>
              </a:ext>
            </a:extLst>
          </p:cNvPr>
          <p:cNvSpPr/>
          <p:nvPr/>
        </p:nvSpPr>
        <p:spPr>
          <a:xfrm>
            <a:off x="6095999" y="4072332"/>
            <a:ext cx="5633357" cy="794636"/>
          </a:xfrm>
          <a:prstGeom prst="wedgeRoundRectCallout">
            <a:avLst>
              <a:gd name="adj1" fmla="val -59222"/>
              <a:gd name="adj2" fmla="val 98719"/>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solidFill>
                  <a:schemeClr val="tx1"/>
                </a:solidFill>
                <a:highlight>
                  <a:srgbClr val="FFFF00"/>
                </a:highlight>
              </a:rPr>
              <a:t>Ελέγξτε αν υλοποιεί σωστά την απαιτούμενη  λειτουργικότητα </a:t>
            </a:r>
          </a:p>
        </p:txBody>
      </p:sp>
      <p:sp>
        <p:nvSpPr>
          <p:cNvPr id="5" name="Speech Bubble: Rectangle with Corners Rounded 4">
            <a:extLst>
              <a:ext uri="{FF2B5EF4-FFF2-40B4-BE49-F238E27FC236}">
                <a16:creationId xmlns:a16="http://schemas.microsoft.com/office/drawing/2014/main" id="{14D00175-DF4B-BD8B-C459-E0D7B89DA7BC}"/>
              </a:ext>
            </a:extLst>
          </p:cNvPr>
          <p:cNvSpPr/>
          <p:nvPr/>
        </p:nvSpPr>
        <p:spPr>
          <a:xfrm>
            <a:off x="6095999" y="5303316"/>
            <a:ext cx="5633357" cy="794636"/>
          </a:xfrm>
          <a:prstGeom prst="wedgeRoundRectCallout">
            <a:avLst>
              <a:gd name="adj1" fmla="val -68385"/>
              <a:gd name="adj2" fmla="val 87583"/>
              <a:gd name="adj3" fmla="val 16667"/>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sz="2400" b="1" dirty="0">
                <a:solidFill>
                  <a:schemeClr val="tx1"/>
                </a:solidFill>
                <a:highlight>
                  <a:srgbClr val="FFFF00"/>
                </a:highlight>
              </a:rPr>
              <a:t>Επιδείξτε την επαναχρησιμοποίηση της </a:t>
            </a:r>
            <a:r>
              <a:rPr lang="en-US" sz="2400" b="1" dirty="0">
                <a:solidFill>
                  <a:schemeClr val="tx1"/>
                </a:solidFill>
                <a:highlight>
                  <a:srgbClr val="FFFF00"/>
                </a:highlight>
              </a:rPr>
              <a:t>sum</a:t>
            </a:r>
            <a:endParaRPr lang="el-GR" sz="2400" b="1" dirty="0">
              <a:solidFill>
                <a:schemeClr val="tx1"/>
              </a:solidFill>
              <a:highlight>
                <a:srgbClr val="FFFF00"/>
              </a:highlight>
            </a:endParaRPr>
          </a:p>
        </p:txBody>
      </p:sp>
    </p:spTree>
    <p:extLst>
      <p:ext uri="{BB962C8B-B14F-4D97-AF65-F5344CB8AC3E}">
        <p14:creationId xmlns:p14="http://schemas.microsoft.com/office/powerpoint/2010/main" val="248361043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86C1D-31DC-CB21-DE12-6C4EA8C91C40}"/>
            </a:ext>
          </a:extLst>
        </p:cNvPr>
        <p:cNvGrpSpPr/>
        <p:nvPr/>
      </p:nvGrpSpPr>
      <p:grpSpPr>
        <a:xfrm>
          <a:off x="0" y="0"/>
          <a:ext cx="0" cy="0"/>
          <a:chOff x="0" y="0"/>
          <a:chExt cx="0" cy="0"/>
        </a:xfrm>
      </p:grpSpPr>
      <p:sp>
        <p:nvSpPr>
          <p:cNvPr id="10" name="Rectangle 14">
            <a:extLst>
              <a:ext uri="{FF2B5EF4-FFF2-40B4-BE49-F238E27FC236}">
                <a16:creationId xmlns:a16="http://schemas.microsoft.com/office/drawing/2014/main" id="{227D3FD2-6F10-DA53-F71D-D726F2B15AB9}"/>
              </a:ext>
            </a:extLst>
          </p:cNvPr>
          <p:cNvSpPr/>
          <p:nvPr/>
        </p:nvSpPr>
        <p:spPr>
          <a:xfrm>
            <a:off x="140669" y="6559908"/>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Τίτλος 1">
            <a:extLst>
              <a:ext uri="{FF2B5EF4-FFF2-40B4-BE49-F238E27FC236}">
                <a16:creationId xmlns:a16="http://schemas.microsoft.com/office/drawing/2014/main" id="{A8BEE439-BC2E-664D-EB08-FDE3B3079552}"/>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Διαχείριση εκδόσεων ενός προγράμματος</a:t>
            </a:r>
            <a:endParaRPr lang="en-US"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4B32DBAD-3E68-700C-DA69-36700DA11D2F}"/>
              </a:ext>
            </a:extLst>
          </p:cNvPr>
          <p:cNvSpPr txBox="1">
            <a:spLocks/>
          </p:cNvSpPr>
          <p:nvPr/>
        </p:nvSpPr>
        <p:spPr>
          <a:xfrm>
            <a:off x="-1" y="6599394"/>
            <a:ext cx="3840633" cy="237514"/>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Bahnschrift" panose="020B0502040204020203" pitchFamily="34" charset="0"/>
              </a:rPr>
              <a:t>© 202</a:t>
            </a:r>
            <a:r>
              <a:rPr lang="el-GR" sz="1100" dirty="0">
                <a:solidFill>
                  <a:schemeClr val="tx1"/>
                </a:solidFill>
                <a:latin typeface="Bahnschrift" panose="020B0502040204020203" pitchFamily="34" charset="0"/>
              </a:rPr>
              <a:t>5</a:t>
            </a:r>
            <a:r>
              <a:rPr lang="en-US" sz="1100" dirty="0">
                <a:solidFill>
                  <a:schemeClr val="tx1"/>
                </a:solidFill>
                <a:latin typeface="Bahnschrift" panose="020B0502040204020203" pitchFamily="34" charset="0"/>
              </a:rPr>
              <a:t> </a:t>
            </a:r>
            <a:r>
              <a:rPr lang="el-GR" sz="1100" dirty="0">
                <a:solidFill>
                  <a:schemeClr val="tx1"/>
                </a:solidFill>
                <a:latin typeface="Bahnschrift" panose="020B0502040204020203" pitchFamily="34" charset="0"/>
              </a:rPr>
              <a:t>Μια Εισαγωγή στην Τέχνη του Προγραμματισμού</a:t>
            </a:r>
          </a:p>
        </p:txBody>
      </p:sp>
      <p:sp>
        <p:nvSpPr>
          <p:cNvPr id="11" name="TextBox 10">
            <a:extLst>
              <a:ext uri="{FF2B5EF4-FFF2-40B4-BE49-F238E27FC236}">
                <a16:creationId xmlns:a16="http://schemas.microsoft.com/office/drawing/2014/main" id="{F7BEC7D9-C4E6-11BE-9B3B-3D35A164883F}"/>
              </a:ext>
            </a:extLst>
          </p:cNvPr>
          <p:cNvSpPr txBox="1"/>
          <p:nvPr/>
        </p:nvSpPr>
        <p:spPr>
          <a:xfrm>
            <a:off x="10164871" y="6559909"/>
            <a:ext cx="1886460" cy="276999"/>
          </a:xfrm>
          <a:prstGeom prst="rect">
            <a:avLst/>
          </a:prstGeom>
          <a:noFill/>
        </p:spPr>
        <p:txBody>
          <a:bodyPr wrap="square" rtlCol="0">
            <a:spAutoFit/>
          </a:bodyPr>
          <a:lstStyle/>
          <a:p>
            <a:pPr algn="r"/>
            <a:r>
              <a:rPr lang="el-GR" sz="1200" dirty="0">
                <a:latin typeface="Bahnschrift Light" panose="020B0502040204020203" pitchFamily="34" charset="0"/>
                <a:cs typeface="Arial" pitchFamily="34" charset="0"/>
              </a:rPr>
              <a:t>Διαφάνεια </a:t>
            </a:r>
            <a:fld id="{7C15C5B5-03C6-48D8-B20F-65D93A6CF09E}" type="slidenum">
              <a:rPr lang="en-US" sz="1200" smtClean="0">
                <a:latin typeface="Bahnschrift Light" panose="020B0502040204020203" pitchFamily="34" charset="0"/>
                <a:cs typeface="Arial" pitchFamily="34" charset="0"/>
              </a:rPr>
              <a:pPr algn="r"/>
              <a:t>36</a:t>
            </a:fld>
            <a:endParaRPr lang="en-US" sz="1200" dirty="0">
              <a:latin typeface="Bahnschrift Light" panose="020B0502040204020203" pitchFamily="34" charset="0"/>
              <a:cs typeface="Arial" pitchFamily="34" charset="0"/>
            </a:endParaRPr>
          </a:p>
        </p:txBody>
      </p:sp>
      <p:sp>
        <p:nvSpPr>
          <p:cNvPr id="3" name="Rectangle 2">
            <a:extLst>
              <a:ext uri="{FF2B5EF4-FFF2-40B4-BE49-F238E27FC236}">
                <a16:creationId xmlns:a16="http://schemas.microsoft.com/office/drawing/2014/main" id="{FAB8B9D3-9199-9F93-86E9-D1627993C0D6}"/>
              </a:ext>
            </a:extLst>
          </p:cNvPr>
          <p:cNvSpPr txBox="1">
            <a:spLocks noChangeArrowheads="1"/>
          </p:cNvSpPr>
          <p:nvPr/>
        </p:nvSpPr>
        <p:spPr>
          <a:xfrm>
            <a:off x="1524000" y="0"/>
            <a:ext cx="9144000" cy="9080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solidFill>
                <a:srgbClr val="0033CC"/>
              </a:solidFill>
              <a:latin typeface="Times New Roman" pitchFamily="18" charset="0"/>
            </a:endParaRPr>
          </a:p>
        </p:txBody>
      </p:sp>
      <p:sp>
        <p:nvSpPr>
          <p:cNvPr id="14" name="Θέση υποσέλιδου 4">
            <a:extLst>
              <a:ext uri="{FF2B5EF4-FFF2-40B4-BE49-F238E27FC236}">
                <a16:creationId xmlns:a16="http://schemas.microsoft.com/office/drawing/2014/main" id="{21CB91A8-1B4C-6F9B-280C-5E764FD97787}"/>
              </a:ext>
            </a:extLst>
          </p:cNvPr>
          <p:cNvSpPr txBox="1">
            <a:spLocks/>
          </p:cNvSpPr>
          <p:nvPr/>
        </p:nvSpPr>
        <p:spPr>
          <a:xfrm>
            <a:off x="4149680" y="6689184"/>
            <a:ext cx="3462169" cy="258606"/>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l-GR" sz="1100" dirty="0">
                <a:solidFill>
                  <a:schemeClr val="tx1"/>
                </a:solidFill>
                <a:latin typeface="Bahnschrift" panose="020B0502040204020203" pitchFamily="34" charset="0"/>
              </a:rPr>
              <a:t>Πηγαίος Κώδικας – Βασικές Έννοιες</a:t>
            </a:r>
          </a:p>
          <a:p>
            <a:endParaRPr lang="el-GR" sz="1100" dirty="0">
              <a:solidFill>
                <a:schemeClr val="tx1"/>
              </a:solidFill>
              <a:latin typeface="Bahnschrift" panose="020B0502040204020203" pitchFamily="34" charset="0"/>
            </a:endParaRPr>
          </a:p>
        </p:txBody>
      </p:sp>
      <p:sp>
        <p:nvSpPr>
          <p:cNvPr id="6" name="TextBox 5">
            <a:extLst>
              <a:ext uri="{FF2B5EF4-FFF2-40B4-BE49-F238E27FC236}">
                <a16:creationId xmlns:a16="http://schemas.microsoft.com/office/drawing/2014/main" id="{6FEE1DB2-F446-0531-E599-2066DE591586}"/>
              </a:ext>
            </a:extLst>
          </p:cNvPr>
          <p:cNvSpPr txBox="1"/>
          <p:nvPr/>
        </p:nvSpPr>
        <p:spPr>
          <a:xfrm>
            <a:off x="140669" y="836517"/>
            <a:ext cx="11910662" cy="1200329"/>
          </a:xfrm>
          <a:prstGeom prst="rect">
            <a:avLst/>
          </a:prstGeom>
          <a:solidFill>
            <a:srgbClr val="92D050"/>
          </a:solidFill>
        </p:spPr>
        <p:txBody>
          <a:bodyPr wrap="square" rtlCol="0">
            <a:spAutoFit/>
          </a:bodyPr>
          <a:lstStyle/>
          <a:p>
            <a:pPr marL="285750" indent="-285750">
              <a:buClr>
                <a:srgbClr val="0070C0"/>
              </a:buClr>
              <a:buFont typeface="Wingdings" panose="05000000000000000000" pitchFamily="2" charset="2"/>
              <a:buChar char="§"/>
            </a:pPr>
            <a:r>
              <a:rPr lang="el-GR" dirty="0"/>
              <a:t>Ένα πρόβλημα που έχουμε να αντιμετωπίσουμε όταν υιοθετούμε την αυξητική ανάπτυξη είναι αυτό της διαχείρισης των διαφορετικών εκδόσεων που αναπτύσσουμε. </a:t>
            </a:r>
            <a:endParaRPr lang="en-US" dirty="0"/>
          </a:p>
          <a:p>
            <a:pPr marL="285750" indent="-285750">
              <a:buClr>
                <a:srgbClr val="0070C0"/>
              </a:buClr>
              <a:buFont typeface="Wingdings" panose="05000000000000000000" pitchFamily="2" charset="2"/>
              <a:buChar char="§"/>
            </a:pPr>
            <a:r>
              <a:rPr lang="el-GR" dirty="0"/>
              <a:t>Οι εκδόσεις αυτές μπορεί να αφορούν προσθήκη επιπλέον λειτουργικότητας ή ενναλακτικές υλοποιήσεις. </a:t>
            </a:r>
            <a:endParaRPr lang="en-US" dirty="0"/>
          </a:p>
          <a:p>
            <a:pPr marL="285750" indent="-285750">
              <a:buClr>
                <a:srgbClr val="0070C0"/>
              </a:buClr>
              <a:buFont typeface="Wingdings" panose="05000000000000000000" pitchFamily="2" charset="2"/>
              <a:buChar char="§"/>
            </a:pPr>
            <a:r>
              <a:rPr lang="el-GR" dirty="0"/>
              <a:t>Στην φάση εκμάθησης προγραμματισμού, είναι καλή πρακτική να διατηρείτε τις εκδόσεις αυτές.</a:t>
            </a:r>
            <a:endParaRPr lang="en-GB" dirty="0"/>
          </a:p>
        </p:txBody>
      </p:sp>
      <p:pic>
        <p:nvPicPr>
          <p:cNvPr id="12" name="Picture 11" descr="A screenshot of a computer&#10;&#10;AI-generated content may be incorrect.">
            <a:extLst>
              <a:ext uri="{FF2B5EF4-FFF2-40B4-BE49-F238E27FC236}">
                <a16:creationId xmlns:a16="http://schemas.microsoft.com/office/drawing/2014/main" id="{378EB025-153E-9E14-21A5-DDA798E4EF68}"/>
              </a:ext>
            </a:extLst>
          </p:cNvPr>
          <p:cNvPicPr>
            <a:picLocks noChangeAspect="1"/>
          </p:cNvPicPr>
          <p:nvPr/>
        </p:nvPicPr>
        <p:blipFill>
          <a:blip r:embed="rId3"/>
          <a:stretch>
            <a:fillRect/>
          </a:stretch>
        </p:blipFill>
        <p:spPr>
          <a:xfrm>
            <a:off x="3686434" y="2166122"/>
            <a:ext cx="8102426" cy="3867092"/>
          </a:xfrm>
          <a:prstGeom prst="rect">
            <a:avLst/>
          </a:prstGeom>
        </p:spPr>
      </p:pic>
      <p:sp>
        <p:nvSpPr>
          <p:cNvPr id="18" name="Callout: Bent Line 17">
            <a:extLst>
              <a:ext uri="{FF2B5EF4-FFF2-40B4-BE49-F238E27FC236}">
                <a16:creationId xmlns:a16="http://schemas.microsoft.com/office/drawing/2014/main" id="{1261EDD1-D65F-63DA-DBB6-BBA86323E8E4}"/>
              </a:ext>
            </a:extLst>
          </p:cNvPr>
          <p:cNvSpPr/>
          <p:nvPr/>
        </p:nvSpPr>
        <p:spPr>
          <a:xfrm>
            <a:off x="140669" y="2342705"/>
            <a:ext cx="3388003" cy="441670"/>
          </a:xfrm>
          <a:prstGeom prst="borderCallout2">
            <a:avLst>
              <a:gd name="adj1" fmla="val 104036"/>
              <a:gd name="adj2" fmla="val 49988"/>
              <a:gd name="adj3" fmla="val 188427"/>
              <a:gd name="adj4" fmla="val 62205"/>
              <a:gd name="adj5" fmla="val 243372"/>
              <a:gd name="adj6" fmla="val 132500"/>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t>Options-&gt;Disable both</a:t>
            </a:r>
          </a:p>
        </p:txBody>
      </p:sp>
      <p:sp>
        <p:nvSpPr>
          <p:cNvPr id="19" name="Callout: Bent Line 18">
            <a:extLst>
              <a:ext uri="{FF2B5EF4-FFF2-40B4-BE49-F238E27FC236}">
                <a16:creationId xmlns:a16="http://schemas.microsoft.com/office/drawing/2014/main" id="{43A44086-0C89-4A65-9A20-4406ABE631AC}"/>
              </a:ext>
            </a:extLst>
          </p:cNvPr>
          <p:cNvSpPr/>
          <p:nvPr/>
        </p:nvSpPr>
        <p:spPr>
          <a:xfrm>
            <a:off x="140669" y="4431564"/>
            <a:ext cx="3388003" cy="441670"/>
          </a:xfrm>
          <a:prstGeom prst="borderCallout2">
            <a:avLst>
              <a:gd name="adj1" fmla="val -8891"/>
              <a:gd name="adj2" fmla="val 50397"/>
              <a:gd name="adj3" fmla="val -59384"/>
              <a:gd name="adj4" fmla="val 58116"/>
              <a:gd name="adj5" fmla="val -186377"/>
              <a:gd name="adj6" fmla="val 132091"/>
            </a:avLst>
          </a:prstGeom>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t>Options-&gt;Enable both</a:t>
            </a:r>
          </a:p>
        </p:txBody>
      </p:sp>
    </p:spTree>
    <p:extLst>
      <p:ext uri="{BB962C8B-B14F-4D97-AF65-F5344CB8AC3E}">
        <p14:creationId xmlns:p14="http://schemas.microsoft.com/office/powerpoint/2010/main" val="386569096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Lst>
  </p:timing>
</p:sld>
</file>

<file path=ppt/theme/theme1.xml><?xml version="1.0" encoding="utf-8"?>
<a:theme xmlns:a="http://schemas.openxmlformats.org/drawingml/2006/main" name="Προσαρμοσμένη σχεδίαση">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Έγγραφο" ma:contentTypeID="0x01010083E876422A8D4E49A7AB47DB3442B25A" ma:contentTypeVersion="4" ma:contentTypeDescription="Δημιουργία νέου εγγράφου" ma:contentTypeScope="" ma:versionID="1359c381e567ff2f8dd113c1e1fd8b4b">
  <xsd:schema xmlns:xsd="http://www.w3.org/2001/XMLSchema" xmlns:xs="http://www.w3.org/2001/XMLSchema" xmlns:p="http://schemas.microsoft.com/office/2006/metadata/properties" xmlns:ns3="bc136b1a-1bb9-4067-b7be-b6865b8c3a2a" targetNamespace="http://schemas.microsoft.com/office/2006/metadata/properties" ma:root="true" ma:fieldsID="1b69fd1e3aaeef9f53ebf3eb0244421c" ns3:_="">
    <xsd:import namespace="bc136b1a-1bb9-4067-b7be-b6865b8c3a2a"/>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136b1a-1bb9-4067-b7be-b6865b8c3a2a"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Τύπος περιεχομένου"/>
        <xsd:element ref="dc:title" minOccurs="0" maxOccurs="1" ma:index="4" ma:displayName="Τίτλο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E1153B7-D90A-47A0-A5AE-A84829EFF7BE}">
  <ds:schemaRefs>
    <ds:schemaRef ds:uri="http://schemas.microsoft.com/sharepoint/v3/contenttype/forms"/>
  </ds:schemaRefs>
</ds:datastoreItem>
</file>

<file path=customXml/itemProps2.xml><?xml version="1.0" encoding="utf-8"?>
<ds:datastoreItem xmlns:ds="http://schemas.openxmlformats.org/officeDocument/2006/customXml" ds:itemID="{E54A4B41-960E-4690-879B-3B264A4908A2}">
  <ds:schemaRefs>
    <ds:schemaRef ds:uri="http://schemas.openxmlformats.org/package/2006/metadata/core-properties"/>
    <ds:schemaRef ds:uri="http://schemas.microsoft.com/office/infopath/2007/PartnerControls"/>
    <ds:schemaRef ds:uri="bc136b1a-1bb9-4067-b7be-b6865b8c3a2a"/>
    <ds:schemaRef ds:uri="http://schemas.microsoft.com/office/2006/documentManagement/types"/>
    <ds:schemaRef ds:uri="http://purl.org/dc/terms/"/>
    <ds:schemaRef ds:uri="http://www.w3.org/XML/1998/namespace"/>
    <ds:schemaRef ds:uri="http://purl.org/dc/elements/1.1/"/>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D647D709-0B74-441B-A58E-9E3D645AEE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c136b1a-1bb9-4067-b7be-b6865b8c3a2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10169</TotalTime>
  <Words>3107</Words>
  <Application>Microsoft Office PowerPoint</Application>
  <PresentationFormat>Widescreen</PresentationFormat>
  <Paragraphs>422</Paragraphs>
  <Slides>36</Slides>
  <Notes>36</Notes>
  <HiddenSlides>1</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36</vt:i4>
      </vt:variant>
    </vt:vector>
  </HeadingPairs>
  <TitlesOfParts>
    <vt:vector size="48" baseType="lpstr">
      <vt:lpstr>Arial</vt:lpstr>
      <vt:lpstr>Bahnschrift</vt:lpstr>
      <vt:lpstr>Bahnschrift Light</vt:lpstr>
      <vt:lpstr>Calibri</vt:lpstr>
      <vt:lpstr>Calibri Light</vt:lpstr>
      <vt:lpstr>Courier New</vt:lpstr>
      <vt:lpstr>Open Sans</vt:lpstr>
      <vt:lpstr>Tahoma</vt:lpstr>
      <vt:lpstr>Times New Roman</vt:lpstr>
      <vt:lpstr>Wingdings</vt:lpstr>
      <vt:lpstr>Προσαρμοσμένη σχεδίαση</vt:lpstr>
      <vt:lpstr>Θέμα του Office</vt:lpstr>
      <vt:lpstr>PowerPoint Presentation</vt:lpstr>
      <vt:lpstr>Στόχος Ενότητας </vt:lpstr>
      <vt:lpstr>Δραστηριότητα 4-1   Add2Numbers</vt:lpstr>
      <vt:lpstr>Βήματα Διαδικασίας Ανάπτυξης Προγράμματος</vt:lpstr>
      <vt:lpstr>Συνοπτική περιγραφή διαδικασίας εκτέλεσης Δραστηριότητας</vt:lpstr>
      <vt:lpstr>Δημιουργία Λεκτικής Περιγραφής</vt:lpstr>
      <vt:lpstr>Προϋποθέσεις για ανάθεση του έργου στη μηχανή</vt:lpstr>
      <vt:lpstr>Μετατροπή Λεκτικής περιγραφής σε πηγαίο κώδικα</vt:lpstr>
      <vt:lpstr>Συνάρτηση, κλήση συνάρτησης και ορίσματα </vt:lpstr>
      <vt:lpstr>Μεταβλητή</vt:lpstr>
      <vt:lpstr>Τύπος Δεδομένων </vt:lpstr>
      <vt:lpstr>Πρόταση Δήλωσης μεταβλητής</vt:lpstr>
      <vt:lpstr>Δήλωση του τύπου της μεταβλητής</vt:lpstr>
      <vt:lpstr>Μεταβλητή – Δήλωση και απόδοση τιμής  </vt:lpstr>
      <vt:lpstr>Αυξητική Ανάπτυξη (incremental development)</vt:lpstr>
      <vt:lpstr>Add2Numbers - Αυξητική Ανάπτυξη</vt:lpstr>
      <vt:lpstr>1η έκδοση του Add2Numbers</vt:lpstr>
      <vt:lpstr>Βιβλιοθήκη (library)</vt:lpstr>
      <vt:lpstr>Πρότυπη βιβλιοθήκη της C (standard C library)</vt:lpstr>
      <vt:lpstr>Βιβλιοθήκη τρίτου κατασκευαστή – i2p library</vt:lpstr>
      <vt:lpstr>i2p library  στο github</vt:lpstr>
      <vt:lpstr>Hands-on  (Add2Numbers Version 1)</vt:lpstr>
      <vt:lpstr>Δράση 4.3 – 2η έκδοση του Add2Numbers</vt:lpstr>
      <vt:lpstr>Τελεστής, έκφραση και πρόταση</vt:lpstr>
      <vt:lpstr>Hands-on  (Add2Numbers Version 2)</vt:lpstr>
      <vt:lpstr>O Alex και το AI chatbot</vt:lpstr>
      <vt:lpstr>Ορίζοντας τη δική μας συνάρτηση (Add2NumbersV3)</vt:lpstr>
      <vt:lpstr>Hands-on  (Add2Numbers Version 3)</vt:lpstr>
      <vt:lpstr>Διεργασία ως Reusable function - H συνάρτηση  sum</vt:lpstr>
      <vt:lpstr>H sum επαναχρησιμοποιήσιμη (Add2NumbersV4)</vt:lpstr>
      <vt:lpstr>Δήλωση συνάρτησης</vt:lpstr>
      <vt:lpstr>getNumber() – Δύο προτάσεις βελτίωσης</vt:lpstr>
      <vt:lpstr>Ορισμός συνάρτησης</vt:lpstr>
      <vt:lpstr>Κλήση συνάρτησης</vt:lpstr>
      <vt:lpstr>Hands-on  (Add2Numbers Version 4)</vt:lpstr>
      <vt:lpstr>Διαχείριση εκδόσεων ενός προγράμματος</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OOP-Introduction</dc:title>
  <dc:creator>Kleanthis Thramboulidis</dc:creator>
  <cp:lastModifiedBy>Kleanthis Thramboulidis</cp:lastModifiedBy>
  <cp:revision>68</cp:revision>
  <cp:lastPrinted>2023-02-24T15:57:04Z</cp:lastPrinted>
  <dcterms:created xsi:type="dcterms:W3CDTF">2020-03-13T12:21:17Z</dcterms:created>
  <dcterms:modified xsi:type="dcterms:W3CDTF">2025-10-14T19:26:38Z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0x01010083E876422A8D4E49A7AB47DB3442B25A</vt:lpwstr>
  </property>
</Properties>
</file>