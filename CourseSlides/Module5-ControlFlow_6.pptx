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892" r:id="rId2"/>
  </p:sldMasterIdLst>
  <p:notesMasterIdLst>
    <p:notesMasterId r:id="rId68"/>
  </p:notesMasterIdLst>
  <p:sldIdLst>
    <p:sldId id="262" r:id="rId3"/>
    <p:sldId id="818" r:id="rId4"/>
    <p:sldId id="911" r:id="rId5"/>
    <p:sldId id="822" r:id="rId6"/>
    <p:sldId id="823" r:id="rId7"/>
    <p:sldId id="839" r:id="rId8"/>
    <p:sldId id="874" r:id="rId9"/>
    <p:sldId id="875" r:id="rId10"/>
    <p:sldId id="863" r:id="rId11"/>
    <p:sldId id="864" r:id="rId12"/>
    <p:sldId id="866" r:id="rId13"/>
    <p:sldId id="868" r:id="rId14"/>
    <p:sldId id="867" r:id="rId15"/>
    <p:sldId id="869" r:id="rId16"/>
    <p:sldId id="870" r:id="rId17"/>
    <p:sldId id="873" r:id="rId18"/>
    <p:sldId id="914" r:id="rId19"/>
    <p:sldId id="919" r:id="rId20"/>
    <p:sldId id="872" r:id="rId21"/>
    <p:sldId id="877" r:id="rId22"/>
    <p:sldId id="876" r:id="rId23"/>
    <p:sldId id="898" r:id="rId24"/>
    <p:sldId id="915" r:id="rId25"/>
    <p:sldId id="878" r:id="rId26"/>
    <p:sldId id="889" r:id="rId27"/>
    <p:sldId id="890" r:id="rId28"/>
    <p:sldId id="891" r:id="rId29"/>
    <p:sldId id="871" r:id="rId30"/>
    <p:sldId id="883" r:id="rId31"/>
    <p:sldId id="880" r:id="rId32"/>
    <p:sldId id="892" r:id="rId33"/>
    <p:sldId id="913" r:id="rId34"/>
    <p:sldId id="923" r:id="rId35"/>
    <p:sldId id="912" r:id="rId36"/>
    <p:sldId id="893" r:id="rId37"/>
    <p:sldId id="894" r:id="rId38"/>
    <p:sldId id="895" r:id="rId39"/>
    <p:sldId id="884" r:id="rId40"/>
    <p:sldId id="882" r:id="rId41"/>
    <p:sldId id="886" r:id="rId42"/>
    <p:sldId id="896" r:id="rId43"/>
    <p:sldId id="916" r:id="rId44"/>
    <p:sldId id="879" r:id="rId45"/>
    <p:sldId id="885" r:id="rId46"/>
    <p:sldId id="899" r:id="rId47"/>
    <p:sldId id="900" r:id="rId48"/>
    <p:sldId id="901" r:id="rId49"/>
    <p:sldId id="897" r:id="rId50"/>
    <p:sldId id="902" r:id="rId51"/>
    <p:sldId id="903" r:id="rId52"/>
    <p:sldId id="888" r:id="rId53"/>
    <p:sldId id="921" r:id="rId54"/>
    <p:sldId id="922" r:id="rId55"/>
    <p:sldId id="904" r:id="rId56"/>
    <p:sldId id="924" r:id="rId57"/>
    <p:sldId id="906" r:id="rId58"/>
    <p:sldId id="925" r:id="rId59"/>
    <p:sldId id="905" r:id="rId60"/>
    <p:sldId id="917" r:id="rId61"/>
    <p:sldId id="908" r:id="rId62"/>
    <p:sldId id="907" r:id="rId63"/>
    <p:sldId id="918" r:id="rId64"/>
    <p:sldId id="881" r:id="rId65"/>
    <p:sldId id="910" r:id="rId66"/>
    <p:sldId id="909" r:id="rId67"/>
  </p:sldIdLst>
  <p:sldSz cx="12192000" cy="6858000"/>
  <p:notesSz cx="6858000" cy="9144000"/>
  <p:defaultTextStyle>
    <a:defPPr>
      <a:defRPr lang="el-G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3CDBB"/>
    <a:srgbClr val="60D69E"/>
    <a:srgbClr val="869391"/>
    <a:srgbClr val="F9853D"/>
    <a:srgbClr val="FDCBAD"/>
    <a:srgbClr val="FBAD7D"/>
    <a:srgbClr val="61649B"/>
    <a:srgbClr val="E49252"/>
    <a:srgbClr val="FFFFFF"/>
    <a:srgbClr val="2E359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3458" autoAdjust="0"/>
    <p:restoredTop sz="93969" autoAdjust="0"/>
  </p:normalViewPr>
  <p:slideViewPr>
    <p:cSldViewPr snapToGrid="0">
      <p:cViewPr varScale="1">
        <p:scale>
          <a:sx n="67" d="100"/>
          <a:sy n="67" d="100"/>
        </p:scale>
        <p:origin x="474" y="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71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slide" Target="slides/slide64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presProps" Target="presProp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tableStyles" Target="tableStyle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κεφαλίδας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l-GR"/>
          </a:p>
        </p:txBody>
      </p:sp>
      <p:sp>
        <p:nvSpPr>
          <p:cNvPr id="3" name="Θέση ημερομηνίας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120127-9FC1-4D44-BFF2-2F77E5433948}" type="datetimeFigureOut">
              <a:rPr lang="el-GR" smtClean="0"/>
              <a:t>14/10/2025</a:t>
            </a:fld>
            <a:endParaRPr lang="el-GR"/>
          </a:p>
        </p:txBody>
      </p:sp>
      <p:sp>
        <p:nvSpPr>
          <p:cNvPr id="4" name="Θέση εικόνας διαφάνειας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l-GR"/>
          </a:p>
        </p:txBody>
      </p:sp>
      <p:sp>
        <p:nvSpPr>
          <p:cNvPr id="5" name="Θέση σημειώσεων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l-GR"/>
              <a:t>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6" name="Θέση υποσέλιδου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l-GR"/>
          </a:p>
        </p:txBody>
      </p:sp>
      <p:sp>
        <p:nvSpPr>
          <p:cNvPr id="7" name="Θέση αριθμού διαφάνειας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D89646-4F35-49C2-BD28-89287C170EC3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5486651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1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389721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D5E02B-7508-585E-4F49-009EAA438C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C5B95EB3-1D7B-031E-2AA8-257488295E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2DB813BF-C23F-3E4D-900A-75A69D3778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EDDD72C6-8023-8803-518A-C93D5F36A9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2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0121066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27C587-13AD-0AC3-F832-2B41FDA71F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99C51617-DBCB-002E-028B-D92668ACA2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8A7D6180-706D-9B7B-F2F9-F0AF2D5F26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E7FB4202-9F8F-3E2F-0448-41544215AC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3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6984832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6CDE23-4703-0D09-F7FD-B53EBCD35F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44EA007E-0955-EB39-593C-63135B7BC6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7035F853-1C3C-9864-FAB8-3F5825FBFD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EEDBCB8F-1A44-2FD8-5F19-EF2AA7A251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4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1274034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C44010-604E-A9C4-08FF-6E8F43E3BC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018FE744-AF5F-2E73-FE34-DCBCE45D44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60A26F44-E2F0-0922-09ED-136D46DBF9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3B5A2B3D-D097-919C-65C8-DEBDF474B5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5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41643011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B7D6C0-6744-E048-7D5D-766BBD2607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D146BDAF-AC1A-8821-8957-E1CB40FBA4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6654778A-DA8A-BA25-F14A-F46F64ECE3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56C44D16-BD2B-B0DC-E520-935C737F6E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6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9225423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A726B0-082E-651B-AF66-139F391342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F356A280-F51F-B0BF-CE2E-5C846344F3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64D7B40C-954C-9CAE-6897-56DAA76D82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24170644-80C8-0BBB-916B-AF648082F7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7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0781733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61189E-A7D7-2CD9-AD19-8444EC7A06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67319EE3-388E-571F-DDA7-03BA731EC7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BDD87670-665C-4D42-3B7C-56686E432D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75117AFF-AADB-C4B4-2732-7B94D70618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8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4619118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6286C7-2978-ACB9-E2CB-642773DE85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B9534D45-CB48-2CBA-84A1-2BEE80ED03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14EE8613-BB4A-5B0C-60BF-1D92118E04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64BE88A7-F1A4-EA93-9055-CA31462BCB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9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290882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EDDF98-EB84-C9E4-5650-F3DA54944F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06D26449-5701-750F-E34B-3EFEA623FD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85050508-3E59-F367-32E6-6ED7BF0995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7F1A1213-794F-FEA9-B4B0-4CF673EE87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10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47222060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687A57-B0C7-B200-706E-DDB1E4472C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CD743549-C47B-34E6-1767-9ADFD5E0D3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03B6B421-F410-3137-9EF0-F2320581E6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4E7C95BC-578A-F555-32C2-600F7184E7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11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48033321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7F025F-421E-5092-612C-FC13BF646F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43BC4DFE-56CC-BF3C-A2AE-8388975021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17CC4815-2DA6-0027-21AC-76DB698DCC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0B12B033-DCD7-50CC-4F17-CB8D0A6570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12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6419192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9B73C3-E39B-B763-452E-B218221785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3DDB8706-0F5E-D2FE-1250-891B144CC8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DA8C1838-1BCB-6C5E-1F20-FE64E7DD32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8D81500A-BA60-0D95-C5F5-728EEE31BC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13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0588790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9604BA-2898-3E58-15AC-1F9A7E5178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59A45875-39CB-9D24-D26A-66C12FDE36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BD7AEC2D-CDAE-38B2-FBA4-53F01047EE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E5B68D1F-42C1-C456-CD30-C7D48A1DED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14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47397642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FE5167-5EC6-AACE-760E-D51C5785B4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750EC339-8B31-FF01-F03E-1B3347726E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53A10363-E8BE-79F3-FE98-F0E6A5F5E2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C18E3C95-B332-0153-2C2C-B191378841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15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11167720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2A4384-2F5C-CB6A-797D-E951DDF28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485B9F0A-9ABE-1958-C2B8-1913F19E5B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DF9191A9-861D-BA2B-129C-2410DA6597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2A27C898-039E-FDE0-5D5D-629E97C060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16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59844116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FA5E14-8C8B-9203-EE06-054B74C46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22E698F6-C8E6-E0CD-4628-A6A34C5107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114CF231-AC25-AC37-EF48-4B84912824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A88845FC-1C48-0AB1-A98A-BB4DE40306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17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41306636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CB0068-49E2-BDFE-8F13-AC8B737019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89E01FB6-FDF8-4414-7474-93A42AF674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42044F62-596C-CFE6-3B5E-51484CF850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D4B62D93-A0EC-22C3-6CC2-C55B049682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18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16033440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92957B-4E70-AD10-D97C-281826D189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092CED70-D355-C306-5BEC-C1240C096A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1728B652-320C-F86F-62BC-E2E4B58C85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8146B55C-C859-D943-F8A5-454807180D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19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6574370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D9BE2B-9729-CA27-24F5-1DC4E216E2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1F35C69C-4887-3214-69F5-B6CC4B3873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741401C3-AE01-93EF-31D1-0112BFB256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57EEE00E-4517-F0BE-211D-FA32C31565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20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95859554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BEC5FA-F9DC-AE00-3E00-12CC0FAFE2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465C57EF-07A1-0EDB-4F40-CE06B83CD7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80724947-8895-9B2C-9D5A-E0AA92DBFE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76AAEB65-BAEF-DAA3-D9B1-0D96308A48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21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27367313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CB36AB-D738-D02D-B854-7F7FBB6BFA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DC58A74A-81DF-0125-FF0B-7DC850B435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A7C2DB32-C88E-3897-02C2-ACEB3BDD1D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41E20AAE-1F57-AF67-5999-45B8B1946C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22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73721904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72E886-289B-1ED5-A58D-2E5BA0965A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A1D79202-B704-4B64-AC1E-88A5461E87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FDCB8D17-D010-21BD-FE9C-8E1D41B6A4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AF26BBE5-A1D3-AA6F-8F6C-1DE916D65E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23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05399958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1DA346-9CF0-0605-38CA-8AA7A5B4B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A2B220FD-D429-60C8-64E6-FD1BC562DA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DC440778-EF31-58DB-5B54-18C7CC2246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0AEE0AB3-3E50-9EBD-6614-8E658179E3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24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93983186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19B2C4-2570-03D7-7230-BC29055994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51D44B51-99DD-FCED-55EE-F3CB13A846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E54D2309-9F28-05E2-0272-6DCB6A9F01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2D2488E4-DDB4-5F34-E5AF-AEC481B077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25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07913983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66462D-2678-605B-FD99-B53AD1396F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BF9A69A5-AFBB-8117-7D30-389C65001A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EA5C0FFF-71B0-B2BF-6E5B-575BF04EF4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286AF159-CA1F-7D59-585A-2BB51513A5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26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26172618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CDF437-301C-DC89-43FE-4ACD34D05D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2710E248-11A7-4C7E-2850-3596D5E0EE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6EB4C4E8-25FF-E51E-9DA1-84CB2C7A77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159642E6-2E97-267C-D741-6A2A0D4390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27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419141434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F45479-066E-EF2E-8B25-FB9F9EE36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D65D2405-06F2-1B71-D19A-4022E57E11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462D0BA6-CBD9-512B-4E1F-A2715EAF12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179819DE-B0AE-A1B9-F6B4-1A1D205F71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28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96576458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BCF680-5636-15D3-05A9-7A1B1E33D6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80B8EC76-E7D7-4645-F116-79692753CC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39264FBC-5825-E7AC-B793-4CDE9DBF93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5B72E6F2-BB1A-2185-56E0-330DCC86EC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29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71827966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867689-229D-2771-A6F7-9F5D76B99A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2AA6483A-666C-7EFE-C9FA-063B0D63B4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4442E223-24C7-902C-8437-D7BA380348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7DC155E9-220F-A265-A971-01E21B6DB2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30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81882095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A898F8-9A00-65A3-8425-C67FF36D7E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2E5B62E8-6D97-D142-4A8E-39C4374B6A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94AE67C6-0BCC-7070-4FDC-CA0F266968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66A71772-1095-3F7A-7BA9-E483CCB7D2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31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91928507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21629B-8D4D-2F8C-7699-22020CCDCD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8B6E0E2E-6B08-2480-68AE-F1C8412381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14837346-3FF4-C1EB-B964-AD2B41B3E0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3F378441-3F73-3F31-42AA-E59CC4E081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32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70900884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E45CF-A0F6-52DB-97DF-2AD7A21C3E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42809379-BAC7-9CB9-BECA-B97A8401D4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CAFA74C9-C75A-27F4-D91C-BC01F3E6FF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B74D89CF-AF0F-A160-7458-E4344CB9FE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33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58731817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4C643B-455B-5B8F-66C7-1EBAC9734F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3BAF3BF5-0A0A-3393-7580-9D1C1D09C9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DACAA68A-7362-3DD5-05C1-5DE7856750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133F0F4D-3527-A638-9768-57773FCC99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34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56017367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E51B3E-A463-B321-688F-CB303712FE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3293C176-8712-D13B-BD46-1BA42905F9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31C565AB-2D5D-E945-D740-DBBA2F6146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A23EBED7-4DE5-C541-D017-64F3F83883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35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51581490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E09F70-462C-4F21-9488-0F26E46297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E80DFEAB-8CAF-540C-6CC7-57F41081BC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18196D71-DB8A-D445-27BC-E92F9CAB3C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FC61E4D7-70D3-A526-13A8-2628D2E426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36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85434701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91CEBB-FA23-7891-B8C8-D72D35604A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71EF18D6-FAF6-3671-6A81-90C057F377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0BE2B3B6-49C9-B51A-4FAE-07ED37F73E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D2F30DF4-4B93-5C67-29F9-EACFFAEBA2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37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32852101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A98023-13E3-DFA2-83BD-4DD2FFD85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A182E4A9-1042-EF91-6657-49B332F1E6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59E7E79C-39C4-E753-211E-106B7F6BE8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FB53F8DB-4E21-13A8-EB4D-06C454DB78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38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32531155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C91956-1BE4-82A3-1A52-B856665938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C84ABD67-0123-C477-8BF9-F18ED8FABF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B5C4816A-9C3F-0EA3-6B8D-41AF3B9120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271B2CC0-7E85-A7D2-DAB5-155EAB6572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39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64994418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A592A8-9AC1-E43A-2B6B-5C33844209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73FBC11B-DB7A-0BA8-7F3D-81DC30EB8A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A504657E-AF7D-6101-58C3-31C0E289E6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1B1B72CE-22C6-3EC4-A5EC-E9B0528D14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40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70883167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2F7865-CCF1-EB24-E4F3-5D7B0EF4A8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8BFCAFB5-1CA8-466C-E6A4-CBF887F208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39A5DF13-48E8-935B-040B-826787B93C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F9112CBE-2AF0-D126-4078-DA8BB36043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41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05124620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DA0DF4-F5BF-CBDB-A41E-77823972E7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0CE3DECC-E6D4-5450-216D-7A3B7B8CF2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17C88A6B-0CC9-B020-E1A9-48C24A4785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798B1FBE-EEDA-0D20-9151-2AAD5D21BF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42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4236388803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B05853-B395-1DFE-9115-9EA66EABE5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F469D7DA-1C17-A389-B627-3392EE023B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AAD42DCB-E1B0-F3D0-8BAD-E3E6E7D928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AC8A4152-374B-D09A-B860-8299DFBFD5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43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236780235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EFEAA0-A888-1673-5E90-DA65C2CCE8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2F3A104B-2EE9-59ED-9F28-45C93CCE40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7B5A98D0-BE85-AE4F-8CA3-9891CEE389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E55361C0-06E6-38ED-324C-B2BA9DAE6E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44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778613113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85919B-5E89-3F83-79E7-5E6BBD32C3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A25B7781-A3E7-99E8-9E82-26AE49C0D3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66E1A278-08B8-486F-517B-E7B3D7FA67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4B8A6620-A8B4-B711-226C-50BD3822B0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45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222340592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F7FADB-E45A-981C-DC24-96BD8A845A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CCFF1923-FA6A-E599-D3EC-929110C2E1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325687F5-8844-DAD6-6873-BBFD4905AA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9897979B-8A2D-4B04-657F-E8D2AF05E2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46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897139525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CF0EE4-332B-DDD4-5A6A-3403982744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EE316D0A-D1D7-530C-9F2C-6500DCE0F7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60C8FBF0-E609-CFCB-F512-AAF35F3DA4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4D5C8D9C-3469-CEB4-DDF9-C0E639D106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47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959467659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72E61F-C089-8509-60F9-A84C447E51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9FA19584-D67C-3C25-B8A6-9D7C6B7BB4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CE0AC341-9160-709A-64C2-5FE555BAB6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222B0823-F53C-5742-641D-34ACCADD15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48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52949635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D4044E-54FE-E6F1-A984-0A12658416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DA56244D-7580-3F49-AAAB-15EE1F7F70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C0FD2AED-1BE1-75CB-68D0-A963D6DF52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AAC61A3B-FED4-59E0-7E65-7DF23731F2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49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591020785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F1F8A8-F387-F0E9-E343-00BC92C5EB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22632E80-7E8F-3056-C3FC-15EC7D5DC8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41A75381-D99F-E623-D794-7728833096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885AB9AB-B2BB-91B7-0C5E-3A9477BE54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50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010887039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28F954-4267-6734-23B0-C761D530F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054689C2-2475-CDF1-BDF3-E483EFF2F0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8FEABBF2-422E-B0FA-475C-72D793A390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A8238674-3BEE-8ED8-2A27-7B4F2CC22C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51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142819164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D01F1D-D03F-F8A4-CAEC-F0F3443695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5A620024-6268-B138-5C3D-37771D8DC6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6A77D3EB-5CDD-B55C-AED7-AB2057D0BB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AF380D70-F824-54F2-1074-6DC51AE31A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52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4282484612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DDBBF7-706B-98BF-0A46-09CFFFA8E8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2D2AD7C5-C386-5E1A-FA4F-70A08B08B8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4AF64FD6-E224-D158-E95F-8DDEA1DF68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F2638332-50AA-084F-A3C2-CFFE75532D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53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208718085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741DE3-476F-4EA8-CB6E-B0275B318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E1C9471A-EB1B-13CE-B524-FB52AE76B7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E86F9283-D35C-D723-AF1F-930A673A40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81A68274-F0EA-A7E1-7B92-3029F355F0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54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094538667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FC37A6-035A-21D1-B16A-369F291E7E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4531E6E0-BA02-A8FB-8765-65B03D84C4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37C4F244-EDF4-2105-01C2-E639B734A4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FAA220C1-5353-081E-AE12-713BF330CE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55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217897272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A6A427-DA29-B18A-D11A-02AF5EE172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726032B7-8750-85FF-6650-E99646F3F6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113622DB-1D25-0129-2C3B-A62CAD0AED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A582FC33-AACE-0027-5E34-7061973234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56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359782849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1F06F8-3BEB-B9F6-3E7B-A076D6F88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D0AAD63F-CB91-CE08-4E50-BF5CE9DAF6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696F8A56-36EF-F8B3-0E40-895E47A19D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B73F70FC-5C76-800B-BEF5-BC96199D32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57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929865717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C8083-55B5-50A0-8DEB-7C50EAC66E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35D383B4-AEB7-7030-2B74-9CE3EF54ED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8C2DB3C3-36AD-873F-44D8-75F93775DE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5D82C169-FFC4-2AB1-7F08-FB0D01DBCE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58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572555848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D51B1A-CD67-64B3-EEE2-BABA1241B9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84FB5624-D15A-E9C9-E8F2-F6F9BAC45B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3416F6A1-0616-DB39-49B8-0B77CBC873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974D5E9A-D4C3-7CFA-DF9A-F8D8EDE9FD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59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051153624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156E53-74FE-A5DF-593B-A01EE369B6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2CA86797-B4DA-8FB1-B70C-552AFCA783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9B8852AF-C321-4F13-DCA8-416EC1303D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F76F6519-5292-687B-5340-839FF3EBF5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60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897104853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8E6AAD-6AF1-8F80-26D1-546B0BA4FF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F3DC6598-CE87-8AA7-037F-98B707DA64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7CB7F468-D4BF-03EA-9A3F-E41BA9CE34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01F7922F-8B3B-76FB-0B88-53235FDDA6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61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4084697032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31E341-9228-72DA-A64D-02F9B75F2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DB35B49E-DA3D-826E-1ACE-F6A911D6F9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266DBD39-1C93-4F70-A0B5-FA5102FE31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BF349031-C1C9-56D8-93C4-844FE425BB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62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066326706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4147DA-730C-9069-B9A6-88453DED5F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711B92DA-90AD-1C88-E506-D54F4C9DF2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D92FD91A-809A-E95F-398A-31599B83DA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86FE6DA1-910E-8A5F-2ED7-22903F31E7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63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044489639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818BE8-F1D5-7919-7FCD-E7FC41191E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04D3D4F5-C7BB-F174-F072-B5A7A70280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1D33E7C1-E47B-7898-44E0-BEC7C23538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CF181B5F-E64E-0B34-2207-18DEEC54A4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64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4144674559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EF7A1B-609D-683C-830A-C33909E8BA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CC06934E-478B-5221-CA6C-4CBCCD4E59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4CF04FAC-6582-75D5-F9AC-77EBD409CD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FC7EB828-8971-4814-6FCA-3D787510AE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65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0177493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Διαφάνεια τίτλο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1720F0C6-20AC-41EB-97A9-F4D49B814E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Υπότιτλος 2">
            <a:extLst>
              <a:ext uri="{FF2B5EF4-FFF2-40B4-BE49-F238E27FC236}">
                <a16:creationId xmlns:a16="http://schemas.microsoft.com/office/drawing/2014/main" id="{E32E3D7A-E6B7-4F3B-A3A4-4325517390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l-GR"/>
              <a:t>Κάντε κλικ για να επεξεργαστείτε τον υπότιτλο του υποδείγματος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5913F9FC-9EB9-4B41-B003-FC4C036B1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47DEE-5753-44EA-A073-053903F4D65C}" type="datetimeFigureOut">
              <a:rPr lang="el-GR" smtClean="0"/>
              <a:t>14/10/2025</a:t>
            </a:fld>
            <a:endParaRPr lang="el-GR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3FB8E113-6156-4872-81CC-442E8373B3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76173B9A-A0EA-47D7-8D18-B6E2BD95D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9922711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Τίτλος και περιεχό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AFF7B4CC-9312-4102-9C7A-DD5776C36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59207E59-B014-409F-8E39-F07CF6FA45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l-GR"/>
              <a:t>Επεξεργασία 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D28C698E-FDE3-406F-AEF7-58C354D6F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47DEE-5753-44EA-A073-053903F4D65C}" type="datetimeFigureOut">
              <a:rPr lang="el-GR" smtClean="0"/>
              <a:t>14/10/2025</a:t>
            </a:fld>
            <a:endParaRPr lang="el-GR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1DBB6EE0-1F7E-4C3D-8524-627F4FAB7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115A0C17-4537-4F4D-B727-1C89BF11B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2021505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Κεφαλίδα ενότητα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0FAD7298-5AF8-4835-97EB-C16ED6D23C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κειμένου 2">
            <a:extLst>
              <a:ext uri="{FF2B5EF4-FFF2-40B4-BE49-F238E27FC236}">
                <a16:creationId xmlns:a16="http://schemas.microsoft.com/office/drawing/2014/main" id="{3D2EC4FE-ACD0-4F71-A34B-36ED905061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l-GR"/>
              <a:t>Επεξεργασία στυλ υποδείγματος κειμένου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0525369C-E8DA-4A41-A021-C2AFFA6BA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47DEE-5753-44EA-A073-053903F4D65C}" type="datetimeFigureOut">
              <a:rPr lang="el-GR" smtClean="0"/>
              <a:t>14/10/2025</a:t>
            </a:fld>
            <a:endParaRPr lang="el-GR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09E6631D-4B2B-42B6-B88C-990FA7605C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54B4A319-5C9B-46DF-96B8-F30BC39F7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941774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Δύο περιεχόμεν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8DD86A31-D5EC-46FA-A235-F151422FA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052F68FD-8072-4020-B6C4-C8DEF5ACC9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l-GR"/>
              <a:t>Επεξεργασία 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4" name="Θέση περιεχομένου 3">
            <a:extLst>
              <a:ext uri="{FF2B5EF4-FFF2-40B4-BE49-F238E27FC236}">
                <a16:creationId xmlns:a16="http://schemas.microsoft.com/office/drawing/2014/main" id="{CB43AF00-F0E0-4F57-8814-5AB4B0C031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l-GR"/>
              <a:t>Επεξεργασία 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5" name="Θέση ημερομηνίας 4">
            <a:extLst>
              <a:ext uri="{FF2B5EF4-FFF2-40B4-BE49-F238E27FC236}">
                <a16:creationId xmlns:a16="http://schemas.microsoft.com/office/drawing/2014/main" id="{89D9695B-1677-4255-A36B-ADA53963E2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47DEE-5753-44EA-A073-053903F4D65C}" type="datetimeFigureOut">
              <a:rPr lang="el-GR" smtClean="0"/>
              <a:t>14/10/2025</a:t>
            </a:fld>
            <a:endParaRPr lang="el-GR"/>
          </a:p>
        </p:txBody>
      </p:sp>
      <p:sp>
        <p:nvSpPr>
          <p:cNvPr id="6" name="Θέση υποσέλιδου 5">
            <a:extLst>
              <a:ext uri="{FF2B5EF4-FFF2-40B4-BE49-F238E27FC236}">
                <a16:creationId xmlns:a16="http://schemas.microsoft.com/office/drawing/2014/main" id="{32F05351-67C2-46C6-A91C-414650F2C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Θέση αριθμού διαφάνειας 6">
            <a:extLst>
              <a:ext uri="{FF2B5EF4-FFF2-40B4-BE49-F238E27FC236}">
                <a16:creationId xmlns:a16="http://schemas.microsoft.com/office/drawing/2014/main" id="{7D2959A3-E6A4-4BB0-BE95-F23CF5F56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298740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Σύγκρισ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41550276-9848-4578-8364-691220AD21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κειμένου 2">
            <a:extLst>
              <a:ext uri="{FF2B5EF4-FFF2-40B4-BE49-F238E27FC236}">
                <a16:creationId xmlns:a16="http://schemas.microsoft.com/office/drawing/2014/main" id="{11C9CFA5-81EF-4418-9CE2-C9EB8CE5F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Επεξεργασία στυλ υποδείγματος κειμένου</a:t>
            </a:r>
          </a:p>
        </p:txBody>
      </p:sp>
      <p:sp>
        <p:nvSpPr>
          <p:cNvPr id="4" name="Θέση περιεχομένου 3">
            <a:extLst>
              <a:ext uri="{FF2B5EF4-FFF2-40B4-BE49-F238E27FC236}">
                <a16:creationId xmlns:a16="http://schemas.microsoft.com/office/drawing/2014/main" id="{8144BA92-B3F1-426D-9721-D505666C52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l-GR"/>
              <a:t>Επεξεργασία 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5" name="Θέση κειμένου 4">
            <a:extLst>
              <a:ext uri="{FF2B5EF4-FFF2-40B4-BE49-F238E27FC236}">
                <a16:creationId xmlns:a16="http://schemas.microsoft.com/office/drawing/2014/main" id="{34964523-2FE6-420B-BF7F-3ED5906588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Επεξεργασία στυλ υποδείγματος κειμένου</a:t>
            </a:r>
          </a:p>
        </p:txBody>
      </p:sp>
      <p:sp>
        <p:nvSpPr>
          <p:cNvPr id="6" name="Θέση περιεχομένου 5">
            <a:extLst>
              <a:ext uri="{FF2B5EF4-FFF2-40B4-BE49-F238E27FC236}">
                <a16:creationId xmlns:a16="http://schemas.microsoft.com/office/drawing/2014/main" id="{4EE8D821-AC0B-4F1C-AC1B-68CAEA6E8C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l-GR"/>
              <a:t>Επεξεργασία 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7" name="Θέση ημερομηνίας 6">
            <a:extLst>
              <a:ext uri="{FF2B5EF4-FFF2-40B4-BE49-F238E27FC236}">
                <a16:creationId xmlns:a16="http://schemas.microsoft.com/office/drawing/2014/main" id="{0836FDB2-AE28-437A-B450-FC5FA09706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47DEE-5753-44EA-A073-053903F4D65C}" type="datetimeFigureOut">
              <a:rPr lang="el-GR" smtClean="0"/>
              <a:t>14/10/2025</a:t>
            </a:fld>
            <a:endParaRPr lang="el-GR"/>
          </a:p>
        </p:txBody>
      </p:sp>
      <p:sp>
        <p:nvSpPr>
          <p:cNvPr id="8" name="Θέση υποσέλιδου 7">
            <a:extLst>
              <a:ext uri="{FF2B5EF4-FFF2-40B4-BE49-F238E27FC236}">
                <a16:creationId xmlns:a16="http://schemas.microsoft.com/office/drawing/2014/main" id="{3CC56F37-5360-4ED6-9EFB-B4959D6A05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9" name="Θέση αριθμού διαφάνειας 8">
            <a:extLst>
              <a:ext uri="{FF2B5EF4-FFF2-40B4-BE49-F238E27FC236}">
                <a16:creationId xmlns:a16="http://schemas.microsoft.com/office/drawing/2014/main" id="{8423FDBB-6E0A-4AD0-AD73-FB22040EE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885239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Μόνο τίτλο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12BE337C-659B-44A0-815E-1CE7F2FDB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ημερομηνίας 2">
            <a:extLst>
              <a:ext uri="{FF2B5EF4-FFF2-40B4-BE49-F238E27FC236}">
                <a16:creationId xmlns:a16="http://schemas.microsoft.com/office/drawing/2014/main" id="{59D7B6A3-3626-4AD7-97D4-F6210A237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47DEE-5753-44EA-A073-053903F4D65C}" type="datetimeFigureOut">
              <a:rPr lang="el-GR" smtClean="0"/>
              <a:t>14/10/2025</a:t>
            </a:fld>
            <a:endParaRPr lang="el-GR"/>
          </a:p>
        </p:txBody>
      </p:sp>
      <p:sp>
        <p:nvSpPr>
          <p:cNvPr id="4" name="Θέση υποσέλιδου 3">
            <a:extLst>
              <a:ext uri="{FF2B5EF4-FFF2-40B4-BE49-F238E27FC236}">
                <a16:creationId xmlns:a16="http://schemas.microsoft.com/office/drawing/2014/main" id="{D50B290B-CDC6-4F07-927A-EB7F796E2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5" name="Θέση αριθμού διαφάνειας 4">
            <a:extLst>
              <a:ext uri="{FF2B5EF4-FFF2-40B4-BE49-F238E27FC236}">
                <a16:creationId xmlns:a16="http://schemas.microsoft.com/office/drawing/2014/main" id="{5AD0E512-8E7A-4A77-8496-D36864CFC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224460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Κεν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ημερομηνίας 1">
            <a:extLst>
              <a:ext uri="{FF2B5EF4-FFF2-40B4-BE49-F238E27FC236}">
                <a16:creationId xmlns:a16="http://schemas.microsoft.com/office/drawing/2014/main" id="{05F803E6-97F1-4D9B-A18A-566A4A16D1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47DEE-5753-44EA-A073-053903F4D65C}" type="datetimeFigureOut">
              <a:rPr lang="el-GR" smtClean="0"/>
              <a:t>14/10/2025</a:t>
            </a:fld>
            <a:endParaRPr lang="el-GR"/>
          </a:p>
        </p:txBody>
      </p:sp>
      <p:sp>
        <p:nvSpPr>
          <p:cNvPr id="3" name="Θέση υποσέλιδου 2">
            <a:extLst>
              <a:ext uri="{FF2B5EF4-FFF2-40B4-BE49-F238E27FC236}">
                <a16:creationId xmlns:a16="http://schemas.microsoft.com/office/drawing/2014/main" id="{D16003C0-6EB6-4C9B-A531-7B4E3CE4C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2EA301AA-05AA-466A-BB11-E4CEB6F9F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706581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Περιεχόμενο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FEAAEFBB-DCF4-46CF-9FC6-8D65BCEB9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DFACB05B-E524-44F7-BF66-694B0E3338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l-GR"/>
              <a:t>Επεξεργασία 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4" name="Θέση κειμένου 3">
            <a:extLst>
              <a:ext uri="{FF2B5EF4-FFF2-40B4-BE49-F238E27FC236}">
                <a16:creationId xmlns:a16="http://schemas.microsoft.com/office/drawing/2014/main" id="{5473C60C-80C9-4542-852E-B22F6BA607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l-GR"/>
              <a:t>Επεξεργασία στυλ υποδείγματος κειμένου</a:t>
            </a:r>
          </a:p>
        </p:txBody>
      </p:sp>
      <p:sp>
        <p:nvSpPr>
          <p:cNvPr id="5" name="Θέση ημερομηνίας 4">
            <a:extLst>
              <a:ext uri="{FF2B5EF4-FFF2-40B4-BE49-F238E27FC236}">
                <a16:creationId xmlns:a16="http://schemas.microsoft.com/office/drawing/2014/main" id="{5209058B-2FCA-4D37-A928-B77A09F78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47DEE-5753-44EA-A073-053903F4D65C}" type="datetimeFigureOut">
              <a:rPr lang="el-GR" smtClean="0"/>
              <a:t>14/10/2025</a:t>
            </a:fld>
            <a:endParaRPr lang="el-GR"/>
          </a:p>
        </p:txBody>
      </p:sp>
      <p:sp>
        <p:nvSpPr>
          <p:cNvPr id="6" name="Θέση υποσέλιδου 5">
            <a:extLst>
              <a:ext uri="{FF2B5EF4-FFF2-40B4-BE49-F238E27FC236}">
                <a16:creationId xmlns:a16="http://schemas.microsoft.com/office/drawing/2014/main" id="{2F8D9052-7B1B-4DEA-BE59-76E1CA206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Θέση αριθμού διαφάνειας 6">
            <a:extLst>
              <a:ext uri="{FF2B5EF4-FFF2-40B4-BE49-F238E27FC236}">
                <a16:creationId xmlns:a16="http://schemas.microsoft.com/office/drawing/2014/main" id="{7F7BFCBB-BB2D-41CB-8EF4-1D6154D05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546440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Εικόνα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7AA72A12-B4CE-41C0-824E-4DB22C0C5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εικόνας 2">
            <a:extLst>
              <a:ext uri="{FF2B5EF4-FFF2-40B4-BE49-F238E27FC236}">
                <a16:creationId xmlns:a16="http://schemas.microsoft.com/office/drawing/2014/main" id="{4331ABF6-AF41-4DA6-82BC-340BA63822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l-GR"/>
          </a:p>
        </p:txBody>
      </p:sp>
      <p:sp>
        <p:nvSpPr>
          <p:cNvPr id="4" name="Θέση κειμένου 3">
            <a:extLst>
              <a:ext uri="{FF2B5EF4-FFF2-40B4-BE49-F238E27FC236}">
                <a16:creationId xmlns:a16="http://schemas.microsoft.com/office/drawing/2014/main" id="{D4AD854A-F202-4241-AFA5-8F8D5175F3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l-GR"/>
              <a:t>Επεξεργασία στυλ υποδείγματος κειμένου</a:t>
            </a:r>
          </a:p>
        </p:txBody>
      </p:sp>
      <p:sp>
        <p:nvSpPr>
          <p:cNvPr id="5" name="Θέση ημερομηνίας 4">
            <a:extLst>
              <a:ext uri="{FF2B5EF4-FFF2-40B4-BE49-F238E27FC236}">
                <a16:creationId xmlns:a16="http://schemas.microsoft.com/office/drawing/2014/main" id="{D2D25601-E5C6-4DAA-A438-750D7B0C43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47DEE-5753-44EA-A073-053903F4D65C}" type="datetimeFigureOut">
              <a:rPr lang="el-GR" smtClean="0"/>
              <a:t>14/10/2025</a:t>
            </a:fld>
            <a:endParaRPr lang="el-GR"/>
          </a:p>
        </p:txBody>
      </p:sp>
      <p:sp>
        <p:nvSpPr>
          <p:cNvPr id="6" name="Θέση υποσέλιδου 5">
            <a:extLst>
              <a:ext uri="{FF2B5EF4-FFF2-40B4-BE49-F238E27FC236}">
                <a16:creationId xmlns:a16="http://schemas.microsoft.com/office/drawing/2014/main" id="{C1A411BF-7CE1-4136-85D0-CEA759EB3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Θέση αριθμού διαφάνειας 6">
            <a:extLst>
              <a:ext uri="{FF2B5EF4-FFF2-40B4-BE49-F238E27FC236}">
                <a16:creationId xmlns:a16="http://schemas.microsoft.com/office/drawing/2014/main" id="{EBD64BFB-00A3-49A7-B9AF-C93C938A5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068634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Τίτλος και Κατακόρυφο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7CBF383B-9D9C-4567-A73F-3964FF66D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κατακόρυφου κειμένου 2">
            <a:extLst>
              <a:ext uri="{FF2B5EF4-FFF2-40B4-BE49-F238E27FC236}">
                <a16:creationId xmlns:a16="http://schemas.microsoft.com/office/drawing/2014/main" id="{42568873-5978-4A13-BA12-F77F173EB2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l-GR"/>
              <a:t>Επεξεργασία 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788EFFCE-A34B-4F95-B3D5-603927E169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47DEE-5753-44EA-A073-053903F4D65C}" type="datetimeFigureOut">
              <a:rPr lang="el-GR" smtClean="0"/>
              <a:t>14/10/2025</a:t>
            </a:fld>
            <a:endParaRPr lang="el-GR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1BE576DF-BE6C-4DE7-BDD8-60E8F026D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74B323CB-AAB1-4C9E-AE28-C6179CB9C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99656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Κατακόρυφος τίτλος και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Κατακόρυφος τίτλος 1">
            <a:extLst>
              <a:ext uri="{FF2B5EF4-FFF2-40B4-BE49-F238E27FC236}">
                <a16:creationId xmlns:a16="http://schemas.microsoft.com/office/drawing/2014/main" id="{E176F3CB-2A60-46CD-8CF9-DD053E08C8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κατακόρυφου κειμένου 2">
            <a:extLst>
              <a:ext uri="{FF2B5EF4-FFF2-40B4-BE49-F238E27FC236}">
                <a16:creationId xmlns:a16="http://schemas.microsoft.com/office/drawing/2014/main" id="{62F4BEC8-6DEB-41E5-B12D-18B14C6B0A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l-GR"/>
              <a:t>Επεξεργασία 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CC7DD041-7F64-4984-A13C-EE7907028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47DEE-5753-44EA-A073-053903F4D65C}" type="datetimeFigureOut">
              <a:rPr lang="el-GR" smtClean="0"/>
              <a:t>14/10/2025</a:t>
            </a:fld>
            <a:endParaRPr lang="el-GR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6502BD5F-24B7-4FDD-BD59-39295F573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4E0B5687-7B67-47CF-995B-36EF0D417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997139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Διαφάνεια τίτλο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l-GR"/>
              <a:t>Στυλ κύριου τίτλου</a:t>
            </a:r>
          </a:p>
        </p:txBody>
      </p:sp>
      <p:sp>
        <p:nvSpPr>
          <p:cNvPr id="3" name="Υπότιτλος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l-GR"/>
              <a:t>Στυλ κύριου υπότιτλου</a:t>
            </a:r>
          </a:p>
        </p:txBody>
      </p:sp>
      <p:sp>
        <p:nvSpPr>
          <p:cNvPr id="4" name="Θέση ημερομηνίας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8F2E9-5724-40D7-A084-8A9A9CED4F62}" type="datetimeFigureOut">
              <a:rPr lang="el-GR" smtClean="0"/>
              <a:t>14/10/2025</a:t>
            </a:fld>
            <a:endParaRPr lang="el-GR"/>
          </a:p>
        </p:txBody>
      </p:sp>
      <p:sp>
        <p:nvSpPr>
          <p:cNvPr id="5" name="Θέση υποσέλιδου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8B04-D0CA-4D92-8779-0291FECC15E7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424216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Τίτλος και περιεχό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Στυλ κύριου τίτλου</a:t>
            </a:r>
          </a:p>
        </p:txBody>
      </p:sp>
      <p:sp>
        <p:nvSpPr>
          <p:cNvPr id="3" name="Θέση περιεχομένου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l-GR"/>
              <a:t>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4" name="Θέση ημερομηνίας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8F2E9-5724-40D7-A084-8A9A9CED4F62}" type="datetimeFigureOut">
              <a:rPr lang="el-GR" smtClean="0"/>
              <a:t>14/10/2025</a:t>
            </a:fld>
            <a:endParaRPr lang="el-GR"/>
          </a:p>
        </p:txBody>
      </p:sp>
      <p:sp>
        <p:nvSpPr>
          <p:cNvPr id="5" name="Θέση υποσέλιδου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8B04-D0CA-4D92-8779-0291FECC15E7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410095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Κεφαλίδα ενότητα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l-GR"/>
              <a:t>Στυλ κύριου τίτλου</a:t>
            </a:r>
          </a:p>
        </p:txBody>
      </p:sp>
      <p:sp>
        <p:nvSpPr>
          <p:cNvPr id="3" name="Θέση κειμένου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l-GR"/>
              <a:t>Στυλ υποδείγματος κειμένου</a:t>
            </a:r>
          </a:p>
        </p:txBody>
      </p:sp>
      <p:sp>
        <p:nvSpPr>
          <p:cNvPr id="4" name="Θέση ημερομηνίας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8F2E9-5724-40D7-A084-8A9A9CED4F62}" type="datetimeFigureOut">
              <a:rPr lang="el-GR" smtClean="0"/>
              <a:t>14/10/2025</a:t>
            </a:fld>
            <a:endParaRPr lang="el-GR"/>
          </a:p>
        </p:txBody>
      </p:sp>
      <p:sp>
        <p:nvSpPr>
          <p:cNvPr id="5" name="Θέση υποσέλιδου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8B04-D0CA-4D92-8779-0291FECC15E7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52586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Δύο περιεχόμεν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Στυλ κύριου τίτλου</a:t>
            </a:r>
          </a:p>
        </p:txBody>
      </p:sp>
      <p:sp>
        <p:nvSpPr>
          <p:cNvPr id="3" name="Θέση περιεχομένου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l-GR"/>
              <a:t>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4" name="Θέση περιεχομένου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l-GR"/>
              <a:t>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5" name="Θέση ημερομηνίας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8F2E9-5724-40D7-A084-8A9A9CED4F62}" type="datetimeFigureOut">
              <a:rPr lang="el-GR" smtClean="0"/>
              <a:t>14/10/2025</a:t>
            </a:fld>
            <a:endParaRPr lang="el-GR"/>
          </a:p>
        </p:txBody>
      </p:sp>
      <p:sp>
        <p:nvSpPr>
          <p:cNvPr id="6" name="Θέση υποσέλιδου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Θέση αριθμού διαφάνειας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8B04-D0CA-4D92-8779-0291FECC15E7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41437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Σύγκρισ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l-GR"/>
              <a:t>Στυλ κύριου τίτλου</a:t>
            </a:r>
          </a:p>
        </p:txBody>
      </p:sp>
      <p:sp>
        <p:nvSpPr>
          <p:cNvPr id="3" name="Θέση κειμένου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Στυλ υποδείγματος κειμένου</a:t>
            </a:r>
          </a:p>
        </p:txBody>
      </p:sp>
      <p:sp>
        <p:nvSpPr>
          <p:cNvPr id="4" name="Θέση περιεχομένου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l-GR"/>
              <a:t>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5" name="Θέση κειμένου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Στυλ υποδείγματος κειμένου</a:t>
            </a:r>
          </a:p>
        </p:txBody>
      </p:sp>
      <p:sp>
        <p:nvSpPr>
          <p:cNvPr id="6" name="Θέση περιεχομένου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l-GR"/>
              <a:t>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7" name="Θέση ημερομηνίας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8F2E9-5724-40D7-A084-8A9A9CED4F62}" type="datetimeFigureOut">
              <a:rPr lang="el-GR" smtClean="0"/>
              <a:t>14/10/2025</a:t>
            </a:fld>
            <a:endParaRPr lang="el-GR"/>
          </a:p>
        </p:txBody>
      </p:sp>
      <p:sp>
        <p:nvSpPr>
          <p:cNvPr id="8" name="Θέση υποσέλιδου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9" name="Θέση αριθμού διαφάνειας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8B04-D0CA-4D92-8779-0291FECC15E7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26135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Μόνο τίτλο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Στυλ κύριου τίτλου</a:t>
            </a:r>
          </a:p>
        </p:txBody>
      </p:sp>
      <p:sp>
        <p:nvSpPr>
          <p:cNvPr id="3" name="Θέση ημερομηνίας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8F2E9-5724-40D7-A084-8A9A9CED4F62}" type="datetimeFigureOut">
              <a:rPr lang="el-GR" smtClean="0"/>
              <a:t>14/10/2025</a:t>
            </a:fld>
            <a:endParaRPr lang="el-GR"/>
          </a:p>
        </p:txBody>
      </p:sp>
      <p:sp>
        <p:nvSpPr>
          <p:cNvPr id="4" name="Θέση υποσέλιδου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5" name="Θέση αριθμού διαφάνειας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8B04-D0CA-4D92-8779-0291FECC15E7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127422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Κεν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ημερομηνίας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47DEE-5753-44EA-A073-053903F4D65C}" type="datetimeFigureOut">
              <a:rPr lang="el-GR" smtClean="0"/>
              <a:t>14/10/2025</a:t>
            </a:fld>
            <a:endParaRPr lang="el-GR"/>
          </a:p>
        </p:txBody>
      </p:sp>
      <p:sp>
        <p:nvSpPr>
          <p:cNvPr id="3" name="Θέση υποσέλιδου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55293900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Περιεχόμενο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l-GR"/>
              <a:t>Στυλ κύριου τίτλου</a:t>
            </a:r>
          </a:p>
        </p:txBody>
      </p:sp>
      <p:sp>
        <p:nvSpPr>
          <p:cNvPr id="3" name="Θέση περιεχομένου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l-GR"/>
              <a:t>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4" name="Θέση κειμένου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l-GR"/>
              <a:t>Στυλ υποδείγματος κειμένου</a:t>
            </a:r>
          </a:p>
        </p:txBody>
      </p:sp>
      <p:sp>
        <p:nvSpPr>
          <p:cNvPr id="5" name="Θέση ημερομηνίας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8F2E9-5724-40D7-A084-8A9A9CED4F62}" type="datetimeFigureOut">
              <a:rPr lang="el-GR" smtClean="0"/>
              <a:t>14/10/2025</a:t>
            </a:fld>
            <a:endParaRPr lang="el-GR"/>
          </a:p>
        </p:txBody>
      </p:sp>
      <p:sp>
        <p:nvSpPr>
          <p:cNvPr id="6" name="Θέση υποσέλιδου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Θέση αριθμού διαφάνειας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8B04-D0CA-4D92-8779-0291FECC15E7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4076569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Εικόνα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l-GR"/>
              <a:t>Στυλ κύριου τίτλου</a:t>
            </a:r>
          </a:p>
        </p:txBody>
      </p:sp>
      <p:sp>
        <p:nvSpPr>
          <p:cNvPr id="3" name="Θέση εικόνας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l-GR"/>
          </a:p>
        </p:txBody>
      </p:sp>
      <p:sp>
        <p:nvSpPr>
          <p:cNvPr id="4" name="Θέση κειμένου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l-GR"/>
              <a:t>Στυλ υποδείγματος κειμένου</a:t>
            </a:r>
          </a:p>
        </p:txBody>
      </p:sp>
      <p:sp>
        <p:nvSpPr>
          <p:cNvPr id="5" name="Θέση ημερομηνίας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8F2E9-5724-40D7-A084-8A9A9CED4F62}" type="datetimeFigureOut">
              <a:rPr lang="el-GR" smtClean="0"/>
              <a:t>14/10/2025</a:t>
            </a:fld>
            <a:endParaRPr lang="el-GR"/>
          </a:p>
        </p:txBody>
      </p:sp>
      <p:sp>
        <p:nvSpPr>
          <p:cNvPr id="6" name="Θέση υποσέλιδου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Θέση αριθμού διαφάνειας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8B04-D0CA-4D92-8779-0291FECC15E7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457923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Τίτλος και Κατακόρυφο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Στυλ κύριου τίτλου</a:t>
            </a:r>
          </a:p>
        </p:txBody>
      </p:sp>
      <p:sp>
        <p:nvSpPr>
          <p:cNvPr id="3" name="Θέση κατακόρυφου κειμένου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l-GR"/>
              <a:t>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4" name="Θέση ημερομηνίας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8F2E9-5724-40D7-A084-8A9A9CED4F62}" type="datetimeFigureOut">
              <a:rPr lang="el-GR" smtClean="0"/>
              <a:t>14/10/2025</a:t>
            </a:fld>
            <a:endParaRPr lang="el-GR"/>
          </a:p>
        </p:txBody>
      </p:sp>
      <p:sp>
        <p:nvSpPr>
          <p:cNvPr id="5" name="Θέση υποσέλιδου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8B04-D0CA-4D92-8779-0291FECC15E7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7289043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Κατακόρυφος τίτλος και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Κατακόρυφος τίτλος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l-GR"/>
              <a:t>Στυλ κύριου τίτλου</a:t>
            </a:r>
          </a:p>
        </p:txBody>
      </p:sp>
      <p:sp>
        <p:nvSpPr>
          <p:cNvPr id="3" name="Θέση κατακόρυφου κειμένου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l-GR"/>
              <a:t>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4" name="Θέση ημερομηνίας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8F2E9-5724-40D7-A084-8A9A9CED4F62}" type="datetimeFigureOut">
              <a:rPr lang="el-GR" smtClean="0"/>
              <a:t>14/10/2025</a:t>
            </a:fld>
            <a:endParaRPr lang="el-GR"/>
          </a:p>
        </p:txBody>
      </p:sp>
      <p:sp>
        <p:nvSpPr>
          <p:cNvPr id="5" name="Θέση υποσέλιδου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8B04-D0CA-4D92-8779-0291FECC15E7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3270199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τίτλου 1">
            <a:extLst>
              <a:ext uri="{FF2B5EF4-FFF2-40B4-BE49-F238E27FC236}">
                <a16:creationId xmlns:a16="http://schemas.microsoft.com/office/drawing/2014/main" id="{992F1800-E376-4EAC-8DCE-EF767BC9FA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κειμένου 2">
            <a:extLst>
              <a:ext uri="{FF2B5EF4-FFF2-40B4-BE49-F238E27FC236}">
                <a16:creationId xmlns:a16="http://schemas.microsoft.com/office/drawing/2014/main" id="{93EDA18A-E08C-433A-8864-CE510E638F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l-GR"/>
              <a:t>Επεξεργασία 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F5AF37D2-402E-4529-9EEC-414BB35C59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C47DEE-5753-44EA-A073-053903F4D65C}" type="datetimeFigureOut">
              <a:rPr lang="el-GR" smtClean="0"/>
              <a:t>14/10/2025</a:t>
            </a:fld>
            <a:endParaRPr lang="el-GR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3CF16FB6-3B9A-47F7-BC11-0CD0D44781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l-GR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1A057F2B-A2D8-4FC1-B53F-4487A38756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7776414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l-G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τίτλου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l-GR"/>
              <a:t>Στυλ κύριου τίτλου</a:t>
            </a:r>
          </a:p>
        </p:txBody>
      </p:sp>
      <p:sp>
        <p:nvSpPr>
          <p:cNvPr id="3" name="Θέση κειμένου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l-GR"/>
              <a:t>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4" name="Θέση ημερομηνίας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C47DEE-5753-44EA-A073-053903F4D65C}" type="datetimeFigureOut">
              <a:rPr lang="el-GR" smtClean="0"/>
              <a:t>14/10/2025</a:t>
            </a:fld>
            <a:endParaRPr lang="el-GR"/>
          </a:p>
        </p:txBody>
      </p:sp>
      <p:sp>
        <p:nvSpPr>
          <p:cNvPr id="5" name="Θέση υποσέλιδου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l-GR"/>
          </a:p>
        </p:txBody>
      </p:sp>
      <p:sp>
        <p:nvSpPr>
          <p:cNvPr id="6" name="Θέση αριθμού διαφάνειας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543682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3" r:id="rId1"/>
    <p:sldLayoutId id="2147483894" r:id="rId2"/>
    <p:sldLayoutId id="2147483895" r:id="rId3"/>
    <p:sldLayoutId id="2147483896" r:id="rId4"/>
    <p:sldLayoutId id="2147483897" r:id="rId5"/>
    <p:sldLayoutId id="2147483898" r:id="rId6"/>
    <p:sldLayoutId id="2147483899" r:id="rId7"/>
    <p:sldLayoutId id="2147483900" r:id="rId8"/>
    <p:sldLayoutId id="2147483901" r:id="rId9"/>
    <p:sldLayoutId id="2147483902" r:id="rId10"/>
    <p:sldLayoutId id="2147483903" r:id="rId11"/>
  </p:sldLayoutIdLst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l-G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hyperlink" Target="https://sites.google.com/view/i2art-of-programming/home" TargetMode="Externa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1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eclass.upatras.gr/modules/document/file.php/CEID1456/Resources/LanguageOverview/I2P_ControlFlowStatements.pdf" TargetMode="Externa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8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3.xml"/><Relationship Id="rId5" Type="http://schemas.openxmlformats.org/officeDocument/2006/relationships/hyperlink" Target="https://eclass.upatras.gr/modules/document/file.php/CEID1456/Resources/LanguageOverview/I2P_Arrays.pdf" TargetMode="External"/><Relationship Id="rId4" Type="http://schemas.openxmlformats.org/officeDocument/2006/relationships/image" Target="../media/image20.emf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4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c/ref_keyword_float.php" TargetMode="External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3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6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8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3.xml"/><Relationship Id="rId4" Type="http://schemas.openxmlformats.org/officeDocument/2006/relationships/hyperlink" Target="https://www.tutorialspoint.com/cprogramming/c_format_specifiers.htm" TargetMode="Externa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3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3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3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3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3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3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3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3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3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3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3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7" Type="http://schemas.openxmlformats.org/officeDocument/2006/relationships/hyperlink" Target="https://www.w3schools.com/c/c_ref_math.php" TargetMode="External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ectangle 62">
            <a:extLst>
              <a:ext uri="{FF2B5EF4-FFF2-40B4-BE49-F238E27FC236}">
                <a16:creationId xmlns:a16="http://schemas.microsoft.com/office/drawing/2014/main" id="{76E192A2-3ED3-4081-8A86-A22B511417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4152902" y="-1181101"/>
            <a:ext cx="3886200" cy="121920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Υπότιτλος 2">
            <a:extLst>
              <a:ext uri="{FF2B5EF4-FFF2-40B4-BE49-F238E27FC236}">
                <a16:creationId xmlns:a16="http://schemas.microsoft.com/office/drawing/2014/main" id="{1FEF44B4-5484-7F60-BA37-96313DC3B896}"/>
              </a:ext>
            </a:extLst>
          </p:cNvPr>
          <p:cNvSpPr txBox="1">
            <a:spLocks/>
          </p:cNvSpPr>
          <p:nvPr/>
        </p:nvSpPr>
        <p:spPr>
          <a:xfrm>
            <a:off x="16237" y="1648085"/>
            <a:ext cx="8865031" cy="94633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25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lang="el-GR" sz="16000" b="1" dirty="0">
                <a:solidFill>
                  <a:srgbClr val="60D69E"/>
                </a:solidFill>
                <a:latin typeface="Bahnschrift" panose="020B0502040204020203" pitchFamily="34" charset="0"/>
              </a:rPr>
              <a:t>Παίζοντας με Αριθμούς</a:t>
            </a:r>
            <a:endParaRPr lang="en-US" sz="16000" b="1" dirty="0">
              <a:solidFill>
                <a:srgbClr val="60D69E"/>
              </a:solidFill>
              <a:latin typeface="Bahnschrift" panose="020B0502040204020203" pitchFamily="34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lang="el-GR" sz="7200" b="1" dirty="0">
                <a:solidFill>
                  <a:srgbClr val="60D69E"/>
                </a:solidFill>
                <a:latin typeface="Bahnschrift" panose="020B0502040204020203" pitchFamily="34" charset="0"/>
              </a:rPr>
              <a:t>Έλεγχος ροής εκτέλεσης προγράμματος, πίνακες και μετατροπές τύπων</a:t>
            </a:r>
            <a:endParaRPr lang="en-US" sz="7200" b="1" dirty="0">
              <a:solidFill>
                <a:srgbClr val="60D69E"/>
              </a:solidFill>
              <a:latin typeface="Bahnschrift" panose="020B0502040204020203" pitchFamily="34" charset="0"/>
            </a:endParaRPr>
          </a:p>
        </p:txBody>
      </p:sp>
      <p:sp>
        <p:nvSpPr>
          <p:cNvPr id="18" name="Υπότιτλος 2">
            <a:extLst>
              <a:ext uri="{FF2B5EF4-FFF2-40B4-BE49-F238E27FC236}">
                <a16:creationId xmlns:a16="http://schemas.microsoft.com/office/drawing/2014/main" id="{1CC770C9-EFCA-6DAF-8AF4-65DBC6C0060B}"/>
              </a:ext>
            </a:extLst>
          </p:cNvPr>
          <p:cNvSpPr txBox="1">
            <a:spLocks/>
          </p:cNvSpPr>
          <p:nvPr/>
        </p:nvSpPr>
        <p:spPr>
          <a:xfrm>
            <a:off x="7420598" y="2904201"/>
            <a:ext cx="4452747" cy="364401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dirty="0">
                <a:solidFill>
                  <a:srgbClr val="C00000"/>
                </a:solidFill>
                <a:latin typeface="Bahnschrift" panose="020B0502040204020203" pitchFamily="34" charset="0"/>
              </a:rPr>
              <a:t>Control flow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dirty="0">
                <a:solidFill>
                  <a:srgbClr val="C00000"/>
                </a:solidFill>
                <a:latin typeface="Bahnschrift" panose="020B0502040204020203" pitchFamily="34" charset="0"/>
              </a:rPr>
              <a:t>Arrays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dirty="0">
                <a:solidFill>
                  <a:srgbClr val="C00000"/>
                </a:solidFill>
                <a:latin typeface="Bahnschrift" panose="020B0502040204020203" pitchFamily="34" charset="0"/>
              </a:rPr>
              <a:t>Type conversions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F8104CF0-71DB-277D-FF43-3A47565FC2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5650" y="27543"/>
            <a:ext cx="2610113" cy="372873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07F06DC-24CD-CF31-6BD0-8D1D1EC817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832" y="3016495"/>
            <a:ext cx="7036132" cy="379309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6309203-2D7A-92DD-13FF-BB837299BF25}"/>
              </a:ext>
            </a:extLst>
          </p:cNvPr>
          <p:cNvSpPr txBox="1"/>
          <p:nvPr/>
        </p:nvSpPr>
        <p:spPr>
          <a:xfrm>
            <a:off x="9565650" y="3746541"/>
            <a:ext cx="261011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/>
              <a:t>Πηγή: </a:t>
            </a:r>
            <a:r>
              <a:rPr lang="el-GR" dirty="0">
                <a:hlinkClick r:id="rId5"/>
              </a:rPr>
              <a:t>Μια Εισαγωγή στην Τέχνη του Προγραμματισμού</a:t>
            </a:r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FF3599-A9B4-6317-F833-892BB590B9FC}"/>
              </a:ext>
            </a:extLst>
          </p:cNvPr>
          <p:cNvSpPr txBox="1"/>
          <p:nvPr/>
        </p:nvSpPr>
        <p:spPr>
          <a:xfrm flipH="1">
            <a:off x="4448752" y="2530844"/>
            <a:ext cx="53707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https://sites.google.com/view/i2art-of-programming</a:t>
            </a:r>
          </a:p>
        </p:txBody>
      </p:sp>
      <p:sp>
        <p:nvSpPr>
          <p:cNvPr id="6" name="Υπότιτλος 2">
            <a:extLst>
              <a:ext uri="{FF2B5EF4-FFF2-40B4-BE49-F238E27FC236}">
                <a16:creationId xmlns:a16="http://schemas.microsoft.com/office/drawing/2014/main" id="{EB15A5DD-8805-FE53-1CC3-0CE7E05F9F2E}"/>
              </a:ext>
            </a:extLst>
          </p:cNvPr>
          <p:cNvSpPr txBox="1">
            <a:spLocks/>
          </p:cNvSpPr>
          <p:nvPr/>
        </p:nvSpPr>
        <p:spPr>
          <a:xfrm>
            <a:off x="-16239" y="-1461"/>
            <a:ext cx="12192002" cy="163961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l-GR" sz="4800" b="1" dirty="0">
                <a:latin typeface="Bahnschrift" panose="020B0502040204020203" pitchFamily="34" charset="0"/>
              </a:rPr>
              <a:t>Εισαγωγή στην Τέχνη του</a:t>
            </a: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l-GR" sz="4800" b="1" dirty="0">
                <a:latin typeface="Bahnschrift" panose="020B0502040204020203" pitchFamily="34" charset="0"/>
              </a:rPr>
              <a:t>Προγραμματισμού (με τη </a:t>
            </a:r>
            <a:r>
              <a:rPr lang="en-US" sz="4800" b="1" dirty="0">
                <a:latin typeface="Bahnschrift" panose="020B0502040204020203" pitchFamily="34" charset="0"/>
              </a:rPr>
              <a:t>C</a:t>
            </a:r>
            <a:r>
              <a:rPr lang="el-GR" sz="4800" b="1" dirty="0">
                <a:latin typeface="Bahnschrift" panose="020B0502040204020203" pitchFamily="34" charset="0"/>
              </a:rPr>
              <a:t>)</a:t>
            </a:r>
            <a:endParaRPr lang="en-US" sz="3200" b="1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3252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FE635E-13B9-9C1B-C13D-3FFB3D544C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C28A9634-4676-80EF-67E2-A6D4D1470B18}"/>
              </a:ext>
            </a:extLst>
          </p:cNvPr>
          <p:cNvSpPr/>
          <p:nvPr/>
        </p:nvSpPr>
        <p:spPr>
          <a:xfrm>
            <a:off x="140669" y="6559908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CB1C13C6-17D1-7C66-983F-D7B6E57CB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Στόχος Ενότητας </a:t>
            </a: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1F0DD3F0-F993-07FA-CF3E-EC2B3B0D151F}"/>
              </a:ext>
            </a:extLst>
          </p:cNvPr>
          <p:cNvSpPr txBox="1">
            <a:spLocks/>
          </p:cNvSpPr>
          <p:nvPr/>
        </p:nvSpPr>
        <p:spPr>
          <a:xfrm>
            <a:off x="-1" y="6599394"/>
            <a:ext cx="3840633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© 202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5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Μια Εισαγωγή στην Τέχνη του Προγραμματισμού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EE05CF8-C118-C650-A095-0EE349F5B946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200" dirty="0">
                <a:latin typeface="Bahnschrift Light" panose="020B0502040204020203" pitchFamily="34" charset="0"/>
                <a:cs typeface="Arial" pitchFamily="34" charset="0"/>
              </a:rPr>
              <a:t>Διαφάνεια </a:t>
            </a:r>
            <a:fld id="{7C15C5B5-03C6-48D8-B20F-65D93A6CF09E}" type="slidenum">
              <a:rPr lang="en-US" sz="1200" smtClean="0">
                <a:latin typeface="Bahnschrift Light" panose="020B0502040204020203" pitchFamily="34" charset="0"/>
                <a:cs typeface="Arial" pitchFamily="34" charset="0"/>
              </a:rPr>
              <a:pPr algn="r"/>
              <a:t>2</a:t>
            </a:fld>
            <a:endParaRPr lang="en-US" sz="1200" dirty="0">
              <a:latin typeface="Bahnschrift Light" panose="020B0502040204020203" pitchFamily="34" charset="0"/>
              <a:cs typeface="Arial" pitchFamily="34" charset="0"/>
            </a:endParaRPr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022D7C49-9DEB-8E6A-F5E3-97DFE5BE0160}"/>
              </a:ext>
            </a:extLst>
          </p:cNvPr>
          <p:cNvSpPr txBox="1">
            <a:spLocks/>
          </p:cNvSpPr>
          <p:nvPr/>
        </p:nvSpPr>
        <p:spPr>
          <a:xfrm>
            <a:off x="4149680" y="6670790"/>
            <a:ext cx="4631713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Control flow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 – 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Arrays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 - 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Type conversions</a:t>
            </a:r>
          </a:p>
          <a:p>
            <a:endParaRPr lang="el-GR" sz="11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E116A2B-F56B-26DB-A6D1-1ECEEB4E2B4C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0"/>
            <a:ext cx="9144000" cy="908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0033CC"/>
              </a:solidFill>
              <a:latin typeface="Times New Roman" pitchFamily="18" charset="0"/>
            </a:endParaRP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CA111B06-1E70-E8F2-34FB-B4873DAA7401}"/>
              </a:ext>
            </a:extLst>
          </p:cNvPr>
          <p:cNvSpPr txBox="1">
            <a:spLocks/>
          </p:cNvSpPr>
          <p:nvPr/>
        </p:nvSpPr>
        <p:spPr bwMode="auto">
          <a:xfrm>
            <a:off x="-1" y="861413"/>
            <a:ext cx="12191999" cy="5509776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Clr>
                <a:srgbClr val="3333CC"/>
              </a:buClr>
              <a:defRPr/>
            </a:pPr>
            <a:r>
              <a:rPr lang="el-GR" sz="2400" b="1" kern="0" dirty="0">
                <a:solidFill>
                  <a:srgbClr val="000000"/>
                </a:solidFill>
                <a:latin typeface="Tahoma"/>
              </a:rPr>
              <a:t>Εισάγει</a:t>
            </a:r>
            <a:r>
              <a:rPr lang="en-US" sz="2400" b="1" kern="0" dirty="0">
                <a:solidFill>
                  <a:srgbClr val="000000"/>
                </a:solidFill>
                <a:latin typeface="Tahoma"/>
              </a:rPr>
              <a:t> </a:t>
            </a:r>
            <a:r>
              <a:rPr lang="el-GR" sz="2400" dirty="0"/>
              <a:t>θεμελιώδεις έννοιες προγραμματισμού μέσα από την ανάπτυξη τεσσάρων προγραμμάτων, τα οποία αναπτύσσονται  με τη μορφή ενός αριθμού εκδόσεων, υιοθετώντας την αυξητική ανάπτυξη.</a:t>
            </a:r>
            <a:endParaRPr lang="en-GB" sz="2400" dirty="0"/>
          </a:p>
          <a:p>
            <a:pPr>
              <a:buClr>
                <a:srgbClr val="3333CC"/>
              </a:buClr>
              <a:defRPr/>
            </a:pPr>
            <a:r>
              <a:rPr lang="el-GR" sz="2000" kern="0" dirty="0">
                <a:solidFill>
                  <a:srgbClr val="000000"/>
                </a:solidFill>
                <a:latin typeface="Tahoma"/>
              </a:rPr>
              <a:t>Πιο συγκεκριμένα το κεφάλαιο </a:t>
            </a:r>
            <a:r>
              <a:rPr lang="el-GR" sz="2000" b="1" kern="0" dirty="0">
                <a:solidFill>
                  <a:srgbClr val="000000"/>
                </a:solidFill>
                <a:latin typeface="Tahoma"/>
              </a:rPr>
              <a:t>έχει στόχο την εξοικείωση με </a:t>
            </a:r>
            <a:r>
              <a:rPr lang="el-GR" sz="2000" kern="0" dirty="0">
                <a:solidFill>
                  <a:srgbClr val="000000"/>
                </a:solidFill>
                <a:latin typeface="Tahoma"/>
              </a:rPr>
              <a:t>:</a:t>
            </a:r>
          </a:p>
          <a:p>
            <a:pPr lvl="1">
              <a:buClr>
                <a:srgbClr val="3333CC"/>
              </a:buClr>
              <a:defRPr/>
            </a:pPr>
            <a:r>
              <a:rPr lang="el-GR" sz="1600" kern="0" dirty="0">
                <a:solidFill>
                  <a:srgbClr val="000000"/>
                </a:solidFill>
                <a:latin typeface="Tahoma"/>
              </a:rPr>
              <a:t>τη διαδικασία αυξητικής ανάπτυξης,</a:t>
            </a:r>
          </a:p>
          <a:p>
            <a:pPr lvl="1">
              <a:buClr>
                <a:srgbClr val="3333CC"/>
              </a:buClr>
              <a:defRPr/>
            </a:pPr>
            <a:r>
              <a:rPr lang="el-GR" sz="1600" kern="0" dirty="0">
                <a:solidFill>
                  <a:srgbClr val="000000"/>
                </a:solidFill>
                <a:latin typeface="Tahoma"/>
              </a:rPr>
              <a:t>τη γραφική αναπαράσταση διεργασίας,</a:t>
            </a:r>
          </a:p>
          <a:p>
            <a:pPr lvl="1">
              <a:buClr>
                <a:srgbClr val="3333CC"/>
              </a:buClr>
              <a:defRPr/>
            </a:pPr>
            <a:r>
              <a:rPr lang="el-GR" sz="1600" kern="0" dirty="0">
                <a:solidFill>
                  <a:srgbClr val="000000"/>
                </a:solidFill>
                <a:latin typeface="Tahoma"/>
              </a:rPr>
              <a:t>διαφορετικές εκδοχές Λεκτικής Περιγραφής, </a:t>
            </a:r>
          </a:p>
          <a:p>
            <a:pPr lvl="1">
              <a:buClr>
                <a:srgbClr val="3333CC"/>
              </a:buClr>
              <a:defRPr/>
            </a:pPr>
            <a:r>
              <a:rPr lang="el-GR" sz="1600" kern="0" dirty="0">
                <a:solidFill>
                  <a:srgbClr val="000000"/>
                </a:solidFill>
                <a:latin typeface="Tahoma"/>
              </a:rPr>
              <a:t>τις βασικές έννοιες ελέγχου της ροής εκτέλεσης των ενεργειών, που απαιτούνται για την εκτέλεση μιας διεργασίας, και πιο συγκεκριμένα με την πρόταση διακλάδωσης </a:t>
            </a:r>
            <a:r>
              <a:rPr lang="el-GR" sz="1600" kern="0" dirty="0" err="1">
                <a:solidFill>
                  <a:srgbClr val="000000"/>
                </a:solidFill>
                <a:latin typeface="Tahoma"/>
              </a:rPr>
              <a:t>if-else</a:t>
            </a:r>
            <a:r>
              <a:rPr lang="el-GR" sz="1600" kern="0" dirty="0">
                <a:solidFill>
                  <a:srgbClr val="000000"/>
                </a:solidFill>
                <a:latin typeface="Tahoma"/>
              </a:rPr>
              <a:t> και τις προτάσεις επανάληψης </a:t>
            </a:r>
            <a:r>
              <a:rPr lang="el-GR" sz="1600" kern="0" dirty="0" err="1">
                <a:solidFill>
                  <a:srgbClr val="000000"/>
                </a:solidFill>
                <a:latin typeface="Tahoma"/>
              </a:rPr>
              <a:t>while</a:t>
            </a:r>
            <a:r>
              <a:rPr lang="el-GR" sz="1600" kern="0" dirty="0">
                <a:solidFill>
                  <a:srgbClr val="000000"/>
                </a:solidFill>
                <a:latin typeface="Tahoma"/>
              </a:rPr>
              <a:t> και for,</a:t>
            </a:r>
          </a:p>
          <a:p>
            <a:pPr lvl="1">
              <a:buClr>
                <a:srgbClr val="3333CC"/>
              </a:buClr>
              <a:defRPr/>
            </a:pPr>
            <a:r>
              <a:rPr lang="el-GR" sz="1600" kern="0" dirty="0">
                <a:solidFill>
                  <a:srgbClr val="000000"/>
                </a:solidFill>
                <a:latin typeface="Tahoma"/>
              </a:rPr>
              <a:t>τα βασικά για τους πίνακες,</a:t>
            </a:r>
          </a:p>
          <a:p>
            <a:pPr lvl="1">
              <a:buClr>
                <a:srgbClr val="3333CC"/>
              </a:buClr>
              <a:defRPr/>
            </a:pPr>
            <a:r>
              <a:rPr lang="el-GR" sz="1600" kern="0" dirty="0">
                <a:solidFill>
                  <a:srgbClr val="000000"/>
                </a:solidFill>
                <a:latin typeface="Tahoma"/>
              </a:rPr>
              <a:t>τον ορισμό επαναχρησιμοποιήσιμης συνάρτησης (συνάρτησης ανεξάρτητης από τις μεταβλητές του προγράμματος),</a:t>
            </a:r>
          </a:p>
          <a:p>
            <a:pPr lvl="1">
              <a:buClr>
                <a:srgbClr val="3333CC"/>
              </a:buClr>
              <a:defRPr/>
            </a:pPr>
            <a:r>
              <a:rPr lang="el-GR" sz="1600" kern="0" dirty="0">
                <a:solidFill>
                  <a:srgbClr val="000000"/>
                </a:solidFill>
                <a:latin typeface="Tahoma"/>
              </a:rPr>
              <a:t>τον μηχανισμό περάσματος ορισμάτων,</a:t>
            </a:r>
          </a:p>
          <a:p>
            <a:pPr lvl="1">
              <a:buClr>
                <a:srgbClr val="3333CC"/>
              </a:buClr>
              <a:defRPr/>
            </a:pPr>
            <a:r>
              <a:rPr lang="el-GR" sz="1600" kern="0" dirty="0">
                <a:solidFill>
                  <a:srgbClr val="000000"/>
                </a:solidFill>
                <a:latin typeface="Tahoma"/>
              </a:rPr>
              <a:t>τη μετατροπή τύπων (</a:t>
            </a:r>
            <a:r>
              <a:rPr lang="el-GR" sz="1600" kern="0" dirty="0" err="1">
                <a:solidFill>
                  <a:srgbClr val="000000"/>
                </a:solidFill>
                <a:latin typeface="Tahoma"/>
              </a:rPr>
              <a:t>type</a:t>
            </a:r>
            <a:r>
              <a:rPr lang="el-GR" sz="1600" kern="0" dirty="0">
                <a:solidFill>
                  <a:srgbClr val="000000"/>
                </a:solidFill>
                <a:latin typeface="Tahoma"/>
              </a:rPr>
              <a:t> </a:t>
            </a:r>
            <a:r>
              <a:rPr lang="el-GR" sz="1600" kern="0" dirty="0" err="1">
                <a:solidFill>
                  <a:srgbClr val="000000"/>
                </a:solidFill>
                <a:latin typeface="Tahoma"/>
              </a:rPr>
              <a:t>conversion</a:t>
            </a:r>
            <a:r>
              <a:rPr lang="el-GR" sz="1600" kern="0" dirty="0">
                <a:solidFill>
                  <a:srgbClr val="000000"/>
                </a:solidFill>
                <a:latin typeface="Tahoma"/>
              </a:rPr>
              <a:t>), </a:t>
            </a:r>
          </a:p>
          <a:p>
            <a:pPr lvl="1">
              <a:buClr>
                <a:srgbClr val="3333CC"/>
              </a:buClr>
              <a:defRPr/>
            </a:pPr>
            <a:r>
              <a:rPr lang="el-GR" sz="1600" kern="0" dirty="0">
                <a:solidFill>
                  <a:srgbClr val="000000"/>
                </a:solidFill>
                <a:latin typeface="Tahoma"/>
              </a:rPr>
              <a:t>τον έλεγχο τύπων (</a:t>
            </a:r>
            <a:r>
              <a:rPr lang="el-GR" sz="1600" kern="0" dirty="0" err="1">
                <a:solidFill>
                  <a:srgbClr val="000000"/>
                </a:solidFill>
                <a:latin typeface="Tahoma"/>
              </a:rPr>
              <a:t>type</a:t>
            </a:r>
            <a:r>
              <a:rPr lang="el-GR" sz="1600" kern="0" dirty="0">
                <a:solidFill>
                  <a:srgbClr val="000000"/>
                </a:solidFill>
                <a:latin typeface="Tahoma"/>
              </a:rPr>
              <a:t> </a:t>
            </a:r>
            <a:r>
              <a:rPr lang="el-GR" sz="1600" kern="0" dirty="0" err="1">
                <a:solidFill>
                  <a:srgbClr val="000000"/>
                </a:solidFill>
                <a:latin typeface="Tahoma"/>
              </a:rPr>
              <a:t>checking</a:t>
            </a:r>
            <a:r>
              <a:rPr lang="el-GR" sz="1600" kern="0" dirty="0">
                <a:solidFill>
                  <a:srgbClr val="000000"/>
                </a:solidFill>
                <a:latin typeface="Tahoma"/>
              </a:rPr>
              <a:t>),</a:t>
            </a:r>
          </a:p>
          <a:p>
            <a:pPr lvl="1">
              <a:buClr>
                <a:srgbClr val="3333CC"/>
              </a:buClr>
              <a:defRPr/>
            </a:pPr>
            <a:r>
              <a:rPr lang="el-GR" sz="1600" kern="0" dirty="0">
                <a:solidFill>
                  <a:srgbClr val="000000"/>
                </a:solidFill>
                <a:latin typeface="Tahoma"/>
              </a:rPr>
              <a:t>την αξιοποίηση μαθηματικών συναρτήσεων της τυπικής βιβλιοθήκης.</a:t>
            </a:r>
          </a:p>
          <a:p>
            <a:pPr marL="0" indent="0">
              <a:buClr>
                <a:srgbClr val="3333CC"/>
              </a:buClr>
              <a:buNone/>
              <a:defRPr/>
            </a:pPr>
            <a:r>
              <a:rPr lang="en-US" sz="2000" b="1" kern="0" dirty="0">
                <a:solidFill>
                  <a:srgbClr val="000000"/>
                </a:solidFill>
                <a:latin typeface="Tahoma"/>
              </a:rPr>
              <a:t> </a:t>
            </a:r>
            <a:endParaRPr lang="el-GR" sz="2000" kern="0" dirty="0">
              <a:solidFill>
                <a:srgbClr val="000000"/>
              </a:solidFill>
              <a:latin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3271003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allAtOnce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92A465-FD08-1A1D-B033-573F566380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158983A4-8924-9752-3540-744FE8E54A51}"/>
              </a:ext>
            </a:extLst>
          </p:cNvPr>
          <p:cNvSpPr/>
          <p:nvPr/>
        </p:nvSpPr>
        <p:spPr>
          <a:xfrm>
            <a:off x="140669" y="6559908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DDC3CDDB-9460-7CC9-9108-943C37EC74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Οργάνωση Διάλεξης</a:t>
            </a: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07F9E7D2-68EA-62C0-B24F-A283A12102E9}"/>
              </a:ext>
            </a:extLst>
          </p:cNvPr>
          <p:cNvSpPr txBox="1">
            <a:spLocks/>
          </p:cNvSpPr>
          <p:nvPr/>
        </p:nvSpPr>
        <p:spPr>
          <a:xfrm>
            <a:off x="-1" y="6599394"/>
            <a:ext cx="3840633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© 202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5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Μια Εισαγωγή στην Τέχνη του Προγραμματισμού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98A300D-ECEF-45F7-2ADB-74244DD7439B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200" dirty="0">
                <a:latin typeface="Bahnschrift Light" panose="020B0502040204020203" pitchFamily="34" charset="0"/>
                <a:cs typeface="Arial" pitchFamily="34" charset="0"/>
              </a:rPr>
              <a:t>Διαφάνεια </a:t>
            </a:r>
            <a:fld id="{7C15C5B5-03C6-48D8-B20F-65D93A6CF09E}" type="slidenum">
              <a:rPr lang="en-US" sz="1200" smtClean="0">
                <a:latin typeface="Bahnschrift Light" panose="020B0502040204020203" pitchFamily="34" charset="0"/>
                <a:cs typeface="Arial" pitchFamily="34" charset="0"/>
              </a:rPr>
              <a:pPr algn="r"/>
              <a:t>3</a:t>
            </a:fld>
            <a:endParaRPr lang="en-US" sz="1200" dirty="0">
              <a:latin typeface="Bahnschrift Light" panose="020B0502040204020203" pitchFamily="34" charset="0"/>
              <a:cs typeface="Arial" pitchFamily="34" charset="0"/>
            </a:endParaRPr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DD2FC85B-3A97-DCAF-8357-30E3D5C05CB8}"/>
              </a:ext>
            </a:extLst>
          </p:cNvPr>
          <p:cNvSpPr txBox="1">
            <a:spLocks/>
          </p:cNvSpPr>
          <p:nvPr/>
        </p:nvSpPr>
        <p:spPr>
          <a:xfrm>
            <a:off x="4149680" y="6670790"/>
            <a:ext cx="4631713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Control flow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 – 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Arrays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 - 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Type conversions</a:t>
            </a:r>
          </a:p>
          <a:p>
            <a:endParaRPr lang="el-GR" sz="11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871775F-640D-BCCF-612D-91C873410552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0"/>
            <a:ext cx="9144000" cy="908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0033CC"/>
              </a:solidFill>
              <a:latin typeface="Times New Roman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FB239DB-63A9-5E03-D2DF-29A6E9914E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449" y="914699"/>
            <a:ext cx="112071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el-GR" altLang="el-GR" b="1" dirty="0">
                <a:solidFill>
                  <a:srgbClr val="C00000"/>
                </a:solidFill>
                <a:latin typeface="Bahnschrift" panose="020B0502040204020203" pitchFamily="34" charset="0"/>
              </a:rPr>
              <a:t>Δραστηριότητα 5-1   </a:t>
            </a:r>
            <a:r>
              <a:rPr lang="en-GB" altLang="el-GR" b="1" dirty="0" err="1">
                <a:solidFill>
                  <a:srgbClr val="C00000"/>
                </a:solidFill>
                <a:latin typeface="Bahnschrift" panose="020B0502040204020203" pitchFamily="34" charset="0"/>
              </a:rPr>
              <a:t>HailstoneSequence</a:t>
            </a:r>
            <a:endParaRPr lang="el-GR" altLang="el-GR" b="1" dirty="0">
              <a:solidFill>
                <a:srgbClr val="C00000"/>
              </a:solidFill>
              <a:latin typeface="Bahnschrift" panose="020B0502040204020203" pitchFamily="34" charset="0"/>
            </a:endParaRPr>
          </a:p>
          <a:p>
            <a:pPr lvl="1" eaLnBrk="1" hangingPunct="1">
              <a:lnSpc>
                <a:spcPct val="80000"/>
              </a:lnSpc>
            </a:pPr>
            <a:r>
              <a:rPr lang="el-GR" altLang="el-GR" kern="0" dirty="0">
                <a:latin typeface="Times New Roman" panose="02020603050405020304" pitchFamily="18" charset="0"/>
              </a:rPr>
              <a:t>προτάσεις ελέγχου της ροής</a:t>
            </a:r>
            <a:r>
              <a:rPr lang="en-US" altLang="el-GR" kern="0" dirty="0">
                <a:latin typeface="Times New Roman" panose="02020603050405020304" pitchFamily="18" charset="0"/>
              </a:rPr>
              <a:t>, </a:t>
            </a:r>
            <a:r>
              <a:rPr lang="el-GR" altLang="el-GR" kern="0" dirty="0">
                <a:latin typeface="Times New Roman" panose="02020603050405020304" pitchFamily="18" charset="0"/>
              </a:rPr>
              <a:t>οι προτάσεις </a:t>
            </a:r>
            <a:r>
              <a:rPr lang="en-US" altLang="el-GR" kern="0" dirty="0">
                <a:latin typeface="Times New Roman" panose="02020603050405020304" pitchFamily="18" charset="0"/>
              </a:rPr>
              <a:t>if </a:t>
            </a:r>
            <a:r>
              <a:rPr lang="el-GR" altLang="el-GR" kern="0" dirty="0">
                <a:latin typeface="Times New Roman" panose="02020603050405020304" pitchFamily="18" charset="0"/>
              </a:rPr>
              <a:t>και </a:t>
            </a:r>
            <a:r>
              <a:rPr lang="en-US" altLang="el-GR" kern="0" dirty="0">
                <a:latin typeface="Times New Roman" panose="02020603050405020304" pitchFamily="18" charset="0"/>
              </a:rPr>
              <a:t>while</a:t>
            </a:r>
            <a:r>
              <a:rPr lang="el-GR" altLang="el-GR" kern="0" dirty="0">
                <a:latin typeface="Times New Roman" panose="02020603050405020304" pitchFamily="18" charset="0"/>
              </a:rPr>
              <a:t> </a:t>
            </a:r>
          </a:p>
          <a:p>
            <a:pPr lvl="1" eaLnBrk="1" hangingPunct="1">
              <a:lnSpc>
                <a:spcPct val="80000"/>
              </a:lnSpc>
            </a:pPr>
            <a:r>
              <a:rPr lang="el-GR" altLang="el-GR" kern="0" dirty="0">
                <a:latin typeface="Times New Roman" panose="02020603050405020304" pitchFamily="18" charset="0"/>
              </a:rPr>
              <a:t>γραφική αναπαράσταση διεργασίας</a:t>
            </a:r>
          </a:p>
          <a:p>
            <a:pPr eaLnBrk="1" hangingPunct="1">
              <a:lnSpc>
                <a:spcPct val="80000"/>
              </a:lnSpc>
            </a:pPr>
            <a:r>
              <a:rPr lang="el-GR" altLang="el-GR" b="1" dirty="0">
                <a:solidFill>
                  <a:srgbClr val="F9853D"/>
                </a:solidFill>
                <a:latin typeface="Bahnschrift" panose="020B0502040204020203" pitchFamily="34" charset="0"/>
              </a:rPr>
              <a:t>Δραστηριότητα 5-2   </a:t>
            </a:r>
            <a:r>
              <a:rPr lang="en-GB" altLang="el-GR" b="1" dirty="0" err="1">
                <a:solidFill>
                  <a:srgbClr val="F9853D"/>
                </a:solidFill>
                <a:latin typeface="Bahnschrift" panose="020B0502040204020203" pitchFamily="34" charset="0"/>
              </a:rPr>
              <a:t>FibonacciSequence</a:t>
            </a:r>
            <a:endParaRPr lang="el-GR" altLang="el-GR" b="1" dirty="0">
              <a:solidFill>
                <a:srgbClr val="F9853D"/>
              </a:solidFill>
              <a:latin typeface="Bahnschrift" panose="020B0502040204020203" pitchFamily="34" charset="0"/>
            </a:endParaRPr>
          </a:p>
          <a:p>
            <a:pPr lvl="1" eaLnBrk="1" hangingPunct="1">
              <a:lnSpc>
                <a:spcPct val="80000"/>
              </a:lnSpc>
            </a:pPr>
            <a:r>
              <a:rPr lang="el-GR" altLang="el-GR" kern="0" dirty="0">
                <a:latin typeface="Times New Roman" panose="02020603050405020304" pitchFamily="18" charset="0"/>
              </a:rPr>
              <a:t>πρόταση επανάληψης for  </a:t>
            </a:r>
          </a:p>
          <a:p>
            <a:pPr lvl="1" eaLnBrk="1" hangingPunct="1">
              <a:lnSpc>
                <a:spcPct val="80000"/>
              </a:lnSpc>
            </a:pPr>
            <a:r>
              <a:rPr lang="el-GR" altLang="el-GR" kern="0" dirty="0">
                <a:latin typeface="Times New Roman" panose="02020603050405020304" pitchFamily="18" charset="0"/>
              </a:rPr>
              <a:t>τύπος του πίνακα (</a:t>
            </a:r>
            <a:r>
              <a:rPr lang="el-GR" altLang="el-GR" kern="0" dirty="0" err="1">
                <a:latin typeface="Times New Roman" panose="02020603050405020304" pitchFamily="18" charset="0"/>
              </a:rPr>
              <a:t>array</a:t>
            </a:r>
            <a:r>
              <a:rPr lang="el-GR" altLang="el-GR" kern="0" dirty="0">
                <a:latin typeface="Times New Roman" panose="02020603050405020304" pitchFamily="18" charset="0"/>
              </a:rPr>
              <a:t>). </a:t>
            </a:r>
          </a:p>
          <a:p>
            <a:pPr eaLnBrk="1" hangingPunct="1">
              <a:lnSpc>
                <a:spcPct val="80000"/>
              </a:lnSpc>
            </a:pPr>
            <a:r>
              <a:rPr lang="el-GR" altLang="el-GR" b="1" dirty="0">
                <a:solidFill>
                  <a:srgbClr val="F9853D"/>
                </a:solidFill>
                <a:latin typeface="Bahnschrift" panose="020B0502040204020203" pitchFamily="34" charset="0"/>
              </a:rPr>
              <a:t>Δραστηριότητα 5-3   </a:t>
            </a:r>
            <a:r>
              <a:rPr lang="en-GB" altLang="el-GR" b="1" dirty="0">
                <a:solidFill>
                  <a:srgbClr val="F9853D"/>
                </a:solidFill>
                <a:latin typeface="Bahnschrift" panose="020B0502040204020203" pitchFamily="34" charset="0"/>
              </a:rPr>
              <a:t>Average</a:t>
            </a:r>
            <a:endParaRPr lang="el-GR" altLang="el-GR" b="1" dirty="0">
              <a:solidFill>
                <a:srgbClr val="F9853D"/>
              </a:solidFill>
              <a:latin typeface="Bahnschrift" panose="020B0502040204020203" pitchFamily="34" charset="0"/>
            </a:endParaRPr>
          </a:p>
          <a:p>
            <a:pPr lvl="1" eaLnBrk="1" hangingPunct="1">
              <a:lnSpc>
                <a:spcPct val="80000"/>
              </a:lnSpc>
            </a:pPr>
            <a:r>
              <a:rPr lang="el-GR" altLang="el-GR" kern="0" dirty="0">
                <a:latin typeface="Times New Roman" panose="02020603050405020304" pitchFamily="18" charset="0"/>
              </a:rPr>
              <a:t>Ο τύπος </a:t>
            </a:r>
            <a:r>
              <a:rPr lang="en-US" altLang="el-GR" kern="0" dirty="0">
                <a:latin typeface="Times New Roman" panose="02020603050405020304" pitchFamily="18" charset="0"/>
              </a:rPr>
              <a:t>f</a:t>
            </a:r>
            <a:r>
              <a:rPr lang="el-GR" altLang="el-GR" kern="0" dirty="0" err="1">
                <a:latin typeface="Times New Roman" panose="02020603050405020304" pitchFamily="18" charset="0"/>
              </a:rPr>
              <a:t>oat</a:t>
            </a:r>
            <a:r>
              <a:rPr lang="en-US" altLang="el-GR" kern="0" dirty="0">
                <a:latin typeface="Times New Roman" panose="02020603050405020304" pitchFamily="18" charset="0"/>
              </a:rPr>
              <a:t>, </a:t>
            </a:r>
            <a:r>
              <a:rPr lang="el-GR" altLang="el-GR" kern="0" dirty="0">
                <a:latin typeface="Times New Roman" panose="02020603050405020304" pitchFamily="18" charset="0"/>
              </a:rPr>
              <a:t>μετατροπή τύπων</a:t>
            </a:r>
            <a:r>
              <a:rPr lang="en-US" altLang="el-GR" kern="0" dirty="0">
                <a:latin typeface="Times New Roman" panose="02020603050405020304" pitchFamily="18" charset="0"/>
              </a:rPr>
              <a:t>, </a:t>
            </a:r>
            <a:r>
              <a:rPr lang="el-GR" altLang="el-GR" kern="0" dirty="0">
                <a:latin typeface="Times New Roman" panose="02020603050405020304" pitchFamily="18" charset="0"/>
              </a:rPr>
              <a:t>έλεγχος τύπων (</a:t>
            </a:r>
            <a:r>
              <a:rPr lang="el-GR" altLang="el-GR" kern="0" dirty="0" err="1">
                <a:latin typeface="Times New Roman" panose="02020603050405020304" pitchFamily="18" charset="0"/>
              </a:rPr>
              <a:t>type</a:t>
            </a:r>
            <a:r>
              <a:rPr lang="el-GR" altLang="el-GR" kern="0" dirty="0">
                <a:latin typeface="Times New Roman" panose="02020603050405020304" pitchFamily="18" charset="0"/>
              </a:rPr>
              <a:t> </a:t>
            </a:r>
            <a:r>
              <a:rPr lang="el-GR" altLang="el-GR" kern="0" dirty="0" err="1">
                <a:latin typeface="Times New Roman" panose="02020603050405020304" pitchFamily="18" charset="0"/>
              </a:rPr>
              <a:t>checking</a:t>
            </a:r>
            <a:r>
              <a:rPr lang="el-GR" altLang="el-GR" kern="0" dirty="0">
                <a:latin typeface="Times New Roman" panose="02020603050405020304" pitchFamily="18" charset="0"/>
              </a:rPr>
              <a:t>) </a:t>
            </a:r>
          </a:p>
          <a:p>
            <a:pPr lvl="1" eaLnBrk="1" hangingPunct="1">
              <a:lnSpc>
                <a:spcPct val="80000"/>
              </a:lnSpc>
            </a:pPr>
            <a:r>
              <a:rPr lang="el-GR" altLang="el-GR" kern="0" dirty="0">
                <a:latin typeface="Times New Roman" panose="02020603050405020304" pitchFamily="18" charset="0"/>
              </a:rPr>
              <a:t>συνάρτηση </a:t>
            </a:r>
            <a:r>
              <a:rPr lang="el-GR" altLang="el-GR" kern="0" dirty="0" err="1">
                <a:latin typeface="Times New Roman" panose="02020603050405020304" pitchFamily="18" charset="0"/>
              </a:rPr>
              <a:t>printf</a:t>
            </a:r>
            <a:r>
              <a:rPr lang="el-GR" altLang="el-GR" kern="0" dirty="0">
                <a:latin typeface="Times New Roman" panose="02020603050405020304" pitchFamily="18" charset="0"/>
              </a:rPr>
              <a:t>, πέρασμα πίνακα ως όρισμα σε συνάρτηση</a:t>
            </a:r>
            <a:endParaRPr lang="el-GR" altLang="el-GR" b="1" dirty="0">
              <a:solidFill>
                <a:srgbClr val="F9853D"/>
              </a:solidFill>
              <a:latin typeface="Bahnschrift" panose="020B0502040204020203" pitchFamily="34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el-GR" altLang="el-GR" b="1" dirty="0">
                <a:solidFill>
                  <a:srgbClr val="F9853D"/>
                </a:solidFill>
                <a:latin typeface="Bahnschrift" panose="020B0502040204020203" pitchFamily="34" charset="0"/>
              </a:rPr>
              <a:t>Ο </a:t>
            </a:r>
            <a:r>
              <a:rPr lang="en-GB" altLang="el-GR" b="1" dirty="0">
                <a:solidFill>
                  <a:srgbClr val="F9853D"/>
                </a:solidFill>
                <a:latin typeface="Bahnschrift" panose="020B0502040204020203" pitchFamily="34" charset="0"/>
              </a:rPr>
              <a:t>Alex, </a:t>
            </a:r>
            <a:r>
              <a:rPr lang="el-GR" altLang="el-GR" b="1" dirty="0">
                <a:solidFill>
                  <a:srgbClr val="F9853D"/>
                </a:solidFill>
                <a:latin typeface="Bahnschrift" panose="020B0502040204020203" pitchFamily="34" charset="0"/>
              </a:rPr>
              <a:t>το </a:t>
            </a:r>
            <a:r>
              <a:rPr lang="en-GB" altLang="el-GR" b="1" dirty="0">
                <a:solidFill>
                  <a:srgbClr val="F9853D"/>
                </a:solidFill>
                <a:latin typeface="Bahnschrift" panose="020B0502040204020203" pitchFamily="34" charset="0"/>
              </a:rPr>
              <a:t>AI Chatbot </a:t>
            </a:r>
            <a:r>
              <a:rPr lang="el-GR" altLang="el-GR" b="1" dirty="0">
                <a:solidFill>
                  <a:srgbClr val="F9853D"/>
                </a:solidFill>
                <a:latin typeface="Bahnschrift" panose="020B0502040204020203" pitchFamily="34" charset="0"/>
              </a:rPr>
              <a:t>και η </a:t>
            </a:r>
            <a:r>
              <a:rPr lang="en-GB" altLang="el-GR" b="1" dirty="0" err="1">
                <a:solidFill>
                  <a:srgbClr val="F9853D"/>
                </a:solidFill>
                <a:latin typeface="Bahnschrift" panose="020B0502040204020203" pitchFamily="34" charset="0"/>
              </a:rPr>
              <a:t>HailstoneSequence</a:t>
            </a:r>
            <a:endParaRPr lang="el-GR" altLang="el-GR" b="1" dirty="0">
              <a:solidFill>
                <a:srgbClr val="F9853D"/>
              </a:solidFill>
              <a:latin typeface="Bahnschrift" panose="020B0502040204020203" pitchFamily="34" charset="0"/>
            </a:endParaRPr>
          </a:p>
          <a:p>
            <a:pPr lvl="1" eaLnBrk="1" hangingPunct="1">
              <a:lnSpc>
                <a:spcPct val="80000"/>
              </a:lnSpc>
            </a:pPr>
            <a:r>
              <a:rPr lang="el-GR" altLang="el-GR" kern="0" dirty="0">
                <a:latin typeface="Times New Roman" panose="02020603050405020304" pitchFamily="18" charset="0"/>
              </a:rPr>
              <a:t>Λεκτική Περιγραφή, </a:t>
            </a:r>
            <a:r>
              <a:rPr lang="en-US" altLang="el-GR" kern="0" dirty="0">
                <a:latin typeface="Times New Roman" panose="02020603050405020304" pitchFamily="18" charset="0"/>
              </a:rPr>
              <a:t>Structured English, Program Design Language</a:t>
            </a:r>
            <a:endParaRPr lang="el-GR" altLang="el-GR" kern="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el-GR" b="1" dirty="0">
                <a:solidFill>
                  <a:srgbClr val="F9853D"/>
                </a:solidFill>
                <a:latin typeface="Bahnschrift" panose="020B0502040204020203" pitchFamily="34" charset="0"/>
              </a:rPr>
              <a:t>Δραστηριότητα </a:t>
            </a:r>
            <a:r>
              <a:rPr lang="en-US" b="1" dirty="0">
                <a:solidFill>
                  <a:srgbClr val="F9853D"/>
                </a:solidFill>
                <a:latin typeface="Bahnschrift" panose="020B0502040204020203" pitchFamily="34" charset="0"/>
              </a:rPr>
              <a:t>5</a:t>
            </a:r>
            <a:r>
              <a:rPr lang="el-GR" b="1" dirty="0">
                <a:solidFill>
                  <a:srgbClr val="F9853D"/>
                </a:solidFill>
                <a:latin typeface="Bahnschrift" panose="020B0502040204020203" pitchFamily="34" charset="0"/>
              </a:rPr>
              <a:t>-</a:t>
            </a:r>
            <a:r>
              <a:rPr lang="en-US" b="1" dirty="0">
                <a:solidFill>
                  <a:srgbClr val="F9853D"/>
                </a:solidFill>
                <a:latin typeface="Bahnschrift" panose="020B0502040204020203" pitchFamily="34" charset="0"/>
              </a:rPr>
              <a:t>4</a:t>
            </a:r>
            <a:r>
              <a:rPr lang="el-GR" b="1" dirty="0">
                <a:solidFill>
                  <a:srgbClr val="F9853D"/>
                </a:solidFill>
                <a:latin typeface="Bahnschrift" panose="020B0502040204020203" pitchFamily="34" charset="0"/>
              </a:rPr>
              <a:t>   </a:t>
            </a:r>
            <a:r>
              <a:rPr lang="en-US" b="1" dirty="0">
                <a:solidFill>
                  <a:srgbClr val="F9853D"/>
                </a:solidFill>
                <a:latin typeface="Bahnschrift" panose="020B0502040204020203" pitchFamily="34" charset="0"/>
              </a:rPr>
              <a:t>MathFunctions</a:t>
            </a:r>
            <a:endParaRPr lang="el-GR" altLang="el-GR" kern="0" dirty="0"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80000"/>
              </a:lnSpc>
            </a:pPr>
            <a:endParaRPr lang="el-GR" altLang="el-GR" kern="0" dirty="0"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80000"/>
              </a:lnSpc>
            </a:pPr>
            <a:endParaRPr lang="el-GR" altLang="el-GR" kern="0" dirty="0"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80000"/>
              </a:lnSpc>
            </a:pPr>
            <a:endParaRPr lang="el-GR" altLang="el-GR" kern="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</a:pPr>
            <a:endParaRPr lang="el-GR" altLang="el-GR" kern="0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2082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AB28CF-E681-26C9-8D97-B3BCE1DFBB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718EF5EC-6240-08EF-09DC-3401690F5A6A}"/>
              </a:ext>
            </a:extLst>
          </p:cNvPr>
          <p:cNvSpPr/>
          <p:nvPr/>
        </p:nvSpPr>
        <p:spPr>
          <a:xfrm>
            <a:off x="140669" y="6559908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711F938E-4720-BC45-BB9B-C3E2B87F76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Δραστηριότητα </a:t>
            </a:r>
            <a:r>
              <a:rPr lang="en-US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5</a:t>
            </a:r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-1   </a:t>
            </a:r>
            <a:r>
              <a:rPr lang="en-US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HailstoneSequence</a:t>
            </a:r>
            <a:endParaRPr lang="el-GR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4CBA5E8F-CA46-4D89-4467-369B19EA55DF}"/>
              </a:ext>
            </a:extLst>
          </p:cNvPr>
          <p:cNvSpPr txBox="1">
            <a:spLocks/>
          </p:cNvSpPr>
          <p:nvPr/>
        </p:nvSpPr>
        <p:spPr>
          <a:xfrm>
            <a:off x="-1" y="6599394"/>
            <a:ext cx="3840633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© 202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5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Μια Εισαγωγή στην Τέχνη του Προγραμματισμού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FEC4CF8-BA63-2A51-3CA2-CBDC54C9842A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200" dirty="0">
                <a:latin typeface="Bahnschrift Light" panose="020B0502040204020203" pitchFamily="34" charset="0"/>
                <a:cs typeface="Arial" pitchFamily="34" charset="0"/>
              </a:rPr>
              <a:t>Διαφάνεια </a:t>
            </a:r>
            <a:fld id="{7C15C5B5-03C6-48D8-B20F-65D93A6CF09E}" type="slidenum">
              <a:rPr lang="en-US" sz="1200" smtClean="0">
                <a:latin typeface="Bahnschrift Light" panose="020B0502040204020203" pitchFamily="34" charset="0"/>
                <a:cs typeface="Arial" pitchFamily="34" charset="0"/>
              </a:rPr>
              <a:pPr algn="r"/>
              <a:t>4</a:t>
            </a:fld>
            <a:endParaRPr lang="en-US" sz="1200" dirty="0">
              <a:latin typeface="Bahnschrift Light" panose="020B0502040204020203" pitchFamily="34" charset="0"/>
              <a:cs typeface="Arial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99C3B9D-3E44-1536-B2C1-AA08E650683F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0"/>
            <a:ext cx="9144000" cy="908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0033CC"/>
              </a:solidFill>
              <a:latin typeface="Times New Roman" pitchFamily="18" charset="0"/>
            </a:endParaRP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5DE8881-1F28-FAD6-ECCC-15C2C20030EE}"/>
              </a:ext>
            </a:extLst>
          </p:cNvPr>
          <p:cNvSpPr txBox="1">
            <a:spLocks/>
          </p:cNvSpPr>
          <p:nvPr/>
        </p:nvSpPr>
        <p:spPr bwMode="auto">
          <a:xfrm>
            <a:off x="-1" y="839665"/>
            <a:ext cx="12191999" cy="242333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Clr>
                <a:srgbClr val="3333CC"/>
              </a:buClr>
              <a:buNone/>
              <a:defRPr/>
            </a:pPr>
            <a:r>
              <a:rPr lang="el-GR" sz="2800" b="1" kern="0" dirty="0">
                <a:solidFill>
                  <a:srgbClr val="000000"/>
                </a:solidFill>
                <a:latin typeface="Tahoma"/>
              </a:rPr>
              <a:t>Αναθέστε στη μηχανή το έργο </a:t>
            </a:r>
            <a:r>
              <a:rPr lang="el-GR" sz="2800" kern="0" dirty="0">
                <a:solidFill>
                  <a:srgbClr val="000000"/>
                </a:solidFill>
                <a:latin typeface="Tahoma"/>
              </a:rPr>
              <a:t>της εύρεσης και εμφάνισης στην οθόνη της ακολουθίας αριθμών </a:t>
            </a:r>
            <a:r>
              <a:rPr lang="el-GR" sz="2800" kern="0" dirty="0" err="1">
                <a:solidFill>
                  <a:srgbClr val="000000"/>
                </a:solidFill>
                <a:latin typeface="Tahoma"/>
              </a:rPr>
              <a:t>hailstone</a:t>
            </a:r>
            <a:r>
              <a:rPr lang="el-GR" sz="2800" kern="0" dirty="0">
                <a:solidFill>
                  <a:srgbClr val="000000"/>
                </a:solidFill>
                <a:latin typeface="Tahoma"/>
              </a:rPr>
              <a:t> για έναν ακέραιο αριθμό που θα δίνει ο χρήστης από τη βασική είσοδο. </a:t>
            </a:r>
          </a:p>
          <a:p>
            <a:pPr marL="0" indent="0">
              <a:buClr>
                <a:srgbClr val="3333CC"/>
              </a:buClr>
              <a:buNone/>
              <a:defRPr/>
            </a:pPr>
            <a:r>
              <a:rPr lang="el-GR" sz="2000" kern="0" dirty="0">
                <a:solidFill>
                  <a:srgbClr val="000000"/>
                </a:solidFill>
                <a:latin typeface="Tahoma"/>
              </a:rPr>
              <a:t>Εναλλακτικά μπορεί να </a:t>
            </a:r>
            <a:r>
              <a:rPr lang="el-GR" sz="2000" kern="0" dirty="0" err="1">
                <a:solidFill>
                  <a:srgbClr val="000000"/>
                </a:solidFill>
                <a:latin typeface="Tahoma"/>
              </a:rPr>
              <a:t>περιγραφεί</a:t>
            </a:r>
            <a:r>
              <a:rPr lang="el-GR" sz="2000" kern="0" dirty="0">
                <a:solidFill>
                  <a:srgbClr val="000000"/>
                </a:solidFill>
                <a:latin typeface="Tahoma"/>
              </a:rPr>
              <a:t> όπως παρακάτω: </a:t>
            </a:r>
          </a:p>
          <a:p>
            <a:pPr marL="0" indent="0">
              <a:buClr>
                <a:srgbClr val="3333CC"/>
              </a:buClr>
              <a:buNone/>
              <a:defRPr/>
            </a:pPr>
            <a:r>
              <a:rPr lang="el-GR" sz="2000" kern="0" dirty="0">
                <a:solidFill>
                  <a:srgbClr val="000000"/>
                </a:solidFill>
                <a:latin typeface="Tahoma"/>
              </a:rPr>
              <a:t>Αναπτύξτε ένα πρόγραμμα με βάση το οποίο η Μηχανή θα εμφανίζει στην οθόνη την ακολουθία </a:t>
            </a:r>
            <a:r>
              <a:rPr lang="el-GR" sz="2000" kern="0" dirty="0" err="1">
                <a:solidFill>
                  <a:srgbClr val="000000"/>
                </a:solidFill>
                <a:latin typeface="Tahoma"/>
              </a:rPr>
              <a:t>hailstone</a:t>
            </a:r>
            <a:r>
              <a:rPr lang="el-GR" sz="2000" kern="0" dirty="0">
                <a:solidFill>
                  <a:srgbClr val="000000"/>
                </a:solidFill>
                <a:latin typeface="Tahoma"/>
              </a:rPr>
              <a:t> δοθέντος ακέραιου αριθμού.</a:t>
            </a:r>
          </a:p>
          <a:p>
            <a:pPr marL="0" indent="0">
              <a:buClr>
                <a:srgbClr val="3333CC"/>
              </a:buClr>
              <a:buNone/>
              <a:defRPr/>
            </a:pPr>
            <a:endParaRPr lang="el-GR" sz="1600" kern="0" dirty="0">
              <a:solidFill>
                <a:srgbClr val="000000"/>
              </a:solidFill>
              <a:latin typeface="Tahoma"/>
            </a:endParaRPr>
          </a:p>
          <a:p>
            <a:pPr marL="0" indent="0">
              <a:buClr>
                <a:srgbClr val="3333CC"/>
              </a:buClr>
              <a:buNone/>
              <a:defRPr/>
            </a:pPr>
            <a:endParaRPr lang="en-US" sz="1600" kern="0" dirty="0">
              <a:solidFill>
                <a:srgbClr val="000000"/>
              </a:solidFill>
              <a:latin typeface="Tahom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B54534-43EF-2E56-7369-E7676D5386B0}"/>
              </a:ext>
            </a:extLst>
          </p:cNvPr>
          <p:cNvSpPr txBox="1"/>
          <p:nvPr/>
        </p:nvSpPr>
        <p:spPr>
          <a:xfrm>
            <a:off x="0" y="3486497"/>
            <a:ext cx="6096000" cy="2800767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l-GR" sz="3200" dirty="0"/>
              <a:t>εισαγωγή</a:t>
            </a:r>
            <a:r>
              <a:rPr lang="en-US" sz="3200" dirty="0"/>
              <a:t> </a:t>
            </a:r>
            <a:r>
              <a:rPr lang="el-GR" sz="3200" dirty="0"/>
              <a:t> </a:t>
            </a:r>
            <a:endParaRPr lang="en-US" sz="3200" dirty="0"/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l-GR" sz="2400" dirty="0"/>
              <a:t>στις βασικές </a:t>
            </a:r>
            <a:r>
              <a:rPr lang="el-GR" sz="2400" b="1" dirty="0"/>
              <a:t>προτάσεις ελέγχου της ροής </a:t>
            </a:r>
            <a:r>
              <a:rPr lang="el-GR" sz="2400" dirty="0"/>
              <a:t>εκτέλεσης των προτάσεων ενός προγράμματος. </a:t>
            </a:r>
            <a:endParaRPr lang="en-US" sz="2400" dirty="0"/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l-GR" sz="2400" dirty="0"/>
              <a:t>στη </a:t>
            </a:r>
            <a:r>
              <a:rPr lang="el-GR" sz="2400" b="1" dirty="0"/>
              <a:t>γραφική αναπαράσταση της διεργασίας</a:t>
            </a:r>
            <a:r>
              <a:rPr lang="el-GR" sz="2400" dirty="0"/>
              <a:t>, ως ένα πρώτο βήμα στη διαδικασία ανάπτυξης προγράμματος,</a:t>
            </a:r>
            <a:endParaRPr lang="en-GB" sz="240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8439984-8716-DE66-C264-08BCAED50016}"/>
              </a:ext>
            </a:extLst>
          </p:cNvPr>
          <p:cNvGrpSpPr/>
          <p:nvPr/>
        </p:nvGrpSpPr>
        <p:grpSpPr>
          <a:xfrm>
            <a:off x="6977834" y="3306379"/>
            <a:ext cx="4483697" cy="3249636"/>
            <a:chOff x="6063434" y="766603"/>
            <a:chExt cx="5903914" cy="4504973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A4916347-2CD9-2119-550E-9CA9652E68F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311585" y="1126966"/>
              <a:ext cx="1655763" cy="39655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AutoShape 5">
              <a:extLst>
                <a:ext uri="{FF2B5EF4-FFF2-40B4-BE49-F238E27FC236}">
                  <a16:creationId xmlns:a16="http://schemas.microsoft.com/office/drawing/2014/main" id="{EF4BA8FE-2FC0-D5FE-273B-7FF135A9E4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63434" y="766603"/>
              <a:ext cx="4032250" cy="1511300"/>
            </a:xfrm>
            <a:prstGeom prst="wedgeRoundRectCallout">
              <a:avLst>
                <a:gd name="adj1" fmla="val 58463"/>
                <a:gd name="adj2" fmla="val 75000"/>
                <a:gd name="adj3" fmla="val 16667"/>
              </a:avLst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l-GR" altLang="el-GR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</a:rPr>
                <a:t>Γράψε μας την </a:t>
              </a:r>
              <a:r>
                <a:rPr kumimoji="0" lang="en-US" altLang="el-GR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ahoma" panose="020B0604030504040204" pitchFamily="34" charset="0"/>
                </a:rPr>
                <a:t>hailstone sequence</a:t>
              </a:r>
              <a:r>
                <a:rPr kumimoji="0" lang="en-US" altLang="el-GR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</a:rPr>
                <a:t> </a:t>
              </a:r>
              <a:r>
                <a:rPr kumimoji="0" lang="el-GR" altLang="el-GR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</a:rPr>
                <a:t>για τον αριθμό 25</a:t>
              </a:r>
              <a:endParaRPr kumimoji="0" lang="en-US" alt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pic>
          <p:nvPicPr>
            <p:cNvPr id="14" name="Picture 3">
              <a:extLst>
                <a:ext uri="{FF2B5EF4-FFF2-40B4-BE49-F238E27FC236}">
                  <a16:creationId xmlns:a16="http://schemas.microsoft.com/office/drawing/2014/main" id="{E365CC99-8650-DB0C-98B3-5FB85DAE387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93187" y="2995613"/>
              <a:ext cx="2207220" cy="2275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1" name="Θέση υποσέλιδου 4">
            <a:extLst>
              <a:ext uri="{FF2B5EF4-FFF2-40B4-BE49-F238E27FC236}">
                <a16:creationId xmlns:a16="http://schemas.microsoft.com/office/drawing/2014/main" id="{E8215764-84CC-E23B-BDAE-EFEAE13C29EB}"/>
              </a:ext>
            </a:extLst>
          </p:cNvPr>
          <p:cNvSpPr txBox="1">
            <a:spLocks/>
          </p:cNvSpPr>
          <p:nvPr/>
        </p:nvSpPr>
        <p:spPr>
          <a:xfrm>
            <a:off x="4149680" y="6670790"/>
            <a:ext cx="4631713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Control flow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 – 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Arrays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 - 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Type conversions</a:t>
            </a:r>
          </a:p>
          <a:p>
            <a:endParaRPr lang="el-GR" sz="11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3377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45E94D-F380-B6C6-3519-C1604CAAB2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532535F2-2843-103E-3490-4E4C239C9BDA}"/>
              </a:ext>
            </a:extLst>
          </p:cNvPr>
          <p:cNvSpPr/>
          <p:nvPr/>
        </p:nvSpPr>
        <p:spPr>
          <a:xfrm>
            <a:off x="140669" y="6559908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6D425543-32C7-9B31-2126-73915BDD54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Βήματα Διαδικασίας Ανάπτυξης Προγράμματος</a:t>
            </a: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89A71A5C-F007-E85E-12D2-35CFFE252529}"/>
              </a:ext>
            </a:extLst>
          </p:cNvPr>
          <p:cNvSpPr txBox="1">
            <a:spLocks/>
          </p:cNvSpPr>
          <p:nvPr/>
        </p:nvSpPr>
        <p:spPr>
          <a:xfrm>
            <a:off x="-1" y="6599394"/>
            <a:ext cx="3840633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© 202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5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Μια Εισαγωγή στην Τέχνη του Προγραμματισμού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3B4AB5A-B92C-4FD1-58BF-EA9C729AE232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200" dirty="0">
                <a:latin typeface="Bahnschrift Light" panose="020B0502040204020203" pitchFamily="34" charset="0"/>
                <a:cs typeface="Arial" pitchFamily="34" charset="0"/>
              </a:rPr>
              <a:t>Διαφάνεια </a:t>
            </a:r>
            <a:fld id="{7C15C5B5-03C6-48D8-B20F-65D93A6CF09E}" type="slidenum">
              <a:rPr lang="en-US" sz="1200" smtClean="0">
                <a:latin typeface="Bahnschrift Light" panose="020B0502040204020203" pitchFamily="34" charset="0"/>
                <a:cs typeface="Arial" pitchFamily="34" charset="0"/>
              </a:rPr>
              <a:pPr algn="r"/>
              <a:t>5</a:t>
            </a:fld>
            <a:endParaRPr lang="en-US" sz="1200" dirty="0">
              <a:latin typeface="Bahnschrift Light" panose="020B0502040204020203" pitchFamily="34" charset="0"/>
              <a:cs typeface="Arial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E6463B7-9EC0-A401-7030-7F6B8B7EA52E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0"/>
            <a:ext cx="9144000" cy="908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0033CC"/>
              </a:solidFill>
              <a:latin typeface="Times New Roman" pitchFamily="18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3932D12-058A-BD6F-9ED1-810B3400AF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7890017"/>
              </p:ext>
            </p:extLst>
          </p:nvPr>
        </p:nvGraphicFramePr>
        <p:xfrm>
          <a:off x="479015" y="1425518"/>
          <a:ext cx="1670628" cy="4828325"/>
        </p:xfrm>
        <a:graphic>
          <a:graphicData uri="http://schemas.openxmlformats.org/drawingml/2006/table">
            <a:tbl>
              <a:tblPr firstRow="1" bandRow="1"/>
              <a:tblGrid>
                <a:gridCol w="1670628">
                  <a:extLst>
                    <a:ext uri="{9D8B030D-6E8A-4147-A177-3AD203B41FA5}">
                      <a16:colId xmlns:a16="http://schemas.microsoft.com/office/drawing/2014/main" val="4210763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l-GR" sz="3600" dirty="0"/>
                        <a:t>Βήμα 1</a:t>
                      </a:r>
                      <a:endParaRPr lang="en-GB" sz="36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16454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3600" dirty="0"/>
                        <a:t>Βήμα 2</a:t>
                      </a:r>
                      <a:endParaRPr lang="en-GB" sz="36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8387748"/>
                  </a:ext>
                </a:extLst>
              </a:tr>
              <a:tr h="116419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3600" dirty="0"/>
                        <a:t>Βήμα 3</a:t>
                      </a:r>
                      <a:endParaRPr lang="en-GB" sz="36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1143437"/>
                  </a:ext>
                </a:extLst>
              </a:tr>
              <a:tr h="122464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3600" dirty="0"/>
                        <a:t>Βήμα 4</a:t>
                      </a:r>
                      <a:endParaRPr lang="en-GB" sz="36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313603"/>
                  </a:ext>
                </a:extLst>
              </a:tr>
              <a:tr h="115932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3600" dirty="0"/>
                        <a:t>Βήμα 5</a:t>
                      </a:r>
                      <a:endParaRPr lang="en-GB" sz="36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3280970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DF6EA23-9057-DF39-23DA-ABC3D694C3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2882171"/>
              </p:ext>
            </p:extLst>
          </p:nvPr>
        </p:nvGraphicFramePr>
        <p:xfrm>
          <a:off x="2170003" y="1425518"/>
          <a:ext cx="9341640" cy="4846320"/>
        </p:xfrm>
        <a:graphic>
          <a:graphicData uri="http://schemas.openxmlformats.org/drawingml/2006/table">
            <a:tbl>
              <a:tblPr firstRow="1" bandRow="1"/>
              <a:tblGrid>
                <a:gridCol w="9341640">
                  <a:extLst>
                    <a:ext uri="{9D8B030D-6E8A-4147-A177-3AD203B41FA5}">
                      <a16:colId xmlns:a16="http://schemas.microsoft.com/office/drawing/2014/main" val="4210763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l-GR" sz="3600" dirty="0"/>
                        <a:t>Γραφική αναπαράσταση διεργασίας</a:t>
                      </a:r>
                      <a:endParaRPr lang="en-GB" sz="3600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16454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3600" dirty="0"/>
                        <a:t>Λεκτική Περιγραφή</a:t>
                      </a:r>
                      <a:endParaRPr lang="en-GB" sz="3600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83877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3600" dirty="0"/>
                        <a:t>Μετατροπή Λεκτικής περιγραφής σε πηγαίο κώδικα. Δημιουργία </a:t>
                      </a:r>
                      <a:r>
                        <a:rPr lang="el-GR" sz="3600" dirty="0" err="1"/>
                        <a:t>project</a:t>
                      </a:r>
                      <a:endParaRPr lang="el-GR" sz="3600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11434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3600" dirty="0"/>
                        <a:t>Μετασχηματισμός πηγαίου κώδικα σε εκτελέσιμο (</a:t>
                      </a:r>
                      <a:r>
                        <a:rPr lang="el-GR" sz="3600" dirty="0" err="1"/>
                        <a:t>Build</a:t>
                      </a:r>
                      <a:r>
                        <a:rPr lang="el-GR" sz="3600" dirty="0"/>
                        <a:t>)</a:t>
                      </a:r>
                      <a:endParaRPr lang="en-GB" sz="3600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3136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3600" dirty="0"/>
                        <a:t>Εκτέλεση προγράμματος (</a:t>
                      </a:r>
                      <a:r>
                        <a:rPr lang="en-US" sz="3600" dirty="0"/>
                        <a:t>Run)</a:t>
                      </a:r>
                      <a:r>
                        <a:rPr lang="el-GR" sz="3600" dirty="0"/>
                        <a:t>, έλεγχος και διορθώσεις αν απαιτούνται</a:t>
                      </a:r>
                      <a:endParaRPr lang="en-GB" sz="3600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3280970"/>
                  </a:ext>
                </a:extLst>
              </a:tr>
            </a:tbl>
          </a:graphicData>
        </a:graphic>
      </p:graphicFrame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54F97B48-1C38-7EC3-7D95-0481216D51C3}"/>
              </a:ext>
            </a:extLst>
          </p:cNvPr>
          <p:cNvSpPr txBox="1">
            <a:spLocks/>
          </p:cNvSpPr>
          <p:nvPr/>
        </p:nvSpPr>
        <p:spPr>
          <a:xfrm>
            <a:off x="4149680" y="6670790"/>
            <a:ext cx="4631713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Control flow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 – 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Arrays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 - 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Type conversions</a:t>
            </a:r>
          </a:p>
          <a:p>
            <a:endParaRPr lang="el-GR" sz="11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3720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6FD22C-321E-F64D-E630-82B5F05C8C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0798BF3A-BFD4-18CB-AEF6-CC6BD40B9536}"/>
              </a:ext>
            </a:extLst>
          </p:cNvPr>
          <p:cNvSpPr/>
          <p:nvPr/>
        </p:nvSpPr>
        <p:spPr>
          <a:xfrm>
            <a:off x="140669" y="6559908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D41ED09B-CAE3-6EDE-941F-988FC0CD31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908050"/>
          </a:xfrm>
          <a:solidFill>
            <a:srgbClr val="FDCBAD"/>
          </a:solidFill>
        </p:spPr>
        <p:txBody>
          <a:bodyPr>
            <a:normAutofit fontScale="90000"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Συνοπτική περιγραφή διαδικασίας εκτέλεσης Δραστηριότητας 5-1</a:t>
            </a: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D2790C6A-10DC-4EB0-A9BE-0600C21E6D38}"/>
              </a:ext>
            </a:extLst>
          </p:cNvPr>
          <p:cNvSpPr txBox="1">
            <a:spLocks/>
          </p:cNvSpPr>
          <p:nvPr/>
        </p:nvSpPr>
        <p:spPr>
          <a:xfrm>
            <a:off x="-1" y="6599394"/>
            <a:ext cx="3840633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© 202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5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Μια Εισαγωγή στην Τέχνη του Προγραμματισμού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CF990E9-665A-4228-FF4A-9B09E85C477F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200" dirty="0">
                <a:latin typeface="Bahnschrift Light" panose="020B0502040204020203" pitchFamily="34" charset="0"/>
                <a:cs typeface="Arial" pitchFamily="34" charset="0"/>
              </a:rPr>
              <a:t>Διαφάνεια </a:t>
            </a:r>
            <a:fld id="{7C15C5B5-03C6-48D8-B20F-65D93A6CF09E}" type="slidenum">
              <a:rPr lang="en-US" sz="1200" smtClean="0">
                <a:latin typeface="Bahnschrift Light" panose="020B0502040204020203" pitchFamily="34" charset="0"/>
                <a:cs typeface="Arial" pitchFamily="34" charset="0"/>
              </a:rPr>
              <a:pPr algn="r"/>
              <a:t>6</a:t>
            </a:fld>
            <a:endParaRPr lang="en-US" sz="1200" dirty="0">
              <a:latin typeface="Bahnschrift Light" panose="020B0502040204020203" pitchFamily="34" charset="0"/>
              <a:cs typeface="Arial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6DCBE25-FEF2-A8A2-DA76-C9A5C63DFB1D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0"/>
            <a:ext cx="9144000" cy="908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0033CC"/>
              </a:solidFill>
              <a:latin typeface="Times New Roman" pitchFamily="18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31C7A8B-01FD-16FD-08A9-074730A431C1}"/>
              </a:ext>
            </a:extLst>
          </p:cNvPr>
          <p:cNvGraphicFramePr>
            <a:graphicFrameLocks noGrp="1"/>
          </p:cNvGraphicFramePr>
          <p:nvPr/>
        </p:nvGraphicFramePr>
        <p:xfrm>
          <a:off x="479015" y="1425519"/>
          <a:ext cx="1670628" cy="3474720"/>
        </p:xfrm>
        <a:graphic>
          <a:graphicData uri="http://schemas.openxmlformats.org/drawingml/2006/table">
            <a:tbl>
              <a:tblPr firstRow="1" bandRow="1"/>
              <a:tblGrid>
                <a:gridCol w="1670628">
                  <a:extLst>
                    <a:ext uri="{9D8B030D-6E8A-4147-A177-3AD203B41FA5}">
                      <a16:colId xmlns:a16="http://schemas.microsoft.com/office/drawing/2014/main" val="421076342"/>
                    </a:ext>
                  </a:extLst>
                </a:gridCol>
              </a:tblGrid>
              <a:tr h="480390">
                <a:tc>
                  <a:txBody>
                    <a:bodyPr/>
                    <a:lstStyle/>
                    <a:p>
                      <a:pPr algn="ctr"/>
                      <a:r>
                        <a:rPr lang="el-GR" sz="3200" dirty="0"/>
                        <a:t>1</a:t>
                      </a:r>
                      <a:endParaRPr lang="en-GB" sz="32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1645402"/>
                  </a:ext>
                </a:extLst>
              </a:tr>
              <a:tr h="48039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3200" dirty="0"/>
                        <a:t>2</a:t>
                      </a:r>
                      <a:endParaRPr lang="en-GB" sz="32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8387748"/>
                  </a:ext>
                </a:extLst>
              </a:tr>
              <a:tr h="48039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3200" dirty="0"/>
                        <a:t>3</a:t>
                      </a:r>
                      <a:endParaRPr lang="en-GB" sz="32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1143437"/>
                  </a:ext>
                </a:extLst>
              </a:tr>
              <a:tr h="48039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3200" dirty="0"/>
                        <a:t>4</a:t>
                      </a:r>
                      <a:endParaRPr lang="en-GB" sz="32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313603"/>
                  </a:ext>
                </a:extLst>
              </a:tr>
              <a:tr h="55291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3200" dirty="0"/>
                        <a:t>5</a:t>
                      </a:r>
                      <a:endParaRPr lang="en-GB" sz="32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3280970"/>
                  </a:ext>
                </a:extLst>
              </a:tr>
              <a:tr h="54182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dirty="0"/>
                        <a:t>6</a:t>
                      </a:r>
                      <a:endParaRPr lang="en-GB" sz="32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8063230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AC252ADE-D9A4-A8BE-1434-FC3A2A785540}"/>
              </a:ext>
            </a:extLst>
          </p:cNvPr>
          <p:cNvGraphicFramePr>
            <a:graphicFrameLocks noGrp="1"/>
          </p:cNvGraphicFramePr>
          <p:nvPr/>
        </p:nvGraphicFramePr>
        <p:xfrm>
          <a:off x="2170003" y="1425518"/>
          <a:ext cx="9341640" cy="3474720"/>
        </p:xfrm>
        <a:graphic>
          <a:graphicData uri="http://schemas.openxmlformats.org/drawingml/2006/table">
            <a:tbl>
              <a:tblPr firstRow="1" bandRow="1"/>
              <a:tblGrid>
                <a:gridCol w="9341640">
                  <a:extLst>
                    <a:ext uri="{9D8B030D-6E8A-4147-A177-3AD203B41FA5}">
                      <a16:colId xmlns:a16="http://schemas.microsoft.com/office/drawing/2014/main" val="4210763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l-GR" sz="3200" dirty="0"/>
                        <a:t>Γραφική αναπαράσταση της Διεργασίας</a:t>
                      </a:r>
                      <a:endParaRPr lang="en-GB" sz="3200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16454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l-GR" sz="3200" dirty="0"/>
                        <a:t>Λεκτική Περιγραφή</a:t>
                      </a:r>
                      <a:endParaRPr lang="en-GB" sz="3200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83877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3200" dirty="0"/>
                        <a:t>Μετατροπή Λεκτικής Περιγραφής σε Πηγαίο Κώδικα</a:t>
                      </a:r>
                      <a:endParaRPr lang="en-GB" sz="3200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11434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3200" dirty="0"/>
                        <a:t>Δημιουργία 1ης έκδοσης του </a:t>
                      </a:r>
                      <a:r>
                        <a:rPr lang="en-GB" sz="3200" dirty="0" err="1"/>
                        <a:t>HailstoneSequence</a:t>
                      </a:r>
                      <a:endParaRPr lang="el-GR" sz="3200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3136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3200" dirty="0"/>
                        <a:t>Δημιουργία </a:t>
                      </a:r>
                      <a:r>
                        <a:rPr lang="en-US" sz="3200" dirty="0"/>
                        <a:t>2</a:t>
                      </a:r>
                      <a:r>
                        <a:rPr lang="el-GR" sz="3200" dirty="0"/>
                        <a:t>ης έκδοσης του </a:t>
                      </a:r>
                      <a:r>
                        <a:rPr lang="en-GB" sz="3200" dirty="0" err="1"/>
                        <a:t>HailstoneSequence</a:t>
                      </a:r>
                      <a:endParaRPr lang="en-GB" sz="3200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32809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3200" dirty="0"/>
                        <a:t>Δημιουργία </a:t>
                      </a:r>
                      <a:r>
                        <a:rPr lang="en-US" sz="3200" dirty="0"/>
                        <a:t>3</a:t>
                      </a:r>
                      <a:r>
                        <a:rPr lang="el-GR" sz="3200" dirty="0"/>
                        <a:t>ης έκδοσης του </a:t>
                      </a:r>
                      <a:r>
                        <a:rPr lang="en-GB" sz="3200" dirty="0" err="1"/>
                        <a:t>HailstoneSequence</a:t>
                      </a:r>
                      <a:endParaRPr lang="en-GB" sz="3200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4436335"/>
                  </a:ext>
                </a:extLst>
              </a:tr>
            </a:tbl>
          </a:graphicData>
        </a:graphic>
      </p:graphicFrame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C5FF9581-EC23-F997-96F5-A93982422526}"/>
              </a:ext>
            </a:extLst>
          </p:cNvPr>
          <p:cNvSpPr txBox="1">
            <a:spLocks/>
          </p:cNvSpPr>
          <p:nvPr/>
        </p:nvSpPr>
        <p:spPr>
          <a:xfrm>
            <a:off x="4149680" y="6670790"/>
            <a:ext cx="4631713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Control flow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 – 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Arrays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 - 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Type conversions</a:t>
            </a:r>
          </a:p>
          <a:p>
            <a:endParaRPr lang="el-GR" sz="11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72160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216D46-7D33-6249-1B39-85D5E877C5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07197E54-79BB-5FDA-2D1E-3B7DD5FC9F17}"/>
              </a:ext>
            </a:extLst>
          </p:cNvPr>
          <p:cNvSpPr/>
          <p:nvPr/>
        </p:nvSpPr>
        <p:spPr>
          <a:xfrm>
            <a:off x="140669" y="6559908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62FDF562-4647-7562-563B-87B385A277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 fontScale="90000"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Η διεργασία παρασκευής καφέ – Γραφική αναπαράσταση</a:t>
            </a: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3E7F5718-3156-5609-631B-7C2F5270722D}"/>
              </a:ext>
            </a:extLst>
          </p:cNvPr>
          <p:cNvSpPr txBox="1">
            <a:spLocks/>
          </p:cNvSpPr>
          <p:nvPr/>
        </p:nvSpPr>
        <p:spPr>
          <a:xfrm>
            <a:off x="-1" y="6599394"/>
            <a:ext cx="3840633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© 202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5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Μια Εισαγωγή στην Τέχνη του Προγραμματισμού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870432E-C1EF-C2DD-8FF1-C0154072308B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200" dirty="0">
                <a:latin typeface="Bahnschrift Light" panose="020B0502040204020203" pitchFamily="34" charset="0"/>
                <a:cs typeface="Arial" pitchFamily="34" charset="0"/>
              </a:rPr>
              <a:t>Διαφάνεια </a:t>
            </a:r>
            <a:fld id="{7C15C5B5-03C6-48D8-B20F-65D93A6CF09E}" type="slidenum">
              <a:rPr lang="en-US" sz="1200" smtClean="0">
                <a:latin typeface="Bahnschrift Light" panose="020B0502040204020203" pitchFamily="34" charset="0"/>
                <a:cs typeface="Arial" pitchFamily="34" charset="0"/>
              </a:rPr>
              <a:pPr algn="r"/>
              <a:t>7</a:t>
            </a:fld>
            <a:endParaRPr lang="en-US" sz="1200" dirty="0">
              <a:latin typeface="Bahnschrift Light" panose="020B0502040204020203" pitchFamily="34" charset="0"/>
              <a:cs typeface="Arial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0BC1B53-9814-6A00-4D40-67AB0DD708CC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0"/>
            <a:ext cx="9144000" cy="908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0033CC"/>
              </a:solidFill>
              <a:latin typeface="Times New Roman" pitchFamily="18" charset="0"/>
            </a:endParaRPr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D3F9605A-D5E0-6E79-B30C-8603982FF091}"/>
              </a:ext>
            </a:extLst>
          </p:cNvPr>
          <p:cNvSpPr txBox="1">
            <a:spLocks/>
          </p:cNvSpPr>
          <p:nvPr/>
        </p:nvSpPr>
        <p:spPr>
          <a:xfrm>
            <a:off x="4149680" y="6670790"/>
            <a:ext cx="4631713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Control flow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 – 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Arrays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 - 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Type conversions</a:t>
            </a:r>
          </a:p>
          <a:p>
            <a:endParaRPr lang="el-GR" sz="11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DDAA2BF-23B0-370F-9E18-EE2945D2D2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344" y="3969100"/>
            <a:ext cx="11521279" cy="2305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Είναι μια </a:t>
            </a:r>
            <a:r>
              <a:rPr kumimoji="0" lang="el-GR" altLang="el-GR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σύνθετη</a:t>
            </a:r>
            <a:r>
              <a: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(παραγόμενη) </a:t>
            </a:r>
            <a:r>
              <a:rPr kumimoji="0" lang="el-GR" altLang="el-GR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διεργασία</a:t>
            </a:r>
            <a:r>
              <a: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που η υλοποίηση της δίνεται με την χρήση άλλων διεργασιών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Άλεσε τους κόκκους του καφέ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Ανάμειξε τα συνθετικά του καφέ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Βράσε το μείγμα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…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None/>
              <a:tabLst/>
              <a:defRPr/>
            </a:pPr>
            <a:endParaRPr kumimoji="0" lang="el-GR" altLang="el-GR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endParaRPr kumimoji="0" lang="el-GR" altLang="el-GR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endParaRPr kumimoji="0" lang="el-GR" altLang="el-GR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C2FF07F4-B214-A652-3822-BF1E58AD0962}"/>
              </a:ext>
            </a:extLst>
          </p:cNvPr>
          <p:cNvSpPr txBox="1">
            <a:spLocks/>
          </p:cNvSpPr>
          <p:nvPr/>
        </p:nvSpPr>
        <p:spPr bwMode="auto">
          <a:xfrm>
            <a:off x="10201276" y="6524626"/>
            <a:ext cx="466725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BABC257-ABBD-4FB8-972C-0B3D92F86389}" type="slidenum">
              <a:rPr kumimoji="0" lang="en-US" altLang="el-GR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el-GR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A08A8FF-C36E-3678-9A87-28C7C33DE664}"/>
              </a:ext>
            </a:extLst>
          </p:cNvPr>
          <p:cNvSpPr/>
          <p:nvPr/>
        </p:nvSpPr>
        <p:spPr bwMode="auto">
          <a:xfrm>
            <a:off x="4367808" y="1556129"/>
            <a:ext cx="3168352" cy="1512168"/>
          </a:xfrm>
          <a:prstGeom prst="ellipse">
            <a:avLst/>
          </a:prstGeom>
          <a:solidFill>
            <a:srgbClr val="00E4A8"/>
          </a:solidFill>
          <a:ln w="9525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παρασκευή </a:t>
            </a:r>
          </a:p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Ελληνικού </a:t>
            </a:r>
          </a:p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καφέ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0B19631-AB21-03B7-4EF7-66EB501D2251}"/>
              </a:ext>
            </a:extLst>
          </p:cNvPr>
          <p:cNvCxnSpPr>
            <a:cxnSpLocks/>
            <a:endCxn id="12" idx="1"/>
          </p:cNvCxnSpPr>
          <p:nvPr/>
        </p:nvCxnSpPr>
        <p:spPr bwMode="auto">
          <a:xfrm>
            <a:off x="2999656" y="1556129"/>
            <a:ext cx="1832146" cy="221452"/>
          </a:xfrm>
          <a:prstGeom prst="straightConnector1">
            <a:avLst/>
          </a:prstGeom>
          <a:solidFill>
            <a:srgbClr val="00E4A8"/>
          </a:solidFill>
          <a:ln w="28575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69E4F0D-D9F3-6ECE-A1D4-8B84E556AF86}"/>
              </a:ext>
            </a:extLst>
          </p:cNvPr>
          <p:cNvCxnSpPr>
            <a:endCxn id="12" idx="2"/>
          </p:cNvCxnSpPr>
          <p:nvPr/>
        </p:nvCxnSpPr>
        <p:spPr bwMode="auto">
          <a:xfrm flipV="1">
            <a:off x="2783632" y="2312214"/>
            <a:ext cx="1584176" cy="252723"/>
          </a:xfrm>
          <a:prstGeom prst="straightConnector1">
            <a:avLst/>
          </a:prstGeom>
          <a:solidFill>
            <a:srgbClr val="00E4A8"/>
          </a:solidFill>
          <a:ln w="28575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DF506A6-C812-053D-7AFC-D4058B23ED54}"/>
              </a:ext>
            </a:extLst>
          </p:cNvPr>
          <p:cNvCxnSpPr>
            <a:endCxn id="12" idx="3"/>
          </p:cNvCxnSpPr>
          <p:nvPr/>
        </p:nvCxnSpPr>
        <p:spPr bwMode="auto">
          <a:xfrm flipV="1">
            <a:off x="3719736" y="2846845"/>
            <a:ext cx="1112066" cy="797516"/>
          </a:xfrm>
          <a:prstGeom prst="straightConnector1">
            <a:avLst/>
          </a:prstGeom>
          <a:solidFill>
            <a:srgbClr val="00E4A8"/>
          </a:solidFill>
          <a:ln w="28575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B3A3550-F029-7238-FD62-5BE0560E6DB0}"/>
              </a:ext>
            </a:extLst>
          </p:cNvPr>
          <p:cNvCxnSpPr>
            <a:cxnSpLocks/>
            <a:stCxn id="12" idx="6"/>
            <a:endCxn id="22" idx="3"/>
          </p:cNvCxnSpPr>
          <p:nvPr/>
        </p:nvCxnSpPr>
        <p:spPr bwMode="auto">
          <a:xfrm flipV="1">
            <a:off x="7536160" y="2277905"/>
            <a:ext cx="2196244" cy="34308"/>
          </a:xfrm>
          <a:prstGeom prst="straightConnector1">
            <a:avLst/>
          </a:prstGeom>
          <a:solidFill>
            <a:srgbClr val="00E4A8"/>
          </a:solidFill>
          <a:ln w="28575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3850ED7C-84C4-D294-B805-60A03D75FEF1}"/>
              </a:ext>
            </a:extLst>
          </p:cNvPr>
          <p:cNvSpPr txBox="1"/>
          <p:nvPr/>
        </p:nvSpPr>
        <p:spPr>
          <a:xfrm>
            <a:off x="3053385" y="1202463"/>
            <a:ext cx="18565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l-GR" sz="2400" dirty="0">
                <a:solidFill>
                  <a:srgbClr val="000000"/>
                </a:solidFill>
                <a:latin typeface="Tahoma" panose="020B0604030504040204" pitchFamily="34" charset="0"/>
              </a:rPr>
              <a:t>Κόκκοι καφέ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965BD6F-1300-8214-21FF-075D5035B7F6}"/>
              </a:ext>
            </a:extLst>
          </p:cNvPr>
          <p:cNvSpPr txBox="1"/>
          <p:nvPr/>
        </p:nvSpPr>
        <p:spPr>
          <a:xfrm>
            <a:off x="3327139" y="2841390"/>
            <a:ext cx="11416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l-GR" sz="2400" dirty="0">
                <a:solidFill>
                  <a:srgbClr val="000000"/>
                </a:solidFill>
                <a:latin typeface="Tahoma" panose="020B0604030504040204" pitchFamily="34" charset="0"/>
              </a:rPr>
              <a:t>ζάχαρη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64F04CD-5E3E-EA9F-EFC5-B5D7EB20FBFC}"/>
              </a:ext>
            </a:extLst>
          </p:cNvPr>
          <p:cNvSpPr txBox="1"/>
          <p:nvPr/>
        </p:nvSpPr>
        <p:spPr>
          <a:xfrm>
            <a:off x="2999657" y="2047074"/>
            <a:ext cx="8146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l-GR" sz="2400" dirty="0">
                <a:solidFill>
                  <a:srgbClr val="000000"/>
                </a:solidFill>
                <a:latin typeface="Tahoma" panose="020B0604030504040204" pitchFamily="34" charset="0"/>
              </a:rPr>
              <a:t>νερό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F10F5C3-61F9-C77C-A1B5-5EF4EC817B13}"/>
              </a:ext>
            </a:extLst>
          </p:cNvPr>
          <p:cNvCxnSpPr>
            <a:endCxn id="12" idx="4"/>
          </p:cNvCxnSpPr>
          <p:nvPr/>
        </p:nvCxnSpPr>
        <p:spPr bwMode="auto">
          <a:xfrm flipV="1">
            <a:off x="4583832" y="3068297"/>
            <a:ext cx="1368152" cy="965914"/>
          </a:xfrm>
          <a:prstGeom prst="straightConnector1">
            <a:avLst/>
          </a:prstGeom>
          <a:solidFill>
            <a:srgbClr val="00E4A8"/>
          </a:solidFill>
          <a:ln w="28575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9812109B-B991-C482-592D-720A8282D676}"/>
              </a:ext>
            </a:extLst>
          </p:cNvPr>
          <p:cNvSpPr txBox="1"/>
          <p:nvPr/>
        </p:nvSpPr>
        <p:spPr>
          <a:xfrm>
            <a:off x="5034499" y="3512326"/>
            <a:ext cx="13227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l-GR" sz="2400" dirty="0">
                <a:solidFill>
                  <a:srgbClr val="000000"/>
                </a:solidFill>
                <a:latin typeface="Tahoma" panose="020B0604030504040204" pitchFamily="34" charset="0"/>
              </a:rPr>
              <a:t>ενέργεια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28B56CB-0AE8-F4C8-34E4-1330DE5B40A5}"/>
              </a:ext>
            </a:extLst>
          </p:cNvPr>
          <p:cNvSpPr txBox="1"/>
          <p:nvPr/>
        </p:nvSpPr>
        <p:spPr>
          <a:xfrm>
            <a:off x="8076220" y="1862407"/>
            <a:ext cx="16561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l-GR" sz="2400" dirty="0">
                <a:solidFill>
                  <a:srgbClr val="000000"/>
                </a:solidFill>
                <a:latin typeface="Tahoma" panose="020B0604030504040204" pitchFamily="34" charset="0"/>
              </a:rPr>
              <a:t>Ελληνικός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l-GR" sz="2400" dirty="0">
                <a:solidFill>
                  <a:srgbClr val="000000"/>
                </a:solidFill>
                <a:latin typeface="Tahoma" panose="020B0604030504040204" pitchFamily="34" charset="0"/>
              </a:rPr>
              <a:t>καφές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42CB715F-A3FD-F82D-E9A4-ABBC04F384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380" y="4381006"/>
            <a:ext cx="1460266" cy="1968815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A4C992A6-6CC6-C7E1-9948-30659C42DC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19445" y="5122056"/>
            <a:ext cx="1693177" cy="1162312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D0462AC4-ECAF-1E2F-17C4-DFE444F8ED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76220" y="4904495"/>
            <a:ext cx="1639296" cy="1402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7854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70C62C-8F4E-6B29-A7E8-ECF2254897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23352B35-ACE2-E8CD-50D9-28455B6B6990}"/>
              </a:ext>
            </a:extLst>
          </p:cNvPr>
          <p:cNvSpPr/>
          <p:nvPr/>
        </p:nvSpPr>
        <p:spPr>
          <a:xfrm>
            <a:off x="140669" y="6559908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80221910-3A90-3CDA-B9E5-AF4F9E8FD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Η διεργασία παρασκευής καφέ - Συνθετικά</a:t>
            </a: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E249FC26-09AB-F6CC-D204-5AE023B77C01}"/>
              </a:ext>
            </a:extLst>
          </p:cNvPr>
          <p:cNvSpPr txBox="1">
            <a:spLocks/>
          </p:cNvSpPr>
          <p:nvPr/>
        </p:nvSpPr>
        <p:spPr>
          <a:xfrm>
            <a:off x="-1" y="6599394"/>
            <a:ext cx="3840633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© 202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5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Μια Εισαγωγή στην Τέχνη του Προγραμματισμού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3F0C01B-9A44-6CA5-8FCB-191EAFC36676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200" dirty="0">
                <a:latin typeface="Bahnschrift Light" panose="020B0502040204020203" pitchFamily="34" charset="0"/>
                <a:cs typeface="Arial" pitchFamily="34" charset="0"/>
              </a:rPr>
              <a:t>Διαφάνεια </a:t>
            </a:r>
            <a:fld id="{7C15C5B5-03C6-48D8-B20F-65D93A6CF09E}" type="slidenum">
              <a:rPr lang="en-US" sz="1200" smtClean="0">
                <a:latin typeface="Bahnschrift Light" panose="020B0502040204020203" pitchFamily="34" charset="0"/>
                <a:cs typeface="Arial" pitchFamily="34" charset="0"/>
              </a:rPr>
              <a:pPr algn="r"/>
              <a:t>8</a:t>
            </a:fld>
            <a:endParaRPr lang="en-US" sz="1200" dirty="0">
              <a:latin typeface="Bahnschrift Light" panose="020B0502040204020203" pitchFamily="34" charset="0"/>
              <a:cs typeface="Arial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8451CDB-F5EF-D7CE-F561-AFA5082F3914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0"/>
            <a:ext cx="9144000" cy="908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0033CC"/>
              </a:solidFill>
              <a:latin typeface="Times New Roman" pitchFamily="18" charset="0"/>
            </a:endParaRPr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B5455A12-AC70-AD03-929C-F63AC84E12B2}"/>
              </a:ext>
            </a:extLst>
          </p:cNvPr>
          <p:cNvSpPr txBox="1">
            <a:spLocks/>
          </p:cNvSpPr>
          <p:nvPr/>
        </p:nvSpPr>
        <p:spPr>
          <a:xfrm>
            <a:off x="4149680" y="6670790"/>
            <a:ext cx="4631713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Control flow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 – 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Arrays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 - 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Type conversions</a:t>
            </a:r>
          </a:p>
          <a:p>
            <a:endParaRPr lang="el-GR" sz="11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FC763629-43E1-81A9-AA77-A9DDC395BC71}"/>
              </a:ext>
            </a:extLst>
          </p:cNvPr>
          <p:cNvSpPr txBox="1">
            <a:spLocks/>
          </p:cNvSpPr>
          <p:nvPr/>
        </p:nvSpPr>
        <p:spPr bwMode="auto">
          <a:xfrm>
            <a:off x="10201276" y="6524626"/>
            <a:ext cx="466725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BABC257-ABBD-4FB8-972C-0B3D92F86389}" type="slidenum">
              <a:rPr kumimoji="0" lang="en-US" altLang="el-GR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el-GR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A4382037-9E92-6FF9-D7FF-AB40FCF754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352" y="3074465"/>
            <a:ext cx="11665296" cy="31181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sz="3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Η διεργασία έχει :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Όνομα</a:t>
            </a:r>
            <a:r>
              <a:rPr kumimoji="0" lang="el-GR" altLang="el-GR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 ( Ορίζει το </a:t>
            </a:r>
            <a:r>
              <a:rPr kumimoji="0" lang="el-GR" altLang="el-GR" sz="32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/>
              </a:rPr>
              <a:t>τι</a:t>
            </a:r>
            <a:r>
              <a:rPr kumimoji="0" lang="el-GR" altLang="el-GR" sz="2800" b="1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/>
              </a:rPr>
              <a:t> κάνει </a:t>
            </a:r>
            <a:r>
              <a:rPr kumimoji="0" lang="el-GR" altLang="el-GR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η διεργασία)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Περιγραφή</a:t>
            </a:r>
            <a:r>
              <a:rPr kumimoji="0" lang="el-GR" altLang="el-GR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 (Ορίζει το </a:t>
            </a:r>
            <a:r>
              <a:rPr kumimoji="0" lang="el-GR" altLang="el-GR" sz="32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/>
              </a:rPr>
              <a:t>πως</a:t>
            </a:r>
            <a:r>
              <a:rPr kumimoji="0" lang="el-GR" altLang="el-GR" sz="2800" b="1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/>
              </a:rPr>
              <a:t> το κάνει</a:t>
            </a:r>
            <a:r>
              <a:rPr kumimoji="0" lang="el-GR" altLang="el-GR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)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Δέχεται </a:t>
            </a:r>
            <a:r>
              <a:rPr kumimoji="0" lang="el-GR" altLang="el-GR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εισόδους</a:t>
            </a:r>
            <a:r>
              <a:rPr kumimoji="0" lang="el-GR" altLang="el-GR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 (τις οποίες επεξεργάζεται)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Παράγει </a:t>
            </a:r>
            <a:r>
              <a:rPr kumimoji="0" lang="el-GR" altLang="el-GR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έξοδο/δους </a:t>
            </a:r>
            <a:r>
              <a:rPr kumimoji="0" lang="el-GR" altLang="el-GR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(τις οποίες διαμορφώνει με βάση τις εισόδους)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endParaRPr kumimoji="0" lang="el-GR" altLang="el-GR" sz="3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endParaRPr kumimoji="0" lang="el-GR" altLang="el-G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0930610E-A09E-AEFB-4547-BA0E1A6934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3714" y="836712"/>
            <a:ext cx="5133018" cy="2266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2464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DDFFA3-0096-C4BB-A415-BEFE813B5F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708BB5C3-EACC-7696-F85A-FBCD3685ECDC}"/>
              </a:ext>
            </a:extLst>
          </p:cNvPr>
          <p:cNvSpPr/>
          <p:nvPr/>
        </p:nvSpPr>
        <p:spPr>
          <a:xfrm>
            <a:off x="140669" y="6559908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59882D2D-ACBF-48D5-DD7E-D159D59B7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908050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Γραφική αναπαράσταση Διεργασίας</a:t>
            </a: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37BECFC1-33B3-76A5-7CAF-0CB23B24B3D4}"/>
              </a:ext>
            </a:extLst>
          </p:cNvPr>
          <p:cNvSpPr txBox="1">
            <a:spLocks/>
          </p:cNvSpPr>
          <p:nvPr/>
        </p:nvSpPr>
        <p:spPr>
          <a:xfrm>
            <a:off x="-1" y="6599394"/>
            <a:ext cx="3840633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© 202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5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Μια Εισαγωγή στην Τέχνη του Προγραμματισμού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9FA2973-FC9A-D1EF-3302-E7379F5A1EBF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200" dirty="0">
                <a:latin typeface="Bahnschrift Light" panose="020B0502040204020203" pitchFamily="34" charset="0"/>
                <a:cs typeface="Arial" pitchFamily="34" charset="0"/>
              </a:rPr>
              <a:t>Διαφάνεια </a:t>
            </a:r>
            <a:fld id="{7C15C5B5-03C6-48D8-B20F-65D93A6CF09E}" type="slidenum">
              <a:rPr lang="en-US" sz="1200" smtClean="0">
                <a:latin typeface="Bahnschrift Light" panose="020B0502040204020203" pitchFamily="34" charset="0"/>
                <a:cs typeface="Arial" pitchFamily="34" charset="0"/>
              </a:rPr>
              <a:pPr algn="r"/>
              <a:t>9</a:t>
            </a:fld>
            <a:endParaRPr lang="en-US" sz="1200" dirty="0">
              <a:latin typeface="Bahnschrift Light" panose="020B0502040204020203" pitchFamily="34" charset="0"/>
              <a:cs typeface="Arial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F7A6753-0F22-330A-38F0-999DFAC5EB80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0"/>
            <a:ext cx="9144000" cy="908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0033CC"/>
              </a:solidFill>
              <a:latin typeface="Times New Roman" pitchFamily="18" charset="0"/>
            </a:endParaRP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EDBCEE06-822E-6EA6-AAD8-0781395A8E79}"/>
              </a:ext>
            </a:extLst>
          </p:cNvPr>
          <p:cNvGrpSpPr/>
          <p:nvPr/>
        </p:nvGrpSpPr>
        <p:grpSpPr>
          <a:xfrm>
            <a:off x="1534317" y="5304162"/>
            <a:ext cx="7030755" cy="1008112"/>
            <a:chOff x="1534317" y="5304162"/>
            <a:chExt cx="7030755" cy="1008112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C1E6238-6285-E014-48FC-54F7E5081089}"/>
                </a:ext>
              </a:extLst>
            </p:cNvPr>
            <p:cNvSpPr/>
            <p:nvPr/>
          </p:nvSpPr>
          <p:spPr bwMode="auto">
            <a:xfrm>
              <a:off x="3560516" y="5304162"/>
              <a:ext cx="2880320" cy="1008112"/>
            </a:xfrm>
            <a:prstGeom prst="ellipse">
              <a:avLst/>
            </a:prstGeom>
            <a:solidFill>
              <a:srgbClr val="00E4A8"/>
            </a:solidFill>
            <a:ln w="9525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l-GR" sz="200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</a:rPr>
                <a:t>Μεταγλώττισε πηγαίο κώδικα</a:t>
              </a:r>
            </a:p>
          </p:txBody>
        </p: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7C3A0234-C668-64BD-6FAC-CC353261255E}"/>
                </a:ext>
              </a:extLst>
            </p:cNvPr>
            <p:cNvGrpSpPr/>
            <p:nvPr/>
          </p:nvGrpSpPr>
          <p:grpSpPr>
            <a:xfrm>
              <a:off x="1534317" y="5375314"/>
              <a:ext cx="2026199" cy="780791"/>
              <a:chOff x="1534317" y="5375314"/>
              <a:chExt cx="2026199" cy="780791"/>
            </a:xfrm>
          </p:grpSpPr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B3313B90-64C6-00EE-20A0-4B1CA43064B4}"/>
                  </a:ext>
                </a:extLst>
              </p:cNvPr>
              <p:cNvCxnSpPr>
                <a:endCxn id="15" idx="2"/>
              </p:cNvCxnSpPr>
              <p:nvPr/>
            </p:nvCxnSpPr>
            <p:spPr bwMode="auto">
              <a:xfrm flipV="1">
                <a:off x="1832324" y="5808218"/>
                <a:ext cx="1728192" cy="31378"/>
              </a:xfrm>
              <a:prstGeom prst="straightConnector1">
                <a:avLst/>
              </a:prstGeom>
              <a:solidFill>
                <a:srgbClr val="00E4A8"/>
              </a:solidFill>
              <a:ln w="57150" cap="flat" cmpd="sng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triangle"/>
              </a:ln>
              <a:effectLst/>
            </p:spPr>
          </p:cxn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9AF9CF5-D717-93A8-23C3-CCDCA7F72342}"/>
                  </a:ext>
                </a:extLst>
              </p:cNvPr>
              <p:cNvSpPr txBox="1"/>
              <p:nvPr/>
            </p:nvSpPr>
            <p:spPr>
              <a:xfrm>
                <a:off x="1534317" y="5375314"/>
                <a:ext cx="1584176" cy="7807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eaLnBrk="0" fontAlgn="base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l-GR" sz="1600" dirty="0">
                    <a:solidFill>
                      <a:srgbClr val="000000"/>
                    </a:solidFill>
                    <a:latin typeface="Tahoma" panose="020B0604030504040204" pitchFamily="34" charset="0"/>
                  </a:rPr>
                  <a:t>Αρχείο πηγαίου κώδικα</a:t>
                </a:r>
              </a:p>
            </p:txBody>
          </p:sp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E3F158E0-BC37-23F9-C03F-179D6B8ED17E}"/>
                </a:ext>
              </a:extLst>
            </p:cNvPr>
            <p:cNvGrpSpPr/>
            <p:nvPr/>
          </p:nvGrpSpPr>
          <p:grpSpPr>
            <a:xfrm>
              <a:off x="6440836" y="5351675"/>
              <a:ext cx="2124236" cy="780791"/>
              <a:chOff x="6440836" y="5351675"/>
              <a:chExt cx="2124236" cy="780791"/>
            </a:xfrm>
          </p:grpSpPr>
          <p:cxnSp>
            <p:nvCxnSpPr>
              <p:cNvPr id="18" name="Straight Arrow Connector 17">
                <a:extLst>
                  <a:ext uri="{FF2B5EF4-FFF2-40B4-BE49-F238E27FC236}">
                    <a16:creationId xmlns:a16="http://schemas.microsoft.com/office/drawing/2014/main" id="{D0ADF2C7-C00E-0B84-F454-D633F81B6B2C}"/>
                  </a:ext>
                </a:extLst>
              </p:cNvPr>
              <p:cNvCxnSpPr>
                <a:stCxn id="15" idx="6"/>
              </p:cNvCxnSpPr>
              <p:nvPr/>
            </p:nvCxnSpPr>
            <p:spPr bwMode="auto">
              <a:xfrm>
                <a:off x="6440836" y="5808218"/>
                <a:ext cx="1944216" cy="0"/>
              </a:xfrm>
              <a:prstGeom prst="straightConnector1">
                <a:avLst/>
              </a:prstGeom>
              <a:solidFill>
                <a:srgbClr val="00E4A8"/>
              </a:solidFill>
              <a:ln w="57150" cap="flat" cmpd="sng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triangle"/>
              </a:ln>
              <a:effectLst/>
            </p:spPr>
          </p:cxn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96A3762-2800-2354-C200-CE8C917E3F86}"/>
                  </a:ext>
                </a:extLst>
              </p:cNvPr>
              <p:cNvSpPr txBox="1"/>
              <p:nvPr/>
            </p:nvSpPr>
            <p:spPr>
              <a:xfrm>
                <a:off x="6620856" y="5351675"/>
                <a:ext cx="1944216" cy="7807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l-GR"/>
                </a:defPPr>
                <a:lvl1pPr eaLnBrk="0" fontAlgn="base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rgbClr val="000000"/>
                    </a:solidFill>
                    <a:latin typeface="Tahoma" panose="020B0604030504040204" pitchFamily="34" charset="0"/>
                  </a:defRPr>
                </a:lvl1pPr>
              </a:lstStyle>
              <a:p>
                <a:r>
                  <a:rPr lang="el-GR" dirty="0"/>
                  <a:t>Αρχείο εκτελέσιμου κώδικα</a:t>
                </a:r>
              </a:p>
            </p:txBody>
          </p:sp>
        </p:grpSp>
      </p:grp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D1E2FB62-1E71-5467-66F7-E373187F79A4}"/>
              </a:ext>
            </a:extLst>
          </p:cNvPr>
          <p:cNvSpPr txBox="1">
            <a:spLocks/>
          </p:cNvSpPr>
          <p:nvPr/>
        </p:nvSpPr>
        <p:spPr bwMode="auto">
          <a:xfrm>
            <a:off x="-1" y="861413"/>
            <a:ext cx="12191999" cy="1178239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Clr>
                <a:srgbClr val="3333CC"/>
              </a:buClr>
              <a:defRPr/>
            </a:pPr>
            <a:r>
              <a:rPr lang="el-GR" sz="2000" b="1" kern="0" dirty="0">
                <a:solidFill>
                  <a:srgbClr val="000000"/>
                </a:solidFill>
                <a:latin typeface="Tahoma"/>
              </a:rPr>
              <a:t>οριοθετεί με γραφικό τρόπο το πρόγραμμα</a:t>
            </a:r>
            <a:r>
              <a:rPr lang="el-GR" sz="2000" kern="0" dirty="0">
                <a:solidFill>
                  <a:srgbClr val="000000"/>
                </a:solidFill>
                <a:latin typeface="Tahoma"/>
              </a:rPr>
              <a:t>, το οποίο θα αναπτύξουμε, και </a:t>
            </a:r>
            <a:r>
              <a:rPr lang="el-GR" sz="2000" b="1" kern="0" dirty="0">
                <a:solidFill>
                  <a:srgbClr val="000000"/>
                </a:solidFill>
                <a:latin typeface="Tahoma"/>
              </a:rPr>
              <a:t>καταγράφει τις εισόδους</a:t>
            </a:r>
            <a:r>
              <a:rPr lang="el-GR" sz="2000" kern="0" dirty="0">
                <a:solidFill>
                  <a:srgbClr val="000000"/>
                </a:solidFill>
                <a:latin typeface="Tahoma"/>
              </a:rPr>
              <a:t> (δεδομένα που δέχεται ως είσοδο το πρόγραμμα μας) </a:t>
            </a:r>
            <a:r>
              <a:rPr lang="el-GR" sz="2000" b="1" kern="0" dirty="0">
                <a:solidFill>
                  <a:srgbClr val="000000"/>
                </a:solidFill>
                <a:latin typeface="Tahoma"/>
              </a:rPr>
              <a:t>και τις εξόδους  </a:t>
            </a:r>
            <a:r>
              <a:rPr lang="el-GR" sz="2000" kern="0" dirty="0">
                <a:solidFill>
                  <a:srgbClr val="000000"/>
                </a:solidFill>
                <a:latin typeface="Tahoma"/>
              </a:rPr>
              <a:t>(δεδομένα που παράγει το  πρόγραμμα μας)</a:t>
            </a:r>
          </a:p>
        </p:txBody>
      </p:sp>
      <p:sp>
        <p:nvSpPr>
          <p:cNvPr id="21" name="Θέση υποσέλιδου 4">
            <a:extLst>
              <a:ext uri="{FF2B5EF4-FFF2-40B4-BE49-F238E27FC236}">
                <a16:creationId xmlns:a16="http://schemas.microsoft.com/office/drawing/2014/main" id="{B5E65AD8-DD53-0A9C-56B5-C9A330B6CA39}"/>
              </a:ext>
            </a:extLst>
          </p:cNvPr>
          <p:cNvSpPr txBox="1">
            <a:spLocks/>
          </p:cNvSpPr>
          <p:nvPr/>
        </p:nvSpPr>
        <p:spPr>
          <a:xfrm>
            <a:off x="4149680" y="6670790"/>
            <a:ext cx="4631713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Control flow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 – 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Arrays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 - 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Type conversions</a:t>
            </a:r>
          </a:p>
          <a:p>
            <a:endParaRPr lang="el-GR" sz="11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0FD70170-2A1D-B841-ABA2-2DC615EEB3E9}"/>
              </a:ext>
            </a:extLst>
          </p:cNvPr>
          <p:cNvGrpSpPr/>
          <p:nvPr/>
        </p:nvGrpSpPr>
        <p:grpSpPr>
          <a:xfrm>
            <a:off x="1833212" y="2464444"/>
            <a:ext cx="7308206" cy="1876674"/>
            <a:chOff x="1833212" y="2464444"/>
            <a:chExt cx="7308206" cy="1876674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21879FF2-018A-EF8D-5D59-A64B80549D9A}"/>
                </a:ext>
              </a:extLst>
            </p:cNvPr>
            <p:cNvSpPr/>
            <p:nvPr/>
          </p:nvSpPr>
          <p:spPr bwMode="auto">
            <a:xfrm>
              <a:off x="6405114" y="2464444"/>
              <a:ext cx="2736304" cy="759802"/>
            </a:xfrm>
            <a:prstGeom prst="rect">
              <a:avLst/>
            </a:prstGeom>
            <a:solidFill>
              <a:srgbClr val="FFFFFF"/>
            </a:solidFill>
            <a:ln w="9525" cap="flat" cmpd="sng" algn="ctr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</a:rPr>
                <a:t>hailstone </a:t>
              </a:r>
            </a:p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</a:rPr>
                <a:t>sequence </a:t>
              </a:r>
              <a:r>
                <a:rPr kumimoji="0" lang="el-GR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</a:rPr>
                <a:t>του </a:t>
              </a:r>
            </a:p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l-GR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</a:rPr>
                <a:t>αριθμού</a:t>
              </a:r>
              <a:endParaRPr kumimoji="0" 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</a:endParaRP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AB6D31AD-9AC3-63E4-2D5E-72E927210284}"/>
                </a:ext>
              </a:extLst>
            </p:cNvPr>
            <p:cNvSpPr/>
            <p:nvPr/>
          </p:nvSpPr>
          <p:spPr bwMode="auto">
            <a:xfrm>
              <a:off x="3560516" y="2726218"/>
              <a:ext cx="3168352" cy="1512168"/>
            </a:xfrm>
            <a:prstGeom prst="ellipse">
              <a:avLst/>
            </a:prstGeom>
            <a:solidFill>
              <a:srgbClr val="00E4A8"/>
            </a:solidFill>
            <a:ln w="9525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l-GR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</a:rPr>
                <a:t>Εμφάνισε</a:t>
              </a:r>
              <a:r>
                <a:rPr kumimoji="0" lang="en-GB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</a:rPr>
                <a:t> hailstone </a:t>
              </a:r>
            </a:p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</a:rPr>
                <a:t>sequence </a:t>
              </a:r>
              <a:r>
                <a:rPr kumimoji="0" lang="el-GR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</a:rPr>
                <a:t>του </a:t>
              </a:r>
            </a:p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l-GR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</a:rPr>
                <a:t>αριθμού</a:t>
              </a:r>
            </a:p>
          </p:txBody>
        </p: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00D3E4D3-C160-A35D-4FED-EF5E097C3069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1833212" y="2956029"/>
              <a:ext cx="1832146" cy="221452"/>
            </a:xfrm>
            <a:prstGeom prst="straightConnector1">
              <a:avLst/>
            </a:prstGeom>
            <a:solidFill>
              <a:srgbClr val="00E4A8"/>
            </a:solidFill>
            <a:ln w="28575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triangle"/>
            </a:ln>
            <a:effectLst/>
          </p:spPr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18B41511-2612-8D05-C040-DF30F0A7C72B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2004480" y="3574137"/>
              <a:ext cx="1584176" cy="252723"/>
            </a:xfrm>
            <a:prstGeom prst="straightConnector1">
              <a:avLst/>
            </a:prstGeom>
            <a:solidFill>
              <a:srgbClr val="00E4A8"/>
            </a:solidFill>
            <a:ln w="28575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triangle"/>
            </a:ln>
            <a:effectLst/>
          </p:spPr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EDD27DF9-14EC-F9D8-9394-CF2872D3899B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6537516" y="2757423"/>
              <a:ext cx="2232248" cy="250074"/>
            </a:xfrm>
            <a:prstGeom prst="straightConnector1">
              <a:avLst/>
            </a:prstGeom>
            <a:solidFill>
              <a:srgbClr val="00E4A8"/>
            </a:solidFill>
            <a:ln w="28575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triangle"/>
            </a:ln>
            <a:effectLst/>
          </p:spPr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73CAB027-9E83-5366-3048-36B0FE0BD527}"/>
                </a:ext>
              </a:extLst>
            </p:cNvPr>
            <p:cNvSpPr txBox="1"/>
            <p:nvPr/>
          </p:nvSpPr>
          <p:spPr>
            <a:xfrm>
              <a:off x="1863021" y="2471620"/>
              <a:ext cx="125547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l-GR" sz="2400" dirty="0">
                  <a:solidFill>
                    <a:srgbClr val="000000"/>
                  </a:solidFill>
                  <a:latin typeface="Tahoma" panose="020B0604030504040204" pitchFamily="34" charset="0"/>
                </a:rPr>
                <a:t>Αριθμός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2DEE5842-2135-877E-EEDB-E14D0C741BC3}"/>
                </a:ext>
              </a:extLst>
            </p:cNvPr>
            <p:cNvSpPr txBox="1"/>
            <p:nvPr/>
          </p:nvSpPr>
          <p:spPr>
            <a:xfrm>
              <a:off x="2010505" y="3879453"/>
              <a:ext cx="183415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l-GR" sz="2400" dirty="0">
                  <a:solidFill>
                    <a:srgbClr val="000000"/>
                  </a:solidFill>
                  <a:latin typeface="Tahoma" panose="020B0604030504040204" pitchFamily="34" charset="0"/>
                </a:rPr>
                <a:t>1 (σταθερά)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601978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AA752E-0AB4-94FF-8CE0-6E1484F3ED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8D7DC80D-4FBD-59B4-CFA9-A7D89E2501F6}"/>
              </a:ext>
            </a:extLst>
          </p:cNvPr>
          <p:cNvSpPr/>
          <p:nvPr/>
        </p:nvSpPr>
        <p:spPr>
          <a:xfrm>
            <a:off x="140669" y="6559908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04F34796-2DEF-4894-E84D-62255DD82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1026368"/>
          </a:xfrm>
          <a:solidFill>
            <a:srgbClr val="FDCBAD"/>
          </a:solidFill>
        </p:spPr>
        <p:txBody>
          <a:bodyPr>
            <a:normAutofit fontScale="90000"/>
          </a:bodyPr>
          <a:lstStyle/>
          <a:p>
            <a:r>
              <a:rPr lang="en-GB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Hailstone sequence</a:t>
            </a:r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  </a:t>
            </a:r>
            <a:b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</a:br>
            <a:r>
              <a:rPr lang="el-GR" sz="4000" dirty="0">
                <a:solidFill>
                  <a:srgbClr val="F9853D"/>
                </a:solidFill>
                <a:latin typeface="Bahnschrift" panose="020B0502040204020203" pitchFamily="34" charset="0"/>
              </a:rPr>
              <a:t>Ορισμός και Κανόνες υπολογισμού</a:t>
            </a: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35BF7AEB-A741-444C-B687-9CF9CF01325F}"/>
              </a:ext>
            </a:extLst>
          </p:cNvPr>
          <p:cNvSpPr txBox="1">
            <a:spLocks/>
          </p:cNvSpPr>
          <p:nvPr/>
        </p:nvSpPr>
        <p:spPr>
          <a:xfrm>
            <a:off x="-1" y="6599394"/>
            <a:ext cx="3840633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© 202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5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Μια Εισαγωγή στην Τέχνη του Προγραμματισμού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6CF93B6-00B2-200B-8941-3E2FB31A86B3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200" dirty="0">
                <a:latin typeface="Bahnschrift Light" panose="020B0502040204020203" pitchFamily="34" charset="0"/>
                <a:cs typeface="Arial" pitchFamily="34" charset="0"/>
              </a:rPr>
              <a:t>Διαφάνεια </a:t>
            </a:r>
            <a:fld id="{7C15C5B5-03C6-48D8-B20F-65D93A6CF09E}" type="slidenum">
              <a:rPr lang="en-US" sz="1200" smtClean="0">
                <a:latin typeface="Bahnschrift Light" panose="020B0502040204020203" pitchFamily="34" charset="0"/>
                <a:cs typeface="Arial" pitchFamily="34" charset="0"/>
              </a:rPr>
              <a:pPr algn="r"/>
              <a:t>10</a:t>
            </a:fld>
            <a:endParaRPr lang="en-US" sz="1200" dirty="0">
              <a:latin typeface="Bahnschrift Light" panose="020B0502040204020203" pitchFamily="34" charset="0"/>
              <a:cs typeface="Arial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B86315C-7A82-FA52-C6D3-A4BE4D4AF9A2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0"/>
            <a:ext cx="9144000" cy="908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0033CC"/>
              </a:solidFill>
              <a:latin typeface="Times New Roman" pitchFamily="18" charset="0"/>
            </a:endParaRPr>
          </a:p>
        </p:txBody>
      </p:sp>
      <p:sp>
        <p:nvSpPr>
          <p:cNvPr id="5" name="Text Box 10">
            <a:extLst>
              <a:ext uri="{FF2B5EF4-FFF2-40B4-BE49-F238E27FC236}">
                <a16:creationId xmlns:a16="http://schemas.microsoft.com/office/drawing/2014/main" id="{979CD55D-2B34-452E-A187-F633C6830A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009" y="1233306"/>
            <a:ext cx="11711622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l-GR" b="1" dirty="0"/>
              <a:t>The </a:t>
            </a:r>
            <a:r>
              <a:rPr lang="el-GR" altLang="el-GR" b="1" dirty="0" err="1"/>
              <a:t>Collatz</a:t>
            </a:r>
            <a:r>
              <a:rPr lang="el-GR" altLang="el-GR" b="1" dirty="0"/>
              <a:t> </a:t>
            </a:r>
            <a:r>
              <a:rPr lang="el-GR" altLang="el-GR" b="1" dirty="0" err="1"/>
              <a:t>problem</a:t>
            </a:r>
            <a:r>
              <a:rPr lang="el-GR" altLang="el-GR" b="1" dirty="0"/>
              <a:t>: </a:t>
            </a:r>
            <a:r>
              <a:rPr lang="en-US" i="1" dirty="0"/>
              <a:t>one of the world’s unsolved problems in mathematics.</a:t>
            </a:r>
          </a:p>
          <a:p>
            <a:pPr eaLnBrk="1" hangingPunct="1"/>
            <a:r>
              <a:rPr lang="en-US" i="1" dirty="0"/>
              <a:t>It involves a sequence of numbers called a Hailstone sequence. It is called this because the numbers go up and down again. </a:t>
            </a:r>
            <a:endParaRPr lang="el-GR" i="1" dirty="0"/>
          </a:p>
          <a:p>
            <a:pPr eaLnBrk="1" hangingPunct="1"/>
            <a:r>
              <a:rPr lang="en-US" i="1" dirty="0">
                <a:solidFill>
                  <a:srgbClr val="202122"/>
                </a:solidFill>
                <a:latin typeface="Arial" panose="020B0604020202020204" pitchFamily="34" charset="0"/>
              </a:rPr>
              <a:t>The conjecture is that </a:t>
            </a:r>
            <a:r>
              <a:rPr lang="en-US" b="1" i="1" dirty="0">
                <a:solidFill>
                  <a:srgbClr val="202122"/>
                </a:solidFill>
                <a:latin typeface="Arial" panose="020B0604020202020204" pitchFamily="34" charset="0"/>
              </a:rPr>
              <a:t>these sequences always reach 1</a:t>
            </a:r>
            <a:r>
              <a:rPr lang="en-US" i="1" dirty="0">
                <a:solidFill>
                  <a:srgbClr val="202122"/>
                </a:solidFill>
                <a:latin typeface="Arial" panose="020B0604020202020204" pitchFamily="34" charset="0"/>
              </a:rPr>
              <a:t>, no matter which positive integer is chosen to start the sequence.</a:t>
            </a:r>
            <a:endParaRPr lang="en-US" altLang="el-GR" i="1" dirty="0"/>
          </a:p>
        </p:txBody>
      </p:sp>
      <p:pic>
        <p:nvPicPr>
          <p:cNvPr id="6" name="Picture 13">
            <a:extLst>
              <a:ext uri="{FF2B5EF4-FFF2-40B4-BE49-F238E27FC236}">
                <a16:creationId xmlns:a16="http://schemas.microsoft.com/office/drawing/2014/main" id="{F6F45D47-F2CD-984A-3AB0-8887AFCE31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02941" y="25013"/>
            <a:ext cx="400050" cy="6257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03F3FFC-3F09-61CA-CC85-3F281DAC8D5C}"/>
              </a:ext>
            </a:extLst>
          </p:cNvPr>
          <p:cNvSpPr txBox="1"/>
          <p:nvPr/>
        </p:nvSpPr>
        <p:spPr>
          <a:xfrm>
            <a:off x="3173253" y="3727330"/>
            <a:ext cx="801221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srgbClr val="000000"/>
                </a:solidFill>
                <a:latin typeface="Tahoma" panose="020B0604030504040204" pitchFamily="34" charset="0"/>
              </a:rPr>
              <a:t>Hailstone Sequences </a:t>
            </a:r>
            <a:r>
              <a:rPr lang="en-US" sz="2800" b="1" dirty="0">
                <a:solidFill>
                  <a:srgbClr val="000000"/>
                </a:solidFill>
                <a:latin typeface="Tahoma" panose="020B0604030504040204" pitchFamily="34" charset="0"/>
              </a:rPr>
              <a:t>follow these rules</a:t>
            </a:r>
            <a:r>
              <a:rPr lang="en-US" sz="2800" dirty="0">
                <a:solidFill>
                  <a:srgbClr val="000000"/>
                </a:solidFill>
                <a:latin typeface="Tahoma" panose="020B0604030504040204" pitchFamily="34" charset="0"/>
              </a:rPr>
              <a:t>: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rgbClr val="000000"/>
                </a:solidFill>
                <a:latin typeface="Tahoma" panose="020B0604030504040204" pitchFamily="34" charset="0"/>
              </a:rPr>
              <a:t>If a number is even, divide it by 2 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rgbClr val="000000"/>
                </a:solidFill>
                <a:latin typeface="Tahoma" panose="020B0604030504040204" pitchFamily="34" charset="0"/>
              </a:rPr>
              <a:t>If a number is odd, multiply it by 3 and add 1</a:t>
            </a:r>
            <a:endParaRPr lang="el-GR" sz="2800" dirty="0">
              <a:solidFill>
                <a:srgbClr val="000000"/>
              </a:solidFill>
              <a:latin typeface="Tahoma" panose="020B060403050404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srgbClr val="000000"/>
                </a:solidFill>
                <a:latin typeface="Tahoma" panose="020B0604030504040204" pitchFamily="34" charset="0"/>
              </a:rPr>
              <a:t>For </a:t>
            </a:r>
            <a:r>
              <a:rPr lang="el-GR" sz="2800" dirty="0">
                <a:solidFill>
                  <a:srgbClr val="000000"/>
                </a:solidFill>
                <a:latin typeface="Tahoma" panose="020B0604030504040204" pitchFamily="34" charset="0"/>
              </a:rPr>
              <a:t>25</a:t>
            </a:r>
            <a:r>
              <a:rPr lang="en-US" sz="2800" dirty="0">
                <a:solidFill>
                  <a:srgbClr val="000000"/>
                </a:solidFill>
                <a:latin typeface="Tahoma" panose="020B0604030504040204" pitchFamily="34" charset="0"/>
              </a:rPr>
              <a:t>: </a:t>
            </a:r>
            <a:r>
              <a:rPr lang="el-GR" sz="2800" dirty="0">
                <a:solidFill>
                  <a:srgbClr val="000000"/>
                </a:solidFill>
                <a:latin typeface="Tahoma" panose="020B0604030504040204" pitchFamily="34" charset="0"/>
              </a:rPr>
              <a:t>25</a:t>
            </a:r>
            <a:r>
              <a:rPr lang="en-US" sz="2800" dirty="0">
                <a:solidFill>
                  <a:srgbClr val="000000"/>
                </a:solidFill>
                <a:latin typeface="Tahoma" panose="020B0604030504040204" pitchFamily="34" charset="0"/>
              </a:rPr>
              <a:t> – </a:t>
            </a:r>
            <a:r>
              <a:rPr lang="el-GR" sz="2800" dirty="0">
                <a:solidFill>
                  <a:srgbClr val="000000"/>
                </a:solidFill>
                <a:latin typeface="Tahoma" panose="020B0604030504040204" pitchFamily="34" charset="0"/>
              </a:rPr>
              <a:t>76</a:t>
            </a:r>
            <a:r>
              <a:rPr lang="en-US" sz="2800" dirty="0">
                <a:solidFill>
                  <a:srgbClr val="000000"/>
                </a:solidFill>
                <a:latin typeface="Tahoma" panose="020B0604030504040204" pitchFamily="34" charset="0"/>
              </a:rPr>
              <a:t> – </a:t>
            </a:r>
            <a:r>
              <a:rPr lang="el-GR" sz="2800" dirty="0">
                <a:solidFill>
                  <a:srgbClr val="000000"/>
                </a:solidFill>
                <a:latin typeface="Tahoma" panose="020B0604030504040204" pitchFamily="34" charset="0"/>
              </a:rPr>
              <a:t>38</a:t>
            </a:r>
            <a:r>
              <a:rPr lang="en-US" sz="2800" dirty="0">
                <a:solidFill>
                  <a:srgbClr val="000000"/>
                </a:solidFill>
                <a:latin typeface="Tahoma" panose="020B0604030504040204" pitchFamily="34" charset="0"/>
              </a:rPr>
              <a:t> – </a:t>
            </a:r>
            <a:r>
              <a:rPr lang="el-GR" sz="2800" dirty="0">
                <a:solidFill>
                  <a:srgbClr val="000000"/>
                </a:solidFill>
                <a:latin typeface="Tahoma" panose="020B0604030504040204" pitchFamily="34" charset="0"/>
              </a:rPr>
              <a:t>19</a:t>
            </a:r>
            <a:r>
              <a:rPr lang="en-US" sz="2800" dirty="0">
                <a:solidFill>
                  <a:srgbClr val="000000"/>
                </a:solidFill>
                <a:latin typeface="Tahoma" panose="020B0604030504040204" pitchFamily="34" charset="0"/>
              </a:rPr>
              <a:t> – </a:t>
            </a:r>
            <a:r>
              <a:rPr lang="el-GR" sz="2800" dirty="0">
                <a:solidFill>
                  <a:srgbClr val="000000"/>
                </a:solidFill>
                <a:latin typeface="Tahoma" panose="020B0604030504040204" pitchFamily="34" charset="0"/>
              </a:rPr>
              <a:t>5</a:t>
            </a:r>
            <a:r>
              <a:rPr lang="en-US" sz="2800" dirty="0">
                <a:solidFill>
                  <a:srgbClr val="000000"/>
                </a:solidFill>
                <a:latin typeface="Tahoma" panose="020B0604030504040204" pitchFamily="34" charset="0"/>
              </a:rPr>
              <a:t>8 – </a:t>
            </a:r>
            <a:r>
              <a:rPr lang="el-GR" sz="2800" dirty="0">
                <a:solidFill>
                  <a:srgbClr val="000000"/>
                </a:solidFill>
                <a:latin typeface="Tahoma" panose="020B0604030504040204" pitchFamily="34" charset="0"/>
              </a:rPr>
              <a:t>29</a:t>
            </a:r>
            <a:r>
              <a:rPr lang="en-US" sz="2800" dirty="0">
                <a:solidFill>
                  <a:srgbClr val="000000"/>
                </a:solidFill>
                <a:latin typeface="Tahoma" panose="020B0604030504040204" pitchFamily="34" charset="0"/>
              </a:rPr>
              <a:t> – </a:t>
            </a:r>
            <a:r>
              <a:rPr lang="el-GR" sz="2800" dirty="0">
                <a:solidFill>
                  <a:srgbClr val="000000"/>
                </a:solidFill>
                <a:latin typeface="Tahoma" panose="020B0604030504040204" pitchFamily="34" charset="0"/>
              </a:rPr>
              <a:t>88</a:t>
            </a:r>
            <a:r>
              <a:rPr lang="en-US" sz="2800" dirty="0">
                <a:solidFill>
                  <a:srgbClr val="000000"/>
                </a:solidFill>
                <a:latin typeface="Tahoma" panose="020B0604030504040204" pitchFamily="34" charset="0"/>
              </a:rPr>
              <a:t> – </a:t>
            </a:r>
            <a:r>
              <a:rPr lang="el-GR" sz="2800" dirty="0">
                <a:solidFill>
                  <a:srgbClr val="000000"/>
                </a:solidFill>
                <a:latin typeface="Tahoma" panose="020B0604030504040204" pitchFamily="34" charset="0"/>
              </a:rPr>
              <a:t>44  …</a:t>
            </a:r>
            <a:r>
              <a:rPr lang="en-US" sz="2800" dirty="0">
                <a:solidFill>
                  <a:srgbClr val="000000"/>
                </a:solidFill>
                <a:latin typeface="Tahoma" panose="020B0604030504040204" pitchFamily="34" charset="0"/>
              </a:rPr>
              <a:t> </a:t>
            </a:r>
            <a:endParaRPr lang="el-GR" sz="2800" dirty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pic>
        <p:nvPicPr>
          <p:cNvPr id="9" name="Picture 3">
            <a:extLst>
              <a:ext uri="{FF2B5EF4-FFF2-40B4-BE49-F238E27FC236}">
                <a16:creationId xmlns:a16="http://schemas.microsoft.com/office/drawing/2014/main" id="{08767754-88DF-1059-EC09-06176F7F24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669" y="3619342"/>
            <a:ext cx="2207220" cy="227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Θέση υποσέλιδου 4">
            <a:extLst>
              <a:ext uri="{FF2B5EF4-FFF2-40B4-BE49-F238E27FC236}">
                <a16:creationId xmlns:a16="http://schemas.microsoft.com/office/drawing/2014/main" id="{3A2A9143-2CB2-B9CC-C47D-96F7D98240AF}"/>
              </a:ext>
            </a:extLst>
          </p:cNvPr>
          <p:cNvSpPr txBox="1">
            <a:spLocks/>
          </p:cNvSpPr>
          <p:nvPr/>
        </p:nvSpPr>
        <p:spPr>
          <a:xfrm>
            <a:off x="4149680" y="6670790"/>
            <a:ext cx="4631713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Control flow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 – 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Arrays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 - 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Type conversions</a:t>
            </a:r>
          </a:p>
          <a:p>
            <a:endParaRPr lang="el-GR" sz="11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0550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85DF2F-5C11-790E-0F02-8F8621E3F3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EA2461D4-9029-446E-EA60-1FD6D9E9B213}"/>
              </a:ext>
            </a:extLst>
          </p:cNvPr>
          <p:cNvSpPr/>
          <p:nvPr/>
        </p:nvSpPr>
        <p:spPr>
          <a:xfrm>
            <a:off x="140669" y="6559908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1F5912DF-80A2-5714-8872-F7480D0F95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1026368"/>
          </a:xfrm>
          <a:solidFill>
            <a:srgbClr val="FDCBAD"/>
          </a:solidFill>
        </p:spPr>
        <p:txBody>
          <a:bodyPr>
            <a:normAutofit fontScale="90000"/>
          </a:bodyPr>
          <a:lstStyle/>
          <a:p>
            <a:r>
              <a:rPr lang="en-GB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Hailstone sequence</a:t>
            </a:r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  </a:t>
            </a:r>
            <a:b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</a:br>
            <a:r>
              <a:rPr lang="el-GR" sz="4000" dirty="0">
                <a:solidFill>
                  <a:srgbClr val="F9853D"/>
                </a:solidFill>
                <a:latin typeface="Bahnschrift" panose="020B0502040204020203" pitchFamily="34" charset="0"/>
              </a:rPr>
              <a:t>Λεκτική περιγραφή και </a:t>
            </a:r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Αλγόριθμος</a:t>
            </a: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8E0596E-D10C-4046-4685-19A487A20F34}"/>
              </a:ext>
            </a:extLst>
          </p:cNvPr>
          <p:cNvSpPr txBox="1">
            <a:spLocks/>
          </p:cNvSpPr>
          <p:nvPr/>
        </p:nvSpPr>
        <p:spPr>
          <a:xfrm>
            <a:off x="-1" y="6599394"/>
            <a:ext cx="3840633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© 202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5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Μια Εισαγωγή στην Τέχνη του Προγραμματισμού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8FA3133-CF4E-246D-10A6-AD17F53E8924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200" dirty="0">
                <a:latin typeface="Bahnschrift Light" panose="020B0502040204020203" pitchFamily="34" charset="0"/>
                <a:cs typeface="Arial" pitchFamily="34" charset="0"/>
              </a:rPr>
              <a:t>Διαφάνεια </a:t>
            </a:r>
            <a:fld id="{7C15C5B5-03C6-48D8-B20F-65D93A6CF09E}" type="slidenum">
              <a:rPr lang="en-US" sz="1200" smtClean="0">
                <a:latin typeface="Bahnschrift Light" panose="020B0502040204020203" pitchFamily="34" charset="0"/>
                <a:cs typeface="Arial" pitchFamily="34" charset="0"/>
              </a:rPr>
              <a:pPr algn="r"/>
              <a:t>11</a:t>
            </a:fld>
            <a:endParaRPr lang="en-US" sz="1200" dirty="0">
              <a:latin typeface="Bahnschrift Light" panose="020B0502040204020203" pitchFamily="34" charset="0"/>
              <a:cs typeface="Arial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D957C11-7B57-73F6-580D-BE6F55F786E3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0"/>
            <a:ext cx="9144000" cy="908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0033CC"/>
              </a:solidFill>
              <a:latin typeface="Times New Roman" pitchFamily="18" charset="0"/>
            </a:endParaRPr>
          </a:p>
        </p:txBody>
      </p:sp>
      <p:sp>
        <p:nvSpPr>
          <p:cNvPr id="12" name="Θέση υποσέλιδου 4">
            <a:extLst>
              <a:ext uri="{FF2B5EF4-FFF2-40B4-BE49-F238E27FC236}">
                <a16:creationId xmlns:a16="http://schemas.microsoft.com/office/drawing/2014/main" id="{67CC1D14-5589-44BF-DCD0-62066AD96ED1}"/>
              </a:ext>
            </a:extLst>
          </p:cNvPr>
          <p:cNvSpPr txBox="1">
            <a:spLocks/>
          </p:cNvSpPr>
          <p:nvPr/>
        </p:nvSpPr>
        <p:spPr>
          <a:xfrm>
            <a:off x="4149680" y="6670790"/>
            <a:ext cx="4631713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Control flow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 – 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Arrays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 - 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Type conversions</a:t>
            </a:r>
          </a:p>
          <a:p>
            <a:endParaRPr lang="el-GR" sz="11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31C404F5-F20A-FB6C-5E87-AD2FDBD5AF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669" y="2832579"/>
            <a:ext cx="6769100" cy="3671888"/>
          </a:xfrm>
          <a:prstGeom prst="rect">
            <a:avLst/>
          </a:prstGeom>
          <a:solidFill>
            <a:srgbClr val="00E4A8">
              <a:lumMod val="40000"/>
              <a:lumOff val="60000"/>
            </a:srgbClr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l-GR" sz="24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A1. </a:t>
            </a:r>
            <a:r>
              <a:rPr kumimoji="0" lang="el-GR" altLang="el-GR" sz="24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Πάρε  έναν  θετικό ακέραιο αριθμό</a:t>
            </a:r>
          </a:p>
          <a:p>
            <a:pPr marL="0" marR="0" lvl="0" indent="0" defTabSz="91440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l-GR" sz="24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A2. </a:t>
            </a:r>
            <a:r>
              <a:rPr kumimoji="0" lang="el-GR" altLang="el-GR" sz="24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Εάν ο αριθμός είναι </a:t>
            </a:r>
            <a:r>
              <a:rPr kumimoji="0" lang="en-US" altLang="el-GR" sz="24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1 </a:t>
            </a:r>
            <a:endParaRPr kumimoji="0" lang="el-GR" altLang="el-GR" sz="2400" b="0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  <a:p>
            <a:pPr marL="0" marR="0" lvl="0" indent="0" defTabSz="91440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altLang="el-GR" sz="24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	τερμάτισε</a:t>
            </a:r>
          </a:p>
          <a:p>
            <a:pPr marL="0" marR="0" lvl="0" indent="0" defTabSz="91440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l-GR" sz="24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A3. </a:t>
            </a:r>
            <a:r>
              <a:rPr kumimoji="0" lang="el-GR" altLang="el-GR" sz="24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Εάν ο αριθμός είναι άρτιος</a:t>
            </a:r>
            <a:r>
              <a:rPr kumimoji="0" lang="en-US" altLang="el-GR" sz="24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 </a:t>
            </a:r>
            <a:endParaRPr kumimoji="0" lang="el-GR" altLang="el-GR" sz="2400" b="0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  <a:p>
            <a:pPr marL="0" marR="0" lvl="0" indent="0" defTabSz="91440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altLang="el-GR" sz="24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	τότε διαίρεσε τον με το 2</a:t>
            </a:r>
          </a:p>
          <a:p>
            <a:pPr marL="0" marR="0" lvl="0" indent="0" defTabSz="91440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altLang="el-GR" sz="24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      διαφορετικά</a:t>
            </a:r>
            <a:r>
              <a:rPr kumimoji="0" lang="en-US" altLang="el-GR" sz="24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 </a:t>
            </a:r>
            <a:endParaRPr kumimoji="0" lang="el-GR" altLang="el-GR" sz="2400" b="0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  <a:p>
            <a:pPr marL="0" marR="0" lvl="0" indent="0" defTabSz="91440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altLang="el-GR" sz="24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	πολλαπλασίασε τον με το 3 και </a:t>
            </a:r>
          </a:p>
          <a:p>
            <a:pPr marL="0" marR="0" lvl="0" indent="0" defTabSz="91440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altLang="el-GR" sz="24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	πρόσθεσε 1</a:t>
            </a:r>
          </a:p>
          <a:p>
            <a:pPr marL="0" marR="0" lvl="0" indent="0" defTabSz="91440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altLang="el-GR" sz="24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Α4. Τύπωσε τον αριθμό</a:t>
            </a:r>
          </a:p>
          <a:p>
            <a:pPr marL="0" marR="0" lvl="0" indent="0" defTabSz="91440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l-GR" sz="24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A5. </a:t>
            </a:r>
            <a:r>
              <a:rPr kumimoji="0" lang="el-GR" altLang="el-GR" sz="24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Επανέλαβε από το βήμα </a:t>
            </a:r>
            <a:r>
              <a:rPr kumimoji="0" lang="en-US" altLang="el-GR" sz="24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A2.</a:t>
            </a:r>
            <a:r>
              <a:rPr kumimoji="0" lang="en-US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 </a:t>
            </a:r>
            <a:endParaRPr kumimoji="0" lang="en-GB" altLang="el-GR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sp>
        <p:nvSpPr>
          <p:cNvPr id="13" name="Rectangle 4">
            <a:extLst>
              <a:ext uri="{FF2B5EF4-FFF2-40B4-BE49-F238E27FC236}">
                <a16:creationId xmlns:a16="http://schemas.microsoft.com/office/drawing/2014/main" id="{053C330D-5FAD-C17A-6FD2-FFAF2E82BF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669" y="1231000"/>
            <a:ext cx="9404056" cy="24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342900" marR="0" lvl="0" indent="-342900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Το έργο (</a:t>
            </a:r>
            <a:r>
              <a:rPr kumimoji="0" lang="el-GR" altLang="el-GR" sz="3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</a:rPr>
              <a:t>Τι;</a:t>
            </a:r>
            <a:r>
              <a:rPr kumimoji="0" lang="el-GR" altLang="el-GR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)</a:t>
            </a:r>
          </a:p>
          <a:p>
            <a:pPr marL="342900" marR="0" lvl="0" indent="-342900" defTabSz="91440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	 </a:t>
            </a:r>
            <a:r>
              <a:rPr kumimoji="0" lang="el-GR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ahoma" panose="020B0604030504040204" pitchFamily="34" charset="0"/>
              </a:rPr>
              <a:t>Γράψε μας την </a:t>
            </a:r>
            <a:r>
              <a:rPr kumimoji="0" lang="en-US" altLang="el-GR" sz="2400" b="1" i="0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ahoma" panose="020B0604030504040204" pitchFamily="34" charset="0"/>
              </a:rPr>
              <a:t>hailstone sequence</a:t>
            </a:r>
            <a:r>
              <a:rPr kumimoji="0" lang="en-US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ahoma" panose="020B0604030504040204" pitchFamily="34" charset="0"/>
              </a:rPr>
              <a:t> </a:t>
            </a:r>
            <a:r>
              <a:rPr kumimoji="0" lang="el-GR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ahoma" panose="020B0604030504040204" pitchFamily="34" charset="0"/>
              </a:rPr>
              <a:t>για τον αριθμό 25</a:t>
            </a:r>
            <a:r>
              <a:rPr kumimoji="0" lang="el-GR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 panose="02020603050405020304" pitchFamily="18" charset="0"/>
              </a:rPr>
              <a:t> </a:t>
            </a:r>
            <a:endParaRPr kumimoji="0" lang="el-GR" altLang="el-GR" sz="2400" b="1" i="0" u="none" strike="noStrike" kern="0" cap="none" spc="0" normalizeH="0" baseline="0" noProof="0" dirty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Tahoma" panose="020B0604030504040204" pitchFamily="34" charset="0"/>
            </a:endParaRPr>
          </a:p>
          <a:p>
            <a:pPr marL="342900" marR="0" lvl="0" indent="-342900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Ανάθεση σε άνθρωπο. (</a:t>
            </a:r>
            <a:r>
              <a:rPr kumimoji="0" lang="el-GR" altLang="el-GR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</a:rPr>
              <a:t>Πώς;</a:t>
            </a:r>
            <a:r>
              <a:rPr kumimoji="0" lang="el-GR" altLang="el-GR" sz="2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ahoma" panose="020B0604030504040204" pitchFamily="34" charset="0"/>
              </a:rPr>
              <a:t>)</a:t>
            </a:r>
            <a:r>
              <a:rPr kumimoji="0" lang="el-GR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BB720DC-3411-67FF-3FFF-0C55B4E8A1A5}"/>
              </a:ext>
            </a:extLst>
          </p:cNvPr>
          <p:cNvSpPr txBox="1"/>
          <p:nvPr/>
        </p:nvSpPr>
        <p:spPr>
          <a:xfrm rot="18783527">
            <a:off x="4969240" y="3990789"/>
            <a:ext cx="19371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l-GR" sz="2400" b="1" dirty="0">
                <a:solidFill>
                  <a:srgbClr val="C00000"/>
                </a:solidFill>
                <a:latin typeface="Tahoma" panose="020B0604030504040204" pitchFamily="34" charset="0"/>
              </a:rPr>
              <a:t>1η</a:t>
            </a:r>
            <a:r>
              <a:rPr lang="el-GR" sz="2400" dirty="0">
                <a:solidFill>
                  <a:srgbClr val="000000"/>
                </a:solidFill>
                <a:latin typeface="Tahoma" panose="020B0604030504040204" pitchFamily="34" charset="0"/>
              </a:rPr>
              <a:t> </a:t>
            </a:r>
            <a:r>
              <a:rPr lang="el-GR" sz="2400" b="1" dirty="0">
                <a:solidFill>
                  <a:srgbClr val="C00000"/>
                </a:solidFill>
                <a:latin typeface="Tahoma" panose="020B0604030504040204" pitchFamily="34" charset="0"/>
              </a:rPr>
              <a:t>εκδοχή</a:t>
            </a:r>
            <a:endParaRPr lang="en-GB" sz="2400" b="1" dirty="0">
              <a:solidFill>
                <a:srgbClr val="C00000"/>
              </a:solidFill>
              <a:latin typeface="Tahoma" panose="020B060403050404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F0A55EA-8183-FB79-E6AD-95BE65AEB0B5}"/>
              </a:ext>
            </a:extLst>
          </p:cNvPr>
          <p:cNvSpPr txBox="1"/>
          <p:nvPr/>
        </p:nvSpPr>
        <p:spPr>
          <a:xfrm>
            <a:off x="7048161" y="3406169"/>
            <a:ext cx="4993128" cy="2000548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el-GR" sz="2800" dirty="0">
                <a:solidFill>
                  <a:srgbClr val="F9853D"/>
                </a:solidFill>
                <a:latin typeface="Bahnschrift" panose="020B0502040204020203" pitchFamily="34" charset="0"/>
              </a:rPr>
              <a:t>Αλγόριθμος</a:t>
            </a:r>
            <a:endParaRPr lang="el-GR" sz="2000" dirty="0"/>
          </a:p>
          <a:p>
            <a:r>
              <a:rPr lang="el-GR" sz="2400" dirty="0"/>
              <a:t>Ένας απλός ορισμός περιγράφει τον Αλγόριθμο ως ένα σύνολο βημάτων τα οποία καθορίζουν τον τρόπο εκτέλεσης μίας εργασίας. 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20381142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 autoUpdateAnimBg="0"/>
      <p:bldP spid="14" grpId="0"/>
      <p:bldP spid="1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91C546-9797-926E-B2D7-56E8218E09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C05F90E6-C8B1-99C4-431D-338EA2FD5884}"/>
              </a:ext>
            </a:extLst>
          </p:cNvPr>
          <p:cNvSpPr/>
          <p:nvPr/>
        </p:nvSpPr>
        <p:spPr>
          <a:xfrm>
            <a:off x="140669" y="6559908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AC45B715-72C0-A907-2061-F8DBF1B5E4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1026368"/>
          </a:xfrm>
          <a:solidFill>
            <a:srgbClr val="FDCBAD"/>
          </a:solidFill>
        </p:spPr>
        <p:txBody>
          <a:bodyPr>
            <a:normAutofit fontScale="90000"/>
          </a:bodyPr>
          <a:lstStyle/>
          <a:p>
            <a:r>
              <a:rPr lang="en-GB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Hailstone sequence</a:t>
            </a:r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  </a:t>
            </a:r>
            <a:b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</a:br>
            <a:r>
              <a:rPr lang="el-GR" sz="4000" dirty="0" err="1">
                <a:solidFill>
                  <a:srgbClr val="F9853D"/>
                </a:solidFill>
                <a:latin typeface="Bahnschrift" panose="020B0502040204020203" pitchFamily="34" charset="0"/>
              </a:rPr>
              <a:t>Ψευδοκώδικας</a:t>
            </a:r>
            <a:endParaRPr lang="el-GR" sz="4000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D04F157B-EF43-4E07-D372-6DC382AEFC87}"/>
              </a:ext>
            </a:extLst>
          </p:cNvPr>
          <p:cNvSpPr txBox="1">
            <a:spLocks/>
          </p:cNvSpPr>
          <p:nvPr/>
        </p:nvSpPr>
        <p:spPr>
          <a:xfrm>
            <a:off x="-1" y="6599394"/>
            <a:ext cx="3840633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© 202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5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Μια Εισαγωγή στην Τέχνη του Προγραμματισμού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922735E-B17F-DA29-3B6A-89D6E8C97A79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200" dirty="0">
                <a:latin typeface="Bahnschrift Light" panose="020B0502040204020203" pitchFamily="34" charset="0"/>
                <a:cs typeface="Arial" pitchFamily="34" charset="0"/>
              </a:rPr>
              <a:t>Διαφάνεια </a:t>
            </a:r>
            <a:fld id="{7C15C5B5-03C6-48D8-B20F-65D93A6CF09E}" type="slidenum">
              <a:rPr lang="en-US" sz="1200" smtClean="0">
                <a:latin typeface="Bahnschrift Light" panose="020B0502040204020203" pitchFamily="34" charset="0"/>
                <a:cs typeface="Arial" pitchFamily="34" charset="0"/>
              </a:rPr>
              <a:pPr algn="r"/>
              <a:t>12</a:t>
            </a:fld>
            <a:endParaRPr lang="en-US" sz="1200" dirty="0">
              <a:latin typeface="Bahnschrift Light" panose="020B0502040204020203" pitchFamily="34" charset="0"/>
              <a:cs typeface="Arial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C20D2BD-2BE5-5589-4231-3CFCCA3C4F60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0"/>
            <a:ext cx="9144000" cy="908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0033CC"/>
              </a:solidFill>
              <a:latin typeface="Times New Roman" pitchFamily="18" charset="0"/>
            </a:endParaRPr>
          </a:p>
        </p:txBody>
      </p:sp>
      <p:sp>
        <p:nvSpPr>
          <p:cNvPr id="12" name="Θέση υποσέλιδου 4">
            <a:extLst>
              <a:ext uri="{FF2B5EF4-FFF2-40B4-BE49-F238E27FC236}">
                <a16:creationId xmlns:a16="http://schemas.microsoft.com/office/drawing/2014/main" id="{4647AE06-D89D-A1C2-00CC-BF352F7AB1C5}"/>
              </a:ext>
            </a:extLst>
          </p:cNvPr>
          <p:cNvSpPr txBox="1">
            <a:spLocks/>
          </p:cNvSpPr>
          <p:nvPr/>
        </p:nvSpPr>
        <p:spPr>
          <a:xfrm>
            <a:off x="4149680" y="6670790"/>
            <a:ext cx="4631713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Control flow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 – 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Arrays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 - 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Type conversions</a:t>
            </a:r>
          </a:p>
          <a:p>
            <a:endParaRPr lang="el-GR" sz="11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E6B05A0C-CFF5-BD7B-ABBC-CA8007B760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4433" y="2289774"/>
            <a:ext cx="6769100" cy="4103688"/>
          </a:xfrm>
          <a:prstGeom prst="rect">
            <a:avLst/>
          </a:prstGeom>
          <a:solidFill>
            <a:srgbClr val="00E4A8">
              <a:lumMod val="40000"/>
              <a:lumOff val="60000"/>
            </a:srgbClr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l-GR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A1. [Input n] </a:t>
            </a:r>
            <a:r>
              <a:rPr kumimoji="0" lang="el-GR" altLang="el-GR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Πάρε  έναν ακέραιο αριθμό</a:t>
            </a:r>
          </a:p>
          <a:p>
            <a:pPr marL="0" marR="0" lvl="0" indent="0" defTabSz="91440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l-GR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A2. [Termination] If n = 1 </a:t>
            </a:r>
            <a:endParaRPr kumimoji="0" lang="el-GR" altLang="el-GR" sz="24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  <a:p>
            <a:pPr marL="0" marR="0" lvl="0" indent="0" defTabSz="91440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altLang="el-GR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	</a:t>
            </a:r>
            <a:r>
              <a:rPr kumimoji="0" lang="en-US" altLang="el-GR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exit </a:t>
            </a:r>
            <a:endParaRPr kumimoji="0" lang="el-GR" altLang="el-GR" sz="24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  <a:p>
            <a:pPr marL="0" marR="0" lvl="0" indent="0" defTabSz="91440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l-GR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A3. [Check n] If n is even </a:t>
            </a:r>
            <a:endParaRPr kumimoji="0" lang="el-GR" altLang="el-GR" sz="24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  <a:p>
            <a:pPr marL="0" marR="0" lvl="0" indent="0" defTabSz="91440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altLang="el-GR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		</a:t>
            </a:r>
            <a:r>
              <a:rPr kumimoji="0" lang="en-US" altLang="el-GR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n := n / 2 </a:t>
            </a:r>
            <a:endParaRPr kumimoji="0" lang="el-GR" altLang="el-GR" sz="24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  <a:p>
            <a:pPr marL="0" marR="0" lvl="0" indent="0" defTabSz="91440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altLang="el-GR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	</a:t>
            </a:r>
            <a:r>
              <a:rPr kumimoji="0" lang="en-US" altLang="el-GR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else </a:t>
            </a:r>
            <a:endParaRPr kumimoji="0" lang="el-GR" altLang="el-GR" sz="24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  <a:p>
            <a:pPr marL="0" marR="0" lvl="0" indent="0" defTabSz="91440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altLang="el-GR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		</a:t>
            </a:r>
            <a:r>
              <a:rPr kumimoji="0" lang="en-US" altLang="el-GR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n := n * 3 + 1 </a:t>
            </a:r>
            <a:endParaRPr kumimoji="0" lang="el-GR" altLang="el-GR" sz="24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  <a:p>
            <a:pPr marL="0" marR="0" lvl="0" indent="0" defTabSz="91440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altLang="el-GR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Α4. </a:t>
            </a:r>
            <a:r>
              <a:rPr kumimoji="0" lang="en-US" altLang="el-GR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[Print n]</a:t>
            </a:r>
            <a:r>
              <a:rPr kumimoji="0" lang="el-GR" altLang="el-GR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Τύπωσε τον </a:t>
            </a:r>
            <a:r>
              <a:rPr kumimoji="0" lang="en-US" altLang="el-GR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n</a:t>
            </a:r>
            <a:endParaRPr kumimoji="0" lang="el-GR" altLang="el-GR" sz="24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  <a:p>
            <a:pPr marL="0" marR="0" lvl="0" indent="0" defTabSz="91440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l-GR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A5. [Next number] Go to A2.</a:t>
            </a:r>
            <a:r>
              <a:rPr kumimoji="0" lang="en-US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 </a:t>
            </a:r>
            <a:endParaRPr kumimoji="0" lang="en-GB" altLang="el-GR" sz="2800" b="1" i="0" u="none" strike="noStrike" kern="0" cap="none" spc="0" normalizeH="0" baseline="0" noProof="0" dirty="0">
              <a:ln>
                <a:noFill/>
              </a:ln>
              <a:solidFill>
                <a:srgbClr val="1C1C1C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09562B0C-E5B6-4656-F324-B24CC2E0B8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8534" y="1137250"/>
            <a:ext cx="8574087" cy="7095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457200" marR="0" lvl="0" indent="-457200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l-GR" altLang="el-GR" sz="3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</a:rPr>
              <a:t>Δεν αποτελεί Λεκτική </a:t>
            </a:r>
            <a:r>
              <a:rPr lang="el-GR" altLang="el-GR" sz="3200" kern="0" dirty="0">
                <a:solidFill>
                  <a:srgbClr val="FF0000"/>
                </a:solidFill>
              </a:rPr>
              <a:t>Π</a:t>
            </a:r>
            <a:r>
              <a:rPr kumimoji="0" lang="el-GR" altLang="el-GR" sz="3200" b="0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</a:rPr>
              <a:t>εριγραφή</a:t>
            </a:r>
            <a:r>
              <a:rPr kumimoji="0" lang="el-GR" altLang="el-GR" sz="3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</a:rPr>
              <a:t>!!!</a:t>
            </a:r>
          </a:p>
          <a:p>
            <a:pPr marL="342900" marR="0" lvl="0" indent="-342900" defTabSz="91440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	</a:t>
            </a:r>
            <a:endParaRPr kumimoji="0" lang="el-GR" altLang="el-GR" sz="2400" b="1" i="0" u="none" strike="noStrike" kern="0" cap="none" spc="0" normalizeH="0" baseline="0" noProof="0" dirty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sp>
        <p:nvSpPr>
          <p:cNvPr id="7" name="Speech Bubble: Rectangle with Corners Rounded 6">
            <a:extLst>
              <a:ext uri="{FF2B5EF4-FFF2-40B4-BE49-F238E27FC236}">
                <a16:creationId xmlns:a16="http://schemas.microsoft.com/office/drawing/2014/main" id="{EF553954-4DE9-BA42-0361-E13C8E09155D}"/>
              </a:ext>
            </a:extLst>
          </p:cNvPr>
          <p:cNvSpPr/>
          <p:nvPr/>
        </p:nvSpPr>
        <p:spPr bwMode="auto">
          <a:xfrm>
            <a:off x="8136595" y="3429000"/>
            <a:ext cx="3330525" cy="1305396"/>
          </a:xfrm>
          <a:prstGeom prst="wedgeRoundRectCallout">
            <a:avLst>
              <a:gd name="adj1" fmla="val -118695"/>
              <a:gd name="adj2" fmla="val 143698"/>
              <a:gd name="adj3" fmla="val 16667"/>
            </a:avLst>
          </a:prstGeom>
          <a:solidFill>
            <a:srgbClr val="FFFF00"/>
          </a:solidFill>
          <a:ln w="9525" cap="flat" cmpd="sng" algn="ctr">
            <a:solidFill>
              <a:srgbClr val="FFFF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H </a:t>
            </a:r>
            <a:r>
              <a:rPr kumimoji="0" 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χρήση του 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go to </a:t>
            </a:r>
            <a:r>
              <a:rPr kumimoji="0" 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καταστρέφει </a:t>
            </a: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τη δόμηση του κώδικα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77588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160630-EAEB-D8E8-BCD0-AFC5356757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EF71BAEF-6D81-CBE3-EADD-87062D0849A2}"/>
              </a:ext>
            </a:extLst>
          </p:cNvPr>
          <p:cNvSpPr/>
          <p:nvPr/>
        </p:nvSpPr>
        <p:spPr>
          <a:xfrm>
            <a:off x="140669" y="6559908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DE568A39-F135-6BA3-69EE-1D8C1AD1AA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1026368"/>
          </a:xfrm>
          <a:solidFill>
            <a:srgbClr val="FDCBAD"/>
          </a:solidFill>
        </p:spPr>
        <p:txBody>
          <a:bodyPr>
            <a:normAutofit fontScale="90000"/>
          </a:bodyPr>
          <a:lstStyle/>
          <a:p>
            <a:r>
              <a:rPr lang="en-GB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Hailstone sequence</a:t>
            </a:r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  </a:t>
            </a:r>
            <a:b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</a:br>
            <a:r>
              <a:rPr lang="el-GR" sz="4000" dirty="0">
                <a:solidFill>
                  <a:srgbClr val="F9853D"/>
                </a:solidFill>
                <a:latin typeface="Bahnschrift" panose="020B0502040204020203" pitchFamily="34" charset="0"/>
              </a:rPr>
              <a:t>Λεκτική περιγραφή </a:t>
            </a:r>
            <a:r>
              <a:rPr lang="en-GB" sz="4000" dirty="0">
                <a:solidFill>
                  <a:srgbClr val="F9853D"/>
                </a:solidFill>
                <a:latin typeface="Bahnschrift" panose="020B0502040204020203" pitchFamily="34" charset="0"/>
              </a:rPr>
              <a:t>Version </a:t>
            </a:r>
            <a:r>
              <a:rPr lang="el-GR" sz="4000" dirty="0">
                <a:solidFill>
                  <a:srgbClr val="F9853D"/>
                </a:solidFill>
                <a:latin typeface="Bahnschrift" panose="020B0502040204020203" pitchFamily="34" charset="0"/>
              </a:rPr>
              <a:t>2</a:t>
            </a: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99C03C41-385C-DC3B-86C8-F333C2223A7C}"/>
              </a:ext>
            </a:extLst>
          </p:cNvPr>
          <p:cNvSpPr txBox="1">
            <a:spLocks/>
          </p:cNvSpPr>
          <p:nvPr/>
        </p:nvSpPr>
        <p:spPr>
          <a:xfrm>
            <a:off x="-1" y="6599394"/>
            <a:ext cx="3840633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© 202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5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Μια Εισαγωγή στην Τέχνη του Προγραμματισμού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A269D13-A36C-EAF6-F17D-2B9EDE3C37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200" dirty="0">
                <a:latin typeface="Bahnschrift Light" panose="020B0502040204020203" pitchFamily="34" charset="0"/>
                <a:cs typeface="Arial" pitchFamily="34" charset="0"/>
              </a:rPr>
              <a:t>Διαφάνεια </a:t>
            </a:r>
            <a:fld id="{7C15C5B5-03C6-48D8-B20F-65D93A6CF09E}" type="slidenum">
              <a:rPr lang="en-US" sz="1200" smtClean="0">
                <a:latin typeface="Bahnschrift Light" panose="020B0502040204020203" pitchFamily="34" charset="0"/>
                <a:cs typeface="Arial" pitchFamily="34" charset="0"/>
              </a:rPr>
              <a:pPr algn="r"/>
              <a:t>13</a:t>
            </a:fld>
            <a:endParaRPr lang="en-US" sz="1200" dirty="0">
              <a:latin typeface="Bahnschrift Light" panose="020B0502040204020203" pitchFamily="34" charset="0"/>
              <a:cs typeface="Arial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192719D-97B1-96D7-06A8-3B510A82D5AF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0"/>
            <a:ext cx="9144000" cy="908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0033CC"/>
              </a:solidFill>
              <a:latin typeface="Times New Roman" pitchFamily="18" charset="0"/>
            </a:endParaRPr>
          </a:p>
        </p:txBody>
      </p:sp>
      <p:sp>
        <p:nvSpPr>
          <p:cNvPr id="12" name="Θέση υποσέλιδου 4">
            <a:extLst>
              <a:ext uri="{FF2B5EF4-FFF2-40B4-BE49-F238E27FC236}">
                <a16:creationId xmlns:a16="http://schemas.microsoft.com/office/drawing/2014/main" id="{7890E6E1-2FF0-FD5A-3E4E-F0406AD02C49}"/>
              </a:ext>
            </a:extLst>
          </p:cNvPr>
          <p:cNvSpPr txBox="1">
            <a:spLocks/>
          </p:cNvSpPr>
          <p:nvPr/>
        </p:nvSpPr>
        <p:spPr>
          <a:xfrm>
            <a:off x="4149680" y="6670790"/>
            <a:ext cx="4631713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Control flow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 – 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Arrays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 - 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Type conversions</a:t>
            </a:r>
          </a:p>
          <a:p>
            <a:endParaRPr lang="el-GR" sz="11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4C6C7EFD-3BB6-2CC1-8CA7-C1D05EA343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669" y="1137250"/>
            <a:ext cx="828092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l-GR" altLang="el-GR" b="1" i="1" kern="0" dirty="0">
                <a:latin typeface="Times New Roman" panose="02020603050405020304" pitchFamily="18" charset="0"/>
              </a:rPr>
              <a:t>Α</a:t>
            </a:r>
            <a:r>
              <a:rPr lang="en-GB" altLang="el-GR" b="1" i="1" kern="0" dirty="0">
                <a:latin typeface="Times New Roman" panose="02020603050405020304" pitchFamily="18" charset="0"/>
              </a:rPr>
              <a:t>.</a:t>
            </a:r>
            <a:r>
              <a:rPr lang="el-GR" altLang="el-GR" b="1" i="1" kern="0" dirty="0">
                <a:latin typeface="Times New Roman" panose="02020603050405020304" pitchFamily="18" charset="0"/>
              </a:rPr>
              <a:t>1</a:t>
            </a:r>
            <a:r>
              <a:rPr lang="el-GR" altLang="el-GR" i="1" kern="0" dirty="0">
                <a:latin typeface="Times New Roman" panose="02020603050405020304" pitchFamily="18" charset="0"/>
              </a:rPr>
              <a:t>. 	Ζήτα ένα θετικό ακέραιο αριθμό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l-GR" altLang="el-GR" b="1" i="1" kern="0" dirty="0">
                <a:latin typeface="Times New Roman" panose="02020603050405020304" pitchFamily="18" charset="0"/>
              </a:rPr>
              <a:t>Α.2</a:t>
            </a:r>
            <a:r>
              <a:rPr lang="el-GR" altLang="el-GR" i="1" kern="0" dirty="0">
                <a:latin typeface="Times New Roman" panose="02020603050405020304" pitchFamily="18" charset="0"/>
              </a:rPr>
              <a:t>	Πάρε τον αριθμό</a:t>
            </a:r>
            <a:endParaRPr lang="en-GB" altLang="el-GR" i="1" kern="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GB" altLang="el-GR" b="1" i="1" kern="0" dirty="0">
                <a:latin typeface="Times New Roman" panose="02020603050405020304" pitchFamily="18" charset="0"/>
              </a:rPr>
              <a:t>A</a:t>
            </a:r>
            <a:r>
              <a:rPr lang="el-GR" altLang="el-GR" b="1" i="1" kern="0" dirty="0">
                <a:latin typeface="Times New Roman" panose="02020603050405020304" pitchFamily="18" charset="0"/>
              </a:rPr>
              <a:t>.3</a:t>
            </a:r>
            <a:r>
              <a:rPr lang="en-GB" altLang="el-GR" i="1" kern="0" dirty="0">
                <a:latin typeface="Times New Roman" panose="02020603050405020304" pitchFamily="18" charset="0"/>
              </a:rPr>
              <a:t> </a:t>
            </a:r>
            <a:r>
              <a:rPr lang="el-GR" altLang="el-GR" i="1" kern="0" dirty="0">
                <a:latin typeface="Times New Roman" panose="02020603050405020304" pitchFamily="18" charset="0"/>
              </a:rPr>
              <a:t>	</a:t>
            </a:r>
            <a:r>
              <a:rPr lang="el-GR" altLang="el-GR" b="1" i="1" kern="0" dirty="0">
                <a:latin typeface="Times New Roman" panose="02020603050405020304" pitchFamily="18" charset="0"/>
              </a:rPr>
              <a:t>Επανέλαβε</a:t>
            </a:r>
            <a:r>
              <a:rPr lang="en-GB" altLang="el-GR" i="1" kern="0" dirty="0">
                <a:latin typeface="Times New Roman" panose="02020603050405020304" pitchFamily="18" charset="0"/>
              </a:rPr>
              <a:t> </a:t>
            </a:r>
            <a:r>
              <a:rPr lang="el-GR" altLang="el-GR" i="1" kern="0" dirty="0">
                <a:latin typeface="Times New Roman" panose="02020603050405020304" pitchFamily="18" charset="0"/>
              </a:rPr>
              <a:t>τα παρακάτω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l-GR" altLang="el-GR" i="1" kern="0" dirty="0">
                <a:latin typeface="Times New Roman" panose="02020603050405020304" pitchFamily="18" charset="0"/>
              </a:rPr>
              <a:t>	Α3.1 </a:t>
            </a:r>
            <a:r>
              <a:rPr lang="el-GR" altLang="el-GR" b="1" i="1" kern="0" dirty="0">
                <a:latin typeface="Times New Roman" panose="02020603050405020304" pitchFamily="18" charset="0"/>
              </a:rPr>
              <a:t>Αν</a:t>
            </a:r>
            <a:r>
              <a:rPr lang="el-GR" altLang="el-GR" i="1" kern="0" dirty="0">
                <a:latin typeface="Times New Roman" panose="02020603050405020304" pitchFamily="18" charset="0"/>
              </a:rPr>
              <a:t> ο αριθμός είναι 1 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l-GR" altLang="el-GR" i="1" kern="0" dirty="0">
                <a:latin typeface="Times New Roman" panose="02020603050405020304" pitchFamily="18" charset="0"/>
              </a:rPr>
              <a:t>			τερμάτισε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l-GR" altLang="el-GR" i="1" kern="0" dirty="0">
                <a:latin typeface="Times New Roman" panose="02020603050405020304" pitchFamily="18" charset="0"/>
              </a:rPr>
              <a:t>	Α3.2 </a:t>
            </a:r>
            <a:r>
              <a:rPr lang="el-GR" altLang="el-GR" b="1" i="1" kern="0" dirty="0">
                <a:latin typeface="Times New Roman" panose="02020603050405020304" pitchFamily="18" charset="0"/>
              </a:rPr>
              <a:t>Αν</a:t>
            </a:r>
            <a:r>
              <a:rPr lang="el-GR" altLang="el-GR" i="1" kern="0" dirty="0">
                <a:latin typeface="Times New Roman" panose="02020603050405020304" pitchFamily="18" charset="0"/>
              </a:rPr>
              <a:t> ο αριθμός είναι άρτιος</a:t>
            </a: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l-GR" altLang="el-GR" sz="3200" i="1" kern="0" dirty="0">
                <a:latin typeface="Times New Roman" panose="02020603050405020304" pitchFamily="18" charset="0"/>
              </a:rPr>
              <a:t>			Διαίρεσε τον με το 2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l-GR" altLang="el-GR" i="1" kern="0" dirty="0">
                <a:latin typeface="Times New Roman" panose="02020603050405020304" pitchFamily="18" charset="0"/>
              </a:rPr>
              <a:t>		   </a:t>
            </a:r>
            <a:r>
              <a:rPr lang="el-GR" altLang="el-GR" b="1" i="1" kern="0" dirty="0">
                <a:latin typeface="Times New Roman" panose="02020603050405020304" pitchFamily="18" charset="0"/>
              </a:rPr>
              <a:t>Διαφορετικά</a:t>
            </a: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l-GR" altLang="el-GR" sz="3200" i="1" kern="0" dirty="0">
                <a:latin typeface="Times New Roman" panose="02020603050405020304" pitchFamily="18" charset="0"/>
              </a:rPr>
              <a:t>			Πολλαπλασίασε τον με το 3 και</a:t>
            </a: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l-GR" altLang="el-GR" sz="3200" i="1" kern="0" dirty="0">
                <a:latin typeface="Times New Roman" panose="02020603050405020304" pitchFamily="18" charset="0"/>
              </a:rPr>
              <a:t>			πρόσθεσε το 1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l-GR" altLang="el-GR" i="1" kern="0" dirty="0">
                <a:latin typeface="Times New Roman" panose="02020603050405020304" pitchFamily="18" charset="0"/>
              </a:rPr>
              <a:t>	Α3.3 Τύπωσε τον αριθμό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en-GB" altLang="el-GR" i="1" kern="0" dirty="0">
              <a:latin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620BDA3-5947-DA06-2841-B9B0B2BBD33E}"/>
              </a:ext>
            </a:extLst>
          </p:cNvPr>
          <p:cNvSpPr/>
          <p:nvPr/>
        </p:nvSpPr>
        <p:spPr bwMode="auto">
          <a:xfrm>
            <a:off x="8014879" y="1531832"/>
            <a:ext cx="3888432" cy="1368152"/>
          </a:xfrm>
          <a:prstGeom prst="rect">
            <a:avLst/>
          </a:prstGeom>
          <a:solidFill>
            <a:srgbClr val="92D050"/>
          </a:solidFill>
          <a:ln w="9525" cap="flat" cmpd="sng" algn="ctr">
            <a:solidFill>
              <a:srgbClr val="FFFF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Α.3  :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Loop Statement</a:t>
            </a: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A3.1: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Decision Statement</a:t>
            </a: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A3.2: Selection Statement</a:t>
            </a:r>
          </a:p>
        </p:txBody>
      </p:sp>
      <p:sp>
        <p:nvSpPr>
          <p:cNvPr id="7" name="Speech Bubble: Rectangle with Corners Rounded 6">
            <a:extLst>
              <a:ext uri="{FF2B5EF4-FFF2-40B4-BE49-F238E27FC236}">
                <a16:creationId xmlns:a16="http://schemas.microsoft.com/office/drawing/2014/main" id="{2DC918E2-B370-44C6-BACD-6E4DB7EEE196}"/>
              </a:ext>
            </a:extLst>
          </p:cNvPr>
          <p:cNvSpPr/>
          <p:nvPr/>
        </p:nvSpPr>
        <p:spPr bwMode="auto">
          <a:xfrm>
            <a:off x="7392144" y="5013175"/>
            <a:ext cx="4104456" cy="983465"/>
          </a:xfrm>
          <a:prstGeom prst="wedgeRoundRectCallout">
            <a:avLst>
              <a:gd name="adj1" fmla="val -103579"/>
              <a:gd name="adj2" fmla="val -334759"/>
              <a:gd name="adj3" fmla="val 16667"/>
            </a:avLst>
          </a:prstGeom>
          <a:solidFill>
            <a:srgbClr val="FFFF00"/>
          </a:solidFill>
          <a:ln w="9525" cap="flat" cmpd="sng" algn="ctr">
            <a:solidFill>
              <a:srgbClr val="FFFF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Η πρόταση επανάληψης δεν έχει συνθήκη τερματισμού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3C136DA-EF2C-9F68-B963-670C7C79D98C}"/>
              </a:ext>
            </a:extLst>
          </p:cNvPr>
          <p:cNvSpPr txBox="1"/>
          <p:nvPr/>
        </p:nvSpPr>
        <p:spPr>
          <a:xfrm rot="18783527">
            <a:off x="4866959" y="3948689"/>
            <a:ext cx="16995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l-GR" sz="2400" b="1" dirty="0">
                <a:solidFill>
                  <a:srgbClr val="C00000"/>
                </a:solidFill>
                <a:latin typeface="Tahoma" panose="020B0604030504040204" pitchFamily="34" charset="0"/>
              </a:rPr>
              <a:t>2</a:t>
            </a:r>
            <a:r>
              <a:rPr lang="el-GR" sz="2400" b="1" baseline="30000" dirty="0">
                <a:solidFill>
                  <a:srgbClr val="C00000"/>
                </a:solidFill>
                <a:latin typeface="Tahoma" panose="020B0604030504040204" pitchFamily="34" charset="0"/>
              </a:rPr>
              <a:t>η</a:t>
            </a:r>
            <a:r>
              <a:rPr lang="el-GR" sz="2400" b="1" dirty="0">
                <a:solidFill>
                  <a:srgbClr val="C00000"/>
                </a:solidFill>
                <a:latin typeface="Tahoma" panose="020B0604030504040204" pitchFamily="34" charset="0"/>
              </a:rPr>
              <a:t> εκδοχή</a:t>
            </a:r>
            <a:endParaRPr lang="en-GB" sz="2400" b="1" dirty="0">
              <a:solidFill>
                <a:srgbClr val="C00000"/>
              </a:solidFill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81666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18" presetClass="entr" presetSubtype="6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000"/>
                            </p:stCondLst>
                            <p:childTnLst>
                              <p:par>
                                <p:cTn id="13" presetID="18" presetClass="entr" presetSubtype="6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500"/>
                            </p:stCondLst>
                            <p:childTnLst>
                              <p:par>
                                <p:cTn id="17" presetID="18" presetClass="entr" presetSubtype="6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7000"/>
                            </p:stCondLst>
                            <p:childTnLst>
                              <p:par>
                                <p:cTn id="21" presetID="18" presetClass="entr" presetSubtype="6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8500"/>
                            </p:stCondLst>
                            <p:childTnLst>
                              <p:par>
                                <p:cTn id="25" presetID="18" presetClass="entr" presetSubtype="6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8" presetClass="entr" presetSubtype="6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0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0"/>
                            </p:stCondLst>
                            <p:childTnLst>
                              <p:par>
                                <p:cTn id="32" presetID="18" presetClass="entr" presetSubtype="6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4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8" presetClass="entr" presetSubtype="6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8" presetClass="entr" presetSubtype="6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0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1500"/>
                            </p:stCondLst>
                            <p:childTnLst>
                              <p:par>
                                <p:cTn id="42" presetID="18" presetClass="entr" presetSubtype="6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4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utoUpdateAnimBg="0" advAuto="1000"/>
      <p:bldP spid="6" grpId="0" animBg="1"/>
      <p:bldP spid="7" grpId="0" animBg="1"/>
      <p:bldP spid="1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B1569E-3F80-031D-40D8-4EFE410656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07624A22-D33E-E676-9082-1323592670BE}"/>
              </a:ext>
            </a:extLst>
          </p:cNvPr>
          <p:cNvSpPr/>
          <p:nvPr/>
        </p:nvSpPr>
        <p:spPr>
          <a:xfrm>
            <a:off x="140669" y="6559908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B025808C-2C3C-1D86-DA7C-86DB52589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1026368"/>
          </a:xfrm>
          <a:solidFill>
            <a:srgbClr val="FDCBAD"/>
          </a:solidFill>
        </p:spPr>
        <p:txBody>
          <a:bodyPr>
            <a:normAutofit fontScale="90000"/>
          </a:bodyPr>
          <a:lstStyle/>
          <a:p>
            <a:r>
              <a:rPr lang="en-GB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Hailstone sequence</a:t>
            </a:r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  </a:t>
            </a:r>
            <a:b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</a:br>
            <a:r>
              <a:rPr lang="el-GR" sz="4000" dirty="0">
                <a:solidFill>
                  <a:srgbClr val="F9853D"/>
                </a:solidFill>
                <a:latin typeface="Bahnschrift" panose="020B0502040204020203" pitchFamily="34" charset="0"/>
              </a:rPr>
              <a:t>Λεκτική περιγραφή </a:t>
            </a:r>
            <a:r>
              <a:rPr lang="en-GB" sz="4000" dirty="0">
                <a:solidFill>
                  <a:srgbClr val="F9853D"/>
                </a:solidFill>
                <a:latin typeface="Bahnschrift" panose="020B0502040204020203" pitchFamily="34" charset="0"/>
              </a:rPr>
              <a:t>Version </a:t>
            </a:r>
            <a:r>
              <a:rPr lang="el-GR" sz="4000" dirty="0">
                <a:solidFill>
                  <a:srgbClr val="F9853D"/>
                </a:solidFill>
                <a:latin typeface="Bahnschrift" panose="020B0502040204020203" pitchFamily="34" charset="0"/>
              </a:rPr>
              <a:t>3</a:t>
            </a: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7E3AF115-5897-77A4-3918-1B81DFBA75DC}"/>
              </a:ext>
            </a:extLst>
          </p:cNvPr>
          <p:cNvSpPr txBox="1">
            <a:spLocks/>
          </p:cNvSpPr>
          <p:nvPr/>
        </p:nvSpPr>
        <p:spPr>
          <a:xfrm>
            <a:off x="-1" y="6599394"/>
            <a:ext cx="3840633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© 202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5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Μια Εισαγωγή στην Τέχνη του Προγραμματισμού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47E5DCB-BDE8-B8E7-7621-0E344ED5E7CD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200" dirty="0">
                <a:latin typeface="Bahnschrift Light" panose="020B0502040204020203" pitchFamily="34" charset="0"/>
                <a:cs typeface="Arial" pitchFamily="34" charset="0"/>
              </a:rPr>
              <a:t>Διαφάνεια </a:t>
            </a:r>
            <a:fld id="{7C15C5B5-03C6-48D8-B20F-65D93A6CF09E}" type="slidenum">
              <a:rPr lang="en-US" sz="1200" smtClean="0">
                <a:latin typeface="Bahnschrift Light" panose="020B0502040204020203" pitchFamily="34" charset="0"/>
                <a:cs typeface="Arial" pitchFamily="34" charset="0"/>
              </a:rPr>
              <a:pPr algn="r"/>
              <a:t>14</a:t>
            </a:fld>
            <a:endParaRPr lang="en-US" sz="1200" dirty="0">
              <a:latin typeface="Bahnschrift Light" panose="020B0502040204020203" pitchFamily="34" charset="0"/>
              <a:cs typeface="Arial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953F667-5915-6779-CDDD-5A3F533AAE35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0"/>
            <a:ext cx="9144000" cy="908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0033CC"/>
              </a:solidFill>
              <a:latin typeface="Times New Roman" pitchFamily="18" charset="0"/>
            </a:endParaRPr>
          </a:p>
        </p:txBody>
      </p:sp>
      <p:sp>
        <p:nvSpPr>
          <p:cNvPr id="12" name="Θέση υποσέλιδου 4">
            <a:extLst>
              <a:ext uri="{FF2B5EF4-FFF2-40B4-BE49-F238E27FC236}">
                <a16:creationId xmlns:a16="http://schemas.microsoft.com/office/drawing/2014/main" id="{1DE2A223-D088-BC62-4481-5B45D49416E1}"/>
              </a:ext>
            </a:extLst>
          </p:cNvPr>
          <p:cNvSpPr txBox="1">
            <a:spLocks/>
          </p:cNvSpPr>
          <p:nvPr/>
        </p:nvSpPr>
        <p:spPr>
          <a:xfrm>
            <a:off x="4149680" y="6670790"/>
            <a:ext cx="4631713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Control flow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 – 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Arrays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 - 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Type conversions</a:t>
            </a:r>
          </a:p>
          <a:p>
            <a:endParaRPr lang="el-GR" sz="11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E745AA0-498C-5ADB-16F8-AEC276290416}"/>
              </a:ext>
            </a:extLst>
          </p:cNvPr>
          <p:cNvSpPr txBox="1"/>
          <p:nvPr/>
        </p:nvSpPr>
        <p:spPr>
          <a:xfrm rot="18783527">
            <a:off x="4866959" y="3948689"/>
            <a:ext cx="16995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l-GR" sz="2400" b="1" dirty="0">
                <a:solidFill>
                  <a:srgbClr val="C00000"/>
                </a:solidFill>
                <a:latin typeface="Tahoma" panose="020B0604030504040204" pitchFamily="34" charset="0"/>
              </a:rPr>
              <a:t>2</a:t>
            </a:r>
            <a:r>
              <a:rPr lang="el-GR" sz="2400" b="1" baseline="30000" dirty="0">
                <a:solidFill>
                  <a:srgbClr val="C00000"/>
                </a:solidFill>
                <a:latin typeface="Tahoma" panose="020B0604030504040204" pitchFamily="34" charset="0"/>
              </a:rPr>
              <a:t>η</a:t>
            </a:r>
            <a:r>
              <a:rPr lang="el-GR" sz="2400" b="1" dirty="0">
                <a:solidFill>
                  <a:srgbClr val="C00000"/>
                </a:solidFill>
                <a:latin typeface="Tahoma" panose="020B0604030504040204" pitchFamily="34" charset="0"/>
              </a:rPr>
              <a:t> εκδοχή</a:t>
            </a:r>
            <a:endParaRPr lang="en-GB" sz="2400" b="1" dirty="0">
              <a:solidFill>
                <a:srgbClr val="C00000"/>
              </a:solidFill>
              <a:latin typeface="Tahoma" panose="020B060403050404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850AFF8-00BE-7A5C-2672-858BE60494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669" y="1528183"/>
            <a:ext cx="8280920" cy="4114800"/>
          </a:xfrm>
          <a:prstGeom prst="rect">
            <a:avLst/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l-GR" altLang="el-GR" b="1" i="1" kern="0" dirty="0">
                <a:latin typeface="Times New Roman" panose="02020603050405020304" pitchFamily="18" charset="0"/>
              </a:rPr>
              <a:t>Α</a:t>
            </a:r>
            <a:r>
              <a:rPr lang="en-GB" altLang="el-GR" b="1" i="1" kern="0" dirty="0">
                <a:latin typeface="Times New Roman" panose="02020603050405020304" pitchFamily="18" charset="0"/>
              </a:rPr>
              <a:t>.</a:t>
            </a:r>
            <a:r>
              <a:rPr lang="el-GR" altLang="el-GR" b="1" i="1" kern="0" dirty="0">
                <a:latin typeface="Times New Roman" panose="02020603050405020304" pitchFamily="18" charset="0"/>
              </a:rPr>
              <a:t>1</a:t>
            </a:r>
            <a:r>
              <a:rPr lang="el-GR" altLang="el-GR" i="1" kern="0" dirty="0">
                <a:latin typeface="Times New Roman" panose="02020603050405020304" pitchFamily="18" charset="0"/>
              </a:rPr>
              <a:t>. 	Ζήτα ένα θετικό ακέραιο αριθμό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l-GR" altLang="el-GR" b="1" i="1" kern="0" dirty="0">
                <a:latin typeface="Times New Roman" panose="02020603050405020304" pitchFamily="18" charset="0"/>
              </a:rPr>
              <a:t>Α.2</a:t>
            </a:r>
            <a:r>
              <a:rPr lang="el-GR" altLang="el-GR" i="1" kern="0" dirty="0">
                <a:latin typeface="Times New Roman" panose="02020603050405020304" pitchFamily="18" charset="0"/>
              </a:rPr>
              <a:t>	Πάρε τον αριθμό</a:t>
            </a:r>
            <a:endParaRPr lang="en-GB" altLang="el-GR" i="1" kern="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GB" altLang="el-GR" b="1" i="1" kern="0" dirty="0">
                <a:latin typeface="Times New Roman" panose="02020603050405020304" pitchFamily="18" charset="0"/>
              </a:rPr>
              <a:t>A</a:t>
            </a:r>
            <a:r>
              <a:rPr lang="el-GR" altLang="el-GR" b="1" i="1" kern="0" dirty="0">
                <a:latin typeface="Times New Roman" panose="02020603050405020304" pitchFamily="18" charset="0"/>
              </a:rPr>
              <a:t>.3</a:t>
            </a:r>
            <a:r>
              <a:rPr lang="en-GB" altLang="el-GR" i="1" kern="0" dirty="0">
                <a:latin typeface="Times New Roman" panose="02020603050405020304" pitchFamily="18" charset="0"/>
              </a:rPr>
              <a:t> </a:t>
            </a:r>
            <a:r>
              <a:rPr lang="el-GR" altLang="el-GR" i="1" kern="0" dirty="0">
                <a:latin typeface="Times New Roman" panose="02020603050405020304" pitchFamily="18" charset="0"/>
              </a:rPr>
              <a:t>	</a:t>
            </a:r>
            <a:r>
              <a:rPr lang="el-GR" altLang="el-GR" b="1" i="1" kern="0" dirty="0">
                <a:highlight>
                  <a:srgbClr val="FFFF00"/>
                </a:highlight>
                <a:latin typeface="Times New Roman" panose="02020603050405020304" pitchFamily="18" charset="0"/>
              </a:rPr>
              <a:t>Επανέλαβε</a:t>
            </a:r>
            <a:r>
              <a:rPr lang="en-GB" altLang="el-GR" b="1" i="1" kern="0" dirty="0">
                <a:highlight>
                  <a:srgbClr val="FFFF00"/>
                </a:highlight>
                <a:latin typeface="Times New Roman" panose="02020603050405020304" pitchFamily="18" charset="0"/>
              </a:rPr>
              <a:t> </a:t>
            </a:r>
            <a:r>
              <a:rPr lang="el-GR" altLang="el-GR" b="1" i="1" kern="0" dirty="0">
                <a:highlight>
                  <a:srgbClr val="FFFF00"/>
                </a:highlight>
                <a:latin typeface="Times New Roman" panose="02020603050405020304" pitchFamily="18" charset="0"/>
              </a:rPr>
              <a:t>μέχρι </a:t>
            </a:r>
            <a:r>
              <a:rPr lang="el-GR" altLang="el-GR" i="1" kern="0" dirty="0">
                <a:highlight>
                  <a:srgbClr val="FFFF00"/>
                </a:highlight>
                <a:latin typeface="Times New Roman" panose="02020603050405020304" pitchFamily="18" charset="0"/>
              </a:rPr>
              <a:t>ο αριθμός να γίνει 1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l-GR" altLang="el-GR" i="1" kern="0" dirty="0">
                <a:latin typeface="Times New Roman" panose="02020603050405020304" pitchFamily="18" charset="0"/>
              </a:rPr>
              <a:t>		Α3.1 </a:t>
            </a:r>
            <a:r>
              <a:rPr lang="el-GR" altLang="el-GR" b="1" i="1" kern="0" dirty="0">
                <a:latin typeface="Times New Roman" panose="02020603050405020304" pitchFamily="18" charset="0"/>
              </a:rPr>
              <a:t>Αν</a:t>
            </a:r>
            <a:r>
              <a:rPr lang="el-GR" altLang="el-GR" i="1" kern="0" dirty="0">
                <a:latin typeface="Times New Roman" panose="02020603050405020304" pitchFamily="18" charset="0"/>
              </a:rPr>
              <a:t> ο αριθμός είναι άρτιος</a:t>
            </a: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l-GR" altLang="el-GR" sz="3200" i="1" kern="0" dirty="0">
                <a:latin typeface="Times New Roman" panose="02020603050405020304" pitchFamily="18" charset="0"/>
              </a:rPr>
              <a:t>			Διαίρεσε τον με το 2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l-GR" altLang="el-GR" i="1" kern="0" dirty="0">
                <a:latin typeface="Times New Roman" panose="02020603050405020304" pitchFamily="18" charset="0"/>
              </a:rPr>
              <a:t>		   </a:t>
            </a:r>
            <a:r>
              <a:rPr lang="el-GR" altLang="el-GR" b="1" i="1" kern="0" dirty="0">
                <a:latin typeface="Times New Roman" panose="02020603050405020304" pitchFamily="18" charset="0"/>
              </a:rPr>
              <a:t>Διαφορετικά</a:t>
            </a: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l-GR" altLang="el-GR" sz="3200" i="1" kern="0" dirty="0">
                <a:latin typeface="Times New Roman" panose="02020603050405020304" pitchFamily="18" charset="0"/>
              </a:rPr>
              <a:t>			Πολλαπλασίασε τον με το 3 και</a:t>
            </a: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l-GR" altLang="el-GR" sz="3200" i="1" kern="0" dirty="0">
                <a:latin typeface="Times New Roman" panose="02020603050405020304" pitchFamily="18" charset="0"/>
              </a:rPr>
              <a:t>			πρόσθεσε το 1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l-GR" altLang="el-GR" i="1" kern="0" dirty="0">
                <a:latin typeface="Times New Roman" panose="02020603050405020304" pitchFamily="18" charset="0"/>
              </a:rPr>
              <a:t>		Α3.2 Τύπωσε τον αριθμό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en-GB" altLang="el-GR" i="1" kern="0" dirty="0">
              <a:latin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520279-7F05-3E6F-3812-AAF0BEB3FC2E}"/>
              </a:ext>
            </a:extLst>
          </p:cNvPr>
          <p:cNvSpPr txBox="1"/>
          <p:nvPr/>
        </p:nvSpPr>
        <p:spPr>
          <a:xfrm rot="18783527">
            <a:off x="7571837" y="3083939"/>
            <a:ext cx="16995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l-GR" sz="2400" b="1" dirty="0">
                <a:solidFill>
                  <a:srgbClr val="C00000"/>
                </a:solidFill>
                <a:latin typeface="Tahoma" panose="020B0604030504040204" pitchFamily="34" charset="0"/>
              </a:rPr>
              <a:t>3</a:t>
            </a:r>
            <a:r>
              <a:rPr lang="el-GR" sz="2400" b="1" baseline="30000" dirty="0">
                <a:solidFill>
                  <a:srgbClr val="C00000"/>
                </a:solidFill>
                <a:latin typeface="Tahoma" panose="020B0604030504040204" pitchFamily="34" charset="0"/>
              </a:rPr>
              <a:t>η</a:t>
            </a:r>
            <a:r>
              <a:rPr lang="el-GR" sz="2400" b="1" dirty="0">
                <a:solidFill>
                  <a:srgbClr val="C00000"/>
                </a:solidFill>
                <a:latin typeface="Tahoma" panose="020B0604030504040204" pitchFamily="34" charset="0"/>
              </a:rPr>
              <a:t> εκδοχή</a:t>
            </a:r>
            <a:endParaRPr lang="en-GB" sz="2400" b="1" dirty="0">
              <a:solidFill>
                <a:srgbClr val="C00000"/>
              </a:solidFill>
              <a:latin typeface="Tahoma" panose="020B0604030504040204" pitchFamily="34" charset="0"/>
            </a:endParaRPr>
          </a:p>
        </p:txBody>
      </p:sp>
      <p:sp>
        <p:nvSpPr>
          <p:cNvPr id="7" name="Speech Bubble: Rectangle with Corners Rounded 6">
            <a:extLst>
              <a:ext uri="{FF2B5EF4-FFF2-40B4-BE49-F238E27FC236}">
                <a16:creationId xmlns:a16="http://schemas.microsoft.com/office/drawing/2014/main" id="{4AE93930-9868-8F2A-DD75-BDA90956A8B2}"/>
              </a:ext>
            </a:extLst>
          </p:cNvPr>
          <p:cNvSpPr/>
          <p:nvPr/>
        </p:nvSpPr>
        <p:spPr bwMode="auto">
          <a:xfrm>
            <a:off x="7786282" y="5258614"/>
            <a:ext cx="4104456" cy="983465"/>
          </a:xfrm>
          <a:prstGeom prst="wedgeRoundRectCallout">
            <a:avLst>
              <a:gd name="adj1" fmla="val -83990"/>
              <a:gd name="adj2" fmla="val -283461"/>
              <a:gd name="adj3" fmla="val 16667"/>
            </a:avLst>
          </a:prstGeom>
          <a:solidFill>
            <a:srgbClr val="FFFF00"/>
          </a:solidFill>
          <a:ln w="9525" cap="flat" cmpd="sng" algn="ctr">
            <a:solidFill>
              <a:srgbClr val="FFFF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Η πρόταση επανάληψης έχει συνθήκη τερματισμού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BB0242F-24CA-6488-A0CC-40FD9959AE24}"/>
              </a:ext>
            </a:extLst>
          </p:cNvPr>
          <p:cNvSpPr/>
          <p:nvPr/>
        </p:nvSpPr>
        <p:spPr bwMode="auto">
          <a:xfrm>
            <a:off x="8162899" y="1168144"/>
            <a:ext cx="3888432" cy="983465"/>
          </a:xfrm>
          <a:prstGeom prst="rect">
            <a:avLst/>
          </a:prstGeom>
          <a:solidFill>
            <a:srgbClr val="92D050"/>
          </a:solidFill>
          <a:ln w="9525" cap="flat" cmpd="sng" algn="ctr">
            <a:solidFill>
              <a:srgbClr val="FFFF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Α.3  :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Loop Statement</a:t>
            </a: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A3.1: Selection Statement</a:t>
            </a:r>
          </a:p>
        </p:txBody>
      </p:sp>
    </p:spTree>
    <p:extLst>
      <p:ext uri="{BB962C8B-B14F-4D97-AF65-F5344CB8AC3E}">
        <p14:creationId xmlns:p14="http://schemas.microsoft.com/office/powerpoint/2010/main" val="26391045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9FD0B7-56F3-89A9-B054-5D82DE5F19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61C79580-5314-25F3-BF76-5965CDEA5E08}"/>
              </a:ext>
            </a:extLst>
          </p:cNvPr>
          <p:cNvSpPr/>
          <p:nvPr/>
        </p:nvSpPr>
        <p:spPr>
          <a:xfrm>
            <a:off x="140669" y="6559908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C94A1D41-15A1-9EF3-0134-D4A1878D8B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83457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Προτάσεις ελέγχου ροής εκτέλεσης προγράμματος</a:t>
            </a:r>
            <a:endParaRPr lang="el-GR" sz="4000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4F4FF88B-33B3-76C0-64F4-7A8E03109B06}"/>
              </a:ext>
            </a:extLst>
          </p:cNvPr>
          <p:cNvSpPr txBox="1">
            <a:spLocks/>
          </p:cNvSpPr>
          <p:nvPr/>
        </p:nvSpPr>
        <p:spPr>
          <a:xfrm>
            <a:off x="-1" y="6599394"/>
            <a:ext cx="3840633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© 202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5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Μια Εισαγωγή στην Τέχνη του Προγραμματισμού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8992370-3071-8DF4-9461-FDD394E6392A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200" dirty="0">
                <a:latin typeface="Bahnschrift Light" panose="020B0502040204020203" pitchFamily="34" charset="0"/>
                <a:cs typeface="Arial" pitchFamily="34" charset="0"/>
              </a:rPr>
              <a:t>Διαφάνεια </a:t>
            </a:r>
            <a:fld id="{7C15C5B5-03C6-48D8-B20F-65D93A6CF09E}" type="slidenum">
              <a:rPr lang="en-US" sz="1200" smtClean="0">
                <a:latin typeface="Bahnschrift Light" panose="020B0502040204020203" pitchFamily="34" charset="0"/>
                <a:cs typeface="Arial" pitchFamily="34" charset="0"/>
              </a:rPr>
              <a:pPr algn="r"/>
              <a:t>15</a:t>
            </a:fld>
            <a:endParaRPr lang="en-US" sz="1200" dirty="0">
              <a:latin typeface="Bahnschrift Light" panose="020B0502040204020203" pitchFamily="34" charset="0"/>
              <a:cs typeface="Arial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47830F9-E1C3-E295-5277-2B90E47030B3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0"/>
            <a:ext cx="9144000" cy="908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0033CC"/>
              </a:solidFill>
              <a:latin typeface="Times New Roman" pitchFamily="18" charset="0"/>
            </a:endParaRPr>
          </a:p>
        </p:txBody>
      </p:sp>
      <p:sp>
        <p:nvSpPr>
          <p:cNvPr id="12" name="Θέση υποσέλιδου 4">
            <a:extLst>
              <a:ext uri="{FF2B5EF4-FFF2-40B4-BE49-F238E27FC236}">
                <a16:creationId xmlns:a16="http://schemas.microsoft.com/office/drawing/2014/main" id="{F9FCF4EF-6CD5-9EFB-84FA-9D951249B719}"/>
              </a:ext>
            </a:extLst>
          </p:cNvPr>
          <p:cNvSpPr txBox="1">
            <a:spLocks/>
          </p:cNvSpPr>
          <p:nvPr/>
        </p:nvSpPr>
        <p:spPr>
          <a:xfrm>
            <a:off x="4149680" y="6670790"/>
            <a:ext cx="4631713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Control flow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 – 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Arrays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 - 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Type conversions</a:t>
            </a:r>
          </a:p>
          <a:p>
            <a:endParaRPr lang="el-GR" sz="11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34D824-8298-D499-369A-81AA8FC1E38E}"/>
              </a:ext>
            </a:extLst>
          </p:cNvPr>
          <p:cNvSpPr txBox="1"/>
          <p:nvPr/>
        </p:nvSpPr>
        <p:spPr>
          <a:xfrm>
            <a:off x="0" y="806442"/>
            <a:ext cx="956499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3200" b="1" dirty="0" err="1">
                <a:solidFill>
                  <a:srgbClr val="C00000"/>
                </a:solidFill>
              </a:rPr>
              <a:t>Ακολουθιακή</a:t>
            </a:r>
            <a:r>
              <a:rPr lang="el-GR" sz="3200" b="1" dirty="0">
                <a:solidFill>
                  <a:srgbClr val="C00000"/>
                </a:solidFill>
              </a:rPr>
              <a:t> εκτέλεση</a:t>
            </a:r>
          </a:p>
          <a:p>
            <a:r>
              <a:rPr lang="el-GR" sz="2800" dirty="0"/>
              <a:t>την εκτέλεση μιας πρόταση ακολουθεί η εκτέλεση της επόμενης.</a:t>
            </a:r>
            <a:endParaRPr lang="en-GB" sz="2800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CE79417A-3B47-0B0C-0D90-CEA97F164D42}"/>
              </a:ext>
            </a:extLst>
          </p:cNvPr>
          <p:cNvGrpSpPr/>
          <p:nvPr/>
        </p:nvGrpSpPr>
        <p:grpSpPr>
          <a:xfrm>
            <a:off x="-1" y="1888061"/>
            <a:ext cx="8640725" cy="2401374"/>
            <a:chOff x="-1" y="1888061"/>
            <a:chExt cx="8640725" cy="2401374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028B7AD-5DEE-1C5C-FD0E-5BFEA8EC131B}"/>
                </a:ext>
              </a:extLst>
            </p:cNvPr>
            <p:cNvSpPr txBox="1"/>
            <p:nvPr/>
          </p:nvSpPr>
          <p:spPr>
            <a:xfrm>
              <a:off x="0" y="1888061"/>
              <a:ext cx="8640724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lvl="2">
                <a:tabLst>
                  <a:tab pos="144145" algn="l"/>
                </a:tabLst>
              </a:pPr>
              <a:r>
                <a:rPr lang="el-GR" sz="3200" b="1" dirty="0">
                  <a:solidFill>
                    <a:srgbClr val="C00000"/>
                  </a:solidFill>
                </a:rPr>
                <a:t>Προτάσεις διακλάδωσης υπό συνθήκη</a:t>
              </a:r>
              <a:endParaRPr lang="en-GB" sz="3200" b="1" dirty="0">
                <a:solidFill>
                  <a:srgbClr val="C00000"/>
                </a:solidFill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C904B51C-C916-439F-BE76-3873F9833A7E}"/>
                </a:ext>
              </a:extLst>
            </p:cNvPr>
            <p:cNvSpPr txBox="1"/>
            <p:nvPr/>
          </p:nvSpPr>
          <p:spPr>
            <a:xfrm>
              <a:off x="-1" y="2473553"/>
              <a:ext cx="5076497" cy="181588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indent="182880" algn="just">
                <a:buNone/>
                <a:tabLst>
                  <a:tab pos="144145" algn="l"/>
                </a:tabLst>
              </a:pPr>
              <a:r>
                <a:rPr lang="el-GR" sz="2800" b="1" dirty="0">
                  <a:solidFill>
                    <a:srgbClr val="202122"/>
                  </a:solidFill>
                  <a:effectLst/>
                  <a:latin typeface="Aptos" panose="020B0004020202020204" pitchFamily="34" charset="0"/>
                  <a:ea typeface="Aptos" panose="020B0004020202020204" pitchFamily="34" charset="0"/>
                  <a:cs typeface="Aptos" panose="020B0004020202020204" pitchFamily="34" charset="0"/>
                </a:rPr>
                <a:t>«Εάν </a:t>
              </a:r>
              <a:r>
                <a:rPr lang="el-GR" sz="2800" dirty="0">
                  <a:solidFill>
                    <a:srgbClr val="202122"/>
                  </a:solidFill>
                  <a:effectLst/>
                  <a:latin typeface="Aptos" panose="020B0004020202020204" pitchFamily="34" charset="0"/>
                  <a:ea typeface="Aptos" panose="020B0004020202020204" pitchFamily="34" charset="0"/>
                  <a:cs typeface="Aptos" panose="020B0004020202020204" pitchFamily="34" charset="0"/>
                </a:rPr>
                <a:t>το φανάρι είναι πράσινο</a:t>
              </a:r>
              <a:r>
                <a:rPr lang="el-GR" sz="2800" b="1" dirty="0">
                  <a:solidFill>
                    <a:srgbClr val="202122"/>
                  </a:solidFill>
                  <a:effectLst/>
                  <a:latin typeface="Aptos" panose="020B0004020202020204" pitchFamily="34" charset="0"/>
                  <a:ea typeface="Aptos" panose="020B0004020202020204" pitchFamily="34" charset="0"/>
                  <a:cs typeface="Aptos" panose="020B0004020202020204" pitchFamily="34" charset="0"/>
                </a:rPr>
                <a:t>, </a:t>
              </a:r>
              <a:endParaRPr lang="en-GB" sz="2800" dirty="0">
                <a:solidFill>
                  <a:srgbClr val="202122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endParaRPr>
            </a:p>
            <a:p>
              <a:pPr indent="182880" algn="just">
                <a:buNone/>
                <a:tabLst>
                  <a:tab pos="144145" algn="l"/>
                </a:tabLst>
              </a:pPr>
              <a:r>
                <a:rPr lang="el-GR" sz="2800" b="1" dirty="0">
                  <a:solidFill>
                    <a:srgbClr val="202122"/>
                  </a:solidFill>
                  <a:effectLst/>
                  <a:latin typeface="Aptos" panose="020B0004020202020204" pitchFamily="34" charset="0"/>
                  <a:ea typeface="Aptos" panose="020B0004020202020204" pitchFamily="34" charset="0"/>
                  <a:cs typeface="Aptos" panose="020B0004020202020204" pitchFamily="34" charset="0"/>
                </a:rPr>
                <a:t>	</a:t>
              </a:r>
              <a:r>
                <a:rPr lang="el-GR" sz="2800" dirty="0">
                  <a:solidFill>
                    <a:srgbClr val="202122"/>
                  </a:solidFill>
                  <a:effectLst/>
                  <a:latin typeface="Aptos" panose="020B0004020202020204" pitchFamily="34" charset="0"/>
                  <a:ea typeface="Aptos" panose="020B0004020202020204" pitchFamily="34" charset="0"/>
                  <a:cs typeface="Aptos" panose="020B0004020202020204" pitchFamily="34" charset="0"/>
                </a:rPr>
                <a:t>πέρνα</a:t>
              </a:r>
              <a:r>
                <a:rPr lang="el-GR" sz="2800" b="1" dirty="0">
                  <a:solidFill>
                    <a:srgbClr val="202122"/>
                  </a:solidFill>
                  <a:effectLst/>
                  <a:latin typeface="Aptos" panose="020B0004020202020204" pitchFamily="34" charset="0"/>
                  <a:ea typeface="Aptos" panose="020B0004020202020204" pitchFamily="34" charset="0"/>
                  <a:cs typeface="Aptos" panose="020B0004020202020204" pitchFamily="34" charset="0"/>
                </a:rPr>
                <a:t>, </a:t>
              </a:r>
              <a:endParaRPr lang="en-GB" sz="2800" dirty="0">
                <a:solidFill>
                  <a:srgbClr val="202122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endParaRPr>
            </a:p>
            <a:p>
              <a:pPr indent="182880" algn="just">
                <a:buNone/>
                <a:tabLst>
                  <a:tab pos="144145" algn="l"/>
                </a:tabLst>
              </a:pPr>
              <a:r>
                <a:rPr lang="el-GR" sz="2800" b="1" dirty="0">
                  <a:solidFill>
                    <a:srgbClr val="202122"/>
                  </a:solidFill>
                  <a:effectLst/>
                  <a:latin typeface="Aptos" panose="020B0004020202020204" pitchFamily="34" charset="0"/>
                  <a:ea typeface="Aptos" panose="020B0004020202020204" pitchFamily="34" charset="0"/>
                  <a:cs typeface="Aptos" panose="020B0004020202020204" pitchFamily="34" charset="0"/>
                </a:rPr>
                <a:t>αλλιώς </a:t>
              </a:r>
              <a:endParaRPr lang="en-GB" sz="2800" dirty="0">
                <a:solidFill>
                  <a:srgbClr val="202122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endParaRPr>
            </a:p>
            <a:p>
              <a:pPr indent="182880" algn="just">
                <a:buNone/>
                <a:tabLst>
                  <a:tab pos="144145" algn="l"/>
                </a:tabLst>
              </a:pPr>
              <a:r>
                <a:rPr lang="el-GR" sz="2800" b="1" dirty="0">
                  <a:solidFill>
                    <a:srgbClr val="202122"/>
                  </a:solidFill>
                  <a:effectLst/>
                  <a:latin typeface="Aptos" panose="020B0004020202020204" pitchFamily="34" charset="0"/>
                  <a:ea typeface="Aptos" panose="020B0004020202020204" pitchFamily="34" charset="0"/>
                  <a:cs typeface="Aptos" panose="020B0004020202020204" pitchFamily="34" charset="0"/>
                </a:rPr>
                <a:t>	</a:t>
              </a:r>
              <a:r>
                <a:rPr lang="el-GR" sz="2800" dirty="0">
                  <a:solidFill>
                    <a:srgbClr val="202122"/>
                  </a:solidFill>
                  <a:effectLst/>
                  <a:latin typeface="Aptos" panose="020B0004020202020204" pitchFamily="34" charset="0"/>
                  <a:ea typeface="Aptos" panose="020B0004020202020204" pitchFamily="34" charset="0"/>
                  <a:cs typeface="Aptos" panose="020B0004020202020204" pitchFamily="34" charset="0"/>
                </a:rPr>
                <a:t>σταμάτα</a:t>
              </a:r>
              <a:r>
                <a:rPr lang="el-GR" sz="2800" b="1" dirty="0">
                  <a:solidFill>
                    <a:srgbClr val="202122"/>
                  </a:solidFill>
                  <a:effectLst/>
                  <a:latin typeface="Aptos" panose="020B0004020202020204" pitchFamily="34" charset="0"/>
                  <a:ea typeface="Aptos" panose="020B0004020202020204" pitchFamily="34" charset="0"/>
                  <a:cs typeface="Aptos" panose="020B0004020202020204" pitchFamily="34" charset="0"/>
                </a:rPr>
                <a:t>» </a:t>
              </a:r>
              <a:endParaRPr lang="en-GB" sz="2800" dirty="0">
                <a:solidFill>
                  <a:srgbClr val="202122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endParaRP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FF0DACAB-9E7D-7ADC-F7EF-9D98C252C15B}"/>
              </a:ext>
            </a:extLst>
          </p:cNvPr>
          <p:cNvGrpSpPr/>
          <p:nvPr/>
        </p:nvGrpSpPr>
        <p:grpSpPr>
          <a:xfrm>
            <a:off x="-2" y="4223984"/>
            <a:ext cx="8640724" cy="2080652"/>
            <a:chOff x="-2" y="4223984"/>
            <a:chExt cx="8640724" cy="2080652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B34C05F4-683D-A50F-9BC4-BA464AB73D13}"/>
                </a:ext>
              </a:extLst>
            </p:cNvPr>
            <p:cNvSpPr txBox="1"/>
            <p:nvPr/>
          </p:nvSpPr>
          <p:spPr>
            <a:xfrm>
              <a:off x="-2" y="4223984"/>
              <a:ext cx="8640724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lvl="2">
                <a:tabLst>
                  <a:tab pos="144145" algn="l"/>
                </a:tabLst>
              </a:pPr>
              <a:r>
                <a:rPr lang="el-GR" sz="3200" b="1" dirty="0">
                  <a:solidFill>
                    <a:srgbClr val="C00000"/>
                  </a:solidFill>
                </a:rPr>
                <a:t>Προτάσεις Επανάληψης</a:t>
              </a:r>
              <a:endParaRPr lang="en-GB" sz="3200" b="1" dirty="0">
                <a:solidFill>
                  <a:srgbClr val="C00000"/>
                </a:solidFill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D21A5120-5166-F444-D8B0-64AF8E5D4653}"/>
                </a:ext>
              </a:extLst>
            </p:cNvPr>
            <p:cNvSpPr txBox="1"/>
            <p:nvPr/>
          </p:nvSpPr>
          <p:spPr>
            <a:xfrm>
              <a:off x="0" y="4919641"/>
              <a:ext cx="8351370" cy="1384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>
                <a:buNone/>
                <a:tabLst>
                  <a:tab pos="144145" algn="l"/>
                </a:tabLst>
              </a:pPr>
              <a:r>
                <a:rPr lang="el-GR" sz="2800" b="1" i="1" dirty="0">
                  <a:solidFill>
                    <a:srgbClr val="202122"/>
                  </a:solidFill>
                  <a:effectLst/>
                  <a:latin typeface="Aptos" panose="020B0004020202020204" pitchFamily="34" charset="0"/>
                  <a:ea typeface="Aptos" panose="020B0004020202020204" pitchFamily="34" charset="0"/>
                  <a:cs typeface="Aptos" panose="020B0004020202020204" pitchFamily="34" charset="0"/>
                </a:rPr>
                <a:t>Για κάθε </a:t>
              </a:r>
              <a:r>
                <a:rPr lang="el-GR" sz="2800" i="1" dirty="0">
                  <a:solidFill>
                    <a:srgbClr val="202122"/>
                  </a:solidFill>
                  <a:effectLst/>
                  <a:latin typeface="Aptos" panose="020B0004020202020204" pitchFamily="34" charset="0"/>
                  <a:ea typeface="Aptos" panose="020B0004020202020204" pitchFamily="34" charset="0"/>
                  <a:cs typeface="Aptos" panose="020B0004020202020204" pitchFamily="34" charset="0"/>
                </a:rPr>
                <a:t>πελάτη που έχει δάνειο</a:t>
              </a:r>
              <a:endParaRPr lang="en-GB" sz="2800" dirty="0">
                <a:solidFill>
                  <a:srgbClr val="202122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endParaRPr>
            </a:p>
            <a:p>
              <a:pPr algn="just">
                <a:buNone/>
                <a:tabLst>
                  <a:tab pos="144145" algn="l"/>
                </a:tabLst>
              </a:pPr>
              <a:r>
                <a:rPr lang="el-GR" sz="2800" i="1" dirty="0">
                  <a:solidFill>
                    <a:srgbClr val="202122"/>
                  </a:solidFill>
                  <a:effectLst/>
                  <a:latin typeface="Aptos" panose="020B0004020202020204" pitchFamily="34" charset="0"/>
                  <a:ea typeface="Aptos" panose="020B0004020202020204" pitchFamily="34" charset="0"/>
                  <a:cs typeface="Aptos" panose="020B0004020202020204" pitchFamily="34" charset="0"/>
                </a:rPr>
                <a:t>		Υπολόγισε τη δόση του δανείου του</a:t>
              </a:r>
              <a:endParaRPr lang="en-GB" sz="2800" dirty="0">
                <a:solidFill>
                  <a:srgbClr val="202122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endParaRPr>
            </a:p>
            <a:p>
              <a:pPr algn="just">
                <a:buNone/>
                <a:tabLst>
                  <a:tab pos="144145" algn="l"/>
                </a:tabLst>
              </a:pPr>
              <a:r>
                <a:rPr lang="el-GR" sz="2800" i="1" dirty="0">
                  <a:solidFill>
                    <a:srgbClr val="202122"/>
                  </a:solidFill>
                  <a:effectLst/>
                  <a:latin typeface="Aptos" panose="020B0004020202020204" pitchFamily="34" charset="0"/>
                  <a:ea typeface="Aptos" panose="020B0004020202020204" pitchFamily="34" charset="0"/>
                  <a:cs typeface="Aptos" panose="020B0004020202020204" pitchFamily="34" charset="0"/>
                </a:rPr>
                <a:t>		Ενημέρωσέ τον για ημερομηνία πληρωμής</a:t>
              </a:r>
              <a:endParaRPr lang="en-GB" sz="2800" dirty="0">
                <a:solidFill>
                  <a:srgbClr val="202122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8590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601268-0918-21DF-D9C2-BB759F933A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C897CEF6-2FEB-2372-D252-FAB73F08ABF5}"/>
              </a:ext>
            </a:extLst>
          </p:cNvPr>
          <p:cNvSpPr/>
          <p:nvPr/>
        </p:nvSpPr>
        <p:spPr>
          <a:xfrm>
            <a:off x="140669" y="6559908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AAD6854A-F825-B22F-BDD1-8F9816D3C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83457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Προτάσεις διακλάδωσης υπό συνθήκη - </a:t>
            </a:r>
            <a:r>
              <a:rPr lang="en-US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if</a:t>
            </a:r>
            <a:endParaRPr lang="el-GR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EF2E425A-60AC-A911-1891-9F7C3F756C69}"/>
              </a:ext>
            </a:extLst>
          </p:cNvPr>
          <p:cNvSpPr txBox="1">
            <a:spLocks/>
          </p:cNvSpPr>
          <p:nvPr/>
        </p:nvSpPr>
        <p:spPr>
          <a:xfrm>
            <a:off x="-1" y="6599394"/>
            <a:ext cx="3840633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© 202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5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Μια Εισαγωγή στην Τέχνη του Προγραμματισμού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61C2673-96BB-96EB-29E5-C1EC07668F73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200" dirty="0">
                <a:latin typeface="Bahnschrift Light" panose="020B0502040204020203" pitchFamily="34" charset="0"/>
                <a:cs typeface="Arial" pitchFamily="34" charset="0"/>
              </a:rPr>
              <a:t>Διαφάνεια </a:t>
            </a:r>
            <a:fld id="{7C15C5B5-03C6-48D8-B20F-65D93A6CF09E}" type="slidenum">
              <a:rPr lang="en-US" sz="1200" smtClean="0">
                <a:latin typeface="Bahnschrift Light" panose="020B0502040204020203" pitchFamily="34" charset="0"/>
                <a:cs typeface="Arial" pitchFamily="34" charset="0"/>
              </a:rPr>
              <a:pPr algn="r"/>
              <a:t>16</a:t>
            </a:fld>
            <a:endParaRPr lang="en-US" sz="1200" dirty="0">
              <a:latin typeface="Bahnschrift Light" panose="020B0502040204020203" pitchFamily="34" charset="0"/>
              <a:cs typeface="Arial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87BE599-D1BE-A10D-97F6-DDD558E94D70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0"/>
            <a:ext cx="9144000" cy="908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0033CC"/>
              </a:solidFill>
              <a:latin typeface="Times New Roman" pitchFamily="18" charset="0"/>
            </a:endParaRPr>
          </a:p>
        </p:txBody>
      </p:sp>
      <p:sp>
        <p:nvSpPr>
          <p:cNvPr id="12" name="Θέση υποσέλιδου 4">
            <a:extLst>
              <a:ext uri="{FF2B5EF4-FFF2-40B4-BE49-F238E27FC236}">
                <a16:creationId xmlns:a16="http://schemas.microsoft.com/office/drawing/2014/main" id="{9D7F3D69-88A1-0FD1-021F-E5008B8F7AB2}"/>
              </a:ext>
            </a:extLst>
          </p:cNvPr>
          <p:cNvSpPr txBox="1">
            <a:spLocks/>
          </p:cNvSpPr>
          <p:nvPr/>
        </p:nvSpPr>
        <p:spPr>
          <a:xfrm>
            <a:off x="4149680" y="6670790"/>
            <a:ext cx="4631713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Control flow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 – 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Arrays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 - 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Type conversions</a:t>
            </a:r>
          </a:p>
          <a:p>
            <a:endParaRPr lang="el-GR" sz="11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B2553F2-9AE6-5DC6-5F1B-80EA0DF24894}"/>
              </a:ext>
            </a:extLst>
          </p:cNvPr>
          <p:cNvSpPr txBox="1"/>
          <p:nvPr/>
        </p:nvSpPr>
        <p:spPr>
          <a:xfrm>
            <a:off x="34413" y="947859"/>
            <a:ext cx="5076497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182880" algn="just">
              <a:buNone/>
              <a:tabLst>
                <a:tab pos="144145" algn="l"/>
              </a:tabLst>
            </a:pPr>
            <a:r>
              <a:rPr lang="el-GR" sz="2800" b="1" dirty="0">
                <a:solidFill>
                  <a:srgbClr val="202122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«Εάν </a:t>
            </a:r>
            <a:r>
              <a:rPr lang="el-GR" sz="2800" dirty="0">
                <a:solidFill>
                  <a:srgbClr val="202122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το φανάρι είναι πράσινο</a:t>
            </a:r>
            <a:r>
              <a:rPr lang="el-GR" sz="2800" b="1" dirty="0">
                <a:solidFill>
                  <a:srgbClr val="202122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, </a:t>
            </a:r>
            <a:endParaRPr lang="en-GB" sz="2800" dirty="0">
              <a:solidFill>
                <a:srgbClr val="202122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indent="182880" algn="just">
              <a:buNone/>
              <a:tabLst>
                <a:tab pos="144145" algn="l"/>
              </a:tabLst>
            </a:pPr>
            <a:r>
              <a:rPr lang="el-GR" sz="2800" b="1" dirty="0">
                <a:solidFill>
                  <a:srgbClr val="202122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	</a:t>
            </a:r>
            <a:r>
              <a:rPr lang="el-GR" sz="2800" dirty="0">
                <a:solidFill>
                  <a:srgbClr val="202122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πέρνα</a:t>
            </a:r>
            <a:r>
              <a:rPr lang="el-GR" sz="2800" b="1" dirty="0">
                <a:solidFill>
                  <a:srgbClr val="202122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, </a:t>
            </a:r>
            <a:endParaRPr lang="en-GB" sz="2800" dirty="0">
              <a:solidFill>
                <a:srgbClr val="202122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indent="182880" algn="just">
              <a:buNone/>
              <a:tabLst>
                <a:tab pos="144145" algn="l"/>
              </a:tabLst>
            </a:pPr>
            <a:r>
              <a:rPr lang="el-GR" sz="2800" b="1" dirty="0">
                <a:solidFill>
                  <a:srgbClr val="202122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αλλιώς </a:t>
            </a:r>
            <a:endParaRPr lang="en-GB" sz="2800" dirty="0">
              <a:solidFill>
                <a:srgbClr val="202122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indent="182880" algn="just">
              <a:buNone/>
              <a:tabLst>
                <a:tab pos="144145" algn="l"/>
              </a:tabLst>
            </a:pPr>
            <a:r>
              <a:rPr lang="el-GR" sz="2800" b="1" dirty="0">
                <a:solidFill>
                  <a:srgbClr val="202122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	</a:t>
            </a:r>
            <a:r>
              <a:rPr lang="el-GR" sz="2800" dirty="0">
                <a:solidFill>
                  <a:srgbClr val="202122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σταμάτα</a:t>
            </a:r>
            <a:r>
              <a:rPr lang="el-GR" sz="2800" b="1" dirty="0">
                <a:solidFill>
                  <a:srgbClr val="202122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» </a:t>
            </a:r>
            <a:endParaRPr lang="en-GB" sz="2800" dirty="0">
              <a:solidFill>
                <a:srgbClr val="202122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EDBBE5D9-B688-A560-5ACB-BEF9430015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33493" y="1009534"/>
            <a:ext cx="4495800" cy="181588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>
            <a:spAutoFit/>
          </a:bodyPr>
          <a:lstStyle>
            <a:lvl1pPr eaLnBrk="0" hangingPunct="0">
              <a:tabLst>
                <a:tab pos="180975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tabLst>
                <a:tab pos="180975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tabLst>
                <a:tab pos="180975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tabLst>
                <a:tab pos="180975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tabLst>
                <a:tab pos="180975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180975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180975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180975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180975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just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l-GR" altLang="el-GR" sz="2800" dirty="0" err="1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if</a:t>
            </a:r>
            <a:r>
              <a:rPr lang="el-GR" altLang="el-GR" sz="2800" dirty="0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 (</a:t>
            </a:r>
            <a:r>
              <a:rPr lang="el-GR" altLang="el-GR" sz="2800" dirty="0" err="1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light</a:t>
            </a:r>
            <a:r>
              <a:rPr lang="el-GR" altLang="el-GR" sz="2800" dirty="0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 == </a:t>
            </a:r>
            <a:r>
              <a:rPr lang="el-GR" altLang="el-GR" sz="2800" dirty="0" err="1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red</a:t>
            </a:r>
            <a:r>
              <a:rPr lang="el-GR" altLang="el-GR" sz="2800" dirty="0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)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el-GR" altLang="el-GR" sz="2800" dirty="0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	</a:t>
            </a:r>
            <a:r>
              <a:rPr lang="en-US" altLang="el-GR" sz="2800" dirty="0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   </a:t>
            </a:r>
            <a:r>
              <a:rPr lang="el-GR" altLang="el-GR" sz="2800" dirty="0" err="1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stop</a:t>
            </a:r>
            <a:r>
              <a:rPr lang="el-GR" altLang="el-GR" sz="2800" dirty="0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();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el-GR" altLang="el-GR" sz="2800" dirty="0" err="1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else</a:t>
            </a:r>
            <a:endParaRPr lang="el-GR" altLang="el-GR" sz="2800" dirty="0">
              <a:solidFill>
                <a:srgbClr val="000000"/>
              </a:solidFill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el-GR" altLang="el-GR" sz="2800" dirty="0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	</a:t>
            </a:r>
            <a:r>
              <a:rPr lang="en-US" altLang="el-GR" sz="2800" dirty="0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   </a:t>
            </a:r>
            <a:r>
              <a:rPr lang="el-GR" altLang="el-GR" sz="2800" dirty="0" err="1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go</a:t>
            </a:r>
            <a:r>
              <a:rPr lang="el-GR" altLang="el-GR" sz="2800" dirty="0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();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B1F0679F-CBB3-4A83-715C-C4D1BF8CB6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53463" y="2924741"/>
            <a:ext cx="6894124" cy="363516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l-GR" sz="32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anose="02070309020205020404" pitchFamily="49" charset="0"/>
              </a:rPr>
              <a:t>int a, b, max;</a:t>
            </a:r>
            <a:endParaRPr kumimoji="0" lang="el-GR" altLang="el-GR" sz="32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Courier New" panose="02070309020205020404" pitchFamily="49" charset="0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None/>
              <a:tabLst/>
              <a:defRPr/>
            </a:pPr>
            <a:endParaRPr kumimoji="0" lang="el-GR" altLang="el-GR" sz="32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Courier New" panose="02070309020205020404" pitchFamily="49" charset="0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l-GR" sz="32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anose="02070309020205020404" pitchFamily="49" charset="0"/>
              </a:rPr>
              <a:t>if(a&gt;b)</a:t>
            </a:r>
          </a:p>
          <a:p>
            <a:pPr marL="1143000" marR="0" lvl="2" indent="-2286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5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l-GR" sz="32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anose="02070309020205020404" pitchFamily="49" charset="0"/>
              </a:rPr>
              <a:t>max = a;</a:t>
            </a: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l-GR" sz="32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anose="02070309020205020404" pitchFamily="49" charset="0"/>
              </a:rPr>
              <a:t>else</a:t>
            </a:r>
          </a:p>
          <a:p>
            <a:pPr marL="1143000" marR="0" lvl="2" indent="-2286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50000"/>
              <a:buFont typeface="Wingdings" panose="05000000000000000000" pitchFamily="2" charset="2"/>
              <a:buNone/>
              <a:tabLst/>
              <a:defRPr/>
            </a:pPr>
            <a:r>
              <a:rPr lang="en-US" altLang="el-GR" sz="3200" b="1" kern="0" dirty="0">
                <a:latin typeface="Courier New" panose="02070309020205020404" pitchFamily="49" charset="0"/>
              </a:rPr>
              <a:t>m</a:t>
            </a:r>
            <a:r>
              <a:rPr kumimoji="0" lang="en-US" altLang="el-GR" sz="32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anose="02070309020205020404" pitchFamily="49" charset="0"/>
              </a:rPr>
              <a:t>ax = b;</a:t>
            </a:r>
            <a:endParaRPr lang="en-US" altLang="el-GR" sz="3200" b="1" kern="0" noProof="0" dirty="0">
              <a:latin typeface="Courier New" panose="02070309020205020404" pitchFamily="49" charset="0"/>
            </a:endParaRPr>
          </a:p>
          <a:p>
            <a:pPr marL="0" marR="0" lvl="2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5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l-GR" sz="3200" b="1" i="0" u="none" strike="noStrike" kern="0" cap="none" spc="0" normalizeH="0" baseline="0" dirty="0">
                <a:ln>
                  <a:noFill/>
                </a:ln>
                <a:effectLst/>
                <a:uLnTx/>
                <a:uFillTx/>
                <a:latin typeface="Courier New" panose="02070309020205020404" pitchFamily="49" charset="0"/>
              </a:rPr>
              <a:t>  </a:t>
            </a:r>
            <a:r>
              <a:rPr kumimoji="0" lang="en-US" altLang="el-GR" sz="3200" b="1" i="0" u="none" strike="noStrike" kern="0" cap="none" spc="0" normalizeH="0" baseline="0" dirty="0" err="1">
                <a:ln>
                  <a:noFill/>
                </a:ln>
                <a:effectLst/>
                <a:uLnTx/>
                <a:uFillTx/>
                <a:latin typeface="Courier New" panose="02070309020205020404" pitchFamily="49" charset="0"/>
              </a:rPr>
              <a:t>printInt</a:t>
            </a:r>
            <a:r>
              <a:rPr kumimoji="0" lang="en-US" altLang="el-GR" sz="3200" b="1" i="0" u="none" strike="noStrike" kern="0" cap="none" spc="0" normalizeH="0" baseline="0" dirty="0">
                <a:ln>
                  <a:noFill/>
                </a:ln>
                <a:effectLst/>
                <a:uLnTx/>
                <a:uFillTx/>
                <a:latin typeface="Courier New" panose="02070309020205020404" pitchFamily="49" charset="0"/>
              </a:rPr>
              <a:t>(“max </a:t>
            </a:r>
            <a:r>
              <a:rPr kumimoji="0" lang="en-US" altLang="el-GR" sz="3200" b="1" i="0" u="none" strike="noStrike" kern="0" cap="none" spc="0" normalizeH="0" baseline="0" dirty="0" err="1">
                <a:ln>
                  <a:noFill/>
                </a:ln>
                <a:effectLst/>
                <a:uLnTx/>
                <a:uFillTx/>
                <a:latin typeface="Courier New" panose="02070309020205020404" pitchFamily="49" charset="0"/>
              </a:rPr>
              <a:t>is”,max</a:t>
            </a:r>
            <a:r>
              <a:rPr kumimoji="0" lang="en-US" altLang="el-GR" sz="3200" b="1" i="0" u="none" strike="noStrike" kern="0" cap="none" spc="0" normalizeH="0" baseline="0" dirty="0">
                <a:ln>
                  <a:noFill/>
                </a:ln>
                <a:effectLst/>
                <a:uLnTx/>
                <a:uFillTx/>
                <a:latin typeface="Courier New" panose="02070309020205020404" pitchFamily="49" charset="0"/>
              </a:rPr>
              <a:t>);</a:t>
            </a:r>
            <a:endParaRPr kumimoji="0" lang="en-US" altLang="el-GR" sz="32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Courier New" panose="02070309020205020404" pitchFamily="49" charset="0"/>
            </a:endParaRP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A826013F-6DAC-ABBA-017E-052C9733A8A2}"/>
              </a:ext>
            </a:extLst>
          </p:cNvPr>
          <p:cNvSpPr/>
          <p:nvPr/>
        </p:nvSpPr>
        <p:spPr>
          <a:xfrm>
            <a:off x="4999703" y="2079523"/>
            <a:ext cx="1327355" cy="25072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8037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DF74E5-F96D-C795-D628-492928EC36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D816FF7B-397B-135B-E261-F6A64CFA4D6A}"/>
              </a:ext>
            </a:extLst>
          </p:cNvPr>
          <p:cNvSpPr/>
          <p:nvPr/>
        </p:nvSpPr>
        <p:spPr>
          <a:xfrm>
            <a:off x="140669" y="6559908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F871862A-E9D3-7E6E-408E-3622CA865A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83457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Πρόταση </a:t>
            </a:r>
            <a:r>
              <a:rPr lang="en-US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if - </a:t>
            </a:r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Παράδειγμα</a:t>
            </a: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E4618E98-0F6E-BD50-F00D-BA6F420BCDDC}"/>
              </a:ext>
            </a:extLst>
          </p:cNvPr>
          <p:cNvSpPr txBox="1">
            <a:spLocks/>
          </p:cNvSpPr>
          <p:nvPr/>
        </p:nvSpPr>
        <p:spPr>
          <a:xfrm>
            <a:off x="-1" y="6599394"/>
            <a:ext cx="3840633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© 202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5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Μια Εισαγωγή στην Τέχνη του Προγραμματισμού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9291D8E-96D5-BE89-5FD1-25895A9FC89C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200" dirty="0">
                <a:latin typeface="Bahnschrift Light" panose="020B0502040204020203" pitchFamily="34" charset="0"/>
                <a:cs typeface="Arial" pitchFamily="34" charset="0"/>
              </a:rPr>
              <a:t>Διαφάνεια </a:t>
            </a:r>
            <a:fld id="{7C15C5B5-03C6-48D8-B20F-65D93A6CF09E}" type="slidenum">
              <a:rPr lang="en-US" sz="1200" smtClean="0">
                <a:latin typeface="Bahnschrift Light" panose="020B0502040204020203" pitchFamily="34" charset="0"/>
                <a:cs typeface="Arial" pitchFamily="34" charset="0"/>
              </a:rPr>
              <a:pPr algn="r"/>
              <a:t>17</a:t>
            </a:fld>
            <a:endParaRPr lang="en-US" sz="1200" dirty="0">
              <a:latin typeface="Bahnschrift Light" panose="020B0502040204020203" pitchFamily="34" charset="0"/>
              <a:cs typeface="Arial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6C5FAC9-C6CB-714B-EB41-669462BF351A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0"/>
            <a:ext cx="9144000" cy="908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0033CC"/>
              </a:solidFill>
              <a:latin typeface="Times New Roman" pitchFamily="18" charset="0"/>
            </a:endParaRPr>
          </a:p>
        </p:txBody>
      </p:sp>
      <p:sp>
        <p:nvSpPr>
          <p:cNvPr id="12" name="Θέση υποσέλιδου 4">
            <a:extLst>
              <a:ext uri="{FF2B5EF4-FFF2-40B4-BE49-F238E27FC236}">
                <a16:creationId xmlns:a16="http://schemas.microsoft.com/office/drawing/2014/main" id="{A9574A51-509C-FB37-3B07-DB4496D5926F}"/>
              </a:ext>
            </a:extLst>
          </p:cNvPr>
          <p:cNvSpPr txBox="1">
            <a:spLocks/>
          </p:cNvSpPr>
          <p:nvPr/>
        </p:nvSpPr>
        <p:spPr>
          <a:xfrm>
            <a:off x="4149680" y="6670790"/>
            <a:ext cx="4631713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Control flow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 – 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Arrays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 - 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Type conversions</a:t>
            </a:r>
          </a:p>
          <a:p>
            <a:endParaRPr lang="el-GR" sz="11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F64BB99-0A71-4778-FDF4-3F8B6E3AAAAA}"/>
              </a:ext>
            </a:extLst>
          </p:cNvPr>
          <p:cNvSpPr txBox="1"/>
          <p:nvPr/>
        </p:nvSpPr>
        <p:spPr>
          <a:xfrm>
            <a:off x="3618738" y="1810325"/>
            <a:ext cx="7239499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183515" algn="just">
              <a:spcBef>
                <a:spcPts val="600"/>
              </a:spcBef>
              <a:buNone/>
            </a:pPr>
            <a:r>
              <a:rPr lang="en-US" sz="3200" b="1" dirty="0">
                <a:solidFill>
                  <a:srgbClr val="202122"/>
                </a:solidFill>
                <a:effectLst/>
                <a:latin typeface="Courier New" panose="02070309020205020404" pitchFamily="49" charset="0"/>
                <a:ea typeface="Aptos" panose="020B0004020202020204" pitchFamily="34" charset="0"/>
              </a:rPr>
              <a:t>if</a:t>
            </a:r>
            <a:r>
              <a:rPr lang="el-GR" sz="3200" dirty="0">
                <a:solidFill>
                  <a:srgbClr val="202122"/>
                </a:solidFill>
                <a:effectLst/>
                <a:latin typeface="Courier New" panose="02070309020205020404" pitchFamily="49" charset="0"/>
                <a:ea typeface="Aptos" panose="020B0004020202020204" pitchFamily="34" charset="0"/>
              </a:rPr>
              <a:t>(</a:t>
            </a:r>
            <a:r>
              <a:rPr lang="el-GR" sz="3200" b="1" dirty="0">
                <a:solidFill>
                  <a:srgbClr val="202122"/>
                </a:solidFill>
                <a:effectLst/>
                <a:latin typeface="Courier New" panose="02070309020205020404" pitchFamily="49" charset="0"/>
                <a:ea typeface="Aptos" panose="020B0004020202020204" pitchFamily="34" charset="0"/>
              </a:rPr>
              <a:t>έκφραση</a:t>
            </a:r>
            <a:r>
              <a:rPr lang="el-GR" sz="3200" dirty="0">
                <a:solidFill>
                  <a:srgbClr val="202122"/>
                </a:solidFill>
                <a:effectLst/>
                <a:latin typeface="Courier New" panose="02070309020205020404" pitchFamily="49" charset="0"/>
                <a:ea typeface="Aptos" panose="020B0004020202020204" pitchFamily="34" charset="0"/>
              </a:rPr>
              <a:t>)</a:t>
            </a:r>
            <a:endParaRPr lang="en-GB" sz="3200" dirty="0">
              <a:solidFill>
                <a:srgbClr val="202122"/>
              </a:solidFill>
              <a:effectLst/>
              <a:latin typeface="Courier New" panose="02070309020205020404" pitchFamily="49" charset="0"/>
              <a:ea typeface="Aptos" panose="020B0004020202020204" pitchFamily="34" charset="0"/>
            </a:endParaRPr>
          </a:p>
          <a:p>
            <a:pPr indent="183515" algn="just">
              <a:buNone/>
            </a:pPr>
            <a:r>
              <a:rPr lang="el-GR" sz="3200" dirty="0">
                <a:solidFill>
                  <a:srgbClr val="202122"/>
                </a:solidFill>
                <a:effectLst/>
                <a:latin typeface="Courier New" panose="02070309020205020404" pitchFamily="49" charset="0"/>
                <a:ea typeface="Aptos" panose="020B0004020202020204" pitchFamily="34" charset="0"/>
              </a:rPr>
              <a:t>	</a:t>
            </a:r>
            <a:r>
              <a:rPr lang="en-US" sz="3200" dirty="0" err="1">
                <a:solidFill>
                  <a:srgbClr val="202122"/>
                </a:solidFill>
                <a:effectLst/>
                <a:latin typeface="Courier New" panose="02070309020205020404" pitchFamily="49" charset="0"/>
                <a:ea typeface="Aptos" panose="020B0004020202020204" pitchFamily="34" charset="0"/>
              </a:rPr>
              <a:t>nextTerm</a:t>
            </a:r>
            <a:r>
              <a:rPr lang="en-GB" sz="3200" dirty="0">
                <a:solidFill>
                  <a:srgbClr val="202122"/>
                </a:solidFill>
                <a:effectLst/>
                <a:latin typeface="Courier New" panose="02070309020205020404" pitchFamily="49" charset="0"/>
                <a:ea typeface="Aptos" panose="020B0004020202020204" pitchFamily="34" charset="0"/>
              </a:rPr>
              <a:t> = </a:t>
            </a:r>
            <a:r>
              <a:rPr lang="en-US" sz="3200" dirty="0" err="1">
                <a:solidFill>
                  <a:srgbClr val="202122"/>
                </a:solidFill>
                <a:effectLst/>
                <a:latin typeface="Courier New" panose="02070309020205020404" pitchFamily="49" charset="0"/>
                <a:ea typeface="Aptos" panose="020B0004020202020204" pitchFamily="34" charset="0"/>
              </a:rPr>
              <a:t>cTerm</a:t>
            </a:r>
            <a:r>
              <a:rPr lang="en-GB" sz="3200" dirty="0">
                <a:solidFill>
                  <a:srgbClr val="202122"/>
                </a:solidFill>
                <a:effectLst/>
                <a:latin typeface="Courier New" panose="02070309020205020404" pitchFamily="49" charset="0"/>
                <a:ea typeface="Aptos" panose="020B0004020202020204" pitchFamily="34" charset="0"/>
              </a:rPr>
              <a:t>/2;</a:t>
            </a:r>
          </a:p>
          <a:p>
            <a:pPr indent="183515" algn="just">
              <a:buNone/>
            </a:pPr>
            <a:r>
              <a:rPr lang="en-US" sz="3200" b="1" dirty="0">
                <a:solidFill>
                  <a:srgbClr val="202122"/>
                </a:solidFill>
                <a:effectLst/>
                <a:latin typeface="Courier New" panose="02070309020205020404" pitchFamily="49" charset="0"/>
                <a:ea typeface="Aptos" panose="020B0004020202020204" pitchFamily="34" charset="0"/>
              </a:rPr>
              <a:t>else</a:t>
            </a:r>
            <a:endParaRPr lang="en-GB" sz="3200" dirty="0">
              <a:solidFill>
                <a:srgbClr val="202122"/>
              </a:solidFill>
              <a:effectLst/>
              <a:latin typeface="Courier New" panose="02070309020205020404" pitchFamily="49" charset="0"/>
              <a:ea typeface="Aptos" panose="020B0004020202020204" pitchFamily="34" charset="0"/>
            </a:endParaRPr>
          </a:p>
          <a:p>
            <a:pPr indent="183515" algn="just">
              <a:spcAft>
                <a:spcPts val="600"/>
              </a:spcAft>
              <a:buNone/>
            </a:pPr>
            <a:r>
              <a:rPr lang="en-GB" sz="3200" dirty="0">
                <a:solidFill>
                  <a:srgbClr val="202122"/>
                </a:solidFill>
                <a:effectLst/>
                <a:latin typeface="Courier New" panose="02070309020205020404" pitchFamily="49" charset="0"/>
                <a:ea typeface="Aptos" panose="020B0004020202020204" pitchFamily="34" charset="0"/>
              </a:rPr>
              <a:t>	</a:t>
            </a:r>
            <a:r>
              <a:rPr lang="en-US" sz="3200" dirty="0" err="1">
                <a:solidFill>
                  <a:srgbClr val="202122"/>
                </a:solidFill>
                <a:effectLst/>
                <a:latin typeface="Courier New" panose="02070309020205020404" pitchFamily="49" charset="0"/>
                <a:ea typeface="Aptos" panose="020B0004020202020204" pitchFamily="34" charset="0"/>
              </a:rPr>
              <a:t>nextTerm</a:t>
            </a:r>
            <a:r>
              <a:rPr lang="en-GB" sz="3200" dirty="0">
                <a:solidFill>
                  <a:srgbClr val="202122"/>
                </a:solidFill>
                <a:effectLst/>
                <a:latin typeface="Courier New" panose="02070309020205020404" pitchFamily="49" charset="0"/>
                <a:ea typeface="Aptos" panose="020B0004020202020204" pitchFamily="34" charset="0"/>
              </a:rPr>
              <a:t> = </a:t>
            </a:r>
            <a:r>
              <a:rPr lang="en-US" sz="3200" dirty="0" err="1">
                <a:solidFill>
                  <a:srgbClr val="202122"/>
                </a:solidFill>
                <a:effectLst/>
                <a:latin typeface="Courier New" panose="02070309020205020404" pitchFamily="49" charset="0"/>
                <a:ea typeface="Aptos" panose="020B0004020202020204" pitchFamily="34" charset="0"/>
              </a:rPr>
              <a:t>cTerm</a:t>
            </a:r>
            <a:r>
              <a:rPr lang="en-GB" sz="3200" dirty="0">
                <a:solidFill>
                  <a:srgbClr val="202122"/>
                </a:solidFill>
                <a:effectLst/>
                <a:latin typeface="Courier New" panose="02070309020205020404" pitchFamily="49" charset="0"/>
                <a:ea typeface="Aptos" panose="020B0004020202020204" pitchFamily="34" charset="0"/>
              </a:rPr>
              <a:t> * 3 + 1;</a:t>
            </a:r>
          </a:p>
        </p:txBody>
      </p:sp>
      <p:sp>
        <p:nvSpPr>
          <p:cNvPr id="24" name="Callout: Bent Line 23">
            <a:extLst>
              <a:ext uri="{FF2B5EF4-FFF2-40B4-BE49-F238E27FC236}">
                <a16:creationId xmlns:a16="http://schemas.microsoft.com/office/drawing/2014/main" id="{64986886-A868-B411-6013-06049D23BB93}"/>
              </a:ext>
            </a:extLst>
          </p:cNvPr>
          <p:cNvSpPr/>
          <p:nvPr/>
        </p:nvSpPr>
        <p:spPr>
          <a:xfrm>
            <a:off x="993058" y="3885841"/>
            <a:ext cx="4351283" cy="488210"/>
          </a:xfrm>
          <a:prstGeom prst="borderCallout2">
            <a:avLst>
              <a:gd name="adj1" fmla="val 5833"/>
              <a:gd name="adj2" fmla="val 51087"/>
              <a:gd name="adj3" fmla="val -139483"/>
              <a:gd name="adj4" fmla="val 42029"/>
              <a:gd name="adj5" fmla="val -329907"/>
              <a:gd name="adj6" fmla="val 94999"/>
            </a:avLst>
          </a:prstGeom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2800" b="1" dirty="0"/>
              <a:t>cTerm</a:t>
            </a:r>
            <a:r>
              <a:rPr lang="en-GB" sz="2800" b="1" dirty="0"/>
              <a:t> % 2 == 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2E60137-E668-5975-0DCD-925C036ADC0B}"/>
              </a:ext>
            </a:extLst>
          </p:cNvPr>
          <p:cNvSpPr txBox="1"/>
          <p:nvPr/>
        </p:nvSpPr>
        <p:spPr>
          <a:xfrm>
            <a:off x="1399243" y="5113036"/>
            <a:ext cx="8765628" cy="707886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el-GR" sz="2000" b="1" dirty="0">
                <a:solidFill>
                  <a:srgbClr val="FF0000"/>
                </a:solidFill>
              </a:rPr>
              <a:t>%</a:t>
            </a:r>
            <a:r>
              <a:rPr lang="el-GR" dirty="0"/>
              <a:t> : </a:t>
            </a:r>
            <a:r>
              <a:rPr lang="el-GR" b="1" dirty="0"/>
              <a:t>Τελεστής </a:t>
            </a:r>
            <a:r>
              <a:rPr lang="en-US" b="1" dirty="0"/>
              <a:t>Modulo </a:t>
            </a:r>
            <a:r>
              <a:rPr lang="en-US" dirty="0"/>
              <a:t>(</a:t>
            </a:r>
            <a:r>
              <a:rPr lang="el-GR" dirty="0"/>
              <a:t>δίνει το υπόλοιπο της διαίρεσης ενός αριθμού από έναν άλλο</a:t>
            </a:r>
            <a:r>
              <a:rPr lang="en-US" dirty="0"/>
              <a:t>)</a:t>
            </a:r>
          </a:p>
          <a:p>
            <a:r>
              <a:rPr lang="en-US" sz="2000" b="1" dirty="0">
                <a:solidFill>
                  <a:srgbClr val="FF0000"/>
                </a:solidFill>
              </a:rPr>
              <a:t>==</a:t>
            </a:r>
            <a:r>
              <a:rPr lang="en-US" dirty="0"/>
              <a:t> : </a:t>
            </a:r>
            <a:r>
              <a:rPr lang="el-GR" b="1" dirty="0"/>
              <a:t>συσχετιστικός τελεστής  (</a:t>
            </a:r>
            <a:r>
              <a:rPr lang="el-GR" dirty="0"/>
              <a:t>ελέγχει αν ο αριστερός </a:t>
            </a:r>
            <a:r>
              <a:rPr lang="el-GR" dirty="0" err="1"/>
              <a:t>τελεστέος</a:t>
            </a:r>
            <a:r>
              <a:rPr lang="el-GR" dirty="0"/>
              <a:t> είναι ίσος με τον δεξιό</a:t>
            </a:r>
            <a:r>
              <a:rPr lang="el-GR" b="1" dirty="0"/>
              <a:t>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21494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4" grpId="0" animBg="1"/>
      <p:bldP spid="2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247EB9-5ED9-5617-4302-18F354C0F8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FF8B4997-088C-B39F-1360-730CDEC720B6}"/>
              </a:ext>
            </a:extLst>
          </p:cNvPr>
          <p:cNvSpPr/>
          <p:nvPr/>
        </p:nvSpPr>
        <p:spPr>
          <a:xfrm>
            <a:off x="140669" y="6559908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5534EE5F-A842-8D81-BEBE-453AD21D0C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Διεργασία ως </a:t>
            </a:r>
            <a:r>
              <a:rPr lang="en-GB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Reusable function - H </a:t>
            </a:r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συνάρτηση  </a:t>
            </a:r>
            <a:r>
              <a:rPr lang="en-GB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max</a:t>
            </a:r>
            <a:endParaRPr lang="en-US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4306934B-2BBB-8495-A4D6-CAA732CA8049}"/>
              </a:ext>
            </a:extLst>
          </p:cNvPr>
          <p:cNvSpPr txBox="1">
            <a:spLocks/>
          </p:cNvSpPr>
          <p:nvPr/>
        </p:nvSpPr>
        <p:spPr>
          <a:xfrm>
            <a:off x="-1" y="6599394"/>
            <a:ext cx="3840633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© 202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5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Μια Εισαγωγή στην Τέχνη του Προγραμματισμού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805CA28-7764-4C98-DC24-27855E811716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200" dirty="0">
                <a:latin typeface="Bahnschrift Light" panose="020B0502040204020203" pitchFamily="34" charset="0"/>
                <a:cs typeface="Arial" pitchFamily="34" charset="0"/>
              </a:rPr>
              <a:t>Διαφάνεια </a:t>
            </a:r>
            <a:fld id="{7C15C5B5-03C6-48D8-B20F-65D93A6CF09E}" type="slidenum">
              <a:rPr lang="en-US" sz="1200" smtClean="0">
                <a:latin typeface="Bahnschrift Light" panose="020B0502040204020203" pitchFamily="34" charset="0"/>
                <a:cs typeface="Arial" pitchFamily="34" charset="0"/>
              </a:rPr>
              <a:pPr algn="r"/>
              <a:t>18</a:t>
            </a:fld>
            <a:endParaRPr lang="en-US" sz="1200" dirty="0">
              <a:latin typeface="Bahnschrift Light" panose="020B0502040204020203" pitchFamily="34" charset="0"/>
              <a:cs typeface="Arial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4D2A833-69B8-9307-B39B-29B22B73270D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0"/>
            <a:ext cx="9144000" cy="908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0033CC"/>
              </a:solidFill>
              <a:latin typeface="Times New Roman" pitchFamily="18" charset="0"/>
            </a:endParaRPr>
          </a:p>
        </p:txBody>
      </p:sp>
      <p:sp>
        <p:nvSpPr>
          <p:cNvPr id="44" name="Rectangle 4">
            <a:extLst>
              <a:ext uri="{FF2B5EF4-FFF2-40B4-BE49-F238E27FC236}">
                <a16:creationId xmlns:a16="http://schemas.microsoft.com/office/drawing/2014/main" id="{2A16EA13-C5CC-016D-C55A-E575F744A4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46332" y="1920416"/>
            <a:ext cx="7772400" cy="4249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342900" marR="0" lvl="0" indent="-342900" defTabSz="91440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l-GR" sz="3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	</a:t>
            </a:r>
            <a:endParaRPr kumimoji="0" lang="el-GR" altLang="el-GR" sz="2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C5834C43-86AE-D44A-B979-87D83ED905E2}"/>
              </a:ext>
            </a:extLst>
          </p:cNvPr>
          <p:cNvGrpSpPr/>
          <p:nvPr/>
        </p:nvGrpSpPr>
        <p:grpSpPr>
          <a:xfrm>
            <a:off x="1102119" y="1274004"/>
            <a:ext cx="7519321" cy="1709198"/>
            <a:chOff x="437055" y="2130207"/>
            <a:chExt cx="7519321" cy="1709198"/>
          </a:xfrm>
        </p:grpSpPr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1ED8CDCA-FCD8-7A45-9B3D-E71048E6C674}"/>
                </a:ext>
              </a:extLst>
            </p:cNvPr>
            <p:cNvSpPr/>
            <p:nvPr/>
          </p:nvSpPr>
          <p:spPr bwMode="auto">
            <a:xfrm>
              <a:off x="2166505" y="2180574"/>
              <a:ext cx="3168352" cy="1512168"/>
            </a:xfrm>
            <a:prstGeom prst="ellipse">
              <a:avLst/>
            </a:prstGeom>
            <a:solidFill>
              <a:srgbClr val="00E4A8"/>
            </a:solidFill>
            <a:ln w="9525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l-GR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</a:rPr>
                <a:t>Βρες τον </a:t>
              </a:r>
            </a:p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l-GR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</a:rPr>
                <a:t>μεγαλύτερο</a:t>
              </a:r>
            </a:p>
          </p:txBody>
        </p: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62F63963-2D9B-58BC-2EC3-89173A96B46C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37055" y="2483874"/>
              <a:ext cx="1832146" cy="221452"/>
            </a:xfrm>
            <a:prstGeom prst="straightConnector1">
              <a:avLst/>
            </a:prstGeom>
            <a:solidFill>
              <a:srgbClr val="00E4A8"/>
            </a:solidFill>
            <a:ln w="28575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triangle"/>
            </a:ln>
            <a:effectLst/>
          </p:spPr>
        </p:cxn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882001CF-DD20-7C3A-AD5F-ADA3B086AFFA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692999" y="3187285"/>
              <a:ext cx="1596703" cy="486005"/>
            </a:xfrm>
            <a:prstGeom prst="straightConnector1">
              <a:avLst/>
            </a:prstGeom>
            <a:solidFill>
              <a:srgbClr val="00E4A8"/>
            </a:solidFill>
            <a:ln w="28575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triangle"/>
            </a:ln>
            <a:effectLst/>
          </p:spPr>
        </p:cxn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73CE0D29-5A6E-9C72-F935-955EC2348EFD}"/>
                </a:ext>
              </a:extLst>
            </p:cNvPr>
            <p:cNvCxnSpPr>
              <a:cxnSpLocks/>
              <a:stCxn id="46" idx="6"/>
              <a:endCxn id="52" idx="3"/>
            </p:cNvCxnSpPr>
            <p:nvPr/>
          </p:nvCxnSpPr>
          <p:spPr bwMode="auto">
            <a:xfrm>
              <a:off x="5334857" y="2936658"/>
              <a:ext cx="2621519" cy="25584"/>
            </a:xfrm>
            <a:prstGeom prst="straightConnector1">
              <a:avLst/>
            </a:prstGeom>
            <a:solidFill>
              <a:srgbClr val="00E4A8"/>
            </a:solidFill>
            <a:ln w="28575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triangle"/>
            </a:ln>
            <a:effectLst/>
          </p:spPr>
        </p:cxn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6E201D2C-1D5C-489A-0C55-F951975688D9}"/>
                </a:ext>
              </a:extLst>
            </p:cNvPr>
            <p:cNvSpPr txBox="1"/>
            <p:nvPr/>
          </p:nvSpPr>
          <p:spPr>
            <a:xfrm>
              <a:off x="490784" y="2130207"/>
              <a:ext cx="151996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l-GR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</a:rPr>
                <a:t>Αριθμός 1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F9F76D2D-8C8E-6629-1782-D718C33191DB}"/>
                </a:ext>
              </a:extLst>
            </p:cNvPr>
            <p:cNvSpPr txBox="1"/>
            <p:nvPr/>
          </p:nvSpPr>
          <p:spPr>
            <a:xfrm>
              <a:off x="818560" y="3377740"/>
              <a:ext cx="151996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l-GR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</a:rPr>
                <a:t>Αριθμός 2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1E29FA2A-A6BB-8018-915E-446A3E578D58}"/>
                </a:ext>
              </a:extLst>
            </p:cNvPr>
            <p:cNvSpPr txBox="1"/>
            <p:nvPr/>
          </p:nvSpPr>
          <p:spPr>
            <a:xfrm>
              <a:off x="5821187" y="2546743"/>
              <a:ext cx="2135189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l-GR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</a:rPr>
                <a:t>μεγαλύτερος αριθμός</a:t>
              </a:r>
            </a:p>
          </p:txBody>
        </p:sp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4D0C40BD-4711-4165-BC52-4F922484E50E}"/>
              </a:ext>
            </a:extLst>
          </p:cNvPr>
          <p:cNvSpPr txBox="1"/>
          <p:nvPr/>
        </p:nvSpPr>
        <p:spPr>
          <a:xfrm>
            <a:off x="886094" y="3477638"/>
            <a:ext cx="453650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b="1" dirty="0">
                <a:solidFill>
                  <a:srgbClr val="FF0000"/>
                </a:solidFill>
                <a:latin typeface="Tahoma" panose="020B0604030504040204" pitchFamily="34" charset="0"/>
              </a:rPr>
              <a:t>int max(int n1, int n2) </a:t>
            </a:r>
            <a:r>
              <a:rPr lang="en-US" sz="2400" b="1" dirty="0">
                <a:solidFill>
                  <a:srgbClr val="000000"/>
                </a:solidFill>
                <a:latin typeface="Tahoma" panose="020B0604030504040204" pitchFamily="34" charset="0"/>
              </a:rPr>
              <a:t>{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l-GR" sz="2400" b="1" dirty="0">
                <a:solidFill>
                  <a:srgbClr val="000000"/>
                </a:solidFill>
                <a:latin typeface="Tahoma" panose="020B0604030504040204" pitchFamily="34" charset="0"/>
              </a:rPr>
              <a:t>      </a:t>
            </a:r>
            <a:r>
              <a:rPr lang="en-US" sz="2400" b="1" dirty="0">
                <a:solidFill>
                  <a:srgbClr val="000000"/>
                </a:solidFill>
                <a:latin typeface="Tahoma" panose="020B0604030504040204" pitchFamily="34" charset="0"/>
              </a:rPr>
              <a:t>int max=0;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l-GR" sz="2400" b="1" dirty="0">
                <a:solidFill>
                  <a:srgbClr val="000000"/>
                </a:solidFill>
                <a:latin typeface="Tahoma" panose="020B0604030504040204" pitchFamily="34" charset="0"/>
              </a:rPr>
              <a:t>      </a:t>
            </a:r>
            <a:r>
              <a:rPr lang="en-US" sz="2400" b="1" dirty="0">
                <a:solidFill>
                  <a:srgbClr val="000000"/>
                </a:solidFill>
                <a:latin typeface="Tahoma" panose="020B0604030504040204" pitchFamily="34" charset="0"/>
              </a:rPr>
              <a:t>if(n1&gt;</a:t>
            </a:r>
            <a:r>
              <a:rPr lang="el-GR" sz="2400" b="1" dirty="0">
                <a:solidFill>
                  <a:srgbClr val="000000"/>
                </a:solidFill>
                <a:latin typeface="Tahoma" panose="020B0604030504040204" pitchFamily="34" charset="0"/>
              </a:rPr>
              <a:t>=</a:t>
            </a:r>
            <a:r>
              <a:rPr lang="en-US" sz="2400" b="1" dirty="0">
                <a:solidFill>
                  <a:srgbClr val="000000"/>
                </a:solidFill>
                <a:latin typeface="Tahoma" panose="020B0604030504040204" pitchFamily="34" charset="0"/>
              </a:rPr>
              <a:t>n2)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b="1" dirty="0">
                <a:solidFill>
                  <a:srgbClr val="000000"/>
                </a:solidFill>
                <a:latin typeface="Tahoma" panose="020B0604030504040204" pitchFamily="34" charset="0"/>
              </a:rPr>
              <a:t>	max=n1;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b="1" dirty="0">
                <a:solidFill>
                  <a:srgbClr val="000000"/>
                </a:solidFill>
                <a:latin typeface="Tahoma" panose="020B0604030504040204" pitchFamily="34" charset="0"/>
              </a:rPr>
              <a:t>      else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b="1" dirty="0">
                <a:solidFill>
                  <a:srgbClr val="000000"/>
                </a:solidFill>
                <a:latin typeface="Tahoma" panose="020B0604030504040204" pitchFamily="34" charset="0"/>
              </a:rPr>
              <a:t>	max=n2;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b="1" dirty="0">
                <a:solidFill>
                  <a:srgbClr val="000000"/>
                </a:solidFill>
                <a:latin typeface="Tahoma" panose="020B0604030504040204" pitchFamily="34" charset="0"/>
              </a:rPr>
              <a:t>      </a:t>
            </a:r>
            <a:r>
              <a:rPr lang="en-US" sz="2400" b="1" dirty="0">
                <a:solidFill>
                  <a:srgbClr val="0033CC"/>
                </a:solidFill>
                <a:latin typeface="Tahoma" panose="020B0604030504040204" pitchFamily="34" charset="0"/>
              </a:rPr>
              <a:t>return</a:t>
            </a:r>
            <a:r>
              <a:rPr lang="en-US" sz="2400" b="1" dirty="0">
                <a:solidFill>
                  <a:srgbClr val="000000"/>
                </a:solidFill>
                <a:latin typeface="Tahoma" panose="020B0604030504040204" pitchFamily="34" charset="0"/>
              </a:rPr>
              <a:t> max;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b="1" dirty="0">
                <a:solidFill>
                  <a:srgbClr val="000000"/>
                </a:solidFill>
                <a:latin typeface="Tahoma" panose="020B0604030504040204" pitchFamily="34" charset="0"/>
              </a:rPr>
              <a:t>} </a:t>
            </a:r>
            <a:endParaRPr lang="el-GR" sz="2400" b="1" dirty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F9BF6C74-1173-85FF-BA51-A1D5197FF450}"/>
              </a:ext>
            </a:extLst>
          </p:cNvPr>
          <p:cNvCxnSpPr>
            <a:cxnSpLocks/>
          </p:cNvCxnSpPr>
          <p:nvPr/>
        </p:nvCxnSpPr>
        <p:spPr bwMode="auto">
          <a:xfrm flipH="1">
            <a:off x="3489921" y="2153016"/>
            <a:ext cx="3168902" cy="3656550"/>
          </a:xfrm>
          <a:prstGeom prst="straightConnector1">
            <a:avLst/>
          </a:prstGeom>
          <a:solidFill>
            <a:srgbClr val="00E4A8"/>
          </a:solidFill>
          <a:ln w="38100" cap="flat" cmpd="sng" algn="ctr">
            <a:solidFill>
              <a:srgbClr val="FFC000"/>
            </a:solidFill>
            <a:prstDash val="dash"/>
            <a:miter lim="800000"/>
            <a:headEnd type="triangle" w="med" len="med"/>
            <a:tailEnd type="none" w="med" len="med"/>
          </a:ln>
          <a:effectLst/>
        </p:spPr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CFE46446-D727-159A-A311-BBAC4AA6FA9D}"/>
              </a:ext>
            </a:extLst>
          </p:cNvPr>
          <p:cNvCxnSpPr>
            <a:cxnSpLocks/>
          </p:cNvCxnSpPr>
          <p:nvPr/>
        </p:nvCxnSpPr>
        <p:spPr bwMode="auto">
          <a:xfrm>
            <a:off x="2689032" y="2899172"/>
            <a:ext cx="972913" cy="680074"/>
          </a:xfrm>
          <a:prstGeom prst="straightConnector1">
            <a:avLst/>
          </a:prstGeom>
          <a:solidFill>
            <a:srgbClr val="00E4A8"/>
          </a:solidFill>
          <a:ln w="38100" cap="flat" cmpd="sng" algn="ctr">
            <a:solidFill>
              <a:srgbClr val="0070C0"/>
            </a:solidFill>
            <a:prstDash val="dash"/>
            <a:miter lim="800000"/>
            <a:headEnd type="none" w="med" len="med"/>
            <a:tailEnd type="triangle"/>
          </a:ln>
          <a:effectLst/>
        </p:spPr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A1BA88E4-A5C9-21D5-71B8-488E47C9D344}"/>
              </a:ext>
            </a:extLst>
          </p:cNvPr>
          <p:cNvCxnSpPr>
            <a:cxnSpLocks/>
          </p:cNvCxnSpPr>
          <p:nvPr/>
        </p:nvCxnSpPr>
        <p:spPr bwMode="auto">
          <a:xfrm>
            <a:off x="1689080" y="1553452"/>
            <a:ext cx="1141013" cy="2095875"/>
          </a:xfrm>
          <a:prstGeom prst="straightConnector1">
            <a:avLst/>
          </a:prstGeom>
          <a:solidFill>
            <a:srgbClr val="00E4A8"/>
          </a:solidFill>
          <a:ln w="38100" cap="flat" cmpd="sng" algn="ctr">
            <a:solidFill>
              <a:srgbClr val="0070C0"/>
            </a:solidFill>
            <a:prstDash val="dash"/>
            <a:miter lim="800000"/>
            <a:headEnd type="none" w="med" len="med"/>
            <a:tailEnd type="triangle"/>
          </a:ln>
          <a:effectLst/>
        </p:spPr>
      </p:cxnSp>
      <p:grpSp>
        <p:nvGrpSpPr>
          <p:cNvPr id="57" name="Group 56">
            <a:extLst>
              <a:ext uri="{FF2B5EF4-FFF2-40B4-BE49-F238E27FC236}">
                <a16:creationId xmlns:a16="http://schemas.microsoft.com/office/drawing/2014/main" id="{043A7424-3682-C897-3256-2C7BBD91BBF6}"/>
              </a:ext>
            </a:extLst>
          </p:cNvPr>
          <p:cNvGrpSpPr/>
          <p:nvPr/>
        </p:nvGrpSpPr>
        <p:grpSpPr>
          <a:xfrm>
            <a:off x="5814768" y="5152798"/>
            <a:ext cx="5438696" cy="1200329"/>
            <a:chOff x="7445895" y="5171762"/>
            <a:chExt cx="5438696" cy="1200329"/>
          </a:xfrm>
        </p:grpSpPr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43AE64E1-CADE-B421-F9E5-13E7B3709123}"/>
                </a:ext>
              </a:extLst>
            </p:cNvPr>
            <p:cNvSpPr txBox="1"/>
            <p:nvPr/>
          </p:nvSpPr>
          <p:spPr>
            <a:xfrm>
              <a:off x="7445895" y="5171762"/>
              <a:ext cx="4536504" cy="1200329"/>
            </a:xfrm>
            <a:prstGeom prst="rect">
              <a:avLst/>
            </a:prstGeom>
            <a:solidFill>
              <a:srgbClr val="AAEFD1">
                <a:lumMod val="90000"/>
              </a:srgbClr>
            </a:solidFill>
          </p:spPr>
          <p:txBody>
            <a:bodyPr wrap="square" rtlCol="0"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ahoma" panose="020B0604030504040204" pitchFamily="34" charset="0"/>
                </a:rPr>
                <a:t>int max(int n1, int n2) </a:t>
              </a:r>
              <a:r>
                <a:rPr kumimoji="0" 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</a:rPr>
                <a:t>{</a:t>
              </a:r>
            </a:p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</a:rPr>
                <a:t>     </a:t>
              </a:r>
              <a:r>
                <a:rPr kumimoji="0" 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33CC"/>
                  </a:solidFill>
                  <a:effectLst/>
                  <a:uLnTx/>
                  <a:uFillTx/>
                  <a:latin typeface="Tahoma" panose="020B0604030504040204" pitchFamily="34" charset="0"/>
                </a:rPr>
                <a:t>return</a:t>
              </a:r>
              <a:r>
                <a:rPr kumimoji="0" 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</a:rPr>
                <a:t> n1&gt;</a:t>
              </a:r>
              <a:r>
                <a:rPr kumimoji="0" lang="el-GR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</a:rPr>
                <a:t>=</a:t>
              </a:r>
              <a:r>
                <a:rPr kumimoji="0" 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</a:rPr>
                <a:t>n2?n1:n2;</a:t>
              </a:r>
              <a:r>
                <a: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</a:rPr>
                <a:t> </a:t>
              </a:r>
              <a:endParaRPr kumimoji="0" 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</a:rPr>
                <a:t>}</a:t>
              </a:r>
              <a:endParaRPr kumimoji="0" 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7D9FDD0B-E7E0-94A7-1D27-3343F96D2510}"/>
                </a:ext>
              </a:extLst>
            </p:cNvPr>
            <p:cNvSpPr txBox="1"/>
            <p:nvPr/>
          </p:nvSpPr>
          <p:spPr>
            <a:xfrm rot="20246933">
              <a:off x="11185087" y="5541094"/>
              <a:ext cx="169950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l-GR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ahoma" panose="020B0604030504040204" pitchFamily="34" charset="0"/>
                </a:rPr>
                <a:t>3</a:t>
              </a:r>
              <a:r>
                <a:rPr kumimoji="0" lang="el-GR" sz="2400" b="1" i="0" u="none" strike="noStrike" kern="0" cap="none" spc="0" normalizeH="0" baseline="3000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ahoma" panose="020B0604030504040204" pitchFamily="34" charset="0"/>
                </a:rPr>
                <a:t>η</a:t>
              </a:r>
              <a:r>
                <a:rPr kumimoji="0" lang="el-GR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ahoma" panose="020B0604030504040204" pitchFamily="34" charset="0"/>
                </a:rPr>
                <a:t> εκδοχή</a:t>
              </a:r>
              <a:endPara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2BE63B57-CB89-1494-0FF2-8E8588D658ED}"/>
              </a:ext>
            </a:extLst>
          </p:cNvPr>
          <p:cNvGrpSpPr/>
          <p:nvPr/>
        </p:nvGrpSpPr>
        <p:grpSpPr>
          <a:xfrm>
            <a:off x="6599832" y="2605652"/>
            <a:ext cx="4536504" cy="2308324"/>
            <a:chOff x="7539680" y="3324317"/>
            <a:chExt cx="4536504" cy="2308324"/>
          </a:xfrm>
        </p:grpSpPr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98CBBA68-AACB-91CE-00D4-54378EBE708B}"/>
                </a:ext>
              </a:extLst>
            </p:cNvPr>
            <p:cNvSpPr txBox="1"/>
            <p:nvPr/>
          </p:nvSpPr>
          <p:spPr>
            <a:xfrm>
              <a:off x="7539680" y="3324317"/>
              <a:ext cx="4536504" cy="2308324"/>
            </a:xfrm>
            <a:prstGeom prst="rect">
              <a:avLst/>
            </a:prstGeom>
            <a:solidFill>
              <a:srgbClr val="333399">
                <a:lumMod val="20000"/>
                <a:lumOff val="80000"/>
              </a:srgbClr>
            </a:solidFill>
          </p:spPr>
          <p:txBody>
            <a:bodyPr wrap="square" rtlCol="0"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ahoma" panose="020B0604030504040204" pitchFamily="34" charset="0"/>
                </a:rPr>
                <a:t>int max(int n1, int n2) </a:t>
              </a:r>
              <a:r>
                <a:rPr kumimoji="0" 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</a:rPr>
                <a:t>{</a:t>
              </a:r>
            </a:p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</a:rPr>
                <a:t>     if(n1&gt;</a:t>
              </a:r>
              <a:r>
                <a:rPr kumimoji="0" lang="el-GR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</a:rPr>
                <a:t>=</a:t>
              </a:r>
              <a:r>
                <a:rPr kumimoji="0" 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</a:rPr>
                <a:t>n2)</a:t>
              </a:r>
            </a:p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</a:rPr>
                <a:t>	</a:t>
              </a:r>
              <a:r>
                <a:rPr kumimoji="0" 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33CC"/>
                  </a:solidFill>
                  <a:effectLst/>
                  <a:uLnTx/>
                  <a:uFillTx/>
                  <a:latin typeface="Tahoma" panose="020B0604030504040204" pitchFamily="34" charset="0"/>
                </a:rPr>
                <a:t>return</a:t>
              </a:r>
              <a:r>
                <a:rPr kumimoji="0" 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</a:rPr>
                <a:t> n1;</a:t>
              </a:r>
            </a:p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</a:rPr>
                <a:t>     else</a:t>
              </a:r>
            </a:p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</a:rPr>
                <a:t>	 </a:t>
              </a:r>
              <a:r>
                <a:rPr kumimoji="0" 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33CC"/>
                  </a:solidFill>
                  <a:effectLst/>
                  <a:uLnTx/>
                  <a:uFillTx/>
                  <a:latin typeface="Tahoma" panose="020B0604030504040204" pitchFamily="34" charset="0"/>
                </a:rPr>
                <a:t>return</a:t>
              </a:r>
              <a:r>
                <a:rPr kumimoji="0" 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</a:rPr>
                <a:t> n2;</a:t>
              </a:r>
            </a:p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</a:rPr>
                <a:t>} </a:t>
              </a:r>
              <a:endParaRPr kumimoji="0" lang="el-GR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3E46A518-7D01-946E-29A9-8C48CC62B45F}"/>
                </a:ext>
              </a:extLst>
            </p:cNvPr>
            <p:cNvSpPr txBox="1"/>
            <p:nvPr/>
          </p:nvSpPr>
          <p:spPr>
            <a:xfrm rot="18783527">
              <a:off x="10537883" y="3950151"/>
              <a:ext cx="169950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l-GR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ahoma" panose="020B0604030504040204" pitchFamily="34" charset="0"/>
                </a:rPr>
                <a:t>2</a:t>
              </a:r>
              <a:r>
                <a:rPr kumimoji="0" lang="el-GR" sz="2400" b="1" i="0" u="none" strike="noStrike" kern="0" cap="none" spc="0" normalizeH="0" baseline="3000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ahoma" panose="020B0604030504040204" pitchFamily="34" charset="0"/>
                </a:rPr>
                <a:t>η</a:t>
              </a:r>
              <a:r>
                <a:rPr kumimoji="0" lang="el-GR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ahoma" panose="020B0604030504040204" pitchFamily="34" charset="0"/>
                </a:rPr>
                <a:t> εκδοχή</a:t>
              </a:r>
              <a:endPara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</p:grpSp>
      <p:sp>
        <p:nvSpPr>
          <p:cNvPr id="63" name="TextBox 62">
            <a:extLst>
              <a:ext uri="{FF2B5EF4-FFF2-40B4-BE49-F238E27FC236}">
                <a16:creationId xmlns:a16="http://schemas.microsoft.com/office/drawing/2014/main" id="{192BB8F7-597F-D430-CB01-2D1B5D1094CA}"/>
              </a:ext>
            </a:extLst>
          </p:cNvPr>
          <p:cNvSpPr txBox="1"/>
          <p:nvPr/>
        </p:nvSpPr>
        <p:spPr>
          <a:xfrm rot="18783527">
            <a:off x="3038638" y="4307456"/>
            <a:ext cx="16995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b="1" dirty="0">
                <a:solidFill>
                  <a:srgbClr val="C00000"/>
                </a:solidFill>
                <a:latin typeface="Tahoma" panose="020B0604030504040204" pitchFamily="34" charset="0"/>
              </a:rPr>
              <a:t>1</a:t>
            </a:r>
            <a:r>
              <a:rPr lang="el-GR" sz="2400" b="1" baseline="30000" dirty="0">
                <a:solidFill>
                  <a:srgbClr val="C00000"/>
                </a:solidFill>
                <a:latin typeface="Tahoma" panose="020B0604030504040204" pitchFamily="34" charset="0"/>
              </a:rPr>
              <a:t>η</a:t>
            </a:r>
            <a:r>
              <a:rPr lang="el-GR" sz="2400" b="1" dirty="0">
                <a:solidFill>
                  <a:srgbClr val="C00000"/>
                </a:solidFill>
                <a:latin typeface="Tahoma" panose="020B0604030504040204" pitchFamily="34" charset="0"/>
              </a:rPr>
              <a:t> εκδοχή</a:t>
            </a:r>
            <a:endParaRPr lang="en-GB" sz="2400" b="1" dirty="0">
              <a:solidFill>
                <a:srgbClr val="C00000"/>
              </a:solidFill>
              <a:latin typeface="Tahoma" panose="020B0604030504040204" pitchFamily="34" charset="0"/>
            </a:endParaRPr>
          </a:p>
        </p:txBody>
      </p:sp>
      <p:sp>
        <p:nvSpPr>
          <p:cNvPr id="4" name="Θέση υποσέλιδου 4">
            <a:extLst>
              <a:ext uri="{FF2B5EF4-FFF2-40B4-BE49-F238E27FC236}">
                <a16:creationId xmlns:a16="http://schemas.microsoft.com/office/drawing/2014/main" id="{4CEDC065-AB91-4295-802E-4E5AA35AB094}"/>
              </a:ext>
            </a:extLst>
          </p:cNvPr>
          <p:cNvSpPr txBox="1">
            <a:spLocks/>
          </p:cNvSpPr>
          <p:nvPr/>
        </p:nvSpPr>
        <p:spPr>
          <a:xfrm>
            <a:off x="4149680" y="6670790"/>
            <a:ext cx="4631713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Control flow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 – 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Arrays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 - 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Type conversions</a:t>
            </a:r>
          </a:p>
          <a:p>
            <a:endParaRPr lang="el-GR" sz="11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39176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/>
      <p:bldP spid="6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F477E5-3126-D846-38C2-F2086CF1B7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02CFD060-69F3-44BB-4248-DDAADE5BB6EB}"/>
              </a:ext>
            </a:extLst>
          </p:cNvPr>
          <p:cNvSpPr/>
          <p:nvPr/>
        </p:nvSpPr>
        <p:spPr>
          <a:xfrm>
            <a:off x="140669" y="6559908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6BE6CB75-16EF-B542-CBE3-5BE4C5ACB5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83457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Προτάσεις Επανάληψης - Η πρόταση </a:t>
            </a:r>
            <a:r>
              <a:rPr lang="en-GB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while</a:t>
            </a:r>
            <a:endParaRPr lang="el-GR" sz="4000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17B36856-E97D-0C62-645B-AE5E2CEB5D4B}"/>
              </a:ext>
            </a:extLst>
          </p:cNvPr>
          <p:cNvSpPr txBox="1">
            <a:spLocks/>
          </p:cNvSpPr>
          <p:nvPr/>
        </p:nvSpPr>
        <p:spPr>
          <a:xfrm>
            <a:off x="-1" y="6599394"/>
            <a:ext cx="3840633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© 202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5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Μια Εισαγωγή στην Τέχνη του Προγραμματισμού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4D4118A-4FF4-5625-4FFC-04A49CE983BA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200" dirty="0">
                <a:latin typeface="Bahnschrift Light" panose="020B0502040204020203" pitchFamily="34" charset="0"/>
                <a:cs typeface="Arial" pitchFamily="34" charset="0"/>
              </a:rPr>
              <a:t>Διαφάνεια </a:t>
            </a:r>
            <a:fld id="{7C15C5B5-03C6-48D8-B20F-65D93A6CF09E}" type="slidenum">
              <a:rPr lang="en-US" sz="1200" smtClean="0">
                <a:latin typeface="Bahnschrift Light" panose="020B0502040204020203" pitchFamily="34" charset="0"/>
                <a:cs typeface="Arial" pitchFamily="34" charset="0"/>
              </a:rPr>
              <a:pPr algn="r"/>
              <a:t>19</a:t>
            </a:fld>
            <a:endParaRPr lang="en-US" sz="1200" dirty="0">
              <a:latin typeface="Bahnschrift Light" panose="020B0502040204020203" pitchFamily="34" charset="0"/>
              <a:cs typeface="Arial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1DAD8FE-9472-0EB0-9326-5FFD1AA9CF3E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0"/>
            <a:ext cx="9144000" cy="908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0033CC"/>
              </a:solidFill>
              <a:latin typeface="Times New Roman" pitchFamily="18" charset="0"/>
            </a:endParaRPr>
          </a:p>
        </p:txBody>
      </p:sp>
      <p:sp>
        <p:nvSpPr>
          <p:cNvPr id="12" name="Θέση υποσέλιδου 4">
            <a:extLst>
              <a:ext uri="{FF2B5EF4-FFF2-40B4-BE49-F238E27FC236}">
                <a16:creationId xmlns:a16="http://schemas.microsoft.com/office/drawing/2014/main" id="{03260B63-2ACD-5563-9638-210F686B3E82}"/>
              </a:ext>
            </a:extLst>
          </p:cNvPr>
          <p:cNvSpPr txBox="1">
            <a:spLocks/>
          </p:cNvSpPr>
          <p:nvPr/>
        </p:nvSpPr>
        <p:spPr>
          <a:xfrm>
            <a:off x="4149680" y="6670790"/>
            <a:ext cx="4631713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Control flow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 – 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Arrays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 - 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Type conversions</a:t>
            </a:r>
          </a:p>
          <a:p>
            <a:endParaRPr lang="el-GR" sz="11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48369024-2510-7963-AE68-C760FB8A64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669" y="1468438"/>
            <a:ext cx="4572000" cy="131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altLang="el-GR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while ( </a:t>
            </a:r>
            <a:r>
              <a:rPr lang="en-US" altLang="el-GR" sz="32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έκφρ</a:t>
            </a:r>
            <a:r>
              <a:rPr lang="en-US" altLang="el-GR" sz="3200" dirty="0">
                <a:solidFill>
                  <a:srgbClr val="FF0000"/>
                </a:solidFill>
                <a:latin typeface="Times New Roman" panose="02020603050405020304" pitchFamily="18" charset="0"/>
              </a:rPr>
              <a:t>αση </a:t>
            </a:r>
            <a:r>
              <a:rPr lang="en-US" altLang="el-GR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)</a:t>
            </a:r>
            <a:endParaRPr lang="en-US" altLang="el-GR" sz="3200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altLang="el-GR" sz="3200" dirty="0">
                <a:solidFill>
                  <a:srgbClr val="FF0000"/>
                </a:solidFill>
                <a:latin typeface="Times New Roman" panose="02020603050405020304" pitchFamily="18" charset="0"/>
              </a:rPr>
              <a:t>	</a:t>
            </a:r>
            <a:r>
              <a:rPr lang="en-US" altLang="el-GR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π</a:t>
            </a:r>
            <a:r>
              <a:rPr lang="en-US" altLang="el-GR" sz="3200" b="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ρότ</a:t>
            </a:r>
            <a:r>
              <a:rPr lang="en-US" altLang="el-GR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αση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5157DEFA-E710-A724-02F9-707F11C559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83457"/>
            <a:ext cx="34798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el-GR" sz="3200" dirty="0">
                <a:solidFill>
                  <a:srgbClr val="3333CC"/>
                </a:solidFill>
                <a:latin typeface="HellasTimes" charset="0"/>
              </a:rPr>
              <a:t>entry condition loop</a:t>
            </a:r>
            <a:endParaRPr lang="en-GB" altLang="el-GR" sz="3200" dirty="0">
              <a:solidFill>
                <a:srgbClr val="3333CC"/>
              </a:solidFill>
              <a:latin typeface="HellasTimes" charset="0"/>
            </a:endParaRPr>
          </a:p>
        </p:txBody>
      </p:sp>
      <p:grpSp>
        <p:nvGrpSpPr>
          <p:cNvPr id="6" name="Group 36">
            <a:extLst>
              <a:ext uri="{FF2B5EF4-FFF2-40B4-BE49-F238E27FC236}">
                <a16:creationId xmlns:a16="http://schemas.microsoft.com/office/drawing/2014/main" id="{AFDF6BB2-E319-B182-8EA9-DE01DB29E81A}"/>
              </a:ext>
            </a:extLst>
          </p:cNvPr>
          <p:cNvGrpSpPr>
            <a:grpSpLocks/>
          </p:cNvGrpSpPr>
          <p:nvPr/>
        </p:nvGrpSpPr>
        <p:grpSpPr bwMode="auto">
          <a:xfrm>
            <a:off x="246784" y="2952932"/>
            <a:ext cx="3660775" cy="3300412"/>
            <a:chOff x="3071" y="1559"/>
            <a:chExt cx="2306" cy="2079"/>
          </a:xfrm>
        </p:grpSpPr>
        <p:sp>
          <p:nvSpPr>
            <p:cNvPr id="7" name="Freeform 12">
              <a:extLst>
                <a:ext uri="{FF2B5EF4-FFF2-40B4-BE49-F238E27FC236}">
                  <a16:creationId xmlns:a16="http://schemas.microsoft.com/office/drawing/2014/main" id="{F805D88C-B03F-7C90-1B7D-A211F95EA833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7" y="1875"/>
              <a:ext cx="1322" cy="543"/>
            </a:xfrm>
            <a:custGeom>
              <a:avLst/>
              <a:gdLst>
                <a:gd name="T0" fmla="*/ 1323 w 2644"/>
                <a:gd name="T1" fmla="*/ 0 h 1084"/>
                <a:gd name="T2" fmla="*/ 0 w 2644"/>
                <a:gd name="T3" fmla="*/ 543 h 1084"/>
                <a:gd name="T4" fmla="*/ 1323 w 2644"/>
                <a:gd name="T5" fmla="*/ 1084 h 1084"/>
                <a:gd name="T6" fmla="*/ 2644 w 2644"/>
                <a:gd name="T7" fmla="*/ 543 h 1084"/>
                <a:gd name="T8" fmla="*/ 1323 w 2644"/>
                <a:gd name="T9" fmla="*/ 0 h 10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44"/>
                <a:gd name="T16" fmla="*/ 0 h 1084"/>
                <a:gd name="T17" fmla="*/ 2644 w 2644"/>
                <a:gd name="T18" fmla="*/ 1084 h 10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44" h="1084">
                  <a:moveTo>
                    <a:pt x="1323" y="0"/>
                  </a:moveTo>
                  <a:lnTo>
                    <a:pt x="0" y="543"/>
                  </a:lnTo>
                  <a:lnTo>
                    <a:pt x="1323" y="1084"/>
                  </a:lnTo>
                  <a:lnTo>
                    <a:pt x="2644" y="543"/>
                  </a:lnTo>
                  <a:lnTo>
                    <a:pt x="1323" y="0"/>
                  </a:lnTo>
                  <a:close/>
                </a:path>
              </a:pathLst>
            </a:custGeom>
            <a:solidFill>
              <a:srgbClr val="FFFFFF"/>
            </a:solidFill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9" name="Rectangle 13">
              <a:extLst>
                <a:ext uri="{FF2B5EF4-FFF2-40B4-BE49-F238E27FC236}">
                  <a16:creationId xmlns:a16="http://schemas.microsoft.com/office/drawing/2014/main" id="{CC861484-4CCE-BCC6-5379-FFA25CEA33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6" y="2016"/>
              <a:ext cx="690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l-GR" altLang="el-GR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έκφραση</a:t>
              </a:r>
              <a:endParaRPr kumimoji="0" lang="en-GB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13" name="Rectangle 14">
              <a:extLst>
                <a:ext uri="{FF2B5EF4-FFF2-40B4-BE49-F238E27FC236}">
                  <a16:creationId xmlns:a16="http://schemas.microsoft.com/office/drawing/2014/main" id="{F4FEDC47-BED4-6990-399B-B0F01D75A7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0" y="2736"/>
              <a:ext cx="2026" cy="347"/>
            </a:xfrm>
            <a:prstGeom prst="rect">
              <a:avLst/>
            </a:prstGeom>
            <a:solidFill>
              <a:srgbClr val="FFFFFF"/>
            </a:solidFill>
            <a:ln w="111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l-GR" altLang="el-GR" sz="24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ahoma" panose="020B0604030504040204" pitchFamily="34" charset="0"/>
                </a:rPr>
                <a:t>Πρόταση</a:t>
              </a:r>
              <a:endParaRPr kumimoji="0" lang="en-GB" altLang="el-GR" sz="24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14" name="Rectangle 17">
              <a:extLst>
                <a:ext uri="{FF2B5EF4-FFF2-40B4-BE49-F238E27FC236}">
                  <a16:creationId xmlns:a16="http://schemas.microsoft.com/office/drawing/2014/main" id="{0046289D-4879-5405-81FA-419162215E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26" y="3401"/>
              <a:ext cx="1439" cy="230"/>
            </a:xfrm>
            <a:prstGeom prst="rect">
              <a:avLst/>
            </a:prstGeom>
            <a:solidFill>
              <a:srgbClr val="FFFFFF"/>
            </a:solidFill>
            <a:ln w="111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15" name="Rectangle 18">
              <a:extLst>
                <a:ext uri="{FF2B5EF4-FFF2-40B4-BE49-F238E27FC236}">
                  <a16:creationId xmlns:a16="http://schemas.microsoft.com/office/drawing/2014/main" id="{2C47E13E-6F6A-8E37-7BC7-1B497CB6E9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83" y="3423"/>
              <a:ext cx="155" cy="2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altLang="el-GR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&lt;</a:t>
              </a:r>
              <a:endParaRPr kumimoji="0" lang="en-GB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16" name="Rectangle 19">
              <a:extLst>
                <a:ext uri="{FF2B5EF4-FFF2-40B4-BE49-F238E27FC236}">
                  <a16:creationId xmlns:a16="http://schemas.microsoft.com/office/drawing/2014/main" id="{7DBE5B87-1D3D-9D42-4B10-F40B8AC85E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71" y="3423"/>
              <a:ext cx="11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altLang="el-GR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επόμενη πρόταση</a:t>
              </a:r>
              <a:endParaRPr kumimoji="0" lang="en-GB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17" name="Rectangle 20">
              <a:extLst>
                <a:ext uri="{FF2B5EF4-FFF2-40B4-BE49-F238E27FC236}">
                  <a16:creationId xmlns:a16="http://schemas.microsoft.com/office/drawing/2014/main" id="{6C4D7668-AD2E-6C4D-0C97-275FFBD777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0" y="3423"/>
              <a:ext cx="194" cy="2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altLang="el-GR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&gt; </a:t>
              </a:r>
              <a:endParaRPr kumimoji="0" lang="en-GB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18" name="Line 21">
              <a:extLst>
                <a:ext uri="{FF2B5EF4-FFF2-40B4-BE49-F238E27FC236}">
                  <a16:creationId xmlns:a16="http://schemas.microsoft.com/office/drawing/2014/main" id="{42C6A21A-DF9D-685B-8401-68D8307816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47" y="1559"/>
              <a:ext cx="1" cy="224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19" name="Freeform 22">
              <a:extLst>
                <a:ext uri="{FF2B5EF4-FFF2-40B4-BE49-F238E27FC236}">
                  <a16:creationId xmlns:a16="http://schemas.microsoft.com/office/drawing/2014/main" id="{456821CA-E611-1C6E-93E9-6F778DDF0210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0" y="1751"/>
              <a:ext cx="75" cy="121"/>
            </a:xfrm>
            <a:custGeom>
              <a:avLst/>
              <a:gdLst>
                <a:gd name="T0" fmla="*/ 0 w 150"/>
                <a:gd name="T1" fmla="*/ 0 h 241"/>
                <a:gd name="T2" fmla="*/ 75 w 150"/>
                <a:gd name="T3" fmla="*/ 29 h 241"/>
                <a:gd name="T4" fmla="*/ 150 w 150"/>
                <a:gd name="T5" fmla="*/ 0 h 241"/>
                <a:gd name="T6" fmla="*/ 75 w 150"/>
                <a:gd name="T7" fmla="*/ 241 h 241"/>
                <a:gd name="T8" fmla="*/ 0 w 150"/>
                <a:gd name="T9" fmla="*/ 0 h 24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0"/>
                <a:gd name="T16" fmla="*/ 0 h 241"/>
                <a:gd name="T17" fmla="*/ 150 w 150"/>
                <a:gd name="T18" fmla="*/ 241 h 24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0" h="241">
                  <a:moveTo>
                    <a:pt x="0" y="0"/>
                  </a:moveTo>
                  <a:lnTo>
                    <a:pt x="75" y="29"/>
                  </a:lnTo>
                  <a:lnTo>
                    <a:pt x="150" y="0"/>
                  </a:lnTo>
                  <a:lnTo>
                    <a:pt x="75" y="2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20" name="Line 23">
              <a:extLst>
                <a:ext uri="{FF2B5EF4-FFF2-40B4-BE49-F238E27FC236}">
                  <a16:creationId xmlns:a16="http://schemas.microsoft.com/office/drawing/2014/main" id="{68BEB8E4-5815-F797-5AD6-558EBA57DF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47" y="2420"/>
              <a:ext cx="1" cy="224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21" name="Freeform 24">
              <a:extLst>
                <a:ext uri="{FF2B5EF4-FFF2-40B4-BE49-F238E27FC236}">
                  <a16:creationId xmlns:a16="http://schemas.microsoft.com/office/drawing/2014/main" id="{6F43DADB-A92B-92EA-CDC6-7E464CEA3FDB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0" y="2612"/>
              <a:ext cx="75" cy="121"/>
            </a:xfrm>
            <a:custGeom>
              <a:avLst/>
              <a:gdLst>
                <a:gd name="T0" fmla="*/ 0 w 150"/>
                <a:gd name="T1" fmla="*/ 0 h 241"/>
                <a:gd name="T2" fmla="*/ 75 w 150"/>
                <a:gd name="T3" fmla="*/ 29 h 241"/>
                <a:gd name="T4" fmla="*/ 150 w 150"/>
                <a:gd name="T5" fmla="*/ 0 h 241"/>
                <a:gd name="T6" fmla="*/ 75 w 150"/>
                <a:gd name="T7" fmla="*/ 241 h 241"/>
                <a:gd name="T8" fmla="*/ 0 w 150"/>
                <a:gd name="T9" fmla="*/ 0 h 24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0"/>
                <a:gd name="T16" fmla="*/ 0 h 241"/>
                <a:gd name="T17" fmla="*/ 150 w 150"/>
                <a:gd name="T18" fmla="*/ 241 h 24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0" h="241">
                  <a:moveTo>
                    <a:pt x="0" y="0"/>
                  </a:moveTo>
                  <a:lnTo>
                    <a:pt x="75" y="29"/>
                  </a:lnTo>
                  <a:lnTo>
                    <a:pt x="150" y="0"/>
                  </a:lnTo>
                  <a:lnTo>
                    <a:pt x="75" y="2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22" name="Line 25">
              <a:extLst>
                <a:ext uri="{FF2B5EF4-FFF2-40B4-BE49-F238E27FC236}">
                  <a16:creationId xmlns:a16="http://schemas.microsoft.com/office/drawing/2014/main" id="{34C28878-13CB-5963-615A-B38D954238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80" y="2929"/>
              <a:ext cx="197" cy="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23" name="Line 26">
              <a:extLst>
                <a:ext uri="{FF2B5EF4-FFF2-40B4-BE49-F238E27FC236}">
                  <a16:creationId xmlns:a16="http://schemas.microsoft.com/office/drawing/2014/main" id="{838C33C6-2144-85B2-AA43-FA65A4C8A6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1" y="2146"/>
              <a:ext cx="576" cy="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24" name="Freeform 27">
              <a:extLst>
                <a:ext uri="{FF2B5EF4-FFF2-40B4-BE49-F238E27FC236}">
                  <a16:creationId xmlns:a16="http://schemas.microsoft.com/office/drawing/2014/main" id="{FF4A1424-42F1-0BA0-3822-56807EEF457F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1" y="2109"/>
              <a:ext cx="121" cy="75"/>
            </a:xfrm>
            <a:custGeom>
              <a:avLst/>
              <a:gdLst>
                <a:gd name="T0" fmla="*/ 240 w 240"/>
                <a:gd name="T1" fmla="*/ 0 h 150"/>
                <a:gd name="T2" fmla="*/ 211 w 240"/>
                <a:gd name="T3" fmla="*/ 75 h 150"/>
                <a:gd name="T4" fmla="*/ 240 w 240"/>
                <a:gd name="T5" fmla="*/ 150 h 150"/>
                <a:gd name="T6" fmla="*/ 0 w 240"/>
                <a:gd name="T7" fmla="*/ 75 h 150"/>
                <a:gd name="T8" fmla="*/ 240 w 240"/>
                <a:gd name="T9" fmla="*/ 0 h 1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0"/>
                <a:gd name="T16" fmla="*/ 0 h 150"/>
                <a:gd name="T17" fmla="*/ 240 w 240"/>
                <a:gd name="T18" fmla="*/ 150 h 1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0" h="150">
                  <a:moveTo>
                    <a:pt x="240" y="0"/>
                  </a:moveTo>
                  <a:lnTo>
                    <a:pt x="211" y="75"/>
                  </a:lnTo>
                  <a:lnTo>
                    <a:pt x="240" y="150"/>
                  </a:lnTo>
                  <a:lnTo>
                    <a:pt x="0" y="75"/>
                  </a:lnTo>
                  <a:lnTo>
                    <a:pt x="24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25" name="Line 28">
              <a:extLst>
                <a:ext uri="{FF2B5EF4-FFF2-40B4-BE49-F238E27FC236}">
                  <a16:creationId xmlns:a16="http://schemas.microsoft.com/office/drawing/2014/main" id="{43E14214-1328-E4B1-19D3-FA7DE5F0EB5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375" y="2146"/>
              <a:ext cx="1" cy="784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26" name="Line 29">
              <a:extLst>
                <a:ext uri="{FF2B5EF4-FFF2-40B4-BE49-F238E27FC236}">
                  <a16:creationId xmlns:a16="http://schemas.microsoft.com/office/drawing/2014/main" id="{660A8E9C-DD80-17E3-E166-8E823E64E3E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71" y="2146"/>
              <a:ext cx="314" cy="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27" name="Line 30">
              <a:extLst>
                <a:ext uri="{FF2B5EF4-FFF2-40B4-BE49-F238E27FC236}">
                  <a16:creationId xmlns:a16="http://schemas.microsoft.com/office/drawing/2014/main" id="{3F4300A2-F764-EFF8-B9F7-486C48EB04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71" y="2146"/>
              <a:ext cx="1" cy="137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28" name="Line 31">
              <a:extLst>
                <a:ext uri="{FF2B5EF4-FFF2-40B4-BE49-F238E27FC236}">
                  <a16:creationId xmlns:a16="http://schemas.microsoft.com/office/drawing/2014/main" id="{58666A4F-FB8C-DDEA-3B83-51DCEB8857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71" y="3516"/>
              <a:ext cx="265" cy="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29" name="Freeform 32">
              <a:extLst>
                <a:ext uri="{FF2B5EF4-FFF2-40B4-BE49-F238E27FC236}">
                  <a16:creationId xmlns:a16="http://schemas.microsoft.com/office/drawing/2014/main" id="{BC7FEEE9-2367-B0C6-2614-E3E8FBD29E3E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2" y="3478"/>
              <a:ext cx="121" cy="75"/>
            </a:xfrm>
            <a:custGeom>
              <a:avLst/>
              <a:gdLst>
                <a:gd name="T0" fmla="*/ 0 w 241"/>
                <a:gd name="T1" fmla="*/ 150 h 150"/>
                <a:gd name="T2" fmla="*/ 30 w 241"/>
                <a:gd name="T3" fmla="*/ 75 h 150"/>
                <a:gd name="T4" fmla="*/ 0 w 241"/>
                <a:gd name="T5" fmla="*/ 0 h 150"/>
                <a:gd name="T6" fmla="*/ 241 w 241"/>
                <a:gd name="T7" fmla="*/ 75 h 150"/>
                <a:gd name="T8" fmla="*/ 0 w 241"/>
                <a:gd name="T9" fmla="*/ 150 h 1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1"/>
                <a:gd name="T16" fmla="*/ 0 h 150"/>
                <a:gd name="T17" fmla="*/ 241 w 241"/>
                <a:gd name="T18" fmla="*/ 150 h 1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1" h="150">
                  <a:moveTo>
                    <a:pt x="0" y="150"/>
                  </a:moveTo>
                  <a:lnTo>
                    <a:pt x="30" y="75"/>
                  </a:lnTo>
                  <a:lnTo>
                    <a:pt x="0" y="0"/>
                  </a:lnTo>
                  <a:lnTo>
                    <a:pt x="241" y="75"/>
                  </a:lnTo>
                  <a:lnTo>
                    <a:pt x="0" y="15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30" name="Rectangle 33">
              <a:extLst>
                <a:ext uri="{FF2B5EF4-FFF2-40B4-BE49-F238E27FC236}">
                  <a16:creationId xmlns:a16="http://schemas.microsoft.com/office/drawing/2014/main" id="{495C4560-069A-6B98-6BD8-8D1A0A18B7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8" y="1620"/>
              <a:ext cx="430" cy="2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altLang="el-GR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while</a:t>
              </a:r>
              <a:endParaRPr kumimoji="0" lang="en-GB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31" name="Rectangle 34">
              <a:extLst>
                <a:ext uri="{FF2B5EF4-FFF2-40B4-BE49-F238E27FC236}">
                  <a16:creationId xmlns:a16="http://schemas.microsoft.com/office/drawing/2014/main" id="{311A26CE-1B1D-D094-9B6C-8E81FB7E60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6" y="2476"/>
              <a:ext cx="312" cy="2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altLang="el-GR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true</a:t>
              </a:r>
              <a:endParaRPr kumimoji="0" lang="en-GB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32" name="Rectangle 35">
              <a:extLst>
                <a:ext uri="{FF2B5EF4-FFF2-40B4-BE49-F238E27FC236}">
                  <a16:creationId xmlns:a16="http://schemas.microsoft.com/office/drawing/2014/main" id="{998EBCCF-B61D-F88F-1D90-0853603F07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1" y="1928"/>
              <a:ext cx="365" cy="2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altLang="el-GR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false</a:t>
              </a:r>
              <a:endParaRPr kumimoji="0" lang="en-GB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</p:grpSp>
      <p:sp>
        <p:nvSpPr>
          <p:cNvPr id="33" name="Rectangle 4">
            <a:extLst>
              <a:ext uri="{FF2B5EF4-FFF2-40B4-BE49-F238E27FC236}">
                <a16:creationId xmlns:a16="http://schemas.microsoft.com/office/drawing/2014/main" id="{8A643F96-7F96-67F2-26AE-066DB8853E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37257" y="946331"/>
            <a:ext cx="5816600" cy="2103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el-GR" sz="2000" dirty="0">
                <a:solidFill>
                  <a:srgbClr val="000000"/>
                </a:solidFill>
                <a:latin typeface="Courier New" panose="02070309020205020404" pitchFamily="49" charset="0"/>
              </a:rPr>
              <a:t>while (</a:t>
            </a:r>
            <a:r>
              <a:rPr lang="en-US" altLang="el-GR" sz="2000" b="1" dirty="0">
                <a:solidFill>
                  <a:srgbClr val="FF0000"/>
                </a:solidFill>
                <a:latin typeface="Courier New" panose="02070309020205020404" pitchFamily="49" charset="0"/>
              </a:rPr>
              <a:t>count&lt;limit</a:t>
            </a:r>
            <a:r>
              <a:rPr lang="en-US" altLang="el-GR" sz="2000" dirty="0">
                <a:solidFill>
                  <a:srgbClr val="000000"/>
                </a:solidFill>
                <a:latin typeface="Courier New" panose="02070309020205020404" pitchFamily="49" charset="0"/>
              </a:rPr>
              <a:t>) </a:t>
            </a:r>
            <a:r>
              <a:rPr lang="en-US" altLang="el-GR" sz="2000" b="1" dirty="0">
                <a:solidFill>
                  <a:srgbClr val="00E4A8"/>
                </a:solidFill>
                <a:latin typeface="Courier New" panose="02070309020205020404" pitchFamily="49" charset="0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l-GR" altLang="el-GR" sz="2000" b="1" dirty="0">
                <a:solidFill>
                  <a:srgbClr val="00E4A8"/>
                </a:solidFill>
                <a:latin typeface="Courier New" panose="02070309020205020404" pitchFamily="49" charset="0"/>
              </a:rPr>
              <a:t>     </a:t>
            </a:r>
            <a:r>
              <a:rPr lang="en-US" altLang="el-GR" sz="2000" b="1" dirty="0">
                <a:solidFill>
                  <a:srgbClr val="00E4A8"/>
                </a:solidFill>
                <a:latin typeface="Courier New" panose="02070309020205020404" pitchFamily="49" charset="0"/>
              </a:rPr>
              <a:t>count++;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l-GR" altLang="el-GR" sz="2000" b="1" dirty="0">
                <a:solidFill>
                  <a:srgbClr val="00E4A8"/>
                </a:solidFill>
                <a:latin typeface="Courier New" panose="02070309020205020404" pitchFamily="49" charset="0"/>
              </a:rPr>
              <a:t>     </a:t>
            </a:r>
            <a:r>
              <a:rPr lang="en-US" altLang="el-GR" sz="2000" b="1" dirty="0" err="1">
                <a:solidFill>
                  <a:srgbClr val="00E4A8"/>
                </a:solidFill>
                <a:latin typeface="Courier New" panose="02070309020205020404" pitchFamily="49" charset="0"/>
              </a:rPr>
              <a:t>printf</a:t>
            </a:r>
            <a:r>
              <a:rPr lang="en-US" altLang="el-GR" sz="2000" b="1" dirty="0">
                <a:solidFill>
                  <a:srgbClr val="00E4A8"/>
                </a:solidFill>
                <a:latin typeface="Courier New" panose="02070309020205020404" pitchFamily="49" charset="0"/>
              </a:rPr>
              <a:t>(“count is %d\</a:t>
            </a:r>
            <a:r>
              <a:rPr lang="en-US" altLang="el-GR" sz="2000" b="1" dirty="0" err="1">
                <a:solidFill>
                  <a:srgbClr val="00E4A8"/>
                </a:solidFill>
                <a:latin typeface="Courier New" panose="02070309020205020404" pitchFamily="49" charset="0"/>
              </a:rPr>
              <a:t>n”,count</a:t>
            </a:r>
            <a:r>
              <a:rPr lang="en-US" altLang="el-GR" sz="2000" b="1" dirty="0">
                <a:solidFill>
                  <a:srgbClr val="00E4A8"/>
                </a:solidFill>
                <a:latin typeface="Courier New" panose="02070309020205020404" pitchFamily="49" charset="0"/>
              </a:rPr>
              <a:t>);	</a:t>
            </a:r>
            <a:endParaRPr lang="el-GR" altLang="el-GR" sz="2000" b="1" dirty="0">
              <a:solidFill>
                <a:srgbClr val="00E4A8"/>
              </a:solidFill>
              <a:latin typeface="Courier New" panose="02070309020205020404" pitchFamily="49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l-GR" altLang="el-GR" sz="2000" b="1" dirty="0">
                <a:solidFill>
                  <a:srgbClr val="00E4A8"/>
                </a:solidFill>
                <a:latin typeface="Courier New" panose="02070309020205020404" pitchFamily="49" charset="0"/>
              </a:rPr>
              <a:t>     </a:t>
            </a:r>
            <a:r>
              <a:rPr lang="en-US" altLang="el-GR" sz="2000" b="1" dirty="0">
                <a:solidFill>
                  <a:srgbClr val="00E4A8"/>
                </a:solidFill>
                <a:latin typeface="Courier New" panose="02070309020205020404" pitchFamily="49" charset="0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el-GR" sz="2000" dirty="0">
                <a:solidFill>
                  <a:srgbClr val="000000"/>
                </a:solidFill>
                <a:latin typeface="Courier New" panose="02070309020205020404" pitchFamily="49" charset="0"/>
              </a:rPr>
              <a:t>&lt; επ</a:t>
            </a:r>
            <a:r>
              <a:rPr lang="en-US" altLang="el-GR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όμενη</a:t>
            </a:r>
            <a:r>
              <a:rPr lang="en-US" altLang="el-GR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π</a:t>
            </a:r>
            <a:r>
              <a:rPr lang="en-US" altLang="el-GR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ρότ</a:t>
            </a:r>
            <a:r>
              <a:rPr lang="en-US" altLang="el-GR" sz="2000" dirty="0">
                <a:solidFill>
                  <a:srgbClr val="000000"/>
                </a:solidFill>
                <a:latin typeface="Courier New" panose="02070309020205020404" pitchFamily="49" charset="0"/>
              </a:rPr>
              <a:t>αση&gt;	</a:t>
            </a: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GB" altLang="el-GR" sz="3200" dirty="0">
              <a:solidFill>
                <a:srgbClr val="3333CC"/>
              </a:solidFill>
              <a:latin typeface="HellasTimes" charset="0"/>
            </a:endParaRPr>
          </a:p>
        </p:txBody>
      </p:sp>
      <p:grpSp>
        <p:nvGrpSpPr>
          <p:cNvPr id="34" name="Group 29">
            <a:extLst>
              <a:ext uri="{FF2B5EF4-FFF2-40B4-BE49-F238E27FC236}">
                <a16:creationId xmlns:a16="http://schemas.microsoft.com/office/drawing/2014/main" id="{E08E29DF-9A0F-8FF1-E2BD-7C68DD72656F}"/>
              </a:ext>
            </a:extLst>
          </p:cNvPr>
          <p:cNvGrpSpPr>
            <a:grpSpLocks/>
          </p:cNvGrpSpPr>
          <p:nvPr/>
        </p:nvGrpSpPr>
        <p:grpSpPr bwMode="auto">
          <a:xfrm>
            <a:off x="6991350" y="2755541"/>
            <a:ext cx="3961678" cy="3555041"/>
            <a:chOff x="38" y="1104"/>
            <a:chExt cx="2890" cy="2540"/>
          </a:xfrm>
        </p:grpSpPr>
        <p:sp>
          <p:nvSpPr>
            <p:cNvPr id="35" name="AutoShape 30">
              <a:extLst>
                <a:ext uri="{FF2B5EF4-FFF2-40B4-BE49-F238E27FC236}">
                  <a16:creationId xmlns:a16="http://schemas.microsoft.com/office/drawing/2014/main" id="{54AB0A40-D0D2-FA0F-B326-A51BC9E9FC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4" y="1492"/>
              <a:ext cx="1624" cy="664"/>
            </a:xfrm>
            <a:prstGeom prst="diamond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l-GR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count&lt;limit;</a:t>
              </a:r>
            </a:p>
          </p:txBody>
        </p:sp>
        <p:sp>
          <p:nvSpPr>
            <p:cNvPr id="36" name="Rectangle 31">
              <a:extLst>
                <a:ext uri="{FF2B5EF4-FFF2-40B4-BE49-F238E27FC236}">
                  <a16:creationId xmlns:a16="http://schemas.microsoft.com/office/drawing/2014/main" id="{05B46167-88CF-C11B-D714-AA4FC46E53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" y="2548"/>
              <a:ext cx="2488" cy="42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l-GR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count++;</a:t>
              </a:r>
            </a:p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l-GR" sz="20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printf</a:t>
              </a:r>
              <a:r>
                <a:rPr kumimoji="0" lang="en-US" altLang="el-GR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(“count is %d\</a:t>
              </a:r>
              <a:r>
                <a:rPr kumimoji="0" lang="en-US" altLang="el-GR" sz="20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n”,count</a:t>
              </a:r>
              <a:r>
                <a:rPr kumimoji="0" lang="en-US" altLang="el-GR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);</a:t>
              </a:r>
            </a:p>
          </p:txBody>
        </p:sp>
        <p:sp>
          <p:nvSpPr>
            <p:cNvPr id="37" name="Rectangle 32">
              <a:extLst>
                <a:ext uri="{FF2B5EF4-FFF2-40B4-BE49-F238E27FC236}">
                  <a16:creationId xmlns:a16="http://schemas.microsoft.com/office/drawing/2014/main" id="{6092754B-F521-D6DC-EF2F-915B8DE707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2" y="3364"/>
              <a:ext cx="1768" cy="28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l-GR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&lt;επόμενη πρόταση&gt; </a:t>
              </a:r>
            </a:p>
          </p:txBody>
        </p:sp>
        <p:sp>
          <p:nvSpPr>
            <p:cNvPr id="38" name="Line 33">
              <a:extLst>
                <a:ext uri="{FF2B5EF4-FFF2-40B4-BE49-F238E27FC236}">
                  <a16:creationId xmlns:a16="http://schemas.microsoft.com/office/drawing/2014/main" id="{6702E435-0B63-443E-29C3-A5B4346675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96" y="1104"/>
              <a:ext cx="0" cy="384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39" name="Line 34">
              <a:extLst>
                <a:ext uri="{FF2B5EF4-FFF2-40B4-BE49-F238E27FC236}">
                  <a16:creationId xmlns:a16="http://schemas.microsoft.com/office/drawing/2014/main" id="{5187AFA9-1D82-C058-4E24-5DAABDB59D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96" y="2160"/>
              <a:ext cx="0" cy="384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40" name="Line 35">
              <a:extLst>
                <a:ext uri="{FF2B5EF4-FFF2-40B4-BE49-F238E27FC236}">
                  <a16:creationId xmlns:a16="http://schemas.microsoft.com/office/drawing/2014/main" id="{4B840BD3-3116-849D-480E-A985652982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88" y="2784"/>
              <a:ext cx="24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41" name="Line 36">
              <a:extLst>
                <a:ext uri="{FF2B5EF4-FFF2-40B4-BE49-F238E27FC236}">
                  <a16:creationId xmlns:a16="http://schemas.microsoft.com/office/drawing/2014/main" id="{92BB7519-7088-411E-3E96-666BC12A39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2" y="1824"/>
              <a:ext cx="816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stealth" w="med" len="lg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42" name="Line 37">
              <a:extLst>
                <a:ext uri="{FF2B5EF4-FFF2-40B4-BE49-F238E27FC236}">
                  <a16:creationId xmlns:a16="http://schemas.microsoft.com/office/drawing/2014/main" id="{AE2225C5-9AA3-5894-9B7D-F776924D445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28" y="1824"/>
              <a:ext cx="0" cy="96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43" name="Line 38">
              <a:extLst>
                <a:ext uri="{FF2B5EF4-FFF2-40B4-BE49-F238E27FC236}">
                  <a16:creationId xmlns:a16="http://schemas.microsoft.com/office/drawing/2014/main" id="{A4B1D687-4711-A560-0D2F-79360CC0E6D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6" y="1824"/>
              <a:ext cx="384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44" name="Line 39">
              <a:extLst>
                <a:ext uri="{FF2B5EF4-FFF2-40B4-BE49-F238E27FC236}">
                  <a16:creationId xmlns:a16="http://schemas.microsoft.com/office/drawing/2014/main" id="{B8E61BB0-CDFB-7513-56CC-99448D1575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" y="1824"/>
              <a:ext cx="0" cy="168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45" name="Line 40">
              <a:extLst>
                <a:ext uri="{FF2B5EF4-FFF2-40B4-BE49-F238E27FC236}">
                  <a16:creationId xmlns:a16="http://schemas.microsoft.com/office/drawing/2014/main" id="{B6E2C4D6-AB38-69C1-8DB4-727081F149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" y="3504"/>
              <a:ext cx="432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46" name="Rectangle 41">
              <a:extLst>
                <a:ext uri="{FF2B5EF4-FFF2-40B4-BE49-F238E27FC236}">
                  <a16:creationId xmlns:a16="http://schemas.microsoft.com/office/drawing/2014/main" id="{3A264615-8454-B13E-A252-9B267EF11C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" y="1152"/>
              <a:ext cx="1056" cy="3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l-GR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while</a:t>
              </a:r>
            </a:p>
          </p:txBody>
        </p:sp>
        <p:sp>
          <p:nvSpPr>
            <p:cNvPr id="47" name="Rectangle 42">
              <a:extLst>
                <a:ext uri="{FF2B5EF4-FFF2-40B4-BE49-F238E27FC236}">
                  <a16:creationId xmlns:a16="http://schemas.microsoft.com/office/drawing/2014/main" id="{6CDC860C-3BFB-0001-CAE6-BDD9D19BB8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4" y="2198"/>
              <a:ext cx="453" cy="3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l-GR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true</a:t>
              </a:r>
            </a:p>
          </p:txBody>
        </p:sp>
        <p:sp>
          <p:nvSpPr>
            <p:cNvPr id="48" name="Rectangle 43">
              <a:extLst>
                <a:ext uri="{FF2B5EF4-FFF2-40B4-BE49-F238E27FC236}">
                  <a16:creationId xmlns:a16="http://schemas.microsoft.com/office/drawing/2014/main" id="{201AB878-4F4B-8E7B-0CD9-B61ED1E6E9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" y="1526"/>
              <a:ext cx="523" cy="3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l-GR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false</a:t>
              </a:r>
            </a:p>
          </p:txBody>
        </p:sp>
      </p:grpSp>
      <p:sp>
        <p:nvSpPr>
          <p:cNvPr id="49" name="AutoShape 45">
            <a:extLst>
              <a:ext uri="{FF2B5EF4-FFF2-40B4-BE49-F238E27FC236}">
                <a16:creationId xmlns:a16="http://schemas.microsoft.com/office/drawing/2014/main" id="{0DBD7B20-6028-48D2-1F4C-1E2CD62B7F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31744" y="2219105"/>
            <a:ext cx="2660256" cy="1146200"/>
          </a:xfrm>
          <a:prstGeom prst="wedgeRoundRectCallout">
            <a:avLst>
              <a:gd name="adj1" fmla="val -43218"/>
              <a:gd name="adj2" fmla="val 69958"/>
              <a:gd name="adj3" fmla="val 16667"/>
            </a:avLst>
          </a:prstGeom>
          <a:solidFill>
            <a:srgbClr val="FFFF00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l-GR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Εαν limit = 12 και </a:t>
            </a:r>
            <a:endParaRPr kumimoji="0" lang="el-GR" altLang="el-GR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</a:endParaRPr>
          </a:p>
          <a:p>
            <a:pPr marL="0" marR="0" lvl="0" indent="0" defTabSz="91440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l-GR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count &gt;= 12</a:t>
            </a:r>
          </a:p>
          <a:p>
            <a:pPr marL="0" marR="0" lvl="0" indent="0" defTabSz="91440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l-GR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το σώμα του loop δεν εκτελείται</a:t>
            </a:r>
          </a:p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altLang="el-GR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41243455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4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D61B7-ABAB-96CC-1084-391B41976E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A52D5309-770C-E784-80B9-5A1C08E27B58}"/>
              </a:ext>
            </a:extLst>
          </p:cNvPr>
          <p:cNvSpPr/>
          <p:nvPr/>
        </p:nvSpPr>
        <p:spPr>
          <a:xfrm>
            <a:off x="140669" y="6559908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93A16A3F-D6F4-E7E3-BD01-709FB7F82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83457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Project HailstoneSequence – </a:t>
            </a:r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3 εκδόσεις</a:t>
            </a:r>
            <a:endParaRPr lang="el-GR" sz="4000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604AF4A8-EDAF-B02C-2A94-C776541323C5}"/>
              </a:ext>
            </a:extLst>
          </p:cNvPr>
          <p:cNvSpPr txBox="1">
            <a:spLocks/>
          </p:cNvSpPr>
          <p:nvPr/>
        </p:nvSpPr>
        <p:spPr>
          <a:xfrm>
            <a:off x="-1" y="6599394"/>
            <a:ext cx="3840633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© 202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5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Μια Εισαγωγή στην Τέχνη του Προγραμματισμού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8DECA97-8CA3-1540-3F6B-C58CD7EC8394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200" dirty="0">
                <a:latin typeface="Bahnschrift Light" panose="020B0502040204020203" pitchFamily="34" charset="0"/>
                <a:cs typeface="Arial" pitchFamily="34" charset="0"/>
              </a:rPr>
              <a:t>Διαφάνεια </a:t>
            </a:r>
            <a:fld id="{7C15C5B5-03C6-48D8-B20F-65D93A6CF09E}" type="slidenum">
              <a:rPr lang="en-US" sz="1200" smtClean="0">
                <a:latin typeface="Bahnschrift Light" panose="020B0502040204020203" pitchFamily="34" charset="0"/>
                <a:cs typeface="Arial" pitchFamily="34" charset="0"/>
              </a:rPr>
              <a:pPr algn="r"/>
              <a:t>20</a:t>
            </a:fld>
            <a:endParaRPr lang="en-US" sz="1200" dirty="0">
              <a:latin typeface="Bahnschrift Light" panose="020B0502040204020203" pitchFamily="34" charset="0"/>
              <a:cs typeface="Arial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05771D7-6146-262A-B144-98BEA22048FC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0"/>
            <a:ext cx="9144000" cy="908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0033CC"/>
              </a:solidFill>
              <a:latin typeface="Times New Roman" pitchFamily="18" charset="0"/>
            </a:endParaRPr>
          </a:p>
        </p:txBody>
      </p:sp>
      <p:sp>
        <p:nvSpPr>
          <p:cNvPr id="12" name="Θέση υποσέλιδου 4">
            <a:extLst>
              <a:ext uri="{FF2B5EF4-FFF2-40B4-BE49-F238E27FC236}">
                <a16:creationId xmlns:a16="http://schemas.microsoft.com/office/drawing/2014/main" id="{9FC96484-AFF6-9B68-029A-3A6829B43A11}"/>
              </a:ext>
            </a:extLst>
          </p:cNvPr>
          <p:cNvSpPr txBox="1">
            <a:spLocks/>
          </p:cNvSpPr>
          <p:nvPr/>
        </p:nvSpPr>
        <p:spPr>
          <a:xfrm>
            <a:off x="4149680" y="6670790"/>
            <a:ext cx="4631713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Control flow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 – 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Arrays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 - 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Type conversions</a:t>
            </a:r>
          </a:p>
          <a:p>
            <a:endParaRPr lang="el-GR" sz="11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D47045-6B32-57F2-CB20-34734462C18E}"/>
              </a:ext>
            </a:extLst>
          </p:cNvPr>
          <p:cNvSpPr txBox="1"/>
          <p:nvPr/>
        </p:nvSpPr>
        <p:spPr>
          <a:xfrm>
            <a:off x="140669" y="1451041"/>
            <a:ext cx="113366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2400" dirty="0"/>
              <a:t>Δημιουργήστε την 1</a:t>
            </a:r>
            <a:r>
              <a:rPr lang="el-GR" sz="2400" baseline="30000" dirty="0"/>
              <a:t>η</a:t>
            </a:r>
            <a:r>
              <a:rPr lang="el-GR" sz="2400" dirty="0"/>
              <a:t> έκδοση του προγράμματος με βάση τη 2</a:t>
            </a:r>
            <a:r>
              <a:rPr lang="el-GR" sz="2400" baseline="30000" dirty="0"/>
              <a:t>η</a:t>
            </a:r>
            <a:r>
              <a:rPr lang="el-GR" sz="2400" dirty="0"/>
              <a:t> εκδοχή της Λεκτικής Περιγραφής</a:t>
            </a:r>
            <a:endParaRPr lang="en-GB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26E9CCD-CAA6-A30A-D3A3-56E84BE6BAEE}"/>
              </a:ext>
            </a:extLst>
          </p:cNvPr>
          <p:cNvSpPr txBox="1"/>
          <p:nvPr/>
        </p:nvSpPr>
        <p:spPr>
          <a:xfrm>
            <a:off x="140669" y="947536"/>
            <a:ext cx="769479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l-GR" sz="3200" b="1" i="0" u="none" strike="noStrike" kern="1200" cap="none" spc="0" normalizeH="0" baseline="0" noProof="0" dirty="0">
                <a:ln>
                  <a:noFill/>
                </a:ln>
                <a:solidFill>
                  <a:srgbClr val="F9853D"/>
                </a:solidFill>
                <a:effectLst/>
                <a:uLnTx/>
                <a:uFillTx/>
                <a:latin typeface="Bahnschrift" panose="020B0502040204020203" pitchFamily="34" charset="0"/>
                <a:ea typeface="+mj-ea"/>
                <a:cs typeface="+mj-cs"/>
              </a:rPr>
              <a:t>1η έκδοση της  </a:t>
            </a:r>
            <a:r>
              <a:rPr kumimoji="0" lang="en-GB" sz="3200" b="1" i="0" u="none" strike="noStrike" kern="1200" cap="none" spc="0" normalizeH="0" baseline="0" noProof="0" dirty="0" err="1">
                <a:ln>
                  <a:noFill/>
                </a:ln>
                <a:solidFill>
                  <a:srgbClr val="F9853D"/>
                </a:solidFill>
                <a:effectLst/>
                <a:uLnTx/>
                <a:uFillTx/>
                <a:latin typeface="Bahnschrift" panose="020B0502040204020203" pitchFamily="34" charset="0"/>
                <a:ea typeface="+mj-ea"/>
                <a:cs typeface="+mj-cs"/>
              </a:rPr>
              <a:t>HelstoneSequence</a:t>
            </a:r>
            <a:endParaRPr kumimoji="0" lang="en-GB" sz="3200" b="1" i="0" u="none" strike="noStrike" kern="1200" cap="none" spc="0" normalizeH="0" baseline="0" noProof="0" dirty="0">
              <a:ln>
                <a:noFill/>
              </a:ln>
              <a:solidFill>
                <a:srgbClr val="F9853D"/>
              </a:solidFill>
              <a:effectLst/>
              <a:uLnTx/>
              <a:uFillTx/>
              <a:latin typeface="Bahnschrift" panose="020B0502040204020203" pitchFamily="34" charset="0"/>
              <a:ea typeface="+mj-ea"/>
              <a:cs typeface="+mj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EDD46CB-AA0E-602E-A311-D48746243D6D}"/>
              </a:ext>
            </a:extLst>
          </p:cNvPr>
          <p:cNvSpPr txBox="1"/>
          <p:nvPr/>
        </p:nvSpPr>
        <p:spPr>
          <a:xfrm>
            <a:off x="140669" y="2532641"/>
            <a:ext cx="769479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l-GR" sz="3200" b="1" i="0" u="none" strike="noStrike" kern="1200" cap="none" spc="0" normalizeH="0" baseline="0" noProof="0" dirty="0">
                <a:ln>
                  <a:noFill/>
                </a:ln>
                <a:solidFill>
                  <a:srgbClr val="F9853D"/>
                </a:solidFill>
                <a:effectLst/>
                <a:uLnTx/>
                <a:uFillTx/>
                <a:latin typeface="Bahnschrift" panose="020B0502040204020203" pitchFamily="34" charset="0"/>
                <a:ea typeface="+mj-ea"/>
                <a:cs typeface="+mj-cs"/>
              </a:rPr>
              <a:t>2η έκδοση της  </a:t>
            </a:r>
            <a:r>
              <a:rPr kumimoji="0" lang="en-GB" sz="3200" b="1" i="0" u="none" strike="noStrike" kern="1200" cap="none" spc="0" normalizeH="0" baseline="0" noProof="0" dirty="0" err="1">
                <a:ln>
                  <a:noFill/>
                </a:ln>
                <a:solidFill>
                  <a:srgbClr val="F9853D"/>
                </a:solidFill>
                <a:effectLst/>
                <a:uLnTx/>
                <a:uFillTx/>
                <a:latin typeface="Bahnschrift" panose="020B0502040204020203" pitchFamily="34" charset="0"/>
                <a:ea typeface="+mj-ea"/>
                <a:cs typeface="+mj-cs"/>
              </a:rPr>
              <a:t>HelstoneSequence</a:t>
            </a:r>
            <a:endParaRPr kumimoji="0" lang="en-GB" sz="3200" b="1" i="0" u="none" strike="noStrike" kern="1200" cap="none" spc="0" normalizeH="0" baseline="0" noProof="0" dirty="0">
              <a:ln>
                <a:noFill/>
              </a:ln>
              <a:solidFill>
                <a:srgbClr val="F9853D"/>
              </a:solidFill>
              <a:effectLst/>
              <a:uLnTx/>
              <a:uFillTx/>
              <a:latin typeface="Bahnschrift" panose="020B0502040204020203" pitchFamily="34" charset="0"/>
              <a:ea typeface="+mj-ea"/>
              <a:cs typeface="+mj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9BA69F8-4DCD-A1EC-817A-BDF1DA22C717}"/>
              </a:ext>
            </a:extLst>
          </p:cNvPr>
          <p:cNvSpPr txBox="1"/>
          <p:nvPr/>
        </p:nvSpPr>
        <p:spPr>
          <a:xfrm>
            <a:off x="140669" y="3102684"/>
            <a:ext cx="113366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2400" dirty="0"/>
              <a:t>Δημιουργήστε τη 2η έκδοση του προγράμματος με βάση τη 3η εκδοχή της Λεκτικής Περιγραφής.</a:t>
            </a:r>
            <a:endParaRPr lang="en-GB" sz="24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3607150-108C-049D-CC9A-45CFEAA6F7C7}"/>
              </a:ext>
            </a:extLst>
          </p:cNvPr>
          <p:cNvSpPr txBox="1"/>
          <p:nvPr/>
        </p:nvSpPr>
        <p:spPr>
          <a:xfrm>
            <a:off x="140669" y="4211336"/>
            <a:ext cx="769479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l-GR" sz="3200" b="1" i="0" u="none" strike="noStrike" kern="1200" cap="none" spc="0" normalizeH="0" baseline="0" noProof="0" dirty="0">
                <a:ln>
                  <a:noFill/>
                </a:ln>
                <a:solidFill>
                  <a:srgbClr val="F9853D"/>
                </a:solidFill>
                <a:effectLst/>
                <a:uLnTx/>
                <a:uFillTx/>
                <a:latin typeface="Bahnschrift" panose="020B0502040204020203" pitchFamily="34" charset="0"/>
                <a:ea typeface="+mj-ea"/>
                <a:cs typeface="+mj-cs"/>
              </a:rPr>
              <a:t>3η έκδοση της  </a:t>
            </a:r>
            <a:r>
              <a:rPr kumimoji="0" lang="en-GB" sz="3200" b="1" i="0" u="none" strike="noStrike" kern="1200" cap="none" spc="0" normalizeH="0" baseline="0" noProof="0" dirty="0" err="1">
                <a:ln>
                  <a:noFill/>
                </a:ln>
                <a:solidFill>
                  <a:srgbClr val="F9853D"/>
                </a:solidFill>
                <a:effectLst/>
                <a:uLnTx/>
                <a:uFillTx/>
                <a:latin typeface="Bahnschrift" panose="020B0502040204020203" pitchFamily="34" charset="0"/>
                <a:ea typeface="+mj-ea"/>
                <a:cs typeface="+mj-cs"/>
              </a:rPr>
              <a:t>HelstoneSequence</a:t>
            </a:r>
            <a:endParaRPr kumimoji="0" lang="en-GB" sz="3200" b="1" i="0" u="none" strike="noStrike" kern="1200" cap="none" spc="0" normalizeH="0" baseline="0" noProof="0" dirty="0">
              <a:ln>
                <a:noFill/>
              </a:ln>
              <a:solidFill>
                <a:srgbClr val="F9853D"/>
              </a:solidFill>
              <a:effectLst/>
              <a:uLnTx/>
              <a:uFillTx/>
              <a:latin typeface="Bahnschrift" panose="020B0502040204020203" pitchFamily="34" charset="0"/>
              <a:ea typeface="+mj-ea"/>
              <a:cs typeface="+mj-c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20DF11C-5B29-2765-549C-D1198A9C216C}"/>
              </a:ext>
            </a:extLst>
          </p:cNvPr>
          <p:cNvSpPr txBox="1"/>
          <p:nvPr/>
        </p:nvSpPr>
        <p:spPr>
          <a:xfrm>
            <a:off x="190861" y="4815675"/>
            <a:ext cx="1128643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  <a:buNone/>
              <a:tabLst>
                <a:tab pos="144145" algn="l"/>
              </a:tabLst>
            </a:pPr>
            <a:r>
              <a:rPr lang="el-GR" sz="2400" dirty="0"/>
              <a:t>Δημιουργήστε την 3η έκδοση του προγράμματος με βάση τη 4η εκδοχή της Λεκτικής Περιγραφής. </a:t>
            </a:r>
            <a:r>
              <a:rPr lang="el-GR" sz="2400" i="1" dirty="0">
                <a:solidFill>
                  <a:srgbClr val="C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Προσέξτε τον περιορισμό! Απαιτείται χρήση μόνο μιας μεταβλητής. </a:t>
            </a:r>
            <a:endParaRPr lang="en-GB" sz="2400" i="1" dirty="0">
              <a:solidFill>
                <a:srgbClr val="C00000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99681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2B08F0-B033-3633-C728-03ABBABC1F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2E6CDF85-794D-2514-4F4E-D06AE82DC40B}"/>
              </a:ext>
            </a:extLst>
          </p:cNvPr>
          <p:cNvSpPr/>
          <p:nvPr/>
        </p:nvSpPr>
        <p:spPr>
          <a:xfrm>
            <a:off x="140669" y="6559908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D1C2F107-99CE-0920-E5D1-311F4B50D9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Hands-on</a:t>
            </a:r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  (</a:t>
            </a:r>
            <a:r>
              <a:rPr lang="en-US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HailstoneSequence)</a:t>
            </a: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EEC92654-0FED-FE94-D36B-EF9603606412}"/>
              </a:ext>
            </a:extLst>
          </p:cNvPr>
          <p:cNvSpPr txBox="1">
            <a:spLocks/>
          </p:cNvSpPr>
          <p:nvPr/>
        </p:nvSpPr>
        <p:spPr>
          <a:xfrm>
            <a:off x="-1" y="6599394"/>
            <a:ext cx="3840633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© 202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5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Μια Εισαγωγή στην Τέχνη του Προγραμματισμού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43BDF3E-25EB-4075-B42B-CCD56C893834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200" dirty="0">
                <a:latin typeface="Bahnschrift Light" panose="020B0502040204020203" pitchFamily="34" charset="0"/>
                <a:cs typeface="Arial" pitchFamily="34" charset="0"/>
              </a:rPr>
              <a:t>Διαφάνεια </a:t>
            </a:r>
            <a:fld id="{7C15C5B5-03C6-48D8-B20F-65D93A6CF09E}" type="slidenum">
              <a:rPr lang="en-US" sz="1200" smtClean="0">
                <a:latin typeface="Bahnschrift Light" panose="020B0502040204020203" pitchFamily="34" charset="0"/>
                <a:cs typeface="Arial" pitchFamily="34" charset="0"/>
              </a:rPr>
              <a:pPr algn="r"/>
              <a:t>21</a:t>
            </a:fld>
            <a:endParaRPr lang="en-US" sz="1200" dirty="0">
              <a:latin typeface="Bahnschrift Light" panose="020B0502040204020203" pitchFamily="34" charset="0"/>
              <a:cs typeface="Arial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28F5F8C-FCFB-833B-6630-EA594F971785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0"/>
            <a:ext cx="9144000" cy="908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0033CC"/>
              </a:solidFill>
              <a:latin typeface="Times New Roman" pitchFamily="18" charset="0"/>
            </a:endParaRPr>
          </a:p>
        </p:txBody>
      </p:sp>
      <p:sp>
        <p:nvSpPr>
          <p:cNvPr id="14" name="Θέση υποσέλιδου 4">
            <a:extLst>
              <a:ext uri="{FF2B5EF4-FFF2-40B4-BE49-F238E27FC236}">
                <a16:creationId xmlns:a16="http://schemas.microsoft.com/office/drawing/2014/main" id="{B1D2B891-8BB2-1F69-087B-DE0FB02A1BF8}"/>
              </a:ext>
            </a:extLst>
          </p:cNvPr>
          <p:cNvSpPr txBox="1">
            <a:spLocks/>
          </p:cNvSpPr>
          <p:nvPr/>
        </p:nvSpPr>
        <p:spPr>
          <a:xfrm>
            <a:off x="4149680" y="6689184"/>
            <a:ext cx="3462169" cy="2586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Πηγαίος Κώδικας – Βασικές Έννοιες</a:t>
            </a:r>
          </a:p>
          <a:p>
            <a:endParaRPr lang="el-GR" sz="11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7" name="Speech Bubble: Rectangle with Corners Rounded 6">
            <a:extLst>
              <a:ext uri="{FF2B5EF4-FFF2-40B4-BE49-F238E27FC236}">
                <a16:creationId xmlns:a16="http://schemas.microsoft.com/office/drawing/2014/main" id="{0BB28D48-AE06-C874-7BA8-80CCA798F83B}"/>
              </a:ext>
            </a:extLst>
          </p:cNvPr>
          <p:cNvSpPr/>
          <p:nvPr/>
        </p:nvSpPr>
        <p:spPr>
          <a:xfrm>
            <a:off x="6203273" y="1604478"/>
            <a:ext cx="5633357" cy="1824522"/>
          </a:xfrm>
          <a:prstGeom prst="wedgeRoundRectCallout">
            <a:avLst>
              <a:gd name="adj1" fmla="val -59222"/>
              <a:gd name="adj2" fmla="val 98719"/>
              <a:gd name="adj3" fmla="val 16667"/>
            </a:avLst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2400" b="1" dirty="0">
                <a:solidFill>
                  <a:schemeClr val="tx1"/>
                </a:solidFill>
                <a:highlight>
                  <a:srgbClr val="FFFF00"/>
                </a:highlight>
              </a:rPr>
              <a:t>Αναπτύξτε τις 3 εκδόσεις του  προγράμματος </a:t>
            </a:r>
            <a:r>
              <a:rPr lang="en-US" sz="2400" b="1" dirty="0">
                <a:solidFill>
                  <a:schemeClr val="tx1"/>
                </a:solidFill>
                <a:highlight>
                  <a:srgbClr val="FFFF00"/>
                </a:highlight>
              </a:rPr>
              <a:t>HailstoneSequence</a:t>
            </a:r>
            <a:r>
              <a:rPr lang="el-GR" sz="2400" b="1" dirty="0">
                <a:solidFill>
                  <a:schemeClr val="tx1"/>
                </a:solidFill>
                <a:highlight>
                  <a:srgbClr val="FFFF00"/>
                </a:highlight>
              </a:rPr>
              <a:t> με βάση τις αντίστοιχες Λεκτικές Περιγραφές</a:t>
            </a:r>
            <a:endParaRPr lang="en-GB" sz="2400" b="1" dirty="0">
              <a:solidFill>
                <a:schemeClr val="tx1"/>
              </a:solidFill>
              <a:highlight>
                <a:srgbClr val="FFFF00"/>
              </a:highlight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19FE141-73B1-4C75-2B3B-9D74977AE6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370" y="1848073"/>
            <a:ext cx="4812974" cy="3543607"/>
          </a:xfrm>
          <a:prstGeom prst="rect">
            <a:avLst/>
          </a:prstGeom>
        </p:spPr>
      </p:pic>
      <p:sp>
        <p:nvSpPr>
          <p:cNvPr id="12" name="Speech Bubble: Rectangle with Corners Rounded 11">
            <a:extLst>
              <a:ext uri="{FF2B5EF4-FFF2-40B4-BE49-F238E27FC236}">
                <a16:creationId xmlns:a16="http://schemas.microsoft.com/office/drawing/2014/main" id="{C977BFC8-BB9A-74D7-A79D-E639F0BA28E1}"/>
              </a:ext>
            </a:extLst>
          </p:cNvPr>
          <p:cNvSpPr/>
          <p:nvPr/>
        </p:nvSpPr>
        <p:spPr>
          <a:xfrm>
            <a:off x="6095999" y="4534191"/>
            <a:ext cx="5633357" cy="719331"/>
          </a:xfrm>
          <a:prstGeom prst="wedgeRoundRectCallout">
            <a:avLst>
              <a:gd name="adj1" fmla="val -59222"/>
              <a:gd name="adj2" fmla="val 98719"/>
              <a:gd name="adj3" fmla="val 16667"/>
            </a:avLst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2400" b="1" dirty="0">
                <a:solidFill>
                  <a:schemeClr val="tx1"/>
                </a:solidFill>
                <a:highlight>
                  <a:srgbClr val="FFFF00"/>
                </a:highlight>
              </a:rPr>
              <a:t>Ελέγξτε αν υλοποιούν σωστά την λειτουργικότητα</a:t>
            </a:r>
            <a:endParaRPr lang="en-GB" sz="2400" b="1" dirty="0">
              <a:solidFill>
                <a:schemeClr val="tx1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7092932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51BD5B-AA60-5D40-52F8-9462AB5DF3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FBE1776A-10C1-3419-8645-A7AED450DFCD}"/>
              </a:ext>
            </a:extLst>
          </p:cNvPr>
          <p:cNvSpPr/>
          <p:nvPr/>
        </p:nvSpPr>
        <p:spPr>
          <a:xfrm>
            <a:off x="140669" y="6559908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F03183A-6965-8AA3-A245-4A48659324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HailstoneSequence</a:t>
            </a:r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 – Εναλλακτικές Υλοποιήσεις</a:t>
            </a:r>
            <a:endParaRPr lang="en-US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F1A864C7-C3A6-E010-4C03-50EB5C72DBD6}"/>
              </a:ext>
            </a:extLst>
          </p:cNvPr>
          <p:cNvSpPr txBox="1">
            <a:spLocks/>
          </p:cNvSpPr>
          <p:nvPr/>
        </p:nvSpPr>
        <p:spPr>
          <a:xfrm>
            <a:off x="-1" y="6599394"/>
            <a:ext cx="3840633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© 202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5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Μια Εισαγωγή στην Τέχνη του Προγραμματισμού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EC8E6B4-8A36-DACC-4D31-CCD79ECD2CBF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200" dirty="0">
                <a:latin typeface="Bahnschrift Light" panose="020B0502040204020203" pitchFamily="34" charset="0"/>
                <a:cs typeface="Arial" pitchFamily="34" charset="0"/>
              </a:rPr>
              <a:t>Διαφάνεια </a:t>
            </a:r>
            <a:fld id="{7C15C5B5-03C6-48D8-B20F-65D93A6CF09E}" type="slidenum">
              <a:rPr lang="en-US" sz="1200" smtClean="0">
                <a:latin typeface="Bahnschrift Light" panose="020B0502040204020203" pitchFamily="34" charset="0"/>
                <a:cs typeface="Arial" pitchFamily="34" charset="0"/>
              </a:rPr>
              <a:pPr algn="r"/>
              <a:t>22</a:t>
            </a:fld>
            <a:endParaRPr lang="en-US" sz="1200" dirty="0">
              <a:latin typeface="Bahnschrift Light" panose="020B0502040204020203" pitchFamily="34" charset="0"/>
              <a:cs typeface="Arial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0D58D95-3A15-63D3-446F-65918E91295F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0"/>
            <a:ext cx="9144000" cy="908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0033CC"/>
              </a:solidFill>
              <a:latin typeface="Times New Roman" pitchFamily="18" charset="0"/>
            </a:endParaRPr>
          </a:p>
        </p:txBody>
      </p:sp>
      <p:sp>
        <p:nvSpPr>
          <p:cNvPr id="14" name="Θέση υποσέλιδου 4">
            <a:extLst>
              <a:ext uri="{FF2B5EF4-FFF2-40B4-BE49-F238E27FC236}">
                <a16:creationId xmlns:a16="http://schemas.microsoft.com/office/drawing/2014/main" id="{ADCD776A-28E2-70D2-419F-0E8E42A527BB}"/>
              </a:ext>
            </a:extLst>
          </p:cNvPr>
          <p:cNvSpPr txBox="1">
            <a:spLocks/>
          </p:cNvSpPr>
          <p:nvPr/>
        </p:nvSpPr>
        <p:spPr>
          <a:xfrm>
            <a:off x="4149680" y="6689184"/>
            <a:ext cx="3462169" cy="2586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Πηγαίος Κώδικας – Βασικές Έννοιες</a:t>
            </a:r>
          </a:p>
          <a:p>
            <a:endParaRPr lang="el-GR" sz="11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9789630-83C2-4B91-74A7-7A8B583AE29D}"/>
              </a:ext>
            </a:extLst>
          </p:cNvPr>
          <p:cNvSpPr/>
          <p:nvPr/>
        </p:nvSpPr>
        <p:spPr bwMode="auto">
          <a:xfrm>
            <a:off x="725421" y="5188374"/>
            <a:ext cx="2636314" cy="921869"/>
          </a:xfrm>
          <a:prstGeom prst="rect">
            <a:avLst/>
          </a:prstGeom>
          <a:solidFill>
            <a:srgbClr val="00E4A8">
              <a:lumMod val="20000"/>
              <a:lumOff val="80000"/>
            </a:srgbClr>
          </a:solidFill>
          <a:ln w="9525" cap="flat" cmpd="sng" algn="ctr">
            <a:solidFill>
              <a:srgbClr val="FFFF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32AE793-93BB-7406-4770-D187DC575988}"/>
              </a:ext>
            </a:extLst>
          </p:cNvPr>
          <p:cNvSpPr/>
          <p:nvPr/>
        </p:nvSpPr>
        <p:spPr bwMode="auto">
          <a:xfrm>
            <a:off x="636798" y="3523081"/>
            <a:ext cx="3987889" cy="1352742"/>
          </a:xfrm>
          <a:prstGeom prst="rect">
            <a:avLst/>
          </a:prstGeom>
          <a:solidFill>
            <a:srgbClr val="FFCF01"/>
          </a:solidFill>
          <a:ln w="9525" cap="flat" cmpd="sng" algn="ctr">
            <a:solidFill>
              <a:srgbClr val="FFFF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55B4906-192A-A1C8-E60D-68E554907073}"/>
              </a:ext>
            </a:extLst>
          </p:cNvPr>
          <p:cNvSpPr/>
          <p:nvPr/>
        </p:nvSpPr>
        <p:spPr bwMode="auto">
          <a:xfrm>
            <a:off x="636799" y="1141691"/>
            <a:ext cx="4813168" cy="2160240"/>
          </a:xfrm>
          <a:prstGeom prst="rect">
            <a:avLst/>
          </a:prstGeom>
          <a:solidFill>
            <a:srgbClr val="00E4A8"/>
          </a:solidFill>
          <a:ln w="9525" cap="flat" cmpd="sng" algn="ctr">
            <a:solidFill>
              <a:srgbClr val="FFFF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</a:endParaRP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B19EA53B-FD5B-C6B3-0DC7-0667A82376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5421" y="1141691"/>
            <a:ext cx="4724546" cy="2160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l-GR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Ζήτα ακέραιο αριθμό</a:t>
            </a:r>
            <a:endParaRPr kumimoji="0" lang="en-GB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l-GR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Πάρε τον αριθμό</a:t>
            </a:r>
            <a:endParaRPr kumimoji="0" lang="en-GB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l-GR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Επανέλαβε όσο ο αριθμός είναι διάφορος του 1</a:t>
            </a:r>
            <a:endParaRPr kumimoji="0" lang="en-GB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None/>
              <a:tabLst/>
              <a:defRPr/>
            </a:pPr>
            <a:r>
              <a:rPr kumimoji="0" lang="el-GR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Αν ο αριθμός είναι άρτιος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None/>
              <a:tabLst/>
              <a:defRPr/>
            </a:pPr>
            <a:r>
              <a:rPr kumimoji="0" lang="el-GR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	διαίρεσε με το 2.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None/>
              <a:tabLst/>
              <a:defRPr/>
            </a:pPr>
            <a:r>
              <a:rPr kumimoji="0" lang="el-GR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Αλλιώς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None/>
              <a:tabLst/>
              <a:defRPr/>
            </a:pPr>
            <a:r>
              <a:rPr kumimoji="0" lang="el-GR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	πολλαπλασίασε με το 3 και πρόσθεσε το 1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None/>
              <a:tabLst/>
              <a:defRPr/>
            </a:pPr>
            <a:r>
              <a:rPr kumimoji="0" lang="el-GR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Τύπωσε τον αριθμό</a:t>
            </a:r>
            <a:endParaRPr kumimoji="0" lang="en-GB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</a:endParaRP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93442E1E-9A97-843B-D887-5FE90C0705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7178" y="5241005"/>
            <a:ext cx="2920581" cy="1085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Clr>
                <a:srgbClr val="3333CC"/>
              </a:buClr>
              <a:buFont typeface="Wingdings" panose="05000000000000000000" pitchFamily="2" charset="2"/>
              <a:buNone/>
            </a:pPr>
            <a:r>
              <a:rPr lang="el-GR" sz="1400" kern="0" dirty="0">
                <a:solidFill>
                  <a:srgbClr val="000000"/>
                </a:solidFill>
                <a:latin typeface="Tahoma"/>
              </a:rPr>
              <a:t>Ζήτα ακέραιο αριθμό</a:t>
            </a:r>
            <a:endParaRPr lang="en-GB" sz="1400" kern="0" dirty="0">
              <a:solidFill>
                <a:srgbClr val="000000"/>
              </a:solidFill>
              <a:latin typeface="Tahoma"/>
            </a:endParaRPr>
          </a:p>
          <a:p>
            <a:pPr marL="0" indent="0">
              <a:buClr>
                <a:srgbClr val="3333CC"/>
              </a:buClr>
              <a:buFont typeface="Wingdings" panose="05000000000000000000" pitchFamily="2" charset="2"/>
              <a:buNone/>
            </a:pPr>
            <a:r>
              <a:rPr lang="el-GR" sz="1400" kern="0" dirty="0">
                <a:solidFill>
                  <a:srgbClr val="000000"/>
                </a:solidFill>
                <a:latin typeface="Tahoma"/>
              </a:rPr>
              <a:t>Πάρε τον αριθμό</a:t>
            </a:r>
          </a:p>
          <a:p>
            <a:pPr marL="0" indent="0">
              <a:buClr>
                <a:srgbClr val="3333CC"/>
              </a:buClr>
              <a:buFont typeface="Wingdings" panose="05000000000000000000" pitchFamily="2" charset="2"/>
              <a:buNone/>
            </a:pPr>
            <a:r>
              <a:rPr lang="el-GR" sz="1400" kern="0" dirty="0">
                <a:solidFill>
                  <a:srgbClr val="000000"/>
                </a:solidFill>
                <a:latin typeface="Tahoma"/>
              </a:rPr>
              <a:t>Εμφάνισε </a:t>
            </a:r>
            <a:r>
              <a:rPr lang="en-GB" sz="1400" kern="0" dirty="0">
                <a:solidFill>
                  <a:srgbClr val="000000"/>
                </a:solidFill>
                <a:latin typeface="Tahoma"/>
              </a:rPr>
              <a:t>Hailstone </a:t>
            </a:r>
            <a:r>
              <a:rPr lang="el-GR" sz="1400" kern="0" dirty="0">
                <a:solidFill>
                  <a:srgbClr val="000000"/>
                </a:solidFill>
                <a:latin typeface="Tahoma"/>
              </a:rPr>
              <a:t>ακολουθία</a:t>
            </a:r>
          </a:p>
        </p:txBody>
      </p:sp>
      <p:sp>
        <p:nvSpPr>
          <p:cNvPr id="16" name="Rectangle 3">
            <a:extLst>
              <a:ext uri="{FF2B5EF4-FFF2-40B4-BE49-F238E27FC236}">
                <a16:creationId xmlns:a16="http://schemas.microsoft.com/office/drawing/2014/main" id="{EBEF0317-480D-5730-6204-E2DEEF0EE9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6799" y="3523081"/>
            <a:ext cx="3987887" cy="1363026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Clr>
                <a:srgbClr val="3333CC"/>
              </a:buClr>
              <a:buFont typeface="Wingdings" panose="05000000000000000000" pitchFamily="2" charset="2"/>
              <a:buNone/>
            </a:pPr>
            <a:r>
              <a:rPr lang="el-GR" sz="1400" kern="0" dirty="0">
                <a:solidFill>
                  <a:srgbClr val="000000"/>
                </a:solidFill>
                <a:latin typeface="Tahoma"/>
              </a:rPr>
              <a:t>Ζήτα ακέραιο αριθμό</a:t>
            </a:r>
            <a:endParaRPr lang="en-GB" sz="1400" kern="0" dirty="0">
              <a:solidFill>
                <a:srgbClr val="000000"/>
              </a:solidFill>
              <a:latin typeface="Tahoma"/>
            </a:endParaRPr>
          </a:p>
          <a:p>
            <a:pPr marL="0" indent="0">
              <a:buClr>
                <a:srgbClr val="3333CC"/>
              </a:buClr>
              <a:buFont typeface="Wingdings" panose="05000000000000000000" pitchFamily="2" charset="2"/>
              <a:buNone/>
            </a:pPr>
            <a:r>
              <a:rPr lang="el-GR" sz="1400" kern="0" dirty="0">
                <a:solidFill>
                  <a:srgbClr val="000000"/>
                </a:solidFill>
                <a:latin typeface="Tahoma"/>
              </a:rPr>
              <a:t>Πάρε τον αριθμό</a:t>
            </a:r>
            <a:endParaRPr lang="en-GB" sz="1400" kern="0" dirty="0">
              <a:solidFill>
                <a:srgbClr val="000000"/>
              </a:solidFill>
              <a:latin typeface="Tahoma"/>
            </a:endParaRPr>
          </a:p>
          <a:p>
            <a:pPr marL="0" indent="0">
              <a:buClr>
                <a:srgbClr val="3333CC"/>
              </a:buClr>
              <a:buFont typeface="Wingdings" panose="05000000000000000000" pitchFamily="2" charset="2"/>
              <a:buNone/>
            </a:pPr>
            <a:r>
              <a:rPr lang="el-GR" sz="1400" kern="0" dirty="0">
                <a:solidFill>
                  <a:srgbClr val="000000"/>
                </a:solidFill>
                <a:latin typeface="Tahoma"/>
              </a:rPr>
              <a:t>Επανέλαβε όσο ο αριθμός είναι διάφορος του 1</a:t>
            </a:r>
            <a:endParaRPr lang="en-GB" sz="1400" kern="0" dirty="0">
              <a:solidFill>
                <a:srgbClr val="000000"/>
              </a:solidFill>
              <a:latin typeface="Tahoma"/>
            </a:endParaRPr>
          </a:p>
          <a:p>
            <a:pPr marL="457200" lvl="1" indent="0">
              <a:buClr>
                <a:srgbClr val="FF0000"/>
              </a:buClr>
              <a:buFont typeface="Wingdings" panose="05000000000000000000" pitchFamily="2" charset="2"/>
              <a:buNone/>
            </a:pPr>
            <a:r>
              <a:rPr lang="el-GR" sz="1400" kern="0" dirty="0" err="1">
                <a:solidFill>
                  <a:srgbClr val="000000"/>
                </a:solidFill>
                <a:latin typeface="Tahoma"/>
              </a:rPr>
              <a:t>Υπολόγησε</a:t>
            </a:r>
            <a:r>
              <a:rPr lang="el-GR" sz="1400" kern="0" dirty="0">
                <a:solidFill>
                  <a:srgbClr val="000000"/>
                </a:solidFill>
                <a:latin typeface="Tahoma"/>
              </a:rPr>
              <a:t> επόμενο όρο ακολουθίας</a:t>
            </a:r>
          </a:p>
          <a:p>
            <a:pPr marL="457200" lvl="1" indent="0">
              <a:buClr>
                <a:srgbClr val="FF0000"/>
              </a:buClr>
              <a:buFont typeface="Wingdings" panose="05000000000000000000" pitchFamily="2" charset="2"/>
              <a:buNone/>
            </a:pPr>
            <a:r>
              <a:rPr lang="el-GR" sz="1400" kern="0" dirty="0">
                <a:solidFill>
                  <a:srgbClr val="000000"/>
                </a:solidFill>
                <a:latin typeface="Tahoma"/>
              </a:rPr>
              <a:t>Εμφάνισε τον όρο</a:t>
            </a:r>
          </a:p>
          <a:p>
            <a:pPr marL="457200" lvl="1" indent="0">
              <a:buClr>
                <a:srgbClr val="FF0000"/>
              </a:buClr>
              <a:buFont typeface="Wingdings" panose="05000000000000000000" pitchFamily="2" charset="2"/>
              <a:buNone/>
            </a:pPr>
            <a:endParaRPr lang="en-GB" sz="1400" kern="0" dirty="0">
              <a:solidFill>
                <a:srgbClr val="000000"/>
              </a:solidFill>
              <a:latin typeface="Tahoma"/>
            </a:endParaRP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015E6992-D574-35D2-C626-9BFAD4FB4882}"/>
              </a:ext>
            </a:extLst>
          </p:cNvPr>
          <p:cNvSpPr/>
          <p:nvPr/>
        </p:nvSpPr>
        <p:spPr bwMode="auto">
          <a:xfrm>
            <a:off x="4325757" y="5737077"/>
            <a:ext cx="1375478" cy="187638"/>
          </a:xfrm>
          <a:prstGeom prst="rightArrow">
            <a:avLst/>
          </a:prstGeom>
          <a:solidFill>
            <a:srgbClr val="00E4A8"/>
          </a:solidFill>
          <a:ln w="9525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8026F1F-237B-7199-4349-25D235E44B00}"/>
              </a:ext>
            </a:extLst>
          </p:cNvPr>
          <p:cNvSpPr txBox="1"/>
          <p:nvPr/>
        </p:nvSpPr>
        <p:spPr>
          <a:xfrm>
            <a:off x="6081867" y="5638173"/>
            <a:ext cx="51844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2400" b="1" dirty="0" err="1">
                <a:solidFill>
                  <a:srgbClr val="000000"/>
                </a:solidFill>
                <a:latin typeface="Tahoma" panose="020B0604030504040204" pitchFamily="34" charset="0"/>
              </a:rPr>
              <a:t>displayHailstoneSequence</a:t>
            </a:r>
            <a:r>
              <a:rPr lang="en-GB" sz="2400" dirty="0">
                <a:solidFill>
                  <a:srgbClr val="000000"/>
                </a:solidFill>
                <a:latin typeface="Tahoma" panose="020B0604030504040204" pitchFamily="34" charset="0"/>
              </a:rPr>
              <a:t>(</a:t>
            </a:r>
            <a:r>
              <a:rPr lang="en-GB" sz="2400" dirty="0" err="1">
                <a:solidFill>
                  <a:srgbClr val="000000"/>
                </a:solidFill>
                <a:latin typeface="Tahoma" panose="020B0604030504040204" pitchFamily="34" charset="0"/>
              </a:rPr>
              <a:t>num</a:t>
            </a:r>
            <a:r>
              <a:rPr lang="en-GB" sz="2400" dirty="0">
                <a:solidFill>
                  <a:srgbClr val="000000"/>
                </a:solidFill>
                <a:latin typeface="Tahoma" panose="020B0604030504040204" pitchFamily="34" charset="0"/>
              </a:rPr>
              <a:t>);</a:t>
            </a:r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D97A0113-F88A-E356-982F-47FB0768E9BA}"/>
              </a:ext>
            </a:extLst>
          </p:cNvPr>
          <p:cNvSpPr/>
          <p:nvPr/>
        </p:nvSpPr>
        <p:spPr bwMode="auto">
          <a:xfrm>
            <a:off x="4778375" y="4318290"/>
            <a:ext cx="1303491" cy="187638"/>
          </a:xfrm>
          <a:prstGeom prst="rightArrow">
            <a:avLst/>
          </a:prstGeom>
          <a:solidFill>
            <a:srgbClr val="00E4A8"/>
          </a:solidFill>
          <a:ln w="9525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598198F-6156-2A67-AD71-4D8844E0EF0E}"/>
              </a:ext>
            </a:extLst>
          </p:cNvPr>
          <p:cNvSpPr txBox="1"/>
          <p:nvPr/>
        </p:nvSpPr>
        <p:spPr>
          <a:xfrm>
            <a:off x="6399773" y="3607092"/>
            <a:ext cx="4972836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2400" dirty="0">
                <a:solidFill>
                  <a:srgbClr val="000000"/>
                </a:solidFill>
                <a:latin typeface="Tahoma" panose="020B0604030504040204" pitchFamily="34" charset="0"/>
              </a:rPr>
              <a:t>while(</a:t>
            </a:r>
            <a:r>
              <a:rPr lang="en-GB" sz="2400" dirty="0" err="1">
                <a:solidFill>
                  <a:srgbClr val="000000"/>
                </a:solidFill>
                <a:latin typeface="Tahoma" panose="020B0604030504040204" pitchFamily="34" charset="0"/>
              </a:rPr>
              <a:t>num</a:t>
            </a:r>
            <a:r>
              <a:rPr lang="en-GB" sz="2400" dirty="0">
                <a:solidFill>
                  <a:srgbClr val="000000"/>
                </a:solidFill>
                <a:latin typeface="Tahoma" panose="020B0604030504040204" pitchFamily="34" charset="0"/>
              </a:rPr>
              <a:t>!=1){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2400" dirty="0">
                <a:solidFill>
                  <a:srgbClr val="000000"/>
                </a:solidFill>
                <a:latin typeface="Tahoma" panose="020B0604030504040204" pitchFamily="34" charset="0"/>
              </a:rPr>
              <a:t>	</a:t>
            </a:r>
            <a:r>
              <a:rPr lang="en-GB" sz="2400" dirty="0" err="1">
                <a:solidFill>
                  <a:srgbClr val="000000"/>
                </a:solidFill>
                <a:latin typeface="Tahoma" panose="020B0604030504040204" pitchFamily="34" charset="0"/>
              </a:rPr>
              <a:t>num</a:t>
            </a:r>
            <a:r>
              <a:rPr lang="en-GB" sz="2400" dirty="0">
                <a:solidFill>
                  <a:srgbClr val="000000"/>
                </a:solidFill>
                <a:latin typeface="Tahoma" panose="020B0604030504040204" pitchFamily="34" charset="0"/>
              </a:rPr>
              <a:t>=</a:t>
            </a:r>
            <a:r>
              <a:rPr lang="en-GB" sz="2400" b="1" dirty="0" err="1">
                <a:solidFill>
                  <a:srgbClr val="000000"/>
                </a:solidFill>
                <a:latin typeface="Tahoma" panose="020B0604030504040204" pitchFamily="34" charset="0"/>
              </a:rPr>
              <a:t>HSNextTerm</a:t>
            </a:r>
            <a:r>
              <a:rPr lang="en-GB" sz="2400" b="1" dirty="0">
                <a:solidFill>
                  <a:srgbClr val="000000"/>
                </a:solidFill>
                <a:latin typeface="Tahoma" panose="020B0604030504040204" pitchFamily="34" charset="0"/>
              </a:rPr>
              <a:t>(</a:t>
            </a:r>
            <a:r>
              <a:rPr lang="en-GB" sz="2400" b="1" dirty="0" err="1">
                <a:solidFill>
                  <a:srgbClr val="000000"/>
                </a:solidFill>
                <a:latin typeface="Tahoma" panose="020B0604030504040204" pitchFamily="34" charset="0"/>
              </a:rPr>
              <a:t>num</a:t>
            </a:r>
            <a:r>
              <a:rPr lang="en-GB" sz="2400" b="1" dirty="0">
                <a:solidFill>
                  <a:srgbClr val="000000"/>
                </a:solidFill>
                <a:latin typeface="Tahoma" panose="020B0604030504040204" pitchFamily="34" charset="0"/>
              </a:rPr>
              <a:t>)</a:t>
            </a:r>
            <a:r>
              <a:rPr lang="en-GB" sz="2400" dirty="0">
                <a:solidFill>
                  <a:srgbClr val="000000"/>
                </a:solidFill>
                <a:latin typeface="Tahoma" panose="020B0604030504040204" pitchFamily="34" charset="0"/>
              </a:rPr>
              <a:t>;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2400" dirty="0">
                <a:solidFill>
                  <a:srgbClr val="000000"/>
                </a:solidFill>
                <a:latin typeface="Tahoma" panose="020B0604030504040204" pitchFamily="34" charset="0"/>
              </a:rPr>
              <a:t>	</a:t>
            </a:r>
            <a:r>
              <a:rPr lang="en-GB" sz="2400" dirty="0" err="1">
                <a:solidFill>
                  <a:srgbClr val="000000"/>
                </a:solidFill>
                <a:latin typeface="Tahoma" panose="020B0604030504040204" pitchFamily="34" charset="0"/>
              </a:rPr>
              <a:t>printf</a:t>
            </a:r>
            <a:r>
              <a:rPr lang="en-GB" sz="2400" dirty="0">
                <a:solidFill>
                  <a:srgbClr val="000000"/>
                </a:solidFill>
                <a:latin typeface="Tahoma" panose="020B0604030504040204" pitchFamily="34" charset="0"/>
              </a:rPr>
              <a:t>(“%d\n”,</a:t>
            </a:r>
            <a:r>
              <a:rPr lang="en-GB" sz="2400" dirty="0" err="1">
                <a:solidFill>
                  <a:srgbClr val="000000"/>
                </a:solidFill>
                <a:latin typeface="Tahoma" panose="020B0604030504040204" pitchFamily="34" charset="0"/>
              </a:rPr>
              <a:t>num</a:t>
            </a:r>
            <a:r>
              <a:rPr lang="en-GB" sz="2400" dirty="0">
                <a:solidFill>
                  <a:srgbClr val="000000"/>
                </a:solidFill>
                <a:latin typeface="Tahoma" panose="020B0604030504040204" pitchFamily="34" charset="0"/>
              </a:rPr>
              <a:t>);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2400" dirty="0">
                <a:solidFill>
                  <a:srgbClr val="000000"/>
                </a:solidFill>
                <a:latin typeface="Tahoma" panose="020B0604030504040204" pitchFamily="34" charset="0"/>
              </a:rPr>
              <a:t>}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BF875BA-BD7B-5E3E-A093-B563BBE1B440}"/>
              </a:ext>
            </a:extLst>
          </p:cNvPr>
          <p:cNvSpPr txBox="1"/>
          <p:nvPr/>
        </p:nvSpPr>
        <p:spPr>
          <a:xfrm>
            <a:off x="4248052" y="3801562"/>
            <a:ext cx="28803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6600" dirty="0">
                <a:solidFill>
                  <a:srgbClr val="000000"/>
                </a:solidFill>
                <a:latin typeface="Tahoma" panose="020B0604030504040204" pitchFamily="34" charset="0"/>
              </a:rPr>
              <a:t>}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225D477E-9FD5-7796-1D88-1CCA8692AA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3020" y="875665"/>
            <a:ext cx="3564089" cy="2660861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C7ECCF0C-C496-C3F1-E54A-4A0E51389151}"/>
              </a:ext>
            </a:extLst>
          </p:cNvPr>
          <p:cNvSpPr txBox="1"/>
          <p:nvPr/>
        </p:nvSpPr>
        <p:spPr>
          <a:xfrm>
            <a:off x="4789681" y="1204776"/>
            <a:ext cx="288032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13800" dirty="0">
                <a:solidFill>
                  <a:srgbClr val="000000"/>
                </a:solidFill>
                <a:latin typeface="Tahoma" panose="020B0604030504040204" pitchFamily="34" charset="0"/>
              </a:rPr>
              <a:t>}</a:t>
            </a:r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43941BF7-C92C-A0AE-C1B8-59934DB5FA3B}"/>
              </a:ext>
            </a:extLst>
          </p:cNvPr>
          <p:cNvSpPr/>
          <p:nvPr/>
        </p:nvSpPr>
        <p:spPr bwMode="auto">
          <a:xfrm>
            <a:off x="5763961" y="2394213"/>
            <a:ext cx="978074" cy="197922"/>
          </a:xfrm>
          <a:prstGeom prst="rightArrow">
            <a:avLst/>
          </a:prstGeom>
          <a:solidFill>
            <a:srgbClr val="00E4A8"/>
          </a:solidFill>
          <a:ln w="9525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BCD165E0-8CC1-E010-0589-C62846CBA073}"/>
              </a:ext>
            </a:extLst>
          </p:cNvPr>
          <p:cNvSpPr/>
          <p:nvPr/>
        </p:nvSpPr>
        <p:spPr bwMode="auto">
          <a:xfrm>
            <a:off x="5209439" y="1141691"/>
            <a:ext cx="491796" cy="478615"/>
          </a:xfrm>
          <a:prstGeom prst="ellipse">
            <a:avLst/>
          </a:prstGeom>
          <a:solidFill>
            <a:srgbClr val="FFFFFF"/>
          </a:solidFill>
          <a:ln w="571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itchFamily="34" charset="0"/>
              </a:rPr>
              <a:t>1</a:t>
            </a:r>
            <a:endParaRPr kumimoji="0" lang="en-GB" sz="20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ahoma" pitchFamily="34" charset="0"/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C65AC41D-91D7-F111-194F-8E18A329B181}"/>
              </a:ext>
            </a:extLst>
          </p:cNvPr>
          <p:cNvSpPr/>
          <p:nvPr/>
        </p:nvSpPr>
        <p:spPr bwMode="auto">
          <a:xfrm>
            <a:off x="4355975" y="3402609"/>
            <a:ext cx="491796" cy="478615"/>
          </a:xfrm>
          <a:prstGeom prst="ellipse">
            <a:avLst/>
          </a:prstGeom>
          <a:solidFill>
            <a:srgbClr val="FFFFFF"/>
          </a:solidFill>
          <a:ln w="571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itchFamily="34" charset="0"/>
              </a:rPr>
              <a:t>2</a:t>
            </a:r>
            <a:endParaRPr kumimoji="0" lang="en-GB" sz="20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ahoma" pitchFamily="34" charset="0"/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C5E5F519-E46D-0922-B5D2-12E5AAE9240F}"/>
              </a:ext>
            </a:extLst>
          </p:cNvPr>
          <p:cNvSpPr/>
          <p:nvPr/>
        </p:nvSpPr>
        <p:spPr bwMode="auto">
          <a:xfrm>
            <a:off x="2841796" y="5178502"/>
            <a:ext cx="491796" cy="478615"/>
          </a:xfrm>
          <a:prstGeom prst="ellipse">
            <a:avLst/>
          </a:prstGeom>
          <a:solidFill>
            <a:srgbClr val="FFFFFF"/>
          </a:solidFill>
          <a:ln w="571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</a:rPr>
              <a:t>3</a:t>
            </a:r>
            <a:endParaRPr kumimoji="0" lang="en-GB" sz="20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1503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uild="p" autoUpdateAnimBg="0"/>
      <p:bldP spid="15" grpId="0" build="p" autoUpdateAnimBg="0"/>
      <p:bldP spid="16" grpId="0" build="p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91D56C-EEFF-49B7-441C-49F883581B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986A2A5E-632D-BD5D-25B2-81AC80D1AB4A}"/>
              </a:ext>
            </a:extLst>
          </p:cNvPr>
          <p:cNvSpPr/>
          <p:nvPr/>
        </p:nvSpPr>
        <p:spPr>
          <a:xfrm>
            <a:off x="140669" y="6559908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48A2CD4B-68C5-DE0E-BA0C-B7180354AE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Οργάνωση Διάλεξης</a:t>
            </a: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4582A6BB-2157-F821-DD0E-ABD7D11EEB72}"/>
              </a:ext>
            </a:extLst>
          </p:cNvPr>
          <p:cNvSpPr txBox="1">
            <a:spLocks/>
          </p:cNvSpPr>
          <p:nvPr/>
        </p:nvSpPr>
        <p:spPr>
          <a:xfrm>
            <a:off x="-1" y="6599394"/>
            <a:ext cx="3840633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© 202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5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Μια Εισαγωγή στην Τέχνη του Προγραμματισμού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BCB2229-6CDB-FBFA-33F5-0DBD53849184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200" dirty="0">
                <a:latin typeface="Bahnschrift Light" panose="020B0502040204020203" pitchFamily="34" charset="0"/>
                <a:cs typeface="Arial" pitchFamily="34" charset="0"/>
              </a:rPr>
              <a:t>Διαφάνεια </a:t>
            </a:r>
            <a:fld id="{7C15C5B5-03C6-48D8-B20F-65D93A6CF09E}" type="slidenum">
              <a:rPr lang="en-US" sz="1200" smtClean="0">
                <a:latin typeface="Bahnschrift Light" panose="020B0502040204020203" pitchFamily="34" charset="0"/>
                <a:cs typeface="Arial" pitchFamily="34" charset="0"/>
              </a:rPr>
              <a:pPr algn="r"/>
              <a:t>23</a:t>
            </a:fld>
            <a:endParaRPr lang="en-US" sz="1200" dirty="0">
              <a:latin typeface="Bahnschrift Light" panose="020B0502040204020203" pitchFamily="34" charset="0"/>
              <a:cs typeface="Arial" pitchFamily="34" charset="0"/>
            </a:endParaRPr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146DCF28-800A-4E2F-6C73-8FDA30FFB48E}"/>
              </a:ext>
            </a:extLst>
          </p:cNvPr>
          <p:cNvSpPr txBox="1">
            <a:spLocks/>
          </p:cNvSpPr>
          <p:nvPr/>
        </p:nvSpPr>
        <p:spPr>
          <a:xfrm>
            <a:off x="4149680" y="6670790"/>
            <a:ext cx="4631713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Control flow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 – 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Arrays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 - 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Type conversions</a:t>
            </a:r>
          </a:p>
          <a:p>
            <a:endParaRPr lang="el-GR" sz="11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D4841AF-2CDF-2782-4478-0FE98DF9793B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0"/>
            <a:ext cx="9144000" cy="908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0033CC"/>
              </a:solidFill>
              <a:latin typeface="Times New Roman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C62307A-F9AD-DD25-0D7E-B5FEE2463F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449" y="914699"/>
            <a:ext cx="112071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el-GR" altLang="el-GR" b="1" dirty="0">
                <a:solidFill>
                  <a:srgbClr val="F9853D"/>
                </a:solidFill>
                <a:latin typeface="Bahnschrift" panose="020B0502040204020203" pitchFamily="34" charset="0"/>
              </a:rPr>
              <a:t>Δραστηριότητα 5-1   </a:t>
            </a:r>
            <a:r>
              <a:rPr lang="en-GB" altLang="el-GR" b="1" dirty="0" err="1">
                <a:solidFill>
                  <a:srgbClr val="F9853D"/>
                </a:solidFill>
                <a:latin typeface="Bahnschrift" panose="020B0502040204020203" pitchFamily="34" charset="0"/>
              </a:rPr>
              <a:t>HailstoneSequence</a:t>
            </a:r>
            <a:endParaRPr lang="el-GR" altLang="el-GR" b="1" dirty="0">
              <a:solidFill>
                <a:srgbClr val="F9853D"/>
              </a:solidFill>
              <a:latin typeface="Bahnschrift" panose="020B0502040204020203" pitchFamily="34" charset="0"/>
            </a:endParaRPr>
          </a:p>
          <a:p>
            <a:pPr lvl="1" eaLnBrk="1" hangingPunct="1">
              <a:lnSpc>
                <a:spcPct val="80000"/>
              </a:lnSpc>
            </a:pPr>
            <a:r>
              <a:rPr lang="el-GR" altLang="el-GR" kern="0" dirty="0">
                <a:latin typeface="Times New Roman" panose="02020603050405020304" pitchFamily="18" charset="0"/>
              </a:rPr>
              <a:t>προτάσεις ελέγχου της ροής</a:t>
            </a:r>
            <a:r>
              <a:rPr lang="en-US" altLang="el-GR" kern="0" dirty="0">
                <a:latin typeface="Times New Roman" panose="02020603050405020304" pitchFamily="18" charset="0"/>
              </a:rPr>
              <a:t>, </a:t>
            </a:r>
            <a:r>
              <a:rPr lang="el-GR" altLang="el-GR" kern="0" dirty="0">
                <a:latin typeface="Times New Roman" panose="02020603050405020304" pitchFamily="18" charset="0"/>
              </a:rPr>
              <a:t>οι προτάσεις </a:t>
            </a:r>
            <a:r>
              <a:rPr lang="en-US" altLang="el-GR" kern="0" dirty="0">
                <a:latin typeface="Times New Roman" panose="02020603050405020304" pitchFamily="18" charset="0"/>
              </a:rPr>
              <a:t>if </a:t>
            </a:r>
            <a:r>
              <a:rPr lang="el-GR" altLang="el-GR" kern="0" dirty="0">
                <a:latin typeface="Times New Roman" panose="02020603050405020304" pitchFamily="18" charset="0"/>
              </a:rPr>
              <a:t>και </a:t>
            </a:r>
            <a:r>
              <a:rPr lang="en-US" altLang="el-GR" kern="0" dirty="0">
                <a:latin typeface="Times New Roman" panose="02020603050405020304" pitchFamily="18" charset="0"/>
              </a:rPr>
              <a:t>while</a:t>
            </a:r>
            <a:r>
              <a:rPr lang="el-GR" altLang="el-GR" kern="0" dirty="0">
                <a:latin typeface="Times New Roman" panose="02020603050405020304" pitchFamily="18" charset="0"/>
              </a:rPr>
              <a:t> </a:t>
            </a:r>
          </a:p>
          <a:p>
            <a:pPr lvl="1" eaLnBrk="1" hangingPunct="1">
              <a:lnSpc>
                <a:spcPct val="80000"/>
              </a:lnSpc>
            </a:pPr>
            <a:r>
              <a:rPr lang="el-GR" altLang="el-GR" kern="0" dirty="0">
                <a:latin typeface="Times New Roman" panose="02020603050405020304" pitchFamily="18" charset="0"/>
              </a:rPr>
              <a:t>γραφική αναπαράσταση διεργασίας</a:t>
            </a:r>
          </a:p>
          <a:p>
            <a:pPr eaLnBrk="1" hangingPunct="1">
              <a:lnSpc>
                <a:spcPct val="80000"/>
              </a:lnSpc>
            </a:pPr>
            <a:r>
              <a:rPr lang="el-GR" altLang="el-GR" b="1" dirty="0">
                <a:solidFill>
                  <a:srgbClr val="C00000"/>
                </a:solidFill>
                <a:latin typeface="Bahnschrift" panose="020B0502040204020203" pitchFamily="34" charset="0"/>
              </a:rPr>
              <a:t>Δραστηριότητα 5-2   </a:t>
            </a:r>
            <a:r>
              <a:rPr lang="en-GB" altLang="el-GR" b="1" dirty="0" err="1">
                <a:solidFill>
                  <a:srgbClr val="C00000"/>
                </a:solidFill>
                <a:latin typeface="Bahnschrift" panose="020B0502040204020203" pitchFamily="34" charset="0"/>
              </a:rPr>
              <a:t>FibonacciSequence</a:t>
            </a:r>
            <a:endParaRPr lang="el-GR" altLang="el-GR" b="1" dirty="0">
              <a:solidFill>
                <a:srgbClr val="C00000"/>
              </a:solidFill>
              <a:latin typeface="Bahnschrift" panose="020B0502040204020203" pitchFamily="34" charset="0"/>
            </a:endParaRPr>
          </a:p>
          <a:p>
            <a:pPr lvl="1" eaLnBrk="1" hangingPunct="1">
              <a:lnSpc>
                <a:spcPct val="80000"/>
              </a:lnSpc>
            </a:pPr>
            <a:r>
              <a:rPr lang="el-GR" altLang="el-GR" kern="0" dirty="0">
                <a:latin typeface="Times New Roman" panose="02020603050405020304" pitchFamily="18" charset="0"/>
              </a:rPr>
              <a:t>πρόταση επανάληψης for  </a:t>
            </a:r>
          </a:p>
          <a:p>
            <a:pPr lvl="1" eaLnBrk="1" hangingPunct="1">
              <a:lnSpc>
                <a:spcPct val="80000"/>
              </a:lnSpc>
            </a:pPr>
            <a:r>
              <a:rPr lang="el-GR" altLang="el-GR" kern="0" dirty="0">
                <a:latin typeface="Times New Roman" panose="02020603050405020304" pitchFamily="18" charset="0"/>
              </a:rPr>
              <a:t>τύπος του πίνακα (</a:t>
            </a:r>
            <a:r>
              <a:rPr lang="el-GR" altLang="el-GR" kern="0" dirty="0" err="1">
                <a:latin typeface="Times New Roman" panose="02020603050405020304" pitchFamily="18" charset="0"/>
              </a:rPr>
              <a:t>array</a:t>
            </a:r>
            <a:r>
              <a:rPr lang="el-GR" altLang="el-GR" kern="0" dirty="0">
                <a:latin typeface="Times New Roman" panose="02020603050405020304" pitchFamily="18" charset="0"/>
              </a:rPr>
              <a:t>). </a:t>
            </a:r>
          </a:p>
          <a:p>
            <a:pPr eaLnBrk="1" hangingPunct="1">
              <a:lnSpc>
                <a:spcPct val="80000"/>
              </a:lnSpc>
            </a:pPr>
            <a:r>
              <a:rPr lang="el-GR" altLang="el-GR" b="1" dirty="0">
                <a:solidFill>
                  <a:srgbClr val="F9853D"/>
                </a:solidFill>
                <a:latin typeface="Bahnschrift" panose="020B0502040204020203" pitchFamily="34" charset="0"/>
              </a:rPr>
              <a:t>Δραστηριότητα 5-3   </a:t>
            </a:r>
            <a:r>
              <a:rPr lang="en-GB" altLang="el-GR" b="1" dirty="0">
                <a:solidFill>
                  <a:srgbClr val="F9853D"/>
                </a:solidFill>
                <a:latin typeface="Bahnschrift" panose="020B0502040204020203" pitchFamily="34" charset="0"/>
              </a:rPr>
              <a:t>Average</a:t>
            </a:r>
            <a:endParaRPr lang="el-GR" altLang="el-GR" b="1" dirty="0">
              <a:solidFill>
                <a:srgbClr val="F9853D"/>
              </a:solidFill>
              <a:latin typeface="Bahnschrift" panose="020B0502040204020203" pitchFamily="34" charset="0"/>
            </a:endParaRPr>
          </a:p>
          <a:p>
            <a:pPr lvl="1" eaLnBrk="1" hangingPunct="1">
              <a:lnSpc>
                <a:spcPct val="80000"/>
              </a:lnSpc>
            </a:pPr>
            <a:r>
              <a:rPr lang="el-GR" altLang="el-GR" kern="0" dirty="0">
                <a:latin typeface="Times New Roman" panose="02020603050405020304" pitchFamily="18" charset="0"/>
              </a:rPr>
              <a:t>Ο τύπος </a:t>
            </a:r>
            <a:r>
              <a:rPr lang="en-US" altLang="el-GR" kern="0" dirty="0">
                <a:latin typeface="Times New Roman" panose="02020603050405020304" pitchFamily="18" charset="0"/>
              </a:rPr>
              <a:t>f</a:t>
            </a:r>
            <a:r>
              <a:rPr lang="el-GR" altLang="el-GR" kern="0" dirty="0" err="1">
                <a:latin typeface="Times New Roman" panose="02020603050405020304" pitchFamily="18" charset="0"/>
              </a:rPr>
              <a:t>oat</a:t>
            </a:r>
            <a:r>
              <a:rPr lang="en-US" altLang="el-GR" kern="0" dirty="0">
                <a:latin typeface="Times New Roman" panose="02020603050405020304" pitchFamily="18" charset="0"/>
              </a:rPr>
              <a:t>, </a:t>
            </a:r>
            <a:r>
              <a:rPr lang="el-GR" altLang="el-GR" kern="0" dirty="0">
                <a:latin typeface="Times New Roman" panose="02020603050405020304" pitchFamily="18" charset="0"/>
              </a:rPr>
              <a:t>μετατροπή τύπων</a:t>
            </a:r>
            <a:r>
              <a:rPr lang="en-US" altLang="el-GR" kern="0" dirty="0">
                <a:latin typeface="Times New Roman" panose="02020603050405020304" pitchFamily="18" charset="0"/>
              </a:rPr>
              <a:t>, </a:t>
            </a:r>
            <a:r>
              <a:rPr lang="el-GR" altLang="el-GR" kern="0" dirty="0">
                <a:latin typeface="Times New Roman" panose="02020603050405020304" pitchFamily="18" charset="0"/>
              </a:rPr>
              <a:t>έλεγχος τύπων (</a:t>
            </a:r>
            <a:r>
              <a:rPr lang="el-GR" altLang="el-GR" kern="0" dirty="0" err="1">
                <a:latin typeface="Times New Roman" panose="02020603050405020304" pitchFamily="18" charset="0"/>
              </a:rPr>
              <a:t>type</a:t>
            </a:r>
            <a:r>
              <a:rPr lang="el-GR" altLang="el-GR" kern="0" dirty="0">
                <a:latin typeface="Times New Roman" panose="02020603050405020304" pitchFamily="18" charset="0"/>
              </a:rPr>
              <a:t> </a:t>
            </a:r>
            <a:r>
              <a:rPr lang="el-GR" altLang="el-GR" kern="0" dirty="0" err="1">
                <a:latin typeface="Times New Roman" panose="02020603050405020304" pitchFamily="18" charset="0"/>
              </a:rPr>
              <a:t>checking</a:t>
            </a:r>
            <a:r>
              <a:rPr lang="el-GR" altLang="el-GR" kern="0" dirty="0">
                <a:latin typeface="Times New Roman" panose="02020603050405020304" pitchFamily="18" charset="0"/>
              </a:rPr>
              <a:t>) </a:t>
            </a:r>
          </a:p>
          <a:p>
            <a:pPr lvl="1" eaLnBrk="1" hangingPunct="1">
              <a:lnSpc>
                <a:spcPct val="80000"/>
              </a:lnSpc>
            </a:pPr>
            <a:r>
              <a:rPr lang="el-GR" altLang="el-GR" kern="0" dirty="0">
                <a:latin typeface="Times New Roman" panose="02020603050405020304" pitchFamily="18" charset="0"/>
              </a:rPr>
              <a:t>συνάρτηση </a:t>
            </a:r>
            <a:r>
              <a:rPr lang="el-GR" altLang="el-GR" kern="0" dirty="0" err="1">
                <a:latin typeface="Times New Roman" panose="02020603050405020304" pitchFamily="18" charset="0"/>
              </a:rPr>
              <a:t>printf</a:t>
            </a:r>
            <a:r>
              <a:rPr lang="el-GR" altLang="el-GR" kern="0" dirty="0">
                <a:latin typeface="Times New Roman" panose="02020603050405020304" pitchFamily="18" charset="0"/>
              </a:rPr>
              <a:t>, πέρασμα πίνακα ως όρισμα σε συνάρτηση</a:t>
            </a:r>
            <a:endParaRPr lang="el-GR" altLang="el-GR" b="1" dirty="0">
              <a:solidFill>
                <a:srgbClr val="F9853D"/>
              </a:solidFill>
              <a:latin typeface="Bahnschrift" panose="020B0502040204020203" pitchFamily="34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el-GR" altLang="el-GR" b="1" dirty="0">
                <a:solidFill>
                  <a:srgbClr val="F9853D"/>
                </a:solidFill>
                <a:latin typeface="Bahnschrift" panose="020B0502040204020203" pitchFamily="34" charset="0"/>
              </a:rPr>
              <a:t>Ο </a:t>
            </a:r>
            <a:r>
              <a:rPr lang="en-GB" altLang="el-GR" b="1" dirty="0">
                <a:solidFill>
                  <a:srgbClr val="F9853D"/>
                </a:solidFill>
                <a:latin typeface="Bahnschrift" panose="020B0502040204020203" pitchFamily="34" charset="0"/>
              </a:rPr>
              <a:t>Alex, </a:t>
            </a:r>
            <a:r>
              <a:rPr lang="el-GR" altLang="el-GR" b="1" dirty="0">
                <a:solidFill>
                  <a:srgbClr val="F9853D"/>
                </a:solidFill>
                <a:latin typeface="Bahnschrift" panose="020B0502040204020203" pitchFamily="34" charset="0"/>
              </a:rPr>
              <a:t>το </a:t>
            </a:r>
            <a:r>
              <a:rPr lang="en-GB" altLang="el-GR" b="1" dirty="0">
                <a:solidFill>
                  <a:srgbClr val="F9853D"/>
                </a:solidFill>
                <a:latin typeface="Bahnschrift" panose="020B0502040204020203" pitchFamily="34" charset="0"/>
              </a:rPr>
              <a:t>AI Chatbot </a:t>
            </a:r>
            <a:r>
              <a:rPr lang="el-GR" altLang="el-GR" b="1" dirty="0">
                <a:solidFill>
                  <a:srgbClr val="F9853D"/>
                </a:solidFill>
                <a:latin typeface="Bahnschrift" panose="020B0502040204020203" pitchFamily="34" charset="0"/>
              </a:rPr>
              <a:t>και η </a:t>
            </a:r>
            <a:r>
              <a:rPr lang="en-GB" altLang="el-GR" b="1" dirty="0" err="1">
                <a:solidFill>
                  <a:srgbClr val="F9853D"/>
                </a:solidFill>
                <a:latin typeface="Bahnschrift" panose="020B0502040204020203" pitchFamily="34" charset="0"/>
              </a:rPr>
              <a:t>HailstoneSequence</a:t>
            </a:r>
            <a:endParaRPr lang="el-GR" altLang="el-GR" b="1" dirty="0">
              <a:solidFill>
                <a:srgbClr val="F9853D"/>
              </a:solidFill>
              <a:latin typeface="Bahnschrift" panose="020B0502040204020203" pitchFamily="34" charset="0"/>
            </a:endParaRPr>
          </a:p>
          <a:p>
            <a:pPr lvl="1" eaLnBrk="1" hangingPunct="1">
              <a:lnSpc>
                <a:spcPct val="80000"/>
              </a:lnSpc>
            </a:pPr>
            <a:r>
              <a:rPr lang="el-GR" altLang="el-GR" kern="0" dirty="0">
                <a:latin typeface="Times New Roman" panose="02020603050405020304" pitchFamily="18" charset="0"/>
              </a:rPr>
              <a:t>Λεκτική Περιγραφή, </a:t>
            </a:r>
            <a:r>
              <a:rPr lang="en-US" altLang="el-GR" kern="0" dirty="0">
                <a:latin typeface="Times New Roman" panose="02020603050405020304" pitchFamily="18" charset="0"/>
              </a:rPr>
              <a:t>Structured English, Program Design Language</a:t>
            </a:r>
            <a:endParaRPr lang="el-GR" altLang="el-GR" kern="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el-GR" b="1" dirty="0">
                <a:solidFill>
                  <a:srgbClr val="F9853D"/>
                </a:solidFill>
                <a:latin typeface="Bahnschrift" panose="020B0502040204020203" pitchFamily="34" charset="0"/>
              </a:rPr>
              <a:t>Δραστηριότητα </a:t>
            </a:r>
            <a:r>
              <a:rPr lang="en-US" b="1" dirty="0">
                <a:solidFill>
                  <a:srgbClr val="F9853D"/>
                </a:solidFill>
                <a:latin typeface="Bahnschrift" panose="020B0502040204020203" pitchFamily="34" charset="0"/>
              </a:rPr>
              <a:t>5</a:t>
            </a:r>
            <a:r>
              <a:rPr lang="el-GR" b="1" dirty="0">
                <a:solidFill>
                  <a:srgbClr val="F9853D"/>
                </a:solidFill>
                <a:latin typeface="Bahnschrift" panose="020B0502040204020203" pitchFamily="34" charset="0"/>
              </a:rPr>
              <a:t>-</a:t>
            </a:r>
            <a:r>
              <a:rPr lang="en-US" b="1" dirty="0">
                <a:solidFill>
                  <a:srgbClr val="F9853D"/>
                </a:solidFill>
                <a:latin typeface="Bahnschrift" panose="020B0502040204020203" pitchFamily="34" charset="0"/>
              </a:rPr>
              <a:t>4</a:t>
            </a:r>
            <a:r>
              <a:rPr lang="el-GR" b="1" dirty="0">
                <a:solidFill>
                  <a:srgbClr val="F9853D"/>
                </a:solidFill>
                <a:latin typeface="Bahnschrift" panose="020B0502040204020203" pitchFamily="34" charset="0"/>
              </a:rPr>
              <a:t>   </a:t>
            </a:r>
            <a:r>
              <a:rPr lang="en-US" b="1" dirty="0">
                <a:solidFill>
                  <a:srgbClr val="F9853D"/>
                </a:solidFill>
                <a:latin typeface="Bahnschrift" panose="020B0502040204020203" pitchFamily="34" charset="0"/>
              </a:rPr>
              <a:t>MathFunctions</a:t>
            </a:r>
            <a:endParaRPr lang="el-GR" altLang="el-GR" kern="0" dirty="0"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80000"/>
              </a:lnSpc>
            </a:pPr>
            <a:endParaRPr lang="el-GR" altLang="el-GR" kern="0" dirty="0"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80000"/>
              </a:lnSpc>
            </a:pPr>
            <a:endParaRPr lang="el-GR" altLang="el-GR" kern="0" dirty="0"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80000"/>
              </a:lnSpc>
            </a:pPr>
            <a:endParaRPr lang="el-GR" altLang="el-GR" kern="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</a:pPr>
            <a:endParaRPr lang="el-GR" altLang="el-GR" kern="0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91702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C68C52-7CA3-C238-55D8-15DC5BEEDE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83AD1E04-CED4-3BDC-D6C7-1939DEE062B0}"/>
              </a:ext>
            </a:extLst>
          </p:cNvPr>
          <p:cNvSpPr/>
          <p:nvPr/>
        </p:nvSpPr>
        <p:spPr>
          <a:xfrm>
            <a:off x="140669" y="6559908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F3DFD9AF-CDEA-36FF-1580-B58AFB7B34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Δραστηριότητα </a:t>
            </a:r>
            <a:r>
              <a:rPr lang="en-US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5</a:t>
            </a:r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-2   </a:t>
            </a:r>
            <a:r>
              <a:rPr lang="en-US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FibonacciSequence</a:t>
            </a:r>
            <a:endParaRPr lang="el-GR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7D0D9143-53DC-2D92-6F60-93D695F2F499}"/>
              </a:ext>
            </a:extLst>
          </p:cNvPr>
          <p:cNvSpPr txBox="1">
            <a:spLocks/>
          </p:cNvSpPr>
          <p:nvPr/>
        </p:nvSpPr>
        <p:spPr>
          <a:xfrm>
            <a:off x="-1" y="6599394"/>
            <a:ext cx="3840633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© 202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5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Μια Εισαγωγή στην Τέχνη του Προγραμματισμού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14CCE4B-AAFD-EE6B-C74C-857102DDB6FF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200" dirty="0">
                <a:latin typeface="Bahnschrift Light" panose="020B0502040204020203" pitchFamily="34" charset="0"/>
                <a:cs typeface="Arial" pitchFamily="34" charset="0"/>
              </a:rPr>
              <a:t>Διαφάνεια </a:t>
            </a:r>
            <a:fld id="{7C15C5B5-03C6-48D8-B20F-65D93A6CF09E}" type="slidenum">
              <a:rPr lang="en-US" sz="1200" smtClean="0">
                <a:latin typeface="Bahnschrift Light" panose="020B0502040204020203" pitchFamily="34" charset="0"/>
                <a:cs typeface="Arial" pitchFamily="34" charset="0"/>
              </a:rPr>
              <a:pPr algn="r"/>
              <a:t>24</a:t>
            </a:fld>
            <a:endParaRPr lang="en-US" sz="1200" dirty="0">
              <a:latin typeface="Bahnschrift Light" panose="020B0502040204020203" pitchFamily="34" charset="0"/>
              <a:cs typeface="Arial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8BBE5A4-025F-F647-B9C9-57DCF6042542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0"/>
            <a:ext cx="9144000" cy="908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0033CC"/>
              </a:solidFill>
              <a:latin typeface="Times New Roman" pitchFamily="18" charset="0"/>
            </a:endParaRP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D64AC77C-B24B-1B92-2AE9-B5AA75287F05}"/>
              </a:ext>
            </a:extLst>
          </p:cNvPr>
          <p:cNvSpPr txBox="1">
            <a:spLocks/>
          </p:cNvSpPr>
          <p:nvPr/>
        </p:nvSpPr>
        <p:spPr bwMode="auto">
          <a:xfrm>
            <a:off x="-1" y="839666"/>
            <a:ext cx="12191999" cy="204302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Clr>
                <a:srgbClr val="3333CC"/>
              </a:buClr>
              <a:buNone/>
              <a:defRPr/>
            </a:pPr>
            <a:r>
              <a:rPr lang="el-GR" sz="2800" b="1" kern="0" dirty="0">
                <a:solidFill>
                  <a:srgbClr val="000000"/>
                </a:solidFill>
                <a:latin typeface="Tahoma"/>
              </a:rPr>
              <a:t>Αναθέστε στη μηχανή το έργο </a:t>
            </a:r>
            <a:r>
              <a:rPr lang="el-GR" sz="2800" kern="0" dirty="0">
                <a:solidFill>
                  <a:srgbClr val="000000"/>
                </a:solidFill>
                <a:latin typeface="Tahoma"/>
              </a:rPr>
              <a:t>της εύρεσης και εμφάνισης στην οθόνη των πρώτων n όρων της ακολουθίας </a:t>
            </a:r>
            <a:r>
              <a:rPr lang="el-GR" sz="2800" kern="0" dirty="0" err="1">
                <a:solidFill>
                  <a:srgbClr val="000000"/>
                </a:solidFill>
                <a:latin typeface="Tahoma"/>
              </a:rPr>
              <a:t>Fibonacci</a:t>
            </a:r>
            <a:r>
              <a:rPr lang="el-GR" sz="2800" kern="0" dirty="0">
                <a:solidFill>
                  <a:srgbClr val="000000"/>
                </a:solidFill>
                <a:latin typeface="Tahoma"/>
              </a:rPr>
              <a:t>, όπου n είναι ακέραιος αριθμός ο οποίος δίνεται από τον χρήστη κατά την εκτέλεση του προγράμματος.</a:t>
            </a:r>
            <a:endParaRPr lang="el-GR" sz="1600" kern="0" dirty="0">
              <a:solidFill>
                <a:srgbClr val="000000"/>
              </a:solidFill>
              <a:latin typeface="Tahoma"/>
            </a:endParaRPr>
          </a:p>
          <a:p>
            <a:pPr marL="0" indent="0">
              <a:buClr>
                <a:srgbClr val="3333CC"/>
              </a:buClr>
              <a:buNone/>
              <a:defRPr/>
            </a:pPr>
            <a:endParaRPr lang="en-US" sz="1600" kern="0" dirty="0">
              <a:solidFill>
                <a:srgbClr val="000000"/>
              </a:solidFill>
              <a:latin typeface="Tahom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D6CFE5-F464-8724-2ECE-9418218FC4A3}"/>
              </a:ext>
            </a:extLst>
          </p:cNvPr>
          <p:cNvSpPr txBox="1"/>
          <p:nvPr/>
        </p:nvSpPr>
        <p:spPr>
          <a:xfrm>
            <a:off x="140669" y="4154788"/>
            <a:ext cx="6096000" cy="1323439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l-GR" sz="3200" dirty="0"/>
              <a:t>εισαγωγή</a:t>
            </a:r>
            <a:r>
              <a:rPr lang="en-US" sz="3200" dirty="0"/>
              <a:t> </a:t>
            </a:r>
            <a:r>
              <a:rPr lang="el-GR" sz="3200" dirty="0"/>
              <a:t> </a:t>
            </a:r>
            <a:endParaRPr lang="en-US" sz="3200" dirty="0"/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l-GR" sz="2400" dirty="0"/>
              <a:t>Στην </a:t>
            </a:r>
            <a:r>
              <a:rPr lang="el-GR" sz="2400" b="1" dirty="0"/>
              <a:t>πρόταση επανάληψης </a:t>
            </a:r>
            <a:r>
              <a:rPr lang="en-US" sz="2400" b="1" dirty="0"/>
              <a:t>for. </a:t>
            </a:r>
            <a:r>
              <a:rPr lang="el-GR" sz="2400" b="1" dirty="0"/>
              <a:t> </a:t>
            </a:r>
            <a:endParaRPr lang="en-US" sz="2400" dirty="0"/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l-GR" sz="2400" dirty="0"/>
              <a:t>Στον τύπο του πίνακα (</a:t>
            </a:r>
            <a:r>
              <a:rPr lang="en-US" sz="2400" dirty="0"/>
              <a:t>array</a:t>
            </a:r>
            <a:r>
              <a:rPr lang="el-GR" sz="2400" dirty="0"/>
              <a:t>). </a:t>
            </a:r>
            <a:endParaRPr lang="en-GB" sz="240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034D889-8690-2758-8922-DC297291A858}"/>
              </a:ext>
            </a:extLst>
          </p:cNvPr>
          <p:cNvGrpSpPr/>
          <p:nvPr/>
        </p:nvGrpSpPr>
        <p:grpSpPr>
          <a:xfrm>
            <a:off x="6977834" y="3306379"/>
            <a:ext cx="4483697" cy="3249636"/>
            <a:chOff x="6063434" y="766603"/>
            <a:chExt cx="5903914" cy="4504973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AB492A22-B4CF-BAFA-D5FB-D66661242F6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311585" y="1126966"/>
              <a:ext cx="1655763" cy="39655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AutoShape 5">
              <a:extLst>
                <a:ext uri="{FF2B5EF4-FFF2-40B4-BE49-F238E27FC236}">
                  <a16:creationId xmlns:a16="http://schemas.microsoft.com/office/drawing/2014/main" id="{90CA2DDB-9891-8B6D-8614-7BA33EED9A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63434" y="766603"/>
              <a:ext cx="4032250" cy="1511300"/>
            </a:xfrm>
            <a:prstGeom prst="wedgeRoundRectCallout">
              <a:avLst>
                <a:gd name="adj1" fmla="val 58463"/>
                <a:gd name="adj2" fmla="val 75000"/>
                <a:gd name="adj3" fmla="val 16667"/>
              </a:avLst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l-GR" altLang="el-GR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</a:rPr>
                <a:t>Γράψε μας τους 13 όρους της </a:t>
              </a:r>
              <a:r>
                <a:rPr kumimoji="0" lang="en-US" altLang="el-GR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ahoma" panose="020B0604030504040204" pitchFamily="34" charset="0"/>
                </a:rPr>
                <a:t>FibonacciSequence</a:t>
              </a:r>
              <a:endParaRPr kumimoji="0" lang="en-US" alt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pic>
          <p:nvPicPr>
            <p:cNvPr id="14" name="Picture 3">
              <a:extLst>
                <a:ext uri="{FF2B5EF4-FFF2-40B4-BE49-F238E27FC236}">
                  <a16:creationId xmlns:a16="http://schemas.microsoft.com/office/drawing/2014/main" id="{81ADEF4D-88FF-2CA5-05EA-A9BBD566581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93187" y="2995613"/>
              <a:ext cx="2207220" cy="2275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1" name="Θέση υποσέλιδου 4">
            <a:extLst>
              <a:ext uri="{FF2B5EF4-FFF2-40B4-BE49-F238E27FC236}">
                <a16:creationId xmlns:a16="http://schemas.microsoft.com/office/drawing/2014/main" id="{39E306CB-D841-D059-B1D5-45306C2BA881}"/>
              </a:ext>
            </a:extLst>
          </p:cNvPr>
          <p:cNvSpPr txBox="1">
            <a:spLocks/>
          </p:cNvSpPr>
          <p:nvPr/>
        </p:nvSpPr>
        <p:spPr>
          <a:xfrm>
            <a:off x="4149680" y="6670790"/>
            <a:ext cx="4631713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Control flow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 – 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Arrays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 - 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Type conversions</a:t>
            </a:r>
          </a:p>
          <a:p>
            <a:endParaRPr lang="el-GR" sz="11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102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allAtOnce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2BF1A6-86AB-8B74-CE21-EB7BA1C9F2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AB76F7A3-A8BD-5D3C-66AE-885DBEDDF769}"/>
              </a:ext>
            </a:extLst>
          </p:cNvPr>
          <p:cNvSpPr/>
          <p:nvPr/>
        </p:nvSpPr>
        <p:spPr>
          <a:xfrm>
            <a:off x="140669" y="6559908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86B966D7-CDB0-FB14-0018-90DFB4B286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FibonacciSequence</a:t>
            </a:r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 - Αφαιρετική αναπαράσταση </a:t>
            </a: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9CFD0DE2-0430-8CEF-2218-A60EF163DF72}"/>
              </a:ext>
            </a:extLst>
          </p:cNvPr>
          <p:cNvSpPr txBox="1">
            <a:spLocks/>
          </p:cNvSpPr>
          <p:nvPr/>
        </p:nvSpPr>
        <p:spPr>
          <a:xfrm>
            <a:off x="-1" y="6599394"/>
            <a:ext cx="3840633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© 202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5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Μια Εισαγωγή στην Τέχνη του Προγραμματισμού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5EDC90-7E1E-B211-FF29-043E2F862AFD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200" dirty="0">
                <a:latin typeface="Bahnschrift Light" panose="020B0502040204020203" pitchFamily="34" charset="0"/>
                <a:cs typeface="Arial" pitchFamily="34" charset="0"/>
              </a:rPr>
              <a:t>Διαφάνεια </a:t>
            </a:r>
            <a:fld id="{7C15C5B5-03C6-48D8-B20F-65D93A6CF09E}" type="slidenum">
              <a:rPr lang="en-US" sz="1200" smtClean="0">
                <a:latin typeface="Bahnschrift Light" panose="020B0502040204020203" pitchFamily="34" charset="0"/>
                <a:cs typeface="Arial" pitchFamily="34" charset="0"/>
              </a:rPr>
              <a:pPr algn="r"/>
              <a:t>25</a:t>
            </a:fld>
            <a:endParaRPr lang="en-US" sz="1200" dirty="0">
              <a:latin typeface="Bahnschrift Light" panose="020B0502040204020203" pitchFamily="34" charset="0"/>
              <a:cs typeface="Arial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6B5C9ED-AD06-2A1E-360B-0AB90552B492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0"/>
            <a:ext cx="9144000" cy="908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0033CC"/>
              </a:solidFill>
              <a:latin typeface="Times New Roman" pitchFamily="18" charset="0"/>
            </a:endParaRPr>
          </a:p>
        </p:txBody>
      </p:sp>
      <p:sp>
        <p:nvSpPr>
          <p:cNvPr id="21" name="Θέση υποσέλιδου 4">
            <a:extLst>
              <a:ext uri="{FF2B5EF4-FFF2-40B4-BE49-F238E27FC236}">
                <a16:creationId xmlns:a16="http://schemas.microsoft.com/office/drawing/2014/main" id="{586E2B09-22F8-948C-1801-220D781BEB28}"/>
              </a:ext>
            </a:extLst>
          </p:cNvPr>
          <p:cNvSpPr txBox="1">
            <a:spLocks/>
          </p:cNvSpPr>
          <p:nvPr/>
        </p:nvSpPr>
        <p:spPr>
          <a:xfrm>
            <a:off x="4149680" y="6670790"/>
            <a:ext cx="4631713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Control flow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 – 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Arrays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 - 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Type conversions</a:t>
            </a:r>
          </a:p>
          <a:p>
            <a:endParaRPr lang="el-GR" sz="11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FB64A70-1A49-6BC8-12A7-222D7343EB1D}"/>
              </a:ext>
            </a:extLst>
          </p:cNvPr>
          <p:cNvGrpSpPr/>
          <p:nvPr/>
        </p:nvGrpSpPr>
        <p:grpSpPr>
          <a:xfrm>
            <a:off x="6778501" y="1670780"/>
            <a:ext cx="2736304" cy="759802"/>
            <a:chOff x="6917770" y="2642663"/>
            <a:chExt cx="2736304" cy="759802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F2335DA-FBBD-E399-440C-3BFB51DE7AD5}"/>
                </a:ext>
              </a:extLst>
            </p:cNvPr>
            <p:cNvSpPr/>
            <p:nvPr/>
          </p:nvSpPr>
          <p:spPr bwMode="auto">
            <a:xfrm rot="21023149">
              <a:off x="6917770" y="2642663"/>
              <a:ext cx="2736304" cy="759802"/>
            </a:xfrm>
            <a:prstGeom prst="rect">
              <a:avLst/>
            </a:prstGeom>
            <a:solidFill>
              <a:srgbClr val="FFFFFF"/>
            </a:solidFill>
            <a:ln w="9525" cap="flat" cmpd="sng" algn="ctr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</a:rPr>
                <a:t>Fibonacci </a:t>
              </a:r>
            </a:p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</a:rPr>
                <a:t>sequence</a:t>
              </a:r>
              <a:endParaRPr kumimoji="0" 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F39D37E6-380D-3E7C-5091-48F1CD1891DC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7032104" y="2846701"/>
              <a:ext cx="2256920" cy="420058"/>
            </a:xfrm>
            <a:prstGeom prst="straightConnector1">
              <a:avLst/>
            </a:prstGeom>
            <a:solidFill>
              <a:srgbClr val="00E4A8"/>
            </a:solidFill>
            <a:ln w="28575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triangle"/>
            </a:ln>
            <a:effectLst/>
          </p:spPr>
        </p:cxn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E7AA13B2-23CF-1F05-55EE-A79FBD324554}"/>
              </a:ext>
            </a:extLst>
          </p:cNvPr>
          <p:cNvSpPr/>
          <p:nvPr/>
        </p:nvSpPr>
        <p:spPr bwMode="auto">
          <a:xfrm>
            <a:off x="3940507" y="1843613"/>
            <a:ext cx="3168352" cy="1512168"/>
          </a:xfrm>
          <a:prstGeom prst="ellipse">
            <a:avLst/>
          </a:prstGeom>
          <a:solidFill>
            <a:srgbClr val="00E4A8"/>
          </a:solidFill>
          <a:ln w="9525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Εμφάνισε</a:t>
            </a: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 n </a:t>
            </a:r>
            <a:r>
              <a:rPr kumimoji="0" lang="el-GR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όρους</a:t>
            </a: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 </a:t>
            </a:r>
          </a:p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της ακολουθίας</a:t>
            </a:r>
            <a:endParaRPr kumimoji="0" lang="en-GB" sz="2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Fibonacci</a:t>
            </a:r>
            <a:endParaRPr kumimoji="0" lang="el-GR" sz="2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C02C5D0-F242-84EB-0800-1BB7561D2C45}"/>
              </a:ext>
            </a:extLst>
          </p:cNvPr>
          <p:cNvGrpSpPr/>
          <p:nvPr/>
        </p:nvGrpSpPr>
        <p:grpSpPr>
          <a:xfrm>
            <a:off x="2213203" y="1589016"/>
            <a:ext cx="2586920" cy="705860"/>
            <a:chOff x="2352472" y="2560899"/>
            <a:chExt cx="2586920" cy="705860"/>
          </a:xfrm>
        </p:grpSpPr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341D45C8-9373-63F7-5BCF-9797BA09AEE0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352472" y="3045307"/>
              <a:ext cx="1832146" cy="221452"/>
            </a:xfrm>
            <a:prstGeom prst="straightConnector1">
              <a:avLst/>
            </a:prstGeom>
            <a:solidFill>
              <a:srgbClr val="00E4A8"/>
            </a:solidFill>
            <a:ln w="28575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triangle"/>
            </a:ln>
            <a:effectLst/>
          </p:spPr>
        </p:cxn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E276BF41-0DE2-753F-B72F-7FE689015ED2}"/>
                </a:ext>
              </a:extLst>
            </p:cNvPr>
            <p:cNvSpPr txBox="1"/>
            <p:nvPr/>
          </p:nvSpPr>
          <p:spPr>
            <a:xfrm>
              <a:off x="2382282" y="2560899"/>
              <a:ext cx="255711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</a:rPr>
                <a:t>n (</a:t>
              </a:r>
              <a:r>
                <a:rPr kumimoji="0" lang="el-GR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</a:rPr>
                <a:t>αριθμός όρων</a:t>
              </a:r>
              <a:r>
                <a: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</a:rPr>
                <a:t>)</a:t>
              </a:r>
              <a:endParaRPr kumimoji="0" 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6D304398-185D-2A77-015C-000001B9A3CC}"/>
              </a:ext>
            </a:extLst>
          </p:cNvPr>
          <p:cNvGrpSpPr/>
          <p:nvPr/>
        </p:nvGrpSpPr>
        <p:grpSpPr>
          <a:xfrm>
            <a:off x="1481513" y="2668347"/>
            <a:ext cx="2487134" cy="461665"/>
            <a:chOff x="1620782" y="3640230"/>
            <a:chExt cx="2487134" cy="461665"/>
          </a:xfrm>
        </p:grpSpPr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2B91E2E0-01CA-909F-C07E-22CC4E61F58F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352472" y="3663415"/>
              <a:ext cx="1755444" cy="0"/>
            </a:xfrm>
            <a:prstGeom prst="straightConnector1">
              <a:avLst/>
            </a:prstGeom>
            <a:solidFill>
              <a:srgbClr val="00E4A8"/>
            </a:solidFill>
            <a:ln w="28575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triangle"/>
            </a:ln>
            <a:effectLst/>
          </p:spPr>
        </p:cxn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F7AAF41F-5559-DC52-6293-0BF28AE844E5}"/>
                </a:ext>
              </a:extLst>
            </p:cNvPr>
            <p:cNvSpPr txBox="1"/>
            <p:nvPr/>
          </p:nvSpPr>
          <p:spPr>
            <a:xfrm>
              <a:off x="1620782" y="3640230"/>
              <a:ext cx="128592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</a:rPr>
                <a:t>1</a:t>
              </a:r>
              <a:r>
                <a:rPr kumimoji="0" lang="el-GR" sz="2400" b="0" i="0" u="none" strike="noStrike" kern="0" cap="none" spc="0" normalizeH="0" baseline="3000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</a:rPr>
                <a:t>ος</a:t>
              </a:r>
              <a:r>
                <a:rPr kumimoji="0" lang="el-GR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</a:rPr>
                <a:t> όρος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1E6B7B15-294A-EABF-779F-2948BB3C67CD}"/>
              </a:ext>
            </a:extLst>
          </p:cNvPr>
          <p:cNvGrpSpPr/>
          <p:nvPr/>
        </p:nvGrpSpPr>
        <p:grpSpPr>
          <a:xfrm>
            <a:off x="2449615" y="2843933"/>
            <a:ext cx="1778911" cy="895080"/>
            <a:chOff x="2588884" y="3815816"/>
            <a:chExt cx="1778911" cy="895080"/>
          </a:xfrm>
        </p:grpSpPr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C554174B-EDB2-00C9-098A-15D43FF267C2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2588884" y="3815816"/>
              <a:ext cx="1671433" cy="812673"/>
            </a:xfrm>
            <a:prstGeom prst="straightConnector1">
              <a:avLst/>
            </a:prstGeom>
            <a:solidFill>
              <a:srgbClr val="00E4A8"/>
            </a:solidFill>
            <a:ln w="28575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triangle"/>
            </a:ln>
            <a:effectLst/>
          </p:spPr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F4A321DD-1044-94F6-367D-6C59FCAF4E2F}"/>
                </a:ext>
              </a:extLst>
            </p:cNvPr>
            <p:cNvSpPr txBox="1"/>
            <p:nvPr/>
          </p:nvSpPr>
          <p:spPr>
            <a:xfrm>
              <a:off x="3081866" y="4249231"/>
              <a:ext cx="128592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l-GR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</a:rPr>
                <a:t>2</a:t>
              </a:r>
              <a:r>
                <a:rPr kumimoji="0" lang="el-GR" sz="2400" b="0" i="0" u="none" strike="noStrike" kern="0" cap="none" spc="0" normalizeH="0" baseline="30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</a:rPr>
                <a:t>ος</a:t>
              </a:r>
              <a:r>
                <a:rPr kumimoji="0" lang="el-GR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</a:rPr>
                <a:t> όρος</a:t>
              </a:r>
            </a:p>
          </p:txBody>
        </p:sp>
      </p:grpSp>
      <p:sp>
        <p:nvSpPr>
          <p:cNvPr id="29" name="Speech Bubble: Rectangle with Corners Rounded 28">
            <a:extLst>
              <a:ext uri="{FF2B5EF4-FFF2-40B4-BE49-F238E27FC236}">
                <a16:creationId xmlns:a16="http://schemas.microsoft.com/office/drawing/2014/main" id="{58C1C89C-A1BB-04FB-F888-312B91A86DA5}"/>
              </a:ext>
            </a:extLst>
          </p:cNvPr>
          <p:cNvSpPr/>
          <p:nvPr/>
        </p:nvSpPr>
        <p:spPr bwMode="auto">
          <a:xfrm>
            <a:off x="1388972" y="5560391"/>
            <a:ext cx="10153128" cy="477671"/>
          </a:xfrm>
          <a:prstGeom prst="wedgeRoundRectCallout">
            <a:avLst>
              <a:gd name="adj1" fmla="val -51115"/>
              <a:gd name="adj2" fmla="val 131986"/>
              <a:gd name="adj3" fmla="val 16667"/>
            </a:avLst>
          </a:prstGeom>
          <a:solidFill>
            <a:srgbClr val="FFFF00"/>
          </a:solidFill>
          <a:ln w="9525" cap="flat" cmpd="sng" algn="ctr">
            <a:solidFill>
              <a:srgbClr val="FFFF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Μας βοηθά στον εντοπισμό των πρώτων μεταβλητών του προγράμματος.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sp>
        <p:nvSpPr>
          <p:cNvPr id="30" name="Callout: Bent Line 29">
            <a:extLst>
              <a:ext uri="{FF2B5EF4-FFF2-40B4-BE49-F238E27FC236}">
                <a16:creationId xmlns:a16="http://schemas.microsoft.com/office/drawing/2014/main" id="{B1100397-71B8-5C1D-D4EA-0DA28B8D4BEA}"/>
              </a:ext>
            </a:extLst>
          </p:cNvPr>
          <p:cNvSpPr/>
          <p:nvPr/>
        </p:nvSpPr>
        <p:spPr>
          <a:xfrm>
            <a:off x="796413" y="4278743"/>
            <a:ext cx="10589342" cy="997417"/>
          </a:xfrm>
          <a:prstGeom prst="borderCallout2">
            <a:avLst>
              <a:gd name="adj1" fmla="val 5833"/>
              <a:gd name="adj2" fmla="val 51087"/>
              <a:gd name="adj3" fmla="val -59899"/>
              <a:gd name="adj4" fmla="val 48534"/>
              <a:gd name="adj5" fmla="val -84411"/>
              <a:gd name="adj6" fmla="val 48207"/>
            </a:avLst>
          </a:prstGeom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2800" b="1" dirty="0"/>
              <a:t>Αναπαριστά τη διεργασία ως μια έλλειψη με το όνομα της και καταγράφει τις εισόδους και τις εξόδους της. </a:t>
            </a:r>
          </a:p>
        </p:txBody>
      </p:sp>
    </p:spTree>
    <p:extLst>
      <p:ext uri="{BB962C8B-B14F-4D97-AF65-F5344CB8AC3E}">
        <p14:creationId xmlns:p14="http://schemas.microsoft.com/office/powerpoint/2010/main" val="38516790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29" grpId="0" animBg="1"/>
      <p:bldP spid="30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8F44A7-955B-81B9-48E2-0E1D62E636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164E5C20-4872-5D15-F752-679804128B1F}"/>
              </a:ext>
            </a:extLst>
          </p:cNvPr>
          <p:cNvSpPr/>
          <p:nvPr/>
        </p:nvSpPr>
        <p:spPr>
          <a:xfrm>
            <a:off x="140669" y="6559908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4C256A22-C33D-4031-2DC8-5A0FAFC69C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FibonacciSequence</a:t>
            </a:r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 - Λεκτική περιγραφή</a:t>
            </a: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21F8A56B-7283-D94B-745C-92C9A11F8849}"/>
              </a:ext>
            </a:extLst>
          </p:cNvPr>
          <p:cNvSpPr txBox="1">
            <a:spLocks/>
          </p:cNvSpPr>
          <p:nvPr/>
        </p:nvSpPr>
        <p:spPr>
          <a:xfrm>
            <a:off x="-1" y="6599394"/>
            <a:ext cx="3840633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© 202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5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Μια Εισαγωγή στην Τέχνη του Προγραμματισμού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9E17FD2-28CE-4654-B02F-750D6B2C79F0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200" dirty="0">
                <a:latin typeface="Bahnschrift Light" panose="020B0502040204020203" pitchFamily="34" charset="0"/>
                <a:cs typeface="Arial" pitchFamily="34" charset="0"/>
              </a:rPr>
              <a:t>Διαφάνεια </a:t>
            </a:r>
            <a:fld id="{7C15C5B5-03C6-48D8-B20F-65D93A6CF09E}" type="slidenum">
              <a:rPr lang="en-US" sz="1200" smtClean="0">
                <a:latin typeface="Bahnschrift Light" panose="020B0502040204020203" pitchFamily="34" charset="0"/>
                <a:cs typeface="Arial" pitchFamily="34" charset="0"/>
              </a:rPr>
              <a:pPr algn="r"/>
              <a:t>26</a:t>
            </a:fld>
            <a:endParaRPr lang="en-US" sz="1200" dirty="0">
              <a:latin typeface="Bahnschrift Light" panose="020B0502040204020203" pitchFamily="34" charset="0"/>
              <a:cs typeface="Arial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407D89-DC03-DBF7-4ADB-DF37B54384EB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0"/>
            <a:ext cx="9144000" cy="908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0033CC"/>
              </a:solidFill>
              <a:latin typeface="Times New Roman" pitchFamily="18" charset="0"/>
            </a:endParaRPr>
          </a:p>
        </p:txBody>
      </p:sp>
      <p:sp>
        <p:nvSpPr>
          <p:cNvPr id="21" name="Θέση υποσέλιδου 4">
            <a:extLst>
              <a:ext uri="{FF2B5EF4-FFF2-40B4-BE49-F238E27FC236}">
                <a16:creationId xmlns:a16="http://schemas.microsoft.com/office/drawing/2014/main" id="{6BE674E9-325C-6224-BCE0-6B5A85DA65E4}"/>
              </a:ext>
            </a:extLst>
          </p:cNvPr>
          <p:cNvSpPr txBox="1">
            <a:spLocks/>
          </p:cNvSpPr>
          <p:nvPr/>
        </p:nvSpPr>
        <p:spPr>
          <a:xfrm>
            <a:off x="4149680" y="6670790"/>
            <a:ext cx="4631713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Control flow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 – 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Arrays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 - 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Type conversions</a:t>
            </a:r>
          </a:p>
          <a:p>
            <a:endParaRPr lang="el-GR" sz="11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BAFFC666-3734-9872-9021-C5D0B38F2B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683" y="866002"/>
            <a:ext cx="6916994" cy="268799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None/>
              <a:tabLst/>
              <a:defRPr/>
            </a:pPr>
            <a:r>
              <a:rPr kumimoji="0" lang="el-GR" altLang="el-GR" sz="28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Λεκτική περιγραφή</a:t>
            </a:r>
            <a:endParaRPr kumimoji="0" lang="en-US" altLang="el-GR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None/>
              <a:tabLst/>
              <a:defRPr/>
            </a:pPr>
            <a:r>
              <a:rPr kumimoji="0" lang="el-GR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Πάρε τον αριθμό των όρων που ζητούνται</a:t>
            </a:r>
            <a:endParaRPr kumimoji="0" lang="en-US" altLang="el-GR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</a:endParaRPr>
          </a:p>
          <a:p>
            <a:pPr marL="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None/>
              <a:tabLst/>
              <a:defRPr/>
            </a:pPr>
            <a:r>
              <a:rPr kumimoji="0" lang="el-GR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Θεώρησε το 0 και 1 ως τους δύο πρώτους όρους</a:t>
            </a:r>
          </a:p>
          <a:p>
            <a:pPr marL="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None/>
              <a:tabLst/>
              <a:defRPr/>
            </a:pPr>
            <a:r>
              <a:rPr kumimoji="0" lang="el-GR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Για όσους όρους ζητήθηκε</a:t>
            </a:r>
          </a:p>
          <a:p>
            <a:pPr marL="0" marR="0" lvl="2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50000"/>
              <a:buNone/>
              <a:tabLst/>
              <a:defRPr/>
            </a:pPr>
            <a:r>
              <a:rPr kumimoji="0" lang="el-GR" alt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	Υπολόγισε τον επόμενο ως το άθροισμα των 2 	προηγούμενων του</a:t>
            </a:r>
            <a:endParaRPr kumimoji="0" lang="en-US" altLang="el-GR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endParaRPr kumimoji="0" lang="en-GB" altLang="el-GR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220F332-79A5-5C3E-CA92-912360D3B05D}"/>
              </a:ext>
            </a:extLst>
          </p:cNvPr>
          <p:cNvSpPr txBox="1"/>
          <p:nvPr/>
        </p:nvSpPr>
        <p:spPr>
          <a:xfrm rot="18783527">
            <a:off x="7154270" y="1707750"/>
            <a:ext cx="19371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l-GR" sz="2400" b="1" dirty="0">
                <a:solidFill>
                  <a:srgbClr val="C00000"/>
                </a:solidFill>
                <a:latin typeface="Tahoma" panose="020B0604030504040204" pitchFamily="34" charset="0"/>
              </a:rPr>
              <a:t>1η</a:t>
            </a:r>
            <a:r>
              <a:rPr lang="el-GR" sz="2400" dirty="0">
                <a:solidFill>
                  <a:srgbClr val="000000"/>
                </a:solidFill>
                <a:latin typeface="Tahoma" panose="020B0604030504040204" pitchFamily="34" charset="0"/>
              </a:rPr>
              <a:t> </a:t>
            </a:r>
            <a:r>
              <a:rPr lang="el-GR" sz="2400" b="1" dirty="0">
                <a:solidFill>
                  <a:srgbClr val="C00000"/>
                </a:solidFill>
                <a:latin typeface="Tahoma" panose="020B0604030504040204" pitchFamily="34" charset="0"/>
              </a:rPr>
              <a:t>εκδοχή</a:t>
            </a:r>
            <a:endParaRPr lang="en-GB" sz="2400" b="1" dirty="0">
              <a:solidFill>
                <a:srgbClr val="C00000"/>
              </a:solidFill>
              <a:latin typeface="Tahoma" panose="020B0604030504040204" pitchFamily="34" charset="0"/>
            </a:endParaRPr>
          </a:p>
        </p:txBody>
      </p:sp>
      <p:sp>
        <p:nvSpPr>
          <p:cNvPr id="12" name="Speech Bubble: Rectangle with Corners Rounded 11">
            <a:extLst>
              <a:ext uri="{FF2B5EF4-FFF2-40B4-BE49-F238E27FC236}">
                <a16:creationId xmlns:a16="http://schemas.microsoft.com/office/drawing/2014/main" id="{0205415F-5535-DF2B-8262-A221708DDE77}"/>
              </a:ext>
            </a:extLst>
          </p:cNvPr>
          <p:cNvSpPr/>
          <p:nvPr/>
        </p:nvSpPr>
        <p:spPr bwMode="auto">
          <a:xfrm>
            <a:off x="590225" y="3700663"/>
            <a:ext cx="8568952" cy="490898"/>
          </a:xfrm>
          <a:prstGeom prst="wedgeRoundRectCallout">
            <a:avLst>
              <a:gd name="adj1" fmla="val -53587"/>
              <a:gd name="adj2" fmla="val 84056"/>
              <a:gd name="adj3" fmla="val 16667"/>
            </a:avLst>
          </a:prstGeom>
          <a:solidFill>
            <a:srgbClr val="FFFF00"/>
          </a:solidFill>
          <a:ln w="9525" cap="flat" cmpd="sng" algn="ctr">
            <a:solidFill>
              <a:srgbClr val="FFFF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altLang="el-GR" sz="2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</a:rPr>
              <a:t>Θα έχουμε το αποτέλεσμα που θέλουμε με την 1</a:t>
            </a:r>
            <a:r>
              <a:rPr kumimoji="0" lang="el-GR" altLang="el-GR" sz="2000" b="1" i="0" u="none" strike="noStrike" kern="0" cap="none" spc="0" normalizeH="0" baseline="30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</a:rPr>
              <a:t>η</a:t>
            </a:r>
            <a:r>
              <a:rPr kumimoji="0" lang="el-GR" altLang="el-GR" sz="2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</a:rPr>
              <a:t> αυτή εκδοχή;</a:t>
            </a:r>
            <a:endParaRPr kumimoji="0" lang="en-US" altLang="el-GR" sz="20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623CEA4-124C-6A3D-B472-383EC965770E}"/>
              </a:ext>
            </a:extLst>
          </p:cNvPr>
          <p:cNvSpPr txBox="1"/>
          <p:nvPr/>
        </p:nvSpPr>
        <p:spPr>
          <a:xfrm>
            <a:off x="403122" y="4944083"/>
            <a:ext cx="11385754" cy="1261884"/>
          </a:xfrm>
          <a:prstGeom prst="rect">
            <a:avLst/>
          </a:prstGeom>
          <a:solidFill>
            <a:srgbClr val="92D050"/>
          </a:solidFill>
        </p:spPr>
        <p:txBody>
          <a:bodyPr wrap="square">
            <a:spAutoFit/>
          </a:bodyPr>
          <a:lstStyle/>
          <a:p>
            <a:r>
              <a:rPr kumimoji="0" lang="el-GR" altLang="el-GR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Ελέγξτε αν </a:t>
            </a:r>
            <a:r>
              <a:rPr kumimoji="0" lang="el-GR" alt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εσείς</a:t>
            </a:r>
            <a:r>
              <a:rPr kumimoji="0" lang="en-GB" alt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,</a:t>
            </a:r>
            <a:r>
              <a:rPr kumimoji="0" lang="el-GR" alt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εκτελώντας τις ενέργειες που η λεκτική περιγραφή ορίζει</a:t>
            </a:r>
            <a:r>
              <a:rPr kumimoji="0" lang="en-GB" alt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,</a:t>
            </a:r>
            <a:r>
              <a:rPr kumimoji="0" lang="el-GR" alt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πετυχαίνετε τον στόχο της διεργασίας, για παράδειγμα να δημιουργήσετε την ακολουθία </a:t>
            </a:r>
            <a:r>
              <a:rPr kumimoji="0" lang="en-US" alt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Fibonacci.</a:t>
            </a:r>
            <a:endParaRPr kumimoji="0" lang="el-GR" altLang="el-GR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r>
              <a:rPr lang="el-GR" dirty="0">
                <a:latin typeface="Tahoma" pitchFamily="34" charset="0"/>
              </a:rPr>
              <a:t>Ο αναλυτικός έλεγχος μπορεί να αναβληθεί για να γίνει μετά την δημιουργία του εκτελέσιμου που προκύπτει από την Λεκτική Περιγραφή.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294371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animBg="1"/>
      <p:bldP spid="9" grpId="0"/>
      <p:bldP spid="12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BD0CFF-5CF4-A85D-EE62-4E6ABC988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36C85D89-74C1-1C20-A0E6-F177A5EC3E6C}"/>
              </a:ext>
            </a:extLst>
          </p:cNvPr>
          <p:cNvSpPr/>
          <p:nvPr/>
        </p:nvSpPr>
        <p:spPr>
          <a:xfrm>
            <a:off x="140669" y="6559908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43CCA1B2-EADD-39B7-2196-A8F18BA59C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FibonacciSequence</a:t>
            </a:r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 – Δημιουργία πηγαίου κώδικα</a:t>
            </a: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56854338-4C67-29F8-82B4-25A98E22FCFC}"/>
              </a:ext>
            </a:extLst>
          </p:cNvPr>
          <p:cNvSpPr txBox="1">
            <a:spLocks/>
          </p:cNvSpPr>
          <p:nvPr/>
        </p:nvSpPr>
        <p:spPr>
          <a:xfrm>
            <a:off x="-1" y="6599394"/>
            <a:ext cx="3840633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© 202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5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Μια Εισαγωγή στην Τέχνη του Προγραμματισμού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C984835-CA9D-F23B-40C9-2B492449B9FF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200" dirty="0">
                <a:latin typeface="Bahnschrift Light" panose="020B0502040204020203" pitchFamily="34" charset="0"/>
                <a:cs typeface="Arial" pitchFamily="34" charset="0"/>
              </a:rPr>
              <a:t>Διαφάνεια </a:t>
            </a:r>
            <a:fld id="{7C15C5B5-03C6-48D8-B20F-65D93A6CF09E}" type="slidenum">
              <a:rPr lang="en-US" sz="1200" smtClean="0">
                <a:latin typeface="Bahnschrift Light" panose="020B0502040204020203" pitchFamily="34" charset="0"/>
                <a:cs typeface="Arial" pitchFamily="34" charset="0"/>
              </a:rPr>
              <a:pPr algn="r"/>
              <a:t>27</a:t>
            </a:fld>
            <a:endParaRPr lang="en-US" sz="1200" dirty="0">
              <a:latin typeface="Bahnschrift Light" panose="020B0502040204020203" pitchFamily="34" charset="0"/>
              <a:cs typeface="Arial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DD910C3-D01A-E3F6-E1B1-2505C09669F0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0"/>
            <a:ext cx="9144000" cy="908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0033CC"/>
              </a:solidFill>
              <a:latin typeface="Times New Roman" pitchFamily="18" charset="0"/>
            </a:endParaRPr>
          </a:p>
        </p:txBody>
      </p:sp>
      <p:sp>
        <p:nvSpPr>
          <p:cNvPr id="21" name="Θέση υποσέλιδου 4">
            <a:extLst>
              <a:ext uri="{FF2B5EF4-FFF2-40B4-BE49-F238E27FC236}">
                <a16:creationId xmlns:a16="http://schemas.microsoft.com/office/drawing/2014/main" id="{DEE0AD59-74D0-69ED-6EF5-FED19C42448E}"/>
              </a:ext>
            </a:extLst>
          </p:cNvPr>
          <p:cNvSpPr txBox="1">
            <a:spLocks/>
          </p:cNvSpPr>
          <p:nvPr/>
        </p:nvSpPr>
        <p:spPr>
          <a:xfrm>
            <a:off x="4149680" y="6670790"/>
            <a:ext cx="4631713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Control flow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 – 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Arrays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 - 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Type conversions</a:t>
            </a:r>
          </a:p>
          <a:p>
            <a:endParaRPr lang="el-GR" sz="11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63EDBA1-21A5-AE83-DE44-1735B67136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45668" y="1817134"/>
            <a:ext cx="5146332" cy="20565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sz="28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Ορισμός μεταβλητών</a:t>
            </a:r>
          </a:p>
          <a:p>
            <a:pPr marL="40005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l-GR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kumimoji="0" lang="en-US" altLang="el-GR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numberOfTerms</a:t>
            </a:r>
            <a:r>
              <a:rPr kumimoji="0" lang="en-US" altLang="el-GR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400050" lvl="1" indent="0">
              <a:buClr>
                <a:srgbClr val="FF0000"/>
              </a:buClr>
              <a:buNone/>
            </a:pPr>
            <a:r>
              <a:rPr lang="en-US" altLang="el-GR" sz="2400" b="1" kern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altLang="el-GR" sz="2400" b="1" kern="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cTerm</a:t>
            </a:r>
            <a:r>
              <a:rPr lang="en-US" altLang="el-GR" sz="2400" b="1" kern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400050" lvl="1" indent="0">
              <a:buClr>
                <a:srgbClr val="FF0000"/>
              </a:buClr>
              <a:buNone/>
            </a:pPr>
            <a:r>
              <a:rPr lang="en-US" altLang="el-GR" sz="2400" b="1" kern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kumimoji="0" lang="en-US" altLang="el-GR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pTerm</a:t>
            </a:r>
            <a:r>
              <a:rPr kumimoji="0" lang="en-US" altLang="el-GR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el-GR" sz="2400" b="1" kern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pp</a:t>
            </a:r>
            <a:r>
              <a:rPr kumimoji="0" lang="en-US" altLang="el-GR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Term;</a:t>
            </a:r>
            <a:endParaRPr kumimoji="0" lang="el-GR" altLang="el-GR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0005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None/>
              <a:tabLst/>
              <a:defRPr/>
            </a:pPr>
            <a:r>
              <a:rPr kumimoji="0" lang="el-GR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	</a:t>
            </a:r>
            <a:endParaRPr kumimoji="0" lang="en-US" altLang="el-GR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01464FD-BCC9-FB1B-FEB7-ED37D035EB09}"/>
              </a:ext>
            </a:extLst>
          </p:cNvPr>
          <p:cNvGrpSpPr/>
          <p:nvPr/>
        </p:nvGrpSpPr>
        <p:grpSpPr>
          <a:xfrm>
            <a:off x="115664" y="1765211"/>
            <a:ext cx="7066801" cy="4333972"/>
            <a:chOff x="6130681" y="1507277"/>
            <a:chExt cx="6036235" cy="5425269"/>
          </a:xfrm>
        </p:grpSpPr>
        <p:sp>
          <p:nvSpPr>
            <p:cNvPr id="16" name="Rectangle 3">
              <a:extLst>
                <a:ext uri="{FF2B5EF4-FFF2-40B4-BE49-F238E27FC236}">
                  <a16:creationId xmlns:a16="http://schemas.microsoft.com/office/drawing/2014/main" id="{0B6E51AB-8A1F-02E5-66A5-26CB5CD695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30681" y="1507277"/>
              <a:ext cx="6036235" cy="5425269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+mn-lt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+mn-lt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+mn-lt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+mn-lt"/>
                </a:defRPr>
              </a:lvl9pPr>
            </a:lstStyle>
            <a:p>
              <a:pPr marL="0" indent="0">
                <a:buClr>
                  <a:srgbClr val="3333CC"/>
                </a:buClr>
                <a:buFont typeface="Wingdings" panose="05000000000000000000" pitchFamily="2" charset="2"/>
                <a:buNone/>
              </a:pPr>
              <a:r>
                <a:rPr lang="el-GR" altLang="el-GR" sz="2400" b="1" kern="0" dirty="0">
                  <a:solidFill>
                    <a:srgbClr val="C00000"/>
                  </a:solidFill>
                  <a:latin typeface="Tahoma"/>
                </a:rPr>
                <a:t>Λεκτική περιγραφή</a:t>
              </a:r>
              <a:endParaRPr lang="en-US" altLang="el-GR" sz="2400" kern="0" dirty="0">
                <a:solidFill>
                  <a:srgbClr val="000000"/>
                </a:solidFill>
                <a:latin typeface="Tahoma"/>
              </a:endParaRPr>
            </a:p>
            <a:p>
              <a:pPr marL="0" indent="0">
                <a:buClr>
                  <a:srgbClr val="3333CC"/>
                </a:buClr>
                <a:buNone/>
              </a:pPr>
              <a:r>
                <a:rPr lang="el-GR" altLang="el-GR" sz="2400" b="1" kern="0" dirty="0">
                  <a:solidFill>
                    <a:srgbClr val="000000"/>
                  </a:solidFill>
                  <a:latin typeface="Tahoma"/>
                </a:rPr>
                <a:t>Α1. </a:t>
              </a:r>
              <a:r>
                <a:rPr lang="el-GR" altLang="el-GR" sz="2400" kern="0" dirty="0">
                  <a:solidFill>
                    <a:srgbClr val="000000"/>
                  </a:solidFill>
                  <a:latin typeface="Tahoma"/>
                </a:rPr>
                <a:t>Πάρε τον αριθμό των όρων που ζητούνται</a:t>
              </a:r>
              <a:endParaRPr lang="en-US" altLang="el-GR" sz="2400" kern="0" dirty="0">
                <a:solidFill>
                  <a:srgbClr val="000000"/>
                </a:solidFill>
                <a:latin typeface="Tahoma"/>
              </a:endParaRPr>
            </a:p>
            <a:p>
              <a:pPr marL="0" indent="0">
                <a:buClr>
                  <a:srgbClr val="3333CC"/>
                </a:buClr>
                <a:buNone/>
              </a:pPr>
              <a:r>
                <a:rPr lang="el-GR" altLang="el-GR" sz="2400" b="1" kern="0" dirty="0">
                  <a:solidFill>
                    <a:srgbClr val="000000"/>
                  </a:solidFill>
                  <a:latin typeface="Tahoma"/>
                </a:rPr>
                <a:t>Α2.</a:t>
              </a:r>
              <a:r>
                <a:rPr lang="el-GR" altLang="el-GR" sz="2400" kern="0" dirty="0">
                  <a:solidFill>
                    <a:srgbClr val="000000"/>
                  </a:solidFill>
                  <a:latin typeface="Tahoma"/>
                </a:rPr>
                <a:t> Πάρε τους δύο πρώτους όρους</a:t>
              </a:r>
            </a:p>
            <a:p>
              <a:pPr marL="0" indent="0">
                <a:buClr>
                  <a:srgbClr val="3333CC"/>
                </a:buClr>
                <a:buNone/>
              </a:pPr>
              <a:r>
                <a:rPr lang="el-GR" altLang="el-GR" sz="2400" b="1" kern="0" dirty="0">
                  <a:solidFill>
                    <a:srgbClr val="000000"/>
                  </a:solidFill>
                  <a:latin typeface="Tahoma"/>
                </a:rPr>
                <a:t>Α3.</a:t>
              </a:r>
              <a:r>
                <a:rPr lang="el-GR" altLang="el-GR" sz="2400" kern="0" dirty="0">
                  <a:solidFill>
                    <a:srgbClr val="000000"/>
                  </a:solidFill>
                  <a:latin typeface="Tahoma"/>
                </a:rPr>
                <a:t> Εμφάνισε τους 2 πρώτους όρους</a:t>
              </a:r>
              <a:endParaRPr lang="en-US" altLang="el-GR" sz="2400" kern="0" dirty="0">
                <a:solidFill>
                  <a:srgbClr val="000000"/>
                </a:solidFill>
                <a:latin typeface="Tahoma"/>
              </a:endParaRPr>
            </a:p>
            <a:p>
              <a:pPr marL="0" indent="0">
                <a:buClr>
                  <a:srgbClr val="3333CC"/>
                </a:buClr>
                <a:buNone/>
              </a:pPr>
              <a:r>
                <a:rPr lang="el-GR" altLang="el-GR" sz="2400" b="1" kern="0" dirty="0">
                  <a:solidFill>
                    <a:srgbClr val="000000"/>
                  </a:solidFill>
                  <a:latin typeface="Tahoma"/>
                </a:rPr>
                <a:t>Α4.</a:t>
              </a:r>
              <a:r>
                <a:rPr lang="el-GR" altLang="el-GR" sz="2400" kern="0" dirty="0">
                  <a:solidFill>
                    <a:srgbClr val="000000"/>
                  </a:solidFill>
                  <a:latin typeface="Tahoma"/>
                </a:rPr>
                <a:t> Για όσους επιπλέον όρους ζητήθηκε</a:t>
              </a:r>
            </a:p>
            <a:p>
              <a:pPr marL="457200" lvl="1" indent="0">
                <a:buClr>
                  <a:srgbClr val="FF0000"/>
                </a:buClr>
                <a:buNone/>
              </a:pPr>
              <a:r>
                <a:rPr lang="el-GR" altLang="el-GR" sz="2000" b="1" kern="0" dirty="0">
                  <a:solidFill>
                    <a:srgbClr val="000000"/>
                  </a:solidFill>
                  <a:latin typeface="Tahoma"/>
                </a:rPr>
                <a:t>Α4.1.</a:t>
              </a:r>
              <a:r>
                <a:rPr lang="el-GR" altLang="el-GR" sz="2000" kern="0" dirty="0">
                  <a:solidFill>
                    <a:srgbClr val="000000"/>
                  </a:solidFill>
                  <a:latin typeface="Tahoma"/>
                </a:rPr>
                <a:t> Υπολόγισε τον επόμενο ως το άθροισμα των 2 προηγούμενων του</a:t>
              </a:r>
            </a:p>
            <a:p>
              <a:pPr marL="457200" lvl="1" indent="0">
                <a:buClr>
                  <a:srgbClr val="FF0000"/>
                </a:buClr>
                <a:buNone/>
              </a:pPr>
              <a:r>
                <a:rPr lang="el-GR" altLang="el-GR" sz="2000" b="1" kern="0" dirty="0">
                  <a:solidFill>
                    <a:srgbClr val="FF0000"/>
                  </a:solidFill>
                  <a:latin typeface="Tahoma"/>
                </a:rPr>
                <a:t>Α4.2.</a:t>
              </a:r>
              <a:r>
                <a:rPr lang="el-GR" altLang="el-GR" sz="2000" kern="0" dirty="0">
                  <a:solidFill>
                    <a:srgbClr val="FF0000"/>
                  </a:solidFill>
                  <a:latin typeface="Tahoma"/>
                </a:rPr>
                <a:t> Εμφάνισε τον τρέχοντα όρο</a:t>
              </a:r>
            </a:p>
            <a:p>
              <a:pPr marL="457200" lvl="1" indent="0">
                <a:buClr>
                  <a:srgbClr val="FF0000"/>
                </a:buClr>
                <a:buNone/>
              </a:pPr>
              <a:r>
                <a:rPr lang="el-GR" altLang="el-GR" sz="2000" b="1" i="1" kern="0" dirty="0">
                  <a:solidFill>
                    <a:srgbClr val="C00000"/>
                  </a:solidFill>
                  <a:latin typeface="Tahoma"/>
                </a:rPr>
                <a:t>Α4.3.</a:t>
              </a:r>
              <a:r>
                <a:rPr lang="el-GR" altLang="el-GR" sz="2000" i="1" kern="0" dirty="0">
                  <a:solidFill>
                    <a:srgbClr val="C00000"/>
                  </a:solidFill>
                  <a:latin typeface="Tahoma"/>
                </a:rPr>
                <a:t> Ενημέρωσε τους δυο προηγούμενους</a:t>
              </a:r>
              <a:r>
                <a:rPr lang="en-US" altLang="el-GR" sz="2000" i="1" kern="0" dirty="0">
                  <a:solidFill>
                    <a:srgbClr val="C00000"/>
                  </a:solidFill>
                  <a:latin typeface="Tahoma"/>
                </a:rPr>
                <a:t> </a:t>
              </a:r>
              <a:r>
                <a:rPr lang="el-GR" altLang="el-GR" sz="2000" i="1" kern="0" dirty="0">
                  <a:solidFill>
                    <a:srgbClr val="C00000"/>
                  </a:solidFill>
                  <a:latin typeface="Tahoma"/>
                </a:rPr>
                <a:t>όρους</a:t>
              </a:r>
              <a:endParaRPr lang="en-US" altLang="el-GR" sz="2000" i="1" kern="0" dirty="0">
                <a:solidFill>
                  <a:srgbClr val="C00000"/>
                </a:solidFill>
                <a:latin typeface="Tahoma"/>
              </a:endParaRPr>
            </a:p>
            <a:p>
              <a:pPr marL="0" indent="0">
                <a:buClr>
                  <a:srgbClr val="3333CC"/>
                </a:buClr>
                <a:buFont typeface="Wingdings" panose="05000000000000000000" pitchFamily="2" charset="2"/>
                <a:buNone/>
              </a:pPr>
              <a:endParaRPr lang="en-GB" altLang="el-GR" sz="2400" kern="0" dirty="0">
                <a:solidFill>
                  <a:srgbClr val="000000"/>
                </a:solidFill>
                <a:latin typeface="Tahoma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548D0922-9B99-49DC-7DAD-26F108059D8D}"/>
                </a:ext>
              </a:extLst>
            </p:cNvPr>
            <p:cNvSpPr txBox="1"/>
            <p:nvPr/>
          </p:nvSpPr>
          <p:spPr>
            <a:xfrm rot="18783527">
              <a:off x="10446611" y="2663446"/>
              <a:ext cx="231572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l-GR" sz="2400" b="1" dirty="0">
                  <a:solidFill>
                    <a:srgbClr val="C00000"/>
                  </a:solidFill>
                  <a:latin typeface="Tahoma" panose="020B0604030504040204" pitchFamily="34" charset="0"/>
                </a:rPr>
                <a:t>1</a:t>
              </a:r>
              <a:r>
                <a:rPr lang="el-GR" sz="2400" b="1" baseline="30000" dirty="0">
                  <a:solidFill>
                    <a:srgbClr val="C00000"/>
                  </a:solidFill>
                  <a:latin typeface="Tahoma" panose="020B0604030504040204" pitchFamily="34" charset="0"/>
                </a:rPr>
                <a:t>η</a:t>
              </a:r>
              <a:r>
                <a:rPr lang="el-GR" sz="2400" b="1" dirty="0">
                  <a:solidFill>
                    <a:srgbClr val="C00000"/>
                  </a:solidFill>
                  <a:latin typeface="Tahoma" panose="020B0604030504040204" pitchFamily="34" charset="0"/>
                </a:rPr>
                <a:t> </a:t>
              </a:r>
              <a:r>
                <a:rPr lang="el-GR" sz="2400" dirty="0">
                  <a:solidFill>
                    <a:srgbClr val="000000"/>
                  </a:solidFill>
                  <a:latin typeface="Tahoma" panose="020B0604030504040204" pitchFamily="34" charset="0"/>
                </a:rPr>
                <a:t> </a:t>
              </a:r>
              <a:r>
                <a:rPr lang="el-GR" sz="2400" b="1" dirty="0">
                  <a:solidFill>
                    <a:srgbClr val="C00000"/>
                  </a:solidFill>
                  <a:latin typeface="Tahoma" panose="020B0604030504040204" pitchFamily="34" charset="0"/>
                </a:rPr>
                <a:t>εκδοχή</a:t>
              </a:r>
              <a:endParaRPr lang="en-GB" sz="2400" b="1" dirty="0">
                <a:solidFill>
                  <a:srgbClr val="C00000"/>
                </a:solidFill>
                <a:latin typeface="Tahoma" panose="020B0604030504040204" pitchFamily="34" charset="0"/>
              </a:endParaRPr>
            </a:p>
          </p:txBody>
        </p:sp>
      </p:grpSp>
      <p:sp>
        <p:nvSpPr>
          <p:cNvPr id="18" name="Rectangle 3">
            <a:extLst>
              <a:ext uri="{FF2B5EF4-FFF2-40B4-BE49-F238E27FC236}">
                <a16:creationId xmlns:a16="http://schemas.microsoft.com/office/drawing/2014/main" id="{5953714F-6BE6-6F3B-D298-076AC14EAF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45668" y="3878502"/>
            <a:ext cx="4536504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Clr>
                <a:srgbClr val="3333CC"/>
              </a:buClr>
            </a:pPr>
            <a:r>
              <a:rPr lang="en-US" altLang="el-GR" sz="2800" kern="0" dirty="0">
                <a:solidFill>
                  <a:srgbClr val="000000"/>
                </a:solidFill>
                <a:latin typeface="Tahoma"/>
              </a:rPr>
              <a:t>C </a:t>
            </a:r>
            <a:r>
              <a:rPr lang="el-GR" altLang="el-GR" sz="2800" kern="0" dirty="0">
                <a:solidFill>
                  <a:srgbClr val="000000"/>
                </a:solidFill>
                <a:latin typeface="Tahoma"/>
              </a:rPr>
              <a:t>κώδικας	</a:t>
            </a:r>
            <a:endParaRPr lang="en-US" altLang="el-GR" sz="2800" kern="0" dirty="0">
              <a:solidFill>
                <a:srgbClr val="000000"/>
              </a:solidFill>
              <a:latin typeface="Tahom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237817A-513A-835A-8109-93F800B7B960}"/>
              </a:ext>
            </a:extLst>
          </p:cNvPr>
          <p:cNvSpPr txBox="1"/>
          <p:nvPr/>
        </p:nvSpPr>
        <p:spPr>
          <a:xfrm>
            <a:off x="8229" y="758817"/>
            <a:ext cx="12183769" cy="1015663"/>
          </a:xfrm>
          <a:prstGeom prst="rect">
            <a:avLst/>
          </a:prstGeom>
          <a:solidFill>
            <a:srgbClr val="92D050"/>
          </a:solidFill>
        </p:spPr>
        <p:txBody>
          <a:bodyPr wrap="square">
            <a:spAutoFit/>
          </a:bodyPr>
          <a:lstStyle/>
          <a:p>
            <a:r>
              <a:rPr lang="el-GR" sz="2000" dirty="0"/>
              <a:t>Μετασχηματίστε τη λεκτική περιγραφή σε C κώδικα. </a:t>
            </a:r>
          </a:p>
          <a:p>
            <a:r>
              <a:rPr lang="el-GR" sz="2000" dirty="0"/>
              <a:t>Δηλώστε τις μεταβλητές που αντιστοιχούν σε εισόδους και εξόδους. Προσδιορίστε ποιες από τις εισόδους είναι μεταβλητές και ποιες σταθερές. Συνεχίστε με τις προτάσεις της Λ.Π.</a:t>
            </a:r>
          </a:p>
        </p:txBody>
      </p:sp>
      <p:sp>
        <p:nvSpPr>
          <p:cNvPr id="23" name="Callout: Bent Line 22">
            <a:extLst>
              <a:ext uri="{FF2B5EF4-FFF2-40B4-BE49-F238E27FC236}">
                <a16:creationId xmlns:a16="http://schemas.microsoft.com/office/drawing/2014/main" id="{EF382BBE-3571-DE5D-D459-6BC44FC4779E}"/>
              </a:ext>
            </a:extLst>
          </p:cNvPr>
          <p:cNvSpPr/>
          <p:nvPr/>
        </p:nvSpPr>
        <p:spPr>
          <a:xfrm>
            <a:off x="7418979" y="4971510"/>
            <a:ext cx="4536504" cy="997417"/>
          </a:xfrm>
          <a:prstGeom prst="borderCallout2">
            <a:avLst>
              <a:gd name="adj1" fmla="val -82"/>
              <a:gd name="adj2" fmla="val 50112"/>
              <a:gd name="adj3" fmla="val -34762"/>
              <a:gd name="adj4" fmla="val 1393"/>
              <a:gd name="adj5" fmla="val -115463"/>
              <a:gd name="adj6" fmla="val -38921"/>
            </a:avLst>
          </a:prstGeom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2800" b="1" dirty="0"/>
              <a:t>Επανάληψη ενός συνόλου προτάσεων</a:t>
            </a:r>
          </a:p>
        </p:txBody>
      </p:sp>
    </p:spTree>
    <p:extLst>
      <p:ext uri="{BB962C8B-B14F-4D97-AF65-F5344CB8AC3E}">
        <p14:creationId xmlns:p14="http://schemas.microsoft.com/office/powerpoint/2010/main" val="1644864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37EA34-735D-DB5C-6CB0-6924A0654A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FB57BDE8-282A-4815-A794-5F833CB77EA8}"/>
              </a:ext>
            </a:extLst>
          </p:cNvPr>
          <p:cNvSpPr/>
          <p:nvPr/>
        </p:nvSpPr>
        <p:spPr>
          <a:xfrm>
            <a:off x="140669" y="6559908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AAE54375-909E-212A-0349-4CEDBF4930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83457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Επανάληψη προτάσεων</a:t>
            </a: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EE337E7A-585E-046E-098F-009ABBA8B50A}"/>
              </a:ext>
            </a:extLst>
          </p:cNvPr>
          <p:cNvSpPr txBox="1">
            <a:spLocks/>
          </p:cNvSpPr>
          <p:nvPr/>
        </p:nvSpPr>
        <p:spPr>
          <a:xfrm>
            <a:off x="-1" y="6599394"/>
            <a:ext cx="3840633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© 202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5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Μια Εισαγωγή στην Τέχνη του Προγραμματισμού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64F7F1F-7B15-42AF-6D73-B979CCEFC509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200" dirty="0">
                <a:latin typeface="Bahnschrift Light" panose="020B0502040204020203" pitchFamily="34" charset="0"/>
                <a:cs typeface="Arial" pitchFamily="34" charset="0"/>
              </a:rPr>
              <a:t>Διαφάνεια </a:t>
            </a:r>
            <a:fld id="{7C15C5B5-03C6-48D8-B20F-65D93A6CF09E}" type="slidenum">
              <a:rPr lang="en-US" sz="1200" smtClean="0">
                <a:latin typeface="Bahnschrift Light" panose="020B0502040204020203" pitchFamily="34" charset="0"/>
                <a:cs typeface="Arial" pitchFamily="34" charset="0"/>
              </a:rPr>
              <a:pPr algn="r"/>
              <a:t>28</a:t>
            </a:fld>
            <a:endParaRPr lang="en-US" sz="1200" dirty="0">
              <a:latin typeface="Bahnschrift Light" panose="020B0502040204020203" pitchFamily="34" charset="0"/>
              <a:cs typeface="Arial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4142D73-2CCC-C645-6320-61820ED8756D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0"/>
            <a:ext cx="9144000" cy="908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0033CC"/>
              </a:solidFill>
              <a:latin typeface="Times New Roman" pitchFamily="18" charset="0"/>
            </a:endParaRPr>
          </a:p>
        </p:txBody>
      </p:sp>
      <p:sp>
        <p:nvSpPr>
          <p:cNvPr id="12" name="Θέση υποσέλιδου 4">
            <a:extLst>
              <a:ext uri="{FF2B5EF4-FFF2-40B4-BE49-F238E27FC236}">
                <a16:creationId xmlns:a16="http://schemas.microsoft.com/office/drawing/2014/main" id="{D3A02559-74FF-ADA8-B89A-E3E3334CA233}"/>
              </a:ext>
            </a:extLst>
          </p:cNvPr>
          <p:cNvSpPr txBox="1">
            <a:spLocks/>
          </p:cNvSpPr>
          <p:nvPr/>
        </p:nvSpPr>
        <p:spPr>
          <a:xfrm>
            <a:off x="4149680" y="6670790"/>
            <a:ext cx="4631713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Control flow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 – 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Arrays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 - 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Type conversions</a:t>
            </a:r>
          </a:p>
          <a:p>
            <a:endParaRPr lang="el-GR" sz="11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CEEAF4F-042D-A8B1-72D1-BF5F743368C0}"/>
              </a:ext>
            </a:extLst>
          </p:cNvPr>
          <p:cNvSpPr txBox="1"/>
          <p:nvPr/>
        </p:nvSpPr>
        <p:spPr>
          <a:xfrm>
            <a:off x="18999" y="866148"/>
            <a:ext cx="6507925" cy="156966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l-GR" sz="2400" b="1" dirty="0">
                <a:solidFill>
                  <a:srgbClr val="000000"/>
                </a:solidFill>
                <a:latin typeface="Tahoma" panose="020B0604030504040204" pitchFamily="34" charset="0"/>
              </a:rPr>
              <a:t>Λεκτική Περιγραφή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l-GR" sz="2400" dirty="0">
                <a:solidFill>
                  <a:srgbClr val="000000"/>
                </a:solidFill>
                <a:latin typeface="Tahoma" panose="020B0604030504040204" pitchFamily="34" charset="0"/>
              </a:rPr>
              <a:t>Εμφάνισε στην οθόνη το μήνυμα «Δεν θα …»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l-GR" sz="2400" dirty="0">
                <a:solidFill>
                  <a:srgbClr val="000000"/>
                </a:solidFill>
                <a:latin typeface="Tahoma" panose="020B0604030504040204" pitchFamily="34" charset="0"/>
              </a:rPr>
              <a:t>Εμφάνισε στην οθόνη το μήνυμα «Δεν θα …»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l-GR" sz="2400" dirty="0">
                <a:solidFill>
                  <a:srgbClr val="000000"/>
                </a:solidFill>
                <a:latin typeface="Tahoma" panose="020B0604030504040204" pitchFamily="34" charset="0"/>
              </a:rPr>
              <a:t>….</a:t>
            </a:r>
            <a:endParaRPr lang="en-GB" sz="2400" dirty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5A69519-108C-BE8E-FAFB-BBC0BA44BA49}"/>
              </a:ext>
            </a:extLst>
          </p:cNvPr>
          <p:cNvGrpSpPr/>
          <p:nvPr/>
        </p:nvGrpSpPr>
        <p:grpSpPr>
          <a:xfrm>
            <a:off x="18999" y="2924505"/>
            <a:ext cx="6807470" cy="1593096"/>
            <a:chOff x="335360" y="2269433"/>
            <a:chExt cx="9218047" cy="1358403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66373324-8EB0-D838-3872-8E12B822B1E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35360" y="2269433"/>
              <a:ext cx="9187011" cy="461665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89F85ABB-307D-E55A-6A84-5097053EC05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66396" y="2717802"/>
              <a:ext cx="9187011" cy="461665"/>
            </a:xfrm>
            <a:prstGeom prst="rect">
              <a:avLst/>
            </a:prstGeom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F665488A-7FE1-4703-1FB7-A246733CFFB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66396" y="3166171"/>
              <a:ext cx="9187011" cy="461665"/>
            </a:xfrm>
            <a:prstGeom prst="rect">
              <a:avLst/>
            </a:prstGeom>
          </p:spPr>
        </p:pic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2CF26E63-CBB9-439D-7874-A3DFF0CE5044}"/>
              </a:ext>
            </a:extLst>
          </p:cNvPr>
          <p:cNvSpPr txBox="1"/>
          <p:nvPr/>
        </p:nvSpPr>
        <p:spPr>
          <a:xfrm rot="18987394">
            <a:off x="3046891" y="3440850"/>
            <a:ext cx="27991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l-GR" sz="2400" b="1" dirty="0">
                <a:solidFill>
                  <a:srgbClr val="C00000"/>
                </a:solidFill>
                <a:latin typeface="Tahoma" panose="020B0604030504040204" pitchFamily="34" charset="0"/>
              </a:rPr>
              <a:t>Πηγαίος Κώδικας</a:t>
            </a:r>
            <a:endParaRPr lang="en-GB" sz="2400" b="1" dirty="0">
              <a:solidFill>
                <a:srgbClr val="C00000"/>
              </a:solidFill>
              <a:latin typeface="Tahoma" panose="020B0604030504040204" pitchFamily="34" charset="0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1D7F0C48-0412-DD26-2555-991D5EFEC2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2427" y="4751281"/>
            <a:ext cx="1727142" cy="1596675"/>
          </a:xfrm>
          <a:prstGeom prst="rect">
            <a:avLst/>
          </a:prstGeom>
        </p:spPr>
      </p:pic>
      <p:pic>
        <p:nvPicPr>
          <p:cNvPr id="26" name="Picture 2">
            <a:extLst>
              <a:ext uri="{FF2B5EF4-FFF2-40B4-BE49-F238E27FC236}">
                <a16:creationId xmlns:a16="http://schemas.microsoft.com/office/drawing/2014/main" id="{F98EF421-8A24-1466-1C1B-C7BBFE2E85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77308" y="2243160"/>
            <a:ext cx="1571047" cy="3965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" name="Picture 3">
            <a:extLst>
              <a:ext uri="{FF2B5EF4-FFF2-40B4-BE49-F238E27FC236}">
                <a16:creationId xmlns:a16="http://schemas.microsoft.com/office/drawing/2014/main" id="{91D5B885-68EB-D5B9-F467-59BEA2A284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2074" y="3916768"/>
            <a:ext cx="1789458" cy="1944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" name="AutoShape 5">
            <a:extLst>
              <a:ext uri="{FF2B5EF4-FFF2-40B4-BE49-F238E27FC236}">
                <a16:creationId xmlns:a16="http://schemas.microsoft.com/office/drawing/2014/main" id="{A7314857-C969-F3F7-EBCA-2174940EED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4303" y="1429933"/>
            <a:ext cx="3080910" cy="1511300"/>
          </a:xfrm>
          <a:prstGeom prst="wedgeRoundRectCallout">
            <a:avLst>
              <a:gd name="adj1" fmla="val 58463"/>
              <a:gd name="adj2" fmla="val 77310"/>
              <a:gd name="adj3" fmla="val 16667"/>
            </a:avLst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alt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Θα </a:t>
            </a:r>
            <a:r>
              <a:rPr kumimoji="0" lang="el-GR" alt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Tahoma" panose="020B0604030504040204" pitchFamily="34" charset="0"/>
              </a:rPr>
              <a:t>γράψεις</a:t>
            </a:r>
            <a:r>
              <a:rPr kumimoji="0" lang="el-GR" alt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 500 φορές «Δεν θα πετάω αεροπλανάκια στην τάξη»</a:t>
            </a:r>
            <a:endParaRPr kumimoji="0" lang="en-US" altLang="el-GR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2348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78862B-170A-AD27-1634-2B78595F6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BD0A4E32-4271-2162-6E7B-F38662029B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32" y="2306077"/>
            <a:ext cx="7503806" cy="4293316"/>
          </a:xfrm>
          <a:prstGeom prst="rect">
            <a:avLst/>
          </a:prstGeom>
        </p:spPr>
      </p:pic>
      <p:sp>
        <p:nvSpPr>
          <p:cNvPr id="10" name="Rectangle 14">
            <a:extLst>
              <a:ext uri="{FF2B5EF4-FFF2-40B4-BE49-F238E27FC236}">
                <a16:creationId xmlns:a16="http://schemas.microsoft.com/office/drawing/2014/main" id="{482922FB-2530-0DE7-5A51-32AF6D01D76E}"/>
              </a:ext>
            </a:extLst>
          </p:cNvPr>
          <p:cNvSpPr/>
          <p:nvPr/>
        </p:nvSpPr>
        <p:spPr>
          <a:xfrm>
            <a:off x="140669" y="6559908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87F51020-49C3-9F8D-D5F7-BED9114B68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83457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Η πρόταση </a:t>
            </a:r>
            <a:r>
              <a:rPr lang="en-GB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for</a:t>
            </a:r>
            <a:endParaRPr lang="el-GR" sz="4000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83ACA800-16F3-9368-1F5A-D3CAF9E766EC}"/>
              </a:ext>
            </a:extLst>
          </p:cNvPr>
          <p:cNvSpPr txBox="1">
            <a:spLocks/>
          </p:cNvSpPr>
          <p:nvPr/>
        </p:nvSpPr>
        <p:spPr>
          <a:xfrm>
            <a:off x="-1" y="6599394"/>
            <a:ext cx="3840633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© 202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5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Μια Εισαγωγή στην Τέχνη του Προγραμματισμού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02C62A8-3D5F-DF49-C328-3DA7DA2D0C48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200" dirty="0">
                <a:latin typeface="Bahnschrift Light" panose="020B0502040204020203" pitchFamily="34" charset="0"/>
                <a:cs typeface="Arial" pitchFamily="34" charset="0"/>
              </a:rPr>
              <a:t>Διαφάνεια </a:t>
            </a:r>
            <a:fld id="{7C15C5B5-03C6-48D8-B20F-65D93A6CF09E}" type="slidenum">
              <a:rPr lang="en-US" sz="1200" smtClean="0">
                <a:latin typeface="Bahnschrift Light" panose="020B0502040204020203" pitchFamily="34" charset="0"/>
                <a:cs typeface="Arial" pitchFamily="34" charset="0"/>
              </a:rPr>
              <a:pPr algn="r"/>
              <a:t>29</a:t>
            </a:fld>
            <a:endParaRPr lang="en-US" sz="1200" dirty="0">
              <a:latin typeface="Bahnschrift Light" panose="020B0502040204020203" pitchFamily="34" charset="0"/>
              <a:cs typeface="Arial" pitchFamily="34" charset="0"/>
            </a:endParaRPr>
          </a:p>
        </p:txBody>
      </p:sp>
      <p:sp>
        <p:nvSpPr>
          <p:cNvPr id="12" name="Θέση υποσέλιδου 4">
            <a:extLst>
              <a:ext uri="{FF2B5EF4-FFF2-40B4-BE49-F238E27FC236}">
                <a16:creationId xmlns:a16="http://schemas.microsoft.com/office/drawing/2014/main" id="{3AD85279-8171-B24F-378D-410AF546239F}"/>
              </a:ext>
            </a:extLst>
          </p:cNvPr>
          <p:cNvSpPr txBox="1">
            <a:spLocks/>
          </p:cNvSpPr>
          <p:nvPr/>
        </p:nvSpPr>
        <p:spPr>
          <a:xfrm>
            <a:off x="4149680" y="6670790"/>
            <a:ext cx="4631713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Control flow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 – 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Arrays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 - 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Type conversions</a:t>
            </a:r>
          </a:p>
          <a:p>
            <a:endParaRPr lang="el-GR" sz="11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7" name="AutoShape 5">
            <a:extLst>
              <a:ext uri="{FF2B5EF4-FFF2-40B4-BE49-F238E27FC236}">
                <a16:creationId xmlns:a16="http://schemas.microsoft.com/office/drawing/2014/main" id="{CA1F8E25-4327-587F-D556-0E6A703242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5998" y="856458"/>
            <a:ext cx="4032250" cy="1511300"/>
          </a:xfrm>
          <a:prstGeom prst="wedgeRoundRectCallout">
            <a:avLst>
              <a:gd name="adj1" fmla="val 65109"/>
              <a:gd name="adj2" fmla="val 80440"/>
              <a:gd name="adj3" fmla="val 16667"/>
            </a:avLst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Θα </a:t>
            </a:r>
            <a:r>
              <a: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Tahoma" panose="020B0604030504040204" pitchFamily="34" charset="0"/>
              </a:rPr>
              <a:t>γράψεις</a:t>
            </a:r>
            <a:r>
              <a: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 500 φορές «Δεν θα πετάω αεροπλανάκια στην τάξη»</a:t>
            </a:r>
            <a:endParaRPr kumimoji="0" lang="en-US" altLang="el-GR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74D6853-DC10-CC4C-A039-F60EE9D42C81}"/>
              </a:ext>
            </a:extLst>
          </p:cNvPr>
          <p:cNvGrpSpPr/>
          <p:nvPr/>
        </p:nvGrpSpPr>
        <p:grpSpPr>
          <a:xfrm>
            <a:off x="342970" y="2329812"/>
            <a:ext cx="9944921" cy="3777028"/>
            <a:chOff x="342970" y="2329812"/>
            <a:chExt cx="9944921" cy="3777028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D47C123D-297F-EBEF-B2A8-0AD9A57376CC}"/>
                </a:ext>
              </a:extLst>
            </p:cNvPr>
            <p:cNvSpPr txBox="1"/>
            <p:nvPr/>
          </p:nvSpPr>
          <p:spPr>
            <a:xfrm>
              <a:off x="5797812" y="4174842"/>
              <a:ext cx="252152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GB" b="1" dirty="0">
                  <a:solidFill>
                    <a:srgbClr val="FF0000"/>
                  </a:solidFill>
                  <a:latin typeface="Tahoma" panose="020B0604030504040204" pitchFamily="34" charset="0"/>
                </a:rPr>
                <a:t>Loop Statement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F6E286A-3F87-DC20-DD87-A1E3FC599E37}"/>
                </a:ext>
              </a:extLst>
            </p:cNvPr>
            <p:cNvSpPr txBox="1"/>
            <p:nvPr/>
          </p:nvSpPr>
          <p:spPr>
            <a:xfrm>
              <a:off x="7546638" y="4735030"/>
              <a:ext cx="274125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GB" dirty="0">
                  <a:solidFill>
                    <a:srgbClr val="FF0000"/>
                  </a:solidFill>
                  <a:latin typeface="Tahoma" panose="020B0604030504040204" pitchFamily="34" charset="0"/>
                </a:rPr>
                <a:t>Function call Statement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3708B3B-63AE-EA5F-C7A7-5C93D7CDB665}"/>
                </a:ext>
              </a:extLst>
            </p:cNvPr>
            <p:cNvSpPr txBox="1"/>
            <p:nvPr/>
          </p:nvSpPr>
          <p:spPr>
            <a:xfrm>
              <a:off x="1920315" y="5278137"/>
              <a:ext cx="471637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GB" dirty="0">
                  <a:solidFill>
                    <a:srgbClr val="FF0000"/>
                  </a:solidFill>
                  <a:latin typeface="Tahoma" panose="020B0604030504040204" pitchFamily="34" charset="0"/>
                </a:rPr>
                <a:t>Control flow Statement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A29E908-E7A8-B946-C527-81DCAB83CC5E}"/>
                </a:ext>
              </a:extLst>
            </p:cNvPr>
            <p:cNvSpPr txBox="1"/>
            <p:nvPr/>
          </p:nvSpPr>
          <p:spPr>
            <a:xfrm>
              <a:off x="2064330" y="3636624"/>
              <a:ext cx="471637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l-GR" dirty="0">
                  <a:solidFill>
                    <a:srgbClr val="FF0000"/>
                  </a:solidFill>
                  <a:latin typeface="Tahoma" panose="020B0604030504040204" pitchFamily="34" charset="0"/>
                </a:rPr>
                <a:t>Πρόταση δήλωσης μεταβλητής</a:t>
              </a:r>
              <a:endParaRPr lang="en-GB" dirty="0">
                <a:solidFill>
                  <a:srgbClr val="FF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6017465-36EA-489F-548C-E962AD0BDAEF}"/>
                </a:ext>
              </a:extLst>
            </p:cNvPr>
            <p:cNvSpPr txBox="1"/>
            <p:nvPr/>
          </p:nvSpPr>
          <p:spPr>
            <a:xfrm>
              <a:off x="2403133" y="2703342"/>
              <a:ext cx="471637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l-GR" dirty="0">
                  <a:solidFill>
                    <a:srgbClr val="FF0000"/>
                  </a:solidFill>
                  <a:latin typeface="Tahoma" panose="020B0604030504040204" pitchFamily="34" charset="0"/>
                </a:rPr>
                <a:t>Ορισμός της συνάρτησης </a:t>
              </a:r>
              <a:r>
                <a:rPr lang="en-US" dirty="0">
                  <a:solidFill>
                    <a:srgbClr val="FF0000"/>
                  </a:solidFill>
                  <a:latin typeface="Tahoma" panose="020B0604030504040204" pitchFamily="34" charset="0"/>
                </a:rPr>
                <a:t>main</a:t>
              </a:r>
              <a:endParaRPr lang="en-GB" dirty="0">
                <a:solidFill>
                  <a:srgbClr val="FF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0EB50DD-A076-B38D-3B73-DBF15A77E049}"/>
                </a:ext>
              </a:extLst>
            </p:cNvPr>
            <p:cNvSpPr txBox="1"/>
            <p:nvPr/>
          </p:nvSpPr>
          <p:spPr>
            <a:xfrm>
              <a:off x="3176130" y="2329812"/>
              <a:ext cx="471637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l-GR" dirty="0">
                  <a:solidFill>
                    <a:srgbClr val="FF0000"/>
                  </a:solidFill>
                  <a:latin typeface="Tahoma" panose="020B0604030504040204" pitchFamily="34" charset="0"/>
                </a:rPr>
                <a:t>Πρόταση Προ-επεξεργαστή</a:t>
              </a:r>
              <a:endParaRPr lang="en-GB" dirty="0">
                <a:solidFill>
                  <a:srgbClr val="FF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57D11A9-22F5-64BE-B240-FB70370BEA36}"/>
                </a:ext>
              </a:extLst>
            </p:cNvPr>
            <p:cNvSpPr txBox="1"/>
            <p:nvPr/>
          </p:nvSpPr>
          <p:spPr>
            <a:xfrm>
              <a:off x="342970" y="3156410"/>
              <a:ext cx="734415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l-GR" dirty="0">
                  <a:solidFill>
                    <a:srgbClr val="00E4A8"/>
                  </a:solidFill>
                  <a:latin typeface="Tahoma" panose="020B0604030504040204" pitchFamily="34" charset="0"/>
                </a:rPr>
                <a:t>Σηματοδοτεί την αρχή του σώματος της</a:t>
              </a:r>
              <a:r>
                <a:rPr lang="en-US" dirty="0">
                  <a:solidFill>
                    <a:srgbClr val="00E4A8"/>
                  </a:solidFill>
                  <a:latin typeface="Tahoma" panose="020B0604030504040204" pitchFamily="34" charset="0"/>
                </a:rPr>
                <a:t> main</a:t>
              </a:r>
              <a:endParaRPr lang="en-GB" dirty="0">
                <a:solidFill>
                  <a:srgbClr val="00E4A8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763596A-799A-5219-D3FD-27E38259550A}"/>
                </a:ext>
              </a:extLst>
            </p:cNvPr>
            <p:cNvSpPr txBox="1"/>
            <p:nvPr/>
          </p:nvSpPr>
          <p:spPr>
            <a:xfrm>
              <a:off x="477604" y="5737508"/>
              <a:ext cx="734415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l-GR" dirty="0">
                  <a:solidFill>
                    <a:srgbClr val="00E4A8"/>
                  </a:solidFill>
                  <a:latin typeface="Tahoma" panose="020B0604030504040204" pitchFamily="34" charset="0"/>
                </a:rPr>
                <a:t>Σηματοδοτεί το τέλος του σώματος της</a:t>
              </a:r>
              <a:r>
                <a:rPr lang="en-US" dirty="0">
                  <a:solidFill>
                    <a:srgbClr val="00E4A8"/>
                  </a:solidFill>
                  <a:latin typeface="Tahoma" panose="020B0604030504040204" pitchFamily="34" charset="0"/>
                </a:rPr>
                <a:t> main</a:t>
              </a:r>
              <a:endParaRPr lang="en-GB" dirty="0">
                <a:solidFill>
                  <a:srgbClr val="00E4A8"/>
                </a:solidFill>
                <a:latin typeface="Tahoma" panose="020B0604030504040204" pitchFamily="34" charset="0"/>
              </a:endParaRPr>
            </a:p>
          </p:txBody>
        </p:sp>
      </p:grpSp>
      <p:pic>
        <p:nvPicPr>
          <p:cNvPr id="20" name="Picture 2">
            <a:extLst>
              <a:ext uri="{FF2B5EF4-FFF2-40B4-BE49-F238E27FC236}">
                <a16:creationId xmlns:a16="http://schemas.microsoft.com/office/drawing/2014/main" id="{3893DE9E-62B2-9967-D64B-A66C13B5CD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1155" y="2676212"/>
            <a:ext cx="1320176" cy="31618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" name="Picture 3">
            <a:extLst>
              <a:ext uri="{FF2B5EF4-FFF2-40B4-BE49-F238E27FC236}">
                <a16:creationId xmlns:a16="http://schemas.microsoft.com/office/drawing/2014/main" id="{69044E74-8F34-2E72-1C94-D64C9FB80B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8377" y="3099239"/>
            <a:ext cx="1425438" cy="14698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129737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43BFF5-AC9C-087C-886E-60A4D8709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F2EC6862-887E-8067-6FA2-76EA762BB64D}"/>
              </a:ext>
            </a:extLst>
          </p:cNvPr>
          <p:cNvSpPr/>
          <p:nvPr/>
        </p:nvSpPr>
        <p:spPr>
          <a:xfrm>
            <a:off x="140669" y="6559908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D489048A-DEB8-AB08-228B-0CB57F450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83457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Η πρόταση επανάληψης </a:t>
            </a:r>
            <a:r>
              <a:rPr lang="en-GB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for</a:t>
            </a:r>
            <a:endParaRPr lang="el-GR" sz="4000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FED73722-FCC2-4FEF-DD79-6AE797B372E9}"/>
              </a:ext>
            </a:extLst>
          </p:cNvPr>
          <p:cNvSpPr txBox="1">
            <a:spLocks/>
          </p:cNvSpPr>
          <p:nvPr/>
        </p:nvSpPr>
        <p:spPr>
          <a:xfrm>
            <a:off x="-1" y="6599394"/>
            <a:ext cx="3840633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© 202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5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Μια Εισαγωγή στην Τέχνη του Προγραμματισμού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1ED0414-C80C-3C14-7F7A-7B131C5404E0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200" dirty="0">
                <a:latin typeface="Bahnschrift Light" panose="020B0502040204020203" pitchFamily="34" charset="0"/>
                <a:cs typeface="Arial" pitchFamily="34" charset="0"/>
              </a:rPr>
              <a:t>Διαφάνεια </a:t>
            </a:r>
            <a:fld id="{7C15C5B5-03C6-48D8-B20F-65D93A6CF09E}" type="slidenum">
              <a:rPr lang="en-US" sz="1200" smtClean="0">
                <a:latin typeface="Bahnschrift Light" panose="020B0502040204020203" pitchFamily="34" charset="0"/>
                <a:cs typeface="Arial" pitchFamily="34" charset="0"/>
              </a:rPr>
              <a:pPr algn="r"/>
              <a:t>30</a:t>
            </a:fld>
            <a:endParaRPr lang="en-US" sz="1200" dirty="0">
              <a:latin typeface="Bahnschrift Light" panose="020B0502040204020203" pitchFamily="34" charset="0"/>
              <a:cs typeface="Arial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B06DCE1-5A2F-FFAE-9E31-CD3642A63342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0"/>
            <a:ext cx="9144000" cy="908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0033CC"/>
              </a:solidFill>
              <a:latin typeface="Times New Roman" pitchFamily="18" charset="0"/>
            </a:endParaRPr>
          </a:p>
        </p:txBody>
      </p:sp>
      <p:sp>
        <p:nvSpPr>
          <p:cNvPr id="12" name="Θέση υποσέλιδου 4">
            <a:extLst>
              <a:ext uri="{FF2B5EF4-FFF2-40B4-BE49-F238E27FC236}">
                <a16:creationId xmlns:a16="http://schemas.microsoft.com/office/drawing/2014/main" id="{3C084191-4291-F46A-4ED9-0DCBE51A6EFD}"/>
              </a:ext>
            </a:extLst>
          </p:cNvPr>
          <p:cNvSpPr txBox="1">
            <a:spLocks/>
          </p:cNvSpPr>
          <p:nvPr/>
        </p:nvSpPr>
        <p:spPr>
          <a:xfrm>
            <a:off x="4149680" y="6670790"/>
            <a:ext cx="4631713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Control flow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 – 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Arrays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 - 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Type conversions</a:t>
            </a:r>
          </a:p>
          <a:p>
            <a:endParaRPr lang="el-GR" sz="11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07F9D8-FEA6-5D00-8274-02CC75C4B327}"/>
              </a:ext>
            </a:extLst>
          </p:cNvPr>
          <p:cNvSpPr txBox="1"/>
          <p:nvPr/>
        </p:nvSpPr>
        <p:spPr>
          <a:xfrm>
            <a:off x="153971" y="4315706"/>
            <a:ext cx="10047305" cy="1569660"/>
          </a:xfrm>
          <a:prstGeom prst="rect">
            <a:avLst/>
          </a:prstGeom>
          <a:solidFill>
            <a:srgbClr val="00E4A8">
              <a:lumMod val="20000"/>
              <a:lumOff val="80000"/>
            </a:srgbClr>
          </a:solidFill>
        </p:spPr>
        <p:txBody>
          <a:bodyPr wrap="square" rtlCol="0">
            <a:spAutoFit/>
          </a:bodyPr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Για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count</a:t>
            </a:r>
            <a:r>
              <a:rPr kumimoji="0" 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 </a:t>
            </a:r>
            <a:r>
              <a:rPr kumimoji="0" lang="el-GR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ίσον</a:t>
            </a:r>
            <a:r>
              <a:rPr kumimoji="0" 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 1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(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ahoma" panose="020B0604030504040204" pitchFamily="34" charset="0"/>
              </a:rPr>
              <a:t>count=1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)</a:t>
            </a:r>
            <a:endParaRPr kumimoji="0" lang="el-GR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επανέλαβε όσο το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count </a:t>
            </a:r>
            <a:r>
              <a:rPr kumimoji="0" 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είναι μικρότερο ή ίσο με το 500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(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ahoma" panose="020B0604030504040204" pitchFamily="34" charset="0"/>
              </a:rPr>
              <a:t>count&lt;=500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)</a:t>
            </a:r>
            <a:endParaRPr kumimoji="0" lang="el-GR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	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printf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(…) 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 	</a:t>
            </a:r>
            <a:r>
              <a:rPr kumimoji="0" 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αύξησε το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count </a:t>
            </a:r>
            <a:r>
              <a:rPr kumimoji="0" 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κατά 1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 (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ahoma" panose="020B0604030504040204" pitchFamily="34" charset="0"/>
              </a:rPr>
              <a:t>count++          count = count+1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)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sp>
        <p:nvSpPr>
          <p:cNvPr id="5" name="Speech Bubble: Rectangle with Corners Rounded 4">
            <a:extLst>
              <a:ext uri="{FF2B5EF4-FFF2-40B4-BE49-F238E27FC236}">
                <a16:creationId xmlns:a16="http://schemas.microsoft.com/office/drawing/2014/main" id="{AE6F9226-7FD8-6A3B-E5D3-BF2F060CEDB9}"/>
              </a:ext>
            </a:extLst>
          </p:cNvPr>
          <p:cNvSpPr/>
          <p:nvPr/>
        </p:nvSpPr>
        <p:spPr bwMode="auto">
          <a:xfrm>
            <a:off x="801740" y="6060279"/>
            <a:ext cx="10873207" cy="383966"/>
          </a:xfrm>
          <a:prstGeom prst="wedgeRoundRectCallout">
            <a:avLst>
              <a:gd name="adj1" fmla="val -46256"/>
              <a:gd name="adj2" fmla="val 90929"/>
              <a:gd name="adj3" fmla="val 16667"/>
            </a:avLst>
          </a:prstGeom>
          <a:solidFill>
            <a:srgbClr val="00E4A8"/>
          </a:solidFill>
          <a:ln w="9525" cap="flat" cmpd="sng" algn="ctr">
            <a:solidFill>
              <a:srgbClr val="FFFF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Τα βασικά για προτάσεις ελέγχου ροής θα βρείτε στο 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 </a:t>
            </a:r>
            <a:r>
              <a:rPr kumimoji="0" lang="el-GR" sz="1800" b="0" i="0" u="none" strike="noStrike" kern="0" cap="none" spc="0" normalizeH="0" baseline="0" noProof="0" dirty="0">
                <a:ln>
                  <a:noFill/>
                </a:ln>
                <a:solidFill>
                  <a:srgbClr val="777777"/>
                </a:solidFill>
                <a:effectLst/>
                <a:uLnTx/>
                <a:uFillTx/>
                <a:latin typeface="Open Sans" panose="020B0606030504020204" pitchFamily="34" charset="0"/>
              </a:rPr>
              <a:t>(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777777"/>
                </a:solidFill>
                <a:effectLst/>
                <a:uLnTx/>
                <a:uFillTx/>
                <a:latin typeface="Open Sans" panose="020B0606030504020204" pitchFamily="34" charset="0"/>
                <a:hlinkClick r:id="rId3"/>
              </a:rPr>
              <a:t>Module15-ControlFlowStatements.pdf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777777"/>
                </a:solidFill>
                <a:effectLst/>
                <a:uLnTx/>
                <a:uFillTx/>
                <a:latin typeface="Open Sans" panose="020B0606030504020204" pitchFamily="34" charset="0"/>
              </a:rPr>
              <a:t>)</a:t>
            </a:r>
            <a:endParaRPr kumimoji="0" lang="en-GB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4B68CB9-9CBD-9844-B694-A5FF1B8CA2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241577"/>
            <a:ext cx="11633943" cy="83099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EA2C910-04E7-3582-CA29-298ECA5CBCD2}"/>
              </a:ext>
            </a:extLst>
          </p:cNvPr>
          <p:cNvSpPr txBox="1"/>
          <p:nvPr/>
        </p:nvSpPr>
        <p:spPr>
          <a:xfrm>
            <a:off x="18999" y="866148"/>
            <a:ext cx="12173001" cy="120032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l-GR" sz="2400" b="1" dirty="0">
                <a:solidFill>
                  <a:srgbClr val="000000"/>
                </a:solidFill>
                <a:latin typeface="Tahoma" panose="020B0604030504040204" pitchFamily="34" charset="0"/>
              </a:rPr>
              <a:t>Λεκτική Περιγραφή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l-GR" sz="2400" dirty="0">
                <a:solidFill>
                  <a:srgbClr val="000000"/>
                </a:solidFill>
                <a:latin typeface="Tahoma" panose="020B0604030504040204" pitchFamily="34" charset="0"/>
              </a:rPr>
              <a:t>Επανέλαβε 500 φορές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l-GR" sz="2400" dirty="0">
                <a:solidFill>
                  <a:srgbClr val="000000"/>
                </a:solidFill>
                <a:latin typeface="Tahoma" panose="020B0604030504040204" pitchFamily="34" charset="0"/>
              </a:rPr>
              <a:t>	Εμφάνισε στην οθόνη το μήνυμα «Δεν θα …»</a:t>
            </a:r>
            <a:endParaRPr lang="en-GB" sz="2400" dirty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9C3FE07-BF33-1C1B-E7ED-8320DD09A40C}"/>
              </a:ext>
            </a:extLst>
          </p:cNvPr>
          <p:cNvSpPr txBox="1"/>
          <p:nvPr/>
        </p:nvSpPr>
        <p:spPr>
          <a:xfrm rot="20060779">
            <a:off x="6427511" y="2480473"/>
            <a:ext cx="27991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l-GR" sz="2400" b="1" dirty="0">
                <a:solidFill>
                  <a:srgbClr val="C00000"/>
                </a:solidFill>
                <a:latin typeface="Tahoma" panose="020B0604030504040204" pitchFamily="34" charset="0"/>
              </a:rPr>
              <a:t>Πηγαίος Κώδικας</a:t>
            </a:r>
            <a:endParaRPr lang="en-GB" sz="2400" b="1" dirty="0">
              <a:solidFill>
                <a:srgbClr val="C00000"/>
              </a:solidFill>
              <a:latin typeface="Tahoma" panose="020B060403050404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95977DB-4BFC-6253-91DE-75B8B1766D3C}"/>
              </a:ext>
            </a:extLst>
          </p:cNvPr>
          <p:cNvSpPr txBox="1"/>
          <p:nvPr/>
        </p:nvSpPr>
        <p:spPr>
          <a:xfrm>
            <a:off x="118616" y="3646268"/>
            <a:ext cx="594746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l-GR" sz="3200" b="1" dirty="0">
                <a:solidFill>
                  <a:srgbClr val="C00000"/>
                </a:solidFill>
                <a:latin typeface="Tahoma" panose="020B0604030504040204" pitchFamily="34" charset="0"/>
              </a:rPr>
              <a:t>Η σημασία της πρότασης </a:t>
            </a:r>
            <a:r>
              <a:rPr lang="en-US" sz="3200" b="1" dirty="0">
                <a:solidFill>
                  <a:srgbClr val="C00000"/>
                </a:solidFill>
                <a:latin typeface="Tahoma" panose="020B0604030504040204" pitchFamily="34" charset="0"/>
              </a:rPr>
              <a:t>for</a:t>
            </a:r>
            <a:endParaRPr lang="en-GB" sz="3200" b="1" dirty="0">
              <a:solidFill>
                <a:srgbClr val="C00000"/>
              </a:solidFill>
              <a:latin typeface="Tahoma" panose="020B0604030504040204" pitchFamily="34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65E177E-F6E6-0B58-CE53-F0CD66E010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02574" y="1189978"/>
            <a:ext cx="1411054" cy="1414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89956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14" grpId="0"/>
      <p:bldP spid="15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F4DF41-3EC3-D97C-5B95-65A587072A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151B7DF8-B931-F0FE-90E7-8D2E37926000}"/>
              </a:ext>
            </a:extLst>
          </p:cNvPr>
          <p:cNvSpPr/>
          <p:nvPr/>
        </p:nvSpPr>
        <p:spPr>
          <a:xfrm>
            <a:off x="140669" y="6559908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4C315E68-FF8D-52DE-2AC5-CC813243AC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Πρόταση </a:t>
            </a:r>
            <a:r>
              <a:rPr lang="en-US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for</a:t>
            </a: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E455F70B-E085-DA3A-A2C9-AAB85CC472D3}"/>
              </a:ext>
            </a:extLst>
          </p:cNvPr>
          <p:cNvSpPr txBox="1">
            <a:spLocks/>
          </p:cNvSpPr>
          <p:nvPr/>
        </p:nvSpPr>
        <p:spPr>
          <a:xfrm>
            <a:off x="-1" y="6599394"/>
            <a:ext cx="3840633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© 202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5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Μια Εισαγωγή στην Τέχνη του Προγραμματισμού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F3B372C-5BE2-05F7-4CDA-A5B9368D93F6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200" dirty="0">
                <a:latin typeface="Bahnschrift Light" panose="020B0502040204020203" pitchFamily="34" charset="0"/>
                <a:cs typeface="Arial" pitchFamily="34" charset="0"/>
              </a:rPr>
              <a:t>Διαφάνεια </a:t>
            </a:r>
            <a:fld id="{7C15C5B5-03C6-48D8-B20F-65D93A6CF09E}" type="slidenum">
              <a:rPr lang="en-US" sz="1200" smtClean="0">
                <a:latin typeface="Bahnschrift Light" panose="020B0502040204020203" pitchFamily="34" charset="0"/>
                <a:cs typeface="Arial" pitchFamily="34" charset="0"/>
              </a:rPr>
              <a:pPr algn="r"/>
              <a:t>31</a:t>
            </a:fld>
            <a:endParaRPr lang="en-US" sz="1200" dirty="0">
              <a:latin typeface="Bahnschrift Light" panose="020B0502040204020203" pitchFamily="34" charset="0"/>
              <a:cs typeface="Arial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5A6CD9B-5085-E45C-792D-ACE24093AD53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0"/>
            <a:ext cx="9144000" cy="908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0033CC"/>
              </a:solidFill>
              <a:latin typeface="Times New Roman" pitchFamily="18" charset="0"/>
            </a:endParaRPr>
          </a:p>
        </p:txBody>
      </p:sp>
      <p:sp>
        <p:nvSpPr>
          <p:cNvPr id="14" name="Θέση υποσέλιδου 4">
            <a:extLst>
              <a:ext uri="{FF2B5EF4-FFF2-40B4-BE49-F238E27FC236}">
                <a16:creationId xmlns:a16="http://schemas.microsoft.com/office/drawing/2014/main" id="{9B4221DC-F5BC-9F7A-BE82-28895C846CEE}"/>
              </a:ext>
            </a:extLst>
          </p:cNvPr>
          <p:cNvSpPr txBox="1">
            <a:spLocks/>
          </p:cNvSpPr>
          <p:nvPr/>
        </p:nvSpPr>
        <p:spPr>
          <a:xfrm>
            <a:off x="4149680" y="6689184"/>
            <a:ext cx="3462169" cy="2586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Πηγαίος Κώδικας – Βασικές Έννοιες</a:t>
            </a:r>
          </a:p>
          <a:p>
            <a:endParaRPr lang="el-GR" sz="11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86249E8D-5B60-4DE0-D69C-99C60BB1BC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669" y="890588"/>
            <a:ext cx="7772400" cy="13581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l-GR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for (</a:t>
            </a:r>
            <a:r>
              <a:rPr lang="el-GR" altLang="el-GR" kern="0" noProof="0" dirty="0">
                <a:solidFill>
                  <a:srgbClr val="000000"/>
                </a:solidFill>
                <a:latin typeface="Times New Roman" panose="02020603050405020304" pitchFamily="18" charset="0"/>
              </a:rPr>
              <a:t>Έ</a:t>
            </a:r>
            <a:r>
              <a:rPr kumimoji="0" lang="en-US" altLang="el-GR" sz="3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κφρ</a:t>
            </a:r>
            <a:r>
              <a:rPr kumimoji="0" lang="en-US" altLang="el-GR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αση1 </a:t>
            </a:r>
            <a:r>
              <a:rPr kumimoji="0" lang="en-US" altLang="el-GR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;</a:t>
            </a:r>
            <a:r>
              <a:rPr kumimoji="0" lang="en-US" altLang="el-GR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 </a:t>
            </a:r>
            <a:r>
              <a:rPr lang="el-GR" altLang="el-GR" kern="0" dirty="0">
                <a:solidFill>
                  <a:srgbClr val="000000"/>
                </a:solidFill>
                <a:latin typeface="Times New Roman" panose="02020603050405020304" pitchFamily="18" charset="0"/>
              </a:rPr>
              <a:t>Έ</a:t>
            </a:r>
            <a:r>
              <a:rPr kumimoji="0" lang="en-US" altLang="el-GR" sz="3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κφρ</a:t>
            </a:r>
            <a:r>
              <a:rPr kumimoji="0" lang="en-US" altLang="el-GR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αση2</a:t>
            </a:r>
            <a:r>
              <a:rPr kumimoji="0" lang="en-US" altLang="el-GR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 ; </a:t>
            </a:r>
            <a:r>
              <a:rPr lang="el-GR" altLang="el-GR" kern="0" noProof="0" dirty="0">
                <a:solidFill>
                  <a:srgbClr val="000000"/>
                </a:solidFill>
                <a:latin typeface="Times New Roman" panose="02020603050405020304" pitchFamily="18" charset="0"/>
              </a:rPr>
              <a:t>Έ</a:t>
            </a:r>
            <a:r>
              <a:rPr kumimoji="0" lang="en-US" altLang="el-GR" sz="3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κφρ</a:t>
            </a:r>
            <a:r>
              <a:rPr kumimoji="0" lang="en-US" altLang="el-GR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αση3 </a:t>
            </a:r>
            <a:r>
              <a:rPr kumimoji="0" lang="en-US" altLang="el-GR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)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l-GR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	</a:t>
            </a:r>
            <a:r>
              <a:rPr kumimoji="0" lang="en-US" altLang="el-GR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π</a:t>
            </a:r>
            <a:r>
              <a:rPr kumimoji="0" lang="en-US" altLang="el-GR" sz="32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ρότ</a:t>
            </a:r>
            <a:r>
              <a:rPr kumimoji="0" lang="en-US" altLang="el-GR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αση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endParaRPr kumimoji="0" lang="en-GB" altLang="el-G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DAC32D8-BDF2-1AE8-106F-67E3ADA617E3}"/>
              </a:ext>
            </a:extLst>
          </p:cNvPr>
          <p:cNvGrpSpPr>
            <a:grpSpLocks/>
          </p:cNvGrpSpPr>
          <p:nvPr/>
        </p:nvGrpSpPr>
        <p:grpSpPr bwMode="auto">
          <a:xfrm>
            <a:off x="684212" y="2419949"/>
            <a:ext cx="5170898" cy="3956597"/>
            <a:chOff x="421" y="2072"/>
            <a:chExt cx="2651" cy="1936"/>
          </a:xfrm>
        </p:grpSpPr>
        <p:sp>
          <p:nvSpPr>
            <p:cNvPr id="13" name="Rectangle 6">
              <a:extLst>
                <a:ext uri="{FF2B5EF4-FFF2-40B4-BE49-F238E27FC236}">
                  <a16:creationId xmlns:a16="http://schemas.microsoft.com/office/drawing/2014/main" id="{7F7C8A41-3728-2669-EA6B-7E454C3A9A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2" y="2261"/>
              <a:ext cx="988" cy="23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l-GR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ahoma" panose="020B0604030504040204" pitchFamily="34" charset="0"/>
                </a:rPr>
                <a:t>Initialize</a:t>
              </a:r>
              <a:endParaRPr kumimoji="0" lang="el-GR" altLang="el-GR" sz="2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16" name="Rectangle 8">
              <a:extLst>
                <a:ext uri="{FF2B5EF4-FFF2-40B4-BE49-F238E27FC236}">
                  <a16:creationId xmlns:a16="http://schemas.microsoft.com/office/drawing/2014/main" id="{DDD798D0-7F99-F2EF-915F-AE21006677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2" y="2304"/>
              <a:ext cx="0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lang="en-GB" altLang="el-GR" sz="1800" kern="0" dirty="0">
                <a:solidFill>
                  <a:srgbClr val="FF0000"/>
                </a:solidFill>
              </a:endParaRPr>
            </a:p>
          </p:txBody>
        </p:sp>
        <p:sp>
          <p:nvSpPr>
            <p:cNvPr id="17" name="Freeform 9">
              <a:extLst>
                <a:ext uri="{FF2B5EF4-FFF2-40B4-BE49-F238E27FC236}">
                  <a16:creationId xmlns:a16="http://schemas.microsoft.com/office/drawing/2014/main" id="{0ED3CBE6-6549-7D97-5195-C12E79E5429D}"/>
                </a:ext>
              </a:extLst>
            </p:cNvPr>
            <p:cNvSpPr>
              <a:spLocks/>
            </p:cNvSpPr>
            <p:nvPr/>
          </p:nvSpPr>
          <p:spPr bwMode="auto">
            <a:xfrm>
              <a:off x="671" y="2704"/>
              <a:ext cx="994" cy="483"/>
            </a:xfrm>
            <a:custGeom>
              <a:avLst/>
              <a:gdLst>
                <a:gd name="T0" fmla="*/ 496 w 994"/>
                <a:gd name="T1" fmla="*/ 0 h 483"/>
                <a:gd name="T2" fmla="*/ 0 w 994"/>
                <a:gd name="T3" fmla="*/ 241 h 483"/>
                <a:gd name="T4" fmla="*/ 496 w 994"/>
                <a:gd name="T5" fmla="*/ 483 h 483"/>
                <a:gd name="T6" fmla="*/ 994 w 994"/>
                <a:gd name="T7" fmla="*/ 241 h 483"/>
                <a:gd name="T8" fmla="*/ 496 w 994"/>
                <a:gd name="T9" fmla="*/ 0 h 48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4"/>
                <a:gd name="T16" fmla="*/ 0 h 483"/>
                <a:gd name="T17" fmla="*/ 994 w 994"/>
                <a:gd name="T18" fmla="*/ 483 h 48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4" h="483">
                  <a:moveTo>
                    <a:pt x="496" y="0"/>
                  </a:moveTo>
                  <a:lnTo>
                    <a:pt x="0" y="241"/>
                  </a:lnTo>
                  <a:lnTo>
                    <a:pt x="496" y="483"/>
                  </a:lnTo>
                  <a:lnTo>
                    <a:pt x="994" y="241"/>
                  </a:lnTo>
                  <a:lnTo>
                    <a:pt x="496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18" name="Rectangle 10">
              <a:extLst>
                <a:ext uri="{FF2B5EF4-FFF2-40B4-BE49-F238E27FC236}">
                  <a16:creationId xmlns:a16="http://schemas.microsoft.com/office/drawing/2014/main" id="{7CDD3AC6-26EF-2F39-9E48-1B55AC65DD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7" y="2806"/>
              <a:ext cx="371" cy="1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19" name="Rectangle 11">
              <a:extLst>
                <a:ext uri="{FF2B5EF4-FFF2-40B4-BE49-F238E27FC236}">
                  <a16:creationId xmlns:a16="http://schemas.microsoft.com/office/drawing/2014/main" id="{2E4403B7-D86C-E192-BA9B-E1AC69A3F7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3" y="2881"/>
              <a:ext cx="338" cy="1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l-GR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ahoma" panose="020B0604030504040204" pitchFamily="34" charset="0"/>
                </a:rPr>
                <a:t>Test</a:t>
              </a:r>
              <a:endParaRPr kumimoji="0" lang="en-GB" altLang="el-GR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20" name="Rectangle 12">
              <a:extLst>
                <a:ext uri="{FF2B5EF4-FFF2-40B4-BE49-F238E27FC236}">
                  <a16:creationId xmlns:a16="http://schemas.microsoft.com/office/drawing/2014/main" id="{DF15AE54-ED2A-C1BC-4C24-6624B01206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6" y="2945"/>
              <a:ext cx="594" cy="1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21" name="Rectangle 13">
              <a:extLst>
                <a:ext uri="{FF2B5EF4-FFF2-40B4-BE49-F238E27FC236}">
                  <a16:creationId xmlns:a16="http://schemas.microsoft.com/office/drawing/2014/main" id="{A99DA087-9939-41BF-3A3D-D053CE6961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2" y="3402"/>
              <a:ext cx="1514" cy="27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l-GR" altLang="el-GR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Tahoma" panose="020B0604030504040204" pitchFamily="34" charset="0"/>
                  <a:cs typeface="Tahoma" panose="020B0604030504040204" pitchFamily="34" charset="0"/>
                </a:rPr>
                <a:t>Πρόταση</a:t>
              </a:r>
              <a:endParaRPr kumimoji="0" lang="en-GB" altLang="el-GR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22" name="Rectangle 14">
              <a:extLst>
                <a:ext uri="{FF2B5EF4-FFF2-40B4-BE49-F238E27FC236}">
                  <a16:creationId xmlns:a16="http://schemas.microsoft.com/office/drawing/2014/main" id="{AD75EB9F-46C3-5496-4399-17CB786A9B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8" y="3400"/>
              <a:ext cx="1442" cy="1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23" name="Rectangle 15">
              <a:extLst>
                <a:ext uri="{FF2B5EF4-FFF2-40B4-BE49-F238E27FC236}">
                  <a16:creationId xmlns:a16="http://schemas.microsoft.com/office/drawing/2014/main" id="{D5506ECE-6782-79ED-5AD3-5A996757BF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3" y="3539"/>
              <a:ext cx="114" cy="1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24" name="Rectangle 16">
              <a:extLst>
                <a:ext uri="{FF2B5EF4-FFF2-40B4-BE49-F238E27FC236}">
                  <a16:creationId xmlns:a16="http://schemas.microsoft.com/office/drawing/2014/main" id="{8B238E3C-3954-5248-574B-4B39FFBB30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9" y="3539"/>
              <a:ext cx="877" cy="1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25" name="Rectangle 17">
              <a:extLst>
                <a:ext uri="{FF2B5EF4-FFF2-40B4-BE49-F238E27FC236}">
                  <a16:creationId xmlns:a16="http://schemas.microsoft.com/office/drawing/2014/main" id="{E19A49C3-DBEA-6294-A089-2D5C6BF534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78" y="2811"/>
              <a:ext cx="994" cy="23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l-GR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ahoma" panose="020B0604030504040204" pitchFamily="34" charset="0"/>
                </a:rPr>
                <a:t>Update</a:t>
              </a:r>
              <a:endParaRPr kumimoji="0" lang="el-GR" altLang="el-GR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27" name="Rectangle 19">
              <a:extLst>
                <a:ext uri="{FF2B5EF4-FFF2-40B4-BE49-F238E27FC236}">
                  <a16:creationId xmlns:a16="http://schemas.microsoft.com/office/drawing/2014/main" id="{B50CD3AA-F5A0-A0B7-89B3-5FDFDC243C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4" y="3787"/>
              <a:ext cx="1430" cy="22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l-GR" altLang="el-GR" kern="0" dirty="0">
                  <a:solidFill>
                    <a:srgbClr val="000000"/>
                  </a:solidFill>
                </a:rPr>
                <a:t>Επόμενη Πρόταση</a:t>
              </a:r>
              <a:endParaRPr kumimoji="0" lang="el-GR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28" name="Rectangle 20">
              <a:extLst>
                <a:ext uri="{FF2B5EF4-FFF2-40B4-BE49-F238E27FC236}">
                  <a16:creationId xmlns:a16="http://schemas.microsoft.com/office/drawing/2014/main" id="{C10F19D0-3102-74AA-6032-4BA1DA40EB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2" y="3789"/>
              <a:ext cx="143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30" name="Rectangle 22">
              <a:extLst>
                <a:ext uri="{FF2B5EF4-FFF2-40B4-BE49-F238E27FC236}">
                  <a16:creationId xmlns:a16="http://schemas.microsoft.com/office/drawing/2014/main" id="{96F04E71-7B01-2C2B-12FD-EC4C0DE728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9" y="3789"/>
              <a:ext cx="1105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33" name="Rectangle 25">
              <a:extLst>
                <a:ext uri="{FF2B5EF4-FFF2-40B4-BE49-F238E27FC236}">
                  <a16:creationId xmlns:a16="http://schemas.microsoft.com/office/drawing/2014/main" id="{E0F1EC05-0C86-DF75-2F67-F553ACAB0A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8" y="3789"/>
              <a:ext cx="143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34" name="Rectangle 26">
              <a:extLst>
                <a:ext uri="{FF2B5EF4-FFF2-40B4-BE49-F238E27FC236}">
                  <a16:creationId xmlns:a16="http://schemas.microsoft.com/office/drawing/2014/main" id="{917FC2DB-ECC9-CA07-7214-28BCDEB373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8" y="3815"/>
              <a:ext cx="0" cy="1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35" name="Freeform 27">
              <a:extLst>
                <a:ext uri="{FF2B5EF4-FFF2-40B4-BE49-F238E27FC236}">
                  <a16:creationId xmlns:a16="http://schemas.microsoft.com/office/drawing/2014/main" id="{8C2C26BE-E62E-BC5F-D801-D1A43B4BD00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9" y="2072"/>
              <a:ext cx="12" cy="165"/>
            </a:xfrm>
            <a:custGeom>
              <a:avLst/>
              <a:gdLst>
                <a:gd name="T0" fmla="*/ 11 w 12"/>
                <a:gd name="T1" fmla="*/ 0 h 165"/>
                <a:gd name="T2" fmla="*/ 0 w 12"/>
                <a:gd name="T3" fmla="*/ 0 h 165"/>
                <a:gd name="T4" fmla="*/ 1 w 12"/>
                <a:gd name="T5" fmla="*/ 165 h 165"/>
                <a:gd name="T6" fmla="*/ 12 w 12"/>
                <a:gd name="T7" fmla="*/ 165 h 165"/>
                <a:gd name="T8" fmla="*/ 11 w 12"/>
                <a:gd name="T9" fmla="*/ 0 h 16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"/>
                <a:gd name="T16" fmla="*/ 0 h 165"/>
                <a:gd name="T17" fmla="*/ 12 w 12"/>
                <a:gd name="T18" fmla="*/ 165 h 16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" h="165">
                  <a:moveTo>
                    <a:pt x="11" y="0"/>
                  </a:moveTo>
                  <a:lnTo>
                    <a:pt x="0" y="0"/>
                  </a:lnTo>
                  <a:lnTo>
                    <a:pt x="1" y="165"/>
                  </a:lnTo>
                  <a:lnTo>
                    <a:pt x="12" y="165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36" name="Freeform 28">
              <a:extLst>
                <a:ext uri="{FF2B5EF4-FFF2-40B4-BE49-F238E27FC236}">
                  <a16:creationId xmlns:a16="http://schemas.microsoft.com/office/drawing/2014/main" id="{C53E5222-4C8F-B195-7A68-193C3BC27B9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2" y="2128"/>
              <a:ext cx="65" cy="109"/>
            </a:xfrm>
            <a:custGeom>
              <a:avLst/>
              <a:gdLst>
                <a:gd name="T0" fmla="*/ 0 w 65"/>
                <a:gd name="T1" fmla="*/ 0 h 109"/>
                <a:gd name="T2" fmla="*/ 32 w 65"/>
                <a:gd name="T3" fmla="*/ 14 h 109"/>
                <a:gd name="T4" fmla="*/ 65 w 65"/>
                <a:gd name="T5" fmla="*/ 0 h 109"/>
                <a:gd name="T6" fmla="*/ 32 w 65"/>
                <a:gd name="T7" fmla="*/ 109 h 109"/>
                <a:gd name="T8" fmla="*/ 0 w 65"/>
                <a:gd name="T9" fmla="*/ 0 h 10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5"/>
                <a:gd name="T16" fmla="*/ 0 h 109"/>
                <a:gd name="T17" fmla="*/ 65 w 65"/>
                <a:gd name="T18" fmla="*/ 109 h 10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5" h="109">
                  <a:moveTo>
                    <a:pt x="0" y="0"/>
                  </a:moveTo>
                  <a:lnTo>
                    <a:pt x="32" y="14"/>
                  </a:lnTo>
                  <a:lnTo>
                    <a:pt x="65" y="0"/>
                  </a:lnTo>
                  <a:lnTo>
                    <a:pt x="32" y="10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37" name="Freeform 29">
              <a:extLst>
                <a:ext uri="{FF2B5EF4-FFF2-40B4-BE49-F238E27FC236}">
                  <a16:creationId xmlns:a16="http://schemas.microsoft.com/office/drawing/2014/main" id="{0646591D-9780-5564-9ACB-817D451536B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9" y="2491"/>
              <a:ext cx="12" cy="131"/>
            </a:xfrm>
            <a:custGeom>
              <a:avLst/>
              <a:gdLst>
                <a:gd name="T0" fmla="*/ 11 w 12"/>
                <a:gd name="T1" fmla="*/ 0 h 131"/>
                <a:gd name="T2" fmla="*/ 0 w 12"/>
                <a:gd name="T3" fmla="*/ 0 h 131"/>
                <a:gd name="T4" fmla="*/ 1 w 12"/>
                <a:gd name="T5" fmla="*/ 131 h 131"/>
                <a:gd name="T6" fmla="*/ 12 w 12"/>
                <a:gd name="T7" fmla="*/ 131 h 131"/>
                <a:gd name="T8" fmla="*/ 11 w 12"/>
                <a:gd name="T9" fmla="*/ 0 h 13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"/>
                <a:gd name="T16" fmla="*/ 0 h 131"/>
                <a:gd name="T17" fmla="*/ 12 w 12"/>
                <a:gd name="T18" fmla="*/ 131 h 13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" h="131">
                  <a:moveTo>
                    <a:pt x="11" y="0"/>
                  </a:moveTo>
                  <a:lnTo>
                    <a:pt x="0" y="0"/>
                  </a:lnTo>
                  <a:lnTo>
                    <a:pt x="1" y="131"/>
                  </a:lnTo>
                  <a:lnTo>
                    <a:pt x="12" y="131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38" name="Freeform 30">
              <a:extLst>
                <a:ext uri="{FF2B5EF4-FFF2-40B4-BE49-F238E27FC236}">
                  <a16:creationId xmlns:a16="http://schemas.microsoft.com/office/drawing/2014/main" id="{B3428C94-B027-3DCA-5014-1BEE3F6C40B8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2" y="2592"/>
              <a:ext cx="65" cy="108"/>
            </a:xfrm>
            <a:custGeom>
              <a:avLst/>
              <a:gdLst>
                <a:gd name="T0" fmla="*/ 0 w 65"/>
                <a:gd name="T1" fmla="*/ 0 h 108"/>
                <a:gd name="T2" fmla="*/ 32 w 65"/>
                <a:gd name="T3" fmla="*/ 13 h 108"/>
                <a:gd name="T4" fmla="*/ 65 w 65"/>
                <a:gd name="T5" fmla="*/ 0 h 108"/>
                <a:gd name="T6" fmla="*/ 32 w 65"/>
                <a:gd name="T7" fmla="*/ 108 h 108"/>
                <a:gd name="T8" fmla="*/ 0 w 65"/>
                <a:gd name="T9" fmla="*/ 0 h 10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5"/>
                <a:gd name="T16" fmla="*/ 0 h 108"/>
                <a:gd name="T17" fmla="*/ 65 w 65"/>
                <a:gd name="T18" fmla="*/ 108 h 10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5" h="108">
                  <a:moveTo>
                    <a:pt x="0" y="0"/>
                  </a:moveTo>
                  <a:lnTo>
                    <a:pt x="32" y="13"/>
                  </a:lnTo>
                  <a:lnTo>
                    <a:pt x="65" y="0"/>
                  </a:lnTo>
                  <a:lnTo>
                    <a:pt x="32" y="1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39" name="Freeform 31">
              <a:extLst>
                <a:ext uri="{FF2B5EF4-FFF2-40B4-BE49-F238E27FC236}">
                  <a16:creationId xmlns:a16="http://schemas.microsoft.com/office/drawing/2014/main" id="{22D18706-C581-E2ED-1842-B703E4265AD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9" y="3190"/>
              <a:ext cx="12" cy="130"/>
            </a:xfrm>
            <a:custGeom>
              <a:avLst/>
              <a:gdLst>
                <a:gd name="T0" fmla="*/ 11 w 12"/>
                <a:gd name="T1" fmla="*/ 0 h 130"/>
                <a:gd name="T2" fmla="*/ 0 w 12"/>
                <a:gd name="T3" fmla="*/ 0 h 130"/>
                <a:gd name="T4" fmla="*/ 1 w 12"/>
                <a:gd name="T5" fmla="*/ 130 h 130"/>
                <a:gd name="T6" fmla="*/ 12 w 12"/>
                <a:gd name="T7" fmla="*/ 130 h 130"/>
                <a:gd name="T8" fmla="*/ 11 w 12"/>
                <a:gd name="T9" fmla="*/ 0 h 13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"/>
                <a:gd name="T16" fmla="*/ 0 h 130"/>
                <a:gd name="T17" fmla="*/ 12 w 12"/>
                <a:gd name="T18" fmla="*/ 130 h 13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" h="130">
                  <a:moveTo>
                    <a:pt x="11" y="0"/>
                  </a:moveTo>
                  <a:lnTo>
                    <a:pt x="0" y="0"/>
                  </a:lnTo>
                  <a:lnTo>
                    <a:pt x="1" y="130"/>
                  </a:lnTo>
                  <a:lnTo>
                    <a:pt x="12" y="130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40" name="Freeform 32">
              <a:extLst>
                <a:ext uri="{FF2B5EF4-FFF2-40B4-BE49-F238E27FC236}">
                  <a16:creationId xmlns:a16="http://schemas.microsoft.com/office/drawing/2014/main" id="{16AD1974-BA6E-FCBE-7D2B-EF7F9A26447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2" y="3292"/>
              <a:ext cx="65" cy="108"/>
            </a:xfrm>
            <a:custGeom>
              <a:avLst/>
              <a:gdLst>
                <a:gd name="T0" fmla="*/ 0 w 65"/>
                <a:gd name="T1" fmla="*/ 0 h 108"/>
                <a:gd name="T2" fmla="*/ 32 w 65"/>
                <a:gd name="T3" fmla="*/ 13 h 108"/>
                <a:gd name="T4" fmla="*/ 65 w 65"/>
                <a:gd name="T5" fmla="*/ 0 h 108"/>
                <a:gd name="T6" fmla="*/ 32 w 65"/>
                <a:gd name="T7" fmla="*/ 108 h 108"/>
                <a:gd name="T8" fmla="*/ 0 w 65"/>
                <a:gd name="T9" fmla="*/ 0 h 10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5"/>
                <a:gd name="T16" fmla="*/ 0 h 108"/>
                <a:gd name="T17" fmla="*/ 65 w 65"/>
                <a:gd name="T18" fmla="*/ 108 h 10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5" h="108">
                  <a:moveTo>
                    <a:pt x="0" y="0"/>
                  </a:moveTo>
                  <a:lnTo>
                    <a:pt x="32" y="13"/>
                  </a:lnTo>
                  <a:lnTo>
                    <a:pt x="65" y="0"/>
                  </a:lnTo>
                  <a:lnTo>
                    <a:pt x="32" y="1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41" name="Rectangle 33">
              <a:extLst>
                <a:ext uri="{FF2B5EF4-FFF2-40B4-BE49-F238E27FC236}">
                  <a16:creationId xmlns:a16="http://schemas.microsoft.com/office/drawing/2014/main" id="{001B737D-68E4-B466-C70C-4B2E6F30B3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46" y="3499"/>
              <a:ext cx="415" cy="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42" name="Rectangle 34">
              <a:extLst>
                <a:ext uri="{FF2B5EF4-FFF2-40B4-BE49-F238E27FC236}">
                  <a16:creationId xmlns:a16="http://schemas.microsoft.com/office/drawing/2014/main" id="{0C4689E2-3D2A-3CAB-1584-69508236F0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54" y="3130"/>
              <a:ext cx="12" cy="37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43" name="Freeform 35">
              <a:extLst>
                <a:ext uri="{FF2B5EF4-FFF2-40B4-BE49-F238E27FC236}">
                  <a16:creationId xmlns:a16="http://schemas.microsoft.com/office/drawing/2014/main" id="{36B02956-27CA-2A01-5035-3FD9C9F9A141}"/>
                </a:ext>
              </a:extLst>
            </p:cNvPr>
            <p:cNvSpPr>
              <a:spLocks/>
            </p:cNvSpPr>
            <p:nvPr/>
          </p:nvSpPr>
          <p:spPr bwMode="auto">
            <a:xfrm>
              <a:off x="2426" y="3050"/>
              <a:ext cx="67" cy="108"/>
            </a:xfrm>
            <a:custGeom>
              <a:avLst/>
              <a:gdLst>
                <a:gd name="T0" fmla="*/ 67 w 67"/>
                <a:gd name="T1" fmla="*/ 108 h 108"/>
                <a:gd name="T2" fmla="*/ 34 w 67"/>
                <a:gd name="T3" fmla="*/ 95 h 108"/>
                <a:gd name="T4" fmla="*/ 0 w 67"/>
                <a:gd name="T5" fmla="*/ 108 h 108"/>
                <a:gd name="T6" fmla="*/ 34 w 67"/>
                <a:gd name="T7" fmla="*/ 0 h 108"/>
                <a:gd name="T8" fmla="*/ 67 w 67"/>
                <a:gd name="T9" fmla="*/ 108 h 10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7"/>
                <a:gd name="T16" fmla="*/ 0 h 108"/>
                <a:gd name="T17" fmla="*/ 67 w 67"/>
                <a:gd name="T18" fmla="*/ 108 h 10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7" h="108">
                  <a:moveTo>
                    <a:pt x="67" y="108"/>
                  </a:moveTo>
                  <a:lnTo>
                    <a:pt x="34" y="95"/>
                  </a:lnTo>
                  <a:lnTo>
                    <a:pt x="0" y="108"/>
                  </a:lnTo>
                  <a:lnTo>
                    <a:pt x="34" y="0"/>
                  </a:lnTo>
                  <a:lnTo>
                    <a:pt x="67" y="10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44" name="Rectangle 36">
              <a:extLst>
                <a:ext uri="{FF2B5EF4-FFF2-40B4-BE49-F238E27FC236}">
                  <a16:creationId xmlns:a16="http://schemas.microsoft.com/office/drawing/2014/main" id="{C4B27D20-2D59-7910-15BD-799EF267F2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0" y="2940"/>
              <a:ext cx="368" cy="2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45" name="Freeform 37">
              <a:extLst>
                <a:ext uri="{FF2B5EF4-FFF2-40B4-BE49-F238E27FC236}">
                  <a16:creationId xmlns:a16="http://schemas.microsoft.com/office/drawing/2014/main" id="{EE447AF2-2087-D171-FDF7-113040C44815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3" y="2911"/>
              <a:ext cx="106" cy="68"/>
            </a:xfrm>
            <a:custGeom>
              <a:avLst/>
              <a:gdLst>
                <a:gd name="T0" fmla="*/ 106 w 106"/>
                <a:gd name="T1" fmla="*/ 0 h 68"/>
                <a:gd name="T2" fmla="*/ 93 w 106"/>
                <a:gd name="T3" fmla="*/ 34 h 68"/>
                <a:gd name="T4" fmla="*/ 106 w 106"/>
                <a:gd name="T5" fmla="*/ 68 h 68"/>
                <a:gd name="T6" fmla="*/ 0 w 106"/>
                <a:gd name="T7" fmla="*/ 34 h 68"/>
                <a:gd name="T8" fmla="*/ 106 w 106"/>
                <a:gd name="T9" fmla="*/ 0 h 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6"/>
                <a:gd name="T16" fmla="*/ 0 h 68"/>
                <a:gd name="T17" fmla="*/ 106 w 106"/>
                <a:gd name="T18" fmla="*/ 68 h 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6" h="68">
                  <a:moveTo>
                    <a:pt x="106" y="0"/>
                  </a:moveTo>
                  <a:lnTo>
                    <a:pt x="93" y="34"/>
                  </a:lnTo>
                  <a:lnTo>
                    <a:pt x="106" y="68"/>
                  </a:lnTo>
                  <a:lnTo>
                    <a:pt x="0" y="34"/>
                  </a:lnTo>
                  <a:lnTo>
                    <a:pt x="10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46" name="Rectangle 38">
              <a:extLst>
                <a:ext uri="{FF2B5EF4-FFF2-40B4-BE49-F238E27FC236}">
                  <a16:creationId xmlns:a16="http://schemas.microsoft.com/office/drawing/2014/main" id="{EF402962-6918-CE0D-BAD0-E4214697DE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6" y="2940"/>
              <a:ext cx="242" cy="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47" name="Rectangle 39">
              <a:extLst>
                <a:ext uri="{FF2B5EF4-FFF2-40B4-BE49-F238E27FC236}">
                  <a16:creationId xmlns:a16="http://schemas.microsoft.com/office/drawing/2014/main" id="{9370C4BB-AE71-A5F2-9737-F128CE755E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" y="2945"/>
              <a:ext cx="12" cy="91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48" name="Freeform 40">
              <a:extLst>
                <a:ext uri="{FF2B5EF4-FFF2-40B4-BE49-F238E27FC236}">
                  <a16:creationId xmlns:a16="http://schemas.microsoft.com/office/drawing/2014/main" id="{50D784A7-4383-D617-6B9E-54D764744672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" y="3849"/>
              <a:ext cx="197" cy="12"/>
            </a:xfrm>
            <a:custGeom>
              <a:avLst/>
              <a:gdLst>
                <a:gd name="T0" fmla="*/ 0 w 197"/>
                <a:gd name="T1" fmla="*/ 0 h 12"/>
                <a:gd name="T2" fmla="*/ 0 w 197"/>
                <a:gd name="T3" fmla="*/ 11 h 12"/>
                <a:gd name="T4" fmla="*/ 197 w 197"/>
                <a:gd name="T5" fmla="*/ 12 h 12"/>
                <a:gd name="T6" fmla="*/ 197 w 197"/>
                <a:gd name="T7" fmla="*/ 1 h 12"/>
                <a:gd name="T8" fmla="*/ 0 w 197"/>
                <a:gd name="T9" fmla="*/ 0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7"/>
                <a:gd name="T16" fmla="*/ 0 h 12"/>
                <a:gd name="T17" fmla="*/ 197 w 197"/>
                <a:gd name="T18" fmla="*/ 12 h 1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7" h="12">
                  <a:moveTo>
                    <a:pt x="0" y="0"/>
                  </a:moveTo>
                  <a:lnTo>
                    <a:pt x="0" y="11"/>
                  </a:lnTo>
                  <a:lnTo>
                    <a:pt x="197" y="12"/>
                  </a:lnTo>
                  <a:lnTo>
                    <a:pt x="197" y="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49" name="Freeform 41">
              <a:extLst>
                <a:ext uri="{FF2B5EF4-FFF2-40B4-BE49-F238E27FC236}">
                  <a16:creationId xmlns:a16="http://schemas.microsoft.com/office/drawing/2014/main" id="{3285E536-6662-7CEC-5E26-DD51FA027D0F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" y="3821"/>
              <a:ext cx="106" cy="66"/>
            </a:xfrm>
            <a:custGeom>
              <a:avLst/>
              <a:gdLst>
                <a:gd name="T0" fmla="*/ 0 w 106"/>
                <a:gd name="T1" fmla="*/ 66 h 66"/>
                <a:gd name="T2" fmla="*/ 13 w 106"/>
                <a:gd name="T3" fmla="*/ 33 h 66"/>
                <a:gd name="T4" fmla="*/ 0 w 106"/>
                <a:gd name="T5" fmla="*/ 0 h 66"/>
                <a:gd name="T6" fmla="*/ 106 w 106"/>
                <a:gd name="T7" fmla="*/ 33 h 66"/>
                <a:gd name="T8" fmla="*/ 0 w 106"/>
                <a:gd name="T9" fmla="*/ 66 h 6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6"/>
                <a:gd name="T16" fmla="*/ 0 h 66"/>
                <a:gd name="T17" fmla="*/ 106 w 106"/>
                <a:gd name="T18" fmla="*/ 66 h 6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6" h="66">
                  <a:moveTo>
                    <a:pt x="0" y="66"/>
                  </a:moveTo>
                  <a:lnTo>
                    <a:pt x="13" y="33"/>
                  </a:lnTo>
                  <a:lnTo>
                    <a:pt x="0" y="0"/>
                  </a:lnTo>
                  <a:lnTo>
                    <a:pt x="106" y="33"/>
                  </a:lnTo>
                  <a:lnTo>
                    <a:pt x="0" y="6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50" name="Rectangle 42">
              <a:extLst>
                <a:ext uri="{FF2B5EF4-FFF2-40B4-BE49-F238E27FC236}">
                  <a16:creationId xmlns:a16="http://schemas.microsoft.com/office/drawing/2014/main" id="{7BFBEA89-8734-1480-66AB-A81FF238D0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7" y="3204"/>
              <a:ext cx="290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51" name="Rectangle 43">
              <a:extLst>
                <a:ext uri="{FF2B5EF4-FFF2-40B4-BE49-F238E27FC236}">
                  <a16:creationId xmlns:a16="http://schemas.microsoft.com/office/drawing/2014/main" id="{C8CE0122-0019-9C95-0A18-1B16E267E5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7" y="3231"/>
              <a:ext cx="247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altLang="el-GR" sz="1800" b="1" kern="0" dirty="0">
                  <a:solidFill>
                    <a:srgbClr val="000000"/>
                  </a:solidFill>
                  <a:ea typeface="Tahoma" panose="020B0604030504040204" pitchFamily="34" charset="0"/>
                  <a:cs typeface="Tahoma" panose="020B0604030504040204" pitchFamily="34" charset="0"/>
                </a:rPr>
                <a:t>true</a:t>
              </a:r>
            </a:p>
          </p:txBody>
        </p:sp>
        <p:sp>
          <p:nvSpPr>
            <p:cNvPr id="52" name="Rectangle 44">
              <a:extLst>
                <a:ext uri="{FF2B5EF4-FFF2-40B4-BE49-F238E27FC236}">
                  <a16:creationId xmlns:a16="http://schemas.microsoft.com/office/drawing/2014/main" id="{8E87E15F-15FF-CEF1-8C2A-B48D88C840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6" y="2784"/>
              <a:ext cx="339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53" name="Rectangle 45">
              <a:extLst>
                <a:ext uri="{FF2B5EF4-FFF2-40B4-BE49-F238E27FC236}">
                  <a16:creationId xmlns:a16="http://schemas.microsoft.com/office/drawing/2014/main" id="{8C61BF98-DF0A-79DF-BE4B-3621C221C3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6" y="2811"/>
              <a:ext cx="283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altLang="el-GR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Tahoma" panose="020B0604030504040204" pitchFamily="34" charset="0"/>
                  <a:cs typeface="Tahoma" panose="020B0604030504040204" pitchFamily="34" charset="0"/>
                </a:rPr>
                <a:t>false</a:t>
              </a:r>
              <a:endParaRPr kumimoji="0" lang="en-GB" altLang="el-GR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54" name="Rectangle 46">
              <a:extLst>
                <a:ext uri="{FF2B5EF4-FFF2-40B4-BE49-F238E27FC236}">
                  <a16:creationId xmlns:a16="http://schemas.microsoft.com/office/drawing/2014/main" id="{8385CF0E-9FAE-F552-34C7-1205E611A7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4" y="2083"/>
              <a:ext cx="252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</p:grpSp>
      <p:sp>
        <p:nvSpPr>
          <p:cNvPr id="56" name="Rectangle 48">
            <a:extLst>
              <a:ext uri="{FF2B5EF4-FFF2-40B4-BE49-F238E27FC236}">
                <a16:creationId xmlns:a16="http://schemas.microsoft.com/office/drawing/2014/main" id="{BD052205-5AA5-6816-4BC3-6B24C47DB8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0764" y="1839126"/>
            <a:ext cx="6022669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el-GR" sz="3600" b="1" dirty="0">
                <a:solidFill>
                  <a:srgbClr val="00E4A8"/>
                </a:solidFill>
                <a:latin typeface="Times New Roman" panose="02020603050405020304" pitchFamily="18" charset="0"/>
              </a:rPr>
              <a:t>for (</a:t>
            </a:r>
            <a:r>
              <a:rPr lang="en-US" altLang="el-GR" sz="3600" dirty="0">
                <a:solidFill>
                  <a:srgbClr val="00E4A8"/>
                </a:solidFill>
                <a:latin typeface="Times New Roman" panose="02020603050405020304" pitchFamily="18" charset="0"/>
              </a:rPr>
              <a:t>initialize </a:t>
            </a:r>
            <a:r>
              <a:rPr lang="en-US" altLang="el-GR" sz="3600" b="1" dirty="0">
                <a:solidFill>
                  <a:srgbClr val="00E4A8"/>
                </a:solidFill>
                <a:latin typeface="Times New Roman" panose="02020603050405020304" pitchFamily="18" charset="0"/>
              </a:rPr>
              <a:t>;</a:t>
            </a:r>
            <a:r>
              <a:rPr lang="en-US" altLang="el-GR" sz="3600" dirty="0">
                <a:solidFill>
                  <a:srgbClr val="00E4A8"/>
                </a:solidFill>
                <a:latin typeface="Times New Roman" panose="02020603050405020304" pitchFamily="18" charset="0"/>
              </a:rPr>
              <a:t> test </a:t>
            </a:r>
            <a:r>
              <a:rPr lang="en-US" altLang="el-GR" sz="3600" b="1" dirty="0">
                <a:solidFill>
                  <a:srgbClr val="00E4A8"/>
                </a:solidFill>
                <a:latin typeface="Times New Roman" panose="02020603050405020304" pitchFamily="18" charset="0"/>
              </a:rPr>
              <a:t>; </a:t>
            </a:r>
            <a:r>
              <a:rPr lang="en-US" altLang="el-GR" sz="3600" dirty="0">
                <a:solidFill>
                  <a:srgbClr val="00E4A8"/>
                </a:solidFill>
                <a:latin typeface="Times New Roman" panose="02020603050405020304" pitchFamily="18" charset="0"/>
              </a:rPr>
              <a:t>update </a:t>
            </a:r>
            <a:r>
              <a:rPr lang="en-US" altLang="el-GR" sz="3600" b="1" dirty="0">
                <a:solidFill>
                  <a:srgbClr val="00E4A8"/>
                </a:solidFill>
                <a:latin typeface="Times New Roman" panose="02020603050405020304" pitchFamily="18" charset="0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el-GR" sz="3600" dirty="0">
                <a:solidFill>
                  <a:srgbClr val="00E4A8"/>
                </a:solidFill>
                <a:latin typeface="Times New Roman" panose="02020603050405020304" pitchFamily="18" charset="0"/>
              </a:rPr>
              <a:t>	</a:t>
            </a:r>
            <a:r>
              <a:rPr lang="el-GR" altLang="el-GR" sz="3600" b="1" dirty="0">
                <a:solidFill>
                  <a:srgbClr val="00E4A8"/>
                </a:solidFill>
                <a:latin typeface="Times New Roman" panose="02020603050405020304" pitchFamily="18" charset="0"/>
              </a:rPr>
              <a:t>Π</a:t>
            </a:r>
            <a:r>
              <a:rPr lang="en-US" altLang="el-GR" sz="3600" b="1" dirty="0" err="1">
                <a:solidFill>
                  <a:srgbClr val="00E4A8"/>
                </a:solidFill>
                <a:latin typeface="Times New Roman" panose="02020603050405020304" pitchFamily="18" charset="0"/>
              </a:rPr>
              <a:t>ρότ</a:t>
            </a:r>
            <a:r>
              <a:rPr lang="en-US" altLang="el-GR" sz="3600" b="1" dirty="0">
                <a:solidFill>
                  <a:srgbClr val="00E4A8"/>
                </a:solidFill>
                <a:latin typeface="Times New Roman" panose="02020603050405020304" pitchFamily="18" charset="0"/>
              </a:rPr>
              <a:t>αση</a:t>
            </a:r>
          </a:p>
        </p:txBody>
      </p:sp>
    </p:spTree>
    <p:extLst>
      <p:ext uri="{BB962C8B-B14F-4D97-AF65-F5344CB8AC3E}">
        <p14:creationId xmlns:p14="http://schemas.microsoft.com/office/powerpoint/2010/main" val="4708995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56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1A665A-A975-03BC-C6BE-5906207513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3086AA16-F878-82DA-B27E-7503A22D088A}"/>
              </a:ext>
            </a:extLst>
          </p:cNvPr>
          <p:cNvSpPr/>
          <p:nvPr/>
        </p:nvSpPr>
        <p:spPr>
          <a:xfrm>
            <a:off x="140669" y="6559908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69600BEE-728A-6726-4BAF-45D10AE2C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Πρόταση </a:t>
            </a:r>
            <a:r>
              <a:rPr lang="en-US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for</a:t>
            </a:r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 - Παράδειγμα</a:t>
            </a:r>
            <a:endParaRPr lang="en-US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3B7485C5-7FDD-A8B6-49A4-E6390C4DACA7}"/>
              </a:ext>
            </a:extLst>
          </p:cNvPr>
          <p:cNvSpPr txBox="1">
            <a:spLocks/>
          </p:cNvSpPr>
          <p:nvPr/>
        </p:nvSpPr>
        <p:spPr>
          <a:xfrm>
            <a:off x="-1" y="6599394"/>
            <a:ext cx="3840633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© 202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5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Μια Εισαγωγή στην Τέχνη του Προγραμματισμού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6D3A2AA-70EA-8DE3-509D-F8770E4C8737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200" dirty="0">
                <a:latin typeface="Bahnschrift Light" panose="020B0502040204020203" pitchFamily="34" charset="0"/>
                <a:cs typeface="Arial" pitchFamily="34" charset="0"/>
              </a:rPr>
              <a:t>Διαφάνεια </a:t>
            </a:r>
            <a:fld id="{7C15C5B5-03C6-48D8-B20F-65D93A6CF09E}" type="slidenum">
              <a:rPr lang="en-US" sz="1200" smtClean="0">
                <a:latin typeface="Bahnschrift Light" panose="020B0502040204020203" pitchFamily="34" charset="0"/>
                <a:cs typeface="Arial" pitchFamily="34" charset="0"/>
              </a:rPr>
              <a:pPr algn="r"/>
              <a:t>32</a:t>
            </a:fld>
            <a:endParaRPr lang="en-US" sz="1200" dirty="0">
              <a:latin typeface="Bahnschrift Light" panose="020B0502040204020203" pitchFamily="34" charset="0"/>
              <a:cs typeface="Arial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694E56C-1443-0320-4515-6BD03B4E6BC1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0"/>
            <a:ext cx="9144000" cy="908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0033CC"/>
              </a:solidFill>
              <a:latin typeface="Times New Roman" pitchFamily="18" charset="0"/>
            </a:endParaRPr>
          </a:p>
        </p:txBody>
      </p:sp>
      <p:sp>
        <p:nvSpPr>
          <p:cNvPr id="14" name="Θέση υποσέλιδου 4">
            <a:extLst>
              <a:ext uri="{FF2B5EF4-FFF2-40B4-BE49-F238E27FC236}">
                <a16:creationId xmlns:a16="http://schemas.microsoft.com/office/drawing/2014/main" id="{86858569-94DF-504E-6ACA-D286C0D083A9}"/>
              </a:ext>
            </a:extLst>
          </p:cNvPr>
          <p:cNvSpPr txBox="1">
            <a:spLocks/>
          </p:cNvSpPr>
          <p:nvPr/>
        </p:nvSpPr>
        <p:spPr>
          <a:xfrm>
            <a:off x="4149680" y="6689184"/>
            <a:ext cx="3462169" cy="2586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Πηγαίος Κώδικας – Βασικές Έννοιες</a:t>
            </a:r>
          </a:p>
          <a:p>
            <a:endParaRPr lang="el-GR" sz="11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6FBC79C-3A85-6D0D-01EA-26E462A893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9822" y="1037326"/>
            <a:ext cx="7772400" cy="23916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l-GR" altLang="el-GR" sz="2800" b="1" i="0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Times New Roman" panose="02020603050405020304" pitchFamily="18" charset="0"/>
              </a:rPr>
              <a:t>for</a:t>
            </a:r>
            <a:r>
              <a:rPr kumimoji="0" lang="el-GR" altLang="el-GR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Times New Roman" panose="02020603050405020304" pitchFamily="18" charset="0"/>
              </a:rPr>
              <a:t>(</a:t>
            </a:r>
            <a:r>
              <a:rPr kumimoji="0" lang="el-GR" altLang="el-GR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Times New Roman" panose="02020603050405020304" pitchFamily="18" charset="0"/>
              </a:rPr>
              <a:t>count</a:t>
            </a:r>
            <a:r>
              <a:rPr kumimoji="0" lang="el-GR" altLang="el-GR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Times New Roman" panose="02020603050405020304" pitchFamily="18" charset="0"/>
              </a:rPr>
              <a:t>=1</a:t>
            </a:r>
            <a:r>
              <a:rPr kumimoji="0" lang="el-GR" altLang="el-GR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Times New Roman" panose="02020603050405020304" pitchFamily="18" charset="0"/>
              </a:rPr>
              <a:t>;count&lt;</a:t>
            </a:r>
            <a:r>
              <a:rPr kumimoji="0" lang="el-GR" altLang="el-GR" sz="2400" b="1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Times New Roman" panose="02020603050405020304" pitchFamily="18" charset="0"/>
              </a:rPr>
              <a:t>max</a:t>
            </a:r>
            <a:r>
              <a:rPr lang="en-US" altLang="el-GR" sz="2400" b="1" kern="0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C</a:t>
            </a:r>
            <a:r>
              <a:rPr kumimoji="0" lang="el-GR" altLang="el-GR" sz="2400" b="1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Times New Roman" panose="02020603050405020304" pitchFamily="18" charset="0"/>
              </a:rPr>
              <a:t>ount;</a:t>
            </a:r>
            <a:r>
              <a:rPr kumimoji="0" lang="el-GR" altLang="el-GR" sz="2400" b="1" i="0" u="none" strike="noStrike" kern="0" cap="none" spc="0" normalizeH="0" baseline="0" noProof="0" dirty="0" err="1">
                <a:ln>
                  <a:noFill/>
                </a:ln>
                <a:solidFill>
                  <a:srgbClr val="FFCF0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Times New Roman" panose="02020603050405020304" pitchFamily="18" charset="0"/>
              </a:rPr>
              <a:t>count</a:t>
            </a:r>
            <a:r>
              <a:rPr kumimoji="0" lang="el-GR" altLang="el-GR" sz="2400" b="1" i="0" u="none" strike="noStrike" kern="0" cap="none" spc="0" normalizeH="0" baseline="0" noProof="0" dirty="0">
                <a:ln>
                  <a:noFill/>
                </a:ln>
                <a:solidFill>
                  <a:srgbClr val="FFCF0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Times New Roman" panose="02020603050405020304" pitchFamily="18" charset="0"/>
              </a:rPr>
              <a:t>++</a:t>
            </a:r>
            <a:r>
              <a:rPr kumimoji="0" lang="el-GR" altLang="el-GR" sz="2400" b="1" i="0" u="none" strike="noStrike" kern="0" cap="none" spc="0" normalizeH="0" baseline="0" noProof="0" dirty="0">
                <a:ln>
                  <a:noFill/>
                </a:ln>
                <a:solidFill>
                  <a:srgbClr val="FFCF0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el-GR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Times New Roman" panose="02020603050405020304" pitchFamily="18" charset="0"/>
              </a:rPr>
              <a:t>)</a:t>
            </a:r>
            <a:r>
              <a:rPr kumimoji="0" lang="el-GR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el-GR" altLang="el-GR" sz="2400" b="1" i="0" u="none" strike="noStrike" kern="0" cap="none" spc="0" normalizeH="0" baseline="0" noProof="0" dirty="0">
                <a:ln>
                  <a:noFill/>
                </a:ln>
                <a:solidFill>
                  <a:srgbClr val="00E4A8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Times New Roman" panose="02020603050405020304" pitchFamily="18" charset="0"/>
              </a:rPr>
              <a:t>{</a:t>
            </a:r>
            <a:endParaRPr kumimoji="0" lang="en-AU" altLang="el-GR" sz="2400" b="1" i="0" u="none" strike="noStrike" kern="0" cap="none" spc="0" normalizeH="0" baseline="0" noProof="0" dirty="0">
              <a:ln>
                <a:noFill/>
              </a:ln>
              <a:solidFill>
                <a:srgbClr val="00E4A8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l-GR" altLang="el-GR" sz="2400" b="1" i="1" u="none" strike="noStrike" kern="0" cap="none" spc="0" normalizeH="0" baseline="0" noProof="0" dirty="0">
                <a:ln>
                  <a:noFill/>
                </a:ln>
                <a:solidFill>
                  <a:srgbClr val="00E4A8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Times New Roman" panose="02020603050405020304" pitchFamily="18" charset="0"/>
              </a:rPr>
              <a:t>	</a:t>
            </a:r>
            <a:r>
              <a:rPr kumimoji="0" lang="el-GR" altLang="el-GR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E4A8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Times New Roman" panose="02020603050405020304" pitchFamily="18" charset="0"/>
              </a:rPr>
              <a:t>printf</a:t>
            </a:r>
            <a:r>
              <a:rPr kumimoji="0" lang="el-GR" altLang="el-GR" sz="2400" b="1" i="1" u="none" strike="noStrike" kern="0" cap="none" spc="0" normalizeH="0" baseline="0" noProof="0" dirty="0">
                <a:ln>
                  <a:noFill/>
                </a:ln>
                <a:solidFill>
                  <a:srgbClr val="00E4A8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Times New Roman" panose="02020603050405020304" pitchFamily="18" charset="0"/>
              </a:rPr>
              <a:t>(“</a:t>
            </a:r>
            <a:r>
              <a:rPr kumimoji="0" lang="el-GR" altLang="el-GR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E4A8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Times New Roman" panose="02020603050405020304" pitchFamily="18" charset="0"/>
              </a:rPr>
              <a:t>count</a:t>
            </a:r>
            <a:r>
              <a:rPr kumimoji="0" lang="el-GR" altLang="el-GR" sz="2400" b="1" i="1" u="none" strike="noStrike" kern="0" cap="none" spc="0" normalizeH="0" baseline="0" noProof="0" dirty="0">
                <a:ln>
                  <a:noFill/>
                </a:ln>
                <a:solidFill>
                  <a:srgbClr val="00E4A8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l-GR" altLang="el-GR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E4A8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Times New Roman" panose="02020603050405020304" pitchFamily="18" charset="0"/>
              </a:rPr>
              <a:t>is</a:t>
            </a:r>
            <a:r>
              <a:rPr kumimoji="0" lang="el-GR" altLang="el-GR" sz="2400" b="1" i="1" u="none" strike="noStrike" kern="0" cap="none" spc="0" normalizeH="0" baseline="0" noProof="0" dirty="0">
                <a:ln>
                  <a:noFill/>
                </a:ln>
                <a:solidFill>
                  <a:srgbClr val="00E4A8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Times New Roman" panose="02020603050405020304" pitchFamily="18" charset="0"/>
              </a:rPr>
              <a:t> %d\n”,</a:t>
            </a:r>
            <a:r>
              <a:rPr kumimoji="0" lang="el-GR" altLang="el-GR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E4A8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Times New Roman" panose="02020603050405020304" pitchFamily="18" charset="0"/>
              </a:rPr>
              <a:t>count</a:t>
            </a:r>
            <a:r>
              <a:rPr kumimoji="0" lang="el-GR" altLang="el-GR" sz="2400" b="1" i="1" u="none" strike="noStrike" kern="0" cap="none" spc="0" normalizeH="0" baseline="0" noProof="0" dirty="0">
                <a:ln>
                  <a:noFill/>
                </a:ln>
                <a:solidFill>
                  <a:srgbClr val="00E4A8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Times New Roman" panose="02020603050405020304" pitchFamily="18" charset="0"/>
              </a:rPr>
              <a:t>);</a:t>
            </a:r>
            <a:endParaRPr kumimoji="0" lang="en-AU" altLang="el-GR" sz="2400" b="1" i="0" u="none" strike="noStrike" kern="0" cap="none" spc="0" normalizeH="0" baseline="0" noProof="0" dirty="0">
              <a:ln>
                <a:noFill/>
              </a:ln>
              <a:solidFill>
                <a:srgbClr val="00E4A8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l-GR" altLang="el-GR" sz="2400" b="1" i="1" u="none" strike="noStrike" kern="0" cap="none" spc="0" normalizeH="0" baseline="0" noProof="0" dirty="0">
                <a:ln>
                  <a:noFill/>
                </a:ln>
                <a:solidFill>
                  <a:srgbClr val="00E4A8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Times New Roman" panose="02020603050405020304" pitchFamily="18" charset="0"/>
              </a:rPr>
              <a:t>	&lt; άλλες προτάσεις &gt;</a:t>
            </a:r>
            <a:endParaRPr kumimoji="0" lang="en-AU" altLang="el-GR" sz="2400" b="1" i="0" u="none" strike="noStrike" kern="0" cap="none" spc="0" normalizeH="0" baseline="0" noProof="0" dirty="0">
              <a:ln>
                <a:noFill/>
              </a:ln>
              <a:solidFill>
                <a:srgbClr val="00E4A8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l-GR" altLang="el-GR" sz="2400" b="1" i="1" u="none" strike="noStrike" kern="0" cap="none" spc="0" normalizeH="0" baseline="0" noProof="0" dirty="0">
                <a:ln>
                  <a:noFill/>
                </a:ln>
                <a:solidFill>
                  <a:srgbClr val="00E4A8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Times New Roman" panose="02020603050405020304" pitchFamily="18" charset="0"/>
              </a:rPr>
              <a:t>	}</a:t>
            </a:r>
            <a:endParaRPr kumimoji="0" lang="en-AU" altLang="el-GR" sz="2400" b="1" i="0" u="none" strike="noStrike" kern="0" cap="none" spc="0" normalizeH="0" baseline="0" noProof="0" dirty="0">
              <a:ln>
                <a:noFill/>
              </a:ln>
              <a:solidFill>
                <a:srgbClr val="00E4A8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l-GR" altLang="el-GR" sz="24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Times New Roman" panose="02020603050405020304" pitchFamily="18" charset="0"/>
              </a:rPr>
              <a:t>&lt; επόμενη πρόταση &gt;</a:t>
            </a:r>
            <a:endParaRPr kumimoji="0" lang="en-AU" altLang="el-GR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endParaRPr kumimoji="0" lang="en-GB" altLang="el-GR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CD9B264-499F-26D5-A394-EC25C2C42388}"/>
              </a:ext>
            </a:extLst>
          </p:cNvPr>
          <p:cNvGrpSpPr>
            <a:grpSpLocks/>
          </p:cNvGrpSpPr>
          <p:nvPr/>
        </p:nvGrpSpPr>
        <p:grpSpPr bwMode="auto">
          <a:xfrm>
            <a:off x="6030609" y="2060659"/>
            <a:ext cx="5170898" cy="3956597"/>
            <a:chOff x="421" y="2072"/>
            <a:chExt cx="2651" cy="1936"/>
          </a:xfrm>
        </p:grpSpPr>
        <p:sp>
          <p:nvSpPr>
            <p:cNvPr id="9" name="Rectangle 6">
              <a:extLst>
                <a:ext uri="{FF2B5EF4-FFF2-40B4-BE49-F238E27FC236}">
                  <a16:creationId xmlns:a16="http://schemas.microsoft.com/office/drawing/2014/main" id="{DA353E7D-3613-0F17-54E9-CE0197F04E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2" y="2261"/>
              <a:ext cx="988" cy="23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el-GR" sz="2000" b="1" kern="0" dirty="0">
                  <a:solidFill>
                    <a:srgbClr val="FF0000"/>
                  </a:solidFill>
                </a:rPr>
                <a:t>count=1</a:t>
              </a:r>
              <a:endParaRPr kumimoji="0" lang="el-GR" altLang="el-GR" sz="2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12" name="Rectangle 8">
              <a:extLst>
                <a:ext uri="{FF2B5EF4-FFF2-40B4-BE49-F238E27FC236}">
                  <a16:creationId xmlns:a16="http://schemas.microsoft.com/office/drawing/2014/main" id="{A4DC5569-5FB2-F5DC-DF26-30100940D1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2" y="2304"/>
              <a:ext cx="0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lang="en-GB" altLang="el-GR" sz="1800" kern="0" dirty="0">
                <a:solidFill>
                  <a:srgbClr val="FF0000"/>
                </a:solidFill>
              </a:endParaRPr>
            </a:p>
          </p:txBody>
        </p:sp>
        <p:sp>
          <p:nvSpPr>
            <p:cNvPr id="57" name="Freeform 9">
              <a:extLst>
                <a:ext uri="{FF2B5EF4-FFF2-40B4-BE49-F238E27FC236}">
                  <a16:creationId xmlns:a16="http://schemas.microsoft.com/office/drawing/2014/main" id="{1B1DA9F2-9E90-B6F9-347E-C24121063CE8}"/>
                </a:ext>
              </a:extLst>
            </p:cNvPr>
            <p:cNvSpPr>
              <a:spLocks/>
            </p:cNvSpPr>
            <p:nvPr/>
          </p:nvSpPr>
          <p:spPr bwMode="auto">
            <a:xfrm>
              <a:off x="671" y="2704"/>
              <a:ext cx="994" cy="483"/>
            </a:xfrm>
            <a:custGeom>
              <a:avLst/>
              <a:gdLst>
                <a:gd name="T0" fmla="*/ 496 w 994"/>
                <a:gd name="T1" fmla="*/ 0 h 483"/>
                <a:gd name="T2" fmla="*/ 0 w 994"/>
                <a:gd name="T3" fmla="*/ 241 h 483"/>
                <a:gd name="T4" fmla="*/ 496 w 994"/>
                <a:gd name="T5" fmla="*/ 483 h 483"/>
                <a:gd name="T6" fmla="*/ 994 w 994"/>
                <a:gd name="T7" fmla="*/ 241 h 483"/>
                <a:gd name="T8" fmla="*/ 496 w 994"/>
                <a:gd name="T9" fmla="*/ 0 h 48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4"/>
                <a:gd name="T16" fmla="*/ 0 h 483"/>
                <a:gd name="T17" fmla="*/ 994 w 994"/>
                <a:gd name="T18" fmla="*/ 483 h 48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4" h="483">
                  <a:moveTo>
                    <a:pt x="496" y="0"/>
                  </a:moveTo>
                  <a:lnTo>
                    <a:pt x="0" y="241"/>
                  </a:lnTo>
                  <a:lnTo>
                    <a:pt x="496" y="483"/>
                  </a:lnTo>
                  <a:lnTo>
                    <a:pt x="994" y="241"/>
                  </a:lnTo>
                  <a:lnTo>
                    <a:pt x="496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lang="en-US" altLang="el-GR" sz="1800" kern="0" dirty="0">
                <a:solidFill>
                  <a:srgbClr val="000000"/>
                </a:solidFill>
              </a:endParaRPr>
            </a:p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el-GR" sz="1600" kern="0" dirty="0">
                  <a:solidFill>
                    <a:srgbClr val="FF0000"/>
                  </a:solidFill>
                </a:rPr>
                <a:t>c</a:t>
              </a:r>
              <a:r>
                <a:rPr kumimoji="0" lang="en-US" altLang="el-GR" sz="1600" i="0" u="none" strike="noStrike" kern="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ahoma" panose="020B0604030504040204" pitchFamily="34" charset="0"/>
                </a:rPr>
                <a:t>ount</a:t>
              </a:r>
              <a:r>
                <a:rPr kumimoji="0" lang="en-US" altLang="el-GR" sz="160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ahoma" panose="020B0604030504040204" pitchFamily="34" charset="0"/>
                </a:rPr>
                <a:t>&lt;</a:t>
              </a:r>
              <a:r>
                <a:rPr kumimoji="0" lang="en-US" altLang="el-GR" sz="1600" i="0" u="none" strike="noStrike" kern="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ahoma" panose="020B0604030504040204" pitchFamily="34" charset="0"/>
                </a:rPr>
                <a:t>maxCount</a:t>
              </a:r>
              <a:endParaRPr kumimoji="0" lang="el-GR" altLang="el-GR" sz="160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58" name="Rectangle 10">
              <a:extLst>
                <a:ext uri="{FF2B5EF4-FFF2-40B4-BE49-F238E27FC236}">
                  <a16:creationId xmlns:a16="http://schemas.microsoft.com/office/drawing/2014/main" id="{DC9C9573-62B2-AA51-2F8B-6E4A0B8A74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7" y="2806"/>
              <a:ext cx="371" cy="1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59" name="Rectangle 11">
              <a:extLst>
                <a:ext uri="{FF2B5EF4-FFF2-40B4-BE49-F238E27FC236}">
                  <a16:creationId xmlns:a16="http://schemas.microsoft.com/office/drawing/2014/main" id="{F27A1F49-8676-C7EE-250C-9A27BF214C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3" y="2881"/>
              <a:ext cx="0" cy="1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altLang="el-GR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60" name="Rectangle 12">
              <a:extLst>
                <a:ext uri="{FF2B5EF4-FFF2-40B4-BE49-F238E27FC236}">
                  <a16:creationId xmlns:a16="http://schemas.microsoft.com/office/drawing/2014/main" id="{D029AA4C-77F5-F436-4C0F-93CF5435FC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6" y="2945"/>
              <a:ext cx="594" cy="1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61" name="Rectangle 13">
              <a:extLst>
                <a:ext uri="{FF2B5EF4-FFF2-40B4-BE49-F238E27FC236}">
                  <a16:creationId xmlns:a16="http://schemas.microsoft.com/office/drawing/2014/main" id="{DB961736-1FBB-C92B-3B6A-656C999871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2" y="3402"/>
              <a:ext cx="1750" cy="27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342900" lvl="0" indent="-342900" algn="just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defRPr/>
              </a:pPr>
              <a:r>
                <a:rPr lang="el-GR" altLang="el-GR" sz="1400" i="1" kern="0" dirty="0" err="1">
                  <a:solidFill>
                    <a:srgbClr val="00E4A8"/>
                  </a:solidFill>
                  <a:latin typeface="Courier New" panose="02070309020205020404" pitchFamily="49" charset="0"/>
                  <a:cs typeface="Times New Roman" panose="02020603050405020304" pitchFamily="18" charset="0"/>
                </a:rPr>
                <a:t>printf</a:t>
              </a:r>
              <a:r>
                <a:rPr lang="el-GR" altLang="el-GR" sz="1400" i="1" kern="0" dirty="0">
                  <a:solidFill>
                    <a:srgbClr val="00E4A8"/>
                  </a:solidFill>
                  <a:latin typeface="Courier New" panose="02070309020205020404" pitchFamily="49" charset="0"/>
                  <a:cs typeface="Times New Roman" panose="02020603050405020304" pitchFamily="18" charset="0"/>
                </a:rPr>
                <a:t>(“</a:t>
              </a:r>
              <a:r>
                <a:rPr lang="el-GR" altLang="el-GR" sz="1400" i="1" kern="0" dirty="0" err="1">
                  <a:solidFill>
                    <a:srgbClr val="00E4A8"/>
                  </a:solidFill>
                  <a:latin typeface="Courier New" panose="02070309020205020404" pitchFamily="49" charset="0"/>
                  <a:cs typeface="Times New Roman" panose="02020603050405020304" pitchFamily="18" charset="0"/>
                </a:rPr>
                <a:t>countis%d</a:t>
              </a:r>
              <a:r>
                <a:rPr lang="el-GR" altLang="el-GR" sz="1400" i="1" kern="0" dirty="0">
                  <a:solidFill>
                    <a:srgbClr val="00E4A8"/>
                  </a:solidFill>
                  <a:latin typeface="Courier New" panose="02070309020205020404" pitchFamily="49" charset="0"/>
                  <a:cs typeface="Times New Roman" panose="02020603050405020304" pitchFamily="18" charset="0"/>
                </a:rPr>
                <a:t>\n”,</a:t>
              </a:r>
              <a:r>
                <a:rPr lang="el-GR" altLang="el-GR" sz="1400" i="1" kern="0" dirty="0" err="1">
                  <a:solidFill>
                    <a:srgbClr val="00E4A8"/>
                  </a:solidFill>
                  <a:latin typeface="Courier New" panose="02070309020205020404" pitchFamily="49" charset="0"/>
                  <a:cs typeface="Times New Roman" panose="02020603050405020304" pitchFamily="18" charset="0"/>
                </a:rPr>
                <a:t>count</a:t>
              </a:r>
              <a:r>
                <a:rPr lang="el-GR" altLang="el-GR" sz="1400" i="1" kern="0" dirty="0">
                  <a:solidFill>
                    <a:srgbClr val="00E4A8"/>
                  </a:solidFill>
                  <a:latin typeface="Courier New" panose="02070309020205020404" pitchFamily="49" charset="0"/>
                  <a:cs typeface="Times New Roman" panose="02020603050405020304" pitchFamily="18" charset="0"/>
                </a:rPr>
                <a:t>);</a:t>
              </a:r>
              <a:endParaRPr lang="en-AU" altLang="el-GR" sz="1400" kern="0" dirty="0">
                <a:solidFill>
                  <a:srgbClr val="00E4A8"/>
                </a:solidFill>
                <a:latin typeface="Courier New" panose="02070309020205020404" pitchFamily="49" charset="0"/>
                <a:cs typeface="Times New Roman" panose="02020603050405020304" pitchFamily="18" charset="0"/>
              </a:endParaRPr>
            </a:p>
            <a:p>
              <a:pPr marL="342900" lvl="0" indent="-342900" algn="just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defRPr/>
              </a:pPr>
              <a:r>
                <a:rPr lang="el-GR" altLang="el-GR" sz="1400" i="1" kern="0" dirty="0">
                  <a:solidFill>
                    <a:srgbClr val="00E4A8"/>
                  </a:solidFill>
                  <a:latin typeface="Courier New" panose="02070309020205020404" pitchFamily="49" charset="0"/>
                  <a:cs typeface="Times New Roman" panose="02020603050405020304" pitchFamily="18" charset="0"/>
                </a:rPr>
                <a:t>	&lt; άλλες προτάσεις &gt;</a:t>
              </a:r>
              <a:endParaRPr kumimoji="0" lang="en-GB" altLang="el-GR" sz="1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62" name="Rectangle 14">
              <a:extLst>
                <a:ext uri="{FF2B5EF4-FFF2-40B4-BE49-F238E27FC236}">
                  <a16:creationId xmlns:a16="http://schemas.microsoft.com/office/drawing/2014/main" id="{131A8B9B-69F2-9E50-211E-33950A2556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8" y="3400"/>
              <a:ext cx="1442" cy="1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63" name="Rectangle 15">
              <a:extLst>
                <a:ext uri="{FF2B5EF4-FFF2-40B4-BE49-F238E27FC236}">
                  <a16:creationId xmlns:a16="http://schemas.microsoft.com/office/drawing/2014/main" id="{3C93F737-4954-2C44-3CF1-99C2807716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3" y="3539"/>
              <a:ext cx="114" cy="1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64" name="Rectangle 16">
              <a:extLst>
                <a:ext uri="{FF2B5EF4-FFF2-40B4-BE49-F238E27FC236}">
                  <a16:creationId xmlns:a16="http://schemas.microsoft.com/office/drawing/2014/main" id="{684C8609-911C-5D27-89F2-80851EECDD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9" y="3539"/>
              <a:ext cx="877" cy="1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65" name="Rectangle 17">
              <a:extLst>
                <a:ext uri="{FF2B5EF4-FFF2-40B4-BE49-F238E27FC236}">
                  <a16:creationId xmlns:a16="http://schemas.microsoft.com/office/drawing/2014/main" id="{2D05082A-E359-F332-146C-A912B5FBEE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78" y="2811"/>
              <a:ext cx="994" cy="23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el-GR" b="1" kern="0" dirty="0">
                  <a:solidFill>
                    <a:srgbClr val="FF0000"/>
                  </a:solidFill>
                </a:rPr>
                <a:t>c</a:t>
              </a:r>
              <a:r>
                <a:rPr kumimoji="0" lang="en-US" altLang="el-GR" sz="2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ahoma" panose="020B0604030504040204" pitchFamily="34" charset="0"/>
                </a:rPr>
                <a:t>ount</a:t>
              </a:r>
              <a:r>
                <a:rPr kumimoji="0" lang="en-US" altLang="el-GR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ahoma" panose="020B0604030504040204" pitchFamily="34" charset="0"/>
                </a:rPr>
                <a:t>++</a:t>
              </a:r>
              <a:endParaRPr kumimoji="0" lang="el-GR" altLang="el-GR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66" name="Rectangle 19">
              <a:extLst>
                <a:ext uri="{FF2B5EF4-FFF2-40B4-BE49-F238E27FC236}">
                  <a16:creationId xmlns:a16="http://schemas.microsoft.com/office/drawing/2014/main" id="{D3A3FC07-B04E-040A-4967-AA3C923537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4" y="3787"/>
              <a:ext cx="1430" cy="22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l-GR" altLang="el-GR" sz="1800" i="1" kern="0" dirty="0">
                  <a:solidFill>
                    <a:srgbClr val="000000"/>
                  </a:solidFill>
                  <a:latin typeface="Courier New" panose="02070309020205020404" pitchFamily="49" charset="0"/>
                  <a:cs typeface="Times New Roman" panose="02020603050405020304" pitchFamily="18" charset="0"/>
                </a:rPr>
                <a:t>&lt; επόμενη πρόταση &gt;</a:t>
              </a:r>
              <a:endParaRPr lang="en-AU" altLang="el-GR" sz="1800" kern="0" dirty="0">
                <a:solidFill>
                  <a:srgbClr val="000000"/>
                </a:solidFill>
                <a:latin typeface="Courier New" panose="02070309020205020404" pitchFamily="49" charset="0"/>
                <a:cs typeface="Times New Roman" panose="02020603050405020304" pitchFamily="18" charset="0"/>
              </a:endParaRPr>
            </a:p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altLang="el-GR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67" name="Rectangle 20">
              <a:extLst>
                <a:ext uri="{FF2B5EF4-FFF2-40B4-BE49-F238E27FC236}">
                  <a16:creationId xmlns:a16="http://schemas.microsoft.com/office/drawing/2014/main" id="{B0344C41-B09D-6C88-DF61-A11BBCC580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2" y="3789"/>
              <a:ext cx="143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68" name="Rectangle 22">
              <a:extLst>
                <a:ext uri="{FF2B5EF4-FFF2-40B4-BE49-F238E27FC236}">
                  <a16:creationId xmlns:a16="http://schemas.microsoft.com/office/drawing/2014/main" id="{BB93696A-CEA3-806E-E5B7-067C084DB9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9" y="3789"/>
              <a:ext cx="1105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69" name="Rectangle 25">
              <a:extLst>
                <a:ext uri="{FF2B5EF4-FFF2-40B4-BE49-F238E27FC236}">
                  <a16:creationId xmlns:a16="http://schemas.microsoft.com/office/drawing/2014/main" id="{810EC6DD-8E4C-7075-3FBC-859E7789F2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8" y="3789"/>
              <a:ext cx="143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70" name="Rectangle 26">
              <a:extLst>
                <a:ext uri="{FF2B5EF4-FFF2-40B4-BE49-F238E27FC236}">
                  <a16:creationId xmlns:a16="http://schemas.microsoft.com/office/drawing/2014/main" id="{F61AF990-6C47-44BD-7040-FF7BC46D91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8" y="3815"/>
              <a:ext cx="0" cy="1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71" name="Freeform 27">
              <a:extLst>
                <a:ext uri="{FF2B5EF4-FFF2-40B4-BE49-F238E27FC236}">
                  <a16:creationId xmlns:a16="http://schemas.microsoft.com/office/drawing/2014/main" id="{0409BF6A-5180-61BE-E3AF-8955925177B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9" y="2072"/>
              <a:ext cx="12" cy="165"/>
            </a:xfrm>
            <a:custGeom>
              <a:avLst/>
              <a:gdLst>
                <a:gd name="T0" fmla="*/ 11 w 12"/>
                <a:gd name="T1" fmla="*/ 0 h 165"/>
                <a:gd name="T2" fmla="*/ 0 w 12"/>
                <a:gd name="T3" fmla="*/ 0 h 165"/>
                <a:gd name="T4" fmla="*/ 1 w 12"/>
                <a:gd name="T5" fmla="*/ 165 h 165"/>
                <a:gd name="T6" fmla="*/ 12 w 12"/>
                <a:gd name="T7" fmla="*/ 165 h 165"/>
                <a:gd name="T8" fmla="*/ 11 w 12"/>
                <a:gd name="T9" fmla="*/ 0 h 16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"/>
                <a:gd name="T16" fmla="*/ 0 h 165"/>
                <a:gd name="T17" fmla="*/ 12 w 12"/>
                <a:gd name="T18" fmla="*/ 165 h 16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" h="165">
                  <a:moveTo>
                    <a:pt x="11" y="0"/>
                  </a:moveTo>
                  <a:lnTo>
                    <a:pt x="0" y="0"/>
                  </a:lnTo>
                  <a:lnTo>
                    <a:pt x="1" y="165"/>
                  </a:lnTo>
                  <a:lnTo>
                    <a:pt x="12" y="165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72" name="Freeform 28">
              <a:extLst>
                <a:ext uri="{FF2B5EF4-FFF2-40B4-BE49-F238E27FC236}">
                  <a16:creationId xmlns:a16="http://schemas.microsoft.com/office/drawing/2014/main" id="{665E908D-3114-F52C-8FFF-20BD4762DA8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2" y="2128"/>
              <a:ext cx="65" cy="109"/>
            </a:xfrm>
            <a:custGeom>
              <a:avLst/>
              <a:gdLst>
                <a:gd name="T0" fmla="*/ 0 w 65"/>
                <a:gd name="T1" fmla="*/ 0 h 109"/>
                <a:gd name="T2" fmla="*/ 32 w 65"/>
                <a:gd name="T3" fmla="*/ 14 h 109"/>
                <a:gd name="T4" fmla="*/ 65 w 65"/>
                <a:gd name="T5" fmla="*/ 0 h 109"/>
                <a:gd name="T6" fmla="*/ 32 w 65"/>
                <a:gd name="T7" fmla="*/ 109 h 109"/>
                <a:gd name="T8" fmla="*/ 0 w 65"/>
                <a:gd name="T9" fmla="*/ 0 h 10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5"/>
                <a:gd name="T16" fmla="*/ 0 h 109"/>
                <a:gd name="T17" fmla="*/ 65 w 65"/>
                <a:gd name="T18" fmla="*/ 109 h 10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5" h="109">
                  <a:moveTo>
                    <a:pt x="0" y="0"/>
                  </a:moveTo>
                  <a:lnTo>
                    <a:pt x="32" y="14"/>
                  </a:lnTo>
                  <a:lnTo>
                    <a:pt x="65" y="0"/>
                  </a:lnTo>
                  <a:lnTo>
                    <a:pt x="32" y="10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73" name="Freeform 29">
              <a:extLst>
                <a:ext uri="{FF2B5EF4-FFF2-40B4-BE49-F238E27FC236}">
                  <a16:creationId xmlns:a16="http://schemas.microsoft.com/office/drawing/2014/main" id="{EF3041BF-3B26-448B-6272-7162521543F8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9" y="2491"/>
              <a:ext cx="12" cy="131"/>
            </a:xfrm>
            <a:custGeom>
              <a:avLst/>
              <a:gdLst>
                <a:gd name="T0" fmla="*/ 11 w 12"/>
                <a:gd name="T1" fmla="*/ 0 h 131"/>
                <a:gd name="T2" fmla="*/ 0 w 12"/>
                <a:gd name="T3" fmla="*/ 0 h 131"/>
                <a:gd name="T4" fmla="*/ 1 w 12"/>
                <a:gd name="T5" fmla="*/ 131 h 131"/>
                <a:gd name="T6" fmla="*/ 12 w 12"/>
                <a:gd name="T7" fmla="*/ 131 h 131"/>
                <a:gd name="T8" fmla="*/ 11 w 12"/>
                <a:gd name="T9" fmla="*/ 0 h 13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"/>
                <a:gd name="T16" fmla="*/ 0 h 131"/>
                <a:gd name="T17" fmla="*/ 12 w 12"/>
                <a:gd name="T18" fmla="*/ 131 h 13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" h="131">
                  <a:moveTo>
                    <a:pt x="11" y="0"/>
                  </a:moveTo>
                  <a:lnTo>
                    <a:pt x="0" y="0"/>
                  </a:lnTo>
                  <a:lnTo>
                    <a:pt x="1" y="131"/>
                  </a:lnTo>
                  <a:lnTo>
                    <a:pt x="12" y="131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74" name="Freeform 30">
              <a:extLst>
                <a:ext uri="{FF2B5EF4-FFF2-40B4-BE49-F238E27FC236}">
                  <a16:creationId xmlns:a16="http://schemas.microsoft.com/office/drawing/2014/main" id="{495DAFDE-4B96-D62D-EEDB-FE73C6AF536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2" y="2592"/>
              <a:ext cx="65" cy="108"/>
            </a:xfrm>
            <a:custGeom>
              <a:avLst/>
              <a:gdLst>
                <a:gd name="T0" fmla="*/ 0 w 65"/>
                <a:gd name="T1" fmla="*/ 0 h 108"/>
                <a:gd name="T2" fmla="*/ 32 w 65"/>
                <a:gd name="T3" fmla="*/ 13 h 108"/>
                <a:gd name="T4" fmla="*/ 65 w 65"/>
                <a:gd name="T5" fmla="*/ 0 h 108"/>
                <a:gd name="T6" fmla="*/ 32 w 65"/>
                <a:gd name="T7" fmla="*/ 108 h 108"/>
                <a:gd name="T8" fmla="*/ 0 w 65"/>
                <a:gd name="T9" fmla="*/ 0 h 10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5"/>
                <a:gd name="T16" fmla="*/ 0 h 108"/>
                <a:gd name="T17" fmla="*/ 65 w 65"/>
                <a:gd name="T18" fmla="*/ 108 h 10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5" h="108">
                  <a:moveTo>
                    <a:pt x="0" y="0"/>
                  </a:moveTo>
                  <a:lnTo>
                    <a:pt x="32" y="13"/>
                  </a:lnTo>
                  <a:lnTo>
                    <a:pt x="65" y="0"/>
                  </a:lnTo>
                  <a:lnTo>
                    <a:pt x="32" y="1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75" name="Freeform 31">
              <a:extLst>
                <a:ext uri="{FF2B5EF4-FFF2-40B4-BE49-F238E27FC236}">
                  <a16:creationId xmlns:a16="http://schemas.microsoft.com/office/drawing/2014/main" id="{AFDE6255-DAB4-8F72-2E45-1FA661DB72B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9" y="3190"/>
              <a:ext cx="12" cy="130"/>
            </a:xfrm>
            <a:custGeom>
              <a:avLst/>
              <a:gdLst>
                <a:gd name="T0" fmla="*/ 11 w 12"/>
                <a:gd name="T1" fmla="*/ 0 h 130"/>
                <a:gd name="T2" fmla="*/ 0 w 12"/>
                <a:gd name="T3" fmla="*/ 0 h 130"/>
                <a:gd name="T4" fmla="*/ 1 w 12"/>
                <a:gd name="T5" fmla="*/ 130 h 130"/>
                <a:gd name="T6" fmla="*/ 12 w 12"/>
                <a:gd name="T7" fmla="*/ 130 h 130"/>
                <a:gd name="T8" fmla="*/ 11 w 12"/>
                <a:gd name="T9" fmla="*/ 0 h 13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"/>
                <a:gd name="T16" fmla="*/ 0 h 130"/>
                <a:gd name="T17" fmla="*/ 12 w 12"/>
                <a:gd name="T18" fmla="*/ 130 h 13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" h="130">
                  <a:moveTo>
                    <a:pt x="11" y="0"/>
                  </a:moveTo>
                  <a:lnTo>
                    <a:pt x="0" y="0"/>
                  </a:lnTo>
                  <a:lnTo>
                    <a:pt x="1" y="130"/>
                  </a:lnTo>
                  <a:lnTo>
                    <a:pt x="12" y="130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76" name="Freeform 32">
              <a:extLst>
                <a:ext uri="{FF2B5EF4-FFF2-40B4-BE49-F238E27FC236}">
                  <a16:creationId xmlns:a16="http://schemas.microsoft.com/office/drawing/2014/main" id="{26B9ED50-40EF-114F-92C8-BD81B90F1C3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2" y="3292"/>
              <a:ext cx="65" cy="108"/>
            </a:xfrm>
            <a:custGeom>
              <a:avLst/>
              <a:gdLst>
                <a:gd name="T0" fmla="*/ 0 w 65"/>
                <a:gd name="T1" fmla="*/ 0 h 108"/>
                <a:gd name="T2" fmla="*/ 32 w 65"/>
                <a:gd name="T3" fmla="*/ 13 h 108"/>
                <a:gd name="T4" fmla="*/ 65 w 65"/>
                <a:gd name="T5" fmla="*/ 0 h 108"/>
                <a:gd name="T6" fmla="*/ 32 w 65"/>
                <a:gd name="T7" fmla="*/ 108 h 108"/>
                <a:gd name="T8" fmla="*/ 0 w 65"/>
                <a:gd name="T9" fmla="*/ 0 h 10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5"/>
                <a:gd name="T16" fmla="*/ 0 h 108"/>
                <a:gd name="T17" fmla="*/ 65 w 65"/>
                <a:gd name="T18" fmla="*/ 108 h 10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5" h="108">
                  <a:moveTo>
                    <a:pt x="0" y="0"/>
                  </a:moveTo>
                  <a:lnTo>
                    <a:pt x="32" y="13"/>
                  </a:lnTo>
                  <a:lnTo>
                    <a:pt x="65" y="0"/>
                  </a:lnTo>
                  <a:lnTo>
                    <a:pt x="32" y="1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77" name="Rectangle 33">
              <a:extLst>
                <a:ext uri="{FF2B5EF4-FFF2-40B4-BE49-F238E27FC236}">
                  <a16:creationId xmlns:a16="http://schemas.microsoft.com/office/drawing/2014/main" id="{64B3BDAD-0553-F7F6-781F-E2AAB057B1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2" y="3489"/>
              <a:ext cx="179" cy="2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78" name="Rectangle 34">
              <a:extLst>
                <a:ext uri="{FF2B5EF4-FFF2-40B4-BE49-F238E27FC236}">
                  <a16:creationId xmlns:a16="http://schemas.microsoft.com/office/drawing/2014/main" id="{9CBB2081-6498-1C0D-32E4-ED70C5B3F5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54" y="3130"/>
              <a:ext cx="12" cy="37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79" name="Freeform 35">
              <a:extLst>
                <a:ext uri="{FF2B5EF4-FFF2-40B4-BE49-F238E27FC236}">
                  <a16:creationId xmlns:a16="http://schemas.microsoft.com/office/drawing/2014/main" id="{8DD467B9-A7BB-03C1-2551-0B9EC8406025}"/>
                </a:ext>
              </a:extLst>
            </p:cNvPr>
            <p:cNvSpPr>
              <a:spLocks/>
            </p:cNvSpPr>
            <p:nvPr/>
          </p:nvSpPr>
          <p:spPr bwMode="auto">
            <a:xfrm>
              <a:off x="2426" y="3050"/>
              <a:ext cx="67" cy="108"/>
            </a:xfrm>
            <a:custGeom>
              <a:avLst/>
              <a:gdLst>
                <a:gd name="T0" fmla="*/ 67 w 67"/>
                <a:gd name="T1" fmla="*/ 108 h 108"/>
                <a:gd name="T2" fmla="*/ 34 w 67"/>
                <a:gd name="T3" fmla="*/ 95 h 108"/>
                <a:gd name="T4" fmla="*/ 0 w 67"/>
                <a:gd name="T5" fmla="*/ 108 h 108"/>
                <a:gd name="T6" fmla="*/ 34 w 67"/>
                <a:gd name="T7" fmla="*/ 0 h 108"/>
                <a:gd name="T8" fmla="*/ 67 w 67"/>
                <a:gd name="T9" fmla="*/ 108 h 10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7"/>
                <a:gd name="T16" fmla="*/ 0 h 108"/>
                <a:gd name="T17" fmla="*/ 67 w 67"/>
                <a:gd name="T18" fmla="*/ 108 h 10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7" h="108">
                  <a:moveTo>
                    <a:pt x="67" y="108"/>
                  </a:moveTo>
                  <a:lnTo>
                    <a:pt x="34" y="95"/>
                  </a:lnTo>
                  <a:lnTo>
                    <a:pt x="0" y="108"/>
                  </a:lnTo>
                  <a:lnTo>
                    <a:pt x="34" y="0"/>
                  </a:lnTo>
                  <a:lnTo>
                    <a:pt x="67" y="10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80" name="Rectangle 36">
              <a:extLst>
                <a:ext uri="{FF2B5EF4-FFF2-40B4-BE49-F238E27FC236}">
                  <a16:creationId xmlns:a16="http://schemas.microsoft.com/office/drawing/2014/main" id="{9A45049E-359C-C0B9-D17F-5281C3D4AB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0" y="2940"/>
              <a:ext cx="368" cy="2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81" name="Freeform 37">
              <a:extLst>
                <a:ext uri="{FF2B5EF4-FFF2-40B4-BE49-F238E27FC236}">
                  <a16:creationId xmlns:a16="http://schemas.microsoft.com/office/drawing/2014/main" id="{074E9FD0-08E7-455D-9311-9C248D52584E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3" y="2911"/>
              <a:ext cx="106" cy="68"/>
            </a:xfrm>
            <a:custGeom>
              <a:avLst/>
              <a:gdLst>
                <a:gd name="T0" fmla="*/ 106 w 106"/>
                <a:gd name="T1" fmla="*/ 0 h 68"/>
                <a:gd name="T2" fmla="*/ 93 w 106"/>
                <a:gd name="T3" fmla="*/ 34 h 68"/>
                <a:gd name="T4" fmla="*/ 106 w 106"/>
                <a:gd name="T5" fmla="*/ 68 h 68"/>
                <a:gd name="T6" fmla="*/ 0 w 106"/>
                <a:gd name="T7" fmla="*/ 34 h 68"/>
                <a:gd name="T8" fmla="*/ 106 w 106"/>
                <a:gd name="T9" fmla="*/ 0 h 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6"/>
                <a:gd name="T16" fmla="*/ 0 h 68"/>
                <a:gd name="T17" fmla="*/ 106 w 106"/>
                <a:gd name="T18" fmla="*/ 68 h 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6" h="68">
                  <a:moveTo>
                    <a:pt x="106" y="0"/>
                  </a:moveTo>
                  <a:lnTo>
                    <a:pt x="93" y="34"/>
                  </a:lnTo>
                  <a:lnTo>
                    <a:pt x="106" y="68"/>
                  </a:lnTo>
                  <a:lnTo>
                    <a:pt x="0" y="34"/>
                  </a:lnTo>
                  <a:lnTo>
                    <a:pt x="10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82" name="Rectangle 38">
              <a:extLst>
                <a:ext uri="{FF2B5EF4-FFF2-40B4-BE49-F238E27FC236}">
                  <a16:creationId xmlns:a16="http://schemas.microsoft.com/office/drawing/2014/main" id="{F4AB39E3-DE76-1B1F-EDB7-7E2EA4DD47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6" y="2940"/>
              <a:ext cx="242" cy="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83" name="Rectangle 39">
              <a:extLst>
                <a:ext uri="{FF2B5EF4-FFF2-40B4-BE49-F238E27FC236}">
                  <a16:creationId xmlns:a16="http://schemas.microsoft.com/office/drawing/2014/main" id="{5A20C072-9B06-F6F8-B9CE-09CCD47EF5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" y="2945"/>
              <a:ext cx="12" cy="91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84" name="Freeform 40">
              <a:extLst>
                <a:ext uri="{FF2B5EF4-FFF2-40B4-BE49-F238E27FC236}">
                  <a16:creationId xmlns:a16="http://schemas.microsoft.com/office/drawing/2014/main" id="{DFEFA331-21E7-2FC7-0BD5-EF0396617877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" y="3849"/>
              <a:ext cx="197" cy="12"/>
            </a:xfrm>
            <a:custGeom>
              <a:avLst/>
              <a:gdLst>
                <a:gd name="T0" fmla="*/ 0 w 197"/>
                <a:gd name="T1" fmla="*/ 0 h 12"/>
                <a:gd name="T2" fmla="*/ 0 w 197"/>
                <a:gd name="T3" fmla="*/ 11 h 12"/>
                <a:gd name="T4" fmla="*/ 197 w 197"/>
                <a:gd name="T5" fmla="*/ 12 h 12"/>
                <a:gd name="T6" fmla="*/ 197 w 197"/>
                <a:gd name="T7" fmla="*/ 1 h 12"/>
                <a:gd name="T8" fmla="*/ 0 w 197"/>
                <a:gd name="T9" fmla="*/ 0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7"/>
                <a:gd name="T16" fmla="*/ 0 h 12"/>
                <a:gd name="T17" fmla="*/ 197 w 197"/>
                <a:gd name="T18" fmla="*/ 12 h 1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7" h="12">
                  <a:moveTo>
                    <a:pt x="0" y="0"/>
                  </a:moveTo>
                  <a:lnTo>
                    <a:pt x="0" y="11"/>
                  </a:lnTo>
                  <a:lnTo>
                    <a:pt x="197" y="12"/>
                  </a:lnTo>
                  <a:lnTo>
                    <a:pt x="197" y="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85" name="Freeform 41">
              <a:extLst>
                <a:ext uri="{FF2B5EF4-FFF2-40B4-BE49-F238E27FC236}">
                  <a16:creationId xmlns:a16="http://schemas.microsoft.com/office/drawing/2014/main" id="{493469C3-6501-DA50-94FF-DDE4A616CCB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" y="3821"/>
              <a:ext cx="106" cy="66"/>
            </a:xfrm>
            <a:custGeom>
              <a:avLst/>
              <a:gdLst>
                <a:gd name="T0" fmla="*/ 0 w 106"/>
                <a:gd name="T1" fmla="*/ 66 h 66"/>
                <a:gd name="T2" fmla="*/ 13 w 106"/>
                <a:gd name="T3" fmla="*/ 33 h 66"/>
                <a:gd name="T4" fmla="*/ 0 w 106"/>
                <a:gd name="T5" fmla="*/ 0 h 66"/>
                <a:gd name="T6" fmla="*/ 106 w 106"/>
                <a:gd name="T7" fmla="*/ 33 h 66"/>
                <a:gd name="T8" fmla="*/ 0 w 106"/>
                <a:gd name="T9" fmla="*/ 66 h 6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6"/>
                <a:gd name="T16" fmla="*/ 0 h 66"/>
                <a:gd name="T17" fmla="*/ 106 w 106"/>
                <a:gd name="T18" fmla="*/ 66 h 6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6" h="66">
                  <a:moveTo>
                    <a:pt x="0" y="66"/>
                  </a:moveTo>
                  <a:lnTo>
                    <a:pt x="13" y="33"/>
                  </a:lnTo>
                  <a:lnTo>
                    <a:pt x="0" y="0"/>
                  </a:lnTo>
                  <a:lnTo>
                    <a:pt x="106" y="33"/>
                  </a:lnTo>
                  <a:lnTo>
                    <a:pt x="0" y="6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86" name="Rectangle 42">
              <a:extLst>
                <a:ext uri="{FF2B5EF4-FFF2-40B4-BE49-F238E27FC236}">
                  <a16:creationId xmlns:a16="http://schemas.microsoft.com/office/drawing/2014/main" id="{AEC69FE6-A282-BCD2-2E75-6D29809C00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7" y="3204"/>
              <a:ext cx="290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87" name="Rectangle 43">
              <a:extLst>
                <a:ext uri="{FF2B5EF4-FFF2-40B4-BE49-F238E27FC236}">
                  <a16:creationId xmlns:a16="http://schemas.microsoft.com/office/drawing/2014/main" id="{40A274CB-30B2-7154-E563-52E6F82464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7" y="3231"/>
              <a:ext cx="247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altLang="el-GR" sz="1800" b="1" kern="0" dirty="0">
                  <a:solidFill>
                    <a:srgbClr val="000000"/>
                  </a:solidFill>
                  <a:ea typeface="Tahoma" panose="020B0604030504040204" pitchFamily="34" charset="0"/>
                  <a:cs typeface="Tahoma" panose="020B0604030504040204" pitchFamily="34" charset="0"/>
                </a:rPr>
                <a:t>true</a:t>
              </a:r>
            </a:p>
          </p:txBody>
        </p:sp>
        <p:sp>
          <p:nvSpPr>
            <p:cNvPr id="88" name="Rectangle 44">
              <a:extLst>
                <a:ext uri="{FF2B5EF4-FFF2-40B4-BE49-F238E27FC236}">
                  <a16:creationId xmlns:a16="http://schemas.microsoft.com/office/drawing/2014/main" id="{86AA5704-FD8D-2F7A-63D0-6CDFC3C6E8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6" y="2784"/>
              <a:ext cx="339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89" name="Rectangle 45">
              <a:extLst>
                <a:ext uri="{FF2B5EF4-FFF2-40B4-BE49-F238E27FC236}">
                  <a16:creationId xmlns:a16="http://schemas.microsoft.com/office/drawing/2014/main" id="{0EC207E4-2278-2A83-519C-32B9DBA820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6" y="2811"/>
              <a:ext cx="283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altLang="el-GR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Tahoma" panose="020B0604030504040204" pitchFamily="34" charset="0"/>
                  <a:cs typeface="Tahoma" panose="020B0604030504040204" pitchFamily="34" charset="0"/>
                </a:rPr>
                <a:t>false</a:t>
              </a:r>
              <a:endParaRPr kumimoji="0" lang="en-GB" altLang="el-GR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90" name="Rectangle 46">
              <a:extLst>
                <a:ext uri="{FF2B5EF4-FFF2-40B4-BE49-F238E27FC236}">
                  <a16:creationId xmlns:a16="http://schemas.microsoft.com/office/drawing/2014/main" id="{728FF2CA-44A7-A35F-17B8-B3B9DCDB56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4" y="2083"/>
              <a:ext cx="252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963594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ECEB8F-091C-F7E1-EC29-AF621F928E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8DAF747F-60EE-0134-4BAE-E2D3FDA08D78}"/>
              </a:ext>
            </a:extLst>
          </p:cNvPr>
          <p:cNvSpPr/>
          <p:nvPr/>
        </p:nvSpPr>
        <p:spPr>
          <a:xfrm>
            <a:off x="140669" y="6559908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6BDE6D56-7B30-8B92-DADA-E9368EC35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n-GB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for vs. while </a:t>
            </a:r>
            <a:endParaRPr lang="en-US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A1A9CC03-014C-3D03-450A-D3F0986D14CB}"/>
              </a:ext>
            </a:extLst>
          </p:cNvPr>
          <p:cNvSpPr txBox="1">
            <a:spLocks/>
          </p:cNvSpPr>
          <p:nvPr/>
        </p:nvSpPr>
        <p:spPr>
          <a:xfrm>
            <a:off x="-1" y="6599394"/>
            <a:ext cx="3840633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© 202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5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Μια Εισαγωγή στην Τέχνη του Προγραμματισμού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B831971-94A4-52E2-2846-B7C2AED8057D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200" dirty="0">
                <a:latin typeface="Bahnschrift Light" panose="020B0502040204020203" pitchFamily="34" charset="0"/>
                <a:cs typeface="Arial" pitchFamily="34" charset="0"/>
              </a:rPr>
              <a:t>Διαφάνεια </a:t>
            </a:r>
            <a:fld id="{7C15C5B5-03C6-48D8-B20F-65D93A6CF09E}" type="slidenum">
              <a:rPr lang="en-US" sz="1200" smtClean="0">
                <a:latin typeface="Bahnschrift Light" panose="020B0502040204020203" pitchFamily="34" charset="0"/>
                <a:cs typeface="Arial" pitchFamily="34" charset="0"/>
              </a:rPr>
              <a:pPr algn="r"/>
              <a:t>33</a:t>
            </a:fld>
            <a:endParaRPr lang="en-US" sz="1200" dirty="0">
              <a:latin typeface="Bahnschrift Light" panose="020B0502040204020203" pitchFamily="34" charset="0"/>
              <a:cs typeface="Arial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DB0E228-2201-4EF4-055A-5A84AAD34AD4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0"/>
            <a:ext cx="9144000" cy="908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0033CC"/>
              </a:solidFill>
              <a:latin typeface="Times New Roman" pitchFamily="18" charset="0"/>
            </a:endParaRPr>
          </a:p>
        </p:txBody>
      </p:sp>
      <p:sp>
        <p:nvSpPr>
          <p:cNvPr id="14" name="Θέση υποσέλιδου 4">
            <a:extLst>
              <a:ext uri="{FF2B5EF4-FFF2-40B4-BE49-F238E27FC236}">
                <a16:creationId xmlns:a16="http://schemas.microsoft.com/office/drawing/2014/main" id="{E8E697EC-55B2-E1BF-5F68-32F2E506ABDA}"/>
              </a:ext>
            </a:extLst>
          </p:cNvPr>
          <p:cNvSpPr txBox="1">
            <a:spLocks/>
          </p:cNvSpPr>
          <p:nvPr/>
        </p:nvSpPr>
        <p:spPr>
          <a:xfrm>
            <a:off x="4149680" y="6689184"/>
            <a:ext cx="3462169" cy="2586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Πηγαίος Κώδικας – Βασικές Έννοιες</a:t>
            </a:r>
          </a:p>
          <a:p>
            <a:endParaRPr lang="el-GR" sz="11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C01998-8199-6D6E-831E-7EFFDACB2B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4509120"/>
            <a:ext cx="8299122" cy="136815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B00CE9C-B474-7F75-62F4-B69FF94FC6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1" y="1412776"/>
            <a:ext cx="7569477" cy="2160240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ACB8B34-28A9-AD79-3799-57EAC30D95A2}"/>
              </a:ext>
            </a:extLst>
          </p:cNvPr>
          <p:cNvCxnSpPr/>
          <p:nvPr/>
        </p:nvCxnSpPr>
        <p:spPr bwMode="auto">
          <a:xfrm>
            <a:off x="3863752" y="1772816"/>
            <a:ext cx="432048" cy="2736304"/>
          </a:xfrm>
          <a:prstGeom prst="straightConnector1">
            <a:avLst/>
          </a:prstGeom>
          <a:solidFill>
            <a:srgbClr val="00E4A8"/>
          </a:solidFill>
          <a:ln w="571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F19B768-5529-93DC-97A7-80C52E40F772}"/>
              </a:ext>
            </a:extLst>
          </p:cNvPr>
          <p:cNvCxnSpPr/>
          <p:nvPr/>
        </p:nvCxnSpPr>
        <p:spPr bwMode="auto">
          <a:xfrm>
            <a:off x="5673562" y="2060848"/>
            <a:ext cx="566455" cy="2448272"/>
          </a:xfrm>
          <a:prstGeom prst="straightConnector1">
            <a:avLst/>
          </a:prstGeom>
          <a:solidFill>
            <a:srgbClr val="00E4A8"/>
          </a:solidFill>
          <a:ln w="571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8BF9ACB-C77D-1308-E1DF-FD89FBD0FFBD}"/>
              </a:ext>
            </a:extLst>
          </p:cNvPr>
          <p:cNvCxnSpPr/>
          <p:nvPr/>
        </p:nvCxnSpPr>
        <p:spPr bwMode="auto">
          <a:xfrm>
            <a:off x="4727848" y="3140968"/>
            <a:ext cx="4032448" cy="1440160"/>
          </a:xfrm>
          <a:prstGeom prst="straightConnector1">
            <a:avLst/>
          </a:prstGeom>
          <a:solidFill>
            <a:srgbClr val="00E4A8"/>
          </a:solidFill>
          <a:ln w="571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37052490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35143A-3919-3F6A-8B53-75093B61AC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EBE2FBF3-3A55-C1A7-97E4-C581782A3C08}"/>
              </a:ext>
            </a:extLst>
          </p:cNvPr>
          <p:cNvSpPr/>
          <p:nvPr/>
        </p:nvSpPr>
        <p:spPr>
          <a:xfrm>
            <a:off x="140669" y="6559908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F3119B7E-BCC3-5EC1-9AA1-2EAE83ABD0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Hands-on</a:t>
            </a:r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  (</a:t>
            </a:r>
            <a:r>
              <a:rPr lang="en-US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FibonacciSequence V1)</a:t>
            </a: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7BF93AD-4DAE-7993-F9AF-4E658C7D43F6}"/>
              </a:ext>
            </a:extLst>
          </p:cNvPr>
          <p:cNvSpPr txBox="1">
            <a:spLocks/>
          </p:cNvSpPr>
          <p:nvPr/>
        </p:nvSpPr>
        <p:spPr>
          <a:xfrm>
            <a:off x="-1" y="6599394"/>
            <a:ext cx="3840633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© 202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5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Μια Εισαγωγή στην Τέχνη του Προγραμματισμού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354698D-9BCA-B9D7-BFF9-090B92E9A5FA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200" dirty="0">
                <a:latin typeface="Bahnschrift Light" panose="020B0502040204020203" pitchFamily="34" charset="0"/>
                <a:cs typeface="Arial" pitchFamily="34" charset="0"/>
              </a:rPr>
              <a:t>Διαφάνεια </a:t>
            </a:r>
            <a:fld id="{7C15C5B5-03C6-48D8-B20F-65D93A6CF09E}" type="slidenum">
              <a:rPr lang="en-US" sz="1200" smtClean="0">
                <a:latin typeface="Bahnschrift Light" panose="020B0502040204020203" pitchFamily="34" charset="0"/>
                <a:cs typeface="Arial" pitchFamily="34" charset="0"/>
              </a:rPr>
              <a:pPr algn="r"/>
              <a:t>34</a:t>
            </a:fld>
            <a:endParaRPr lang="en-US" sz="1200" dirty="0">
              <a:latin typeface="Bahnschrift Light" panose="020B0502040204020203" pitchFamily="34" charset="0"/>
              <a:cs typeface="Arial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2D1D731-0A52-64CE-A4D2-BBC9B57483DE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0"/>
            <a:ext cx="9144000" cy="908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0033CC"/>
              </a:solidFill>
              <a:latin typeface="Times New Roman" pitchFamily="18" charset="0"/>
            </a:endParaRPr>
          </a:p>
        </p:txBody>
      </p:sp>
      <p:sp>
        <p:nvSpPr>
          <p:cNvPr id="14" name="Θέση υποσέλιδου 4">
            <a:extLst>
              <a:ext uri="{FF2B5EF4-FFF2-40B4-BE49-F238E27FC236}">
                <a16:creationId xmlns:a16="http://schemas.microsoft.com/office/drawing/2014/main" id="{9309B8C8-62B7-66D6-34DA-8B61EBD1E710}"/>
              </a:ext>
            </a:extLst>
          </p:cNvPr>
          <p:cNvSpPr txBox="1">
            <a:spLocks/>
          </p:cNvSpPr>
          <p:nvPr/>
        </p:nvSpPr>
        <p:spPr>
          <a:xfrm>
            <a:off x="4149680" y="6689184"/>
            <a:ext cx="3462169" cy="2586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Πηγαίος Κώδικας – Βασικές Έννοιες</a:t>
            </a:r>
          </a:p>
          <a:p>
            <a:endParaRPr lang="el-GR" sz="11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7" name="Speech Bubble: Rectangle with Corners Rounded 6">
            <a:extLst>
              <a:ext uri="{FF2B5EF4-FFF2-40B4-BE49-F238E27FC236}">
                <a16:creationId xmlns:a16="http://schemas.microsoft.com/office/drawing/2014/main" id="{DCB03622-E925-34EC-8010-20B652B292BA}"/>
              </a:ext>
            </a:extLst>
          </p:cNvPr>
          <p:cNvSpPr/>
          <p:nvPr/>
        </p:nvSpPr>
        <p:spPr>
          <a:xfrm>
            <a:off x="6095998" y="975298"/>
            <a:ext cx="5633357" cy="1824522"/>
          </a:xfrm>
          <a:prstGeom prst="wedgeRoundRectCallout">
            <a:avLst>
              <a:gd name="adj1" fmla="val -59222"/>
              <a:gd name="adj2" fmla="val 98719"/>
              <a:gd name="adj3" fmla="val 16667"/>
            </a:avLst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2400" b="1" dirty="0">
                <a:solidFill>
                  <a:schemeClr val="tx1"/>
                </a:solidFill>
                <a:highlight>
                  <a:srgbClr val="FFFF00"/>
                </a:highlight>
              </a:rPr>
              <a:t>Αναπτύξτε την 1</a:t>
            </a:r>
            <a:r>
              <a:rPr lang="el-GR" sz="2400" b="1" baseline="30000" dirty="0">
                <a:solidFill>
                  <a:schemeClr val="tx1"/>
                </a:solidFill>
                <a:highlight>
                  <a:srgbClr val="FFFF00"/>
                </a:highlight>
              </a:rPr>
              <a:t>η</a:t>
            </a:r>
            <a:r>
              <a:rPr lang="el-GR" sz="2400" b="1" dirty="0">
                <a:solidFill>
                  <a:schemeClr val="tx1"/>
                </a:solidFill>
                <a:highlight>
                  <a:srgbClr val="FFFF00"/>
                </a:highlight>
              </a:rPr>
              <a:t> έκδοση του  προγράμματος </a:t>
            </a:r>
            <a:r>
              <a:rPr lang="en-US" sz="2400" b="1" dirty="0">
                <a:solidFill>
                  <a:schemeClr val="tx1"/>
                </a:solidFill>
                <a:highlight>
                  <a:srgbClr val="FFFF00"/>
                </a:highlight>
              </a:rPr>
              <a:t>FibonacciSequence</a:t>
            </a:r>
            <a:r>
              <a:rPr lang="el-GR" sz="2400" b="1" dirty="0">
                <a:solidFill>
                  <a:schemeClr val="tx1"/>
                </a:solidFill>
                <a:highlight>
                  <a:srgbClr val="FFFF00"/>
                </a:highlight>
              </a:rPr>
              <a:t> με βάση την Λεκτική Περιγραφή</a:t>
            </a:r>
            <a:endParaRPr lang="en-GB" sz="2400" b="1" dirty="0">
              <a:solidFill>
                <a:schemeClr val="tx1"/>
              </a:solidFill>
              <a:highlight>
                <a:srgbClr val="FFFF00"/>
              </a:highlight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B200891-FC39-733D-D3F4-61E7CE8D4A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370" y="1848073"/>
            <a:ext cx="4812974" cy="3543607"/>
          </a:xfrm>
          <a:prstGeom prst="rect">
            <a:avLst/>
          </a:prstGeom>
        </p:spPr>
      </p:pic>
      <p:sp>
        <p:nvSpPr>
          <p:cNvPr id="12" name="Speech Bubble: Rectangle with Corners Rounded 11">
            <a:extLst>
              <a:ext uri="{FF2B5EF4-FFF2-40B4-BE49-F238E27FC236}">
                <a16:creationId xmlns:a16="http://schemas.microsoft.com/office/drawing/2014/main" id="{21497271-F305-2D33-7C99-7C71C499C0C5}"/>
              </a:ext>
            </a:extLst>
          </p:cNvPr>
          <p:cNvSpPr/>
          <p:nvPr/>
        </p:nvSpPr>
        <p:spPr>
          <a:xfrm>
            <a:off x="6095997" y="3760088"/>
            <a:ext cx="5633357" cy="719331"/>
          </a:xfrm>
          <a:prstGeom prst="wedgeRoundRectCallout">
            <a:avLst>
              <a:gd name="adj1" fmla="val -59222"/>
              <a:gd name="adj2" fmla="val 98719"/>
              <a:gd name="adj3" fmla="val 16667"/>
            </a:avLst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2400" b="1" dirty="0">
                <a:solidFill>
                  <a:schemeClr val="tx1"/>
                </a:solidFill>
                <a:highlight>
                  <a:srgbClr val="FFFF00"/>
                </a:highlight>
              </a:rPr>
              <a:t>Ελέγξτε αν υλοποιεί σωστά την λειτουργικότητα</a:t>
            </a:r>
            <a:endParaRPr lang="en-GB" sz="2400" b="1" dirty="0">
              <a:solidFill>
                <a:schemeClr val="tx1"/>
              </a:solidFill>
              <a:highlight>
                <a:srgbClr val="FFFF00"/>
              </a:highlight>
            </a:endParaRPr>
          </a:p>
        </p:txBody>
      </p:sp>
      <p:sp>
        <p:nvSpPr>
          <p:cNvPr id="4" name="Speech Bubble: Rectangle with Corners Rounded 3">
            <a:extLst>
              <a:ext uri="{FF2B5EF4-FFF2-40B4-BE49-F238E27FC236}">
                <a16:creationId xmlns:a16="http://schemas.microsoft.com/office/drawing/2014/main" id="{5E3D9641-70B9-891B-BFE1-8E28033E0EAF}"/>
              </a:ext>
            </a:extLst>
          </p:cNvPr>
          <p:cNvSpPr/>
          <p:nvPr/>
        </p:nvSpPr>
        <p:spPr>
          <a:xfrm>
            <a:off x="6095997" y="5080021"/>
            <a:ext cx="5633357" cy="719331"/>
          </a:xfrm>
          <a:prstGeom prst="wedgeRoundRectCallout">
            <a:avLst>
              <a:gd name="adj1" fmla="val -59222"/>
              <a:gd name="adj2" fmla="val 98719"/>
              <a:gd name="adj3" fmla="val 16667"/>
            </a:avLst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2400" b="1" dirty="0">
                <a:solidFill>
                  <a:schemeClr val="tx1"/>
                </a:solidFill>
                <a:highlight>
                  <a:srgbClr val="FFFF00"/>
                </a:highlight>
              </a:rPr>
              <a:t>Εξετάστε εναλλακτικές υλοποιήσεις</a:t>
            </a:r>
            <a:endParaRPr lang="en-GB" sz="2400" b="1" dirty="0">
              <a:solidFill>
                <a:schemeClr val="tx1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817252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23181A-23FB-5E70-E7C8-A4CF5B6A74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0DF8E581-894E-D009-2E61-FEBB887B5B03}"/>
              </a:ext>
            </a:extLst>
          </p:cNvPr>
          <p:cNvSpPr/>
          <p:nvPr/>
        </p:nvSpPr>
        <p:spPr>
          <a:xfrm>
            <a:off x="140669" y="6559908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83CBADF9-730E-F076-D2E0-985C9F10F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83457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FibonacciSequence</a:t>
            </a:r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 – 1</a:t>
            </a:r>
            <a:r>
              <a:rPr lang="el-GR" sz="4000" b="1" baseline="30000" dirty="0">
                <a:solidFill>
                  <a:srgbClr val="F9853D"/>
                </a:solidFill>
                <a:latin typeface="Bahnschrift" panose="020B0502040204020203" pitchFamily="34" charset="0"/>
              </a:rPr>
              <a:t>η</a:t>
            </a:r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 έκδοση </a:t>
            </a:r>
            <a:endParaRPr lang="el-GR" sz="4000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08B5CD3C-D02E-C59D-3A00-8EB8A6DF6D04}"/>
              </a:ext>
            </a:extLst>
          </p:cNvPr>
          <p:cNvSpPr txBox="1">
            <a:spLocks/>
          </p:cNvSpPr>
          <p:nvPr/>
        </p:nvSpPr>
        <p:spPr>
          <a:xfrm>
            <a:off x="-1" y="6599394"/>
            <a:ext cx="3840633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© 202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5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Μια Εισαγωγή στην Τέχνη του Προγραμματισμού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EA220B5-045B-C3DE-94BA-07BD63EA9113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200" dirty="0">
                <a:latin typeface="Bahnschrift Light" panose="020B0502040204020203" pitchFamily="34" charset="0"/>
                <a:cs typeface="Arial" pitchFamily="34" charset="0"/>
              </a:rPr>
              <a:t>Διαφάνεια </a:t>
            </a:r>
            <a:fld id="{7C15C5B5-03C6-48D8-B20F-65D93A6CF09E}" type="slidenum">
              <a:rPr lang="en-US" sz="1200" smtClean="0">
                <a:latin typeface="Bahnschrift Light" panose="020B0502040204020203" pitchFamily="34" charset="0"/>
                <a:cs typeface="Arial" pitchFamily="34" charset="0"/>
              </a:rPr>
              <a:pPr algn="r"/>
              <a:t>35</a:t>
            </a:fld>
            <a:endParaRPr lang="en-US" sz="1200" dirty="0">
              <a:latin typeface="Bahnschrift Light" panose="020B0502040204020203" pitchFamily="34" charset="0"/>
              <a:cs typeface="Arial" pitchFamily="34" charset="0"/>
            </a:endParaRPr>
          </a:p>
        </p:txBody>
      </p:sp>
      <p:sp>
        <p:nvSpPr>
          <p:cNvPr id="12" name="Θέση υποσέλιδου 4">
            <a:extLst>
              <a:ext uri="{FF2B5EF4-FFF2-40B4-BE49-F238E27FC236}">
                <a16:creationId xmlns:a16="http://schemas.microsoft.com/office/drawing/2014/main" id="{233D8560-85E5-49B6-5472-FAE4C0754452}"/>
              </a:ext>
            </a:extLst>
          </p:cNvPr>
          <p:cNvSpPr txBox="1">
            <a:spLocks/>
          </p:cNvSpPr>
          <p:nvPr/>
        </p:nvSpPr>
        <p:spPr>
          <a:xfrm>
            <a:off x="4149680" y="6670790"/>
            <a:ext cx="4631713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Control flow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 – 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Arrays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 - 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Type conversions</a:t>
            </a:r>
          </a:p>
          <a:p>
            <a:endParaRPr lang="el-GR" sz="11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60B0833-7D50-1854-886C-CC8CC99944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559" y="822943"/>
            <a:ext cx="6583628" cy="5629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83833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4C608D-DD2B-01C2-102C-369779655A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F817AE2A-43D8-406B-22AD-ECA55C5EEB98}"/>
              </a:ext>
            </a:extLst>
          </p:cNvPr>
          <p:cNvSpPr/>
          <p:nvPr/>
        </p:nvSpPr>
        <p:spPr>
          <a:xfrm>
            <a:off x="140669" y="6559908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F00F1F37-2E80-FA65-73AA-0E3AA79A5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83457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FibonacciSequence</a:t>
            </a:r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 – 2</a:t>
            </a:r>
            <a:r>
              <a:rPr lang="el-GR" sz="4000" b="1" baseline="30000" dirty="0">
                <a:solidFill>
                  <a:srgbClr val="F9853D"/>
                </a:solidFill>
                <a:latin typeface="Bahnschrift" panose="020B0502040204020203" pitchFamily="34" charset="0"/>
              </a:rPr>
              <a:t>η</a:t>
            </a:r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 έκδοση (</a:t>
            </a:r>
            <a:r>
              <a:rPr lang="en-US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Hands-on)</a:t>
            </a:r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 </a:t>
            </a:r>
            <a:endParaRPr lang="el-GR" sz="4000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4CA714ED-D4C3-F09D-DBAE-14EFB2CAFEFF}"/>
              </a:ext>
            </a:extLst>
          </p:cNvPr>
          <p:cNvSpPr txBox="1">
            <a:spLocks/>
          </p:cNvSpPr>
          <p:nvPr/>
        </p:nvSpPr>
        <p:spPr>
          <a:xfrm>
            <a:off x="-1" y="6599394"/>
            <a:ext cx="3840633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© 202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5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Μια Εισαγωγή στην Τέχνη του Προγραμματισμού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AA2617C-F750-ADFF-D460-FF3D094B94C6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200" dirty="0">
                <a:latin typeface="Bahnschrift Light" panose="020B0502040204020203" pitchFamily="34" charset="0"/>
                <a:cs typeface="Arial" pitchFamily="34" charset="0"/>
              </a:rPr>
              <a:t>Διαφάνεια </a:t>
            </a:r>
            <a:fld id="{7C15C5B5-03C6-48D8-B20F-65D93A6CF09E}" type="slidenum">
              <a:rPr lang="en-US" sz="1200" smtClean="0">
                <a:latin typeface="Bahnschrift Light" panose="020B0502040204020203" pitchFamily="34" charset="0"/>
                <a:cs typeface="Arial" pitchFamily="34" charset="0"/>
              </a:rPr>
              <a:pPr algn="r"/>
              <a:t>36</a:t>
            </a:fld>
            <a:endParaRPr lang="en-US" sz="1200" dirty="0">
              <a:latin typeface="Bahnschrift Light" panose="020B0502040204020203" pitchFamily="34" charset="0"/>
              <a:cs typeface="Arial" pitchFamily="34" charset="0"/>
            </a:endParaRPr>
          </a:p>
        </p:txBody>
      </p:sp>
      <p:sp>
        <p:nvSpPr>
          <p:cNvPr id="12" name="Θέση υποσέλιδου 4">
            <a:extLst>
              <a:ext uri="{FF2B5EF4-FFF2-40B4-BE49-F238E27FC236}">
                <a16:creationId xmlns:a16="http://schemas.microsoft.com/office/drawing/2014/main" id="{79D01598-A8F6-9478-E299-04B0E1EFD4E9}"/>
              </a:ext>
            </a:extLst>
          </p:cNvPr>
          <p:cNvSpPr txBox="1">
            <a:spLocks/>
          </p:cNvSpPr>
          <p:nvPr/>
        </p:nvSpPr>
        <p:spPr>
          <a:xfrm>
            <a:off x="4149680" y="6670790"/>
            <a:ext cx="4631713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Control flow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 – 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Arrays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 - 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Type conversions</a:t>
            </a:r>
          </a:p>
          <a:p>
            <a:endParaRPr lang="el-GR" sz="11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CD01084-7E69-ECBC-7BC5-F26CCF67B458}"/>
              </a:ext>
            </a:extLst>
          </p:cNvPr>
          <p:cNvSpPr txBox="1"/>
          <p:nvPr/>
        </p:nvSpPr>
        <p:spPr>
          <a:xfrm>
            <a:off x="140668" y="894339"/>
            <a:ext cx="11910662" cy="2677656"/>
          </a:xfrm>
          <a:prstGeom prst="rect">
            <a:avLst/>
          </a:prstGeom>
          <a:solidFill>
            <a:srgbClr val="92D050"/>
          </a:solidFill>
        </p:spPr>
        <p:txBody>
          <a:bodyPr wrap="square">
            <a:spAutoFit/>
          </a:bodyPr>
          <a:lstStyle/>
          <a:p>
            <a:r>
              <a:rPr lang="el-GR" sz="2800" dirty="0"/>
              <a:t>Δώστε μια 2η έκδοση του προγράμματος η οποία θα χρησιμοποιεί μια συνάρτηση με όνομα </a:t>
            </a:r>
            <a:r>
              <a:rPr lang="el-GR" sz="2800" b="1" dirty="0" err="1"/>
              <a:t>nextFibonacciSeqTerm</a:t>
            </a:r>
            <a:r>
              <a:rPr lang="el-GR" sz="2800" dirty="0"/>
              <a:t> για τον υπολογισμό του επόμενου όρου της ακολουθίας. </a:t>
            </a:r>
          </a:p>
          <a:p>
            <a:r>
              <a:rPr lang="el-GR" sz="2800" dirty="0"/>
              <a:t>Ορίστε τη συνάρτηση έτσι ώστε να είναι επαναχρησιμοποιήσιμη. </a:t>
            </a:r>
          </a:p>
          <a:p>
            <a:r>
              <a:rPr lang="el-GR" sz="2800" dirty="0"/>
              <a:t>Την έκδοση αυτή δημιουργούμε για εξάσκηση στον ορισμό και χρήση συνάρτησης.</a:t>
            </a:r>
            <a:endParaRPr lang="en-GB" sz="28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761054D-85C8-1E24-75B6-FB79D8C295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852" y="3764500"/>
            <a:ext cx="3636828" cy="2677656"/>
          </a:xfrm>
          <a:prstGeom prst="rect">
            <a:avLst/>
          </a:prstGeom>
        </p:spPr>
      </p:pic>
      <p:sp>
        <p:nvSpPr>
          <p:cNvPr id="15" name="Speech Bubble: Rectangle with Corners Rounded 14">
            <a:extLst>
              <a:ext uri="{FF2B5EF4-FFF2-40B4-BE49-F238E27FC236}">
                <a16:creationId xmlns:a16="http://schemas.microsoft.com/office/drawing/2014/main" id="{DDCBB052-AB2F-0A9A-1A65-D670FCDDA5FC}"/>
              </a:ext>
            </a:extLst>
          </p:cNvPr>
          <p:cNvSpPr/>
          <p:nvPr/>
        </p:nvSpPr>
        <p:spPr>
          <a:xfrm>
            <a:off x="6577781" y="4188541"/>
            <a:ext cx="4664877" cy="1325727"/>
          </a:xfrm>
          <a:prstGeom prst="wedgeRoundRectCallout">
            <a:avLst>
              <a:gd name="adj1" fmla="val -59222"/>
              <a:gd name="adj2" fmla="val 98719"/>
              <a:gd name="adj3" fmla="val 16667"/>
            </a:avLst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2400" b="1" dirty="0">
                <a:solidFill>
                  <a:schemeClr val="tx1"/>
                </a:solidFill>
                <a:highlight>
                  <a:srgbClr val="FFFF00"/>
                </a:highlight>
              </a:rPr>
              <a:t>Αναπτύξτε την </a:t>
            </a:r>
            <a:r>
              <a:rPr lang="en-US" sz="2400" b="1" dirty="0">
                <a:solidFill>
                  <a:schemeClr val="tx1"/>
                </a:solidFill>
                <a:highlight>
                  <a:srgbClr val="FFFF00"/>
                </a:highlight>
              </a:rPr>
              <a:t>2</a:t>
            </a:r>
            <a:r>
              <a:rPr lang="el-GR" sz="2400" b="1" baseline="30000" dirty="0">
                <a:solidFill>
                  <a:schemeClr val="tx1"/>
                </a:solidFill>
                <a:highlight>
                  <a:srgbClr val="FFFF00"/>
                </a:highlight>
              </a:rPr>
              <a:t>η</a:t>
            </a:r>
            <a:r>
              <a:rPr lang="el-GR" sz="2400" b="1" dirty="0">
                <a:solidFill>
                  <a:schemeClr val="tx1"/>
                </a:solidFill>
                <a:highlight>
                  <a:srgbClr val="FFFF00"/>
                </a:highlight>
              </a:rPr>
              <a:t> έκδοση του  προγράμματος </a:t>
            </a:r>
            <a:r>
              <a:rPr lang="en-US" sz="2400" b="1" dirty="0">
                <a:solidFill>
                  <a:schemeClr val="tx1"/>
                </a:solidFill>
                <a:highlight>
                  <a:srgbClr val="FFFF00"/>
                </a:highlight>
              </a:rPr>
              <a:t>FibonacciSequence</a:t>
            </a:r>
            <a:endParaRPr lang="en-GB" sz="2400" b="1" dirty="0">
              <a:solidFill>
                <a:schemeClr val="tx1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9490603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B872EC-43A4-9B67-EE79-9BC89A577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B44F386B-D455-C09F-3D0E-BD05FF351A88}"/>
              </a:ext>
            </a:extLst>
          </p:cNvPr>
          <p:cNvSpPr/>
          <p:nvPr/>
        </p:nvSpPr>
        <p:spPr>
          <a:xfrm>
            <a:off x="140669" y="6559908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381FC1EF-4609-EFD3-0A62-F3A9EC0415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83457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FibonacciSequence</a:t>
            </a:r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 – </a:t>
            </a:r>
            <a:r>
              <a:rPr lang="en-US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3</a:t>
            </a:r>
            <a:r>
              <a:rPr lang="el-GR" sz="4000" b="1" baseline="30000" dirty="0">
                <a:solidFill>
                  <a:srgbClr val="F9853D"/>
                </a:solidFill>
                <a:latin typeface="Bahnschrift" panose="020B0502040204020203" pitchFamily="34" charset="0"/>
              </a:rPr>
              <a:t>η</a:t>
            </a:r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 έκδοση (</a:t>
            </a:r>
            <a:r>
              <a:rPr lang="en-US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Hands-on)</a:t>
            </a:r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 </a:t>
            </a:r>
            <a:endParaRPr lang="el-GR" sz="4000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C02A6749-87A8-8F19-E7E8-D5D1042BB4A0}"/>
              </a:ext>
            </a:extLst>
          </p:cNvPr>
          <p:cNvSpPr txBox="1">
            <a:spLocks/>
          </p:cNvSpPr>
          <p:nvPr/>
        </p:nvSpPr>
        <p:spPr>
          <a:xfrm>
            <a:off x="-1" y="6599394"/>
            <a:ext cx="3840633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© 202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5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Μια Εισαγωγή στην Τέχνη του Προγραμματισμού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869AC96-8F15-2DBD-F85B-51CB39E28BAA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200" dirty="0">
                <a:latin typeface="Bahnschrift Light" panose="020B0502040204020203" pitchFamily="34" charset="0"/>
                <a:cs typeface="Arial" pitchFamily="34" charset="0"/>
              </a:rPr>
              <a:t>Διαφάνεια </a:t>
            </a:r>
            <a:fld id="{7C15C5B5-03C6-48D8-B20F-65D93A6CF09E}" type="slidenum">
              <a:rPr lang="en-US" sz="1200" smtClean="0">
                <a:latin typeface="Bahnschrift Light" panose="020B0502040204020203" pitchFamily="34" charset="0"/>
                <a:cs typeface="Arial" pitchFamily="34" charset="0"/>
              </a:rPr>
              <a:pPr algn="r"/>
              <a:t>37</a:t>
            </a:fld>
            <a:endParaRPr lang="en-US" sz="1200" dirty="0">
              <a:latin typeface="Bahnschrift Light" panose="020B0502040204020203" pitchFamily="34" charset="0"/>
              <a:cs typeface="Arial" pitchFamily="34" charset="0"/>
            </a:endParaRPr>
          </a:p>
        </p:txBody>
      </p:sp>
      <p:sp>
        <p:nvSpPr>
          <p:cNvPr id="12" name="Θέση υποσέλιδου 4">
            <a:extLst>
              <a:ext uri="{FF2B5EF4-FFF2-40B4-BE49-F238E27FC236}">
                <a16:creationId xmlns:a16="http://schemas.microsoft.com/office/drawing/2014/main" id="{F84F9393-6700-194B-A8F8-4AC4EB6558BC}"/>
              </a:ext>
            </a:extLst>
          </p:cNvPr>
          <p:cNvSpPr txBox="1">
            <a:spLocks/>
          </p:cNvSpPr>
          <p:nvPr/>
        </p:nvSpPr>
        <p:spPr>
          <a:xfrm>
            <a:off x="4149680" y="6670790"/>
            <a:ext cx="4631713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Control flow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 – 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Arrays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 - 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Type conversions</a:t>
            </a:r>
          </a:p>
          <a:p>
            <a:endParaRPr lang="el-GR" sz="11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55E51ED-6C65-1883-8411-9ADD66FDEC35}"/>
              </a:ext>
            </a:extLst>
          </p:cNvPr>
          <p:cNvSpPr txBox="1"/>
          <p:nvPr/>
        </p:nvSpPr>
        <p:spPr>
          <a:xfrm>
            <a:off x="140668" y="894339"/>
            <a:ext cx="11910662" cy="1815882"/>
          </a:xfrm>
          <a:prstGeom prst="rect">
            <a:avLst/>
          </a:prstGeom>
          <a:solidFill>
            <a:srgbClr val="92D050"/>
          </a:solidFill>
        </p:spPr>
        <p:txBody>
          <a:bodyPr wrap="square">
            <a:spAutoFit/>
          </a:bodyPr>
          <a:lstStyle/>
          <a:p>
            <a:r>
              <a:rPr lang="el-GR" sz="2800" dirty="0"/>
              <a:t>Δώστε μια </a:t>
            </a:r>
            <a:r>
              <a:rPr lang="en-US" sz="2800" dirty="0"/>
              <a:t>3</a:t>
            </a:r>
            <a:r>
              <a:rPr lang="el-GR" sz="2800" dirty="0"/>
              <a:t>η έκδοση του προγράμματος η οποία θα υπολογίζει πρώτα όλους τους όρους της ακολουθίας και μετά θα τους εμφανίζει στην οθόνη.</a:t>
            </a:r>
          </a:p>
          <a:p>
            <a:endParaRPr lang="en-US" sz="2800" dirty="0"/>
          </a:p>
          <a:p>
            <a:r>
              <a:rPr lang="el-GR" sz="2800" dirty="0"/>
              <a:t>Στόχος της έκδοσης αυτής είναι </a:t>
            </a:r>
            <a:r>
              <a:rPr lang="el-GR" sz="2800" b="1" dirty="0"/>
              <a:t>η εισαγωγή στον τύπο του Πίνακα (</a:t>
            </a:r>
            <a:r>
              <a:rPr lang="en-US" sz="2800" b="1" dirty="0"/>
              <a:t>Array</a:t>
            </a:r>
            <a:r>
              <a:rPr lang="el-GR" sz="2800" b="1" dirty="0"/>
              <a:t>).</a:t>
            </a:r>
            <a:endParaRPr lang="en-GB" sz="2800" b="1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9AB5B09-E8AE-EFCC-1152-EA71BFCA4C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852" y="3764500"/>
            <a:ext cx="3636828" cy="2677656"/>
          </a:xfrm>
          <a:prstGeom prst="rect">
            <a:avLst/>
          </a:prstGeom>
        </p:spPr>
      </p:pic>
      <p:sp>
        <p:nvSpPr>
          <p:cNvPr id="15" name="Speech Bubble: Rectangle with Corners Rounded 14">
            <a:extLst>
              <a:ext uri="{FF2B5EF4-FFF2-40B4-BE49-F238E27FC236}">
                <a16:creationId xmlns:a16="http://schemas.microsoft.com/office/drawing/2014/main" id="{079B5474-789B-0740-CF6A-212FE3D2D4C9}"/>
              </a:ext>
            </a:extLst>
          </p:cNvPr>
          <p:cNvSpPr/>
          <p:nvPr/>
        </p:nvSpPr>
        <p:spPr>
          <a:xfrm>
            <a:off x="6577781" y="3429001"/>
            <a:ext cx="4664877" cy="2085268"/>
          </a:xfrm>
          <a:prstGeom prst="wedgeRoundRectCallout">
            <a:avLst>
              <a:gd name="adj1" fmla="val -59222"/>
              <a:gd name="adj2" fmla="val 98719"/>
              <a:gd name="adj3" fmla="val 16667"/>
            </a:avLst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2400" b="1" dirty="0">
                <a:solidFill>
                  <a:schemeClr val="tx1"/>
                </a:solidFill>
                <a:highlight>
                  <a:srgbClr val="FFFF00"/>
                </a:highlight>
              </a:rPr>
              <a:t>Αναπτύξτε την </a:t>
            </a:r>
            <a:r>
              <a:rPr lang="en-US" sz="2400" b="1" dirty="0">
                <a:solidFill>
                  <a:schemeClr val="tx1"/>
                </a:solidFill>
                <a:highlight>
                  <a:srgbClr val="FFFF00"/>
                </a:highlight>
              </a:rPr>
              <a:t>3</a:t>
            </a:r>
            <a:r>
              <a:rPr lang="el-GR" sz="2400" b="1" baseline="30000" dirty="0">
                <a:solidFill>
                  <a:schemeClr val="tx1"/>
                </a:solidFill>
                <a:highlight>
                  <a:srgbClr val="FFFF00"/>
                </a:highlight>
              </a:rPr>
              <a:t>η</a:t>
            </a:r>
            <a:r>
              <a:rPr lang="el-GR" sz="2400" b="1" dirty="0">
                <a:solidFill>
                  <a:schemeClr val="tx1"/>
                </a:solidFill>
                <a:highlight>
                  <a:srgbClr val="FFFF00"/>
                </a:highlight>
              </a:rPr>
              <a:t> έκδοση του  προγράμματος </a:t>
            </a:r>
            <a:r>
              <a:rPr lang="en-US" sz="2400" b="1" dirty="0">
                <a:solidFill>
                  <a:schemeClr val="tx1"/>
                </a:solidFill>
                <a:highlight>
                  <a:srgbClr val="FFFF00"/>
                </a:highlight>
              </a:rPr>
              <a:t>FibonacciSequence </a:t>
            </a:r>
            <a:r>
              <a:rPr lang="el-GR" sz="2400" b="1" dirty="0">
                <a:solidFill>
                  <a:schemeClr val="tx1"/>
                </a:solidFill>
                <a:highlight>
                  <a:srgbClr val="FFFF00"/>
                </a:highlight>
              </a:rPr>
              <a:t>μετά την εισαγωγή του τύπου του πίνακα</a:t>
            </a:r>
            <a:endParaRPr lang="en-GB" sz="2400" b="1" dirty="0">
              <a:solidFill>
                <a:schemeClr val="tx1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5790077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88055C-68F2-08E6-C227-73D77900B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95B57013-9CF3-9720-009C-12DBC4DC3046}"/>
              </a:ext>
            </a:extLst>
          </p:cNvPr>
          <p:cNvSpPr/>
          <p:nvPr/>
        </p:nvSpPr>
        <p:spPr>
          <a:xfrm>
            <a:off x="140669" y="6559908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8FBECF07-A32F-5BC9-ED46-A9698BCCE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83457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O τύπος του πίνακα</a:t>
            </a:r>
            <a:r>
              <a:rPr lang="en-US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 (array)  [ ]</a:t>
            </a:r>
            <a:endParaRPr lang="el-GR" sz="4000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A637AB35-B436-891F-0BF2-11D0FC1A353C}"/>
              </a:ext>
            </a:extLst>
          </p:cNvPr>
          <p:cNvSpPr txBox="1">
            <a:spLocks/>
          </p:cNvSpPr>
          <p:nvPr/>
        </p:nvSpPr>
        <p:spPr>
          <a:xfrm>
            <a:off x="-1" y="6599394"/>
            <a:ext cx="3840633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© 202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5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Μια Εισαγωγή στην Τέχνη του Προγραμματισμού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352744F-9BCE-1439-953D-17AA906409A6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200" dirty="0">
                <a:latin typeface="Bahnschrift Light" panose="020B0502040204020203" pitchFamily="34" charset="0"/>
                <a:cs typeface="Arial" pitchFamily="34" charset="0"/>
              </a:rPr>
              <a:t>Διαφάνεια </a:t>
            </a:r>
            <a:fld id="{7C15C5B5-03C6-48D8-B20F-65D93A6CF09E}" type="slidenum">
              <a:rPr lang="en-US" sz="1200" smtClean="0">
                <a:latin typeface="Bahnschrift Light" panose="020B0502040204020203" pitchFamily="34" charset="0"/>
                <a:cs typeface="Arial" pitchFamily="34" charset="0"/>
              </a:rPr>
              <a:pPr algn="r"/>
              <a:t>38</a:t>
            </a:fld>
            <a:endParaRPr lang="en-US" sz="1200" dirty="0">
              <a:latin typeface="Bahnschrift Light" panose="020B0502040204020203" pitchFamily="34" charset="0"/>
              <a:cs typeface="Arial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2AE6399-982F-94A7-DA45-FCF84F0C8C2F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0"/>
            <a:ext cx="9144000" cy="908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0033CC"/>
              </a:solidFill>
              <a:latin typeface="Times New Roman" pitchFamily="18" charset="0"/>
            </a:endParaRPr>
          </a:p>
        </p:txBody>
      </p:sp>
      <p:sp>
        <p:nvSpPr>
          <p:cNvPr id="12" name="Θέση υποσέλιδου 4">
            <a:extLst>
              <a:ext uri="{FF2B5EF4-FFF2-40B4-BE49-F238E27FC236}">
                <a16:creationId xmlns:a16="http://schemas.microsoft.com/office/drawing/2014/main" id="{D101D575-6351-35BE-F154-53D06B24B005}"/>
              </a:ext>
            </a:extLst>
          </p:cNvPr>
          <p:cNvSpPr txBox="1">
            <a:spLocks/>
          </p:cNvSpPr>
          <p:nvPr/>
        </p:nvSpPr>
        <p:spPr>
          <a:xfrm>
            <a:off x="4149680" y="6670790"/>
            <a:ext cx="4631713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Control flow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 – 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Arrays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 - 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Type conversions</a:t>
            </a:r>
          </a:p>
          <a:p>
            <a:endParaRPr lang="el-GR" sz="11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08FE7C8-7BE2-1AE6-11D9-36ED46C30F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910908"/>
            <a:ext cx="10363200" cy="41148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χρησιμοποιείται</a:t>
            </a: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για αποθήκευση και διαχείριση μεγάλων ποσοτήτων δεδομένων που είναι </a:t>
            </a:r>
            <a:r>
              <a:rPr kumimoji="0" lang="el-GR" altLang="el-GR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κοινού τύπου </a:t>
            </a:r>
            <a:r>
              <a: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και </a:t>
            </a:r>
            <a:r>
              <a:rPr kumimoji="0" lang="el-GR" altLang="el-GR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σχετίζονται μεταξύ τους</a:t>
            </a:r>
            <a:r>
              <a: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για την γλώσσα είναι</a:t>
            </a:r>
            <a:endParaRPr kumimoji="0" lang="el-GR" altLang="el-GR" sz="2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μια συλλογή στοιχείων ίδιου τύπου, των οποίων οι τιμές είναι αποθηκευμένες σε διαδοχικές θέσεις μνήμης</a:t>
            </a: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αποτελούν</a:t>
            </a:r>
            <a:r>
              <a:rPr kumimoji="0" lang="el-GR" altLang="el-GR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</a:t>
            </a: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μαζί με τους δείκτες από τα πιο ισχυρά στοιχεία της</a:t>
            </a:r>
            <a:r>
              <a:rPr kumimoji="0" lang="en-GB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 C</a:t>
            </a: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endParaRPr kumimoji="0" lang="en-GB" altLang="el-GR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8C2A0C7B-320A-879D-9829-1D2D05FD9F6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81145052"/>
              </p:ext>
            </p:extLst>
          </p:nvPr>
        </p:nvGraphicFramePr>
        <p:xfrm>
          <a:off x="10660731" y="2221030"/>
          <a:ext cx="1390600" cy="22035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619354" imgH="981456" progId="Excel.Sheet.8">
                  <p:embed/>
                </p:oleObj>
              </mc:Choice>
              <mc:Fallback>
                <p:oleObj name="Worksheet" r:id="rId3" imgW="619354" imgH="981456" progId="Excel.Sheet.8">
                  <p:embed/>
                  <p:pic>
                    <p:nvPicPr>
                      <p:cNvPr id="6" name="Object 4">
                        <a:extLst>
                          <a:ext uri="{FF2B5EF4-FFF2-40B4-BE49-F238E27FC236}">
                            <a16:creationId xmlns:a16="http://schemas.microsoft.com/office/drawing/2014/main" id="{6B99225D-53EF-141C-0270-65B8E386FC1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0731" y="2221030"/>
                        <a:ext cx="1390600" cy="2203566"/>
                      </a:xfrm>
                      <a:prstGeom prst="rect">
                        <a:avLst/>
                      </a:prstGeom>
                      <a:solidFill>
                        <a:srgbClr val="00E4A8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Speech Bubble: Rectangle with Corners Rounded 5">
            <a:extLst>
              <a:ext uri="{FF2B5EF4-FFF2-40B4-BE49-F238E27FC236}">
                <a16:creationId xmlns:a16="http://schemas.microsoft.com/office/drawing/2014/main" id="{72A99699-1A57-F1D0-2DC6-D893AFB8D936}"/>
              </a:ext>
            </a:extLst>
          </p:cNvPr>
          <p:cNvSpPr/>
          <p:nvPr/>
        </p:nvSpPr>
        <p:spPr bwMode="auto">
          <a:xfrm>
            <a:off x="697492" y="5401702"/>
            <a:ext cx="9467379" cy="457442"/>
          </a:xfrm>
          <a:prstGeom prst="wedgeRoundRectCallout">
            <a:avLst>
              <a:gd name="adj1" fmla="val -46256"/>
              <a:gd name="adj2" fmla="val 90929"/>
              <a:gd name="adj3" fmla="val 16667"/>
            </a:avLst>
          </a:prstGeom>
          <a:solidFill>
            <a:srgbClr val="92D050"/>
          </a:solidFill>
          <a:ln w="9525" cap="flat" cmpd="sng" algn="ctr">
            <a:solidFill>
              <a:srgbClr val="FFFF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Τα βασικά πίνακες θα βρείτε στο 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 </a:t>
            </a:r>
            <a:r>
              <a:rPr kumimoji="0" lang="el-GR" sz="1800" b="0" i="0" u="none" strike="noStrike" kern="0" cap="none" spc="0" normalizeH="0" baseline="0" noProof="0" dirty="0">
                <a:ln>
                  <a:noFill/>
                </a:ln>
                <a:solidFill>
                  <a:srgbClr val="777777"/>
                </a:solidFill>
                <a:effectLst/>
                <a:uLnTx/>
                <a:uFillTx/>
                <a:latin typeface="Open Sans" panose="020B0606030504020204" pitchFamily="34" charset="0"/>
              </a:rPr>
              <a:t>(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rgbClr val="777777"/>
                </a:solidFill>
                <a:effectLst/>
                <a:uLnTx/>
                <a:uFillTx/>
                <a:latin typeface="Open Sans" panose="020B0606030504020204" pitchFamily="34" charset="0"/>
                <a:hlinkClick r:id="rId5"/>
              </a:rPr>
              <a:t>ModuleX-Arrays.pdf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777777"/>
                </a:solidFill>
                <a:effectLst/>
                <a:uLnTx/>
                <a:uFillTx/>
                <a:latin typeface="Open Sans" panose="020B0606030504020204" pitchFamily="34" charset="0"/>
              </a:rPr>
              <a:t>)</a:t>
            </a:r>
            <a:endParaRPr kumimoji="0" lang="en-GB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8768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6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8B237E-570F-807A-09B1-F72591D4BD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2CE632AA-42B7-D8EF-7A21-566E00274B99}"/>
              </a:ext>
            </a:extLst>
          </p:cNvPr>
          <p:cNvSpPr/>
          <p:nvPr/>
        </p:nvSpPr>
        <p:spPr>
          <a:xfrm>
            <a:off x="140669" y="6559908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44E94F9C-1CBD-9C16-4715-C3BD819BC8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83457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Δήλωση Πίνακα</a:t>
            </a:r>
            <a:endParaRPr lang="el-GR" sz="4000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19B37624-A506-3DB6-C17F-67225785ED76}"/>
              </a:ext>
            </a:extLst>
          </p:cNvPr>
          <p:cNvSpPr txBox="1">
            <a:spLocks/>
          </p:cNvSpPr>
          <p:nvPr/>
        </p:nvSpPr>
        <p:spPr>
          <a:xfrm>
            <a:off x="-1" y="6599394"/>
            <a:ext cx="3840633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© 202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5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Μια Εισαγωγή στην Τέχνη του Προγραμματισμού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0FEC4DF-2ACB-405F-B23F-9454FE150AEF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200" dirty="0">
                <a:latin typeface="Bahnschrift Light" panose="020B0502040204020203" pitchFamily="34" charset="0"/>
                <a:cs typeface="Arial" pitchFamily="34" charset="0"/>
              </a:rPr>
              <a:t>Διαφάνεια </a:t>
            </a:r>
            <a:fld id="{7C15C5B5-03C6-48D8-B20F-65D93A6CF09E}" type="slidenum">
              <a:rPr lang="en-US" sz="1200" smtClean="0">
                <a:latin typeface="Bahnschrift Light" panose="020B0502040204020203" pitchFamily="34" charset="0"/>
                <a:cs typeface="Arial" pitchFamily="34" charset="0"/>
              </a:rPr>
              <a:pPr algn="r"/>
              <a:t>39</a:t>
            </a:fld>
            <a:endParaRPr lang="en-US" sz="1200" dirty="0">
              <a:latin typeface="Bahnschrift Light" panose="020B0502040204020203" pitchFamily="34" charset="0"/>
              <a:cs typeface="Arial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BAC9670-8088-03A0-AD86-BFD89B0D2591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0"/>
            <a:ext cx="9144000" cy="908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0033CC"/>
              </a:solidFill>
              <a:latin typeface="Times New Roman" pitchFamily="18" charset="0"/>
            </a:endParaRPr>
          </a:p>
        </p:txBody>
      </p:sp>
      <p:sp>
        <p:nvSpPr>
          <p:cNvPr id="12" name="Θέση υποσέλιδου 4">
            <a:extLst>
              <a:ext uri="{FF2B5EF4-FFF2-40B4-BE49-F238E27FC236}">
                <a16:creationId xmlns:a16="http://schemas.microsoft.com/office/drawing/2014/main" id="{BCE93CF4-F0B2-1CBD-B128-C0E73E6F13BB}"/>
              </a:ext>
            </a:extLst>
          </p:cNvPr>
          <p:cNvSpPr txBox="1">
            <a:spLocks/>
          </p:cNvSpPr>
          <p:nvPr/>
        </p:nvSpPr>
        <p:spPr>
          <a:xfrm>
            <a:off x="4149680" y="6670790"/>
            <a:ext cx="4631713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Control flow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 – 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Arrays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 - 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Type conversions</a:t>
            </a:r>
          </a:p>
          <a:p>
            <a:endParaRPr lang="el-GR" sz="11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CCA0C65-9D0B-15FA-21A8-78E3D80871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3162" y="1031872"/>
            <a:ext cx="7772400" cy="2016128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sz="3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δηλώνει στον </a:t>
            </a:r>
            <a:r>
              <a:rPr kumimoji="0" lang="el-GR" altLang="el-GR" sz="3200" b="0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compiler</a:t>
            </a:r>
            <a:endParaRPr kumimoji="0" lang="el-GR" altLang="el-GR" sz="32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το όνομα του πίνακα (</a:t>
            </a:r>
            <a:r>
              <a:rPr kumimoji="0" lang="en-US" altLang="el-GR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fbn</a:t>
            </a:r>
            <a:r>
              <a:rPr kumimoji="0" lang="en-US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)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τον αριθμό των στοιχείων του</a:t>
            </a:r>
            <a:r>
              <a:rPr kumimoji="0" lang="en-US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 (12)</a:t>
            </a:r>
            <a:endParaRPr kumimoji="0" lang="el-GR" altLang="el-GR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τον τύπο των στοιχείων του</a:t>
            </a:r>
            <a:r>
              <a:rPr kumimoji="0" lang="en-US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 (int)</a:t>
            </a:r>
            <a:endParaRPr kumimoji="0" lang="en-GB" altLang="el-GR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endParaRPr kumimoji="0" lang="en-GB" altLang="el-G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5" name="AutoShape 4">
            <a:extLst>
              <a:ext uri="{FF2B5EF4-FFF2-40B4-BE49-F238E27FC236}">
                <a16:creationId xmlns:a16="http://schemas.microsoft.com/office/drawing/2014/main" id="{2DA7A0D8-A1E8-106B-01A4-2645D02461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0" y="3373093"/>
            <a:ext cx="5029200" cy="1143000"/>
          </a:xfrm>
          <a:prstGeom prst="bevel">
            <a:avLst>
              <a:gd name="adj" fmla="val 6727"/>
            </a:avLst>
          </a:prstGeom>
          <a:solidFill>
            <a:srgbClr val="333399">
              <a:lumMod val="20000"/>
              <a:lumOff val="80000"/>
            </a:srgbClr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l-GR" sz="36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anose="02070309020205020404" pitchFamily="49" charset="0"/>
              </a:rPr>
              <a:t>int </a:t>
            </a:r>
            <a:r>
              <a:rPr kumimoji="0" lang="en-GB" altLang="el-GR" sz="3600" b="1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anose="02070309020205020404" pitchFamily="49" charset="0"/>
              </a:rPr>
              <a:t>fbn</a:t>
            </a:r>
            <a:r>
              <a:rPr kumimoji="0" lang="en-GB" altLang="el-GR" sz="36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anose="02070309020205020404" pitchFamily="49" charset="0"/>
              </a:rPr>
              <a:t>[12];</a:t>
            </a:r>
          </a:p>
        </p:txBody>
      </p:sp>
      <p:sp>
        <p:nvSpPr>
          <p:cNvPr id="6" name="AutoShape 8">
            <a:extLst>
              <a:ext uri="{FF2B5EF4-FFF2-40B4-BE49-F238E27FC236}">
                <a16:creationId xmlns:a16="http://schemas.microsoft.com/office/drawing/2014/main" id="{B7F2717B-8A01-84F3-EEAD-565FDA6751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01844" y="4666380"/>
            <a:ext cx="4343400" cy="914400"/>
          </a:xfrm>
          <a:prstGeom prst="curvedUpArrow">
            <a:avLst>
              <a:gd name="adj1" fmla="val 68369"/>
              <a:gd name="adj2" fmla="val 128316"/>
              <a:gd name="adj3" fmla="val 57292"/>
            </a:avLst>
          </a:prstGeom>
          <a:solidFill>
            <a:srgbClr val="00E4A8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l-GR" altLang="el-GR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4E589C7-28E4-9782-63CA-D272338A6C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5604" y="859805"/>
            <a:ext cx="2446232" cy="3787468"/>
          </a:xfrm>
          <a:prstGeom prst="rect">
            <a:avLst/>
          </a:prstGeom>
        </p:spPr>
      </p:pic>
      <p:sp>
        <p:nvSpPr>
          <p:cNvPr id="9" name="Speech Bubble: Rectangle with Corners Rounded 8">
            <a:extLst>
              <a:ext uri="{FF2B5EF4-FFF2-40B4-BE49-F238E27FC236}">
                <a16:creationId xmlns:a16="http://schemas.microsoft.com/office/drawing/2014/main" id="{A14FC8E9-4B8B-9984-6080-5A87C26AB22F}"/>
              </a:ext>
            </a:extLst>
          </p:cNvPr>
          <p:cNvSpPr/>
          <p:nvPr/>
        </p:nvSpPr>
        <p:spPr bwMode="auto">
          <a:xfrm>
            <a:off x="1102804" y="5599887"/>
            <a:ext cx="10009112" cy="822626"/>
          </a:xfrm>
          <a:prstGeom prst="wedgeRoundRectCallout">
            <a:avLst>
              <a:gd name="adj1" fmla="val -43859"/>
              <a:gd name="adj2" fmla="val 68665"/>
              <a:gd name="adj3" fmla="val 16667"/>
            </a:avLst>
          </a:prstGeom>
          <a:solidFill>
            <a:srgbClr val="FFFF00"/>
          </a:solidFill>
          <a:ln w="9525" cap="flat" cmpd="sng" algn="ctr">
            <a:solidFill>
              <a:srgbClr val="FFFF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Το μέγεθος του πίνακα δεν μπορεί να αλλάξει στο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 </a:t>
            </a:r>
            <a:r>
              <a:rPr kumimoji="0" 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χρόνο εκτέλεσης του προγράμματος (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run-time</a:t>
            </a:r>
            <a:r>
              <a:rPr kumimoji="0" 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).</a:t>
            </a:r>
          </a:p>
        </p:txBody>
      </p:sp>
      <p:sp>
        <p:nvSpPr>
          <p:cNvPr id="13" name="Slide Number Placeholder 3">
            <a:extLst>
              <a:ext uri="{FF2B5EF4-FFF2-40B4-BE49-F238E27FC236}">
                <a16:creationId xmlns:a16="http://schemas.microsoft.com/office/drawing/2014/main" id="{68D979C4-AE33-60BE-C0ED-2777FED95A85}"/>
              </a:ext>
            </a:extLst>
          </p:cNvPr>
          <p:cNvSpPr txBox="1">
            <a:spLocks noChangeArrowheads="1"/>
          </p:cNvSpPr>
          <p:nvPr/>
        </p:nvSpPr>
        <p:spPr>
          <a:xfrm>
            <a:off x="8616280" y="6425571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GB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09D5984-7774-41D1-9F57-BCC9048F6F01}" type="slidenum">
              <a:rPr kumimoji="0" lang="en-GB" altLang="el-GR" sz="1400" b="0" i="0" u="none" strike="noStrike" kern="1200" cap="none" spc="0" normalizeH="0" baseline="0" noProof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n-GB" altLang="el-GR" sz="1400" b="0" i="0" u="none" strike="noStrike" kern="1200" cap="none" spc="0" normalizeH="0" baseline="0" noProof="0" dirty="0">
              <a:ln>
                <a:noFill/>
              </a:ln>
              <a:solidFill>
                <a:srgbClr val="1C1C1C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990956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utoUpdateAnimBg="0"/>
      <p:bldP spid="5" grpId="0" animBg="1" autoUpdateAnimBg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67B358-164C-32C8-794A-DDC210B222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C5CB96EC-46A5-27B5-6E9E-1BD6735DA093}"/>
              </a:ext>
            </a:extLst>
          </p:cNvPr>
          <p:cNvSpPr/>
          <p:nvPr/>
        </p:nvSpPr>
        <p:spPr>
          <a:xfrm>
            <a:off x="140669" y="6559908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F76F0573-C3D7-36B1-2650-BFA16FAFF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83457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Αναφορά σε στοιχείο Πίνακα</a:t>
            </a:r>
            <a:endParaRPr lang="el-GR" sz="4000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F980325E-AE0A-9E7A-9859-116FBB31F4DF}"/>
              </a:ext>
            </a:extLst>
          </p:cNvPr>
          <p:cNvSpPr txBox="1">
            <a:spLocks/>
          </p:cNvSpPr>
          <p:nvPr/>
        </p:nvSpPr>
        <p:spPr>
          <a:xfrm>
            <a:off x="-1" y="6599394"/>
            <a:ext cx="3840633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© 202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5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Μια Εισαγωγή στην Τέχνη του Προγραμματισμού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4D0BBF5-04BB-8B08-0A0B-D991D26B5F29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200" dirty="0">
                <a:latin typeface="Bahnschrift Light" panose="020B0502040204020203" pitchFamily="34" charset="0"/>
                <a:cs typeface="Arial" pitchFamily="34" charset="0"/>
              </a:rPr>
              <a:t>Διαφάνεια </a:t>
            </a:r>
            <a:fld id="{7C15C5B5-03C6-48D8-B20F-65D93A6CF09E}" type="slidenum">
              <a:rPr lang="en-US" sz="1200" smtClean="0">
                <a:latin typeface="Bahnschrift Light" panose="020B0502040204020203" pitchFamily="34" charset="0"/>
                <a:cs typeface="Arial" pitchFamily="34" charset="0"/>
              </a:rPr>
              <a:pPr algn="r"/>
              <a:t>40</a:t>
            </a:fld>
            <a:endParaRPr lang="en-US" sz="1200" dirty="0">
              <a:latin typeface="Bahnschrift Light" panose="020B0502040204020203" pitchFamily="34" charset="0"/>
              <a:cs typeface="Arial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3B39AD7-3233-20DA-3136-BF5813917E4E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0"/>
            <a:ext cx="9144000" cy="908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0033CC"/>
              </a:solidFill>
              <a:latin typeface="Times New Roman" pitchFamily="18" charset="0"/>
            </a:endParaRPr>
          </a:p>
        </p:txBody>
      </p:sp>
      <p:sp>
        <p:nvSpPr>
          <p:cNvPr id="12" name="Θέση υποσέλιδου 4">
            <a:extLst>
              <a:ext uri="{FF2B5EF4-FFF2-40B4-BE49-F238E27FC236}">
                <a16:creationId xmlns:a16="http://schemas.microsoft.com/office/drawing/2014/main" id="{4D6E37DA-864D-9715-27FF-1F5182D86D29}"/>
              </a:ext>
            </a:extLst>
          </p:cNvPr>
          <p:cNvSpPr txBox="1">
            <a:spLocks/>
          </p:cNvSpPr>
          <p:nvPr/>
        </p:nvSpPr>
        <p:spPr>
          <a:xfrm>
            <a:off x="4149680" y="6670790"/>
            <a:ext cx="4631713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Control flow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 – 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Arrays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 - 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Type conversions</a:t>
            </a:r>
          </a:p>
          <a:p>
            <a:endParaRPr lang="el-GR" sz="11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64E12A0-391D-E765-3E56-A8A451679D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1528" y="2034559"/>
            <a:ext cx="6309169" cy="2704844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Η αναφορά σε στοιχείο του πίνακα γίνεται με το όνομα του πίνακα και την τάξη του στοιχείου σε αυτόν.</a:t>
            </a:r>
            <a:endParaRPr kumimoji="0" lang="en-US" altLang="el-GR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l-GR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   Π.χ. </a:t>
            </a:r>
            <a:endParaRPr kumimoji="0" lang="en-US" altLang="el-GR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lang="en-US" altLang="el-GR" sz="2400" kern="0" dirty="0">
                <a:solidFill>
                  <a:srgbClr val="000000"/>
                </a:solidFill>
                <a:latin typeface="Tahoma"/>
              </a:rPr>
              <a:t>	</a:t>
            </a:r>
            <a:r>
              <a:rPr kumimoji="0" lang="en-US" altLang="el-GR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fbn</a:t>
            </a:r>
            <a:r>
              <a:rPr kumimoji="0" lang="en-US" altLang="el-GR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[</a:t>
            </a:r>
            <a:r>
              <a:rPr kumimoji="0" lang="en-US" altLang="el-GR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0</a:t>
            </a:r>
            <a:r>
              <a:rPr kumimoji="0" lang="en-US" altLang="el-GR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] </a:t>
            </a:r>
            <a:r>
              <a:rPr kumimoji="0" lang="el-GR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για το πρώτο στοιχείο,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l-GR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         </a:t>
            </a:r>
            <a:r>
              <a:rPr kumimoji="0" lang="en-US" altLang="el-GR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fbn</a:t>
            </a:r>
            <a:r>
              <a:rPr kumimoji="0" lang="en-US" altLang="el-GR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[</a:t>
            </a:r>
            <a:r>
              <a:rPr kumimoji="0" lang="el-GR" altLang="el-GR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11</a:t>
            </a:r>
            <a:r>
              <a:rPr kumimoji="0" lang="en-US" altLang="el-GR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] </a:t>
            </a:r>
            <a:r>
              <a:rPr kumimoji="0" lang="el-GR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για το 12ο στοιχείο </a:t>
            </a:r>
            <a:endParaRPr kumimoji="0" lang="en-GB" altLang="el-GR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DFB0AF-1268-A596-C2B5-D8324D5FF7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4696" y="830109"/>
            <a:ext cx="3505504" cy="4160881"/>
          </a:xfrm>
          <a:prstGeom prst="rect">
            <a:avLst/>
          </a:prstGeom>
        </p:spPr>
      </p:pic>
      <p:sp>
        <p:nvSpPr>
          <p:cNvPr id="6" name="Speech Bubble: Rectangle with Corners Rounded 5">
            <a:extLst>
              <a:ext uri="{FF2B5EF4-FFF2-40B4-BE49-F238E27FC236}">
                <a16:creationId xmlns:a16="http://schemas.microsoft.com/office/drawing/2014/main" id="{1A9BC393-DB9B-BF58-D96D-4D07D76B6247}"/>
              </a:ext>
            </a:extLst>
          </p:cNvPr>
          <p:cNvSpPr/>
          <p:nvPr/>
        </p:nvSpPr>
        <p:spPr bwMode="auto">
          <a:xfrm>
            <a:off x="301528" y="4990990"/>
            <a:ext cx="11627120" cy="1390339"/>
          </a:xfrm>
          <a:prstGeom prst="wedgeRoundRectCallout">
            <a:avLst>
              <a:gd name="adj1" fmla="val -43859"/>
              <a:gd name="adj2" fmla="val 68665"/>
              <a:gd name="adj3" fmla="val 16667"/>
            </a:avLst>
          </a:prstGeom>
          <a:solidFill>
            <a:srgbClr val="FFFF00"/>
          </a:solidFill>
          <a:ln w="9525" cap="flat" cmpd="sng" algn="ctr">
            <a:solidFill>
              <a:srgbClr val="FFFF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Είναι </a:t>
            </a:r>
            <a:r>
              <a:rPr kumimoji="0" lang="el-GR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αποκλειστική ευθύνη του προγραμματιστή </a:t>
            </a:r>
            <a:r>
              <a:rPr kumimoji="0" 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να μην αναφερθεί σε στοιχείο του πίνακα που ξεπερνά τα όρια του. Αυτό έχει απρόβλεπτες συνέπειες.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 </a:t>
            </a:r>
            <a:r>
              <a:rPr kumimoji="0" 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Το πρόβλημα δεν αντιμετωπίζεται με δήλωση μεγαλύτερου πίνακα από ότι απαιτείται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 </a:t>
            </a:r>
            <a:r>
              <a:rPr kumimoji="0" 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γιατί αυτό δεσμεύει άδικα πόρους (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resources</a:t>
            </a:r>
            <a:r>
              <a:rPr kumimoji="0" 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) του συστήματος. 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0520180F-9E70-E3A7-34C7-51D9E44A6557}"/>
              </a:ext>
            </a:extLst>
          </p:cNvPr>
          <p:cNvSpPr txBox="1">
            <a:spLocks noChangeArrowheads="1"/>
          </p:cNvSpPr>
          <p:nvPr/>
        </p:nvSpPr>
        <p:spPr>
          <a:xfrm>
            <a:off x="8616280" y="6425571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GB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09D5984-7774-41D1-9F57-BCC9048F6F01}" type="slidenum">
              <a:rPr kumimoji="0" lang="en-GB" altLang="el-GR" sz="1400" b="0" i="0" u="none" strike="noStrike" kern="1200" cap="none" spc="0" normalizeH="0" baseline="0" noProof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en-GB" altLang="el-GR" sz="1400" b="0" i="0" u="none" strike="noStrike" kern="1200" cap="none" spc="0" normalizeH="0" baseline="0" noProof="0" dirty="0">
              <a:ln>
                <a:noFill/>
              </a:ln>
              <a:solidFill>
                <a:srgbClr val="1C1C1C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526641F-6272-874B-DD16-91817BC25F7D}"/>
              </a:ext>
            </a:extLst>
          </p:cNvPr>
          <p:cNvSpPr txBox="1"/>
          <p:nvPr/>
        </p:nvSpPr>
        <p:spPr>
          <a:xfrm>
            <a:off x="214488" y="939641"/>
            <a:ext cx="627126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l-GR" sz="40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anose="02070309020205020404" pitchFamily="49" charset="0"/>
              </a:rPr>
              <a:t>int </a:t>
            </a:r>
            <a:r>
              <a:rPr kumimoji="0" lang="en-GB" altLang="el-GR" sz="4000" b="1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anose="02070309020205020404" pitchFamily="49" charset="0"/>
              </a:rPr>
              <a:t>fbn</a:t>
            </a:r>
            <a:r>
              <a:rPr kumimoji="0" lang="en-GB" altLang="el-GR" sz="40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anose="02070309020205020404" pitchFamily="49" charset="0"/>
              </a:rPr>
              <a:t>[12];</a:t>
            </a:r>
          </a:p>
        </p:txBody>
      </p:sp>
    </p:spTree>
    <p:extLst>
      <p:ext uri="{BB962C8B-B14F-4D97-AF65-F5344CB8AC3E}">
        <p14:creationId xmlns:p14="http://schemas.microsoft.com/office/powerpoint/2010/main" val="1618374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utoUpdateAnimBg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BABFEA-5B88-2349-672D-F5233C9131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2FF34B2B-3209-5104-00C5-56F2BBEF6199}"/>
              </a:ext>
            </a:extLst>
          </p:cNvPr>
          <p:cNvSpPr/>
          <p:nvPr/>
        </p:nvSpPr>
        <p:spPr>
          <a:xfrm>
            <a:off x="140669" y="6559908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F502198F-50C8-73DD-781F-9DC7FEF2C1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83457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FibonacciSequence</a:t>
            </a:r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 – 4</a:t>
            </a:r>
            <a:r>
              <a:rPr lang="el-GR" sz="4000" b="1" baseline="30000" dirty="0">
                <a:solidFill>
                  <a:srgbClr val="F9853D"/>
                </a:solidFill>
                <a:latin typeface="Bahnschrift" panose="020B0502040204020203" pitchFamily="34" charset="0"/>
              </a:rPr>
              <a:t>η</a:t>
            </a:r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 έκδοση (</a:t>
            </a:r>
            <a:r>
              <a:rPr lang="en-US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Hands-on)</a:t>
            </a:r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 </a:t>
            </a:r>
            <a:endParaRPr lang="el-GR" sz="4000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28B55BA1-CB63-6DA5-FB35-212DE2C89D3E}"/>
              </a:ext>
            </a:extLst>
          </p:cNvPr>
          <p:cNvSpPr txBox="1">
            <a:spLocks/>
          </p:cNvSpPr>
          <p:nvPr/>
        </p:nvSpPr>
        <p:spPr>
          <a:xfrm>
            <a:off x="-1" y="6599394"/>
            <a:ext cx="3840633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© 202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5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Μια Εισαγωγή στην Τέχνη του Προγραμματισμού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670E59B-A3ED-203D-42AE-D4B7F1AAE360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200" dirty="0">
                <a:latin typeface="Bahnschrift Light" panose="020B0502040204020203" pitchFamily="34" charset="0"/>
                <a:cs typeface="Arial" pitchFamily="34" charset="0"/>
              </a:rPr>
              <a:t>Διαφάνεια </a:t>
            </a:r>
            <a:fld id="{7C15C5B5-03C6-48D8-B20F-65D93A6CF09E}" type="slidenum">
              <a:rPr lang="en-US" sz="1200" smtClean="0">
                <a:latin typeface="Bahnschrift Light" panose="020B0502040204020203" pitchFamily="34" charset="0"/>
                <a:cs typeface="Arial" pitchFamily="34" charset="0"/>
              </a:rPr>
              <a:pPr algn="r"/>
              <a:t>41</a:t>
            </a:fld>
            <a:endParaRPr lang="en-US" sz="1200" dirty="0">
              <a:latin typeface="Bahnschrift Light" panose="020B0502040204020203" pitchFamily="34" charset="0"/>
              <a:cs typeface="Arial" pitchFamily="34" charset="0"/>
            </a:endParaRPr>
          </a:p>
        </p:txBody>
      </p:sp>
      <p:sp>
        <p:nvSpPr>
          <p:cNvPr id="12" name="Θέση υποσέλιδου 4">
            <a:extLst>
              <a:ext uri="{FF2B5EF4-FFF2-40B4-BE49-F238E27FC236}">
                <a16:creationId xmlns:a16="http://schemas.microsoft.com/office/drawing/2014/main" id="{7C512B8A-2F0B-A81D-F315-3402A4C5A869}"/>
              </a:ext>
            </a:extLst>
          </p:cNvPr>
          <p:cNvSpPr txBox="1">
            <a:spLocks/>
          </p:cNvSpPr>
          <p:nvPr/>
        </p:nvSpPr>
        <p:spPr>
          <a:xfrm>
            <a:off x="4149680" y="6670790"/>
            <a:ext cx="4631713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Control flow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 – 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Arrays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 - 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Type conversions</a:t>
            </a:r>
          </a:p>
          <a:p>
            <a:endParaRPr lang="el-GR" sz="11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E7C5004-128B-90F2-2A84-C082D1ACDC48}"/>
              </a:ext>
            </a:extLst>
          </p:cNvPr>
          <p:cNvSpPr txBox="1"/>
          <p:nvPr/>
        </p:nvSpPr>
        <p:spPr>
          <a:xfrm>
            <a:off x="140668" y="894339"/>
            <a:ext cx="11910662" cy="954107"/>
          </a:xfrm>
          <a:prstGeom prst="rect">
            <a:avLst/>
          </a:prstGeom>
          <a:solidFill>
            <a:srgbClr val="92D050"/>
          </a:solidFill>
        </p:spPr>
        <p:txBody>
          <a:bodyPr wrap="square">
            <a:spAutoFit/>
          </a:bodyPr>
          <a:lstStyle/>
          <a:p>
            <a:r>
              <a:rPr lang="el-GR" sz="2800" dirty="0"/>
              <a:t>Δώστε μια 4η έκδοση χρησιμοποιώντας μόνο τις δύο από τις τρεις μεταβλητές. Πιο συγκεκριμένα χρησιμοποιείστε μόνο τις </a:t>
            </a:r>
            <a:r>
              <a:rPr lang="el-GR" sz="2800" dirty="0" err="1"/>
              <a:t>pTerm</a:t>
            </a:r>
            <a:r>
              <a:rPr lang="el-GR" sz="2800" dirty="0"/>
              <a:t> και cTerm. </a:t>
            </a:r>
            <a:endParaRPr lang="en-US" sz="28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EFF7ECA-6803-AF7A-9B41-B829B959DF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864" y="2563167"/>
            <a:ext cx="4870309" cy="3585820"/>
          </a:xfrm>
          <a:prstGeom prst="rect">
            <a:avLst/>
          </a:prstGeom>
        </p:spPr>
      </p:pic>
      <p:sp>
        <p:nvSpPr>
          <p:cNvPr id="15" name="Speech Bubble: Rectangle with Corners Rounded 14">
            <a:extLst>
              <a:ext uri="{FF2B5EF4-FFF2-40B4-BE49-F238E27FC236}">
                <a16:creationId xmlns:a16="http://schemas.microsoft.com/office/drawing/2014/main" id="{BC659C5D-B11C-C083-0399-4E1D40357D43}"/>
              </a:ext>
            </a:extLst>
          </p:cNvPr>
          <p:cNvSpPr/>
          <p:nvPr/>
        </p:nvSpPr>
        <p:spPr>
          <a:xfrm>
            <a:off x="6448954" y="3086950"/>
            <a:ext cx="4664877" cy="1414217"/>
          </a:xfrm>
          <a:prstGeom prst="wedgeRoundRectCallout">
            <a:avLst>
              <a:gd name="adj1" fmla="val -59222"/>
              <a:gd name="adj2" fmla="val 98719"/>
              <a:gd name="adj3" fmla="val 16667"/>
            </a:avLst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2400" b="1" dirty="0">
                <a:solidFill>
                  <a:schemeClr val="tx1"/>
                </a:solidFill>
                <a:highlight>
                  <a:srgbClr val="FFFF00"/>
                </a:highlight>
              </a:rPr>
              <a:t>Αναπτύξτε την 4</a:t>
            </a:r>
            <a:r>
              <a:rPr lang="el-GR" sz="2400" b="1" baseline="30000" dirty="0">
                <a:solidFill>
                  <a:schemeClr val="tx1"/>
                </a:solidFill>
                <a:highlight>
                  <a:srgbClr val="FFFF00"/>
                </a:highlight>
              </a:rPr>
              <a:t>η</a:t>
            </a:r>
            <a:r>
              <a:rPr lang="el-GR" sz="2400" b="1" dirty="0">
                <a:solidFill>
                  <a:schemeClr val="tx1"/>
                </a:solidFill>
                <a:highlight>
                  <a:srgbClr val="FFFF00"/>
                </a:highlight>
              </a:rPr>
              <a:t> έκδοση του  προγράμματος </a:t>
            </a:r>
            <a:r>
              <a:rPr lang="en-US" sz="2400" b="1" dirty="0">
                <a:solidFill>
                  <a:schemeClr val="tx1"/>
                </a:solidFill>
                <a:highlight>
                  <a:srgbClr val="FFFF00"/>
                </a:highlight>
              </a:rPr>
              <a:t>FibonacciSequence</a:t>
            </a:r>
            <a:endParaRPr lang="en-GB" sz="2400" b="1" dirty="0">
              <a:solidFill>
                <a:schemeClr val="tx1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8738036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B732F5-3D8E-9E2E-872E-2AE8D58C2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C1F9007D-3563-56D3-BE1C-40953FB1C8E0}"/>
              </a:ext>
            </a:extLst>
          </p:cNvPr>
          <p:cNvSpPr/>
          <p:nvPr/>
        </p:nvSpPr>
        <p:spPr>
          <a:xfrm>
            <a:off x="140669" y="6559908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5EF080A1-3F6C-4495-FB6E-2CA81DFD51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Οργάνωση Διάλεξης</a:t>
            </a: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24C53015-CEC1-8792-02B0-2B9E99F20677}"/>
              </a:ext>
            </a:extLst>
          </p:cNvPr>
          <p:cNvSpPr txBox="1">
            <a:spLocks/>
          </p:cNvSpPr>
          <p:nvPr/>
        </p:nvSpPr>
        <p:spPr>
          <a:xfrm>
            <a:off x="-1" y="6599394"/>
            <a:ext cx="3840633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© 202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5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Μια Εισαγωγή στην Τέχνη του Προγραμματισμού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714844B-791F-98E7-7DA6-2F8AC48601F5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200" dirty="0">
                <a:latin typeface="Bahnschrift Light" panose="020B0502040204020203" pitchFamily="34" charset="0"/>
                <a:cs typeface="Arial" pitchFamily="34" charset="0"/>
              </a:rPr>
              <a:t>Διαφάνεια </a:t>
            </a:r>
            <a:fld id="{7C15C5B5-03C6-48D8-B20F-65D93A6CF09E}" type="slidenum">
              <a:rPr lang="en-US" sz="1200" smtClean="0">
                <a:latin typeface="Bahnschrift Light" panose="020B0502040204020203" pitchFamily="34" charset="0"/>
                <a:cs typeface="Arial" pitchFamily="34" charset="0"/>
              </a:rPr>
              <a:pPr algn="r"/>
              <a:t>42</a:t>
            </a:fld>
            <a:endParaRPr lang="en-US" sz="1200" dirty="0">
              <a:latin typeface="Bahnschrift Light" panose="020B0502040204020203" pitchFamily="34" charset="0"/>
              <a:cs typeface="Arial" pitchFamily="34" charset="0"/>
            </a:endParaRPr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BF4432BE-EB76-AC2B-0DFC-71F2DF0681C3}"/>
              </a:ext>
            </a:extLst>
          </p:cNvPr>
          <p:cNvSpPr txBox="1">
            <a:spLocks/>
          </p:cNvSpPr>
          <p:nvPr/>
        </p:nvSpPr>
        <p:spPr>
          <a:xfrm>
            <a:off x="4149680" y="6670790"/>
            <a:ext cx="4631713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Control flow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 – 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Arrays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 - 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Type conversions</a:t>
            </a:r>
          </a:p>
          <a:p>
            <a:endParaRPr lang="el-GR" sz="11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E4A47D8-9A5C-614A-0A0B-71EDA8A387F1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0"/>
            <a:ext cx="9144000" cy="908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0033CC"/>
              </a:solidFill>
              <a:latin typeface="Times New Roman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51B4DBA-73CB-9B19-9A8B-A874A28142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449" y="914699"/>
            <a:ext cx="112071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el-GR" altLang="el-GR" b="1" dirty="0">
                <a:solidFill>
                  <a:srgbClr val="F9853D"/>
                </a:solidFill>
                <a:latin typeface="Bahnschrift" panose="020B0502040204020203" pitchFamily="34" charset="0"/>
              </a:rPr>
              <a:t>Δραστηριότητα 5-1   </a:t>
            </a:r>
            <a:r>
              <a:rPr lang="en-GB" altLang="el-GR" b="1" dirty="0" err="1">
                <a:solidFill>
                  <a:srgbClr val="F9853D"/>
                </a:solidFill>
                <a:latin typeface="Bahnschrift" panose="020B0502040204020203" pitchFamily="34" charset="0"/>
              </a:rPr>
              <a:t>HailstoneSequence</a:t>
            </a:r>
            <a:endParaRPr lang="el-GR" altLang="el-GR" b="1" dirty="0">
              <a:solidFill>
                <a:srgbClr val="F9853D"/>
              </a:solidFill>
              <a:latin typeface="Bahnschrift" panose="020B0502040204020203" pitchFamily="34" charset="0"/>
            </a:endParaRPr>
          </a:p>
          <a:p>
            <a:pPr lvl="1" eaLnBrk="1" hangingPunct="1">
              <a:lnSpc>
                <a:spcPct val="80000"/>
              </a:lnSpc>
            </a:pPr>
            <a:r>
              <a:rPr lang="el-GR" altLang="el-GR" kern="0" dirty="0">
                <a:latin typeface="Times New Roman" panose="02020603050405020304" pitchFamily="18" charset="0"/>
              </a:rPr>
              <a:t>προτάσεις ελέγχου της ροής</a:t>
            </a:r>
            <a:r>
              <a:rPr lang="en-US" altLang="el-GR" kern="0" dirty="0">
                <a:latin typeface="Times New Roman" panose="02020603050405020304" pitchFamily="18" charset="0"/>
              </a:rPr>
              <a:t>, </a:t>
            </a:r>
            <a:r>
              <a:rPr lang="el-GR" altLang="el-GR" kern="0" dirty="0">
                <a:latin typeface="Times New Roman" panose="02020603050405020304" pitchFamily="18" charset="0"/>
              </a:rPr>
              <a:t>οι προτάσεις </a:t>
            </a:r>
            <a:r>
              <a:rPr lang="en-US" altLang="el-GR" kern="0" dirty="0">
                <a:latin typeface="Times New Roman" panose="02020603050405020304" pitchFamily="18" charset="0"/>
              </a:rPr>
              <a:t>if </a:t>
            </a:r>
            <a:r>
              <a:rPr lang="el-GR" altLang="el-GR" kern="0" dirty="0">
                <a:latin typeface="Times New Roman" panose="02020603050405020304" pitchFamily="18" charset="0"/>
              </a:rPr>
              <a:t>και </a:t>
            </a:r>
            <a:r>
              <a:rPr lang="en-US" altLang="el-GR" kern="0" dirty="0">
                <a:latin typeface="Times New Roman" panose="02020603050405020304" pitchFamily="18" charset="0"/>
              </a:rPr>
              <a:t>while</a:t>
            </a:r>
            <a:r>
              <a:rPr lang="el-GR" altLang="el-GR" kern="0" dirty="0">
                <a:latin typeface="Times New Roman" panose="02020603050405020304" pitchFamily="18" charset="0"/>
              </a:rPr>
              <a:t> </a:t>
            </a:r>
          </a:p>
          <a:p>
            <a:pPr lvl="1" eaLnBrk="1" hangingPunct="1">
              <a:lnSpc>
                <a:spcPct val="80000"/>
              </a:lnSpc>
            </a:pPr>
            <a:r>
              <a:rPr lang="el-GR" altLang="el-GR" kern="0" dirty="0">
                <a:latin typeface="Times New Roman" panose="02020603050405020304" pitchFamily="18" charset="0"/>
              </a:rPr>
              <a:t>γραφική αναπαράσταση διεργασίας</a:t>
            </a:r>
          </a:p>
          <a:p>
            <a:pPr eaLnBrk="1" hangingPunct="1">
              <a:lnSpc>
                <a:spcPct val="80000"/>
              </a:lnSpc>
            </a:pPr>
            <a:r>
              <a:rPr lang="el-GR" altLang="el-GR" b="1" dirty="0">
                <a:solidFill>
                  <a:srgbClr val="F9853D"/>
                </a:solidFill>
                <a:latin typeface="Bahnschrift" panose="020B0502040204020203" pitchFamily="34" charset="0"/>
              </a:rPr>
              <a:t>Δραστηριότητα 5-2   </a:t>
            </a:r>
            <a:r>
              <a:rPr lang="en-GB" altLang="el-GR" b="1" dirty="0" err="1">
                <a:solidFill>
                  <a:srgbClr val="F9853D"/>
                </a:solidFill>
                <a:latin typeface="Bahnschrift" panose="020B0502040204020203" pitchFamily="34" charset="0"/>
              </a:rPr>
              <a:t>FibonacciSequence</a:t>
            </a:r>
            <a:endParaRPr lang="el-GR" altLang="el-GR" b="1" dirty="0">
              <a:solidFill>
                <a:srgbClr val="F9853D"/>
              </a:solidFill>
              <a:latin typeface="Bahnschrift" panose="020B0502040204020203" pitchFamily="34" charset="0"/>
            </a:endParaRPr>
          </a:p>
          <a:p>
            <a:pPr lvl="1" eaLnBrk="1" hangingPunct="1">
              <a:lnSpc>
                <a:spcPct val="80000"/>
              </a:lnSpc>
            </a:pPr>
            <a:r>
              <a:rPr lang="el-GR" altLang="el-GR" kern="0" dirty="0">
                <a:latin typeface="Times New Roman" panose="02020603050405020304" pitchFamily="18" charset="0"/>
              </a:rPr>
              <a:t>πρόταση επανάληψης for  </a:t>
            </a:r>
          </a:p>
          <a:p>
            <a:pPr lvl="1" eaLnBrk="1" hangingPunct="1">
              <a:lnSpc>
                <a:spcPct val="80000"/>
              </a:lnSpc>
            </a:pPr>
            <a:r>
              <a:rPr lang="el-GR" altLang="el-GR" kern="0" dirty="0">
                <a:latin typeface="Times New Roman" panose="02020603050405020304" pitchFamily="18" charset="0"/>
              </a:rPr>
              <a:t>τύπος του πίνακα (</a:t>
            </a:r>
            <a:r>
              <a:rPr lang="el-GR" altLang="el-GR" kern="0" dirty="0" err="1">
                <a:latin typeface="Times New Roman" panose="02020603050405020304" pitchFamily="18" charset="0"/>
              </a:rPr>
              <a:t>array</a:t>
            </a:r>
            <a:r>
              <a:rPr lang="el-GR" altLang="el-GR" kern="0" dirty="0">
                <a:latin typeface="Times New Roman" panose="02020603050405020304" pitchFamily="18" charset="0"/>
              </a:rPr>
              <a:t>). </a:t>
            </a:r>
          </a:p>
          <a:p>
            <a:pPr eaLnBrk="1" hangingPunct="1">
              <a:lnSpc>
                <a:spcPct val="80000"/>
              </a:lnSpc>
            </a:pPr>
            <a:r>
              <a:rPr lang="el-GR" altLang="el-GR" b="1" dirty="0">
                <a:solidFill>
                  <a:srgbClr val="C00000"/>
                </a:solidFill>
                <a:latin typeface="Bahnschrift" panose="020B0502040204020203" pitchFamily="34" charset="0"/>
              </a:rPr>
              <a:t>Δραστηριότητα 5-3   </a:t>
            </a:r>
            <a:r>
              <a:rPr lang="en-GB" altLang="el-GR" b="1" dirty="0">
                <a:solidFill>
                  <a:srgbClr val="C00000"/>
                </a:solidFill>
                <a:latin typeface="Bahnschrift" panose="020B0502040204020203" pitchFamily="34" charset="0"/>
              </a:rPr>
              <a:t>Average</a:t>
            </a:r>
            <a:endParaRPr lang="el-GR" altLang="el-GR" b="1" dirty="0">
              <a:solidFill>
                <a:srgbClr val="C00000"/>
              </a:solidFill>
              <a:latin typeface="Bahnschrift" panose="020B0502040204020203" pitchFamily="34" charset="0"/>
            </a:endParaRPr>
          </a:p>
          <a:p>
            <a:pPr lvl="1" eaLnBrk="1" hangingPunct="1">
              <a:lnSpc>
                <a:spcPct val="80000"/>
              </a:lnSpc>
            </a:pPr>
            <a:r>
              <a:rPr lang="el-GR" altLang="el-GR" kern="0" dirty="0">
                <a:latin typeface="Times New Roman" panose="02020603050405020304" pitchFamily="18" charset="0"/>
              </a:rPr>
              <a:t>Ο τύπος </a:t>
            </a:r>
            <a:r>
              <a:rPr lang="en-US" altLang="el-GR" kern="0" dirty="0">
                <a:latin typeface="Times New Roman" panose="02020603050405020304" pitchFamily="18" charset="0"/>
              </a:rPr>
              <a:t>f</a:t>
            </a:r>
            <a:r>
              <a:rPr lang="el-GR" altLang="el-GR" kern="0" dirty="0" err="1">
                <a:latin typeface="Times New Roman" panose="02020603050405020304" pitchFamily="18" charset="0"/>
              </a:rPr>
              <a:t>oat</a:t>
            </a:r>
            <a:r>
              <a:rPr lang="en-US" altLang="el-GR" kern="0" dirty="0">
                <a:latin typeface="Times New Roman" panose="02020603050405020304" pitchFamily="18" charset="0"/>
              </a:rPr>
              <a:t>, </a:t>
            </a:r>
            <a:r>
              <a:rPr lang="el-GR" altLang="el-GR" kern="0" dirty="0">
                <a:latin typeface="Times New Roman" panose="02020603050405020304" pitchFamily="18" charset="0"/>
              </a:rPr>
              <a:t>μετατροπή τύπων</a:t>
            </a:r>
            <a:r>
              <a:rPr lang="en-US" altLang="el-GR" kern="0" dirty="0">
                <a:latin typeface="Times New Roman" panose="02020603050405020304" pitchFamily="18" charset="0"/>
              </a:rPr>
              <a:t>, </a:t>
            </a:r>
            <a:r>
              <a:rPr lang="el-GR" altLang="el-GR" kern="0" dirty="0">
                <a:latin typeface="Times New Roman" panose="02020603050405020304" pitchFamily="18" charset="0"/>
              </a:rPr>
              <a:t>έλεγχος τύπων (</a:t>
            </a:r>
            <a:r>
              <a:rPr lang="el-GR" altLang="el-GR" kern="0" dirty="0" err="1">
                <a:latin typeface="Times New Roman" panose="02020603050405020304" pitchFamily="18" charset="0"/>
              </a:rPr>
              <a:t>type</a:t>
            </a:r>
            <a:r>
              <a:rPr lang="el-GR" altLang="el-GR" kern="0" dirty="0">
                <a:latin typeface="Times New Roman" panose="02020603050405020304" pitchFamily="18" charset="0"/>
              </a:rPr>
              <a:t> </a:t>
            </a:r>
            <a:r>
              <a:rPr lang="el-GR" altLang="el-GR" kern="0" dirty="0" err="1">
                <a:latin typeface="Times New Roman" panose="02020603050405020304" pitchFamily="18" charset="0"/>
              </a:rPr>
              <a:t>checking</a:t>
            </a:r>
            <a:r>
              <a:rPr lang="el-GR" altLang="el-GR" kern="0" dirty="0">
                <a:latin typeface="Times New Roman" panose="02020603050405020304" pitchFamily="18" charset="0"/>
              </a:rPr>
              <a:t>) </a:t>
            </a:r>
          </a:p>
          <a:p>
            <a:pPr lvl="1" eaLnBrk="1" hangingPunct="1">
              <a:lnSpc>
                <a:spcPct val="80000"/>
              </a:lnSpc>
            </a:pPr>
            <a:r>
              <a:rPr lang="el-GR" altLang="el-GR" kern="0" dirty="0">
                <a:latin typeface="Times New Roman" panose="02020603050405020304" pitchFamily="18" charset="0"/>
              </a:rPr>
              <a:t>συνάρτηση </a:t>
            </a:r>
            <a:r>
              <a:rPr lang="el-GR" altLang="el-GR" kern="0" dirty="0" err="1">
                <a:latin typeface="Times New Roman" panose="02020603050405020304" pitchFamily="18" charset="0"/>
              </a:rPr>
              <a:t>printf</a:t>
            </a:r>
            <a:r>
              <a:rPr lang="el-GR" altLang="el-GR" kern="0" dirty="0">
                <a:latin typeface="Times New Roman" panose="02020603050405020304" pitchFamily="18" charset="0"/>
              </a:rPr>
              <a:t>, πέρασμα πίνακα ως όρισμα σε συνάρτηση</a:t>
            </a:r>
            <a:endParaRPr lang="el-GR" altLang="el-GR" b="1" dirty="0">
              <a:solidFill>
                <a:srgbClr val="F9853D"/>
              </a:solidFill>
              <a:latin typeface="Bahnschrift" panose="020B0502040204020203" pitchFamily="34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el-GR" altLang="el-GR" b="1" dirty="0">
                <a:solidFill>
                  <a:srgbClr val="F9853D"/>
                </a:solidFill>
                <a:latin typeface="Bahnschrift" panose="020B0502040204020203" pitchFamily="34" charset="0"/>
              </a:rPr>
              <a:t>Ο </a:t>
            </a:r>
            <a:r>
              <a:rPr lang="en-GB" altLang="el-GR" b="1" dirty="0">
                <a:solidFill>
                  <a:srgbClr val="F9853D"/>
                </a:solidFill>
                <a:latin typeface="Bahnschrift" panose="020B0502040204020203" pitchFamily="34" charset="0"/>
              </a:rPr>
              <a:t>Alex, </a:t>
            </a:r>
            <a:r>
              <a:rPr lang="el-GR" altLang="el-GR" b="1" dirty="0">
                <a:solidFill>
                  <a:srgbClr val="F9853D"/>
                </a:solidFill>
                <a:latin typeface="Bahnschrift" panose="020B0502040204020203" pitchFamily="34" charset="0"/>
              </a:rPr>
              <a:t>το </a:t>
            </a:r>
            <a:r>
              <a:rPr lang="en-GB" altLang="el-GR" b="1" dirty="0">
                <a:solidFill>
                  <a:srgbClr val="F9853D"/>
                </a:solidFill>
                <a:latin typeface="Bahnschrift" panose="020B0502040204020203" pitchFamily="34" charset="0"/>
              </a:rPr>
              <a:t>AI Chatbot </a:t>
            </a:r>
            <a:r>
              <a:rPr lang="el-GR" altLang="el-GR" b="1" dirty="0">
                <a:solidFill>
                  <a:srgbClr val="F9853D"/>
                </a:solidFill>
                <a:latin typeface="Bahnschrift" panose="020B0502040204020203" pitchFamily="34" charset="0"/>
              </a:rPr>
              <a:t>και η </a:t>
            </a:r>
            <a:r>
              <a:rPr lang="en-GB" altLang="el-GR" b="1" dirty="0" err="1">
                <a:solidFill>
                  <a:srgbClr val="F9853D"/>
                </a:solidFill>
                <a:latin typeface="Bahnschrift" panose="020B0502040204020203" pitchFamily="34" charset="0"/>
              </a:rPr>
              <a:t>HailstoneSequence</a:t>
            </a:r>
            <a:endParaRPr lang="el-GR" altLang="el-GR" b="1" dirty="0">
              <a:solidFill>
                <a:srgbClr val="F9853D"/>
              </a:solidFill>
              <a:latin typeface="Bahnschrift" panose="020B0502040204020203" pitchFamily="34" charset="0"/>
            </a:endParaRPr>
          </a:p>
          <a:p>
            <a:pPr lvl="1" eaLnBrk="1" hangingPunct="1">
              <a:lnSpc>
                <a:spcPct val="80000"/>
              </a:lnSpc>
            </a:pPr>
            <a:r>
              <a:rPr lang="el-GR" altLang="el-GR" kern="0" dirty="0">
                <a:latin typeface="Times New Roman" panose="02020603050405020304" pitchFamily="18" charset="0"/>
              </a:rPr>
              <a:t>Λεκτική Περιγραφή, </a:t>
            </a:r>
            <a:r>
              <a:rPr lang="en-US" altLang="el-GR" kern="0" dirty="0">
                <a:latin typeface="Times New Roman" panose="02020603050405020304" pitchFamily="18" charset="0"/>
              </a:rPr>
              <a:t>Structured English, Program Design Language</a:t>
            </a:r>
            <a:endParaRPr lang="el-GR" altLang="el-GR" kern="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el-GR" b="1" dirty="0">
                <a:solidFill>
                  <a:srgbClr val="F9853D"/>
                </a:solidFill>
                <a:latin typeface="Bahnschrift" panose="020B0502040204020203" pitchFamily="34" charset="0"/>
              </a:rPr>
              <a:t>Δραστηριότητα </a:t>
            </a:r>
            <a:r>
              <a:rPr lang="en-US" b="1" dirty="0">
                <a:solidFill>
                  <a:srgbClr val="F9853D"/>
                </a:solidFill>
                <a:latin typeface="Bahnschrift" panose="020B0502040204020203" pitchFamily="34" charset="0"/>
              </a:rPr>
              <a:t>5</a:t>
            </a:r>
            <a:r>
              <a:rPr lang="el-GR" b="1" dirty="0">
                <a:solidFill>
                  <a:srgbClr val="F9853D"/>
                </a:solidFill>
                <a:latin typeface="Bahnschrift" panose="020B0502040204020203" pitchFamily="34" charset="0"/>
              </a:rPr>
              <a:t>-</a:t>
            </a:r>
            <a:r>
              <a:rPr lang="en-US" b="1" dirty="0">
                <a:solidFill>
                  <a:srgbClr val="F9853D"/>
                </a:solidFill>
                <a:latin typeface="Bahnschrift" panose="020B0502040204020203" pitchFamily="34" charset="0"/>
              </a:rPr>
              <a:t>4</a:t>
            </a:r>
            <a:r>
              <a:rPr lang="el-GR" b="1" dirty="0">
                <a:solidFill>
                  <a:srgbClr val="F9853D"/>
                </a:solidFill>
                <a:latin typeface="Bahnschrift" panose="020B0502040204020203" pitchFamily="34" charset="0"/>
              </a:rPr>
              <a:t>   </a:t>
            </a:r>
            <a:r>
              <a:rPr lang="en-US" b="1" dirty="0">
                <a:solidFill>
                  <a:srgbClr val="F9853D"/>
                </a:solidFill>
                <a:latin typeface="Bahnschrift" panose="020B0502040204020203" pitchFamily="34" charset="0"/>
              </a:rPr>
              <a:t>MathFunctions</a:t>
            </a:r>
            <a:endParaRPr lang="el-GR" altLang="el-GR" kern="0" dirty="0"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80000"/>
              </a:lnSpc>
            </a:pPr>
            <a:endParaRPr lang="el-GR" altLang="el-GR" kern="0" dirty="0"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80000"/>
              </a:lnSpc>
            </a:pPr>
            <a:endParaRPr lang="el-GR" altLang="el-GR" kern="0" dirty="0"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80000"/>
              </a:lnSpc>
            </a:pPr>
            <a:endParaRPr lang="el-GR" altLang="el-GR" kern="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</a:pPr>
            <a:endParaRPr lang="el-GR" altLang="el-GR" kern="0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6412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F4A71D-B6C6-C704-0A26-8CCBBEC42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13B126AF-9057-D745-4A7E-E47E35EBA280}"/>
              </a:ext>
            </a:extLst>
          </p:cNvPr>
          <p:cNvSpPr/>
          <p:nvPr/>
        </p:nvSpPr>
        <p:spPr>
          <a:xfrm>
            <a:off x="140669" y="6559908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69260504-E3E3-52EF-6425-9487584CF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Δραστηριότητα </a:t>
            </a:r>
            <a:r>
              <a:rPr lang="en-US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5</a:t>
            </a:r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-</a:t>
            </a:r>
            <a:r>
              <a:rPr lang="en-US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3</a:t>
            </a:r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   </a:t>
            </a:r>
            <a:r>
              <a:rPr lang="en-US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Average</a:t>
            </a:r>
            <a:endParaRPr lang="el-GR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836C9BBA-D790-38CD-7B4F-C4F35C51E248}"/>
              </a:ext>
            </a:extLst>
          </p:cNvPr>
          <p:cNvSpPr txBox="1">
            <a:spLocks/>
          </p:cNvSpPr>
          <p:nvPr/>
        </p:nvSpPr>
        <p:spPr>
          <a:xfrm>
            <a:off x="-1" y="6599394"/>
            <a:ext cx="3840633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© 202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5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Μια Εισαγωγή στην Τέχνη του Προγραμματισμού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48B9CEC-F308-80CF-D039-C25D9A7544D8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200" dirty="0">
                <a:latin typeface="Bahnschrift Light" panose="020B0502040204020203" pitchFamily="34" charset="0"/>
                <a:cs typeface="Arial" pitchFamily="34" charset="0"/>
              </a:rPr>
              <a:t>Διαφάνεια </a:t>
            </a:r>
            <a:fld id="{7C15C5B5-03C6-48D8-B20F-65D93A6CF09E}" type="slidenum">
              <a:rPr lang="en-US" sz="1200" smtClean="0">
                <a:latin typeface="Bahnschrift Light" panose="020B0502040204020203" pitchFamily="34" charset="0"/>
                <a:cs typeface="Arial" pitchFamily="34" charset="0"/>
              </a:rPr>
              <a:pPr algn="r"/>
              <a:t>43</a:t>
            </a:fld>
            <a:endParaRPr lang="en-US" sz="1200" dirty="0">
              <a:latin typeface="Bahnschrift Light" panose="020B0502040204020203" pitchFamily="34" charset="0"/>
              <a:cs typeface="Arial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A3B2332-8688-39E6-A710-BC972426A8A5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0"/>
            <a:ext cx="9144000" cy="908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0033CC"/>
              </a:solidFill>
              <a:latin typeface="Times New Roman" pitchFamily="18" charset="0"/>
            </a:endParaRP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51247F41-D0EB-C91A-D721-5BDC3CB8B1A1}"/>
              </a:ext>
            </a:extLst>
          </p:cNvPr>
          <p:cNvSpPr txBox="1">
            <a:spLocks/>
          </p:cNvSpPr>
          <p:nvPr/>
        </p:nvSpPr>
        <p:spPr bwMode="auto">
          <a:xfrm>
            <a:off x="-1" y="839666"/>
            <a:ext cx="12191999" cy="204302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Clr>
                <a:srgbClr val="3333CC"/>
              </a:buClr>
              <a:buNone/>
              <a:defRPr/>
            </a:pPr>
            <a:r>
              <a:rPr lang="el-GR" sz="2800" b="1" kern="0" dirty="0">
                <a:solidFill>
                  <a:srgbClr val="000000"/>
                </a:solidFill>
                <a:latin typeface="Tahoma"/>
              </a:rPr>
              <a:t>Αναθέστε στη μηχανή το έργο </a:t>
            </a:r>
            <a:r>
              <a:rPr lang="el-GR" sz="2800" kern="0" dirty="0">
                <a:solidFill>
                  <a:srgbClr val="000000"/>
                </a:solidFill>
                <a:latin typeface="Tahoma"/>
              </a:rPr>
              <a:t>της εύρεσης και εμφάνισης στην οθόνη του μέσου όρου ενός συνόλου n αριθμών τους οποίους θα εισάγει ο χρήστης από την βασική είσοδο. </a:t>
            </a:r>
            <a:endParaRPr lang="en-US" sz="1600" kern="0" dirty="0">
              <a:solidFill>
                <a:srgbClr val="000000"/>
              </a:solidFill>
              <a:latin typeface="Tahom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04424B-220E-35D4-DC69-45A229BB4540}"/>
              </a:ext>
            </a:extLst>
          </p:cNvPr>
          <p:cNvSpPr txBox="1"/>
          <p:nvPr/>
        </p:nvSpPr>
        <p:spPr>
          <a:xfrm>
            <a:off x="0" y="3035647"/>
            <a:ext cx="5368413" cy="2800767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l-GR" sz="3200" dirty="0"/>
              <a:t>εισαγωγή</a:t>
            </a:r>
            <a:r>
              <a:rPr lang="en-US" sz="3200" dirty="0"/>
              <a:t> </a:t>
            </a:r>
            <a:r>
              <a:rPr lang="el-GR" sz="3200" dirty="0"/>
              <a:t> </a:t>
            </a:r>
            <a:endParaRPr lang="en-US" sz="3200" dirty="0"/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l-GR" sz="2400" dirty="0"/>
              <a:t>Στον τύπο </a:t>
            </a:r>
            <a:r>
              <a:rPr lang="en-US" sz="2400" dirty="0"/>
              <a:t>float</a:t>
            </a:r>
            <a:r>
              <a:rPr lang="en-US" sz="2400" b="1" dirty="0"/>
              <a:t>. </a:t>
            </a:r>
            <a:r>
              <a:rPr lang="el-GR" sz="2400" b="1" dirty="0"/>
              <a:t> </a:t>
            </a:r>
            <a:endParaRPr lang="en-US" sz="2400" dirty="0"/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l-GR" sz="2400" dirty="0"/>
              <a:t>Στην μετατροπή τύπων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l-GR" sz="2400" dirty="0"/>
              <a:t>Στον έλεγχο τύπων (</a:t>
            </a:r>
            <a:r>
              <a:rPr lang="en-US" sz="2400" dirty="0"/>
              <a:t>type checking</a:t>
            </a:r>
            <a:r>
              <a:rPr lang="el-GR" sz="2400" dirty="0"/>
              <a:t>). </a:t>
            </a:r>
            <a:endParaRPr lang="en-US" sz="2400" dirty="0"/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l-GR" sz="2400" dirty="0"/>
              <a:t>Στην συνάρτηση </a:t>
            </a:r>
            <a:r>
              <a:rPr lang="en-US" sz="2400" dirty="0" err="1"/>
              <a:t>printf</a:t>
            </a:r>
            <a:endParaRPr lang="el-GR" sz="2400" dirty="0"/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l-GR" sz="2400" dirty="0"/>
              <a:t>Στο πέρασμα πίνακα ω όρισμα σε συνάρτηση</a:t>
            </a:r>
            <a:endParaRPr lang="en-GB" sz="2400" dirty="0"/>
          </a:p>
        </p:txBody>
      </p:sp>
      <p:sp>
        <p:nvSpPr>
          <p:cNvPr id="21" name="Θέση υποσέλιδου 4">
            <a:extLst>
              <a:ext uri="{FF2B5EF4-FFF2-40B4-BE49-F238E27FC236}">
                <a16:creationId xmlns:a16="http://schemas.microsoft.com/office/drawing/2014/main" id="{8A8412F1-EC1D-2CF4-CE04-9E54B5892350}"/>
              </a:ext>
            </a:extLst>
          </p:cNvPr>
          <p:cNvSpPr txBox="1">
            <a:spLocks/>
          </p:cNvSpPr>
          <p:nvPr/>
        </p:nvSpPr>
        <p:spPr>
          <a:xfrm>
            <a:off x="4149680" y="6670790"/>
            <a:ext cx="4631713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Control flow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 – 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Arrays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 - 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Type conversions</a:t>
            </a:r>
          </a:p>
          <a:p>
            <a:endParaRPr lang="el-GR" sz="11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85623CD-0D22-09AE-7C0B-F7715F8EC589}"/>
              </a:ext>
            </a:extLst>
          </p:cNvPr>
          <p:cNvSpPr txBox="1"/>
          <p:nvPr/>
        </p:nvSpPr>
        <p:spPr>
          <a:xfrm>
            <a:off x="5485129" y="3035647"/>
            <a:ext cx="6592528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sz="2400" b="1" dirty="0">
                <a:solidFill>
                  <a:srgbClr val="C00000"/>
                </a:solidFill>
              </a:rPr>
              <a:t>Συνοπτική περιγραφή εκτέλεσης της </a:t>
            </a:r>
            <a:r>
              <a:rPr lang="el-GR" sz="2400" b="1" dirty="0" err="1">
                <a:solidFill>
                  <a:srgbClr val="C00000"/>
                </a:solidFill>
              </a:rPr>
              <a:t>Average</a:t>
            </a:r>
            <a:endParaRPr lang="el-GR" sz="2400" b="1" dirty="0">
              <a:solidFill>
                <a:srgbClr val="C00000"/>
              </a:solidFill>
            </a:endParaRPr>
          </a:p>
          <a:p>
            <a:r>
              <a:rPr lang="el-GR" sz="2400" dirty="0"/>
              <a:t>Αναπτύσσουμε τρείς εκδόσεις. </a:t>
            </a:r>
            <a:endParaRPr lang="en-US" sz="2400" dirty="0"/>
          </a:p>
          <a:p>
            <a:r>
              <a:rPr lang="el-GR" sz="2400" dirty="0"/>
              <a:t>Η 1η αποτελεί μια κλασική απλή υλοποίηση. </a:t>
            </a:r>
            <a:endParaRPr lang="en-US" sz="2400" dirty="0"/>
          </a:p>
          <a:p>
            <a:r>
              <a:rPr lang="el-GR" sz="2400" dirty="0"/>
              <a:t>Η 2η χρησιμοποιεί πίνακα για  να αποθηκεύει τους αριθμούς.  </a:t>
            </a:r>
            <a:endParaRPr lang="en-US" sz="2400" dirty="0"/>
          </a:p>
          <a:p>
            <a:r>
              <a:rPr lang="en-US" sz="2400" dirty="0"/>
              <a:t>H </a:t>
            </a:r>
            <a:r>
              <a:rPr lang="el-GR" sz="2400" dirty="0"/>
              <a:t>3η αξιοποιεί τη συνάρτηση για να έχουμε αρθρωτό (</a:t>
            </a:r>
            <a:r>
              <a:rPr lang="el-GR" sz="2400" dirty="0" err="1"/>
              <a:t>modular</a:t>
            </a:r>
            <a:r>
              <a:rPr lang="el-GR" sz="2400" dirty="0"/>
              <a:t>) κώδικα και μας επιτρέπει να δούμε το πέρασμα πίνακα ως όρισμα. </a:t>
            </a:r>
          </a:p>
        </p:txBody>
      </p:sp>
    </p:spTree>
    <p:extLst>
      <p:ext uri="{BB962C8B-B14F-4D97-AF65-F5344CB8AC3E}">
        <p14:creationId xmlns:p14="http://schemas.microsoft.com/office/powerpoint/2010/main" val="3969898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allAtOnce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1A367F-D1AE-0BA8-E7BC-2DA36AF884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6F1BBE22-26A6-E03A-74CD-58841585BA7E}"/>
              </a:ext>
            </a:extLst>
          </p:cNvPr>
          <p:cNvSpPr/>
          <p:nvPr/>
        </p:nvSpPr>
        <p:spPr>
          <a:xfrm>
            <a:off x="140669" y="6559908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93BDA5BC-31C6-A5FE-AF13-EB75EBB04D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1165123"/>
          </a:xfrm>
          <a:solidFill>
            <a:srgbClr val="FDCBAD"/>
          </a:solidFill>
        </p:spPr>
        <p:txBody>
          <a:bodyPr>
            <a:normAutofit fontScale="90000"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Η διεργασία υπολογισμού μέσου όρου ενός συνόλου ακεραίων</a:t>
            </a:r>
            <a:endParaRPr lang="el-GR" sz="4000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EBD31E35-E702-BAE2-4E49-50C4FED1EDA0}"/>
              </a:ext>
            </a:extLst>
          </p:cNvPr>
          <p:cNvSpPr txBox="1">
            <a:spLocks/>
          </p:cNvSpPr>
          <p:nvPr/>
        </p:nvSpPr>
        <p:spPr>
          <a:xfrm>
            <a:off x="-1" y="6599394"/>
            <a:ext cx="3840633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© 202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5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Μια Εισαγωγή στην Τέχνη του Προγραμματισμού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CA84499-9B76-4F5B-BA29-D08A656BE787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200" dirty="0">
                <a:latin typeface="Bahnschrift Light" panose="020B0502040204020203" pitchFamily="34" charset="0"/>
                <a:cs typeface="Arial" pitchFamily="34" charset="0"/>
              </a:rPr>
              <a:t>Διαφάνεια </a:t>
            </a:r>
            <a:fld id="{7C15C5B5-03C6-48D8-B20F-65D93A6CF09E}" type="slidenum">
              <a:rPr lang="en-US" sz="1200" smtClean="0">
                <a:latin typeface="Bahnschrift Light" panose="020B0502040204020203" pitchFamily="34" charset="0"/>
                <a:cs typeface="Arial" pitchFamily="34" charset="0"/>
              </a:rPr>
              <a:pPr algn="r"/>
              <a:t>44</a:t>
            </a:fld>
            <a:endParaRPr lang="en-US" sz="1200" dirty="0">
              <a:latin typeface="Bahnschrift Light" panose="020B0502040204020203" pitchFamily="34" charset="0"/>
              <a:cs typeface="Arial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5377B1F-8C6A-54FC-0C72-D372B7C02626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0"/>
            <a:ext cx="9144000" cy="908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0033CC"/>
              </a:solidFill>
              <a:latin typeface="Times New Roman" pitchFamily="18" charset="0"/>
            </a:endParaRPr>
          </a:p>
        </p:txBody>
      </p:sp>
      <p:sp>
        <p:nvSpPr>
          <p:cNvPr id="12" name="Θέση υποσέλιδου 4">
            <a:extLst>
              <a:ext uri="{FF2B5EF4-FFF2-40B4-BE49-F238E27FC236}">
                <a16:creationId xmlns:a16="http://schemas.microsoft.com/office/drawing/2014/main" id="{52D725DA-3E70-1EA4-3CAA-B5912C7AED40}"/>
              </a:ext>
            </a:extLst>
          </p:cNvPr>
          <p:cNvSpPr txBox="1">
            <a:spLocks/>
          </p:cNvSpPr>
          <p:nvPr/>
        </p:nvSpPr>
        <p:spPr>
          <a:xfrm>
            <a:off x="4149680" y="6670790"/>
            <a:ext cx="4631713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Control flow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 – 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Arrays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 - 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Type conversions</a:t>
            </a:r>
          </a:p>
          <a:p>
            <a:endParaRPr lang="el-GR" sz="11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07D9460-E295-6FAC-FB9B-8C661CAAEB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669" y="4426398"/>
            <a:ext cx="12191999" cy="728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Είναι μια </a:t>
            </a:r>
            <a:r>
              <a:rPr kumimoji="0" lang="el-GR" altLang="el-GR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σύνθετη</a:t>
            </a:r>
            <a:r>
              <a: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(παραγόμενη) </a:t>
            </a:r>
            <a:r>
              <a:rPr kumimoji="0" lang="el-GR" altLang="el-GR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διεργασία</a:t>
            </a:r>
            <a:r>
              <a: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που η περιγραφή της δίνεται με την χρήση άλλων διεργασιών</a:t>
            </a:r>
            <a:endParaRPr kumimoji="0" lang="en-US" altLang="el-GR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None/>
              <a:tabLst/>
              <a:defRPr/>
            </a:pPr>
            <a:endParaRPr kumimoji="0" lang="el-GR" altLang="el-GR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endParaRPr kumimoji="0" lang="el-GR" altLang="el-GR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endParaRPr kumimoji="0" lang="el-GR" altLang="el-GR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736B375-FDEA-7903-D1A4-B5FF98E7A833}"/>
              </a:ext>
            </a:extLst>
          </p:cNvPr>
          <p:cNvSpPr/>
          <p:nvPr/>
        </p:nvSpPr>
        <p:spPr bwMode="auto">
          <a:xfrm>
            <a:off x="4508477" y="2051255"/>
            <a:ext cx="3168352" cy="1512168"/>
          </a:xfrm>
          <a:prstGeom prst="ellipse">
            <a:avLst/>
          </a:prstGeom>
          <a:solidFill>
            <a:srgbClr val="00E4A8"/>
          </a:solidFill>
          <a:ln w="9525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Υπολόγισε</a:t>
            </a:r>
          </a:p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μέσο όρο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D756973-0F3E-A6A2-CBE1-FBDE13C10473}"/>
              </a:ext>
            </a:extLst>
          </p:cNvPr>
          <p:cNvCxnSpPr>
            <a:cxnSpLocks/>
            <a:endCxn id="5" idx="1"/>
          </p:cNvCxnSpPr>
          <p:nvPr/>
        </p:nvCxnSpPr>
        <p:spPr bwMode="auto">
          <a:xfrm>
            <a:off x="3140325" y="2051255"/>
            <a:ext cx="1832146" cy="221452"/>
          </a:xfrm>
          <a:prstGeom prst="straightConnector1">
            <a:avLst/>
          </a:prstGeom>
          <a:solidFill>
            <a:srgbClr val="00E4A8"/>
          </a:solidFill>
          <a:ln w="28575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BC2ACC8-112D-7B6D-AE1D-9A015CDA5F8F}"/>
              </a:ext>
            </a:extLst>
          </p:cNvPr>
          <p:cNvCxnSpPr>
            <a:cxnSpLocks/>
            <a:endCxn id="5" idx="3"/>
          </p:cNvCxnSpPr>
          <p:nvPr/>
        </p:nvCxnSpPr>
        <p:spPr bwMode="auto">
          <a:xfrm flipV="1">
            <a:off x="3860405" y="3341971"/>
            <a:ext cx="1112066" cy="797516"/>
          </a:xfrm>
          <a:prstGeom prst="straightConnector1">
            <a:avLst/>
          </a:prstGeom>
          <a:solidFill>
            <a:srgbClr val="00E4A8"/>
          </a:solidFill>
          <a:ln w="28575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78C854E-A596-685D-3552-2031D7E342A4}"/>
              </a:ext>
            </a:extLst>
          </p:cNvPr>
          <p:cNvCxnSpPr>
            <a:cxnSpLocks/>
            <a:stCxn id="5" idx="6"/>
            <a:endCxn id="15" idx="3"/>
          </p:cNvCxnSpPr>
          <p:nvPr/>
        </p:nvCxnSpPr>
        <p:spPr bwMode="auto">
          <a:xfrm>
            <a:off x="7676830" y="2807339"/>
            <a:ext cx="2160239" cy="25584"/>
          </a:xfrm>
          <a:prstGeom prst="straightConnector1">
            <a:avLst/>
          </a:prstGeom>
          <a:solidFill>
            <a:srgbClr val="00E4A8"/>
          </a:solidFill>
          <a:ln w="28575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776AD46A-56AC-30EF-BEC7-1716C7831D08}"/>
              </a:ext>
            </a:extLst>
          </p:cNvPr>
          <p:cNvSpPr txBox="1"/>
          <p:nvPr/>
        </p:nvSpPr>
        <p:spPr>
          <a:xfrm>
            <a:off x="3194054" y="1697589"/>
            <a:ext cx="15199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l-GR" sz="2400" dirty="0">
                <a:solidFill>
                  <a:srgbClr val="000000"/>
                </a:solidFill>
                <a:latin typeface="Tahoma" panose="020B0604030504040204" pitchFamily="34" charset="0"/>
              </a:rPr>
              <a:t>Αριθμός 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BA7DC56-1632-E792-5AF3-B7F69059F26E}"/>
              </a:ext>
            </a:extLst>
          </p:cNvPr>
          <p:cNvSpPr txBox="1"/>
          <p:nvPr/>
        </p:nvSpPr>
        <p:spPr>
          <a:xfrm>
            <a:off x="2896470" y="2454672"/>
            <a:ext cx="15199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l-GR" sz="2400" dirty="0">
                <a:solidFill>
                  <a:srgbClr val="000000"/>
                </a:solidFill>
                <a:latin typeface="Tahoma" panose="020B0604030504040204" pitchFamily="34" charset="0"/>
              </a:rPr>
              <a:t>Αριθμός 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811C06B-CD65-1436-4D25-0177E116ACCF}"/>
              </a:ext>
            </a:extLst>
          </p:cNvPr>
          <p:cNvSpPr txBox="1"/>
          <p:nvPr/>
        </p:nvSpPr>
        <p:spPr>
          <a:xfrm>
            <a:off x="8163160" y="2417425"/>
            <a:ext cx="167390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l-GR" sz="2400" dirty="0">
                <a:solidFill>
                  <a:srgbClr val="000000"/>
                </a:solidFill>
                <a:latin typeface="Tahoma" panose="020B0604030504040204" pitchFamily="34" charset="0"/>
              </a:rPr>
              <a:t>Μέσος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l-GR" sz="2400" dirty="0">
                <a:solidFill>
                  <a:srgbClr val="000000"/>
                </a:solidFill>
                <a:latin typeface="Tahoma" panose="020B0604030504040204" pitchFamily="34" charset="0"/>
              </a:rPr>
              <a:t>όρος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7CA6589-E695-3823-8F81-5C6CF6EF81E2}"/>
              </a:ext>
            </a:extLst>
          </p:cNvPr>
          <p:cNvCxnSpPr>
            <a:cxnSpLocks/>
          </p:cNvCxnSpPr>
          <p:nvPr/>
        </p:nvCxnSpPr>
        <p:spPr bwMode="auto">
          <a:xfrm flipV="1">
            <a:off x="2636271" y="2893920"/>
            <a:ext cx="1872207" cy="44832"/>
          </a:xfrm>
          <a:prstGeom prst="straightConnector1">
            <a:avLst/>
          </a:prstGeom>
          <a:solidFill>
            <a:srgbClr val="00E4A8"/>
          </a:solidFill>
          <a:ln w="28575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D25782FB-BAD7-395F-D751-9D26DFEC4686}"/>
              </a:ext>
            </a:extLst>
          </p:cNvPr>
          <p:cNvSpPr txBox="1"/>
          <p:nvPr/>
        </p:nvSpPr>
        <p:spPr>
          <a:xfrm>
            <a:off x="4210884" y="3862807"/>
            <a:ext cx="15231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l-GR" sz="2400" dirty="0">
                <a:solidFill>
                  <a:srgbClr val="000000"/>
                </a:solidFill>
                <a:latin typeface="Tahoma" panose="020B0604030504040204" pitchFamily="34" charset="0"/>
              </a:rPr>
              <a:t>Αριθμός </a:t>
            </a:r>
            <a:r>
              <a:rPr lang="en-US" sz="2400" dirty="0">
                <a:solidFill>
                  <a:srgbClr val="000000"/>
                </a:solidFill>
                <a:latin typeface="Tahoma" panose="020B0604030504040204" pitchFamily="34" charset="0"/>
              </a:rPr>
              <a:t>n</a:t>
            </a:r>
            <a:endParaRPr lang="el-GR" sz="2400" dirty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297AC47-1FC3-3B6E-3315-0FFC120F8FD7}"/>
              </a:ext>
            </a:extLst>
          </p:cNvPr>
          <p:cNvCxnSpPr>
            <a:cxnSpLocks/>
          </p:cNvCxnSpPr>
          <p:nvPr/>
        </p:nvCxnSpPr>
        <p:spPr bwMode="auto">
          <a:xfrm flipV="1">
            <a:off x="2420246" y="3095529"/>
            <a:ext cx="2264351" cy="267628"/>
          </a:xfrm>
          <a:prstGeom prst="straightConnector1">
            <a:avLst/>
          </a:prstGeom>
          <a:solidFill>
            <a:srgbClr val="00E4A8"/>
          </a:solidFill>
          <a:ln w="28575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9D8F958-17E2-FDD1-2A23-295A247CFBA6}"/>
              </a:ext>
            </a:extLst>
          </p:cNvPr>
          <p:cNvCxnSpPr>
            <a:cxnSpLocks/>
          </p:cNvCxnSpPr>
          <p:nvPr/>
        </p:nvCxnSpPr>
        <p:spPr bwMode="auto">
          <a:xfrm flipV="1">
            <a:off x="2636270" y="3210756"/>
            <a:ext cx="2077752" cy="492620"/>
          </a:xfrm>
          <a:prstGeom prst="straightConnector1">
            <a:avLst/>
          </a:prstGeom>
          <a:solidFill>
            <a:srgbClr val="00E4A8"/>
          </a:solidFill>
          <a:ln w="28575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B649F80C-D425-1C23-8987-6D938001E8E8}"/>
              </a:ext>
            </a:extLst>
          </p:cNvPr>
          <p:cNvSpPr txBox="1"/>
          <p:nvPr/>
        </p:nvSpPr>
        <p:spPr>
          <a:xfrm>
            <a:off x="3579559" y="3523846"/>
            <a:ext cx="280846" cy="5402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lnSpc>
                <a:spcPts val="8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b="1" dirty="0">
                <a:solidFill>
                  <a:srgbClr val="000000"/>
                </a:solidFill>
                <a:latin typeface="Tahoma" panose="020B0604030504040204" pitchFamily="34" charset="0"/>
              </a:rPr>
              <a:t>.</a:t>
            </a:r>
          </a:p>
          <a:p>
            <a:pPr eaLnBrk="0" fontAlgn="base" hangingPunct="0">
              <a:lnSpc>
                <a:spcPts val="8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b="1" dirty="0">
                <a:solidFill>
                  <a:srgbClr val="000000"/>
                </a:solidFill>
                <a:latin typeface="Tahoma" panose="020B0604030504040204" pitchFamily="34" charset="0"/>
              </a:rPr>
              <a:t>.</a:t>
            </a:r>
          </a:p>
          <a:p>
            <a:pPr eaLnBrk="0" fontAlgn="base" hangingPunct="0">
              <a:lnSpc>
                <a:spcPts val="8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b="1" dirty="0">
                <a:solidFill>
                  <a:srgbClr val="000000"/>
                </a:solidFill>
                <a:latin typeface="Tahoma" panose="020B0604030504040204" pitchFamily="34" charset="0"/>
              </a:rPr>
              <a:t>.</a:t>
            </a:r>
          </a:p>
          <a:p>
            <a:pPr eaLnBrk="0" fontAlgn="base" hangingPunct="0">
              <a:lnSpc>
                <a:spcPts val="800"/>
              </a:lnSpc>
              <a:spcBef>
                <a:spcPct val="0"/>
              </a:spcBef>
              <a:spcAft>
                <a:spcPct val="0"/>
              </a:spcAft>
            </a:pPr>
            <a:endParaRPr lang="el-GR" sz="2400" b="1" dirty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21" name="Speech Bubble: Rectangle with Corners Rounded 20">
            <a:extLst>
              <a:ext uri="{FF2B5EF4-FFF2-40B4-BE49-F238E27FC236}">
                <a16:creationId xmlns:a16="http://schemas.microsoft.com/office/drawing/2014/main" id="{33B3CAB6-6DD4-336C-24DD-EDEB83E140BE}"/>
              </a:ext>
            </a:extLst>
          </p:cNvPr>
          <p:cNvSpPr/>
          <p:nvPr/>
        </p:nvSpPr>
        <p:spPr bwMode="auto">
          <a:xfrm>
            <a:off x="764060" y="5244344"/>
            <a:ext cx="11064145" cy="933268"/>
          </a:xfrm>
          <a:prstGeom prst="wedgeRoundRectCallout">
            <a:avLst>
              <a:gd name="adj1" fmla="val -53583"/>
              <a:gd name="adj2" fmla="val 98673"/>
              <a:gd name="adj3" fmla="val 16667"/>
            </a:avLst>
          </a:prstGeom>
          <a:solidFill>
            <a:srgbClr val="FFFF00"/>
          </a:solidFill>
          <a:ln w="9525" cap="flat" cmpd="sng" algn="ctr">
            <a:solidFill>
              <a:srgbClr val="FFFF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Πόσες μεταβλητές χρειάζεστε για τα δεδομένα εισόδου;</a:t>
            </a:r>
            <a:endParaRPr kumimoji="0" lang="en-US" altLang="el-GR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l-GR" altLang="el-GR" sz="2400" kern="0" dirty="0">
                <a:solidFill>
                  <a:srgbClr val="000000"/>
                </a:solidFill>
                <a:latin typeface="Tahoma" panose="020B0604030504040204" pitchFamily="34" charset="0"/>
              </a:rPr>
              <a:t>Μήπως αυτό εξαρτάται από την Λεκτική Περιγραφή (δηλαδή τον Αλγόριθμο) ;</a:t>
            </a:r>
          </a:p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l-GR" altLang="el-GR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sp>
        <p:nvSpPr>
          <p:cNvPr id="23" name="Text Box 11">
            <a:extLst>
              <a:ext uri="{FF2B5EF4-FFF2-40B4-BE49-F238E27FC236}">
                <a16:creationId xmlns:a16="http://schemas.microsoft.com/office/drawing/2014/main" id="{0CF1E1E2-21E7-28D3-4D3B-5DA2540A1F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669" y="1276005"/>
            <a:ext cx="10668000" cy="424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altLang="el-GR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Το έργο</a:t>
            </a:r>
            <a:r>
              <a:rPr kumimoji="0" lang="en-US" altLang="el-GR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 </a:t>
            </a:r>
            <a:r>
              <a:rPr kumimoji="0" lang="en-US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: </a:t>
            </a:r>
            <a:r>
              <a:rPr kumimoji="0" lang="el-GR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Υπολογισμός μέσου όρου ενός συνόλου ακεραίων</a:t>
            </a:r>
            <a:endParaRPr kumimoji="0" lang="en-GB" altLang="el-GR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9209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21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0FAA2F-C30B-B86C-7EB7-B6FA540B8B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17ECADB3-DC52-1D29-882C-91376C1EA3FF}"/>
              </a:ext>
            </a:extLst>
          </p:cNvPr>
          <p:cNvSpPr/>
          <p:nvPr/>
        </p:nvSpPr>
        <p:spPr>
          <a:xfrm>
            <a:off x="140669" y="6559908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1FC4B2DF-FD37-2444-C894-E2C2A208D7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83457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n-GB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Average</a:t>
            </a:r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 - Λεκτική Περιγραφή</a:t>
            </a:r>
            <a:endParaRPr lang="el-GR" sz="4000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E424A07B-A9F9-B80A-946E-7C437AC61F8E}"/>
              </a:ext>
            </a:extLst>
          </p:cNvPr>
          <p:cNvSpPr txBox="1">
            <a:spLocks/>
          </p:cNvSpPr>
          <p:nvPr/>
        </p:nvSpPr>
        <p:spPr>
          <a:xfrm>
            <a:off x="-1" y="6599394"/>
            <a:ext cx="3840633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© 202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5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Μια Εισαγωγή στην Τέχνη του Προγραμματισμού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3537CDC-26AD-5FD7-AE00-EAC0FA3089F8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200" dirty="0">
                <a:latin typeface="Bahnschrift Light" panose="020B0502040204020203" pitchFamily="34" charset="0"/>
                <a:cs typeface="Arial" pitchFamily="34" charset="0"/>
              </a:rPr>
              <a:t>Διαφάνεια </a:t>
            </a:r>
            <a:fld id="{7C15C5B5-03C6-48D8-B20F-65D93A6CF09E}" type="slidenum">
              <a:rPr lang="en-US" sz="1200" smtClean="0">
                <a:latin typeface="Bahnschrift Light" panose="020B0502040204020203" pitchFamily="34" charset="0"/>
                <a:cs typeface="Arial" pitchFamily="34" charset="0"/>
              </a:rPr>
              <a:pPr algn="r"/>
              <a:t>45</a:t>
            </a:fld>
            <a:endParaRPr lang="en-US" sz="1200" dirty="0">
              <a:latin typeface="Bahnschrift Light" panose="020B0502040204020203" pitchFamily="34" charset="0"/>
              <a:cs typeface="Arial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770A7AC-6BBF-5B04-0019-1BCFAB406D48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0"/>
            <a:ext cx="9144000" cy="908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0033CC"/>
              </a:solidFill>
              <a:latin typeface="Times New Roman" pitchFamily="18" charset="0"/>
            </a:endParaRPr>
          </a:p>
        </p:txBody>
      </p:sp>
      <p:sp>
        <p:nvSpPr>
          <p:cNvPr id="12" name="Θέση υποσέλιδου 4">
            <a:extLst>
              <a:ext uri="{FF2B5EF4-FFF2-40B4-BE49-F238E27FC236}">
                <a16:creationId xmlns:a16="http://schemas.microsoft.com/office/drawing/2014/main" id="{837EF7D2-DDA0-0BEA-2116-5EB32163DEBD}"/>
              </a:ext>
            </a:extLst>
          </p:cNvPr>
          <p:cNvSpPr txBox="1">
            <a:spLocks/>
          </p:cNvSpPr>
          <p:nvPr/>
        </p:nvSpPr>
        <p:spPr>
          <a:xfrm>
            <a:off x="4149680" y="6670790"/>
            <a:ext cx="4631713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Control flow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 – 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Arrays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 - 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Type conversions</a:t>
            </a:r>
          </a:p>
          <a:p>
            <a:endParaRPr lang="el-GR" sz="11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1FA3A8B-6FD8-FF02-C366-D951C66CEF7D}"/>
              </a:ext>
            </a:extLst>
          </p:cNvPr>
          <p:cNvSpPr/>
          <p:nvPr/>
        </p:nvSpPr>
        <p:spPr bwMode="auto">
          <a:xfrm>
            <a:off x="493355" y="1276806"/>
            <a:ext cx="6069677" cy="251223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 cap="flat" cmpd="sng" algn="ctr">
            <a:solidFill>
              <a:srgbClr val="FFFF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>
              <a:buSzPct val="100000"/>
            </a:pPr>
            <a:r>
              <a:rPr lang="el-GR" altLang="el-GR" sz="2400" b="1" dirty="0"/>
              <a:t>Α1.</a:t>
            </a:r>
            <a:r>
              <a:rPr lang="el-GR" altLang="el-GR" sz="2400" dirty="0"/>
              <a:t> Πάρε το</a:t>
            </a:r>
            <a:r>
              <a:rPr lang="en-US" altLang="el-GR" sz="2400" dirty="0"/>
              <a:t> </a:t>
            </a:r>
            <a:r>
              <a:rPr lang="el-GR" altLang="el-GR" sz="2400" dirty="0"/>
              <a:t>πλήθος των αριθμών</a:t>
            </a:r>
          </a:p>
          <a:p>
            <a:pPr>
              <a:buSzPct val="100000"/>
            </a:pPr>
            <a:r>
              <a:rPr lang="el-GR" altLang="el-GR" sz="2400" b="1" dirty="0">
                <a:solidFill>
                  <a:srgbClr val="FF0000"/>
                </a:solidFill>
              </a:rPr>
              <a:t>Α2. Για το πλήθος των αριθμών επανέλαβε</a:t>
            </a:r>
          </a:p>
          <a:p>
            <a:pPr marL="400050" lvl="1">
              <a:buSzPct val="100000"/>
            </a:pPr>
            <a:r>
              <a:rPr lang="el-GR" altLang="el-GR" sz="2000" dirty="0"/>
              <a:t>  </a:t>
            </a:r>
            <a:r>
              <a:rPr lang="el-GR" altLang="el-GR" sz="2000" b="1" dirty="0"/>
              <a:t>Α2.1.</a:t>
            </a:r>
            <a:r>
              <a:rPr lang="el-GR" altLang="el-GR" sz="2000" dirty="0"/>
              <a:t> Πάρε αριθμό</a:t>
            </a:r>
          </a:p>
          <a:p>
            <a:pPr marL="400050" lvl="1">
              <a:buSzPct val="100000"/>
            </a:pPr>
            <a:r>
              <a:rPr lang="el-GR" altLang="el-GR" sz="2000" dirty="0"/>
              <a:t>  </a:t>
            </a:r>
            <a:r>
              <a:rPr lang="el-GR" altLang="el-GR" sz="2000" b="1" dirty="0"/>
              <a:t>Α2.2. </a:t>
            </a:r>
            <a:r>
              <a:rPr lang="el-GR" altLang="el-GR" sz="2000" dirty="0"/>
              <a:t>Ενημέρωσε το άθροισμα</a:t>
            </a:r>
          </a:p>
          <a:p>
            <a:pPr>
              <a:buSzPct val="100000"/>
            </a:pPr>
            <a:r>
              <a:rPr lang="el-GR" altLang="el-GR" sz="2400" b="1" dirty="0"/>
              <a:t>Α3.</a:t>
            </a:r>
            <a:r>
              <a:rPr lang="el-GR" altLang="el-GR" sz="2400" dirty="0"/>
              <a:t> Υπολόγισε μέσο όρο</a:t>
            </a:r>
          </a:p>
          <a:p>
            <a:pPr>
              <a:buSzPct val="100000"/>
            </a:pPr>
            <a:r>
              <a:rPr lang="el-GR" altLang="el-GR" sz="2400" b="1" dirty="0"/>
              <a:t>Α4. </a:t>
            </a:r>
            <a:r>
              <a:rPr lang="el-GR" altLang="el-GR" sz="2400" dirty="0"/>
              <a:t>Εμφάνισε το μέσο όρο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710C8D-864C-5F7A-E419-9524758677CD}"/>
              </a:ext>
            </a:extLst>
          </p:cNvPr>
          <p:cNvSpPr txBox="1"/>
          <p:nvPr/>
        </p:nvSpPr>
        <p:spPr>
          <a:xfrm>
            <a:off x="493355" y="692032"/>
            <a:ext cx="76326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l-GR" altLang="el-GR" sz="32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Λεκτική περιγραφή </a:t>
            </a:r>
            <a:r>
              <a:rPr lang="en-US" altLang="el-GR" sz="32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V1</a:t>
            </a:r>
            <a:endParaRPr lang="el-GR" sz="3200" b="1" dirty="0">
              <a:solidFill>
                <a:srgbClr val="C00000"/>
              </a:solidFill>
              <a:latin typeface="Tahoma" panose="020B060403050404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0079D1-ABD3-8825-62D4-D2BFACC2ADF8}"/>
              </a:ext>
            </a:extLst>
          </p:cNvPr>
          <p:cNvSpPr txBox="1"/>
          <p:nvPr/>
        </p:nvSpPr>
        <p:spPr>
          <a:xfrm>
            <a:off x="582818" y="4496898"/>
            <a:ext cx="631942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l-GR" sz="2400" dirty="0">
                <a:solidFill>
                  <a:srgbClr val="000000"/>
                </a:solidFill>
                <a:latin typeface="Tahoma" panose="020B0604030504040204" pitchFamily="34" charset="0"/>
              </a:rPr>
              <a:t>Προτάσεις επανάληψης (</a:t>
            </a:r>
            <a:r>
              <a:rPr lang="en-US" sz="2400" dirty="0">
                <a:solidFill>
                  <a:srgbClr val="000000"/>
                </a:solidFill>
                <a:latin typeface="Tahoma" panose="020B0604030504040204" pitchFamily="34" charset="0"/>
              </a:rPr>
              <a:t>iteration statements</a:t>
            </a:r>
            <a:r>
              <a:rPr lang="el-GR" sz="2400" dirty="0">
                <a:solidFill>
                  <a:srgbClr val="000000"/>
                </a:solidFill>
                <a:latin typeface="Tahoma" panose="020B0604030504040204" pitchFamily="34" charset="0"/>
              </a:rPr>
              <a:t>)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l-GR" sz="2400" b="1" dirty="0">
                <a:solidFill>
                  <a:srgbClr val="000000"/>
                </a:solidFill>
                <a:latin typeface="Tahoma" panose="020B0604030504040204" pitchFamily="34" charset="0"/>
              </a:rPr>
              <a:t>	- </a:t>
            </a:r>
            <a:r>
              <a:rPr lang="en-US" sz="2400" b="1" dirty="0">
                <a:solidFill>
                  <a:srgbClr val="000000"/>
                </a:solidFill>
                <a:latin typeface="Tahoma" panose="020B0604030504040204" pitchFamily="34" charset="0"/>
              </a:rPr>
              <a:t>for()</a:t>
            </a:r>
            <a:endParaRPr lang="el-GR" sz="2400" b="1" dirty="0">
              <a:solidFill>
                <a:srgbClr val="000000"/>
              </a:solidFill>
              <a:latin typeface="Tahoma" panose="020B060403050404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l-GR" sz="2400" b="1" dirty="0">
                <a:solidFill>
                  <a:srgbClr val="000000"/>
                </a:solidFill>
                <a:latin typeface="Tahoma" panose="020B0604030504040204" pitchFamily="34" charset="0"/>
              </a:rPr>
              <a:t>	- </a:t>
            </a:r>
            <a:r>
              <a:rPr lang="en-US" sz="2400" b="1" dirty="0">
                <a:solidFill>
                  <a:srgbClr val="000000"/>
                </a:solidFill>
                <a:latin typeface="Tahoma" panose="020B0604030504040204" pitchFamily="34" charset="0"/>
              </a:rPr>
              <a:t>while()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1F1F6B-49B1-4D49-2C03-30F3EDBEC432}"/>
              </a:ext>
            </a:extLst>
          </p:cNvPr>
          <p:cNvSpPr txBox="1"/>
          <p:nvPr/>
        </p:nvSpPr>
        <p:spPr>
          <a:xfrm>
            <a:off x="493355" y="3864091"/>
            <a:ext cx="664219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l-GR" altLang="el-GR" sz="3200" b="1" dirty="0">
                <a:solidFill>
                  <a:srgbClr val="0033CC"/>
                </a:solidFill>
                <a:latin typeface="Times New Roman" panose="02020603050405020304" pitchFamily="18" charset="0"/>
              </a:rPr>
              <a:t>Μετατροπή σε πηγαίο κώδικα</a:t>
            </a:r>
            <a:endParaRPr lang="en-GB" sz="3200" b="1" dirty="0">
              <a:solidFill>
                <a:srgbClr val="0033CC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6CA7185-1AC3-0492-6E6D-7F512250B281}"/>
              </a:ext>
            </a:extLst>
          </p:cNvPr>
          <p:cNvGrpSpPr/>
          <p:nvPr/>
        </p:nvGrpSpPr>
        <p:grpSpPr>
          <a:xfrm>
            <a:off x="7890387" y="1276806"/>
            <a:ext cx="3120583" cy="4175419"/>
            <a:chOff x="7890387" y="1276806"/>
            <a:chExt cx="3120583" cy="4175419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8944E6F-984A-6A32-C170-F76C3FDC472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998957" y="2177944"/>
              <a:ext cx="3012013" cy="2217629"/>
            </a:xfrm>
            <a:prstGeom prst="rect">
              <a:avLst/>
            </a:prstGeom>
          </p:spPr>
        </p:pic>
        <p:sp>
          <p:nvSpPr>
            <p:cNvPr id="13" name="Speech Bubble: Rectangle with Corners Rounded 12">
              <a:extLst>
                <a:ext uri="{FF2B5EF4-FFF2-40B4-BE49-F238E27FC236}">
                  <a16:creationId xmlns:a16="http://schemas.microsoft.com/office/drawing/2014/main" id="{FEAA25E7-469D-B82B-6BAF-E93775091037}"/>
                </a:ext>
              </a:extLst>
            </p:cNvPr>
            <p:cNvSpPr/>
            <p:nvPr/>
          </p:nvSpPr>
          <p:spPr>
            <a:xfrm>
              <a:off x="8126005" y="4630875"/>
              <a:ext cx="2884965" cy="821350"/>
            </a:xfrm>
            <a:prstGeom prst="wedgeRoundRectCallout">
              <a:avLst>
                <a:gd name="adj1" fmla="val -59222"/>
                <a:gd name="adj2" fmla="val 98719"/>
                <a:gd name="adj3" fmla="val 16667"/>
              </a:avLst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l-GR" b="1" dirty="0">
                  <a:solidFill>
                    <a:schemeClr val="tx1"/>
                  </a:solidFill>
                  <a:highlight>
                    <a:srgbClr val="FFFF00"/>
                  </a:highlight>
                </a:rPr>
                <a:t>Αναπτύξτε την 1</a:t>
              </a:r>
              <a:r>
                <a:rPr lang="el-GR" b="1" baseline="30000" dirty="0">
                  <a:solidFill>
                    <a:schemeClr val="tx1"/>
                  </a:solidFill>
                  <a:highlight>
                    <a:srgbClr val="FFFF00"/>
                  </a:highlight>
                </a:rPr>
                <a:t>η</a:t>
              </a:r>
              <a:r>
                <a:rPr lang="el-GR" b="1" dirty="0">
                  <a:solidFill>
                    <a:schemeClr val="tx1"/>
                  </a:solidFill>
                  <a:highlight>
                    <a:srgbClr val="FFFF00"/>
                  </a:highlight>
                </a:rPr>
                <a:t> έκδοση του  προγράμματος </a:t>
              </a:r>
              <a:r>
                <a:rPr lang="en-US" b="1" dirty="0">
                  <a:solidFill>
                    <a:schemeClr val="tx1"/>
                  </a:solidFill>
                  <a:highlight>
                    <a:srgbClr val="FFFF00"/>
                  </a:highlight>
                </a:rPr>
                <a:t>Average</a:t>
              </a:r>
              <a:endParaRPr lang="en-GB" b="1" dirty="0">
                <a:solidFill>
                  <a:schemeClr val="tx1"/>
                </a:solidFill>
                <a:highlight>
                  <a:srgbClr val="FFFF00"/>
                </a:highlight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D102DA7-7FD0-55F2-C8C7-F04AED4A8ECE}"/>
                </a:ext>
              </a:extLst>
            </p:cNvPr>
            <p:cNvSpPr txBox="1"/>
            <p:nvPr/>
          </p:nvSpPr>
          <p:spPr>
            <a:xfrm>
              <a:off x="7890387" y="1276806"/>
              <a:ext cx="247772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b="1" dirty="0">
                  <a:solidFill>
                    <a:schemeClr val="accent2">
                      <a:lumMod val="60000"/>
                      <a:lumOff val="40000"/>
                    </a:schemeClr>
                  </a:solidFill>
                </a:rPr>
                <a:t>Hands-on</a:t>
              </a:r>
              <a:endParaRPr lang="en-GB" sz="3600" b="1" dirty="0">
                <a:solidFill>
                  <a:schemeClr val="accent2">
                    <a:lumMod val="60000"/>
                    <a:lumOff val="4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394897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/>
      <p:bldP spid="7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0FE738-D4E7-06EF-1758-6D0AC3EDB8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7BBB77B2-CDBD-AFBF-76C5-1329CD0CC9EC}"/>
              </a:ext>
            </a:extLst>
          </p:cNvPr>
          <p:cNvSpPr/>
          <p:nvPr/>
        </p:nvSpPr>
        <p:spPr>
          <a:xfrm>
            <a:off x="140669" y="6559908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4689F8FC-7EC6-B3E4-5142-52A8701B48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83457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n-GB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Average – </a:t>
            </a:r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Πηγαίος Κώδικας (Μία πρώτη εκδοχή)</a:t>
            </a:r>
            <a:endParaRPr lang="el-GR" sz="4000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9F68AEBD-F6EE-0F93-75C9-A43445DFEAA5}"/>
              </a:ext>
            </a:extLst>
          </p:cNvPr>
          <p:cNvSpPr txBox="1">
            <a:spLocks/>
          </p:cNvSpPr>
          <p:nvPr/>
        </p:nvSpPr>
        <p:spPr>
          <a:xfrm>
            <a:off x="-1" y="6599394"/>
            <a:ext cx="3840633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© 202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5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Μια Εισαγωγή στην Τέχνη του Προγραμματισμού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6F56C95-30D0-4D04-3423-BD70DF1AD877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200" dirty="0">
                <a:latin typeface="Bahnschrift Light" panose="020B0502040204020203" pitchFamily="34" charset="0"/>
                <a:cs typeface="Arial" pitchFamily="34" charset="0"/>
              </a:rPr>
              <a:t>Διαφάνεια </a:t>
            </a:r>
            <a:fld id="{7C15C5B5-03C6-48D8-B20F-65D93A6CF09E}" type="slidenum">
              <a:rPr lang="en-US" sz="1200" smtClean="0">
                <a:latin typeface="Bahnschrift Light" panose="020B0502040204020203" pitchFamily="34" charset="0"/>
                <a:cs typeface="Arial" pitchFamily="34" charset="0"/>
              </a:rPr>
              <a:pPr algn="r"/>
              <a:t>46</a:t>
            </a:fld>
            <a:endParaRPr lang="en-US" sz="1200" dirty="0">
              <a:latin typeface="Bahnschrift Light" panose="020B0502040204020203" pitchFamily="34" charset="0"/>
              <a:cs typeface="Arial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C7E2F68-E176-0D1E-8387-F5ED7E6F9EE9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0"/>
            <a:ext cx="9144000" cy="908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0033CC"/>
              </a:solidFill>
              <a:latin typeface="Times New Roman" pitchFamily="18" charset="0"/>
            </a:endParaRPr>
          </a:p>
        </p:txBody>
      </p:sp>
      <p:sp>
        <p:nvSpPr>
          <p:cNvPr id="12" name="Θέση υποσέλιδου 4">
            <a:extLst>
              <a:ext uri="{FF2B5EF4-FFF2-40B4-BE49-F238E27FC236}">
                <a16:creationId xmlns:a16="http://schemas.microsoft.com/office/drawing/2014/main" id="{5FF66C8E-A401-4F5D-A22D-86FEB6CF72A7}"/>
              </a:ext>
            </a:extLst>
          </p:cNvPr>
          <p:cNvSpPr txBox="1">
            <a:spLocks/>
          </p:cNvSpPr>
          <p:nvPr/>
        </p:nvSpPr>
        <p:spPr>
          <a:xfrm>
            <a:off x="4149680" y="6670790"/>
            <a:ext cx="4631713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Control flow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 – 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Arrays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 - 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Type conversions</a:t>
            </a:r>
          </a:p>
          <a:p>
            <a:endParaRPr lang="el-GR" sz="11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F8393EB-CB62-2DCE-66D7-A23E3F7616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669" y="894339"/>
            <a:ext cx="7455294" cy="494602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18ABE53-DF63-E8E2-66ED-B3CE8D5060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9807" y="4167055"/>
            <a:ext cx="6163172" cy="2033079"/>
          </a:xfrm>
          <a:prstGeom prst="rect">
            <a:avLst/>
          </a:prstGeom>
        </p:spPr>
      </p:pic>
      <p:sp>
        <p:nvSpPr>
          <p:cNvPr id="9" name="Callout: Bent Line 8">
            <a:extLst>
              <a:ext uri="{FF2B5EF4-FFF2-40B4-BE49-F238E27FC236}">
                <a16:creationId xmlns:a16="http://schemas.microsoft.com/office/drawing/2014/main" id="{A7239978-2870-C3C6-DF8E-C725C9CB95A2}"/>
              </a:ext>
            </a:extLst>
          </p:cNvPr>
          <p:cNvSpPr/>
          <p:nvPr/>
        </p:nvSpPr>
        <p:spPr>
          <a:xfrm>
            <a:off x="5176684" y="1503004"/>
            <a:ext cx="6874647" cy="1283127"/>
          </a:xfrm>
          <a:prstGeom prst="borderCallout2">
            <a:avLst>
              <a:gd name="adj1" fmla="val 51671"/>
              <a:gd name="adj2" fmla="val -604"/>
              <a:gd name="adj3" fmla="val 51291"/>
              <a:gd name="adj4" fmla="val -11392"/>
              <a:gd name="adj5" fmla="val 64453"/>
              <a:gd name="adj6" fmla="val -41065"/>
            </a:avLst>
          </a:prstGeom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2400" b="1" dirty="0"/>
              <a:t>Για την αποθήκευση αριθμών με δεκαδικά ψηφία (πραγματικών αριθμών) η C διαθέτει δύο ενσωματωμένους τύπους, τον </a:t>
            </a:r>
            <a:r>
              <a:rPr lang="el-GR" sz="2400" b="1" dirty="0" err="1">
                <a:solidFill>
                  <a:srgbClr val="FF0000"/>
                </a:solidFill>
              </a:rPr>
              <a:t>float</a:t>
            </a:r>
            <a:r>
              <a:rPr lang="el-GR" sz="2400" b="1" dirty="0"/>
              <a:t> και τον </a:t>
            </a:r>
            <a:r>
              <a:rPr lang="el-GR" sz="2400" b="1" dirty="0" err="1">
                <a:solidFill>
                  <a:srgbClr val="FF0000"/>
                </a:solidFill>
              </a:rPr>
              <a:t>double</a:t>
            </a:r>
            <a:r>
              <a:rPr lang="el-GR" sz="2400" b="1" dirty="0"/>
              <a:t>.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92AAB84-FA84-181B-E814-A3358B5C22E4}"/>
              </a:ext>
            </a:extLst>
          </p:cNvPr>
          <p:cNvCxnSpPr/>
          <p:nvPr/>
        </p:nvCxnSpPr>
        <p:spPr>
          <a:xfrm flipH="1">
            <a:off x="7433187" y="5043948"/>
            <a:ext cx="1533832" cy="25072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1304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C8AB63-CCDD-F4EE-8D31-B28D5029FF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93EFD7E6-F4EE-F5A8-5388-ACF99856C564}"/>
              </a:ext>
            </a:extLst>
          </p:cNvPr>
          <p:cNvSpPr/>
          <p:nvPr/>
        </p:nvSpPr>
        <p:spPr>
          <a:xfrm>
            <a:off x="140669" y="6559908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873519CD-45C4-9053-7C0B-2773F8F9EC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83457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O τύπος </a:t>
            </a:r>
            <a:r>
              <a:rPr lang="en-US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float</a:t>
            </a:r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 </a:t>
            </a:r>
            <a:r>
              <a:rPr lang="el-GR" sz="4000" dirty="0">
                <a:solidFill>
                  <a:srgbClr val="F9853D"/>
                </a:solidFill>
                <a:latin typeface="Bahnschrift" panose="020B0502040204020203" pitchFamily="34" charset="0"/>
              </a:rPr>
              <a:t>και </a:t>
            </a:r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μετατροπή τύπου</a:t>
            </a: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7F6D83B1-752F-F80F-C13E-9AD7D0BBBB61}"/>
              </a:ext>
            </a:extLst>
          </p:cNvPr>
          <p:cNvSpPr txBox="1">
            <a:spLocks/>
          </p:cNvSpPr>
          <p:nvPr/>
        </p:nvSpPr>
        <p:spPr>
          <a:xfrm>
            <a:off x="-1" y="6599394"/>
            <a:ext cx="3840633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© 202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5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Μια Εισαγωγή στην Τέχνη του Προγραμματισμού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BD4D0ED-935A-EF11-1737-4140364EF72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200" dirty="0">
                <a:latin typeface="Bahnschrift Light" panose="020B0502040204020203" pitchFamily="34" charset="0"/>
                <a:cs typeface="Arial" pitchFamily="34" charset="0"/>
              </a:rPr>
              <a:t>Διαφάνεια </a:t>
            </a:r>
            <a:fld id="{7C15C5B5-03C6-48D8-B20F-65D93A6CF09E}" type="slidenum">
              <a:rPr lang="en-US" sz="1200" smtClean="0">
                <a:latin typeface="Bahnschrift Light" panose="020B0502040204020203" pitchFamily="34" charset="0"/>
                <a:cs typeface="Arial" pitchFamily="34" charset="0"/>
              </a:rPr>
              <a:pPr algn="r"/>
              <a:t>47</a:t>
            </a:fld>
            <a:endParaRPr lang="en-US" sz="1200" dirty="0">
              <a:latin typeface="Bahnschrift Light" panose="020B0502040204020203" pitchFamily="34" charset="0"/>
              <a:cs typeface="Arial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0FF7819-FBE8-92F4-BB08-6A77A9A1F5F5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0"/>
            <a:ext cx="9144000" cy="908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0033CC"/>
              </a:solidFill>
              <a:latin typeface="Times New Roman" pitchFamily="18" charset="0"/>
            </a:endParaRPr>
          </a:p>
        </p:txBody>
      </p:sp>
      <p:sp>
        <p:nvSpPr>
          <p:cNvPr id="12" name="Θέση υποσέλιδου 4">
            <a:extLst>
              <a:ext uri="{FF2B5EF4-FFF2-40B4-BE49-F238E27FC236}">
                <a16:creationId xmlns:a16="http://schemas.microsoft.com/office/drawing/2014/main" id="{3FB455B9-5D8A-449A-378F-454BFB485D43}"/>
              </a:ext>
            </a:extLst>
          </p:cNvPr>
          <p:cNvSpPr txBox="1">
            <a:spLocks/>
          </p:cNvSpPr>
          <p:nvPr/>
        </p:nvSpPr>
        <p:spPr>
          <a:xfrm>
            <a:off x="4149680" y="6670790"/>
            <a:ext cx="4631713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Control flow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 – 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Arrays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 - 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Type conversions</a:t>
            </a:r>
          </a:p>
          <a:p>
            <a:endParaRPr lang="el-GR" sz="11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AE1B62-5EB7-E450-8608-D73D97175A3A}"/>
              </a:ext>
            </a:extLst>
          </p:cNvPr>
          <p:cNvSpPr txBox="1"/>
          <p:nvPr/>
        </p:nvSpPr>
        <p:spPr>
          <a:xfrm>
            <a:off x="140669" y="1643176"/>
            <a:ext cx="11910662" cy="1569660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el-GR" sz="2400" dirty="0"/>
              <a:t>Ο </a:t>
            </a:r>
            <a:r>
              <a:rPr lang="en-US" sz="2400" b="1" dirty="0"/>
              <a:t>float</a:t>
            </a:r>
            <a:r>
              <a:rPr lang="en-US" sz="2400" dirty="0"/>
              <a:t> </a:t>
            </a:r>
            <a:r>
              <a:rPr lang="el-GR" sz="2400" dirty="0"/>
              <a:t> είναι ικανός για αποθήκευση 6-7 δεκαδικών ψηφίων. Για μεγαλύτερη ακρίβεια (αποθήκευση έως 15 δεκαδικών ψηφίων) χρησιμοποιείται ο τύπος </a:t>
            </a:r>
            <a:r>
              <a:rPr lang="en-US" sz="2400" b="1" dirty="0"/>
              <a:t>double</a:t>
            </a:r>
            <a:r>
              <a:rPr lang="el-GR" sz="2400" dirty="0"/>
              <a:t>. </a:t>
            </a:r>
            <a:endParaRPr lang="en-GB" sz="2400" dirty="0"/>
          </a:p>
          <a:p>
            <a:r>
              <a:rPr lang="el-GR" sz="2400" dirty="0">
                <a:hlinkClick r:id="rId3"/>
              </a:rPr>
              <a:t>https://www.w3schools.com/c/ref_keyword_float.php</a:t>
            </a:r>
            <a:endParaRPr lang="en-US" sz="2400" dirty="0"/>
          </a:p>
          <a:p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8D4D31-2CF4-C50F-C857-79F0662B966F}"/>
              </a:ext>
            </a:extLst>
          </p:cNvPr>
          <p:cNvSpPr txBox="1"/>
          <p:nvPr/>
        </p:nvSpPr>
        <p:spPr>
          <a:xfrm>
            <a:off x="538875" y="822943"/>
            <a:ext cx="40263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Courier New" panose="02070309020205020404" pitchFamily="49" charset="0"/>
                <a:cs typeface="Courier New" panose="02070309020205020404" pitchFamily="49" charset="0"/>
              </a:rPr>
              <a:t>float avg;</a:t>
            </a:r>
            <a:endParaRPr lang="en-GB" sz="4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8A5903D-AA8B-5DFD-659C-7CEC0ED3FD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8988915"/>
              </p:ext>
            </p:extLst>
          </p:nvPr>
        </p:nvGraphicFramePr>
        <p:xfrm>
          <a:off x="140669" y="3347055"/>
          <a:ext cx="11910662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2794">
                  <a:extLst>
                    <a:ext uri="{9D8B030D-6E8A-4147-A177-3AD203B41FA5}">
                      <a16:colId xmlns:a16="http://schemas.microsoft.com/office/drawing/2014/main" val="2131809435"/>
                    </a:ext>
                  </a:extLst>
                </a:gridCol>
                <a:gridCol w="9707868">
                  <a:extLst>
                    <a:ext uri="{9D8B030D-6E8A-4147-A177-3AD203B41FA5}">
                      <a16:colId xmlns:a16="http://schemas.microsoft.com/office/drawing/2014/main" val="674362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0" lang="en-GB" altLang="el-GR" sz="3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float</a:t>
                      </a:r>
                      <a:r>
                        <a:rPr kumimoji="0" lang="en-GB" altLang="el-GR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	</a:t>
                      </a:r>
                      <a:endParaRPr lang="en-GB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5000"/>
                        </a:spcBef>
                        <a:spcAft>
                          <a:spcPct val="0"/>
                        </a:spcAft>
                        <a:buClr>
                          <a:srgbClr val="3333CC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GB" altLang="el-GR" sz="3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32</a:t>
                      </a:r>
                      <a:r>
                        <a:rPr kumimoji="0" lang="en-GB" altLang="el-GR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 bits (</a:t>
                      </a:r>
                      <a:r>
                        <a:rPr kumimoji="0" lang="en-GB" altLang="el-GR" sz="3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8</a:t>
                      </a:r>
                      <a:r>
                        <a:rPr kumimoji="0" lang="en-GB" altLang="el-GR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GB" altLang="el-GR" sz="3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γι</a:t>
                      </a:r>
                      <a:r>
                        <a:rPr kumimoji="0" lang="en-GB" altLang="el-GR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α εκθέτη και πρόσημο, </a:t>
                      </a:r>
                      <a:r>
                        <a:rPr kumimoji="0" lang="en-GB" altLang="el-GR" sz="3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24</a:t>
                      </a:r>
                      <a:r>
                        <a:rPr kumimoji="0" lang="en-GB" altLang="el-GR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 για βάση)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76540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0" lang="en-US" altLang="el-GR" sz="3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d</a:t>
                      </a:r>
                      <a:r>
                        <a:rPr kumimoji="0" lang="en-GB" altLang="el-GR" sz="32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ouble</a:t>
                      </a:r>
                      <a:r>
                        <a:rPr kumimoji="0" lang="el-GR" altLang="el-GR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 </a:t>
                      </a:r>
                      <a:endParaRPr lang="en-GB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GB" altLang="el-GR" sz="3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συνήθως</a:t>
                      </a:r>
                      <a:r>
                        <a:rPr kumimoji="0" lang="en-GB" altLang="el-GR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 64 bits </a:t>
                      </a:r>
                      <a:r>
                        <a:rPr kumimoji="0" lang="en-GB" altLang="el-GR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el-GR" altLang="el-GR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μερικά συστήματα χρησιμοποιούν τα επιπλέον 32 </a:t>
                      </a:r>
                      <a:r>
                        <a:rPr kumimoji="0" lang="el-GR" altLang="el-GR" sz="3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bits</a:t>
                      </a:r>
                      <a:r>
                        <a:rPr kumimoji="0" lang="el-GR" altLang="el-GR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 για βάση αυξάνοντας την ακρίβεια</a:t>
                      </a:r>
                      <a:r>
                        <a:rPr kumimoji="0" lang="en-US" altLang="el-GR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)</a:t>
                      </a:r>
                      <a:endParaRPr lang="en-GB" sz="3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2008671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891AC41A-F9C4-ABB4-6060-E903FBA30D49}"/>
              </a:ext>
            </a:extLst>
          </p:cNvPr>
          <p:cNvSpPr txBox="1"/>
          <p:nvPr/>
        </p:nvSpPr>
        <p:spPr>
          <a:xfrm>
            <a:off x="538875" y="5127194"/>
            <a:ext cx="90918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avg</a:t>
            </a:r>
            <a:r>
              <a:rPr lang="en-GB" sz="4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(float)sum/</a:t>
            </a:r>
            <a:r>
              <a:rPr lang="en-GB" sz="4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nunOfTerms</a:t>
            </a:r>
            <a:r>
              <a:rPr lang="en-GB" sz="40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</p:txBody>
      </p:sp>
      <p:sp>
        <p:nvSpPr>
          <p:cNvPr id="13" name="Callout: Bent Line 12">
            <a:extLst>
              <a:ext uri="{FF2B5EF4-FFF2-40B4-BE49-F238E27FC236}">
                <a16:creationId xmlns:a16="http://schemas.microsoft.com/office/drawing/2014/main" id="{E944C046-FEDA-C0FB-E4E9-FCBE09388838}"/>
              </a:ext>
            </a:extLst>
          </p:cNvPr>
          <p:cNvSpPr/>
          <p:nvPr/>
        </p:nvSpPr>
        <p:spPr>
          <a:xfrm>
            <a:off x="3219889" y="5833750"/>
            <a:ext cx="8696808" cy="707886"/>
          </a:xfrm>
          <a:prstGeom prst="borderCallout2">
            <a:avLst>
              <a:gd name="adj1" fmla="val 51671"/>
              <a:gd name="adj2" fmla="val -604"/>
              <a:gd name="adj3" fmla="val 51291"/>
              <a:gd name="adj4" fmla="val -11392"/>
              <a:gd name="adj5" fmla="val -18885"/>
              <a:gd name="adj6" fmla="val -1891"/>
            </a:avLst>
          </a:prstGeom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2400" b="1" dirty="0"/>
              <a:t>Μετατρέπει τον ακέραιο </a:t>
            </a:r>
            <a:r>
              <a:rPr lang="en-US" sz="2400" b="1" dirty="0"/>
              <a:t>sum </a:t>
            </a:r>
            <a:r>
              <a:rPr lang="el-GR" sz="2400" b="1" dirty="0"/>
              <a:t>σε </a:t>
            </a:r>
            <a:r>
              <a:rPr lang="en-US" sz="2400" b="1" dirty="0"/>
              <a:t>float </a:t>
            </a:r>
            <a:r>
              <a:rPr lang="el-GR" sz="2400" b="1" dirty="0"/>
              <a:t>με αποτέλεσμα ο τελεστής / να δώσει αποτέλεσμα </a:t>
            </a:r>
            <a:r>
              <a:rPr lang="en-US" sz="2400" b="1" dirty="0"/>
              <a:t>float</a:t>
            </a:r>
            <a:endParaRPr lang="el-GR" sz="2400" b="1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D7F9D10-BC55-BD99-E124-019B62C68F7B}"/>
              </a:ext>
            </a:extLst>
          </p:cNvPr>
          <p:cNvCxnSpPr>
            <a:cxnSpLocks/>
          </p:cNvCxnSpPr>
          <p:nvPr/>
        </p:nvCxnSpPr>
        <p:spPr>
          <a:xfrm flipV="1">
            <a:off x="2552030" y="5694442"/>
            <a:ext cx="2003882" cy="10177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9499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3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73C54D-A712-2653-3704-F29B42995A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7D2CCC12-4AE1-E432-8F6A-D29530077A9B}"/>
              </a:ext>
            </a:extLst>
          </p:cNvPr>
          <p:cNvSpPr/>
          <p:nvPr/>
        </p:nvSpPr>
        <p:spPr>
          <a:xfrm>
            <a:off x="140669" y="6559908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DEFB7FA1-5061-666D-7EDB-AE36DDE2ED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83457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dirty="0">
                <a:solidFill>
                  <a:srgbClr val="F9853D"/>
                </a:solidFill>
                <a:latin typeface="Bahnschrift" panose="020B0502040204020203" pitchFamily="34" charset="0"/>
              </a:rPr>
              <a:t>Έλεγχος τύπων</a:t>
            </a:r>
            <a:r>
              <a:rPr lang="en-US" sz="4000" dirty="0">
                <a:solidFill>
                  <a:srgbClr val="F9853D"/>
                </a:solidFill>
                <a:latin typeface="Bahnschrift" panose="020B0502040204020203" pitchFamily="34" charset="0"/>
              </a:rPr>
              <a:t> (type checking)</a:t>
            </a:r>
            <a:endParaRPr lang="el-GR" sz="4000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8C855A02-9D11-7AF1-355F-51C4EAC4003B}"/>
              </a:ext>
            </a:extLst>
          </p:cNvPr>
          <p:cNvSpPr txBox="1">
            <a:spLocks/>
          </p:cNvSpPr>
          <p:nvPr/>
        </p:nvSpPr>
        <p:spPr>
          <a:xfrm>
            <a:off x="-1" y="6599394"/>
            <a:ext cx="3840633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© 202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5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Μια Εισαγωγή στην Τέχνη του Προγραμματισμού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246FF08-97F2-7625-952D-68C27A00CDC1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200" dirty="0">
                <a:latin typeface="Bahnschrift Light" panose="020B0502040204020203" pitchFamily="34" charset="0"/>
                <a:cs typeface="Arial" pitchFamily="34" charset="0"/>
              </a:rPr>
              <a:t>Διαφάνεια </a:t>
            </a:r>
            <a:fld id="{7C15C5B5-03C6-48D8-B20F-65D93A6CF09E}" type="slidenum">
              <a:rPr lang="en-US" sz="1200" smtClean="0">
                <a:latin typeface="Bahnschrift Light" panose="020B0502040204020203" pitchFamily="34" charset="0"/>
                <a:cs typeface="Arial" pitchFamily="34" charset="0"/>
              </a:rPr>
              <a:pPr algn="r"/>
              <a:t>48</a:t>
            </a:fld>
            <a:endParaRPr lang="en-US" sz="1200" dirty="0">
              <a:latin typeface="Bahnschrift Light" panose="020B0502040204020203" pitchFamily="34" charset="0"/>
              <a:cs typeface="Arial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6841551-D5D5-D4E5-E2A2-33F4F23319EE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0"/>
            <a:ext cx="9144000" cy="908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0033CC"/>
              </a:solidFill>
              <a:latin typeface="Times New Roman" pitchFamily="18" charset="0"/>
            </a:endParaRPr>
          </a:p>
        </p:txBody>
      </p:sp>
      <p:sp>
        <p:nvSpPr>
          <p:cNvPr id="12" name="Θέση υποσέλιδου 4">
            <a:extLst>
              <a:ext uri="{FF2B5EF4-FFF2-40B4-BE49-F238E27FC236}">
                <a16:creationId xmlns:a16="http://schemas.microsoft.com/office/drawing/2014/main" id="{FE7479C1-58DC-57C4-B224-FFB03B33DDD6}"/>
              </a:ext>
            </a:extLst>
          </p:cNvPr>
          <p:cNvSpPr txBox="1">
            <a:spLocks/>
          </p:cNvSpPr>
          <p:nvPr/>
        </p:nvSpPr>
        <p:spPr>
          <a:xfrm>
            <a:off x="4149680" y="6670790"/>
            <a:ext cx="4631713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Control flow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 – 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Arrays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 - 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Type conversions</a:t>
            </a:r>
          </a:p>
          <a:p>
            <a:endParaRPr lang="el-GR" sz="11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F2E539-7A08-20CC-A9DE-30E54F8D7C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669" y="4149166"/>
            <a:ext cx="11746531" cy="189460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512B647-F4C0-1202-8F5F-914CBBBD67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669" y="908050"/>
            <a:ext cx="5708482" cy="311652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2DC8E73-B51D-4942-20A2-9558BEB6B0CC}"/>
              </a:ext>
            </a:extLst>
          </p:cNvPr>
          <p:cNvSpPr txBox="1"/>
          <p:nvPr/>
        </p:nvSpPr>
        <p:spPr>
          <a:xfrm>
            <a:off x="6075681" y="791855"/>
            <a:ext cx="5975650" cy="2308324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O</a:t>
            </a:r>
            <a:r>
              <a:rPr lang="el-GR" sz="2400" dirty="0"/>
              <a:t> μεταγλωττιστής χρησιμοποιεί</a:t>
            </a:r>
            <a:r>
              <a:rPr lang="en-US" sz="2400" dirty="0"/>
              <a:t> </a:t>
            </a:r>
            <a:r>
              <a:rPr lang="el-GR" sz="2400" dirty="0"/>
              <a:t>τη δήλωση της </a:t>
            </a:r>
            <a:r>
              <a:rPr lang="en-US" sz="2400" dirty="0" err="1"/>
              <a:t>printInt</a:t>
            </a:r>
            <a:r>
              <a:rPr lang="el-GR" sz="2400" dirty="0"/>
              <a:t> για να ελέγξει αν εσείς καλείται σωστά τη συνάρτηση, ώστε να σας προστατέψει από λανθασμένη κλήση της.  </a:t>
            </a:r>
            <a:endParaRPr lang="en-US" sz="2400" dirty="0"/>
          </a:p>
          <a:p>
            <a:r>
              <a:rPr lang="el-GR" sz="2400" dirty="0"/>
              <a:t>Αυτή η διαδικασία είναι γνωστή με το όνομα </a:t>
            </a:r>
            <a:r>
              <a:rPr lang="el-GR" sz="2400" b="1" dirty="0"/>
              <a:t>έλεγχος τύπων</a:t>
            </a:r>
            <a:r>
              <a:rPr lang="el-GR" sz="2400" dirty="0"/>
              <a:t> (</a:t>
            </a:r>
            <a:r>
              <a:rPr lang="en-US" sz="2400" b="1" dirty="0"/>
              <a:t>type checking</a:t>
            </a:r>
            <a:r>
              <a:rPr lang="el-GR" sz="2400" dirty="0"/>
              <a:t>). </a:t>
            </a:r>
            <a:endParaRPr lang="en-GB" sz="2400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3D8D207-A589-44BF-2244-410C17432B92}"/>
              </a:ext>
            </a:extLst>
          </p:cNvPr>
          <p:cNvCxnSpPr/>
          <p:nvPr/>
        </p:nvCxnSpPr>
        <p:spPr>
          <a:xfrm>
            <a:off x="1524000" y="3539613"/>
            <a:ext cx="3785419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Speech Bubble: Rectangle with Corners Rounded 16">
            <a:extLst>
              <a:ext uri="{FF2B5EF4-FFF2-40B4-BE49-F238E27FC236}">
                <a16:creationId xmlns:a16="http://schemas.microsoft.com/office/drawing/2014/main" id="{1EDAFEA2-8337-15CE-AA7C-4E2677CD93A4}"/>
              </a:ext>
            </a:extLst>
          </p:cNvPr>
          <p:cNvSpPr/>
          <p:nvPr/>
        </p:nvSpPr>
        <p:spPr>
          <a:xfrm>
            <a:off x="6236669" y="3189693"/>
            <a:ext cx="5633357" cy="719331"/>
          </a:xfrm>
          <a:prstGeom prst="wedgeRoundRectCallout">
            <a:avLst>
              <a:gd name="adj1" fmla="val -47179"/>
              <a:gd name="adj2" fmla="val 76166"/>
              <a:gd name="adj3" fmla="val 16667"/>
            </a:avLst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2400" b="1" dirty="0">
                <a:solidFill>
                  <a:schemeClr val="tx1"/>
                </a:solidFill>
                <a:highlight>
                  <a:srgbClr val="FFFF00"/>
                </a:highlight>
              </a:rPr>
              <a:t>Δοκιμάστε την πρόταση</a:t>
            </a:r>
          </a:p>
          <a:p>
            <a:pPr algn="ctr"/>
            <a:r>
              <a:rPr lang="en-US" sz="2400" dirty="0" err="1">
                <a:solidFill>
                  <a:schemeClr val="tx1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printIn</a:t>
            </a:r>
            <a:r>
              <a:rPr lang="en-US" sz="2400" dirty="0">
                <a:solidFill>
                  <a:schemeClr val="tx1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(avg)</a:t>
            </a:r>
            <a:endParaRPr lang="en-GB" sz="2400" dirty="0">
              <a:solidFill>
                <a:schemeClr val="tx1"/>
              </a:solidFill>
              <a:highlight>
                <a:srgbClr val="FFFF00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9416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7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87165C-F4B4-1966-DE12-E4912B1BDE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2C09F581-4190-A572-A821-201D83065330}"/>
              </a:ext>
            </a:extLst>
          </p:cNvPr>
          <p:cNvSpPr/>
          <p:nvPr/>
        </p:nvSpPr>
        <p:spPr>
          <a:xfrm>
            <a:off x="140669" y="6559908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4DC844FE-ABF1-601E-30EA-754CA6200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83457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9853D"/>
                </a:solidFill>
                <a:latin typeface="Bahnschrift" panose="020B0502040204020203" pitchFamily="34" charset="0"/>
              </a:rPr>
              <a:t>Y</a:t>
            </a:r>
            <a:r>
              <a:rPr lang="el-GR" sz="4000" dirty="0" err="1">
                <a:solidFill>
                  <a:srgbClr val="F9853D"/>
                </a:solidFill>
                <a:latin typeface="Bahnschrift" panose="020B0502040204020203" pitchFamily="34" charset="0"/>
              </a:rPr>
              <a:t>πονοούμενη</a:t>
            </a:r>
            <a:r>
              <a:rPr lang="el-GR" sz="4000" dirty="0">
                <a:solidFill>
                  <a:srgbClr val="F9853D"/>
                </a:solidFill>
                <a:latin typeface="Bahnschrift" panose="020B0502040204020203" pitchFamily="34" charset="0"/>
              </a:rPr>
              <a:t> μετατροπή (</a:t>
            </a:r>
            <a:r>
              <a:rPr lang="en-GB" sz="4000" dirty="0">
                <a:solidFill>
                  <a:srgbClr val="F9853D"/>
                </a:solidFill>
                <a:latin typeface="Bahnschrift" panose="020B0502040204020203" pitchFamily="34" charset="0"/>
              </a:rPr>
              <a:t>implicit conversion) </a:t>
            </a:r>
            <a:endParaRPr lang="el-GR" sz="4000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364101C8-F335-1401-7E52-86E90C760582}"/>
              </a:ext>
            </a:extLst>
          </p:cNvPr>
          <p:cNvSpPr txBox="1">
            <a:spLocks/>
          </p:cNvSpPr>
          <p:nvPr/>
        </p:nvSpPr>
        <p:spPr>
          <a:xfrm>
            <a:off x="-1" y="6599394"/>
            <a:ext cx="3840633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© 202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5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Μια Εισαγωγή στην Τέχνη του Προγραμματισμού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4A1857E-1989-8F76-E24B-33BC484EAB1C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200" dirty="0">
                <a:latin typeface="Bahnschrift Light" panose="020B0502040204020203" pitchFamily="34" charset="0"/>
                <a:cs typeface="Arial" pitchFamily="34" charset="0"/>
              </a:rPr>
              <a:t>Διαφάνεια </a:t>
            </a:r>
            <a:fld id="{7C15C5B5-03C6-48D8-B20F-65D93A6CF09E}" type="slidenum">
              <a:rPr lang="en-US" sz="1200" smtClean="0">
                <a:latin typeface="Bahnschrift Light" panose="020B0502040204020203" pitchFamily="34" charset="0"/>
                <a:cs typeface="Arial" pitchFamily="34" charset="0"/>
              </a:rPr>
              <a:pPr algn="r"/>
              <a:t>49</a:t>
            </a:fld>
            <a:endParaRPr lang="en-US" sz="1200" dirty="0">
              <a:latin typeface="Bahnschrift Light" panose="020B0502040204020203" pitchFamily="34" charset="0"/>
              <a:cs typeface="Arial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BF0BB27-DF58-0B1D-945D-9B8F001CD6A7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0"/>
            <a:ext cx="9144000" cy="908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0033CC"/>
              </a:solidFill>
              <a:latin typeface="Times New Roman" pitchFamily="18" charset="0"/>
            </a:endParaRPr>
          </a:p>
        </p:txBody>
      </p:sp>
      <p:sp>
        <p:nvSpPr>
          <p:cNvPr id="12" name="Θέση υποσέλιδου 4">
            <a:extLst>
              <a:ext uri="{FF2B5EF4-FFF2-40B4-BE49-F238E27FC236}">
                <a16:creationId xmlns:a16="http://schemas.microsoft.com/office/drawing/2014/main" id="{CDA7D41F-A1DD-12BD-9208-D5607F373004}"/>
              </a:ext>
            </a:extLst>
          </p:cNvPr>
          <p:cNvSpPr txBox="1">
            <a:spLocks/>
          </p:cNvSpPr>
          <p:nvPr/>
        </p:nvSpPr>
        <p:spPr>
          <a:xfrm>
            <a:off x="4149680" y="6670790"/>
            <a:ext cx="4631713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Control flow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 – 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Arrays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 - 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Type conversions</a:t>
            </a:r>
          </a:p>
          <a:p>
            <a:endParaRPr lang="el-GR" sz="11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2593F7-CF39-43E0-9A34-78087CA3DC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669" y="1018931"/>
            <a:ext cx="8347912" cy="387753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6D7A344-2B20-4DF0-C31B-012EE50C07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1233" y="938407"/>
            <a:ext cx="5128173" cy="2753018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D2275EC-B19D-69D7-6765-7B51C9D0A16B}"/>
              </a:ext>
            </a:extLst>
          </p:cNvPr>
          <p:cNvCxnSpPr>
            <a:cxnSpLocks/>
          </p:cNvCxnSpPr>
          <p:nvPr/>
        </p:nvCxnSpPr>
        <p:spPr>
          <a:xfrm flipV="1">
            <a:off x="4527755" y="1666568"/>
            <a:ext cx="2330245" cy="1929304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allout: Bent Line 19">
            <a:extLst>
              <a:ext uri="{FF2B5EF4-FFF2-40B4-BE49-F238E27FC236}">
                <a16:creationId xmlns:a16="http://schemas.microsoft.com/office/drawing/2014/main" id="{FFA0DC1A-FB93-226A-3462-F01952DC4E60}"/>
              </a:ext>
            </a:extLst>
          </p:cNvPr>
          <p:cNvSpPr/>
          <p:nvPr/>
        </p:nvSpPr>
        <p:spPr>
          <a:xfrm>
            <a:off x="3242598" y="5354500"/>
            <a:ext cx="8696808" cy="1094526"/>
          </a:xfrm>
          <a:prstGeom prst="borderCallout2">
            <a:avLst>
              <a:gd name="adj1" fmla="val -1762"/>
              <a:gd name="adj2" fmla="val 50271"/>
              <a:gd name="adj3" fmla="val -126575"/>
              <a:gd name="adj4" fmla="val 66786"/>
              <a:gd name="adj5" fmla="val -150937"/>
              <a:gd name="adj6" fmla="val 14050"/>
            </a:avLst>
          </a:prstGeom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2400" b="1" dirty="0"/>
              <a:t>O μεταγλωττιστής εκτελεί αυτόματα και σιωπηρά μια  μετατροπή τύπου από </a:t>
            </a:r>
            <a:r>
              <a:rPr lang="el-GR" sz="2400" b="1" dirty="0" err="1"/>
              <a:t>float</a:t>
            </a:r>
            <a:r>
              <a:rPr lang="el-GR" sz="2400" b="1" dirty="0"/>
              <a:t> σε τύπο </a:t>
            </a:r>
            <a:r>
              <a:rPr lang="el-GR" sz="2400" b="1" dirty="0" err="1"/>
              <a:t>int</a:t>
            </a:r>
            <a:r>
              <a:rPr lang="el-GR" sz="2400" b="1" dirty="0"/>
              <a:t> και αυτό έχει ως αποτέλεσμα να χαθούν τα δεκαδικά ψηφία. </a:t>
            </a:r>
          </a:p>
        </p:txBody>
      </p:sp>
    </p:spTree>
    <p:extLst>
      <p:ext uri="{BB962C8B-B14F-4D97-AF65-F5344CB8AC3E}">
        <p14:creationId xmlns:p14="http://schemas.microsoft.com/office/powerpoint/2010/main" val="10898364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9A9995-9926-A0E0-A62A-D2F8AEAB2C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ACEAA17F-1989-C926-A602-A191E8226F9E}"/>
              </a:ext>
            </a:extLst>
          </p:cNvPr>
          <p:cNvSpPr/>
          <p:nvPr/>
        </p:nvSpPr>
        <p:spPr>
          <a:xfrm>
            <a:off x="140669" y="6559908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FD839CD-10D9-1D63-AE4F-E21C9D18BD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83457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dirty="0">
                <a:solidFill>
                  <a:srgbClr val="F9853D"/>
                </a:solidFill>
                <a:latin typeface="Bahnschrift" panose="020B0502040204020203" pitchFamily="34" charset="0"/>
              </a:rPr>
              <a:t>H συνάρτηση </a:t>
            </a:r>
            <a:r>
              <a:rPr lang="el-GR" sz="4000" b="1" dirty="0" err="1">
                <a:solidFill>
                  <a:srgbClr val="F9853D"/>
                </a:solidFill>
                <a:latin typeface="Bahnschrift" panose="020B0502040204020203" pitchFamily="34" charset="0"/>
              </a:rPr>
              <a:t>printf</a:t>
            </a:r>
            <a:r>
              <a:rPr lang="el-GR" sz="4000" dirty="0">
                <a:solidFill>
                  <a:srgbClr val="F9853D"/>
                </a:solidFill>
                <a:latin typeface="Bahnschrift" panose="020B0502040204020203" pitchFamily="34" charset="0"/>
              </a:rPr>
              <a:t> της τυπικής βιβλιοθήκης</a:t>
            </a: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25A68B5D-FFDA-AB61-B61B-B18999005C38}"/>
              </a:ext>
            </a:extLst>
          </p:cNvPr>
          <p:cNvSpPr txBox="1">
            <a:spLocks/>
          </p:cNvSpPr>
          <p:nvPr/>
        </p:nvSpPr>
        <p:spPr>
          <a:xfrm>
            <a:off x="-1" y="6599394"/>
            <a:ext cx="3840633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© 202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5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Μια Εισαγωγή στην Τέχνη του Προγραμματισμού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014EA67-AAAF-C74A-900A-730C7BCA21FB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200" dirty="0">
                <a:latin typeface="Bahnschrift Light" panose="020B0502040204020203" pitchFamily="34" charset="0"/>
                <a:cs typeface="Arial" pitchFamily="34" charset="0"/>
              </a:rPr>
              <a:t>Διαφάνεια </a:t>
            </a:r>
            <a:fld id="{7C15C5B5-03C6-48D8-B20F-65D93A6CF09E}" type="slidenum">
              <a:rPr lang="en-US" sz="1200" smtClean="0">
                <a:latin typeface="Bahnschrift Light" panose="020B0502040204020203" pitchFamily="34" charset="0"/>
                <a:cs typeface="Arial" pitchFamily="34" charset="0"/>
              </a:rPr>
              <a:pPr algn="r"/>
              <a:t>50</a:t>
            </a:fld>
            <a:endParaRPr lang="en-US" sz="1200" dirty="0">
              <a:latin typeface="Bahnschrift Light" panose="020B0502040204020203" pitchFamily="34" charset="0"/>
              <a:cs typeface="Arial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0E749E7-581B-A745-A4F3-50E407AA34CD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0"/>
            <a:ext cx="9144000" cy="908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0033CC"/>
              </a:solidFill>
              <a:latin typeface="Times New Roman" pitchFamily="18" charset="0"/>
            </a:endParaRPr>
          </a:p>
        </p:txBody>
      </p:sp>
      <p:sp>
        <p:nvSpPr>
          <p:cNvPr id="12" name="Θέση υποσέλιδου 4">
            <a:extLst>
              <a:ext uri="{FF2B5EF4-FFF2-40B4-BE49-F238E27FC236}">
                <a16:creationId xmlns:a16="http://schemas.microsoft.com/office/drawing/2014/main" id="{24ECA06F-1D4F-23F4-694B-AFA6A5EAC64B}"/>
              </a:ext>
            </a:extLst>
          </p:cNvPr>
          <p:cNvSpPr txBox="1">
            <a:spLocks/>
          </p:cNvSpPr>
          <p:nvPr/>
        </p:nvSpPr>
        <p:spPr>
          <a:xfrm>
            <a:off x="4149680" y="6670790"/>
            <a:ext cx="4631713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Control flow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 – 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Arrays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 - 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Type conversions</a:t>
            </a:r>
          </a:p>
          <a:p>
            <a:endParaRPr lang="el-GR" sz="11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2D24EC4-1088-6C1B-C1ED-EB1F99810A1C}"/>
              </a:ext>
            </a:extLst>
          </p:cNvPr>
          <p:cNvSpPr txBox="1"/>
          <p:nvPr/>
        </p:nvSpPr>
        <p:spPr>
          <a:xfrm>
            <a:off x="6371302" y="947536"/>
            <a:ext cx="5750361" cy="4154984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el-GR" sz="2400" dirty="0"/>
              <a:t>Η </a:t>
            </a:r>
            <a:r>
              <a:rPr lang="el-GR" sz="2400" b="1" dirty="0" err="1"/>
              <a:t>printf</a:t>
            </a:r>
            <a:r>
              <a:rPr lang="el-GR" sz="2400" dirty="0"/>
              <a:t> είναι χαρακτηριστική περίπτωση συνάρτησης, που δέχεται μεταβλητό αριθμό ορισμάτων εκ των οποίων μόνο το πρώτο έχει δεδομένο τύπο. </a:t>
            </a:r>
          </a:p>
          <a:p>
            <a:r>
              <a:rPr lang="el-GR" sz="2400" dirty="0"/>
              <a:t>Είναι μια συμβολοσειρά  και περιλαμβάνει  κείμενο προς εκτύπωση και ένα αριθμό από εμφανίσεις του συμβόλου % (ένα για κάθε ένα όρισμα από το 2ο και μετά) το οποίο ακολουθείται από ένα σύμβολο (</a:t>
            </a:r>
            <a:r>
              <a:rPr lang="en-US" sz="2400" dirty="0"/>
              <a:t>format specifier</a:t>
            </a:r>
            <a:r>
              <a:rPr lang="el-GR" sz="2400" dirty="0"/>
              <a:t>) που ορίζει τον τρόπο με τον οποίο θα εμφανισθεί το αντίστοιχο όρισμα. </a:t>
            </a:r>
            <a:endParaRPr lang="en-GB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187C93-020D-8188-094A-E886FA9F63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34" y="885927"/>
            <a:ext cx="5975472" cy="502453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63B9264-9FFF-24A3-1B52-79102F1A3FC5}"/>
              </a:ext>
            </a:extLst>
          </p:cNvPr>
          <p:cNvSpPr txBox="1"/>
          <p:nvPr/>
        </p:nvSpPr>
        <p:spPr>
          <a:xfrm>
            <a:off x="0" y="5931763"/>
            <a:ext cx="761445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dirty="0"/>
              <a:t>Πηγή: </a:t>
            </a:r>
            <a:r>
              <a:rPr lang="en-GB" dirty="0">
                <a:hlinkClick r:id="rId4"/>
              </a:rPr>
              <a:t>https://www.tutorialspoint.com/cprogramming/c_format_specifiers.htm</a:t>
            </a:r>
            <a:endParaRPr lang="el-GR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259016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D57EF8-4ED3-4280-EBDA-277D4FFDA7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89E01F91-DA04-AA6A-0B8C-F890CD46CC5D}"/>
              </a:ext>
            </a:extLst>
          </p:cNvPr>
          <p:cNvSpPr/>
          <p:nvPr/>
        </p:nvSpPr>
        <p:spPr>
          <a:xfrm>
            <a:off x="140669" y="6559908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9DC577B-D7E5-1D2B-FB8D-40D841D66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Hands-on</a:t>
            </a:r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  (</a:t>
            </a:r>
            <a:r>
              <a:rPr lang="en-US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AverageV1 </a:t>
            </a:r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και </a:t>
            </a:r>
            <a:r>
              <a:rPr lang="en-US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AverageV2)</a:t>
            </a: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55935597-275C-4C50-7677-BE2A5C62CC28}"/>
              </a:ext>
            </a:extLst>
          </p:cNvPr>
          <p:cNvSpPr txBox="1">
            <a:spLocks/>
          </p:cNvSpPr>
          <p:nvPr/>
        </p:nvSpPr>
        <p:spPr>
          <a:xfrm>
            <a:off x="-1" y="6599394"/>
            <a:ext cx="3840633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© 202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5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Μια Εισαγωγή στην Τέχνη του Προγραμματισμού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3977BBF-AE91-368B-FCF5-893526B51336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200" dirty="0">
                <a:latin typeface="Bahnschrift Light" panose="020B0502040204020203" pitchFamily="34" charset="0"/>
                <a:cs typeface="Arial" pitchFamily="34" charset="0"/>
              </a:rPr>
              <a:t>Διαφάνεια </a:t>
            </a:r>
            <a:fld id="{7C15C5B5-03C6-48D8-B20F-65D93A6CF09E}" type="slidenum">
              <a:rPr lang="en-US" sz="1200" smtClean="0">
                <a:latin typeface="Bahnschrift Light" panose="020B0502040204020203" pitchFamily="34" charset="0"/>
                <a:cs typeface="Arial" pitchFamily="34" charset="0"/>
              </a:rPr>
              <a:pPr algn="r"/>
              <a:t>51</a:t>
            </a:fld>
            <a:endParaRPr lang="en-US" sz="1200" dirty="0">
              <a:latin typeface="Bahnschrift Light" panose="020B0502040204020203" pitchFamily="34" charset="0"/>
              <a:cs typeface="Arial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AC2EA3A-A1DA-E886-BEBF-5A0E27B0D823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0"/>
            <a:ext cx="9144000" cy="908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0033CC"/>
              </a:solidFill>
              <a:latin typeface="Times New Roman" pitchFamily="18" charset="0"/>
            </a:endParaRPr>
          </a:p>
        </p:txBody>
      </p:sp>
      <p:sp>
        <p:nvSpPr>
          <p:cNvPr id="14" name="Θέση υποσέλιδου 4">
            <a:extLst>
              <a:ext uri="{FF2B5EF4-FFF2-40B4-BE49-F238E27FC236}">
                <a16:creationId xmlns:a16="http://schemas.microsoft.com/office/drawing/2014/main" id="{FE92E438-19EC-FEBC-C81B-A0CA071740E9}"/>
              </a:ext>
            </a:extLst>
          </p:cNvPr>
          <p:cNvSpPr txBox="1">
            <a:spLocks/>
          </p:cNvSpPr>
          <p:nvPr/>
        </p:nvSpPr>
        <p:spPr>
          <a:xfrm>
            <a:off x="4149680" y="6689184"/>
            <a:ext cx="3462169" cy="2586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Πηγαίος Κώδικας – Βασικές Έννοιες</a:t>
            </a:r>
          </a:p>
          <a:p>
            <a:endParaRPr lang="el-GR" sz="11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7" name="Speech Bubble: Rectangle with Corners Rounded 6">
            <a:extLst>
              <a:ext uri="{FF2B5EF4-FFF2-40B4-BE49-F238E27FC236}">
                <a16:creationId xmlns:a16="http://schemas.microsoft.com/office/drawing/2014/main" id="{6575573B-8014-4F81-47FC-EF0EF48D5C3D}"/>
              </a:ext>
            </a:extLst>
          </p:cNvPr>
          <p:cNvSpPr/>
          <p:nvPr/>
        </p:nvSpPr>
        <p:spPr>
          <a:xfrm>
            <a:off x="6095998" y="896598"/>
            <a:ext cx="5633357" cy="1824522"/>
          </a:xfrm>
          <a:prstGeom prst="wedgeRoundRectCallout">
            <a:avLst>
              <a:gd name="adj1" fmla="val -59222"/>
              <a:gd name="adj2" fmla="val 98719"/>
              <a:gd name="adj3" fmla="val 16667"/>
            </a:avLst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2400" b="1" dirty="0">
                <a:solidFill>
                  <a:schemeClr val="tx1"/>
                </a:solidFill>
                <a:highlight>
                  <a:srgbClr val="FFFF00"/>
                </a:highlight>
              </a:rPr>
              <a:t>Αναπτύξτε την 1</a:t>
            </a:r>
            <a:r>
              <a:rPr lang="el-GR" sz="2400" b="1" baseline="30000" dirty="0">
                <a:solidFill>
                  <a:schemeClr val="tx1"/>
                </a:solidFill>
                <a:highlight>
                  <a:srgbClr val="FFFF00"/>
                </a:highlight>
              </a:rPr>
              <a:t>η</a:t>
            </a:r>
            <a:r>
              <a:rPr lang="el-GR" sz="2400" b="1" dirty="0">
                <a:solidFill>
                  <a:schemeClr val="tx1"/>
                </a:solidFill>
                <a:highlight>
                  <a:srgbClr val="FFFF00"/>
                </a:highlight>
              </a:rPr>
              <a:t> έκδοση του  προγράμματος </a:t>
            </a:r>
            <a:r>
              <a:rPr lang="en-US" sz="2400" b="1" dirty="0">
                <a:solidFill>
                  <a:schemeClr val="tx1"/>
                </a:solidFill>
                <a:highlight>
                  <a:srgbClr val="FFFF00"/>
                </a:highlight>
              </a:rPr>
              <a:t>Average</a:t>
            </a:r>
            <a:r>
              <a:rPr lang="el-GR" sz="2400" b="1" dirty="0">
                <a:solidFill>
                  <a:schemeClr val="tx1"/>
                </a:solidFill>
                <a:highlight>
                  <a:srgbClr val="FFFF00"/>
                </a:highlight>
              </a:rPr>
              <a:t>.  </a:t>
            </a:r>
          </a:p>
          <a:p>
            <a:pPr algn="ctr"/>
            <a:r>
              <a:rPr lang="el-GR" sz="2400" b="1" dirty="0">
                <a:solidFill>
                  <a:schemeClr val="tx1"/>
                </a:solidFill>
                <a:highlight>
                  <a:srgbClr val="FFFF00"/>
                </a:highlight>
              </a:rPr>
              <a:t>Εξοικειωθείτε με τον έλεγχο τύπων, την μετατροπή τύπων και την </a:t>
            </a:r>
            <a:r>
              <a:rPr lang="en-US" sz="2400" b="1" dirty="0" err="1">
                <a:solidFill>
                  <a:schemeClr val="tx1"/>
                </a:solidFill>
                <a:highlight>
                  <a:srgbClr val="FFFF00"/>
                </a:highlight>
              </a:rPr>
              <a:t>printf</a:t>
            </a:r>
            <a:r>
              <a:rPr lang="en-US" sz="2400" b="1" dirty="0">
                <a:solidFill>
                  <a:schemeClr val="tx1"/>
                </a:solidFill>
                <a:highlight>
                  <a:srgbClr val="FFFF00"/>
                </a:highlight>
              </a:rPr>
              <a:t>.</a:t>
            </a:r>
            <a:endParaRPr lang="en-GB" sz="2400" b="1" dirty="0">
              <a:solidFill>
                <a:schemeClr val="tx1"/>
              </a:solidFill>
              <a:highlight>
                <a:srgbClr val="FFFF00"/>
              </a:highlight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260F4D1-3DFA-FD2C-8FBA-7DA9EAE6F9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370" y="1848073"/>
            <a:ext cx="4812974" cy="3543607"/>
          </a:xfrm>
          <a:prstGeom prst="rect">
            <a:avLst/>
          </a:prstGeom>
        </p:spPr>
      </p:pic>
      <p:sp>
        <p:nvSpPr>
          <p:cNvPr id="12" name="Speech Bubble: Rectangle with Corners Rounded 11">
            <a:extLst>
              <a:ext uri="{FF2B5EF4-FFF2-40B4-BE49-F238E27FC236}">
                <a16:creationId xmlns:a16="http://schemas.microsoft.com/office/drawing/2014/main" id="{9EF9BC62-6EF9-554A-BA92-C4E6CD625399}"/>
              </a:ext>
            </a:extLst>
          </p:cNvPr>
          <p:cNvSpPr/>
          <p:nvPr/>
        </p:nvSpPr>
        <p:spPr>
          <a:xfrm>
            <a:off x="6095997" y="3572968"/>
            <a:ext cx="5633357" cy="1067546"/>
          </a:xfrm>
          <a:prstGeom prst="wedgeRoundRectCallout">
            <a:avLst>
              <a:gd name="adj1" fmla="val -59222"/>
              <a:gd name="adj2" fmla="val 98719"/>
              <a:gd name="adj3" fmla="val 16667"/>
            </a:avLst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2400" b="1" dirty="0">
                <a:solidFill>
                  <a:schemeClr val="tx1"/>
                </a:solidFill>
                <a:highlight>
                  <a:srgbClr val="FFFF00"/>
                </a:highlight>
              </a:rPr>
              <a:t>Αναπτύξτε την </a:t>
            </a:r>
            <a:r>
              <a:rPr lang="en-US" sz="2400" b="1" dirty="0">
                <a:solidFill>
                  <a:schemeClr val="tx1"/>
                </a:solidFill>
                <a:highlight>
                  <a:srgbClr val="FFFF00"/>
                </a:highlight>
              </a:rPr>
              <a:t>2</a:t>
            </a:r>
            <a:r>
              <a:rPr lang="el-GR" sz="2400" b="1" baseline="30000" dirty="0">
                <a:solidFill>
                  <a:schemeClr val="tx1"/>
                </a:solidFill>
                <a:highlight>
                  <a:srgbClr val="FFFF00"/>
                </a:highlight>
              </a:rPr>
              <a:t>η</a:t>
            </a:r>
            <a:r>
              <a:rPr lang="el-GR" sz="2400" b="1" dirty="0">
                <a:solidFill>
                  <a:schemeClr val="tx1"/>
                </a:solidFill>
                <a:highlight>
                  <a:srgbClr val="FFFF00"/>
                </a:highlight>
              </a:rPr>
              <a:t> έκδοση του  προγράμματος </a:t>
            </a:r>
            <a:r>
              <a:rPr lang="en-US" sz="2400" b="1" dirty="0">
                <a:solidFill>
                  <a:schemeClr val="tx1"/>
                </a:solidFill>
                <a:highlight>
                  <a:srgbClr val="FFFF00"/>
                </a:highlight>
              </a:rPr>
              <a:t>Average </a:t>
            </a:r>
            <a:r>
              <a:rPr lang="el-GR" sz="2400" b="1" dirty="0">
                <a:solidFill>
                  <a:schemeClr val="tx1"/>
                </a:solidFill>
                <a:highlight>
                  <a:srgbClr val="FFFF00"/>
                </a:highlight>
              </a:rPr>
              <a:t>χρησιμοποιώντας πίνακα.</a:t>
            </a:r>
            <a:endParaRPr lang="en-GB" sz="2400" b="1" dirty="0">
              <a:solidFill>
                <a:schemeClr val="tx1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8008301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54FD250-DDBE-4751-75F7-E16CCB071D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E728C9F2-8690-0B6A-B06E-EB3705DDBD2F}"/>
              </a:ext>
            </a:extLst>
          </p:cNvPr>
          <p:cNvSpPr/>
          <p:nvPr/>
        </p:nvSpPr>
        <p:spPr>
          <a:xfrm>
            <a:off x="140669" y="6559908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09B611D6-B14A-C77B-4540-3164F27A3E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Average </a:t>
            </a:r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με </a:t>
            </a:r>
            <a:r>
              <a:rPr lang="en-US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while (V1)</a:t>
            </a: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3886D2A3-B406-05A0-E5B7-D13404A9F097}"/>
              </a:ext>
            </a:extLst>
          </p:cNvPr>
          <p:cNvSpPr txBox="1">
            <a:spLocks/>
          </p:cNvSpPr>
          <p:nvPr/>
        </p:nvSpPr>
        <p:spPr>
          <a:xfrm>
            <a:off x="-1" y="6599394"/>
            <a:ext cx="3840633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© 202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5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Μια Εισαγωγή στην Τέχνη του Προγραμματισμού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BC5C158-285D-4C26-9A19-CBB8D85DFDFD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200" dirty="0">
                <a:latin typeface="Bahnschrift Light" panose="020B0502040204020203" pitchFamily="34" charset="0"/>
                <a:cs typeface="Arial" pitchFamily="34" charset="0"/>
              </a:rPr>
              <a:t>Διαφάνεια </a:t>
            </a:r>
            <a:fld id="{7C15C5B5-03C6-48D8-B20F-65D93A6CF09E}" type="slidenum">
              <a:rPr lang="en-US" sz="1200" smtClean="0">
                <a:latin typeface="Bahnschrift Light" panose="020B0502040204020203" pitchFamily="34" charset="0"/>
                <a:cs typeface="Arial" pitchFamily="34" charset="0"/>
              </a:rPr>
              <a:pPr algn="r"/>
              <a:t>52</a:t>
            </a:fld>
            <a:endParaRPr lang="en-US" sz="1200" dirty="0">
              <a:latin typeface="Bahnschrift Light" panose="020B0502040204020203" pitchFamily="34" charset="0"/>
              <a:cs typeface="Arial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8591B84-E731-4FEA-96AC-5360F6BF6D2B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0"/>
            <a:ext cx="9144000" cy="908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0033CC"/>
              </a:solidFill>
              <a:latin typeface="Times New Roman" pitchFamily="18" charset="0"/>
            </a:endParaRPr>
          </a:p>
        </p:txBody>
      </p:sp>
      <p:sp>
        <p:nvSpPr>
          <p:cNvPr id="14" name="Θέση υποσέλιδου 4">
            <a:extLst>
              <a:ext uri="{FF2B5EF4-FFF2-40B4-BE49-F238E27FC236}">
                <a16:creationId xmlns:a16="http://schemas.microsoft.com/office/drawing/2014/main" id="{CD806E5D-07F1-619A-0E49-1732C2898FB5}"/>
              </a:ext>
            </a:extLst>
          </p:cNvPr>
          <p:cNvSpPr txBox="1">
            <a:spLocks/>
          </p:cNvSpPr>
          <p:nvPr/>
        </p:nvSpPr>
        <p:spPr>
          <a:xfrm>
            <a:off x="4149680" y="6689184"/>
            <a:ext cx="3462169" cy="2586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Πηγαίος Κώδικας – Βασικές Έννοιες</a:t>
            </a:r>
          </a:p>
          <a:p>
            <a:endParaRPr lang="el-GR" sz="11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9BC98C9-0F51-5E4C-4569-A1EF8B5447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7510" y="0"/>
            <a:ext cx="6728060" cy="6481776"/>
          </a:xfrm>
          <a:prstGeom prst="rect">
            <a:avLst/>
          </a:prstGeom>
        </p:spPr>
      </p:pic>
      <p:sp>
        <p:nvSpPr>
          <p:cNvPr id="5" name="Speech Bubble: Rectangle with Corners Rounded 4">
            <a:extLst>
              <a:ext uri="{FF2B5EF4-FFF2-40B4-BE49-F238E27FC236}">
                <a16:creationId xmlns:a16="http://schemas.microsoft.com/office/drawing/2014/main" id="{26EE0EF1-EA45-692C-6E27-CC40643E0C36}"/>
              </a:ext>
            </a:extLst>
          </p:cNvPr>
          <p:cNvSpPr/>
          <p:nvPr/>
        </p:nvSpPr>
        <p:spPr bwMode="auto">
          <a:xfrm>
            <a:off x="544960" y="4307147"/>
            <a:ext cx="3109192" cy="936104"/>
          </a:xfrm>
          <a:prstGeom prst="wedgeRoundRectCallout">
            <a:avLst>
              <a:gd name="adj1" fmla="val -58883"/>
              <a:gd name="adj2" fmla="val 90697"/>
              <a:gd name="adj3" fmla="val 16667"/>
            </a:avLst>
          </a:prstGeom>
          <a:solidFill>
            <a:srgbClr val="FFFF00"/>
          </a:solidFill>
          <a:ln w="9525" cap="flat" cmpd="sng" algn="ctr">
            <a:solidFill>
              <a:srgbClr val="FFFF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τρέξτε το πρόγραμμα για </a:t>
            </a: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τους αριθμούς 2 και 3 </a:t>
            </a:r>
            <a:endParaRPr kumimoji="0" lang="el-GR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C8B7C6-5051-0BDF-0634-A80076904501}"/>
              </a:ext>
            </a:extLst>
          </p:cNvPr>
          <p:cNvSpPr txBox="1"/>
          <p:nvPr/>
        </p:nvSpPr>
        <p:spPr>
          <a:xfrm>
            <a:off x="9107789" y="6164647"/>
            <a:ext cx="265369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1600" dirty="0">
                <a:solidFill>
                  <a:srgbClr val="000000"/>
                </a:solidFill>
                <a:latin typeface="Tahoma" panose="020B0604030504040204" pitchFamily="34" charset="0"/>
              </a:rPr>
              <a:t>CalcAverageUsingWhileV1</a:t>
            </a:r>
          </a:p>
        </p:txBody>
      </p:sp>
      <p:sp>
        <p:nvSpPr>
          <p:cNvPr id="7" name="Callout: Line 6">
            <a:extLst>
              <a:ext uri="{FF2B5EF4-FFF2-40B4-BE49-F238E27FC236}">
                <a16:creationId xmlns:a16="http://schemas.microsoft.com/office/drawing/2014/main" id="{EAD8E34D-0CFD-6021-15BC-B5719B0DF068}"/>
              </a:ext>
            </a:extLst>
          </p:cNvPr>
          <p:cNvSpPr/>
          <p:nvPr/>
        </p:nvSpPr>
        <p:spPr bwMode="auto">
          <a:xfrm>
            <a:off x="491380" y="3135647"/>
            <a:ext cx="2157427" cy="901860"/>
          </a:xfrm>
          <a:prstGeom prst="borderCallout1">
            <a:avLst>
              <a:gd name="adj1" fmla="val 49851"/>
              <a:gd name="adj2" fmla="val 98468"/>
              <a:gd name="adj3" fmla="val 58717"/>
              <a:gd name="adj4" fmla="val 281437"/>
            </a:avLst>
          </a:prstGeom>
          <a:solidFill>
            <a:srgbClr val="00E4A8"/>
          </a:solidFill>
          <a:ln w="38100" cap="flat" cmpd="sng" algn="ctr">
            <a:solidFill>
              <a:srgbClr val="00B05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Πρόταση 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</a:rPr>
              <a:t>επανάληψης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sp>
        <p:nvSpPr>
          <p:cNvPr id="9" name="Callout: Line 8">
            <a:extLst>
              <a:ext uri="{FF2B5EF4-FFF2-40B4-BE49-F238E27FC236}">
                <a16:creationId xmlns:a16="http://schemas.microsoft.com/office/drawing/2014/main" id="{E51ECA3E-38CA-6452-83A7-1C4CD4E8B177}"/>
              </a:ext>
            </a:extLst>
          </p:cNvPr>
          <p:cNvSpPr/>
          <p:nvPr/>
        </p:nvSpPr>
        <p:spPr bwMode="auto">
          <a:xfrm>
            <a:off x="191344" y="1092051"/>
            <a:ext cx="3816424" cy="1160747"/>
          </a:xfrm>
          <a:prstGeom prst="borderCallout1">
            <a:avLst>
              <a:gd name="adj1" fmla="val 60164"/>
              <a:gd name="adj2" fmla="val 99564"/>
              <a:gd name="adj3" fmla="val 18193"/>
              <a:gd name="adj4" fmla="val 153106"/>
            </a:avLst>
          </a:prstGeom>
          <a:solidFill>
            <a:srgbClr val="00E4A8"/>
          </a:solidFill>
          <a:ln w="38100" cap="flat" cmpd="sng" algn="ctr">
            <a:solidFill>
              <a:srgbClr val="00E4A8">
                <a:lumMod val="50000"/>
              </a:srgb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float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: </a:t>
            </a:r>
            <a:r>
              <a:rPr kumimoji="0" 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τύπος δεδομένων που προσδιορίζει αριθμούς κινητής υποδιαστολής απλή ακρίβειας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 </a:t>
            </a:r>
            <a:endParaRPr kumimoji="0" lang="en-GB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</a:endParaRPr>
          </a:p>
        </p:txBody>
      </p:sp>
      <p:sp>
        <p:nvSpPr>
          <p:cNvPr id="12" name="Speech Bubble: Rectangle with Corners Rounded 11">
            <a:extLst>
              <a:ext uri="{FF2B5EF4-FFF2-40B4-BE49-F238E27FC236}">
                <a16:creationId xmlns:a16="http://schemas.microsoft.com/office/drawing/2014/main" id="{88497566-CB1D-DB17-270B-22367327E07A}"/>
              </a:ext>
            </a:extLst>
          </p:cNvPr>
          <p:cNvSpPr/>
          <p:nvPr/>
        </p:nvSpPr>
        <p:spPr bwMode="auto">
          <a:xfrm>
            <a:off x="989713" y="5469828"/>
            <a:ext cx="4032448" cy="864096"/>
          </a:xfrm>
          <a:prstGeom prst="wedgeRoundRectCallout">
            <a:avLst>
              <a:gd name="adj1" fmla="val -59701"/>
              <a:gd name="adj2" fmla="val 80906"/>
              <a:gd name="adj3" fmla="val 16667"/>
            </a:avLst>
          </a:prstGeom>
          <a:solidFill>
            <a:srgbClr val="FFFF00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l-GR" sz="2400" dirty="0"/>
              <a:t>τρέξτε το πρόγραμμα για πλήθος αριθμών 0</a:t>
            </a:r>
            <a:endParaRPr lang="el-GR" sz="2800" dirty="0"/>
          </a:p>
        </p:txBody>
      </p:sp>
    </p:spTree>
    <p:extLst>
      <p:ext uri="{BB962C8B-B14F-4D97-AF65-F5344CB8AC3E}">
        <p14:creationId xmlns:p14="http://schemas.microsoft.com/office/powerpoint/2010/main" val="20523828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12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DE5DCA2-FB62-29D6-6391-A9AABAC6FE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D516A5EC-E253-4AD2-A186-B5BCE8FC65A9}"/>
              </a:ext>
            </a:extLst>
          </p:cNvPr>
          <p:cNvSpPr/>
          <p:nvPr/>
        </p:nvSpPr>
        <p:spPr>
          <a:xfrm>
            <a:off x="140669" y="6559908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D15B873D-334C-7E97-3762-A0F67F6B50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Average </a:t>
            </a:r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με </a:t>
            </a:r>
            <a:r>
              <a:rPr lang="en-US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for (V1)</a:t>
            </a: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D3BBD168-97CE-209F-8B11-E64696384CCA}"/>
              </a:ext>
            </a:extLst>
          </p:cNvPr>
          <p:cNvSpPr txBox="1">
            <a:spLocks/>
          </p:cNvSpPr>
          <p:nvPr/>
        </p:nvSpPr>
        <p:spPr>
          <a:xfrm>
            <a:off x="-1" y="6599394"/>
            <a:ext cx="3840633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© 202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5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Μια Εισαγωγή στην Τέχνη του Προγραμματισμού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F466899-FD07-BA5B-7AF4-31D11D8E685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200" dirty="0">
                <a:latin typeface="Bahnschrift Light" panose="020B0502040204020203" pitchFamily="34" charset="0"/>
                <a:cs typeface="Arial" pitchFamily="34" charset="0"/>
              </a:rPr>
              <a:t>Διαφάνεια </a:t>
            </a:r>
            <a:fld id="{7C15C5B5-03C6-48D8-B20F-65D93A6CF09E}" type="slidenum">
              <a:rPr lang="en-US" sz="1200" smtClean="0">
                <a:latin typeface="Bahnschrift Light" panose="020B0502040204020203" pitchFamily="34" charset="0"/>
                <a:cs typeface="Arial" pitchFamily="34" charset="0"/>
              </a:rPr>
              <a:pPr algn="r"/>
              <a:t>53</a:t>
            </a:fld>
            <a:endParaRPr lang="en-US" sz="1200" dirty="0">
              <a:latin typeface="Bahnschrift Light" panose="020B0502040204020203" pitchFamily="34" charset="0"/>
              <a:cs typeface="Arial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A487A01-B9C4-A380-93C1-B81D836F3B25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0"/>
            <a:ext cx="9144000" cy="908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0033CC"/>
              </a:solidFill>
              <a:latin typeface="Times New Roman" pitchFamily="18" charset="0"/>
            </a:endParaRPr>
          </a:p>
        </p:txBody>
      </p:sp>
      <p:sp>
        <p:nvSpPr>
          <p:cNvPr id="14" name="Θέση υποσέλιδου 4">
            <a:extLst>
              <a:ext uri="{FF2B5EF4-FFF2-40B4-BE49-F238E27FC236}">
                <a16:creationId xmlns:a16="http://schemas.microsoft.com/office/drawing/2014/main" id="{126621C9-7A7A-E43C-FE79-FC163167C773}"/>
              </a:ext>
            </a:extLst>
          </p:cNvPr>
          <p:cNvSpPr txBox="1">
            <a:spLocks/>
          </p:cNvSpPr>
          <p:nvPr/>
        </p:nvSpPr>
        <p:spPr>
          <a:xfrm>
            <a:off x="4149680" y="6689184"/>
            <a:ext cx="3462169" cy="2586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Πηγαίος Κώδικας – Βασικές Έννοιες</a:t>
            </a:r>
          </a:p>
          <a:p>
            <a:endParaRPr lang="el-GR" sz="11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760F999-A5DF-7906-55EC-67A4580D8463}"/>
              </a:ext>
            </a:extLst>
          </p:cNvPr>
          <p:cNvSpPr/>
          <p:nvPr/>
        </p:nvSpPr>
        <p:spPr bwMode="auto">
          <a:xfrm>
            <a:off x="3053916" y="4365104"/>
            <a:ext cx="6354452" cy="1080120"/>
          </a:xfrm>
          <a:prstGeom prst="rect">
            <a:avLst/>
          </a:prstGeom>
          <a:solidFill>
            <a:srgbClr val="FFFF00">
              <a:alpha val="16000"/>
            </a:srgbClr>
          </a:solidFill>
          <a:ln w="9525" cap="flat" cmpd="sng" algn="ctr">
            <a:solidFill>
              <a:srgbClr val="FFFF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l-GR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55BDA7-2C8A-91CC-B6A9-8918DCDBDB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5192" y="0"/>
            <a:ext cx="6491408" cy="6491408"/>
          </a:xfrm>
          <a:prstGeom prst="rect">
            <a:avLst/>
          </a:prstGeom>
        </p:spPr>
      </p:pic>
      <p:sp>
        <p:nvSpPr>
          <p:cNvPr id="6" name="Callout: Line 5">
            <a:extLst>
              <a:ext uri="{FF2B5EF4-FFF2-40B4-BE49-F238E27FC236}">
                <a16:creationId xmlns:a16="http://schemas.microsoft.com/office/drawing/2014/main" id="{43F0DF09-ED73-DDAE-5BF2-AD508EC4F42B}"/>
              </a:ext>
            </a:extLst>
          </p:cNvPr>
          <p:cNvSpPr/>
          <p:nvPr/>
        </p:nvSpPr>
        <p:spPr bwMode="auto">
          <a:xfrm>
            <a:off x="14374" y="1117026"/>
            <a:ext cx="4799855" cy="1773520"/>
          </a:xfrm>
          <a:prstGeom prst="borderCallout1">
            <a:avLst>
              <a:gd name="adj1" fmla="val 49851"/>
              <a:gd name="adj2" fmla="val 98468"/>
              <a:gd name="adj3" fmla="val 104942"/>
              <a:gd name="adj4" fmla="val 126012"/>
            </a:avLst>
          </a:prstGeom>
          <a:solidFill>
            <a:srgbClr val="00E4A8"/>
          </a:solidFill>
          <a:ln w="38100" cap="flat" cmpd="sng" algn="ctr">
            <a:solidFill>
              <a:srgbClr val="00B05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Πρόταση </a:t>
            </a:r>
            <a:r>
              <a:rPr kumimoji="0" lang="el-GR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</a:rPr>
              <a:t>Ελέγχου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</a:rPr>
              <a:t> </a:t>
            </a:r>
            <a:r>
              <a:rPr kumimoji="0" lang="el-GR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</a:rPr>
              <a:t>Συνθήκης.</a:t>
            </a:r>
          </a:p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Το σώμα της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if </a:t>
            </a:r>
            <a:r>
              <a:rPr kumimoji="0" 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θα εκτελεστεί αν η έκφραση στην παρένθεση έχει τιμή </a:t>
            </a:r>
            <a:r>
              <a:rPr kumimoji="0" lang="el-GR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αληθη</a:t>
            </a:r>
            <a:r>
              <a:rPr kumimoji="0" 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 (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true)</a:t>
            </a:r>
            <a:r>
              <a:rPr kumimoji="0" 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 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A334402-38C5-0BBC-F9C5-62E1992E7903}"/>
              </a:ext>
            </a:extLst>
          </p:cNvPr>
          <p:cNvSpPr txBox="1"/>
          <p:nvPr/>
        </p:nvSpPr>
        <p:spPr>
          <a:xfrm>
            <a:off x="8256240" y="6188526"/>
            <a:ext cx="265369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1600" dirty="0" err="1">
                <a:solidFill>
                  <a:srgbClr val="000000"/>
                </a:solidFill>
                <a:latin typeface="Tahoma" panose="020B0604030504040204" pitchFamily="34" charset="0"/>
              </a:rPr>
              <a:t>CalcAverageUsingForV</a:t>
            </a:r>
            <a:r>
              <a:rPr lang="el-GR" sz="1600" dirty="0">
                <a:solidFill>
                  <a:srgbClr val="000000"/>
                </a:solidFill>
                <a:latin typeface="Tahoma" panose="020B0604030504040204" pitchFamily="34" charset="0"/>
              </a:rPr>
              <a:t>2</a:t>
            </a:r>
            <a:endParaRPr lang="en-GB" sz="1600" dirty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9" name="Callout: Line 8">
            <a:extLst>
              <a:ext uri="{FF2B5EF4-FFF2-40B4-BE49-F238E27FC236}">
                <a16:creationId xmlns:a16="http://schemas.microsoft.com/office/drawing/2014/main" id="{850CB71F-6B34-1565-4B70-FA7E1D46CF00}"/>
              </a:ext>
            </a:extLst>
          </p:cNvPr>
          <p:cNvSpPr/>
          <p:nvPr/>
        </p:nvSpPr>
        <p:spPr bwMode="auto">
          <a:xfrm>
            <a:off x="14374" y="3967454"/>
            <a:ext cx="4799855" cy="2221072"/>
          </a:xfrm>
          <a:prstGeom prst="borderCallout1">
            <a:avLst>
              <a:gd name="adj1" fmla="val 15277"/>
              <a:gd name="adj2" fmla="val 100328"/>
              <a:gd name="adj3" fmla="val 66985"/>
              <a:gd name="adj4" fmla="val 147941"/>
            </a:avLst>
          </a:prstGeom>
          <a:solidFill>
            <a:srgbClr val="00E4A8"/>
          </a:solidFill>
          <a:ln w="38100" cap="flat" cmpd="sng" algn="ctr">
            <a:solidFill>
              <a:srgbClr val="00B05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(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float</a:t>
            </a:r>
            <a:r>
              <a:rPr kumimoji="0" lang="el-GR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)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sum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: </a:t>
            </a:r>
            <a:r>
              <a:rPr kumimoji="0" lang="el-GR" sz="2400" b="1" i="0" u="none" strike="noStrike" kern="0" cap="none" spc="0" normalizeH="0" baseline="0" noProof="0" dirty="0">
                <a:ln>
                  <a:noFill/>
                </a:ln>
                <a:solidFill>
                  <a:srgbClr val="A50021"/>
                </a:solidFill>
                <a:effectLst/>
                <a:uLnTx/>
                <a:uFillTx/>
                <a:latin typeface="Tahoma" panose="020B0604030504040204" pitchFamily="34" charset="0"/>
              </a:rPr>
              <a:t>Μετατροπή τύπου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A50021"/>
                </a:solidFill>
                <a:effectLst/>
                <a:uLnTx/>
                <a:uFillTx/>
                <a:latin typeface="Tahoma" panose="020B0604030504040204" pitchFamily="34" charset="0"/>
              </a:rPr>
              <a:t> (type conversion)</a:t>
            </a:r>
            <a:r>
              <a:rPr kumimoji="0" 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. Μετατρέπει το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sum </a:t>
            </a:r>
            <a:r>
              <a:rPr kumimoji="0" 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από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int </a:t>
            </a:r>
            <a:r>
              <a:rPr kumimoji="0" 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σε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float. </a:t>
            </a:r>
            <a:r>
              <a:rPr kumimoji="0" 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Έτσι το σύστημα αναγκάζεται να κάνει διαίρεση με αριθμούς κινητής υποδιαστολής.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26014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C38DEC-31C9-C606-870A-49D16F9525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67099934-06F6-1E40-834E-0C026CCDEDC1}"/>
              </a:ext>
            </a:extLst>
          </p:cNvPr>
          <p:cNvSpPr/>
          <p:nvPr/>
        </p:nvSpPr>
        <p:spPr>
          <a:xfrm>
            <a:off x="140669" y="6559908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D1CAD22B-A105-703B-1D24-0C60D80A0C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Average</a:t>
            </a:r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 – 3</a:t>
            </a:r>
            <a:r>
              <a:rPr lang="el-GR" sz="4000" b="1" baseline="30000" dirty="0">
                <a:solidFill>
                  <a:srgbClr val="F9853D"/>
                </a:solidFill>
                <a:latin typeface="Bahnschrift" panose="020B0502040204020203" pitchFamily="34" charset="0"/>
              </a:rPr>
              <a:t>η</a:t>
            </a:r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 έκδοση (Με χρήση συνάρτησης)</a:t>
            </a:r>
            <a:endParaRPr lang="en-US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973DC907-4916-011C-3598-A909678EA8CE}"/>
              </a:ext>
            </a:extLst>
          </p:cNvPr>
          <p:cNvSpPr txBox="1">
            <a:spLocks/>
          </p:cNvSpPr>
          <p:nvPr/>
        </p:nvSpPr>
        <p:spPr>
          <a:xfrm>
            <a:off x="-1" y="6599394"/>
            <a:ext cx="3840633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© 202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5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Μια Εισαγωγή στην Τέχνη του Προγραμματισμού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1200C96-343E-5D21-3199-08040210F23B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200" dirty="0">
                <a:latin typeface="Bahnschrift Light" panose="020B0502040204020203" pitchFamily="34" charset="0"/>
                <a:cs typeface="Arial" pitchFamily="34" charset="0"/>
              </a:rPr>
              <a:t>Διαφάνεια </a:t>
            </a:r>
            <a:fld id="{7C15C5B5-03C6-48D8-B20F-65D93A6CF09E}" type="slidenum">
              <a:rPr lang="en-US" sz="1200" smtClean="0">
                <a:latin typeface="Bahnschrift Light" panose="020B0502040204020203" pitchFamily="34" charset="0"/>
                <a:cs typeface="Arial" pitchFamily="34" charset="0"/>
              </a:rPr>
              <a:pPr algn="r"/>
              <a:t>54</a:t>
            </a:fld>
            <a:endParaRPr lang="en-US" sz="1200" dirty="0">
              <a:latin typeface="Bahnschrift Light" panose="020B0502040204020203" pitchFamily="34" charset="0"/>
              <a:cs typeface="Arial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98BD821-41BF-3015-1D1D-7C2B8A2D200B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0"/>
            <a:ext cx="9144000" cy="908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0033CC"/>
              </a:solidFill>
              <a:latin typeface="Times New Roman" pitchFamily="18" charset="0"/>
            </a:endParaRPr>
          </a:p>
        </p:txBody>
      </p:sp>
      <p:sp>
        <p:nvSpPr>
          <p:cNvPr id="14" name="Θέση υποσέλιδου 4">
            <a:extLst>
              <a:ext uri="{FF2B5EF4-FFF2-40B4-BE49-F238E27FC236}">
                <a16:creationId xmlns:a16="http://schemas.microsoft.com/office/drawing/2014/main" id="{D8FB66FE-F2A7-73BF-0ACC-6C0AAE5EB32A}"/>
              </a:ext>
            </a:extLst>
          </p:cNvPr>
          <p:cNvSpPr txBox="1">
            <a:spLocks/>
          </p:cNvSpPr>
          <p:nvPr/>
        </p:nvSpPr>
        <p:spPr>
          <a:xfrm>
            <a:off x="4149680" y="6689184"/>
            <a:ext cx="3462169" cy="2586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Πηγαίος Κώδικας – Βασικές Έννοιες</a:t>
            </a:r>
          </a:p>
          <a:p>
            <a:endParaRPr lang="el-GR" sz="11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9C61CF-E65E-BD48-90B8-82E33C427059}"/>
              </a:ext>
            </a:extLst>
          </p:cNvPr>
          <p:cNvSpPr txBox="1"/>
          <p:nvPr/>
        </p:nvSpPr>
        <p:spPr>
          <a:xfrm>
            <a:off x="140668" y="767215"/>
            <a:ext cx="5743938" cy="5262979"/>
          </a:xfrm>
          <a:prstGeom prst="rect">
            <a:avLst/>
          </a:prstGeom>
          <a:solidFill>
            <a:srgbClr val="92D050"/>
          </a:solidFill>
        </p:spPr>
        <p:txBody>
          <a:bodyPr wrap="square">
            <a:spAutoFit/>
          </a:bodyPr>
          <a:lstStyle/>
          <a:p>
            <a:r>
              <a:rPr lang="el-GR" sz="2800" dirty="0"/>
              <a:t>Περνάμε σε μια </a:t>
            </a:r>
            <a:r>
              <a:rPr lang="en-US" sz="2800" dirty="0"/>
              <a:t>3</a:t>
            </a:r>
            <a:r>
              <a:rPr lang="el-GR" sz="2800" dirty="0"/>
              <a:t>η έκδοση του προγράμματος η οποία </a:t>
            </a:r>
            <a:r>
              <a:rPr lang="el-GR" sz="2800" b="1" dirty="0"/>
              <a:t>έχει στόχο </a:t>
            </a:r>
            <a:r>
              <a:rPr lang="el-GR" sz="2800" dirty="0"/>
              <a:t>να εισάγει το </a:t>
            </a:r>
            <a:r>
              <a:rPr lang="el-GR" sz="2800" b="1" dirty="0"/>
              <a:t>πέρασμα πίνακα ως όρισμα σε συνάρτηση</a:t>
            </a:r>
            <a:r>
              <a:rPr lang="el-GR" sz="2800" dirty="0"/>
              <a:t>. </a:t>
            </a:r>
          </a:p>
          <a:p>
            <a:r>
              <a:rPr lang="el-GR" sz="2800" dirty="0"/>
              <a:t>Ζητείται να ορίσουμε μια συνάρτηση που θα υλοποιεί τη διεργασία του υπολογισμού του μέσου όρου ενός πίνακα ακεραίων. </a:t>
            </a:r>
          </a:p>
          <a:p>
            <a:r>
              <a:rPr lang="el-GR" sz="2800" dirty="0"/>
              <a:t>Είναι σημαντικό να επισημάνουμε πως η συνάρτηση δεν θα διαβάζει τους αριθμούς από την βασική είσοδο αλλά θα τους δέχεται ως όρισμα. </a:t>
            </a:r>
            <a:endParaRPr lang="en-GB" sz="28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B599E7C-F509-DA96-F525-9A8E6FC0C5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9" y="1054195"/>
            <a:ext cx="5919953" cy="5240856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7B73140-F0E6-32BB-84F2-EACA26E67501}"/>
              </a:ext>
            </a:extLst>
          </p:cNvPr>
          <p:cNvCxnSpPr/>
          <p:nvPr/>
        </p:nvCxnSpPr>
        <p:spPr>
          <a:xfrm>
            <a:off x="6961239" y="1342103"/>
            <a:ext cx="2757948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36863A3-DEFC-775A-D577-82EA9A5A0A0A}"/>
              </a:ext>
            </a:extLst>
          </p:cNvPr>
          <p:cNvCxnSpPr>
            <a:cxnSpLocks/>
          </p:cNvCxnSpPr>
          <p:nvPr/>
        </p:nvCxnSpPr>
        <p:spPr>
          <a:xfrm>
            <a:off x="7406923" y="4104967"/>
            <a:ext cx="1649052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DFD7E7E-956B-8FD1-9AAA-C160310A21F3}"/>
              </a:ext>
            </a:extLst>
          </p:cNvPr>
          <p:cNvCxnSpPr>
            <a:cxnSpLocks/>
          </p:cNvCxnSpPr>
          <p:nvPr/>
        </p:nvCxnSpPr>
        <p:spPr>
          <a:xfrm>
            <a:off x="10854638" y="5152102"/>
            <a:ext cx="0" cy="1273577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8302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5B164B-F481-3413-77B2-20F5870534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8BC6C1F9-DD84-6300-A240-AA660790B80C}"/>
              </a:ext>
            </a:extLst>
          </p:cNvPr>
          <p:cNvSpPr/>
          <p:nvPr/>
        </p:nvSpPr>
        <p:spPr>
          <a:xfrm>
            <a:off x="140669" y="6559908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03A91238-D71B-F871-3B5F-AC32AC0B24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Average </a:t>
            </a:r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ως Συνάρτηση</a:t>
            </a:r>
            <a:endParaRPr lang="en-US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DF013D6F-71DD-010D-3A55-7B09E0F59C3A}"/>
              </a:ext>
            </a:extLst>
          </p:cNvPr>
          <p:cNvSpPr txBox="1">
            <a:spLocks/>
          </p:cNvSpPr>
          <p:nvPr/>
        </p:nvSpPr>
        <p:spPr>
          <a:xfrm>
            <a:off x="-1" y="6599394"/>
            <a:ext cx="3840633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© 202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5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Μια Εισαγωγή στην Τέχνη του Προγραμματισμού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3F70E31-8EAC-496B-5DF1-C3F5557F93D8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200" dirty="0">
                <a:latin typeface="Bahnschrift Light" panose="020B0502040204020203" pitchFamily="34" charset="0"/>
                <a:cs typeface="Arial" pitchFamily="34" charset="0"/>
              </a:rPr>
              <a:t>Διαφάνεια </a:t>
            </a:r>
            <a:fld id="{7C15C5B5-03C6-48D8-B20F-65D93A6CF09E}" type="slidenum">
              <a:rPr lang="en-US" sz="1200" smtClean="0">
                <a:latin typeface="Bahnschrift Light" panose="020B0502040204020203" pitchFamily="34" charset="0"/>
                <a:cs typeface="Arial" pitchFamily="34" charset="0"/>
              </a:rPr>
              <a:pPr algn="r"/>
              <a:t>55</a:t>
            </a:fld>
            <a:endParaRPr lang="en-US" sz="1200" dirty="0">
              <a:latin typeface="Bahnschrift Light" panose="020B0502040204020203" pitchFamily="34" charset="0"/>
              <a:cs typeface="Arial" pitchFamily="34" charset="0"/>
            </a:endParaRPr>
          </a:p>
        </p:txBody>
      </p:sp>
      <p:sp>
        <p:nvSpPr>
          <p:cNvPr id="14" name="Θέση υποσέλιδου 4">
            <a:extLst>
              <a:ext uri="{FF2B5EF4-FFF2-40B4-BE49-F238E27FC236}">
                <a16:creationId xmlns:a16="http://schemas.microsoft.com/office/drawing/2014/main" id="{7986A1E5-BF0D-581A-15D6-E21298555D9B}"/>
              </a:ext>
            </a:extLst>
          </p:cNvPr>
          <p:cNvSpPr txBox="1">
            <a:spLocks/>
          </p:cNvSpPr>
          <p:nvPr/>
        </p:nvSpPr>
        <p:spPr>
          <a:xfrm>
            <a:off x="4149680" y="6689184"/>
            <a:ext cx="3462169" cy="2586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Πηγαίος Κώδικας – Βασικές Έννοιες</a:t>
            </a:r>
          </a:p>
          <a:p>
            <a:endParaRPr lang="el-GR" sz="11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B41752C-150D-01BB-51FD-B9174EC2DC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3750" y="1916114"/>
            <a:ext cx="7772400" cy="4249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342900" marR="0" lvl="0" indent="-342900" defTabSz="91440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l-GR" sz="3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	</a:t>
            </a:r>
            <a:endParaRPr kumimoji="0" lang="el-GR" altLang="el-GR" sz="2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4EF5BE9-724D-AA57-4705-D8D1A2CD592A}"/>
              </a:ext>
            </a:extLst>
          </p:cNvPr>
          <p:cNvSpPr/>
          <p:nvPr/>
        </p:nvSpPr>
        <p:spPr bwMode="auto">
          <a:xfrm>
            <a:off x="4367808" y="1556129"/>
            <a:ext cx="3168352" cy="1512168"/>
          </a:xfrm>
          <a:prstGeom prst="ellipse">
            <a:avLst/>
          </a:prstGeom>
          <a:solidFill>
            <a:srgbClr val="00E4A8"/>
          </a:solidFill>
          <a:ln w="9525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Υπολόγισε</a:t>
            </a:r>
          </a:p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μέσο όρο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D583CAA-1994-9A05-1176-99E4B32A807D}"/>
              </a:ext>
            </a:extLst>
          </p:cNvPr>
          <p:cNvCxnSpPr>
            <a:cxnSpLocks/>
            <a:endCxn id="7" idx="1"/>
          </p:cNvCxnSpPr>
          <p:nvPr/>
        </p:nvCxnSpPr>
        <p:spPr bwMode="auto">
          <a:xfrm>
            <a:off x="2999656" y="1556129"/>
            <a:ext cx="1832146" cy="221452"/>
          </a:xfrm>
          <a:prstGeom prst="straightConnector1">
            <a:avLst/>
          </a:prstGeom>
          <a:solidFill>
            <a:srgbClr val="00E4A8"/>
          </a:solidFill>
          <a:ln w="28575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CAE5D9B-D7AC-2115-9F79-BC8FFBA0F6B6}"/>
              </a:ext>
            </a:extLst>
          </p:cNvPr>
          <p:cNvCxnSpPr>
            <a:cxnSpLocks/>
            <a:endCxn id="7" idx="3"/>
          </p:cNvCxnSpPr>
          <p:nvPr/>
        </p:nvCxnSpPr>
        <p:spPr bwMode="auto">
          <a:xfrm flipV="1">
            <a:off x="3719736" y="2846845"/>
            <a:ext cx="1112066" cy="797516"/>
          </a:xfrm>
          <a:prstGeom prst="straightConnector1">
            <a:avLst/>
          </a:prstGeom>
          <a:solidFill>
            <a:srgbClr val="00E4A8"/>
          </a:solidFill>
          <a:ln w="28575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1C512BF-38A8-BEE1-DACA-0BD021774282}"/>
              </a:ext>
            </a:extLst>
          </p:cNvPr>
          <p:cNvCxnSpPr>
            <a:cxnSpLocks/>
            <a:stCxn id="7" idx="6"/>
            <a:endCxn id="19" idx="3"/>
          </p:cNvCxnSpPr>
          <p:nvPr/>
        </p:nvCxnSpPr>
        <p:spPr bwMode="auto">
          <a:xfrm>
            <a:off x="7536161" y="2312213"/>
            <a:ext cx="2160239" cy="25584"/>
          </a:xfrm>
          <a:prstGeom prst="straightConnector1">
            <a:avLst/>
          </a:prstGeom>
          <a:solidFill>
            <a:srgbClr val="00E4A8"/>
          </a:solidFill>
          <a:ln w="28575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B1712622-4645-55F9-58E5-83D8EF64A117}"/>
              </a:ext>
            </a:extLst>
          </p:cNvPr>
          <p:cNvSpPr txBox="1"/>
          <p:nvPr/>
        </p:nvSpPr>
        <p:spPr>
          <a:xfrm>
            <a:off x="3053385" y="1202463"/>
            <a:ext cx="15199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l-GR" sz="2400" dirty="0">
                <a:solidFill>
                  <a:srgbClr val="000000"/>
                </a:solidFill>
                <a:latin typeface="Tahoma" panose="020B0604030504040204" pitchFamily="34" charset="0"/>
              </a:rPr>
              <a:t>Αριθμός 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8EF3F2C-B161-F5B1-5477-215A8548F88D}"/>
              </a:ext>
            </a:extLst>
          </p:cNvPr>
          <p:cNvSpPr txBox="1"/>
          <p:nvPr/>
        </p:nvSpPr>
        <p:spPr>
          <a:xfrm>
            <a:off x="2755801" y="1959546"/>
            <a:ext cx="15199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l-GR" sz="2400" dirty="0">
                <a:solidFill>
                  <a:srgbClr val="000000"/>
                </a:solidFill>
                <a:latin typeface="Tahoma" panose="020B0604030504040204" pitchFamily="34" charset="0"/>
              </a:rPr>
              <a:t>Αριθμός 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067018C-9313-3083-0838-CFEB3E8386D3}"/>
              </a:ext>
            </a:extLst>
          </p:cNvPr>
          <p:cNvSpPr txBox="1"/>
          <p:nvPr/>
        </p:nvSpPr>
        <p:spPr>
          <a:xfrm>
            <a:off x="8022491" y="1922299"/>
            <a:ext cx="167390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l-GR" sz="2400" dirty="0">
                <a:solidFill>
                  <a:srgbClr val="000000"/>
                </a:solidFill>
                <a:latin typeface="Tahoma" panose="020B0604030504040204" pitchFamily="34" charset="0"/>
              </a:rPr>
              <a:t>Μέσος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l-GR" sz="2400" dirty="0">
                <a:solidFill>
                  <a:srgbClr val="000000"/>
                </a:solidFill>
                <a:latin typeface="Tahoma" panose="020B0604030504040204" pitchFamily="34" charset="0"/>
              </a:rPr>
              <a:t>όρος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A66CA82-6B60-021E-7608-06E77F5210DE}"/>
              </a:ext>
            </a:extLst>
          </p:cNvPr>
          <p:cNvCxnSpPr>
            <a:cxnSpLocks/>
          </p:cNvCxnSpPr>
          <p:nvPr/>
        </p:nvCxnSpPr>
        <p:spPr bwMode="auto">
          <a:xfrm flipV="1">
            <a:off x="2495602" y="2398794"/>
            <a:ext cx="1872207" cy="44832"/>
          </a:xfrm>
          <a:prstGeom prst="straightConnector1">
            <a:avLst/>
          </a:prstGeom>
          <a:solidFill>
            <a:srgbClr val="00E4A8"/>
          </a:solidFill>
          <a:ln w="28575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9B5BD80F-0F1D-067D-1C36-3B48ADD202D4}"/>
              </a:ext>
            </a:extLst>
          </p:cNvPr>
          <p:cNvSpPr txBox="1"/>
          <p:nvPr/>
        </p:nvSpPr>
        <p:spPr>
          <a:xfrm>
            <a:off x="4070215" y="3367681"/>
            <a:ext cx="15231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l-GR" sz="2400" dirty="0">
                <a:solidFill>
                  <a:srgbClr val="000000"/>
                </a:solidFill>
                <a:latin typeface="Tahoma" panose="020B0604030504040204" pitchFamily="34" charset="0"/>
              </a:rPr>
              <a:t>Αριθμός </a:t>
            </a:r>
            <a:r>
              <a:rPr lang="en-US" sz="2400" dirty="0">
                <a:solidFill>
                  <a:srgbClr val="000000"/>
                </a:solidFill>
                <a:latin typeface="Tahoma" panose="020B0604030504040204" pitchFamily="34" charset="0"/>
              </a:rPr>
              <a:t>n</a:t>
            </a:r>
            <a:endParaRPr lang="el-GR" sz="2400" dirty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71C502D7-9771-0001-2381-BA626763ADEB}"/>
              </a:ext>
            </a:extLst>
          </p:cNvPr>
          <p:cNvCxnSpPr>
            <a:cxnSpLocks/>
          </p:cNvCxnSpPr>
          <p:nvPr/>
        </p:nvCxnSpPr>
        <p:spPr bwMode="auto">
          <a:xfrm flipV="1">
            <a:off x="2279577" y="2600403"/>
            <a:ext cx="2264351" cy="267628"/>
          </a:xfrm>
          <a:prstGeom prst="straightConnector1">
            <a:avLst/>
          </a:prstGeom>
          <a:solidFill>
            <a:srgbClr val="00E4A8"/>
          </a:solidFill>
          <a:ln w="28575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DD6F181-9589-7680-FA5A-817BF781DA08}"/>
              </a:ext>
            </a:extLst>
          </p:cNvPr>
          <p:cNvCxnSpPr>
            <a:cxnSpLocks/>
          </p:cNvCxnSpPr>
          <p:nvPr/>
        </p:nvCxnSpPr>
        <p:spPr bwMode="auto">
          <a:xfrm flipV="1">
            <a:off x="2495601" y="2715630"/>
            <a:ext cx="2077752" cy="492620"/>
          </a:xfrm>
          <a:prstGeom prst="straightConnector1">
            <a:avLst/>
          </a:prstGeom>
          <a:solidFill>
            <a:srgbClr val="00E4A8"/>
          </a:solidFill>
          <a:ln w="28575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7F6EEF32-127C-C1D7-954F-6C91107FB639}"/>
              </a:ext>
            </a:extLst>
          </p:cNvPr>
          <p:cNvSpPr txBox="1"/>
          <p:nvPr/>
        </p:nvSpPr>
        <p:spPr>
          <a:xfrm>
            <a:off x="3438890" y="3028720"/>
            <a:ext cx="280846" cy="5402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lnSpc>
                <a:spcPts val="8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b="1" dirty="0">
                <a:solidFill>
                  <a:srgbClr val="000000"/>
                </a:solidFill>
                <a:latin typeface="Tahoma" panose="020B0604030504040204" pitchFamily="34" charset="0"/>
              </a:rPr>
              <a:t>.</a:t>
            </a:r>
          </a:p>
          <a:p>
            <a:pPr eaLnBrk="0" fontAlgn="base" hangingPunct="0">
              <a:lnSpc>
                <a:spcPts val="8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b="1" dirty="0">
                <a:solidFill>
                  <a:srgbClr val="000000"/>
                </a:solidFill>
                <a:latin typeface="Tahoma" panose="020B0604030504040204" pitchFamily="34" charset="0"/>
              </a:rPr>
              <a:t>.</a:t>
            </a:r>
          </a:p>
          <a:p>
            <a:pPr eaLnBrk="0" fontAlgn="base" hangingPunct="0">
              <a:lnSpc>
                <a:spcPts val="8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b="1" dirty="0">
                <a:solidFill>
                  <a:srgbClr val="000000"/>
                </a:solidFill>
                <a:latin typeface="Tahoma" panose="020B0604030504040204" pitchFamily="34" charset="0"/>
              </a:rPr>
              <a:t>.</a:t>
            </a:r>
          </a:p>
          <a:p>
            <a:pPr eaLnBrk="0" fontAlgn="base" hangingPunct="0">
              <a:lnSpc>
                <a:spcPts val="800"/>
              </a:lnSpc>
              <a:spcBef>
                <a:spcPct val="0"/>
              </a:spcBef>
              <a:spcAft>
                <a:spcPct val="0"/>
              </a:spcAft>
            </a:pPr>
            <a:endParaRPr lang="el-GR" sz="2400" b="1" dirty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AC83F25-725B-A87E-661A-9AC19CF2D1F4}"/>
              </a:ext>
            </a:extLst>
          </p:cNvPr>
          <p:cNvSpPr txBox="1"/>
          <p:nvPr/>
        </p:nvSpPr>
        <p:spPr>
          <a:xfrm>
            <a:off x="1703512" y="4156909"/>
            <a:ext cx="813263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b="1" dirty="0">
                <a:solidFill>
                  <a:srgbClr val="FF0000"/>
                </a:solidFill>
                <a:latin typeface="Tahoma" panose="020B0604030504040204" pitchFamily="34" charset="0"/>
              </a:rPr>
              <a:t>float average(int n1, int n2, int n3, int n4, int n5) </a:t>
            </a:r>
            <a:r>
              <a:rPr lang="en-US" sz="2400" b="1" dirty="0">
                <a:solidFill>
                  <a:srgbClr val="000000"/>
                </a:solidFill>
                <a:latin typeface="Tahoma" panose="020B0604030504040204" pitchFamily="34" charset="0"/>
              </a:rPr>
              <a:t>{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b="1" dirty="0">
                <a:solidFill>
                  <a:srgbClr val="000000"/>
                </a:solidFill>
                <a:latin typeface="Tahoma" panose="020B0604030504040204" pitchFamily="34" charset="0"/>
              </a:rPr>
              <a:t>	</a:t>
            </a:r>
            <a:r>
              <a:rPr lang="en-US" sz="2400" dirty="0">
                <a:solidFill>
                  <a:srgbClr val="000000"/>
                </a:solidFill>
                <a:latin typeface="Tahoma" panose="020B0604030504040204" pitchFamily="34" charset="0"/>
              </a:rPr>
              <a:t>int sum=0;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solidFill>
                  <a:srgbClr val="000000"/>
                </a:solidFill>
                <a:latin typeface="Tahoma" panose="020B0604030504040204" pitchFamily="34" charset="0"/>
              </a:rPr>
              <a:t>	sum = n1+n2+n3+n4+n5;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solidFill>
                  <a:srgbClr val="000000"/>
                </a:solidFill>
                <a:latin typeface="Tahoma" panose="020B0604030504040204" pitchFamily="34" charset="0"/>
              </a:rPr>
              <a:t>	return sum/5;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b="1" dirty="0">
                <a:solidFill>
                  <a:srgbClr val="000000"/>
                </a:solidFill>
                <a:latin typeface="Tahoma" panose="020B0604030504040204" pitchFamily="34" charset="0"/>
              </a:rPr>
              <a:t>} </a:t>
            </a:r>
            <a:endParaRPr lang="el-GR" sz="2400" b="1" dirty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27" name="Speech Bubble: Rectangle with Corners Rounded 26">
            <a:extLst>
              <a:ext uri="{FF2B5EF4-FFF2-40B4-BE49-F238E27FC236}">
                <a16:creationId xmlns:a16="http://schemas.microsoft.com/office/drawing/2014/main" id="{185966D9-53DD-561E-4F42-ACEDA4E6E227}"/>
              </a:ext>
            </a:extLst>
          </p:cNvPr>
          <p:cNvSpPr/>
          <p:nvPr/>
        </p:nvSpPr>
        <p:spPr bwMode="auto">
          <a:xfrm>
            <a:off x="7914400" y="4840841"/>
            <a:ext cx="3222159" cy="1108439"/>
          </a:xfrm>
          <a:prstGeom prst="wedgeRoundRectCallout">
            <a:avLst>
              <a:gd name="adj1" fmla="val -67565"/>
              <a:gd name="adj2" fmla="val 84030"/>
              <a:gd name="adj3" fmla="val 16667"/>
            </a:avLst>
          </a:prstGeom>
          <a:solidFill>
            <a:srgbClr val="FFFF00"/>
          </a:solidFill>
          <a:ln w="9525" cap="flat" cmpd="sng" algn="ctr">
            <a:solidFill>
              <a:srgbClr val="FFFF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Είναι 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reusable </a:t>
            </a:r>
            <a:r>
              <a:rPr kumimoji="0" 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η συνάρτηση;</a:t>
            </a:r>
            <a:endParaRPr kumimoji="0" lang="el-GR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2392440-4C7C-65CD-A326-6C30B2875CDC}"/>
              </a:ext>
            </a:extLst>
          </p:cNvPr>
          <p:cNvSpPr txBox="1"/>
          <p:nvPr/>
        </p:nvSpPr>
        <p:spPr>
          <a:xfrm>
            <a:off x="6719109" y="3644362"/>
            <a:ext cx="8807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3600" b="1" dirty="0">
                <a:solidFill>
                  <a:srgbClr val="000000"/>
                </a:solidFill>
                <a:latin typeface="Tahoma" panose="020B0604030504040204" pitchFamily="34" charset="0"/>
              </a:rPr>
              <a:t>?</a:t>
            </a:r>
            <a:endParaRPr lang="el-GR" sz="3600" b="1" dirty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891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7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B93D9A-E28B-DD20-38C7-0AB5E53F10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2D511DD1-2FE4-409B-82C7-C5AB7F923784}"/>
              </a:ext>
            </a:extLst>
          </p:cNvPr>
          <p:cNvSpPr/>
          <p:nvPr/>
        </p:nvSpPr>
        <p:spPr>
          <a:xfrm>
            <a:off x="140669" y="6559908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86DA4BD9-F93A-E474-81DC-2108F91985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Πέρασμα πίνακα ως όρισμα σε συνάρτηση</a:t>
            </a:r>
            <a:endParaRPr lang="en-US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884F0DA6-63F5-9E6E-A53C-DF5D9CA8B238}"/>
              </a:ext>
            </a:extLst>
          </p:cNvPr>
          <p:cNvSpPr txBox="1">
            <a:spLocks/>
          </p:cNvSpPr>
          <p:nvPr/>
        </p:nvSpPr>
        <p:spPr>
          <a:xfrm>
            <a:off x="-1" y="6599394"/>
            <a:ext cx="3840633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© 202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5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Μια Εισαγωγή στην Τέχνη του Προγραμματισμού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3C43765-D58D-4C89-9872-7CE2C6DBFAF7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200" dirty="0">
                <a:latin typeface="Bahnschrift Light" panose="020B0502040204020203" pitchFamily="34" charset="0"/>
                <a:cs typeface="Arial" pitchFamily="34" charset="0"/>
              </a:rPr>
              <a:t>Διαφάνεια </a:t>
            </a:r>
            <a:fld id="{7C15C5B5-03C6-48D8-B20F-65D93A6CF09E}" type="slidenum">
              <a:rPr lang="en-US" sz="1200" smtClean="0">
                <a:latin typeface="Bahnschrift Light" panose="020B0502040204020203" pitchFamily="34" charset="0"/>
                <a:cs typeface="Arial" pitchFamily="34" charset="0"/>
              </a:rPr>
              <a:pPr algn="r"/>
              <a:t>56</a:t>
            </a:fld>
            <a:endParaRPr lang="en-US" sz="1200" dirty="0">
              <a:latin typeface="Bahnschrift Light" panose="020B0502040204020203" pitchFamily="34" charset="0"/>
              <a:cs typeface="Arial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3C4C7D0-C39C-3802-D418-4B9408EDD606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0"/>
            <a:ext cx="9144000" cy="908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0033CC"/>
              </a:solidFill>
              <a:latin typeface="Times New Roman" pitchFamily="18" charset="0"/>
            </a:endParaRPr>
          </a:p>
        </p:txBody>
      </p:sp>
      <p:sp>
        <p:nvSpPr>
          <p:cNvPr id="14" name="Θέση υποσέλιδου 4">
            <a:extLst>
              <a:ext uri="{FF2B5EF4-FFF2-40B4-BE49-F238E27FC236}">
                <a16:creationId xmlns:a16="http://schemas.microsoft.com/office/drawing/2014/main" id="{F6F8FF49-B999-23A4-7741-200451B34C07}"/>
              </a:ext>
            </a:extLst>
          </p:cNvPr>
          <p:cNvSpPr txBox="1">
            <a:spLocks/>
          </p:cNvSpPr>
          <p:nvPr/>
        </p:nvSpPr>
        <p:spPr>
          <a:xfrm>
            <a:off x="4149680" y="6689184"/>
            <a:ext cx="3462169" cy="2586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Πηγαίος Κώδικας – Βασικές Έννοιες</a:t>
            </a:r>
          </a:p>
          <a:p>
            <a:endParaRPr lang="el-GR" sz="11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CA4EC59-CABE-2D09-5EA2-4CAA03628E0C}"/>
              </a:ext>
            </a:extLst>
          </p:cNvPr>
          <p:cNvGrpSpPr/>
          <p:nvPr/>
        </p:nvGrpSpPr>
        <p:grpSpPr>
          <a:xfrm>
            <a:off x="140669" y="857497"/>
            <a:ext cx="5919953" cy="5371484"/>
            <a:chOff x="6095999" y="1054195"/>
            <a:chExt cx="5919953" cy="5371484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B8F2FCA5-4DE0-4C25-A6D6-FA9784F3827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5999" y="1054195"/>
              <a:ext cx="5919953" cy="5240856"/>
            </a:xfrm>
            <a:prstGeom prst="rect">
              <a:avLst/>
            </a:prstGeom>
          </p:spPr>
        </p:pic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CD75B8F1-0438-B754-5099-8F8DE19A18D8}"/>
                </a:ext>
              </a:extLst>
            </p:cNvPr>
            <p:cNvCxnSpPr/>
            <p:nvPr/>
          </p:nvCxnSpPr>
          <p:spPr>
            <a:xfrm>
              <a:off x="6961239" y="1342103"/>
              <a:ext cx="2757948" cy="0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33CB6590-CBA7-1CE1-6464-D41D4553376A}"/>
                </a:ext>
              </a:extLst>
            </p:cNvPr>
            <p:cNvCxnSpPr>
              <a:cxnSpLocks/>
            </p:cNvCxnSpPr>
            <p:nvPr/>
          </p:nvCxnSpPr>
          <p:spPr>
            <a:xfrm>
              <a:off x="7406923" y="4104967"/>
              <a:ext cx="1649052" cy="0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C60454AD-43AB-51A0-73DF-7457043901F4}"/>
                </a:ext>
              </a:extLst>
            </p:cNvPr>
            <p:cNvCxnSpPr>
              <a:cxnSpLocks/>
            </p:cNvCxnSpPr>
            <p:nvPr/>
          </p:nvCxnSpPr>
          <p:spPr>
            <a:xfrm>
              <a:off x="10854638" y="5152102"/>
              <a:ext cx="0" cy="1273577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Callout: Bent Line 11">
            <a:extLst>
              <a:ext uri="{FF2B5EF4-FFF2-40B4-BE49-F238E27FC236}">
                <a16:creationId xmlns:a16="http://schemas.microsoft.com/office/drawing/2014/main" id="{464F868E-744A-5A4C-CE73-C7570BCF3FD6}"/>
              </a:ext>
            </a:extLst>
          </p:cNvPr>
          <p:cNvSpPr/>
          <p:nvPr/>
        </p:nvSpPr>
        <p:spPr>
          <a:xfrm>
            <a:off x="5842166" y="1037326"/>
            <a:ext cx="6209165" cy="908050"/>
          </a:xfrm>
          <a:prstGeom prst="borderCallout2">
            <a:avLst>
              <a:gd name="adj1" fmla="val 53623"/>
              <a:gd name="adj2" fmla="val -45"/>
              <a:gd name="adj3" fmla="val 7691"/>
              <a:gd name="adj4" fmla="val -13229"/>
              <a:gd name="adj5" fmla="val 112"/>
              <a:gd name="adj6" fmla="val -33812"/>
            </a:avLst>
          </a:prstGeom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2400" b="1" dirty="0"/>
              <a:t>Η συνάρτηση δέχεται ως όρισμα ένα πίνακα ακεραίων</a:t>
            </a:r>
          </a:p>
        </p:txBody>
      </p:sp>
      <p:sp>
        <p:nvSpPr>
          <p:cNvPr id="13" name="Callout: Bent Line 12">
            <a:extLst>
              <a:ext uri="{FF2B5EF4-FFF2-40B4-BE49-F238E27FC236}">
                <a16:creationId xmlns:a16="http://schemas.microsoft.com/office/drawing/2014/main" id="{B5CA932C-A571-3CB9-9A4A-0314F79EC898}"/>
              </a:ext>
            </a:extLst>
          </p:cNvPr>
          <p:cNvSpPr/>
          <p:nvPr/>
        </p:nvSpPr>
        <p:spPr>
          <a:xfrm>
            <a:off x="5842166" y="3673982"/>
            <a:ext cx="6209165" cy="1157319"/>
          </a:xfrm>
          <a:prstGeom prst="borderCallout2">
            <a:avLst>
              <a:gd name="adj1" fmla="val 53623"/>
              <a:gd name="adj2" fmla="val -45"/>
              <a:gd name="adj3" fmla="val 7691"/>
              <a:gd name="adj4" fmla="val -13229"/>
              <a:gd name="adj5" fmla="val 9330"/>
              <a:gd name="adj6" fmla="val -42157"/>
            </a:avLst>
          </a:prstGeom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2400" b="1" dirty="0"/>
              <a:t>Κλήση της συνάρτησης με πραγματικό όρισμα τον πίνακα </a:t>
            </a:r>
            <a:r>
              <a:rPr lang="en-US" sz="2400" b="1" dirty="0"/>
              <a:t>num. </a:t>
            </a:r>
            <a:br>
              <a:rPr lang="en-US" sz="2400" b="1" dirty="0"/>
            </a:br>
            <a:r>
              <a:rPr lang="en-US" sz="2400" b="1" dirty="0"/>
              <a:t>O </a:t>
            </a:r>
            <a:r>
              <a:rPr lang="el-GR" sz="2400" b="1" dirty="0"/>
              <a:t>πίνακας περνάει κατά αναφορά.</a:t>
            </a:r>
          </a:p>
        </p:txBody>
      </p:sp>
      <p:sp>
        <p:nvSpPr>
          <p:cNvPr id="17" name="Callout: Bent Line 16">
            <a:extLst>
              <a:ext uri="{FF2B5EF4-FFF2-40B4-BE49-F238E27FC236}">
                <a16:creationId xmlns:a16="http://schemas.microsoft.com/office/drawing/2014/main" id="{0028D6E4-EE52-B707-5DB1-DEE580D9EAD9}"/>
              </a:ext>
            </a:extLst>
          </p:cNvPr>
          <p:cNvSpPr/>
          <p:nvPr/>
        </p:nvSpPr>
        <p:spPr>
          <a:xfrm>
            <a:off x="5872613" y="5319578"/>
            <a:ext cx="6209165" cy="1129447"/>
          </a:xfrm>
          <a:prstGeom prst="borderCallout2">
            <a:avLst>
              <a:gd name="adj1" fmla="val 53623"/>
              <a:gd name="adj2" fmla="val -45"/>
              <a:gd name="adj3" fmla="val 65713"/>
              <a:gd name="adj4" fmla="val -8320"/>
              <a:gd name="adj5" fmla="val 44640"/>
              <a:gd name="adj6" fmla="val -17367"/>
            </a:avLst>
          </a:prstGeom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2400" b="1" dirty="0"/>
              <a:t>Η συνάρτηση δεν είναι επαναχρησιμοποιήσιμη καθώς χρησιμοποιεί τις μεταβλητές </a:t>
            </a:r>
            <a:r>
              <a:rPr lang="en-US" sz="2400" b="1" dirty="0" err="1"/>
              <a:t>numOfTerms</a:t>
            </a:r>
            <a:r>
              <a:rPr lang="el-GR" sz="2400" b="1" dirty="0"/>
              <a:t>, </a:t>
            </a:r>
            <a:r>
              <a:rPr lang="en-US" sz="2400" b="1" dirty="0"/>
              <a:t>sum </a:t>
            </a:r>
            <a:r>
              <a:rPr lang="el-GR" sz="2400" b="1" dirty="0"/>
              <a:t>και </a:t>
            </a:r>
            <a:r>
              <a:rPr lang="en-US" sz="2400" b="1" dirty="0"/>
              <a:t>avg</a:t>
            </a:r>
            <a:r>
              <a:rPr lang="el-GR" sz="2400" b="1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372244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7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11FC2C-2DA0-A546-BE99-C4C4739240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2F17FE0C-1EBB-37B0-26DD-5F6AAA95BF49}"/>
              </a:ext>
            </a:extLst>
          </p:cNvPr>
          <p:cNvSpPr/>
          <p:nvPr/>
        </p:nvSpPr>
        <p:spPr>
          <a:xfrm>
            <a:off x="140669" y="6559908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1CF70D52-07FF-6A55-529E-C4F3A08BF1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 err="1">
                <a:solidFill>
                  <a:srgbClr val="F9853D"/>
                </a:solidFill>
                <a:latin typeface="Bahnschrift" panose="020B0502040204020203" pitchFamily="34" charset="0"/>
              </a:rPr>
              <a:t>Average</a:t>
            </a:r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 ως Συνάρτηση με όρισμα Πίνακα</a:t>
            </a:r>
            <a:endParaRPr lang="en-US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E7BBC117-035A-1B50-AAF5-F7DE49EEB0E9}"/>
              </a:ext>
            </a:extLst>
          </p:cNvPr>
          <p:cNvSpPr txBox="1">
            <a:spLocks/>
          </p:cNvSpPr>
          <p:nvPr/>
        </p:nvSpPr>
        <p:spPr>
          <a:xfrm>
            <a:off x="-1" y="6599394"/>
            <a:ext cx="3840633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© 202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5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Μια Εισαγωγή στην Τέχνη του Προγραμματισμού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2B703D7-8073-1276-2F3C-6A33E258534A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200" dirty="0">
                <a:latin typeface="Bahnschrift Light" panose="020B0502040204020203" pitchFamily="34" charset="0"/>
                <a:cs typeface="Arial" pitchFamily="34" charset="0"/>
              </a:rPr>
              <a:t>Διαφάνεια </a:t>
            </a:r>
            <a:fld id="{7C15C5B5-03C6-48D8-B20F-65D93A6CF09E}" type="slidenum">
              <a:rPr lang="en-US" sz="1200" smtClean="0">
                <a:latin typeface="Bahnschrift Light" panose="020B0502040204020203" pitchFamily="34" charset="0"/>
                <a:cs typeface="Arial" pitchFamily="34" charset="0"/>
              </a:rPr>
              <a:pPr algn="r"/>
              <a:t>57</a:t>
            </a:fld>
            <a:endParaRPr lang="en-US" sz="1200" dirty="0">
              <a:latin typeface="Bahnschrift Light" panose="020B0502040204020203" pitchFamily="34" charset="0"/>
              <a:cs typeface="Arial" pitchFamily="34" charset="0"/>
            </a:endParaRPr>
          </a:p>
        </p:txBody>
      </p:sp>
      <p:sp>
        <p:nvSpPr>
          <p:cNvPr id="14" name="Θέση υποσέλιδου 4">
            <a:extLst>
              <a:ext uri="{FF2B5EF4-FFF2-40B4-BE49-F238E27FC236}">
                <a16:creationId xmlns:a16="http://schemas.microsoft.com/office/drawing/2014/main" id="{8579EEC8-186E-862F-29EF-F842ADC627F5}"/>
              </a:ext>
            </a:extLst>
          </p:cNvPr>
          <p:cNvSpPr txBox="1">
            <a:spLocks/>
          </p:cNvSpPr>
          <p:nvPr/>
        </p:nvSpPr>
        <p:spPr>
          <a:xfrm>
            <a:off x="4149680" y="6689184"/>
            <a:ext cx="3462169" cy="2586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Πηγαίος Κώδικας – Βασικές Έννοιες</a:t>
            </a:r>
          </a:p>
          <a:p>
            <a:endParaRPr lang="el-GR" sz="11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9BCDA1D7-3B80-BAB1-E49D-AC15A7A4FE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3750" y="1916114"/>
            <a:ext cx="7772400" cy="4249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342900" marR="0" lvl="0" indent="-342900" defTabSz="91440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l-GR" sz="3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	</a:t>
            </a:r>
            <a:endParaRPr kumimoji="0" lang="el-GR" altLang="el-GR" sz="2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89CD747-A5A1-ED3F-B2CF-2843F690758A}"/>
              </a:ext>
            </a:extLst>
          </p:cNvPr>
          <p:cNvSpPr/>
          <p:nvPr/>
        </p:nvSpPr>
        <p:spPr bwMode="auto">
          <a:xfrm>
            <a:off x="3287688" y="1207808"/>
            <a:ext cx="3168352" cy="1512168"/>
          </a:xfrm>
          <a:prstGeom prst="ellipse">
            <a:avLst/>
          </a:prstGeom>
          <a:solidFill>
            <a:srgbClr val="00E4A8"/>
          </a:solidFill>
          <a:ln w="9525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Υπολόγισε</a:t>
            </a:r>
          </a:p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μέσο όρο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4B436C6-CF36-0377-6535-DDBF7FCA68FB}"/>
              </a:ext>
            </a:extLst>
          </p:cNvPr>
          <p:cNvCxnSpPr>
            <a:cxnSpLocks/>
          </p:cNvCxnSpPr>
          <p:nvPr/>
        </p:nvCxnSpPr>
        <p:spPr bwMode="auto">
          <a:xfrm>
            <a:off x="1679242" y="1394179"/>
            <a:ext cx="1832146" cy="221452"/>
          </a:xfrm>
          <a:prstGeom prst="straightConnector1">
            <a:avLst/>
          </a:prstGeom>
          <a:solidFill>
            <a:srgbClr val="00E4A8"/>
          </a:solidFill>
          <a:ln w="28575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B3B99B3-0279-7F3B-D362-554977D360D8}"/>
              </a:ext>
            </a:extLst>
          </p:cNvPr>
          <p:cNvCxnSpPr>
            <a:cxnSpLocks/>
            <a:stCxn id="4" idx="6"/>
            <a:endCxn id="9" idx="3"/>
          </p:cNvCxnSpPr>
          <p:nvPr/>
        </p:nvCxnSpPr>
        <p:spPr bwMode="auto">
          <a:xfrm>
            <a:off x="6456041" y="1963892"/>
            <a:ext cx="2160239" cy="25584"/>
          </a:xfrm>
          <a:prstGeom prst="straightConnector1">
            <a:avLst/>
          </a:prstGeom>
          <a:solidFill>
            <a:srgbClr val="00E4A8"/>
          </a:solidFill>
          <a:ln w="28575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D8F8695A-BA05-E37B-1189-2FE4B33D14CB}"/>
              </a:ext>
            </a:extLst>
          </p:cNvPr>
          <p:cNvSpPr txBox="1"/>
          <p:nvPr/>
        </p:nvSpPr>
        <p:spPr>
          <a:xfrm>
            <a:off x="523975" y="1976685"/>
            <a:ext cx="169148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l-GR" sz="2400" dirty="0">
                <a:solidFill>
                  <a:srgbClr val="000000"/>
                </a:solidFill>
                <a:latin typeface="Tahoma" panose="020B0604030504040204" pitchFamily="34" charset="0"/>
              </a:rPr>
              <a:t>Ακολουθία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l-GR" sz="2400" dirty="0">
                <a:solidFill>
                  <a:srgbClr val="000000"/>
                </a:solidFill>
                <a:latin typeface="Tahoma" panose="020B0604030504040204" pitchFamily="34" charset="0"/>
              </a:rPr>
              <a:t>Αριθμών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0331392-1FCA-5F20-404D-7A7F26BF495B}"/>
              </a:ext>
            </a:extLst>
          </p:cNvPr>
          <p:cNvSpPr txBox="1"/>
          <p:nvPr/>
        </p:nvSpPr>
        <p:spPr>
          <a:xfrm>
            <a:off x="6942371" y="1573978"/>
            <a:ext cx="167390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l-GR" sz="2400" dirty="0">
                <a:solidFill>
                  <a:srgbClr val="000000"/>
                </a:solidFill>
                <a:latin typeface="Tahoma" panose="020B0604030504040204" pitchFamily="34" charset="0"/>
              </a:rPr>
              <a:t>Μέσος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l-GR" sz="2400" dirty="0">
                <a:solidFill>
                  <a:srgbClr val="000000"/>
                </a:solidFill>
                <a:latin typeface="Tahoma" panose="020B0604030504040204" pitchFamily="34" charset="0"/>
              </a:rPr>
              <a:t>όρος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9C3E535-F36D-1692-EB7F-A905DE9862FA}"/>
              </a:ext>
            </a:extLst>
          </p:cNvPr>
          <p:cNvCxnSpPr>
            <a:cxnSpLocks/>
          </p:cNvCxnSpPr>
          <p:nvPr/>
        </p:nvCxnSpPr>
        <p:spPr bwMode="auto">
          <a:xfrm flipV="1">
            <a:off x="1415482" y="2050474"/>
            <a:ext cx="1872207" cy="453659"/>
          </a:xfrm>
          <a:prstGeom prst="straightConnector1">
            <a:avLst/>
          </a:prstGeom>
          <a:solidFill>
            <a:srgbClr val="00E4A8"/>
          </a:solidFill>
          <a:ln w="28575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2607C723-EEDC-06B8-D865-100579DC399D}"/>
              </a:ext>
            </a:extLst>
          </p:cNvPr>
          <p:cNvSpPr txBox="1"/>
          <p:nvPr/>
        </p:nvSpPr>
        <p:spPr>
          <a:xfrm>
            <a:off x="525189" y="3204900"/>
            <a:ext cx="813263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b="1" dirty="0">
                <a:solidFill>
                  <a:srgbClr val="FF0000"/>
                </a:solidFill>
                <a:latin typeface="Tahoma" panose="020B0604030504040204" pitchFamily="34" charset="0"/>
              </a:rPr>
              <a:t>float average(int num[], </a:t>
            </a:r>
            <a:r>
              <a:rPr lang="en-US" sz="2400" b="1" dirty="0">
                <a:solidFill>
                  <a:srgbClr val="A50021"/>
                </a:solidFill>
                <a:latin typeface="Tahoma" panose="020B0604030504040204" pitchFamily="34" charset="0"/>
              </a:rPr>
              <a:t>int </a:t>
            </a:r>
            <a:r>
              <a:rPr lang="en-US" sz="2400" b="1" dirty="0" err="1">
                <a:solidFill>
                  <a:srgbClr val="A50021"/>
                </a:solidFill>
                <a:latin typeface="Tahoma" panose="020B0604030504040204" pitchFamily="34" charset="0"/>
              </a:rPr>
              <a:t>numOfNumbers</a:t>
            </a:r>
            <a:r>
              <a:rPr lang="en-US" sz="2400" b="1" dirty="0">
                <a:solidFill>
                  <a:srgbClr val="FF0000"/>
                </a:solidFill>
                <a:latin typeface="Tahoma" panose="020B0604030504040204" pitchFamily="34" charset="0"/>
              </a:rPr>
              <a:t>) </a:t>
            </a:r>
            <a:r>
              <a:rPr lang="en-US" sz="2400" b="1" dirty="0">
                <a:solidFill>
                  <a:srgbClr val="000000"/>
                </a:solidFill>
                <a:latin typeface="Tahoma" panose="020B0604030504040204" pitchFamily="34" charset="0"/>
              </a:rPr>
              <a:t>{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b="1" dirty="0">
                <a:solidFill>
                  <a:srgbClr val="000000"/>
                </a:solidFill>
                <a:latin typeface="Tahoma" panose="020B0604030504040204" pitchFamily="34" charset="0"/>
              </a:rPr>
              <a:t>	</a:t>
            </a:r>
            <a:r>
              <a:rPr lang="en-US" sz="2400" dirty="0">
                <a:solidFill>
                  <a:srgbClr val="000000"/>
                </a:solidFill>
                <a:latin typeface="Tahoma" panose="020B0604030504040204" pitchFamily="34" charset="0"/>
              </a:rPr>
              <a:t>int </a:t>
            </a:r>
            <a:r>
              <a:rPr lang="en-US" sz="2400" dirty="0" err="1">
                <a:solidFill>
                  <a:srgbClr val="000000"/>
                </a:solidFill>
                <a:latin typeface="Tahoma" panose="020B0604030504040204" pitchFamily="34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Tahoma" panose="020B0604030504040204" pitchFamily="34" charset="0"/>
              </a:rPr>
              <a:t>;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solidFill>
                  <a:srgbClr val="000000"/>
                </a:solidFill>
                <a:latin typeface="Tahoma" panose="020B0604030504040204" pitchFamily="34" charset="0"/>
              </a:rPr>
              <a:t>	int sum=0;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solidFill>
                  <a:srgbClr val="000000"/>
                </a:solidFill>
                <a:latin typeface="Tahoma" panose="020B0604030504040204" pitchFamily="34" charset="0"/>
              </a:rPr>
              <a:t>	for(</a:t>
            </a:r>
            <a:r>
              <a:rPr lang="en-US" sz="2400" dirty="0" err="1">
                <a:solidFill>
                  <a:srgbClr val="000000"/>
                </a:solidFill>
                <a:latin typeface="Tahoma" panose="020B0604030504040204" pitchFamily="34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Tahoma" panose="020B0604030504040204" pitchFamily="34" charset="0"/>
              </a:rPr>
              <a:t>=0;i&lt;</a:t>
            </a:r>
            <a:r>
              <a:rPr lang="en-US" sz="2400" dirty="0" err="1">
                <a:solidFill>
                  <a:srgbClr val="000000"/>
                </a:solidFill>
                <a:latin typeface="Tahoma" panose="020B0604030504040204" pitchFamily="34" charset="0"/>
              </a:rPr>
              <a:t>numOfNumbers;i</a:t>
            </a:r>
            <a:r>
              <a:rPr lang="en-US" sz="2400" dirty="0">
                <a:solidFill>
                  <a:srgbClr val="000000"/>
                </a:solidFill>
                <a:latin typeface="Tahoma" panose="020B0604030504040204" pitchFamily="34" charset="0"/>
              </a:rPr>
              <a:t>++)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solidFill>
                  <a:srgbClr val="000000"/>
                </a:solidFill>
                <a:latin typeface="Tahoma" panose="020B0604030504040204" pitchFamily="34" charset="0"/>
              </a:rPr>
              <a:t>		sum+=n[</a:t>
            </a:r>
            <a:r>
              <a:rPr lang="en-US" sz="2400" dirty="0" err="1">
                <a:solidFill>
                  <a:srgbClr val="000000"/>
                </a:solidFill>
                <a:latin typeface="Tahoma" panose="020B0604030504040204" pitchFamily="34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Tahoma" panose="020B0604030504040204" pitchFamily="34" charset="0"/>
              </a:rPr>
              <a:t>];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solidFill>
                  <a:srgbClr val="000000"/>
                </a:solidFill>
                <a:latin typeface="Tahoma" panose="020B0604030504040204" pitchFamily="34" charset="0"/>
              </a:rPr>
              <a:t>	return (float)sum/</a:t>
            </a:r>
            <a:r>
              <a:rPr lang="en-US" sz="2400" dirty="0" err="1">
                <a:solidFill>
                  <a:srgbClr val="000000"/>
                </a:solidFill>
                <a:latin typeface="Tahoma" panose="020B0604030504040204" pitchFamily="34" charset="0"/>
              </a:rPr>
              <a:t>numOfNumbers</a:t>
            </a:r>
            <a:r>
              <a:rPr lang="en-US" sz="2400" dirty="0">
                <a:solidFill>
                  <a:srgbClr val="000000"/>
                </a:solidFill>
                <a:latin typeface="Tahoma" panose="020B0604030504040204" pitchFamily="34" charset="0"/>
              </a:rPr>
              <a:t>;	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b="1" dirty="0">
                <a:solidFill>
                  <a:srgbClr val="000000"/>
                </a:solidFill>
                <a:latin typeface="Tahoma" panose="020B0604030504040204" pitchFamily="34" charset="0"/>
              </a:rPr>
              <a:t>} </a:t>
            </a:r>
            <a:endParaRPr lang="el-GR" sz="2400" b="1" dirty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9113DBD-16E3-B55C-A643-8B73872CFE0A}"/>
              </a:ext>
            </a:extLst>
          </p:cNvPr>
          <p:cNvSpPr txBox="1"/>
          <p:nvPr/>
        </p:nvSpPr>
        <p:spPr>
          <a:xfrm>
            <a:off x="759707" y="941242"/>
            <a:ext cx="13759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l-GR" sz="2400" dirty="0">
                <a:solidFill>
                  <a:srgbClr val="000000"/>
                </a:solidFill>
                <a:latin typeface="Tahoma" panose="020B0604030504040204" pitchFamily="34" charset="0"/>
              </a:rPr>
              <a:t>Πλήθος Αριθμών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A6C90E5-E4E5-8685-21FB-B4446251F083}"/>
              </a:ext>
            </a:extLst>
          </p:cNvPr>
          <p:cNvCxnSpPr>
            <a:cxnSpLocks/>
          </p:cNvCxnSpPr>
          <p:nvPr/>
        </p:nvCxnSpPr>
        <p:spPr>
          <a:xfrm>
            <a:off x="1579418" y="1772239"/>
            <a:ext cx="4031673" cy="1520367"/>
          </a:xfrm>
          <a:prstGeom prst="straightConnector1">
            <a:avLst/>
          </a:prstGeom>
          <a:ln w="57150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4B322D9-6A90-40A1-0CBB-4ED9349A261A}"/>
              </a:ext>
            </a:extLst>
          </p:cNvPr>
          <p:cNvCxnSpPr>
            <a:cxnSpLocks/>
          </p:cNvCxnSpPr>
          <p:nvPr/>
        </p:nvCxnSpPr>
        <p:spPr>
          <a:xfrm>
            <a:off x="1822583" y="2524049"/>
            <a:ext cx="1616819" cy="768557"/>
          </a:xfrm>
          <a:prstGeom prst="straightConnector1">
            <a:avLst/>
          </a:prstGeom>
          <a:ln w="57150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337284D-9644-695E-5248-4EBE9F66D3AE}"/>
              </a:ext>
            </a:extLst>
          </p:cNvPr>
          <p:cNvCxnSpPr>
            <a:cxnSpLocks/>
          </p:cNvCxnSpPr>
          <p:nvPr/>
        </p:nvCxnSpPr>
        <p:spPr>
          <a:xfrm flipV="1">
            <a:off x="5264727" y="2383533"/>
            <a:ext cx="1981200" cy="2659522"/>
          </a:xfrm>
          <a:prstGeom prst="straightConnector1">
            <a:avLst/>
          </a:prstGeom>
          <a:ln w="57150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2292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6D560A-6566-FA67-9DDB-779325EC63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DE7B092C-FF7A-F0B1-3810-B9B122BF1505}"/>
              </a:ext>
            </a:extLst>
          </p:cNvPr>
          <p:cNvSpPr/>
          <p:nvPr/>
        </p:nvSpPr>
        <p:spPr>
          <a:xfrm>
            <a:off x="140669" y="6559908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F3545D0E-FC08-9289-8F29-7FB804CE84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Hands-on</a:t>
            </a:r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  (</a:t>
            </a:r>
            <a:r>
              <a:rPr lang="en-US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AverageV3 – </a:t>
            </a:r>
            <a:r>
              <a:rPr lang="en-US" sz="4000" b="1" dirty="0" err="1">
                <a:solidFill>
                  <a:srgbClr val="F9853D"/>
                </a:solidFill>
                <a:latin typeface="Bahnschrift" panose="020B0502040204020203" pitchFamily="34" charset="0"/>
              </a:rPr>
              <a:t>UsingFunction</a:t>
            </a:r>
            <a:r>
              <a:rPr lang="en-US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)</a:t>
            </a: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C34F3E61-326C-A98B-1286-BF0159ABC980}"/>
              </a:ext>
            </a:extLst>
          </p:cNvPr>
          <p:cNvSpPr txBox="1">
            <a:spLocks/>
          </p:cNvSpPr>
          <p:nvPr/>
        </p:nvSpPr>
        <p:spPr>
          <a:xfrm>
            <a:off x="-1" y="6599394"/>
            <a:ext cx="3840633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© 202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5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Μια Εισαγωγή στην Τέχνη του Προγραμματισμού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7D56AEA-56E0-9129-9BA3-0B0AD3EF62EB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200" dirty="0">
                <a:latin typeface="Bahnschrift Light" panose="020B0502040204020203" pitchFamily="34" charset="0"/>
                <a:cs typeface="Arial" pitchFamily="34" charset="0"/>
              </a:rPr>
              <a:t>Διαφάνεια </a:t>
            </a:r>
            <a:fld id="{7C15C5B5-03C6-48D8-B20F-65D93A6CF09E}" type="slidenum">
              <a:rPr lang="en-US" sz="1200" smtClean="0">
                <a:latin typeface="Bahnschrift Light" panose="020B0502040204020203" pitchFamily="34" charset="0"/>
                <a:cs typeface="Arial" pitchFamily="34" charset="0"/>
              </a:rPr>
              <a:pPr algn="r"/>
              <a:t>58</a:t>
            </a:fld>
            <a:endParaRPr lang="en-US" sz="1200" dirty="0">
              <a:latin typeface="Bahnschrift Light" panose="020B0502040204020203" pitchFamily="34" charset="0"/>
              <a:cs typeface="Arial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1714ECD-D9E4-0741-A83A-45E3CD8C5DF3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0"/>
            <a:ext cx="9144000" cy="908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0033CC"/>
              </a:solidFill>
              <a:latin typeface="Times New Roman" pitchFamily="18" charset="0"/>
            </a:endParaRPr>
          </a:p>
        </p:txBody>
      </p:sp>
      <p:sp>
        <p:nvSpPr>
          <p:cNvPr id="14" name="Θέση υποσέλιδου 4">
            <a:extLst>
              <a:ext uri="{FF2B5EF4-FFF2-40B4-BE49-F238E27FC236}">
                <a16:creationId xmlns:a16="http://schemas.microsoft.com/office/drawing/2014/main" id="{4E4C981E-EA48-C952-9EC6-EB1E06B85449}"/>
              </a:ext>
            </a:extLst>
          </p:cNvPr>
          <p:cNvSpPr txBox="1">
            <a:spLocks/>
          </p:cNvSpPr>
          <p:nvPr/>
        </p:nvSpPr>
        <p:spPr>
          <a:xfrm>
            <a:off x="4149680" y="6689184"/>
            <a:ext cx="3462169" cy="2586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Πηγαίος Κώδικας – Βασικές Έννοιες</a:t>
            </a:r>
          </a:p>
          <a:p>
            <a:endParaRPr lang="el-GR" sz="11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7" name="Speech Bubble: Rectangle with Corners Rounded 6">
            <a:extLst>
              <a:ext uri="{FF2B5EF4-FFF2-40B4-BE49-F238E27FC236}">
                <a16:creationId xmlns:a16="http://schemas.microsoft.com/office/drawing/2014/main" id="{0EF2BD89-8655-6971-939B-EA52F2D55A3C}"/>
              </a:ext>
            </a:extLst>
          </p:cNvPr>
          <p:cNvSpPr/>
          <p:nvPr/>
        </p:nvSpPr>
        <p:spPr>
          <a:xfrm>
            <a:off x="6095997" y="1164017"/>
            <a:ext cx="5633357" cy="1824522"/>
          </a:xfrm>
          <a:prstGeom prst="wedgeRoundRectCallout">
            <a:avLst>
              <a:gd name="adj1" fmla="val -59222"/>
              <a:gd name="adj2" fmla="val 98719"/>
              <a:gd name="adj3" fmla="val 16667"/>
            </a:avLst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2400" b="1" dirty="0">
                <a:solidFill>
                  <a:schemeClr val="tx1"/>
                </a:solidFill>
                <a:highlight>
                  <a:srgbClr val="FFFF00"/>
                </a:highlight>
              </a:rPr>
              <a:t>Αναπτύξτε την </a:t>
            </a:r>
            <a:r>
              <a:rPr lang="en-US" sz="2400" b="1" dirty="0">
                <a:solidFill>
                  <a:schemeClr val="tx1"/>
                </a:solidFill>
                <a:highlight>
                  <a:srgbClr val="FFFF00"/>
                </a:highlight>
              </a:rPr>
              <a:t>3</a:t>
            </a:r>
            <a:r>
              <a:rPr lang="el-GR" sz="2400" b="1" baseline="30000" dirty="0">
                <a:solidFill>
                  <a:schemeClr val="tx1"/>
                </a:solidFill>
                <a:highlight>
                  <a:srgbClr val="FFFF00"/>
                </a:highlight>
              </a:rPr>
              <a:t>η</a:t>
            </a:r>
            <a:r>
              <a:rPr lang="el-GR" sz="2400" b="1" dirty="0">
                <a:solidFill>
                  <a:schemeClr val="tx1"/>
                </a:solidFill>
                <a:highlight>
                  <a:srgbClr val="FFFF00"/>
                </a:highlight>
              </a:rPr>
              <a:t> έκδοση του  προγράμματος </a:t>
            </a:r>
            <a:r>
              <a:rPr lang="en-US" sz="2400" b="1" dirty="0">
                <a:solidFill>
                  <a:schemeClr val="tx1"/>
                </a:solidFill>
                <a:highlight>
                  <a:srgbClr val="FFFF00"/>
                </a:highlight>
              </a:rPr>
              <a:t>Average </a:t>
            </a:r>
            <a:r>
              <a:rPr lang="el-GR" sz="2400" b="1" dirty="0">
                <a:solidFill>
                  <a:schemeClr val="tx1"/>
                </a:solidFill>
                <a:highlight>
                  <a:srgbClr val="FFFF00"/>
                </a:highlight>
              </a:rPr>
              <a:t>η οποία χρησιμοποιεί μια συνάρτηση με όνομα </a:t>
            </a:r>
            <a:r>
              <a:rPr lang="en-US" sz="2400" b="1" dirty="0">
                <a:solidFill>
                  <a:schemeClr val="tx1"/>
                </a:solidFill>
                <a:highlight>
                  <a:srgbClr val="FFFF00"/>
                </a:highlight>
              </a:rPr>
              <a:t>average</a:t>
            </a:r>
            <a:endParaRPr lang="en-GB" sz="2400" b="1" dirty="0">
              <a:solidFill>
                <a:schemeClr val="tx1"/>
              </a:solidFill>
              <a:highlight>
                <a:srgbClr val="FFFF00"/>
              </a:highlight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0A406A3-9B23-78B0-B81C-1DC294FD46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370" y="1848073"/>
            <a:ext cx="4812974" cy="3543607"/>
          </a:xfrm>
          <a:prstGeom prst="rect">
            <a:avLst/>
          </a:prstGeom>
        </p:spPr>
      </p:pic>
      <p:sp>
        <p:nvSpPr>
          <p:cNvPr id="12" name="Speech Bubble: Rectangle with Corners Rounded 11">
            <a:extLst>
              <a:ext uri="{FF2B5EF4-FFF2-40B4-BE49-F238E27FC236}">
                <a16:creationId xmlns:a16="http://schemas.microsoft.com/office/drawing/2014/main" id="{34FB7A5B-8F8F-B7D9-7967-6A57A3293356}"/>
              </a:ext>
            </a:extLst>
          </p:cNvPr>
          <p:cNvSpPr/>
          <p:nvPr/>
        </p:nvSpPr>
        <p:spPr>
          <a:xfrm>
            <a:off x="6095997" y="3964473"/>
            <a:ext cx="5633357" cy="1067546"/>
          </a:xfrm>
          <a:prstGeom prst="wedgeRoundRectCallout">
            <a:avLst>
              <a:gd name="adj1" fmla="val -59222"/>
              <a:gd name="adj2" fmla="val 98719"/>
              <a:gd name="adj3" fmla="val 16667"/>
            </a:avLst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2400" b="1" dirty="0">
                <a:solidFill>
                  <a:schemeClr val="tx1"/>
                </a:solidFill>
                <a:highlight>
                  <a:srgbClr val="FFFF00"/>
                </a:highlight>
              </a:rPr>
              <a:t>Κάντε τη συνάρτηση</a:t>
            </a:r>
            <a:r>
              <a:rPr lang="en-US" sz="2400" b="1" dirty="0">
                <a:solidFill>
                  <a:schemeClr val="tx1"/>
                </a:solidFill>
                <a:highlight>
                  <a:srgbClr val="FFFF00"/>
                </a:highlight>
              </a:rPr>
              <a:t> average</a:t>
            </a:r>
            <a:r>
              <a:rPr lang="el-GR" sz="2400" b="1" dirty="0">
                <a:solidFill>
                  <a:schemeClr val="tx1"/>
                </a:solidFill>
                <a:highlight>
                  <a:srgbClr val="FFFF00"/>
                </a:highlight>
              </a:rPr>
              <a:t> επαναχρησιμοποιήσιμη</a:t>
            </a:r>
            <a:endParaRPr lang="en-GB" sz="2400" b="1" dirty="0">
              <a:solidFill>
                <a:schemeClr val="tx1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2442142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E95C4-74F0-B75E-E526-A63C939B72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CD013E1A-A1B8-DC96-DDE5-3E8EC35ACB21}"/>
              </a:ext>
            </a:extLst>
          </p:cNvPr>
          <p:cNvSpPr/>
          <p:nvPr/>
        </p:nvSpPr>
        <p:spPr>
          <a:xfrm>
            <a:off x="140669" y="6559908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2EAA502B-B2F2-DCC7-CF93-2E4B06F30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Οργάνωση Διάλεξης</a:t>
            </a: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FCF2295-A38D-D3DC-812E-05E293C53A81}"/>
              </a:ext>
            </a:extLst>
          </p:cNvPr>
          <p:cNvSpPr txBox="1">
            <a:spLocks/>
          </p:cNvSpPr>
          <p:nvPr/>
        </p:nvSpPr>
        <p:spPr>
          <a:xfrm>
            <a:off x="-1" y="6599394"/>
            <a:ext cx="3840633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© 202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5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Μια Εισαγωγή στην Τέχνη του Προγραμματισμού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61B8990-32DC-55C1-43D7-386D938D125A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200" dirty="0">
                <a:latin typeface="Bahnschrift Light" panose="020B0502040204020203" pitchFamily="34" charset="0"/>
                <a:cs typeface="Arial" pitchFamily="34" charset="0"/>
              </a:rPr>
              <a:t>Διαφάνεια </a:t>
            </a:r>
            <a:fld id="{7C15C5B5-03C6-48D8-B20F-65D93A6CF09E}" type="slidenum">
              <a:rPr lang="en-US" sz="1200" smtClean="0">
                <a:latin typeface="Bahnschrift Light" panose="020B0502040204020203" pitchFamily="34" charset="0"/>
                <a:cs typeface="Arial" pitchFamily="34" charset="0"/>
              </a:rPr>
              <a:pPr algn="r"/>
              <a:t>59</a:t>
            </a:fld>
            <a:endParaRPr lang="en-US" sz="1200" dirty="0">
              <a:latin typeface="Bahnschrift Light" panose="020B0502040204020203" pitchFamily="34" charset="0"/>
              <a:cs typeface="Arial" pitchFamily="34" charset="0"/>
            </a:endParaRPr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28913C4C-7ED7-2680-CE66-911FA6BA76DF}"/>
              </a:ext>
            </a:extLst>
          </p:cNvPr>
          <p:cNvSpPr txBox="1">
            <a:spLocks/>
          </p:cNvSpPr>
          <p:nvPr/>
        </p:nvSpPr>
        <p:spPr>
          <a:xfrm>
            <a:off x="4149680" y="6670790"/>
            <a:ext cx="4631713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Control flow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 – 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Arrays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 - 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Type conversions</a:t>
            </a:r>
          </a:p>
          <a:p>
            <a:endParaRPr lang="el-GR" sz="11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EBAD52D-6160-808C-900F-067BD6892ABF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0"/>
            <a:ext cx="9144000" cy="908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0033CC"/>
              </a:solidFill>
              <a:latin typeface="Times New Roman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7023A97-E187-2DCE-7B61-4F5547671F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449" y="914699"/>
            <a:ext cx="112071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el-GR" altLang="el-GR" b="1" dirty="0">
                <a:solidFill>
                  <a:srgbClr val="F9853D"/>
                </a:solidFill>
                <a:latin typeface="Bahnschrift" panose="020B0502040204020203" pitchFamily="34" charset="0"/>
              </a:rPr>
              <a:t>Δραστηριότητα 5-1   </a:t>
            </a:r>
            <a:r>
              <a:rPr lang="en-GB" altLang="el-GR" b="1" dirty="0" err="1">
                <a:solidFill>
                  <a:srgbClr val="F9853D"/>
                </a:solidFill>
                <a:latin typeface="Bahnschrift" panose="020B0502040204020203" pitchFamily="34" charset="0"/>
              </a:rPr>
              <a:t>HailstoneSequence</a:t>
            </a:r>
            <a:endParaRPr lang="el-GR" altLang="el-GR" b="1" dirty="0">
              <a:solidFill>
                <a:srgbClr val="F9853D"/>
              </a:solidFill>
              <a:latin typeface="Bahnschrift" panose="020B0502040204020203" pitchFamily="34" charset="0"/>
            </a:endParaRPr>
          </a:p>
          <a:p>
            <a:pPr lvl="1" eaLnBrk="1" hangingPunct="1">
              <a:lnSpc>
                <a:spcPct val="80000"/>
              </a:lnSpc>
            </a:pPr>
            <a:r>
              <a:rPr lang="el-GR" altLang="el-GR" kern="0" dirty="0">
                <a:latin typeface="Times New Roman" panose="02020603050405020304" pitchFamily="18" charset="0"/>
              </a:rPr>
              <a:t>προτάσεις ελέγχου της ροής</a:t>
            </a:r>
            <a:r>
              <a:rPr lang="en-US" altLang="el-GR" kern="0" dirty="0">
                <a:latin typeface="Times New Roman" panose="02020603050405020304" pitchFamily="18" charset="0"/>
              </a:rPr>
              <a:t>, </a:t>
            </a:r>
            <a:r>
              <a:rPr lang="el-GR" altLang="el-GR" kern="0" dirty="0">
                <a:latin typeface="Times New Roman" panose="02020603050405020304" pitchFamily="18" charset="0"/>
              </a:rPr>
              <a:t>οι προτάσεις </a:t>
            </a:r>
            <a:r>
              <a:rPr lang="en-US" altLang="el-GR" kern="0" dirty="0">
                <a:latin typeface="Times New Roman" panose="02020603050405020304" pitchFamily="18" charset="0"/>
              </a:rPr>
              <a:t>if </a:t>
            </a:r>
            <a:r>
              <a:rPr lang="el-GR" altLang="el-GR" kern="0" dirty="0">
                <a:latin typeface="Times New Roman" panose="02020603050405020304" pitchFamily="18" charset="0"/>
              </a:rPr>
              <a:t>και </a:t>
            </a:r>
            <a:r>
              <a:rPr lang="en-US" altLang="el-GR" kern="0" dirty="0">
                <a:latin typeface="Times New Roman" panose="02020603050405020304" pitchFamily="18" charset="0"/>
              </a:rPr>
              <a:t>while</a:t>
            </a:r>
            <a:r>
              <a:rPr lang="el-GR" altLang="el-GR" kern="0" dirty="0">
                <a:latin typeface="Times New Roman" panose="02020603050405020304" pitchFamily="18" charset="0"/>
              </a:rPr>
              <a:t> </a:t>
            </a:r>
          </a:p>
          <a:p>
            <a:pPr lvl="1" eaLnBrk="1" hangingPunct="1">
              <a:lnSpc>
                <a:spcPct val="80000"/>
              </a:lnSpc>
            </a:pPr>
            <a:r>
              <a:rPr lang="el-GR" altLang="el-GR" kern="0" dirty="0">
                <a:latin typeface="Times New Roman" panose="02020603050405020304" pitchFamily="18" charset="0"/>
              </a:rPr>
              <a:t>γραφική αναπαράσταση διεργασίας</a:t>
            </a:r>
          </a:p>
          <a:p>
            <a:pPr eaLnBrk="1" hangingPunct="1">
              <a:lnSpc>
                <a:spcPct val="80000"/>
              </a:lnSpc>
            </a:pPr>
            <a:r>
              <a:rPr lang="el-GR" altLang="el-GR" b="1" dirty="0">
                <a:solidFill>
                  <a:srgbClr val="F9853D"/>
                </a:solidFill>
                <a:latin typeface="Bahnschrift" panose="020B0502040204020203" pitchFamily="34" charset="0"/>
              </a:rPr>
              <a:t>Δραστηριότητα 5-2   </a:t>
            </a:r>
            <a:r>
              <a:rPr lang="en-GB" altLang="el-GR" b="1" dirty="0" err="1">
                <a:solidFill>
                  <a:srgbClr val="F9853D"/>
                </a:solidFill>
                <a:latin typeface="Bahnschrift" panose="020B0502040204020203" pitchFamily="34" charset="0"/>
              </a:rPr>
              <a:t>FibonacciSequence</a:t>
            </a:r>
            <a:endParaRPr lang="el-GR" altLang="el-GR" b="1" dirty="0">
              <a:solidFill>
                <a:srgbClr val="F9853D"/>
              </a:solidFill>
              <a:latin typeface="Bahnschrift" panose="020B0502040204020203" pitchFamily="34" charset="0"/>
            </a:endParaRPr>
          </a:p>
          <a:p>
            <a:pPr lvl="1" eaLnBrk="1" hangingPunct="1">
              <a:lnSpc>
                <a:spcPct val="80000"/>
              </a:lnSpc>
            </a:pPr>
            <a:r>
              <a:rPr lang="el-GR" altLang="el-GR" kern="0" dirty="0">
                <a:latin typeface="Times New Roman" panose="02020603050405020304" pitchFamily="18" charset="0"/>
              </a:rPr>
              <a:t>πρόταση επανάληψης for  </a:t>
            </a:r>
          </a:p>
          <a:p>
            <a:pPr lvl="1" eaLnBrk="1" hangingPunct="1">
              <a:lnSpc>
                <a:spcPct val="80000"/>
              </a:lnSpc>
            </a:pPr>
            <a:r>
              <a:rPr lang="el-GR" altLang="el-GR" kern="0" dirty="0">
                <a:latin typeface="Times New Roman" panose="02020603050405020304" pitchFamily="18" charset="0"/>
              </a:rPr>
              <a:t>τύπος του πίνακα (</a:t>
            </a:r>
            <a:r>
              <a:rPr lang="el-GR" altLang="el-GR" kern="0" dirty="0" err="1">
                <a:latin typeface="Times New Roman" panose="02020603050405020304" pitchFamily="18" charset="0"/>
              </a:rPr>
              <a:t>array</a:t>
            </a:r>
            <a:r>
              <a:rPr lang="el-GR" altLang="el-GR" kern="0" dirty="0">
                <a:latin typeface="Times New Roman" panose="02020603050405020304" pitchFamily="18" charset="0"/>
              </a:rPr>
              <a:t>). </a:t>
            </a:r>
          </a:p>
          <a:p>
            <a:pPr eaLnBrk="1" hangingPunct="1">
              <a:lnSpc>
                <a:spcPct val="80000"/>
              </a:lnSpc>
            </a:pPr>
            <a:r>
              <a:rPr lang="el-GR" altLang="el-GR" b="1" dirty="0">
                <a:solidFill>
                  <a:srgbClr val="F9853D"/>
                </a:solidFill>
                <a:latin typeface="Bahnschrift" panose="020B0502040204020203" pitchFamily="34" charset="0"/>
              </a:rPr>
              <a:t>Δραστηριότητα 5-3   </a:t>
            </a:r>
            <a:r>
              <a:rPr lang="en-GB" altLang="el-GR" b="1" dirty="0">
                <a:solidFill>
                  <a:srgbClr val="F9853D"/>
                </a:solidFill>
                <a:latin typeface="Bahnschrift" panose="020B0502040204020203" pitchFamily="34" charset="0"/>
              </a:rPr>
              <a:t>Average</a:t>
            </a:r>
            <a:endParaRPr lang="el-GR" altLang="el-GR" b="1" dirty="0">
              <a:solidFill>
                <a:srgbClr val="F9853D"/>
              </a:solidFill>
              <a:latin typeface="Bahnschrift" panose="020B0502040204020203" pitchFamily="34" charset="0"/>
            </a:endParaRPr>
          </a:p>
          <a:p>
            <a:pPr lvl="1" eaLnBrk="1" hangingPunct="1">
              <a:lnSpc>
                <a:spcPct val="80000"/>
              </a:lnSpc>
            </a:pPr>
            <a:r>
              <a:rPr lang="el-GR" altLang="el-GR" kern="0" dirty="0">
                <a:latin typeface="Times New Roman" panose="02020603050405020304" pitchFamily="18" charset="0"/>
              </a:rPr>
              <a:t>Ο τύπος </a:t>
            </a:r>
            <a:r>
              <a:rPr lang="en-US" altLang="el-GR" kern="0" dirty="0">
                <a:latin typeface="Times New Roman" panose="02020603050405020304" pitchFamily="18" charset="0"/>
              </a:rPr>
              <a:t>f</a:t>
            </a:r>
            <a:r>
              <a:rPr lang="el-GR" altLang="el-GR" kern="0" dirty="0" err="1">
                <a:latin typeface="Times New Roman" panose="02020603050405020304" pitchFamily="18" charset="0"/>
              </a:rPr>
              <a:t>oat</a:t>
            </a:r>
            <a:r>
              <a:rPr lang="en-US" altLang="el-GR" kern="0" dirty="0">
                <a:latin typeface="Times New Roman" panose="02020603050405020304" pitchFamily="18" charset="0"/>
              </a:rPr>
              <a:t>, </a:t>
            </a:r>
            <a:r>
              <a:rPr lang="el-GR" altLang="el-GR" kern="0" dirty="0">
                <a:latin typeface="Times New Roman" panose="02020603050405020304" pitchFamily="18" charset="0"/>
              </a:rPr>
              <a:t>μετατροπή τύπων</a:t>
            </a:r>
            <a:r>
              <a:rPr lang="en-US" altLang="el-GR" kern="0" dirty="0">
                <a:latin typeface="Times New Roman" panose="02020603050405020304" pitchFamily="18" charset="0"/>
              </a:rPr>
              <a:t>, </a:t>
            </a:r>
            <a:r>
              <a:rPr lang="el-GR" altLang="el-GR" kern="0" dirty="0">
                <a:latin typeface="Times New Roman" panose="02020603050405020304" pitchFamily="18" charset="0"/>
              </a:rPr>
              <a:t>έλεγχος τύπων (</a:t>
            </a:r>
            <a:r>
              <a:rPr lang="el-GR" altLang="el-GR" kern="0" dirty="0" err="1">
                <a:latin typeface="Times New Roman" panose="02020603050405020304" pitchFamily="18" charset="0"/>
              </a:rPr>
              <a:t>type</a:t>
            </a:r>
            <a:r>
              <a:rPr lang="el-GR" altLang="el-GR" kern="0" dirty="0">
                <a:latin typeface="Times New Roman" panose="02020603050405020304" pitchFamily="18" charset="0"/>
              </a:rPr>
              <a:t> </a:t>
            </a:r>
            <a:r>
              <a:rPr lang="el-GR" altLang="el-GR" kern="0" dirty="0" err="1">
                <a:latin typeface="Times New Roman" panose="02020603050405020304" pitchFamily="18" charset="0"/>
              </a:rPr>
              <a:t>checking</a:t>
            </a:r>
            <a:r>
              <a:rPr lang="el-GR" altLang="el-GR" kern="0" dirty="0">
                <a:latin typeface="Times New Roman" panose="02020603050405020304" pitchFamily="18" charset="0"/>
              </a:rPr>
              <a:t>) </a:t>
            </a:r>
          </a:p>
          <a:p>
            <a:pPr lvl="1" eaLnBrk="1" hangingPunct="1">
              <a:lnSpc>
                <a:spcPct val="80000"/>
              </a:lnSpc>
            </a:pPr>
            <a:r>
              <a:rPr lang="el-GR" altLang="el-GR" kern="0" dirty="0">
                <a:latin typeface="Times New Roman" panose="02020603050405020304" pitchFamily="18" charset="0"/>
              </a:rPr>
              <a:t>συνάρτηση </a:t>
            </a:r>
            <a:r>
              <a:rPr lang="el-GR" altLang="el-GR" kern="0" dirty="0" err="1">
                <a:latin typeface="Times New Roman" panose="02020603050405020304" pitchFamily="18" charset="0"/>
              </a:rPr>
              <a:t>printf</a:t>
            </a:r>
            <a:r>
              <a:rPr lang="el-GR" altLang="el-GR" kern="0" dirty="0">
                <a:latin typeface="Times New Roman" panose="02020603050405020304" pitchFamily="18" charset="0"/>
              </a:rPr>
              <a:t>, πέρασμα πίνακα ως όρισμα σε συνάρτηση</a:t>
            </a:r>
            <a:endParaRPr lang="el-GR" altLang="el-GR" b="1" dirty="0">
              <a:solidFill>
                <a:srgbClr val="F9853D"/>
              </a:solidFill>
              <a:latin typeface="Bahnschrift" panose="020B0502040204020203" pitchFamily="34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el-GR" altLang="el-GR" b="1" dirty="0">
                <a:solidFill>
                  <a:srgbClr val="C00000"/>
                </a:solidFill>
                <a:latin typeface="Bahnschrift" panose="020B0502040204020203" pitchFamily="34" charset="0"/>
              </a:rPr>
              <a:t>Ο </a:t>
            </a:r>
            <a:r>
              <a:rPr lang="en-GB" altLang="el-GR" b="1" dirty="0">
                <a:solidFill>
                  <a:srgbClr val="C00000"/>
                </a:solidFill>
                <a:latin typeface="Bahnschrift" panose="020B0502040204020203" pitchFamily="34" charset="0"/>
              </a:rPr>
              <a:t>Alex, </a:t>
            </a:r>
            <a:r>
              <a:rPr lang="el-GR" altLang="el-GR" b="1" dirty="0">
                <a:solidFill>
                  <a:srgbClr val="C00000"/>
                </a:solidFill>
                <a:latin typeface="Bahnschrift" panose="020B0502040204020203" pitchFamily="34" charset="0"/>
              </a:rPr>
              <a:t>το </a:t>
            </a:r>
            <a:r>
              <a:rPr lang="en-GB" altLang="el-GR" b="1" dirty="0">
                <a:solidFill>
                  <a:srgbClr val="C00000"/>
                </a:solidFill>
                <a:latin typeface="Bahnschrift" panose="020B0502040204020203" pitchFamily="34" charset="0"/>
              </a:rPr>
              <a:t>AI Chatbot </a:t>
            </a:r>
            <a:r>
              <a:rPr lang="el-GR" altLang="el-GR" b="1" dirty="0">
                <a:solidFill>
                  <a:srgbClr val="C00000"/>
                </a:solidFill>
                <a:latin typeface="Bahnschrift" panose="020B0502040204020203" pitchFamily="34" charset="0"/>
              </a:rPr>
              <a:t>και η </a:t>
            </a:r>
            <a:r>
              <a:rPr lang="en-GB" altLang="el-GR" b="1" dirty="0" err="1">
                <a:solidFill>
                  <a:srgbClr val="C00000"/>
                </a:solidFill>
                <a:latin typeface="Bahnschrift" panose="020B0502040204020203" pitchFamily="34" charset="0"/>
              </a:rPr>
              <a:t>HailstoneSequence</a:t>
            </a:r>
            <a:endParaRPr lang="el-GR" altLang="el-GR" b="1" dirty="0">
              <a:solidFill>
                <a:srgbClr val="C00000"/>
              </a:solidFill>
              <a:latin typeface="Bahnschrift" panose="020B0502040204020203" pitchFamily="34" charset="0"/>
            </a:endParaRPr>
          </a:p>
          <a:p>
            <a:pPr lvl="1" eaLnBrk="1" hangingPunct="1">
              <a:lnSpc>
                <a:spcPct val="80000"/>
              </a:lnSpc>
            </a:pPr>
            <a:r>
              <a:rPr lang="el-GR" altLang="el-GR" kern="0" dirty="0">
                <a:latin typeface="Times New Roman" panose="02020603050405020304" pitchFamily="18" charset="0"/>
              </a:rPr>
              <a:t>Λεκτική Περιγραφή, </a:t>
            </a:r>
            <a:r>
              <a:rPr lang="en-US" altLang="el-GR" kern="0" dirty="0">
                <a:latin typeface="Times New Roman" panose="02020603050405020304" pitchFamily="18" charset="0"/>
              </a:rPr>
              <a:t>Structured English, Program Design Language</a:t>
            </a:r>
            <a:endParaRPr lang="el-GR" altLang="el-GR" kern="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el-GR" b="1" dirty="0">
                <a:solidFill>
                  <a:srgbClr val="F9853D"/>
                </a:solidFill>
                <a:latin typeface="Bahnschrift" panose="020B0502040204020203" pitchFamily="34" charset="0"/>
              </a:rPr>
              <a:t>Δραστηριότητα </a:t>
            </a:r>
            <a:r>
              <a:rPr lang="en-US" b="1" dirty="0">
                <a:solidFill>
                  <a:srgbClr val="F9853D"/>
                </a:solidFill>
                <a:latin typeface="Bahnschrift" panose="020B0502040204020203" pitchFamily="34" charset="0"/>
              </a:rPr>
              <a:t>5</a:t>
            </a:r>
            <a:r>
              <a:rPr lang="el-GR" b="1" dirty="0">
                <a:solidFill>
                  <a:srgbClr val="F9853D"/>
                </a:solidFill>
                <a:latin typeface="Bahnschrift" panose="020B0502040204020203" pitchFamily="34" charset="0"/>
              </a:rPr>
              <a:t>-</a:t>
            </a:r>
            <a:r>
              <a:rPr lang="en-US" b="1" dirty="0">
                <a:solidFill>
                  <a:srgbClr val="F9853D"/>
                </a:solidFill>
                <a:latin typeface="Bahnschrift" panose="020B0502040204020203" pitchFamily="34" charset="0"/>
              </a:rPr>
              <a:t>4</a:t>
            </a:r>
            <a:r>
              <a:rPr lang="el-GR" b="1" dirty="0">
                <a:solidFill>
                  <a:srgbClr val="F9853D"/>
                </a:solidFill>
                <a:latin typeface="Bahnschrift" panose="020B0502040204020203" pitchFamily="34" charset="0"/>
              </a:rPr>
              <a:t>   </a:t>
            </a:r>
            <a:r>
              <a:rPr lang="en-US" b="1" dirty="0">
                <a:solidFill>
                  <a:srgbClr val="F9853D"/>
                </a:solidFill>
                <a:latin typeface="Bahnschrift" panose="020B0502040204020203" pitchFamily="34" charset="0"/>
              </a:rPr>
              <a:t>MathFunctions</a:t>
            </a:r>
            <a:endParaRPr lang="el-GR" altLang="el-GR" kern="0" dirty="0"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80000"/>
              </a:lnSpc>
            </a:pPr>
            <a:endParaRPr lang="el-GR" altLang="el-GR" kern="0" dirty="0"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80000"/>
              </a:lnSpc>
            </a:pPr>
            <a:endParaRPr lang="el-GR" altLang="el-GR" kern="0" dirty="0"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80000"/>
              </a:lnSpc>
            </a:pPr>
            <a:endParaRPr lang="el-GR" altLang="el-GR" kern="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</a:pPr>
            <a:endParaRPr lang="el-GR" altLang="el-GR" kern="0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34118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2FE96E-7F9B-5872-26B4-4FC299C56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B6FADB30-5FAF-F5C5-CCFC-801AAB9457B1}"/>
              </a:ext>
            </a:extLst>
          </p:cNvPr>
          <p:cNvSpPr/>
          <p:nvPr/>
        </p:nvSpPr>
        <p:spPr>
          <a:xfrm>
            <a:off x="140669" y="6559908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94619CD6-3A90-54F1-AD0B-B4D2213824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Ο </a:t>
            </a:r>
            <a:r>
              <a:rPr lang="en-US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Alex, </a:t>
            </a:r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το </a:t>
            </a:r>
            <a:r>
              <a:rPr lang="en-US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AI Chatbot </a:t>
            </a:r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και η </a:t>
            </a:r>
            <a:r>
              <a:rPr lang="en-US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HailstoneSequence</a:t>
            </a: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2E1B058A-62E3-7884-89F6-C4D470B3ED28}"/>
              </a:ext>
            </a:extLst>
          </p:cNvPr>
          <p:cNvSpPr txBox="1">
            <a:spLocks/>
          </p:cNvSpPr>
          <p:nvPr/>
        </p:nvSpPr>
        <p:spPr>
          <a:xfrm>
            <a:off x="-1" y="6599394"/>
            <a:ext cx="3840633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© 202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5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Μια Εισαγωγή στην Τέχνη του Προγραμματισμού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AF7F9E-81FB-E08B-2C88-0D660B246A96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200" dirty="0">
                <a:latin typeface="Bahnschrift Light" panose="020B0502040204020203" pitchFamily="34" charset="0"/>
                <a:cs typeface="Arial" pitchFamily="34" charset="0"/>
              </a:rPr>
              <a:t>Διαφάνεια </a:t>
            </a:r>
            <a:fld id="{7C15C5B5-03C6-48D8-B20F-65D93A6CF09E}" type="slidenum">
              <a:rPr lang="en-US" sz="1200" smtClean="0">
                <a:latin typeface="Bahnschrift Light" panose="020B0502040204020203" pitchFamily="34" charset="0"/>
                <a:cs typeface="Arial" pitchFamily="34" charset="0"/>
              </a:rPr>
              <a:pPr algn="r"/>
              <a:t>60</a:t>
            </a:fld>
            <a:endParaRPr lang="en-US" sz="1200" dirty="0">
              <a:latin typeface="Bahnschrift Light" panose="020B0502040204020203" pitchFamily="34" charset="0"/>
              <a:cs typeface="Arial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1D9926C-CDD9-AD88-570A-BC62BD7EE164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0"/>
            <a:ext cx="9144000" cy="908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0033CC"/>
              </a:solidFill>
              <a:latin typeface="Times New Roman" pitchFamily="18" charset="0"/>
            </a:endParaRPr>
          </a:p>
        </p:txBody>
      </p:sp>
      <p:sp>
        <p:nvSpPr>
          <p:cNvPr id="14" name="Θέση υποσέλιδου 4">
            <a:extLst>
              <a:ext uri="{FF2B5EF4-FFF2-40B4-BE49-F238E27FC236}">
                <a16:creationId xmlns:a16="http://schemas.microsoft.com/office/drawing/2014/main" id="{E20FE872-3F1E-D654-BA77-6AAA09A02429}"/>
              </a:ext>
            </a:extLst>
          </p:cNvPr>
          <p:cNvSpPr txBox="1">
            <a:spLocks/>
          </p:cNvSpPr>
          <p:nvPr/>
        </p:nvSpPr>
        <p:spPr>
          <a:xfrm>
            <a:off x="4149680" y="6689184"/>
            <a:ext cx="3462169" cy="2586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Πηγαίος Κώδικας – Βασικές Έννοιες</a:t>
            </a:r>
          </a:p>
          <a:p>
            <a:endParaRPr lang="el-GR" sz="11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3E1E685-96D4-CEDD-A919-DAF01D459102}"/>
              </a:ext>
            </a:extLst>
          </p:cNvPr>
          <p:cNvSpPr txBox="1"/>
          <p:nvPr/>
        </p:nvSpPr>
        <p:spPr>
          <a:xfrm>
            <a:off x="140669" y="908050"/>
            <a:ext cx="11910662" cy="1384995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el-GR" altLang="en-US" sz="28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Ο </a:t>
            </a:r>
            <a:r>
              <a:rPr lang="en-US" altLang="en-US" sz="28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Alex </a:t>
            </a:r>
            <a:r>
              <a:rPr lang="el-GR" altLang="en-US" sz="28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συνέχισε τη συνομιλία του με το </a:t>
            </a:r>
            <a:r>
              <a:rPr lang="en-GB" altLang="en-US" sz="28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AI</a:t>
            </a:r>
            <a:r>
              <a:rPr lang="el-GR" altLang="en-US" sz="28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altLang="en-US" sz="28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Chatbot</a:t>
            </a:r>
            <a:r>
              <a:rPr lang="el-GR" altLang="en-US" sz="28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για τη Δραστηριότητα </a:t>
            </a:r>
            <a:r>
              <a:rPr lang="en-US" altLang="en-US" sz="28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HailstoneSequence</a:t>
            </a:r>
            <a:r>
              <a:rPr lang="el-GR" altLang="en-US" sz="28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τώρα όμως ξεκίνησε από τη Λεκτική Περιγραφή. </a:t>
            </a:r>
            <a:r>
              <a:rPr lang="en-US" altLang="en-US" sz="28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 </a:t>
            </a:r>
            <a:r>
              <a:rPr lang="el-GR" altLang="en-US" sz="28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Λεκτική Περιγραφή 5‑1 ήταν η απάντηση του </a:t>
            </a:r>
            <a:r>
              <a:rPr lang="en-GB" altLang="en-US" sz="28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AI</a:t>
            </a:r>
            <a:r>
              <a:rPr lang="el-GR" altLang="en-US" sz="28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altLang="en-US" sz="28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Chatbot</a:t>
            </a:r>
            <a:r>
              <a:rPr lang="el-GR" altLang="en-US" sz="28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στον </a:t>
            </a:r>
            <a:r>
              <a:rPr lang="en-US" altLang="en-US" sz="28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Alex</a:t>
            </a:r>
            <a:r>
              <a:rPr lang="el-GR" altLang="en-US" sz="28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endParaRPr lang="en-GB" sz="28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800C33B2-1504-38E3-82D5-6185D98179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669" y="2481764"/>
            <a:ext cx="6924455" cy="3967262"/>
          </a:xfrm>
          <a:prstGeom prst="rect">
            <a:avLst/>
          </a:prstGeom>
        </p:spPr>
      </p:pic>
      <p:sp>
        <p:nvSpPr>
          <p:cNvPr id="21" name="Speech Bubble: Rectangle with Corners Rounded 20">
            <a:extLst>
              <a:ext uri="{FF2B5EF4-FFF2-40B4-BE49-F238E27FC236}">
                <a16:creationId xmlns:a16="http://schemas.microsoft.com/office/drawing/2014/main" id="{E9D52FAF-46CF-7431-742A-159D04C2F3A9}"/>
              </a:ext>
            </a:extLst>
          </p:cNvPr>
          <p:cNvSpPr/>
          <p:nvPr/>
        </p:nvSpPr>
        <p:spPr>
          <a:xfrm>
            <a:off x="7620407" y="3484704"/>
            <a:ext cx="4191088" cy="1067546"/>
          </a:xfrm>
          <a:prstGeom prst="wedgeRoundRectCallout">
            <a:avLst>
              <a:gd name="adj1" fmla="val -59222"/>
              <a:gd name="adj2" fmla="val 98719"/>
              <a:gd name="adj3" fmla="val 16667"/>
            </a:avLst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2400" b="1" dirty="0">
                <a:solidFill>
                  <a:schemeClr val="tx1"/>
                </a:solidFill>
                <a:highlight>
                  <a:srgbClr val="FFFF00"/>
                </a:highlight>
              </a:rPr>
              <a:t>Σχολιάζουμε τη Λεκτική Περιγραφή του </a:t>
            </a:r>
            <a:r>
              <a:rPr lang="en-US" sz="2400" b="1" dirty="0">
                <a:solidFill>
                  <a:schemeClr val="tx1"/>
                </a:solidFill>
                <a:highlight>
                  <a:srgbClr val="FFFF00"/>
                </a:highlight>
              </a:rPr>
              <a:t>ChatGPT</a:t>
            </a:r>
            <a:endParaRPr lang="en-GB" sz="2400" b="1" dirty="0">
              <a:solidFill>
                <a:schemeClr val="tx1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7213221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033630-3690-AD9C-4BE5-81158BF63D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455875A7-755B-46A7-5033-FB7EA67B64FB}"/>
              </a:ext>
            </a:extLst>
          </p:cNvPr>
          <p:cNvSpPr/>
          <p:nvPr/>
        </p:nvSpPr>
        <p:spPr>
          <a:xfrm>
            <a:off x="140669" y="6559908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7FAB9743-F452-6924-7703-3BA7460A5E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n-US" sz="4000" b="1" dirty="0" err="1">
                <a:solidFill>
                  <a:srgbClr val="F9853D"/>
                </a:solidFill>
                <a:latin typeface="Bahnschrift" panose="020B0502040204020203" pitchFamily="34" charset="0"/>
              </a:rPr>
              <a:t>CodeBlocks</a:t>
            </a:r>
            <a:r>
              <a:rPr lang="en-US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 workspace</a:t>
            </a: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21E95E63-FC21-1B56-E91E-2C666D5E47D1}"/>
              </a:ext>
            </a:extLst>
          </p:cNvPr>
          <p:cNvSpPr txBox="1">
            <a:spLocks/>
          </p:cNvSpPr>
          <p:nvPr/>
        </p:nvSpPr>
        <p:spPr>
          <a:xfrm>
            <a:off x="-1" y="6599394"/>
            <a:ext cx="3840633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© 202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5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Μια Εισαγωγή στην Τέχνη του Προγραμματισμού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D66EF5-8AB2-96EB-C4B7-D447AEC23047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200" dirty="0">
                <a:latin typeface="Bahnschrift Light" panose="020B0502040204020203" pitchFamily="34" charset="0"/>
                <a:cs typeface="Arial" pitchFamily="34" charset="0"/>
              </a:rPr>
              <a:t>Διαφάνεια </a:t>
            </a:r>
            <a:fld id="{7C15C5B5-03C6-48D8-B20F-65D93A6CF09E}" type="slidenum">
              <a:rPr lang="en-US" sz="1200" smtClean="0">
                <a:latin typeface="Bahnschrift Light" panose="020B0502040204020203" pitchFamily="34" charset="0"/>
                <a:cs typeface="Arial" pitchFamily="34" charset="0"/>
              </a:rPr>
              <a:pPr algn="r"/>
              <a:t>61</a:t>
            </a:fld>
            <a:endParaRPr lang="en-US" sz="1200" dirty="0">
              <a:latin typeface="Bahnschrift Light" panose="020B0502040204020203" pitchFamily="34" charset="0"/>
              <a:cs typeface="Arial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7609B27-6970-5ACA-A367-F86D64CF9E96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0"/>
            <a:ext cx="9144000" cy="908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0033CC"/>
              </a:solidFill>
              <a:latin typeface="Times New Roman" pitchFamily="18" charset="0"/>
            </a:endParaRPr>
          </a:p>
        </p:txBody>
      </p:sp>
      <p:sp>
        <p:nvSpPr>
          <p:cNvPr id="14" name="Θέση υποσέλιδου 4">
            <a:extLst>
              <a:ext uri="{FF2B5EF4-FFF2-40B4-BE49-F238E27FC236}">
                <a16:creationId xmlns:a16="http://schemas.microsoft.com/office/drawing/2014/main" id="{4355AF2B-33FB-ADF1-C291-F4F67D434037}"/>
              </a:ext>
            </a:extLst>
          </p:cNvPr>
          <p:cNvSpPr txBox="1">
            <a:spLocks/>
          </p:cNvSpPr>
          <p:nvPr/>
        </p:nvSpPr>
        <p:spPr>
          <a:xfrm>
            <a:off x="4149680" y="6689184"/>
            <a:ext cx="3462169" cy="2586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Πηγαίος Κώδικας – Βασικές Έννοιες</a:t>
            </a:r>
          </a:p>
          <a:p>
            <a:endParaRPr lang="el-GR" sz="11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D60C9BB-409C-57E9-E7AC-36165D33F5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669" y="766191"/>
            <a:ext cx="3192466" cy="357943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EABB0C5-388E-30B2-1B04-1D988375D1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5760" y="866142"/>
            <a:ext cx="6672177" cy="337952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AB61C97-CE22-2BCD-732F-7C8982773CE0}"/>
              </a:ext>
            </a:extLst>
          </p:cNvPr>
          <p:cNvSpPr txBox="1"/>
          <p:nvPr/>
        </p:nvSpPr>
        <p:spPr>
          <a:xfrm>
            <a:off x="4427082" y="4325549"/>
            <a:ext cx="66810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2400" dirty="0"/>
              <a:t>Αποθήκευση ενός συνόλου </a:t>
            </a:r>
            <a:r>
              <a:rPr lang="en-US" sz="2400" dirty="0"/>
              <a:t>projects </a:t>
            </a:r>
            <a:r>
              <a:rPr lang="el-GR" sz="2400" dirty="0"/>
              <a:t>ως </a:t>
            </a:r>
            <a:r>
              <a:rPr lang="en-US" sz="2400" dirty="0"/>
              <a:t>workspace</a:t>
            </a:r>
            <a:endParaRPr lang="en-GB" sz="2400" dirty="0"/>
          </a:p>
        </p:txBody>
      </p:sp>
      <p:pic>
        <p:nvPicPr>
          <p:cNvPr id="13" name="Picture 1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A68C43B-D48B-AF8C-96B4-C0A17A9C5D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7445" y="4772198"/>
            <a:ext cx="5208554" cy="1676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7685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79DB7A-1FB4-F878-4338-132252721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912FA602-94F6-4169-F45E-526BA8A57777}"/>
              </a:ext>
            </a:extLst>
          </p:cNvPr>
          <p:cNvSpPr/>
          <p:nvPr/>
        </p:nvSpPr>
        <p:spPr>
          <a:xfrm>
            <a:off x="140669" y="6559908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D031F467-4B5E-F968-8F51-71C73BFF6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Οργάνωση Διάλεξης</a:t>
            </a: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69A479CC-64BF-5648-0A3E-34D8F85F9AFA}"/>
              </a:ext>
            </a:extLst>
          </p:cNvPr>
          <p:cNvSpPr txBox="1">
            <a:spLocks/>
          </p:cNvSpPr>
          <p:nvPr/>
        </p:nvSpPr>
        <p:spPr>
          <a:xfrm>
            <a:off x="-1" y="6599394"/>
            <a:ext cx="3840633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© 202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5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Μια Εισαγωγή στην Τέχνη του Προγραμματισμού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5091443-6D52-6615-203B-E880656F2F08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200" dirty="0">
                <a:latin typeface="Bahnschrift Light" panose="020B0502040204020203" pitchFamily="34" charset="0"/>
                <a:cs typeface="Arial" pitchFamily="34" charset="0"/>
              </a:rPr>
              <a:t>Διαφάνεια </a:t>
            </a:r>
            <a:fld id="{7C15C5B5-03C6-48D8-B20F-65D93A6CF09E}" type="slidenum">
              <a:rPr lang="en-US" sz="1200" smtClean="0">
                <a:latin typeface="Bahnschrift Light" panose="020B0502040204020203" pitchFamily="34" charset="0"/>
                <a:cs typeface="Arial" pitchFamily="34" charset="0"/>
              </a:rPr>
              <a:pPr algn="r"/>
              <a:t>62</a:t>
            </a:fld>
            <a:endParaRPr lang="en-US" sz="1200" dirty="0">
              <a:latin typeface="Bahnschrift Light" panose="020B0502040204020203" pitchFamily="34" charset="0"/>
              <a:cs typeface="Arial" pitchFamily="34" charset="0"/>
            </a:endParaRPr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B226E20C-7993-717B-E530-9FA6B801A4C8}"/>
              </a:ext>
            </a:extLst>
          </p:cNvPr>
          <p:cNvSpPr txBox="1">
            <a:spLocks/>
          </p:cNvSpPr>
          <p:nvPr/>
        </p:nvSpPr>
        <p:spPr>
          <a:xfrm>
            <a:off x="4149680" y="6670790"/>
            <a:ext cx="4631713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Control flow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 – 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Arrays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 - 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Type conversions</a:t>
            </a:r>
          </a:p>
          <a:p>
            <a:endParaRPr lang="el-GR" sz="11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89EF70A-DD3F-B5E1-D53E-B82AF58AC89D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0"/>
            <a:ext cx="9144000" cy="908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0033CC"/>
              </a:solidFill>
              <a:latin typeface="Times New Roman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F93A960-BBB1-971C-0D54-777E70276F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449" y="914699"/>
            <a:ext cx="112071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el-GR" altLang="el-GR" b="1" dirty="0">
                <a:solidFill>
                  <a:srgbClr val="F9853D"/>
                </a:solidFill>
                <a:latin typeface="Bahnschrift" panose="020B0502040204020203" pitchFamily="34" charset="0"/>
              </a:rPr>
              <a:t>Δραστηριότητα 5-1   </a:t>
            </a:r>
            <a:r>
              <a:rPr lang="en-GB" altLang="el-GR" b="1" dirty="0" err="1">
                <a:solidFill>
                  <a:srgbClr val="F9853D"/>
                </a:solidFill>
                <a:latin typeface="Bahnschrift" panose="020B0502040204020203" pitchFamily="34" charset="0"/>
              </a:rPr>
              <a:t>HailstoneSequence</a:t>
            </a:r>
            <a:endParaRPr lang="el-GR" altLang="el-GR" b="1" dirty="0">
              <a:solidFill>
                <a:srgbClr val="F9853D"/>
              </a:solidFill>
              <a:latin typeface="Bahnschrift" panose="020B0502040204020203" pitchFamily="34" charset="0"/>
            </a:endParaRPr>
          </a:p>
          <a:p>
            <a:pPr lvl="1" eaLnBrk="1" hangingPunct="1">
              <a:lnSpc>
                <a:spcPct val="80000"/>
              </a:lnSpc>
            </a:pPr>
            <a:r>
              <a:rPr lang="el-GR" altLang="el-GR" kern="0" dirty="0">
                <a:latin typeface="Times New Roman" panose="02020603050405020304" pitchFamily="18" charset="0"/>
              </a:rPr>
              <a:t>προτάσεις ελέγχου της ροής</a:t>
            </a:r>
            <a:r>
              <a:rPr lang="en-US" altLang="el-GR" kern="0" dirty="0">
                <a:latin typeface="Times New Roman" panose="02020603050405020304" pitchFamily="18" charset="0"/>
              </a:rPr>
              <a:t>, </a:t>
            </a:r>
            <a:r>
              <a:rPr lang="el-GR" altLang="el-GR" kern="0" dirty="0">
                <a:latin typeface="Times New Roman" panose="02020603050405020304" pitchFamily="18" charset="0"/>
              </a:rPr>
              <a:t>οι προτάσεις </a:t>
            </a:r>
            <a:r>
              <a:rPr lang="en-US" altLang="el-GR" kern="0" dirty="0">
                <a:latin typeface="Times New Roman" panose="02020603050405020304" pitchFamily="18" charset="0"/>
              </a:rPr>
              <a:t>if </a:t>
            </a:r>
            <a:r>
              <a:rPr lang="el-GR" altLang="el-GR" kern="0" dirty="0">
                <a:latin typeface="Times New Roman" panose="02020603050405020304" pitchFamily="18" charset="0"/>
              </a:rPr>
              <a:t>και </a:t>
            </a:r>
            <a:r>
              <a:rPr lang="en-US" altLang="el-GR" kern="0" dirty="0">
                <a:latin typeface="Times New Roman" panose="02020603050405020304" pitchFamily="18" charset="0"/>
              </a:rPr>
              <a:t>while</a:t>
            </a:r>
            <a:r>
              <a:rPr lang="el-GR" altLang="el-GR" kern="0" dirty="0">
                <a:latin typeface="Times New Roman" panose="02020603050405020304" pitchFamily="18" charset="0"/>
              </a:rPr>
              <a:t> </a:t>
            </a:r>
          </a:p>
          <a:p>
            <a:pPr lvl="1" eaLnBrk="1" hangingPunct="1">
              <a:lnSpc>
                <a:spcPct val="80000"/>
              </a:lnSpc>
            </a:pPr>
            <a:r>
              <a:rPr lang="el-GR" altLang="el-GR" kern="0" dirty="0">
                <a:latin typeface="Times New Roman" panose="02020603050405020304" pitchFamily="18" charset="0"/>
              </a:rPr>
              <a:t>γραφική αναπαράσταση διεργασίας</a:t>
            </a:r>
          </a:p>
          <a:p>
            <a:pPr eaLnBrk="1" hangingPunct="1">
              <a:lnSpc>
                <a:spcPct val="80000"/>
              </a:lnSpc>
            </a:pPr>
            <a:r>
              <a:rPr lang="el-GR" altLang="el-GR" b="1" dirty="0">
                <a:solidFill>
                  <a:srgbClr val="F9853D"/>
                </a:solidFill>
                <a:latin typeface="Bahnschrift" panose="020B0502040204020203" pitchFamily="34" charset="0"/>
              </a:rPr>
              <a:t>Δραστηριότητα 5-2   </a:t>
            </a:r>
            <a:r>
              <a:rPr lang="en-GB" altLang="el-GR" b="1" dirty="0" err="1">
                <a:solidFill>
                  <a:srgbClr val="F9853D"/>
                </a:solidFill>
                <a:latin typeface="Bahnschrift" panose="020B0502040204020203" pitchFamily="34" charset="0"/>
              </a:rPr>
              <a:t>FibonacciSequence</a:t>
            </a:r>
            <a:endParaRPr lang="el-GR" altLang="el-GR" b="1" dirty="0">
              <a:solidFill>
                <a:srgbClr val="F9853D"/>
              </a:solidFill>
              <a:latin typeface="Bahnschrift" panose="020B0502040204020203" pitchFamily="34" charset="0"/>
            </a:endParaRPr>
          </a:p>
          <a:p>
            <a:pPr lvl="1" eaLnBrk="1" hangingPunct="1">
              <a:lnSpc>
                <a:spcPct val="80000"/>
              </a:lnSpc>
            </a:pPr>
            <a:r>
              <a:rPr lang="el-GR" altLang="el-GR" kern="0" dirty="0">
                <a:latin typeface="Times New Roman" panose="02020603050405020304" pitchFamily="18" charset="0"/>
              </a:rPr>
              <a:t>πρόταση επανάληψης for  </a:t>
            </a:r>
          </a:p>
          <a:p>
            <a:pPr lvl="1" eaLnBrk="1" hangingPunct="1">
              <a:lnSpc>
                <a:spcPct val="80000"/>
              </a:lnSpc>
            </a:pPr>
            <a:r>
              <a:rPr lang="el-GR" altLang="el-GR" kern="0" dirty="0">
                <a:latin typeface="Times New Roman" panose="02020603050405020304" pitchFamily="18" charset="0"/>
              </a:rPr>
              <a:t>τύπος του πίνακα (</a:t>
            </a:r>
            <a:r>
              <a:rPr lang="el-GR" altLang="el-GR" kern="0" dirty="0" err="1">
                <a:latin typeface="Times New Roman" panose="02020603050405020304" pitchFamily="18" charset="0"/>
              </a:rPr>
              <a:t>array</a:t>
            </a:r>
            <a:r>
              <a:rPr lang="el-GR" altLang="el-GR" kern="0" dirty="0">
                <a:latin typeface="Times New Roman" panose="02020603050405020304" pitchFamily="18" charset="0"/>
              </a:rPr>
              <a:t>). </a:t>
            </a:r>
          </a:p>
          <a:p>
            <a:pPr eaLnBrk="1" hangingPunct="1">
              <a:lnSpc>
                <a:spcPct val="80000"/>
              </a:lnSpc>
            </a:pPr>
            <a:r>
              <a:rPr lang="el-GR" altLang="el-GR" b="1" dirty="0">
                <a:solidFill>
                  <a:srgbClr val="F9853D"/>
                </a:solidFill>
                <a:latin typeface="Bahnschrift" panose="020B0502040204020203" pitchFamily="34" charset="0"/>
              </a:rPr>
              <a:t>Δραστηριότητα 5-3   </a:t>
            </a:r>
            <a:r>
              <a:rPr lang="en-GB" altLang="el-GR" b="1" dirty="0">
                <a:solidFill>
                  <a:srgbClr val="F9853D"/>
                </a:solidFill>
                <a:latin typeface="Bahnschrift" panose="020B0502040204020203" pitchFamily="34" charset="0"/>
              </a:rPr>
              <a:t>Average</a:t>
            </a:r>
            <a:endParaRPr lang="el-GR" altLang="el-GR" b="1" dirty="0">
              <a:solidFill>
                <a:srgbClr val="F9853D"/>
              </a:solidFill>
              <a:latin typeface="Bahnschrift" panose="020B0502040204020203" pitchFamily="34" charset="0"/>
            </a:endParaRPr>
          </a:p>
          <a:p>
            <a:pPr lvl="1" eaLnBrk="1" hangingPunct="1">
              <a:lnSpc>
                <a:spcPct val="80000"/>
              </a:lnSpc>
            </a:pPr>
            <a:r>
              <a:rPr lang="el-GR" altLang="el-GR" kern="0" dirty="0">
                <a:latin typeface="Times New Roman" panose="02020603050405020304" pitchFamily="18" charset="0"/>
              </a:rPr>
              <a:t>Ο τύπος </a:t>
            </a:r>
            <a:r>
              <a:rPr lang="en-US" altLang="el-GR" kern="0" dirty="0">
                <a:latin typeface="Times New Roman" panose="02020603050405020304" pitchFamily="18" charset="0"/>
              </a:rPr>
              <a:t>f</a:t>
            </a:r>
            <a:r>
              <a:rPr lang="el-GR" altLang="el-GR" kern="0" dirty="0" err="1">
                <a:latin typeface="Times New Roman" panose="02020603050405020304" pitchFamily="18" charset="0"/>
              </a:rPr>
              <a:t>oat</a:t>
            </a:r>
            <a:r>
              <a:rPr lang="en-US" altLang="el-GR" kern="0" dirty="0">
                <a:latin typeface="Times New Roman" panose="02020603050405020304" pitchFamily="18" charset="0"/>
              </a:rPr>
              <a:t>, </a:t>
            </a:r>
            <a:r>
              <a:rPr lang="el-GR" altLang="el-GR" kern="0" dirty="0">
                <a:latin typeface="Times New Roman" panose="02020603050405020304" pitchFamily="18" charset="0"/>
              </a:rPr>
              <a:t>μετατροπή τύπων</a:t>
            </a:r>
            <a:r>
              <a:rPr lang="en-US" altLang="el-GR" kern="0" dirty="0">
                <a:latin typeface="Times New Roman" panose="02020603050405020304" pitchFamily="18" charset="0"/>
              </a:rPr>
              <a:t>, </a:t>
            </a:r>
            <a:r>
              <a:rPr lang="el-GR" altLang="el-GR" kern="0" dirty="0">
                <a:latin typeface="Times New Roman" panose="02020603050405020304" pitchFamily="18" charset="0"/>
              </a:rPr>
              <a:t>έλεγχος τύπων (</a:t>
            </a:r>
            <a:r>
              <a:rPr lang="el-GR" altLang="el-GR" kern="0" dirty="0" err="1">
                <a:latin typeface="Times New Roman" panose="02020603050405020304" pitchFamily="18" charset="0"/>
              </a:rPr>
              <a:t>type</a:t>
            </a:r>
            <a:r>
              <a:rPr lang="el-GR" altLang="el-GR" kern="0" dirty="0">
                <a:latin typeface="Times New Roman" panose="02020603050405020304" pitchFamily="18" charset="0"/>
              </a:rPr>
              <a:t> </a:t>
            </a:r>
            <a:r>
              <a:rPr lang="el-GR" altLang="el-GR" kern="0" dirty="0" err="1">
                <a:latin typeface="Times New Roman" panose="02020603050405020304" pitchFamily="18" charset="0"/>
              </a:rPr>
              <a:t>checking</a:t>
            </a:r>
            <a:r>
              <a:rPr lang="el-GR" altLang="el-GR" kern="0" dirty="0">
                <a:latin typeface="Times New Roman" panose="02020603050405020304" pitchFamily="18" charset="0"/>
              </a:rPr>
              <a:t>) </a:t>
            </a:r>
          </a:p>
          <a:p>
            <a:pPr lvl="1" eaLnBrk="1" hangingPunct="1">
              <a:lnSpc>
                <a:spcPct val="80000"/>
              </a:lnSpc>
            </a:pPr>
            <a:r>
              <a:rPr lang="el-GR" altLang="el-GR" kern="0" dirty="0">
                <a:latin typeface="Times New Roman" panose="02020603050405020304" pitchFamily="18" charset="0"/>
              </a:rPr>
              <a:t>συνάρτηση </a:t>
            </a:r>
            <a:r>
              <a:rPr lang="el-GR" altLang="el-GR" kern="0" dirty="0" err="1">
                <a:latin typeface="Times New Roman" panose="02020603050405020304" pitchFamily="18" charset="0"/>
              </a:rPr>
              <a:t>printf</a:t>
            </a:r>
            <a:r>
              <a:rPr lang="el-GR" altLang="el-GR" kern="0" dirty="0">
                <a:latin typeface="Times New Roman" panose="02020603050405020304" pitchFamily="18" charset="0"/>
              </a:rPr>
              <a:t>, πέρασμα πίνακα ως όρισμα σε συνάρτηση</a:t>
            </a:r>
            <a:endParaRPr lang="el-GR" altLang="el-GR" b="1" dirty="0">
              <a:solidFill>
                <a:srgbClr val="F9853D"/>
              </a:solidFill>
              <a:latin typeface="Bahnschrift" panose="020B0502040204020203" pitchFamily="34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el-GR" altLang="el-GR" b="1" dirty="0">
                <a:solidFill>
                  <a:srgbClr val="F9853D"/>
                </a:solidFill>
                <a:latin typeface="Bahnschrift" panose="020B0502040204020203" pitchFamily="34" charset="0"/>
              </a:rPr>
              <a:t>Ο </a:t>
            </a:r>
            <a:r>
              <a:rPr lang="en-GB" altLang="el-GR" b="1" dirty="0">
                <a:solidFill>
                  <a:srgbClr val="F9853D"/>
                </a:solidFill>
                <a:latin typeface="Bahnschrift" panose="020B0502040204020203" pitchFamily="34" charset="0"/>
              </a:rPr>
              <a:t>Alex, </a:t>
            </a:r>
            <a:r>
              <a:rPr lang="el-GR" altLang="el-GR" b="1" dirty="0">
                <a:solidFill>
                  <a:srgbClr val="F9853D"/>
                </a:solidFill>
                <a:latin typeface="Bahnschrift" panose="020B0502040204020203" pitchFamily="34" charset="0"/>
              </a:rPr>
              <a:t>το </a:t>
            </a:r>
            <a:r>
              <a:rPr lang="en-GB" altLang="el-GR" b="1" dirty="0">
                <a:solidFill>
                  <a:srgbClr val="F9853D"/>
                </a:solidFill>
                <a:latin typeface="Bahnschrift" panose="020B0502040204020203" pitchFamily="34" charset="0"/>
              </a:rPr>
              <a:t>AI Chatbot </a:t>
            </a:r>
            <a:r>
              <a:rPr lang="el-GR" altLang="el-GR" b="1" dirty="0">
                <a:solidFill>
                  <a:srgbClr val="F9853D"/>
                </a:solidFill>
                <a:latin typeface="Bahnschrift" panose="020B0502040204020203" pitchFamily="34" charset="0"/>
              </a:rPr>
              <a:t>και η </a:t>
            </a:r>
            <a:r>
              <a:rPr lang="en-GB" altLang="el-GR" b="1" dirty="0" err="1">
                <a:solidFill>
                  <a:srgbClr val="F9853D"/>
                </a:solidFill>
                <a:latin typeface="Bahnschrift" panose="020B0502040204020203" pitchFamily="34" charset="0"/>
              </a:rPr>
              <a:t>HailstoneSequence</a:t>
            </a:r>
            <a:endParaRPr lang="el-GR" altLang="el-GR" b="1" dirty="0">
              <a:solidFill>
                <a:srgbClr val="F9853D"/>
              </a:solidFill>
              <a:latin typeface="Bahnschrift" panose="020B0502040204020203" pitchFamily="34" charset="0"/>
            </a:endParaRPr>
          </a:p>
          <a:p>
            <a:pPr lvl="1" eaLnBrk="1" hangingPunct="1">
              <a:lnSpc>
                <a:spcPct val="80000"/>
              </a:lnSpc>
            </a:pPr>
            <a:r>
              <a:rPr lang="el-GR" altLang="el-GR" kern="0" dirty="0">
                <a:latin typeface="Times New Roman" panose="02020603050405020304" pitchFamily="18" charset="0"/>
              </a:rPr>
              <a:t>Λεκτική Περιγραφή, </a:t>
            </a:r>
            <a:r>
              <a:rPr lang="en-US" altLang="el-GR" kern="0" dirty="0">
                <a:latin typeface="Times New Roman" panose="02020603050405020304" pitchFamily="18" charset="0"/>
              </a:rPr>
              <a:t>Structured English, Program Design Language</a:t>
            </a:r>
            <a:endParaRPr lang="el-GR" altLang="el-GR" kern="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el-GR" b="1" dirty="0">
                <a:solidFill>
                  <a:srgbClr val="C00000"/>
                </a:solidFill>
                <a:latin typeface="Bahnschrift" panose="020B0502040204020203" pitchFamily="34" charset="0"/>
              </a:rPr>
              <a:t>Δραστηριότητα </a:t>
            </a:r>
            <a:r>
              <a:rPr lang="en-US" b="1" dirty="0">
                <a:solidFill>
                  <a:srgbClr val="C00000"/>
                </a:solidFill>
                <a:latin typeface="Bahnschrift" panose="020B0502040204020203" pitchFamily="34" charset="0"/>
              </a:rPr>
              <a:t>5</a:t>
            </a:r>
            <a:r>
              <a:rPr lang="el-GR" b="1" dirty="0">
                <a:solidFill>
                  <a:srgbClr val="C00000"/>
                </a:solidFill>
                <a:latin typeface="Bahnschrift" panose="020B0502040204020203" pitchFamily="34" charset="0"/>
              </a:rPr>
              <a:t>-</a:t>
            </a:r>
            <a:r>
              <a:rPr lang="en-US" b="1" dirty="0">
                <a:solidFill>
                  <a:srgbClr val="C00000"/>
                </a:solidFill>
                <a:latin typeface="Bahnschrift" panose="020B0502040204020203" pitchFamily="34" charset="0"/>
              </a:rPr>
              <a:t>4</a:t>
            </a:r>
            <a:r>
              <a:rPr lang="el-GR" b="1" dirty="0">
                <a:solidFill>
                  <a:srgbClr val="C00000"/>
                </a:solidFill>
                <a:latin typeface="Bahnschrift" panose="020B0502040204020203" pitchFamily="34" charset="0"/>
              </a:rPr>
              <a:t>   </a:t>
            </a:r>
            <a:r>
              <a:rPr lang="en-US" b="1" dirty="0">
                <a:solidFill>
                  <a:srgbClr val="C00000"/>
                </a:solidFill>
                <a:latin typeface="Bahnschrift" panose="020B0502040204020203" pitchFamily="34" charset="0"/>
              </a:rPr>
              <a:t>MathFunctions</a:t>
            </a:r>
            <a:endParaRPr lang="el-GR" altLang="el-GR" kern="0" dirty="0">
              <a:solidFill>
                <a:srgbClr val="C00000"/>
              </a:solidFill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80000"/>
              </a:lnSpc>
            </a:pPr>
            <a:endParaRPr lang="el-GR" altLang="el-GR" kern="0" dirty="0"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80000"/>
              </a:lnSpc>
            </a:pPr>
            <a:endParaRPr lang="el-GR" altLang="el-GR" kern="0" dirty="0"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80000"/>
              </a:lnSpc>
            </a:pPr>
            <a:endParaRPr lang="el-GR" altLang="el-GR" kern="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</a:pPr>
            <a:endParaRPr lang="el-GR" altLang="el-GR" kern="0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06001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9B0479-6A66-3AD9-5CBE-A6A080DEAE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EB6E7A6C-A44F-489D-2682-B252E188BB1D}"/>
              </a:ext>
            </a:extLst>
          </p:cNvPr>
          <p:cNvSpPr/>
          <p:nvPr/>
        </p:nvSpPr>
        <p:spPr>
          <a:xfrm>
            <a:off x="140669" y="6559908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7FAA70-DFDE-7758-E6C7-B25002DD06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Δραστηριότητα </a:t>
            </a:r>
            <a:r>
              <a:rPr lang="en-US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5</a:t>
            </a:r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-</a:t>
            </a:r>
            <a:r>
              <a:rPr lang="en-US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4</a:t>
            </a:r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   </a:t>
            </a:r>
            <a:r>
              <a:rPr lang="en-US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MathFunctions</a:t>
            </a:r>
            <a:endParaRPr lang="el-GR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DF493F5-42E1-53A0-2588-345386E82982}"/>
              </a:ext>
            </a:extLst>
          </p:cNvPr>
          <p:cNvSpPr txBox="1">
            <a:spLocks/>
          </p:cNvSpPr>
          <p:nvPr/>
        </p:nvSpPr>
        <p:spPr>
          <a:xfrm>
            <a:off x="-1" y="6599394"/>
            <a:ext cx="3840633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© 202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5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Μια Εισαγωγή στην Τέχνη του Προγραμματισμού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D2357AD-FC3C-7F2E-1E3B-CA8C23A020FF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200" dirty="0">
                <a:latin typeface="Bahnschrift Light" panose="020B0502040204020203" pitchFamily="34" charset="0"/>
                <a:cs typeface="Arial" pitchFamily="34" charset="0"/>
              </a:rPr>
              <a:t>Διαφάνεια </a:t>
            </a:r>
            <a:fld id="{7C15C5B5-03C6-48D8-B20F-65D93A6CF09E}" type="slidenum">
              <a:rPr lang="en-US" sz="1200" smtClean="0">
                <a:latin typeface="Bahnschrift Light" panose="020B0502040204020203" pitchFamily="34" charset="0"/>
                <a:cs typeface="Arial" pitchFamily="34" charset="0"/>
              </a:rPr>
              <a:pPr algn="r"/>
              <a:t>63</a:t>
            </a:fld>
            <a:endParaRPr lang="en-US" sz="1200" dirty="0">
              <a:latin typeface="Bahnschrift Light" panose="020B0502040204020203" pitchFamily="34" charset="0"/>
              <a:cs typeface="Arial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DD1B5F1-03C2-1F11-0D7A-F845BA397641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0"/>
            <a:ext cx="9144000" cy="908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0033CC"/>
              </a:solidFill>
              <a:latin typeface="Times New Roman" pitchFamily="18" charset="0"/>
            </a:endParaRP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D7EE5B45-6442-CC16-0CEC-9D22B31DFA01}"/>
              </a:ext>
            </a:extLst>
          </p:cNvPr>
          <p:cNvSpPr txBox="1">
            <a:spLocks/>
          </p:cNvSpPr>
          <p:nvPr/>
        </p:nvSpPr>
        <p:spPr bwMode="auto">
          <a:xfrm>
            <a:off x="-1" y="839665"/>
            <a:ext cx="12191999" cy="323089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Clr>
                <a:srgbClr val="3333CC"/>
              </a:buClr>
              <a:buNone/>
              <a:defRPr/>
            </a:pPr>
            <a:r>
              <a:rPr lang="el-GR" sz="2400" kern="0" dirty="0">
                <a:solidFill>
                  <a:srgbClr val="000000"/>
                </a:solidFill>
                <a:latin typeface="Tahoma"/>
              </a:rPr>
              <a:t>Αναπτύξτε ένα πρόγραμμα με βάση το οποίο η Μηχανή θα δέχεται από τη βασική είσοδο δύο ακεραίους x και y και θα εμφανίζει στην οθόνη το άθροισμα τους, τον μεγαλύτερο και τον μικρότερο. </a:t>
            </a:r>
          </a:p>
          <a:p>
            <a:pPr marL="0" indent="0">
              <a:buClr>
                <a:srgbClr val="3333CC"/>
              </a:buClr>
              <a:buNone/>
              <a:defRPr/>
            </a:pPr>
            <a:r>
              <a:rPr lang="el-GR" sz="2400" kern="0" dirty="0">
                <a:solidFill>
                  <a:srgbClr val="000000"/>
                </a:solidFill>
                <a:latin typeface="Tahoma"/>
              </a:rPr>
              <a:t>Σε μια 2η έκδοση προσθέστε και την εμφάνιση του </a:t>
            </a:r>
            <a:r>
              <a:rPr lang="el-GR" sz="2400" kern="0" dirty="0" err="1">
                <a:solidFill>
                  <a:srgbClr val="000000"/>
                </a:solidFill>
                <a:latin typeface="Tahoma"/>
              </a:rPr>
              <a:t>xy</a:t>
            </a:r>
            <a:r>
              <a:rPr lang="el-GR" sz="2400" kern="0" dirty="0">
                <a:solidFill>
                  <a:srgbClr val="000000"/>
                </a:solidFill>
                <a:latin typeface="Tahoma"/>
              </a:rPr>
              <a:t> και των δεκαδικών λογαρίθμων τους. </a:t>
            </a:r>
          </a:p>
          <a:p>
            <a:pPr marL="0" indent="0">
              <a:buClr>
                <a:srgbClr val="3333CC"/>
              </a:buClr>
              <a:buNone/>
              <a:defRPr/>
            </a:pPr>
            <a:r>
              <a:rPr lang="el-GR" sz="2400" kern="0" dirty="0">
                <a:solidFill>
                  <a:srgbClr val="000000"/>
                </a:solidFill>
                <a:latin typeface="Tahoma"/>
              </a:rPr>
              <a:t>Σε μια 3η έκδοση χρησιμοποιήστε μαθηματικές συναρτήσεις της τυπικής βιβλιοθήκης. Τις δηλώσεις των θα βρείτε στο αρχείο επικεφαλίδας </a:t>
            </a:r>
            <a:r>
              <a:rPr lang="el-GR" sz="2400" kern="0" dirty="0" err="1">
                <a:solidFill>
                  <a:srgbClr val="000000"/>
                </a:solidFill>
                <a:latin typeface="Tahoma"/>
              </a:rPr>
              <a:t>math.h</a:t>
            </a:r>
            <a:r>
              <a:rPr lang="el-GR" sz="2400" kern="0" dirty="0">
                <a:solidFill>
                  <a:srgbClr val="000000"/>
                </a:solidFill>
                <a:latin typeface="Tahoma"/>
              </a:rPr>
              <a:t>. Ξεκινήστε με τις </a:t>
            </a:r>
            <a:r>
              <a:rPr lang="el-GR" sz="2400" kern="0" dirty="0" err="1">
                <a:solidFill>
                  <a:srgbClr val="000000"/>
                </a:solidFill>
                <a:latin typeface="Tahoma"/>
              </a:rPr>
              <a:t>sqrt</a:t>
            </a:r>
            <a:r>
              <a:rPr lang="el-GR" sz="2400" kern="0" dirty="0">
                <a:solidFill>
                  <a:srgbClr val="000000"/>
                </a:solidFill>
                <a:latin typeface="Tahoma"/>
              </a:rPr>
              <a:t>, log10, </a:t>
            </a:r>
            <a:r>
              <a:rPr lang="el-GR" sz="2400" kern="0" dirty="0" err="1">
                <a:solidFill>
                  <a:srgbClr val="000000"/>
                </a:solidFill>
                <a:latin typeface="Tahoma"/>
              </a:rPr>
              <a:t>remainder,fmax</a:t>
            </a:r>
            <a:r>
              <a:rPr lang="el-GR" sz="2400" kern="0" dirty="0">
                <a:solidFill>
                  <a:srgbClr val="000000"/>
                </a:solidFill>
                <a:latin typeface="Tahoma"/>
              </a:rPr>
              <a:t>, </a:t>
            </a:r>
            <a:r>
              <a:rPr lang="el-GR" sz="2400" kern="0" dirty="0" err="1">
                <a:solidFill>
                  <a:srgbClr val="000000"/>
                </a:solidFill>
                <a:latin typeface="Tahoma"/>
              </a:rPr>
              <a:t>fmin</a:t>
            </a:r>
            <a:r>
              <a:rPr lang="el-GR" sz="2400" kern="0" dirty="0">
                <a:solidFill>
                  <a:srgbClr val="000000"/>
                </a:solidFill>
                <a:latin typeface="Tahoma"/>
              </a:rPr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F5CE02-7349-6C23-BD98-8840187E3394}"/>
              </a:ext>
            </a:extLst>
          </p:cNvPr>
          <p:cNvSpPr txBox="1"/>
          <p:nvPr/>
        </p:nvSpPr>
        <p:spPr>
          <a:xfrm>
            <a:off x="140669" y="4190889"/>
            <a:ext cx="11910662" cy="2062103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l-GR" sz="3200" b="1" dirty="0"/>
              <a:t>Στόχος</a:t>
            </a:r>
            <a:r>
              <a:rPr lang="en-US" sz="3200" dirty="0"/>
              <a:t> </a:t>
            </a:r>
            <a:r>
              <a:rPr lang="el-GR" sz="3200" dirty="0"/>
              <a:t> 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l-GR" sz="2400" dirty="0"/>
              <a:t>Αξιοποίηση γνώσεων που αποκτήθηκαν από την εκτέλεση των προηγούμενων Δραστηριοτήτων, 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l-GR" sz="2400" dirty="0"/>
              <a:t>να δούμε πως αξιοποιούμε μαθηματικές συναρτήσεις της τυπικής βιβλιοθήκης και γενικότερα συναρτήσεις βιβλιοθηκών.</a:t>
            </a:r>
            <a:endParaRPr lang="en-US" sz="2400" dirty="0"/>
          </a:p>
        </p:txBody>
      </p:sp>
      <p:sp>
        <p:nvSpPr>
          <p:cNvPr id="21" name="Θέση υποσέλιδου 4">
            <a:extLst>
              <a:ext uri="{FF2B5EF4-FFF2-40B4-BE49-F238E27FC236}">
                <a16:creationId xmlns:a16="http://schemas.microsoft.com/office/drawing/2014/main" id="{7C3B087B-87D7-6152-0F9F-3DC7FCF1FCEA}"/>
              </a:ext>
            </a:extLst>
          </p:cNvPr>
          <p:cNvSpPr txBox="1">
            <a:spLocks/>
          </p:cNvSpPr>
          <p:nvPr/>
        </p:nvSpPr>
        <p:spPr>
          <a:xfrm>
            <a:off x="4149680" y="6670790"/>
            <a:ext cx="4631713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Control flow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 – 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Arrays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 - 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Type conversions</a:t>
            </a:r>
          </a:p>
          <a:p>
            <a:endParaRPr lang="el-GR" sz="11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60172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7E6413-064B-32E4-4644-F64AD7EA0B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89347943-B3EE-37FC-30E1-5460586435E7}"/>
              </a:ext>
            </a:extLst>
          </p:cNvPr>
          <p:cNvSpPr/>
          <p:nvPr/>
        </p:nvSpPr>
        <p:spPr>
          <a:xfrm>
            <a:off x="140669" y="6559908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8CF984BF-8624-28BA-123A-3AC86E9B3D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MathFunctions</a:t>
            </a:r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  (</a:t>
            </a:r>
            <a:r>
              <a:rPr lang="en-US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Hands-on</a:t>
            </a:r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)</a:t>
            </a:r>
            <a:r>
              <a:rPr lang="en-US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 </a:t>
            </a:r>
            <a:endParaRPr lang="el-GR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809E9885-6F5C-4D3B-C20F-EC5F457F88B1}"/>
              </a:ext>
            </a:extLst>
          </p:cNvPr>
          <p:cNvSpPr txBox="1">
            <a:spLocks/>
          </p:cNvSpPr>
          <p:nvPr/>
        </p:nvSpPr>
        <p:spPr>
          <a:xfrm>
            <a:off x="-1" y="6599394"/>
            <a:ext cx="3840633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© 202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5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Μια Εισαγωγή στην Τέχνη του Προγραμματισμού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5089372-667F-C4AC-DC58-679AE3DB951C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200" dirty="0">
                <a:latin typeface="Bahnschrift Light" panose="020B0502040204020203" pitchFamily="34" charset="0"/>
                <a:cs typeface="Arial" pitchFamily="34" charset="0"/>
              </a:rPr>
              <a:t>Διαφάνεια </a:t>
            </a:r>
            <a:fld id="{7C15C5B5-03C6-48D8-B20F-65D93A6CF09E}" type="slidenum">
              <a:rPr lang="en-US" sz="1200" smtClean="0">
                <a:latin typeface="Bahnschrift Light" panose="020B0502040204020203" pitchFamily="34" charset="0"/>
                <a:cs typeface="Arial" pitchFamily="34" charset="0"/>
              </a:rPr>
              <a:pPr algn="r"/>
              <a:t>64</a:t>
            </a:fld>
            <a:endParaRPr lang="en-US" sz="1200" dirty="0">
              <a:latin typeface="Bahnschrift Light" panose="020B0502040204020203" pitchFamily="34" charset="0"/>
              <a:cs typeface="Arial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11D8676-0AEC-CC44-6C45-2CC535FC57CD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0"/>
            <a:ext cx="9144000" cy="908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0033CC"/>
              </a:solidFill>
              <a:latin typeface="Times New Roman" pitchFamily="18" charset="0"/>
            </a:endParaRPr>
          </a:p>
        </p:txBody>
      </p:sp>
      <p:sp>
        <p:nvSpPr>
          <p:cNvPr id="21" name="Θέση υποσέλιδου 4">
            <a:extLst>
              <a:ext uri="{FF2B5EF4-FFF2-40B4-BE49-F238E27FC236}">
                <a16:creationId xmlns:a16="http://schemas.microsoft.com/office/drawing/2014/main" id="{C4F32B67-0000-9A43-5146-6039BB0AA96E}"/>
              </a:ext>
            </a:extLst>
          </p:cNvPr>
          <p:cNvSpPr txBox="1">
            <a:spLocks/>
          </p:cNvSpPr>
          <p:nvPr/>
        </p:nvSpPr>
        <p:spPr>
          <a:xfrm>
            <a:off x="4149680" y="6670790"/>
            <a:ext cx="4631713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Control flow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 – 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Arrays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 - 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Type conversions</a:t>
            </a:r>
          </a:p>
          <a:p>
            <a:endParaRPr lang="el-GR" sz="11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1EF08B-D434-D066-19E1-6723A8612A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241" y="2312099"/>
            <a:ext cx="3160145" cy="232410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13D87D3-ABE0-3FC4-71D5-BD9AA3728E66}"/>
              </a:ext>
            </a:extLst>
          </p:cNvPr>
          <p:cNvSpPr txBox="1"/>
          <p:nvPr/>
        </p:nvSpPr>
        <p:spPr>
          <a:xfrm>
            <a:off x="704243" y="1211706"/>
            <a:ext cx="236803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F9853D"/>
                </a:solidFill>
                <a:latin typeface="Bahnschrift" panose="020B0502040204020203" pitchFamily="34" charset="0"/>
              </a:rPr>
              <a:t>Hands-on </a:t>
            </a:r>
            <a:endParaRPr lang="en-GB" sz="3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F475477-5417-82F4-1CAC-CAE6595C4B24}"/>
              </a:ext>
            </a:extLst>
          </p:cNvPr>
          <p:cNvSpPr txBox="1"/>
          <p:nvPr/>
        </p:nvSpPr>
        <p:spPr>
          <a:xfrm>
            <a:off x="4597810" y="1211706"/>
            <a:ext cx="627543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50"/>
              </a:spcBef>
              <a:spcAft>
                <a:spcPts val="750"/>
              </a:spcAft>
            </a:pPr>
            <a:r>
              <a:rPr lang="en-US" sz="2400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C math Library</a:t>
            </a:r>
            <a:r>
              <a:rPr lang="en-US" sz="2400" b="1" dirty="0">
                <a:solidFill>
                  <a:srgbClr val="000000"/>
                </a:solidFill>
                <a:latin typeface="Segoe UI" panose="020B0502040204020203" pitchFamily="34" charset="0"/>
              </a:rPr>
              <a:t> (</a:t>
            </a:r>
            <a:r>
              <a:rPr lang="en-US" sz="2400" b="1" dirty="0" err="1">
                <a:solidFill>
                  <a:srgbClr val="000000"/>
                </a:solidFill>
                <a:latin typeface="Segoe UI" panose="020B0502040204020203" pitchFamily="34" charset="0"/>
              </a:rPr>
              <a:t>math.h</a:t>
            </a:r>
            <a:r>
              <a:rPr lang="en-US" sz="2400" b="1" dirty="0">
                <a:solidFill>
                  <a:srgbClr val="000000"/>
                </a:solidFill>
                <a:latin typeface="Segoe UI" panose="020B0502040204020203" pitchFamily="34" charset="0"/>
              </a:rPr>
              <a:t>) </a:t>
            </a:r>
            <a:endParaRPr lang="en-US" sz="2400" b="1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479D440-C91D-E75A-71DC-BC660146CA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9680" y="1830320"/>
            <a:ext cx="7873092" cy="176675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DD4F4B9-6025-582E-2795-B7AC88F9B3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49679" y="3776288"/>
            <a:ext cx="8042321" cy="103005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B0A09EBA-3598-E515-7234-251463EBA25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49679" y="4985553"/>
            <a:ext cx="6378512" cy="1149775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3B482EFB-DBB1-05AC-9967-13C03E86A61F}"/>
              </a:ext>
            </a:extLst>
          </p:cNvPr>
          <p:cNvSpPr txBox="1"/>
          <p:nvPr/>
        </p:nvSpPr>
        <p:spPr>
          <a:xfrm>
            <a:off x="5293063" y="6135328"/>
            <a:ext cx="57555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/>
              <a:t>Πηγή: </a:t>
            </a:r>
            <a:r>
              <a:rPr lang="en-GB" dirty="0">
                <a:hlinkClick r:id="rId7"/>
              </a:rPr>
              <a:t>https://www.w3schools.com/c/c_ref_math.php</a:t>
            </a:r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3433083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B5ED72-307C-F041-8982-284252DC12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E2ECC633-F25B-44D5-F7FB-6594E1A50DD3}"/>
              </a:ext>
            </a:extLst>
          </p:cNvPr>
          <p:cNvSpPr/>
          <p:nvPr/>
        </p:nvSpPr>
        <p:spPr>
          <a:xfrm>
            <a:off x="140669" y="6559908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03A68327-9E28-328C-96FF-5E9471C25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1999" cy="796412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Δράση </a:t>
            </a:r>
            <a:r>
              <a:rPr lang="en-US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5</a:t>
            </a:r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-21   </a:t>
            </a:r>
            <a:r>
              <a:rPr lang="el-GR" sz="4000" b="1" dirty="0" err="1">
                <a:solidFill>
                  <a:srgbClr val="F9853D"/>
                </a:solidFill>
                <a:latin typeface="Bahnschrift" panose="020B0502040204020203" pitchFamily="34" charset="0"/>
              </a:rPr>
              <a:t>HailstoneSequence</a:t>
            </a:r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 με χρήση πίνακα</a:t>
            </a: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1520D7A8-0A1C-4A1C-FD83-BE024FE57588}"/>
              </a:ext>
            </a:extLst>
          </p:cNvPr>
          <p:cNvSpPr txBox="1">
            <a:spLocks/>
          </p:cNvSpPr>
          <p:nvPr/>
        </p:nvSpPr>
        <p:spPr>
          <a:xfrm>
            <a:off x="-1" y="6599394"/>
            <a:ext cx="3840633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© 202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5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Μια Εισαγωγή στην Τέχνη του Προγραμματισμού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008D616-9832-175F-6212-9E146F56632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200" dirty="0">
                <a:latin typeface="Bahnschrift Light" panose="020B0502040204020203" pitchFamily="34" charset="0"/>
                <a:cs typeface="Arial" pitchFamily="34" charset="0"/>
              </a:rPr>
              <a:t>Διαφάνεια </a:t>
            </a:r>
            <a:fld id="{7C15C5B5-03C6-48D8-B20F-65D93A6CF09E}" type="slidenum">
              <a:rPr lang="en-US" sz="1200" smtClean="0">
                <a:latin typeface="Bahnschrift Light" panose="020B0502040204020203" pitchFamily="34" charset="0"/>
                <a:cs typeface="Arial" pitchFamily="34" charset="0"/>
              </a:rPr>
              <a:pPr algn="r"/>
              <a:t>65</a:t>
            </a:fld>
            <a:endParaRPr lang="en-US" sz="1200" dirty="0">
              <a:latin typeface="Bahnschrift Light" panose="020B0502040204020203" pitchFamily="34" charset="0"/>
              <a:cs typeface="Arial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B30F013-E40A-DFD2-2C9E-265A38514ADA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0"/>
            <a:ext cx="9144000" cy="908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0033CC"/>
              </a:solidFill>
              <a:latin typeface="Times New Roman" pitchFamily="18" charset="0"/>
            </a:endParaRP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80881038-A2C9-CD67-5892-9E95751295C0}"/>
              </a:ext>
            </a:extLst>
          </p:cNvPr>
          <p:cNvSpPr txBox="1">
            <a:spLocks/>
          </p:cNvSpPr>
          <p:nvPr/>
        </p:nvSpPr>
        <p:spPr bwMode="auto">
          <a:xfrm>
            <a:off x="4052881" y="1622305"/>
            <a:ext cx="7978878" cy="397575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Clr>
                <a:srgbClr val="3333CC"/>
              </a:buClr>
              <a:buNone/>
              <a:defRPr/>
            </a:pPr>
            <a:r>
              <a:rPr lang="el-GR" sz="2400" kern="0" dirty="0">
                <a:solidFill>
                  <a:srgbClr val="000000"/>
                </a:solidFill>
                <a:latin typeface="Tahoma"/>
              </a:rPr>
              <a:t>Αναπτύξτε μια νέα έκδοση για το πρόγραμμα </a:t>
            </a:r>
            <a:r>
              <a:rPr lang="el-GR" sz="2400" kern="0" dirty="0" err="1">
                <a:solidFill>
                  <a:srgbClr val="000000"/>
                </a:solidFill>
                <a:latin typeface="Tahoma"/>
              </a:rPr>
              <a:t>HailstoneSequence</a:t>
            </a:r>
            <a:r>
              <a:rPr lang="el-GR" sz="2400" kern="0" dirty="0">
                <a:solidFill>
                  <a:srgbClr val="000000"/>
                </a:solidFill>
                <a:latin typeface="Tahoma"/>
              </a:rPr>
              <a:t> ώστε να αποθηκεύονται όλοι οι όροι της ακολουθίας σε ένα πίνακα και στη συνέχεια να εκτυπώνονται. </a:t>
            </a:r>
          </a:p>
          <a:p>
            <a:pPr marL="0" indent="0">
              <a:buClr>
                <a:srgbClr val="3333CC"/>
              </a:buClr>
              <a:buNone/>
              <a:defRPr/>
            </a:pPr>
            <a:r>
              <a:rPr lang="el-GR" sz="2400" kern="0" dirty="0">
                <a:solidFill>
                  <a:srgbClr val="000000"/>
                </a:solidFill>
                <a:latin typeface="Tahoma"/>
              </a:rPr>
              <a:t>Να τυπώνεται επιπλέον και ο αριθμός των όρων της ακολουθίας. </a:t>
            </a:r>
          </a:p>
          <a:p>
            <a:pPr marL="0" indent="0">
              <a:buClr>
                <a:srgbClr val="3333CC"/>
              </a:buClr>
              <a:buNone/>
              <a:defRPr/>
            </a:pPr>
            <a:r>
              <a:rPr lang="el-GR" sz="2400" kern="0" dirty="0">
                <a:solidFill>
                  <a:srgbClr val="000000"/>
                </a:solidFill>
                <a:latin typeface="Tahoma"/>
              </a:rPr>
              <a:t>Ο πίνακας σας θα πρέπει να έχει αριθμό στοιχείων ίσο με τον αριθμό των όρων της ακολουθίας. </a:t>
            </a:r>
          </a:p>
          <a:p>
            <a:pPr marL="0" indent="0">
              <a:buClr>
                <a:srgbClr val="3333CC"/>
              </a:buClr>
              <a:buNone/>
              <a:defRPr/>
            </a:pPr>
            <a:r>
              <a:rPr lang="el-GR" sz="2400" kern="0" dirty="0">
                <a:solidFill>
                  <a:srgbClr val="000000"/>
                </a:solidFill>
                <a:latin typeface="Tahoma"/>
              </a:rPr>
              <a:t>Χρησιμοποιήστε ως βάση την έκδοση 1 ή την 2. </a:t>
            </a:r>
          </a:p>
        </p:txBody>
      </p:sp>
      <p:sp>
        <p:nvSpPr>
          <p:cNvPr id="21" name="Θέση υποσέλιδου 4">
            <a:extLst>
              <a:ext uri="{FF2B5EF4-FFF2-40B4-BE49-F238E27FC236}">
                <a16:creationId xmlns:a16="http://schemas.microsoft.com/office/drawing/2014/main" id="{1B1869EA-623F-C884-3215-15709332F453}"/>
              </a:ext>
            </a:extLst>
          </p:cNvPr>
          <p:cNvSpPr txBox="1">
            <a:spLocks/>
          </p:cNvSpPr>
          <p:nvPr/>
        </p:nvSpPr>
        <p:spPr>
          <a:xfrm>
            <a:off x="4149680" y="6670790"/>
            <a:ext cx="4631713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Control flow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 – 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Arrays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 - 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Type conversions</a:t>
            </a:r>
          </a:p>
          <a:p>
            <a:endParaRPr lang="el-GR" sz="11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B4882D-BCC6-3D42-40D6-BA3277732E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241" y="2312099"/>
            <a:ext cx="3160145" cy="232410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013A6D0-FFC0-A182-43ED-A0CCA0D0902C}"/>
              </a:ext>
            </a:extLst>
          </p:cNvPr>
          <p:cNvSpPr txBox="1"/>
          <p:nvPr/>
        </p:nvSpPr>
        <p:spPr>
          <a:xfrm>
            <a:off x="704243" y="1211706"/>
            <a:ext cx="236803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F9853D"/>
                </a:solidFill>
                <a:latin typeface="Bahnschrift" panose="020B0502040204020203" pitchFamily="34" charset="0"/>
              </a:rPr>
              <a:t>Hands-on </a:t>
            </a:r>
            <a:endParaRPr lang="en-GB" sz="3600" dirty="0"/>
          </a:p>
        </p:txBody>
      </p:sp>
    </p:spTree>
    <p:extLst>
      <p:ext uri="{BB962C8B-B14F-4D97-AF65-F5344CB8AC3E}">
        <p14:creationId xmlns:p14="http://schemas.microsoft.com/office/powerpoint/2010/main" val="39378354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Προσαρμοσμένη σχεδίαση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Θέμα του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Θέμα του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14657</TotalTime>
  <Words>5499</Words>
  <Application>Microsoft Office PowerPoint</Application>
  <PresentationFormat>Widescreen</PresentationFormat>
  <Paragraphs>918</Paragraphs>
  <Slides>65</Slides>
  <Notes>65</Notes>
  <HiddenSlides>2</HiddenSlides>
  <MMClips>0</MMClips>
  <ScaleCrop>false</ScaleCrop>
  <HeadingPairs>
    <vt:vector size="8" baseType="variant">
      <vt:variant>
        <vt:lpstr>Fonts Used</vt:lpstr>
      </vt:variant>
      <vt:variant>
        <vt:i4>14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65</vt:i4>
      </vt:variant>
    </vt:vector>
  </HeadingPairs>
  <TitlesOfParts>
    <vt:vector size="82" baseType="lpstr">
      <vt:lpstr>Aptos</vt:lpstr>
      <vt:lpstr>Arial</vt:lpstr>
      <vt:lpstr>Bahnschrift</vt:lpstr>
      <vt:lpstr>Bahnschrift Light</vt:lpstr>
      <vt:lpstr>Calibri</vt:lpstr>
      <vt:lpstr>Calibri Light</vt:lpstr>
      <vt:lpstr>Courier New</vt:lpstr>
      <vt:lpstr>HellasTimes</vt:lpstr>
      <vt:lpstr>Open Sans</vt:lpstr>
      <vt:lpstr>Segoe UI</vt:lpstr>
      <vt:lpstr>Tahoma</vt:lpstr>
      <vt:lpstr>Times New Roman</vt:lpstr>
      <vt:lpstr>Verdana</vt:lpstr>
      <vt:lpstr>Wingdings</vt:lpstr>
      <vt:lpstr>Προσαρμοσμένη σχεδίαση</vt:lpstr>
      <vt:lpstr>Θέμα του Office</vt:lpstr>
      <vt:lpstr>Worksheet</vt:lpstr>
      <vt:lpstr>PowerPoint Presentation</vt:lpstr>
      <vt:lpstr>Στόχος Ενότητας </vt:lpstr>
      <vt:lpstr>Οργάνωση Διάλεξης</vt:lpstr>
      <vt:lpstr>Δραστηριότητα 5-1   HailstoneSequence</vt:lpstr>
      <vt:lpstr>Βήματα Διαδικασίας Ανάπτυξης Προγράμματος</vt:lpstr>
      <vt:lpstr>Συνοπτική περιγραφή διαδικασίας εκτέλεσης Δραστηριότητας 5-1</vt:lpstr>
      <vt:lpstr>Η διεργασία παρασκευής καφέ – Γραφική αναπαράσταση</vt:lpstr>
      <vt:lpstr>Η διεργασία παρασκευής καφέ - Συνθετικά</vt:lpstr>
      <vt:lpstr>Γραφική αναπαράσταση Διεργασίας</vt:lpstr>
      <vt:lpstr>Hailstone sequence   Ορισμός και Κανόνες υπολογισμού</vt:lpstr>
      <vt:lpstr>Hailstone sequence   Λεκτική περιγραφή και Αλγόριθμος</vt:lpstr>
      <vt:lpstr>Hailstone sequence   Ψευδοκώδικας</vt:lpstr>
      <vt:lpstr>Hailstone sequence   Λεκτική περιγραφή Version 2</vt:lpstr>
      <vt:lpstr>Hailstone sequence   Λεκτική περιγραφή Version 3</vt:lpstr>
      <vt:lpstr>Προτάσεις ελέγχου ροής εκτέλεσης προγράμματος</vt:lpstr>
      <vt:lpstr>Προτάσεις διακλάδωσης υπό συνθήκη - if</vt:lpstr>
      <vt:lpstr>Πρόταση if - Παράδειγμα</vt:lpstr>
      <vt:lpstr>Διεργασία ως Reusable function - H συνάρτηση  max</vt:lpstr>
      <vt:lpstr>Προτάσεις Επανάληψης - Η πρόταση while</vt:lpstr>
      <vt:lpstr>Project HailstoneSequence – 3 εκδόσεις</vt:lpstr>
      <vt:lpstr>Hands-on  (HailstoneSequence)</vt:lpstr>
      <vt:lpstr>HailstoneSequence – Εναλλακτικές Υλοποιήσεις</vt:lpstr>
      <vt:lpstr>Οργάνωση Διάλεξης</vt:lpstr>
      <vt:lpstr>Δραστηριότητα 5-2   FibonacciSequence</vt:lpstr>
      <vt:lpstr>FibonacciSequence - Αφαιρετική αναπαράσταση </vt:lpstr>
      <vt:lpstr>FibonacciSequence - Λεκτική περιγραφή</vt:lpstr>
      <vt:lpstr>FibonacciSequence – Δημιουργία πηγαίου κώδικα</vt:lpstr>
      <vt:lpstr>Επανάληψη προτάσεων</vt:lpstr>
      <vt:lpstr>Η πρόταση for</vt:lpstr>
      <vt:lpstr>Η πρόταση επανάληψης for</vt:lpstr>
      <vt:lpstr>Πρόταση for</vt:lpstr>
      <vt:lpstr>Πρόταση for - Παράδειγμα</vt:lpstr>
      <vt:lpstr>for vs. while </vt:lpstr>
      <vt:lpstr>Hands-on  (FibonacciSequence V1)</vt:lpstr>
      <vt:lpstr>FibonacciSequence – 1η έκδοση </vt:lpstr>
      <vt:lpstr>FibonacciSequence – 2η έκδοση (Hands-on) </vt:lpstr>
      <vt:lpstr>FibonacciSequence – 3η έκδοση (Hands-on) </vt:lpstr>
      <vt:lpstr>O τύπος του πίνακα (array)  [ ]</vt:lpstr>
      <vt:lpstr>Δήλωση Πίνακα</vt:lpstr>
      <vt:lpstr>Αναφορά σε στοιχείο Πίνακα</vt:lpstr>
      <vt:lpstr>FibonacciSequence – 4η έκδοση (Hands-on) </vt:lpstr>
      <vt:lpstr>Οργάνωση Διάλεξης</vt:lpstr>
      <vt:lpstr>Δραστηριότητα 5-3   Average</vt:lpstr>
      <vt:lpstr>Η διεργασία υπολογισμού μέσου όρου ενός συνόλου ακεραίων</vt:lpstr>
      <vt:lpstr>Average - Λεκτική Περιγραφή</vt:lpstr>
      <vt:lpstr>Average – Πηγαίος Κώδικας (Μία πρώτη εκδοχή)</vt:lpstr>
      <vt:lpstr>O τύπος float και μετατροπή τύπου</vt:lpstr>
      <vt:lpstr>Έλεγχος τύπων (type checking)</vt:lpstr>
      <vt:lpstr>Yπονοούμενη μετατροπή (implicit conversion) </vt:lpstr>
      <vt:lpstr>H συνάρτηση printf της τυπικής βιβλιοθήκης</vt:lpstr>
      <vt:lpstr>Hands-on  (AverageV1 και AverageV2)</vt:lpstr>
      <vt:lpstr>Average με while (V1)</vt:lpstr>
      <vt:lpstr>Average με for (V1)</vt:lpstr>
      <vt:lpstr>Average – 3η έκδοση (Με χρήση συνάρτησης)</vt:lpstr>
      <vt:lpstr>Average ως Συνάρτηση</vt:lpstr>
      <vt:lpstr>Πέρασμα πίνακα ως όρισμα σε συνάρτηση</vt:lpstr>
      <vt:lpstr>Average ως Συνάρτηση με όρισμα Πίνακα</vt:lpstr>
      <vt:lpstr>Hands-on  (AverageV3 – UsingFunction)</vt:lpstr>
      <vt:lpstr>Οργάνωση Διάλεξης</vt:lpstr>
      <vt:lpstr>Ο Alex, το AI Chatbot και η HailstoneSequence</vt:lpstr>
      <vt:lpstr>CodeBlocks workspace</vt:lpstr>
      <vt:lpstr>Οργάνωση Διάλεξης</vt:lpstr>
      <vt:lpstr>Δραστηριότητα 5-4   MathFunctions</vt:lpstr>
      <vt:lpstr>MathFunctions  (Hands-on) </vt:lpstr>
      <vt:lpstr>Δράση 5-21   HailstoneSequence με χρήση πίνακα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OOP-Introduction</dc:title>
  <dc:creator>Kleanthis Thramboulidis</dc:creator>
  <cp:lastModifiedBy>Kleanthis Thramboulidis</cp:lastModifiedBy>
  <cp:revision>73</cp:revision>
  <cp:lastPrinted>2023-02-24T15:57:04Z</cp:lastPrinted>
  <dcterms:created xsi:type="dcterms:W3CDTF">2020-03-13T12:21:17Z</dcterms:created>
  <dcterms:modified xsi:type="dcterms:W3CDTF">2025-10-14T19:27:12Z</dcterms:modified>
</cp:coreProperties>
</file>