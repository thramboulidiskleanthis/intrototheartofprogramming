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40"/>
  </p:notesMasterIdLst>
  <p:sldIdLst>
    <p:sldId id="822" r:id="rId3"/>
    <p:sldId id="818" r:id="rId4"/>
    <p:sldId id="819" r:id="rId5"/>
    <p:sldId id="823" r:id="rId6"/>
    <p:sldId id="745" r:id="rId7"/>
    <p:sldId id="257" r:id="rId8"/>
    <p:sldId id="824" r:id="rId9"/>
    <p:sldId id="825" r:id="rId10"/>
    <p:sldId id="826" r:id="rId11"/>
    <p:sldId id="790" r:id="rId12"/>
    <p:sldId id="850" r:id="rId13"/>
    <p:sldId id="827" r:id="rId14"/>
    <p:sldId id="828" r:id="rId15"/>
    <p:sldId id="829" r:id="rId16"/>
    <p:sldId id="788" r:id="rId17"/>
    <p:sldId id="848" r:id="rId18"/>
    <p:sldId id="769" r:id="rId19"/>
    <p:sldId id="770" r:id="rId20"/>
    <p:sldId id="771" r:id="rId21"/>
    <p:sldId id="851" r:id="rId22"/>
    <p:sldId id="830" r:id="rId23"/>
    <p:sldId id="832" r:id="rId24"/>
    <p:sldId id="833" r:id="rId25"/>
    <p:sldId id="834" r:id="rId26"/>
    <p:sldId id="836" r:id="rId27"/>
    <p:sldId id="849" r:id="rId28"/>
    <p:sldId id="837" r:id="rId29"/>
    <p:sldId id="839" r:id="rId30"/>
    <p:sldId id="840" r:id="rId31"/>
    <p:sldId id="841" r:id="rId32"/>
    <p:sldId id="842" r:id="rId33"/>
    <p:sldId id="843" r:id="rId34"/>
    <p:sldId id="844" r:id="rId35"/>
    <p:sldId id="846" r:id="rId36"/>
    <p:sldId id="847" r:id="rId37"/>
    <p:sldId id="845" r:id="rId38"/>
    <p:sldId id="838" r:id="rId39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58" autoAdjust="0"/>
    <p:restoredTop sz="90559" autoAdjust="0"/>
  </p:normalViewPr>
  <p:slideViewPr>
    <p:cSldViewPr snapToGrid="0">
      <p:cViewPr varScale="1">
        <p:scale>
          <a:sx n="61" d="100"/>
          <a:sy n="61" d="100"/>
        </p:scale>
        <p:origin x="7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E02B-7508-585E-4F49-009EAA4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B95EB3-1D7B-031E-2AA8-257488295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B813BF-C23F-3E4D-900A-75A69D377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DD72C6-8023-8803-518A-C93D5F36A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2106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D7DE-8C34-F545-2132-84235E4A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493DE3F-0B8E-668A-2A0B-E1AAC856A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7E0C569-8A72-BC91-676F-B92312D22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00702CC-0524-A003-3BE7-FDBF1E1FD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6054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2049-C43B-C3B9-E023-3706A704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76768F6-0957-0C83-D9BD-1E771F776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580CF52-E025-6057-69D1-1D9FEC2FA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A880940-AB41-1B40-C41D-6DC5E6C22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2677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6704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0260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A83B-52DA-FE17-2A85-040D66EF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0C2B013-E578-88A1-8E5C-1D38D9755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C0BB6ED-93B4-4677-492C-A33EAEA94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66FC34B-6107-4ECB-0029-8D8601164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29788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12E5-6C90-C214-7A82-22C521E0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D8666F8-7AF7-A12D-A908-2314C9E6D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46CBC03-C815-E5A5-FCA5-339D52224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1CBE55A-C81D-08A3-FCBC-545A42A75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58832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BFFA-364A-E307-1E2A-7A168BB2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7A8CE10-FC53-2369-D766-EE8751A5A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8EB6C96-453C-1E8C-09A3-DE1ADFB4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32EC328-B733-63A8-9596-71F39C10B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0879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29C05-F246-7910-B146-3FFC04C7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3704D87-5A5A-6D3C-8B0D-ED7E5EB7C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B59441A-C4F5-F66B-3457-2ACC7D058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CB5B3AB-0CBE-2B97-F50D-84B24DBEF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54556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620D-92A6-DB2B-3357-89F63275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DA0E5DE-1C1B-9F21-0033-46E03C2A7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2BA9EDC-9E1E-68FB-4BF7-595F27488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6EBB854-2D14-07A3-F8FC-3ADDAE4DC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16374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2E30-427D-1F4B-B024-6EB294EF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F31740A-3DE8-38DE-8250-F6933057A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EB5172B-21B0-C5F8-F909-78EDF438E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DCE4ED0-9F4D-AE1A-DE98-301419A8B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16015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00E6-3FA2-8124-6B6F-FBB85D21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3A6C6C3-68D8-3EB9-A8A1-132B287CC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761295E-F03B-8064-52CB-1325F2B34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EF54E6A-1FCD-490A-9A2A-13068B02A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2005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1441-941C-5146-5826-772C4966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ADF4E44-8240-DD7A-9939-D255CAACD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B5F1519-9DC9-A9BC-D2F8-6EDC0FA8C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0F5F374-A59F-9039-E2FE-179D9A788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21667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499C-D832-BF18-5A15-2F97A723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5D8DC08-D555-CB15-1D06-CB2111376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B086658-F9C0-60C8-2A5B-104A1691F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ECBE54-4169-2EA1-9A95-61CF9F27B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62669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61CA-37B7-AC18-2FA1-38DD9FF3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AAF7AB8-05F9-4969-F7CC-6808DEF3C4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D23F3E4-7A28-E379-D190-3CBB27E370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3F01929-8AC1-E9B9-34CD-C5A76E16E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0072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0521-0860-B4BA-459B-412A5578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B8DF89C-2D86-4DE2-E01E-A165F3299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EA8AEDB-C4C3-B3B9-63C4-B31DEA2C7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One of the goals of higher education is to prepare students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life by enabling them to become independent learners.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»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see Activity-Led Learning (ALL) paper </a:t>
            </a:r>
          </a:p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4DDBF53-4F42-4CA7-C855-3B04FCEA7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65914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54C9-C26E-F37E-27DB-F2CBEB58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5BE4A0C-F0A4-8514-204A-ED7223239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51E9AA2-399F-9BBA-5DF8-26144F134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One of the goals of higher education is to prepare students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life by enabling them to become independent learners.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»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see Activity-Led Learning (ALL) paper </a:t>
            </a:r>
          </a:p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4F89495-3B27-4E21-6A8D-3F0B07245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8483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7978-5AF1-1841-C022-B899C60E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646CA2B-558D-3062-4E42-84F42B952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60F1282-3791-8A74-E6C0-49A4D2462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One of the goals of higher education is to prepare students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for life by enabling them to become independent learners.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»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see Activity-Led Learning (ALL) paper </a:t>
            </a:r>
          </a:p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3DF86BB-7025-6B03-7B92-F41A4F309A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3501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9C61-B72D-460F-2A23-4EAC2835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BB01E8C-B482-93F8-F580-A3ADED1BC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E10DDB66-5F51-DAF2-5AD3-8131D4C3D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DF7E12A-6068-439B-2385-D1C4DE973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58563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DCC99-176E-6D2D-B782-43E27C84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2AAC11E-1249-B947-79B2-AEF5440BE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F6B700A-B2A6-93CB-8100-211789A68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2916AB9-D1EA-5041-CC1C-0D69531AB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47536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2865-273F-7D69-5DAA-1649D0EA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5CCFE64-997A-1103-1CA0-84BECAFD6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807E7A2-BDB2-477D-D6A2-156343D4A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C5BF620-5FC1-7660-1C5F-784FA94C0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1415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3799-F015-3F22-834B-D031B8CC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659BDAD2-6A09-264B-0B8D-CB442169C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79E6F23-F67D-5EE9-A455-B7EFDA2DA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8193246-9BEB-C5D9-A3E1-83EE0E94C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05638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BDEF-B528-9989-E4DD-3B093319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EB7C69A-2FB1-71FC-8EF5-9ADA34823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1F2A081-0EB0-BDAC-F6FD-E85524CA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1DC17DD-5D65-FD87-45F3-7A8E6A7B9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4854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A9D7-0B0A-B383-D439-71051FB4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55E87BC-00FB-2326-296C-B78BEB9DA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2464A30-F6A2-F100-722F-41347F1EF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A86596F-F109-DDAF-F4D0-6C132431B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02517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85A96-0E2C-5A57-F018-BDD316A1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B05AE5A-64EA-833E-5845-34965C93ED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21FEBAF-C870-A037-1C03-992E2C728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B843FF3-2BA4-DE2B-7930-145AD5B7A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197641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1128-3401-451D-71F1-DE89E33E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6D534A5-DCF4-B578-9786-9299D11E3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43A1E5B-2F47-BD48-BEF7-55BD7375A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1A54EF8-ACC5-A229-6C3B-3F4E9F9E5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0607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ADB8-5AA1-AF32-2BD2-C942432A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AFEA295-2A17-4541-EE66-A9328D5C0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3A1FB1D-9FDC-5B29-9D61-67C220A6B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2DA50C8-A4C5-3FB7-767A-5FB11A868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461316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39DF-58F2-68E6-5F14-12D069F8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1C69B11-3F33-A203-EA1F-5CC4CDDB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DE051BB-B564-6A89-3E7E-AB0A6D8A2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C79E15A-F250-2A32-CF3B-2E4D79217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998481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C4E4-C1E3-8E69-8774-67A434BA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74057F5-C850-344B-86CA-97C921BC7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CE6A42F-C0A4-0ADD-1DDC-DF7B3A2E3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9F19F3D-00D4-93AA-C2A5-02E074050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50128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B2CB-0173-A8E4-F33F-3E25A6A2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B4056D6-5ECE-D018-71B2-C4AB8CA5E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79A3684-A738-C6F4-81BC-32FF4F332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F9858BE-8FF0-B4FF-06C3-09A4A59EE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486429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A8F9-5755-0C43-EB6D-E10C295D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6FFFAF8-B2BE-510F-E7F1-502791D73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68FF5F2-3077-7840-36FF-017BC53F9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DFCC384-BCB2-C43D-C064-827E7238C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01745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65FE-C6CC-0F8B-5C40-09AC9143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F5BFD2D-A859-15E8-5965-1928CBCEF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222F8D0-6C4D-8901-6F7A-A1ED9B3BC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2A3C2F0-ABB4-0369-7EEB-2140E2450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197185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3B07-291D-F9CA-C67B-B936F56B1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BA1142F-AD33-8BB7-26E9-531A1459C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46CD8CD-2879-1FDD-B367-E8D981A71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7092455-92C0-3873-C014-3D693FCF6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814860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FA45-08FD-30B4-65EF-134F49BA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C984E2E-75A5-BC55-AF50-1DE21D916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D06C804-C296-2830-0675-CA520AFA7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B9172C2-3FA1-CB3D-8FA2-E34980B12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311448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2109-35B9-231B-6172-C6F7FAD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334262E7-901F-76FE-7FB5-4ACC41386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8D79851-60EF-EED2-1008-17F1945E4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C0090B4-741E-F869-7947-CBBFE4421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49906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065A-C296-FD80-D6A9-67720990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041B923-ACA1-FD36-E42D-B825C04DA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FE11981-978D-C206-F683-89DDBEB1B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C68BD41-4947-2019-4057-CC27BB801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6801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atras.gr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eclass.upatras.gr/courses/CEID1456/" TargetMode="External"/><Relationship Id="rId4" Type="http://schemas.openxmlformats.org/officeDocument/2006/relationships/hyperlink" Target="https://www.ceid.upatras.gr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linkedin.com/e/v2/pulse?e=1biid4-iyasznnp-yn&amp;a=pulse_web_view_article_detail_new_url&amp;midToken=AQH-TcX7JQ-vVg&amp;ek=email_feed_ecosystem_digest_01&amp;li=0&amp;m=hero&amp;permLink=we-dont-need-teach-our-kids-code-them-how-dream-tom-goodwin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msend3.com/link.cfm?r=553660932&amp;sid=34825703&amp;m=3849115&amp;u=IEEE_JOB&amp;j=17577265&amp;s=http://online.wsj.com/news/articles/SB10001424052702304709904579411354120634252?mod=WSJ_Careers_CareerJournal_4&amp;mg=reno64-wsj&amp;url=http://online.wsj.com/article/SB10001424052702304709904579411354120634252.html?mod%3DWSJ_Careers_CareerJournal_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16239" y="0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65691" y="2107707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Εισαγωγή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1200" dirty="0">
                <a:solidFill>
                  <a:srgbClr val="60D69E"/>
                </a:solidFill>
                <a:latin typeface="Bahnschrift" panose="020B0502040204020203" pitchFamily="34" charset="0"/>
              </a:rPr>
              <a:t>Σημασία-Στόχος-Οργάνωση Μαθήματος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859860-932D-A68B-4EB0-1765E7B281A1}"/>
              </a:ext>
            </a:extLst>
          </p:cNvPr>
          <p:cNvSpPr txBox="1"/>
          <p:nvPr/>
        </p:nvSpPr>
        <p:spPr>
          <a:xfrm>
            <a:off x="7430243" y="2550997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4"/>
              </a:rPr>
              <a:t>Μια Εισαγωγή στην Τέχνη του Προγραμματισμού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FC2A84-827F-F5C2-7547-37AF8C539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1" y="3228126"/>
            <a:ext cx="4855185" cy="3320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69FDB-5143-FF13-0213-7638FF8F2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384" y="3725922"/>
            <a:ext cx="6035926" cy="300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1C37C-FC24-DFB7-BC5F-F84DF16BEEA0}"/>
              </a:ext>
            </a:extLst>
          </p:cNvPr>
          <p:cNvSpPr txBox="1"/>
          <p:nvPr/>
        </p:nvSpPr>
        <p:spPr>
          <a:xfrm flipH="1">
            <a:off x="4585757" y="3356590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</p:spTree>
    <p:extLst>
      <p:ext uri="{BB962C8B-B14F-4D97-AF65-F5344CB8AC3E}">
        <p14:creationId xmlns:p14="http://schemas.microsoft.com/office/powerpoint/2010/main" val="271681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E635E-13B9-9C1B-C13D-3FFB3D54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B1C13C6-17D1-7C66-983F-D7B6E57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Καλώς ήλθατε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116A2B-F56B-26DB-A6D1-1ECEEB4E2B4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338701-BBA4-8F8D-1971-AA2199603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784" y="1544215"/>
            <a:ext cx="7772400" cy="424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endParaRPr lang="el-GR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10D394-D3AC-1BD6-BE1F-0BDEAEED4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17" y="1130400"/>
            <a:ext cx="11402408" cy="4597199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600" dirty="0"/>
              <a:t>στο Πανεπιστήμιο Πατρών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GB" sz="3200" dirty="0">
                <a:hlinkClick r:id="rId3"/>
              </a:rPr>
              <a:t>https://www.upatras.gr/</a:t>
            </a:r>
            <a:endParaRPr lang="el-GR" sz="32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2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600" dirty="0"/>
              <a:t>στο Τμήμα Μηχανικών Η/Υ και Πληροφορικής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GB" sz="3200" dirty="0">
                <a:hlinkClick r:id="rId4"/>
              </a:rPr>
              <a:t>https://www.ceid.upatras.gr/</a:t>
            </a:r>
            <a:endParaRPr lang="el-GR" sz="32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2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600" dirty="0"/>
              <a:t>στο μάθημα Εισαγωγή στον Προγραμματισμό 2025-26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hlinkClick r:id="rId5"/>
              </a:rPr>
              <a:t>https://eclass.upatras.gr/courses/CEID1456/</a:t>
            </a:r>
            <a:endParaRPr lang="el-GR" sz="32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sz="32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6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706B35-B80C-F49C-3B64-0BFE8855A45B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01299257-B920-2F0B-6976-A07C3919C46D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EB860C69-5049-A0E1-7D75-169BFEBC702A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3B40428D-B7BB-CECD-7A14-9266FF321AF3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70A455-309E-7051-F285-7F247FD05D0A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00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8143-1D7F-202E-349E-98761725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9645C5F-5642-0121-791C-980DD5D6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Γιατί ήμαστε εδώ;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783F4B-7255-C2EC-2699-BAF1CD3DD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784" y="1544215"/>
            <a:ext cx="7772400" cy="424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endParaRPr lang="el-GR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DBB0E6-1A72-FB96-9047-7A3975E0E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53" y="1064048"/>
            <a:ext cx="11490231" cy="4806952"/>
          </a:xfrm>
        </p:spPr>
        <p:txBody>
          <a:bodyPr>
            <a:noAutofit/>
          </a:bodyPr>
          <a:lstStyle/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Επιλογή σας ή υποχρεωθήκατε να το κάνετε;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24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Σας ενδιαφέρει το αντικείμενο;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28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Ποιος είναι ο Στόχος σας;</a:t>
            </a:r>
            <a:endParaRPr lang="en-US" sz="3200" dirty="0"/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Έχετε στόχο; 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Ποιες είναι οι αρμοδιότητες σας στην επίτευξη του; 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28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Είναι χρήσιμο το αντικείμενο</a:t>
            </a:r>
            <a:r>
              <a:rPr lang="en-US" sz="3200" dirty="0"/>
              <a:t> </a:t>
            </a:r>
            <a:r>
              <a:rPr lang="el-GR" sz="3200" dirty="0"/>
              <a:t>που πραγματεύεται το μάθημα </a:t>
            </a:r>
            <a:r>
              <a:rPr lang="en-US" sz="3200" dirty="0"/>
              <a:t>Introduction to  Programming (I2P)</a:t>
            </a:r>
            <a:r>
              <a:rPr lang="el-GR" sz="3200" dirty="0"/>
              <a:t>; 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b="1" dirty="0">
                <a:solidFill>
                  <a:srgbClr val="C00000"/>
                </a:solidFill>
              </a:rPr>
              <a:t>Είναι για εσάς ένα νέο αντικείμενο; </a:t>
            </a:r>
            <a:r>
              <a:rPr lang="el-GR" sz="2800" dirty="0"/>
              <a:t>… ΝΑΙ  … ΟΧΙ</a:t>
            </a:r>
            <a:endParaRPr lang="en-GB" sz="28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200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l-GR" sz="3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79D4B5-1EA7-7988-FE5F-65EE18157C8A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6198BE9B-4539-0147-088D-A2C030A108DD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51BB4377-5611-6336-20A3-4086BE596DE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7F12719E-8071-0B1F-4D00-AAB7D58A7D5F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66CEF2-9261-90DB-1805-0C67E54EC6C8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65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9130-FB61-021D-323D-C32EEF32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1E72B57-B6E9-4AE6-72ED-F634B1FB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Ποιος είμαι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ACB611-B5DC-BFEC-9C21-88A1E6B253B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394F8CF-6BD6-898D-4724-2863B91C6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784" y="1544215"/>
            <a:ext cx="7772400" cy="424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000000"/>
                </a:solidFill>
                <a:latin typeface="Tahoma" panose="020B0604030504040204" pitchFamily="34" charset="0"/>
              </a:rPr>
              <a:t>	</a:t>
            </a:r>
            <a:endParaRPr lang="el-GR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8D6CF8-CE1B-5C5E-7F69-377769159C1C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CDFDC1A3-4386-808A-E9F3-07D8D72088EF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74606BC0-2983-A92B-6447-245DE6BA33F1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A5ECBBD5-DCCA-1BF2-15AD-05FA0D52D0CF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8D309E-58B0-9646-6867-F23D6FD949AE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40AE534-A649-9DA1-29C0-EB9D88A73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73" y="838879"/>
            <a:ext cx="10659963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0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Ποιος είμαι - Λίγα από το παρελθόν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0E6988-1C66-7B47-9EDD-CD5F93C98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031" y="-24765"/>
            <a:ext cx="2820618" cy="156640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051DB5-ED32-1FE6-501E-A161D214DE24}"/>
              </a:ext>
            </a:extLst>
          </p:cNvPr>
          <p:cNvCxnSpPr/>
          <p:nvPr/>
        </p:nvCxnSpPr>
        <p:spPr bwMode="auto">
          <a:xfrm>
            <a:off x="3633510" y="1092395"/>
            <a:ext cx="0" cy="53544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4251AFCC-3E87-AF63-A64B-DF1232CCC179}"/>
              </a:ext>
            </a:extLst>
          </p:cNvPr>
          <p:cNvGrpSpPr/>
          <p:nvPr/>
        </p:nvGrpSpPr>
        <p:grpSpPr>
          <a:xfrm>
            <a:off x="253390" y="1157093"/>
            <a:ext cx="2907978" cy="5289714"/>
            <a:chOff x="1557299" y="1199807"/>
            <a:chExt cx="2907978" cy="52897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08B2D3-578D-3D98-0AAD-EAE7174DF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57299" y="1199807"/>
              <a:ext cx="2907978" cy="227746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7203ED-110E-C0ED-4D1D-FCFC7EBF2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7299" y="4004199"/>
              <a:ext cx="581422" cy="7155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0BFC5E-E2FF-201B-FDE8-B32A905E8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7401" y="4882197"/>
              <a:ext cx="581422" cy="71559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5777DFB-7D3F-E0D1-D899-0C86E29C1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75476" y="4000834"/>
              <a:ext cx="581422" cy="7155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469273-302A-05C4-AA2E-A4622D9F8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56135" y="4967636"/>
              <a:ext cx="581422" cy="7155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025AAA1-6619-7095-C5A2-B14912493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37557" y="4004199"/>
              <a:ext cx="581422" cy="7155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CD5FA17-3ED0-B323-C7D9-B5DF8C259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86655" y="5763560"/>
              <a:ext cx="581422" cy="71559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F2609C-9A4C-07FB-0469-E9C9504F8490}"/>
                </a:ext>
              </a:extLst>
            </p:cNvPr>
            <p:cNvSpPr txBox="1"/>
            <p:nvPr/>
          </p:nvSpPr>
          <p:spPr>
            <a:xfrm>
              <a:off x="1557300" y="612018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>
                  <a:solidFill>
                    <a:srgbClr val="FF0000"/>
                  </a:solidFill>
                </a:rPr>
                <a:t>1976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196D027-F3BB-BD3A-37E6-860100D3A816}"/>
                </a:ext>
              </a:extLst>
            </p:cNvPr>
            <p:cNvCxnSpPr/>
            <p:nvPr/>
          </p:nvCxnSpPr>
          <p:spPr bwMode="auto">
            <a:xfrm flipV="1">
              <a:off x="2007985" y="3535392"/>
              <a:ext cx="259091" cy="52356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9AB9CD3-0221-D3E4-CD44-56BEFCAD3B0A}"/>
                </a:ext>
              </a:extLst>
            </p:cNvPr>
            <p:cNvCxnSpPr/>
            <p:nvPr/>
          </p:nvCxnSpPr>
          <p:spPr bwMode="auto">
            <a:xfrm flipH="1" flipV="1">
              <a:off x="2799035" y="3550970"/>
              <a:ext cx="125450" cy="3632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532C944-C3A7-5260-4DC3-A066C64C0C7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431771" y="3567243"/>
              <a:ext cx="178422" cy="128922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69BF774-87CC-E6D2-581C-9D8353215F2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178953" y="3458608"/>
              <a:ext cx="46836" cy="45561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60F423C-7E64-DA31-9DD5-A8A0D0AE2CE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035216" y="3567242"/>
              <a:ext cx="612896" cy="214694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07FA2C-570D-CE9F-5D0A-24E1DCF1C43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82227" y="3517865"/>
              <a:ext cx="315159" cy="12920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A8D456-6F4B-0BFC-A556-FB6D9D5AA12B}"/>
              </a:ext>
            </a:extLst>
          </p:cNvPr>
          <p:cNvGrpSpPr/>
          <p:nvPr/>
        </p:nvGrpSpPr>
        <p:grpSpPr>
          <a:xfrm>
            <a:off x="8690563" y="1629858"/>
            <a:ext cx="3285596" cy="4677435"/>
            <a:chOff x="5876560" y="1709387"/>
            <a:chExt cx="3285596" cy="4677435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80AEB41-A992-06C3-3BAB-4F91CE90A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20609" y="5404593"/>
              <a:ext cx="581422" cy="715596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D033BC-C563-EA46-B553-2863124EEB36}"/>
                </a:ext>
              </a:extLst>
            </p:cNvPr>
            <p:cNvGrpSpPr/>
            <p:nvPr/>
          </p:nvGrpSpPr>
          <p:grpSpPr>
            <a:xfrm>
              <a:off x="5876560" y="1709387"/>
              <a:ext cx="3285596" cy="4677435"/>
              <a:chOff x="5876560" y="1709387"/>
              <a:chExt cx="3285596" cy="467743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197CC88-DFC5-C862-3D0F-31B0F65D0A1E}"/>
                  </a:ext>
                </a:extLst>
              </p:cNvPr>
              <p:cNvSpPr txBox="1"/>
              <p:nvPr/>
            </p:nvSpPr>
            <p:spPr>
              <a:xfrm>
                <a:off x="5876560" y="6017490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>
                    <a:solidFill>
                      <a:srgbClr val="FF0000"/>
                    </a:solidFill>
                  </a:rPr>
                  <a:t>2020</a:t>
                </a: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86982E17-FF63-7C78-6AD6-583F4A23A1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7162" y="3732598"/>
                <a:ext cx="652124" cy="1099511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8E2B6E0-B0B5-A7EE-421D-93C82DDF9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44535" y="3236779"/>
                <a:ext cx="886210" cy="1230112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9F9E34D-1555-CB5B-6343-BA34332842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1138" y="3957963"/>
                <a:ext cx="871018" cy="80133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09AB958-D960-D95B-6F8D-5E9F9A2AA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52791" y="1709387"/>
                <a:ext cx="1676694" cy="1074804"/>
              </a:xfrm>
              <a:prstGeom prst="rect">
                <a:avLst/>
              </a:prstGeom>
            </p:spPr>
          </p:pic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26303E6-AAC6-ED36-EE0C-AA493C5BCAD9}"/>
                  </a:ext>
                </a:extLst>
              </p:cNvPr>
              <p:cNvCxnSpPr>
                <a:cxnSpLocks/>
                <a:stCxn id="26" idx="1"/>
                <a:endCxn id="29" idx="2"/>
              </p:cNvCxnSpPr>
              <p:nvPr/>
            </p:nvCxnSpPr>
            <p:spPr bwMode="auto">
              <a:xfrm flipH="1" flipV="1">
                <a:off x="6343224" y="4832109"/>
                <a:ext cx="977385" cy="93028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A3EC5FC-79C7-DF40-5C63-03825CAF19EB}"/>
                  </a:ext>
                </a:extLst>
              </p:cNvPr>
              <p:cNvCxnSpPr>
                <a:cxnSpLocks/>
                <a:stCxn id="31" idx="0"/>
                <a:endCxn id="32" idx="2"/>
              </p:cNvCxnSpPr>
              <p:nvPr/>
            </p:nvCxnSpPr>
            <p:spPr bwMode="auto">
              <a:xfrm flipH="1" flipV="1">
                <a:off x="8291138" y="2784191"/>
                <a:ext cx="435509" cy="117377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A290D9F-3255-53B9-930C-680BFD4D8918}"/>
                  </a:ext>
                </a:extLst>
              </p:cNvPr>
              <p:cNvCxnSpPr>
                <a:cxnSpLocks/>
                <a:endCxn id="31" idx="2"/>
              </p:cNvCxnSpPr>
              <p:nvPr/>
            </p:nvCxnSpPr>
            <p:spPr bwMode="auto">
              <a:xfrm flipV="1">
                <a:off x="7930443" y="4759300"/>
                <a:ext cx="796204" cy="100309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F2D05FC-5165-FAC1-DA95-7D14DAE46D1E}"/>
                  </a:ext>
                </a:extLst>
              </p:cNvPr>
              <p:cNvCxnSpPr>
                <a:cxnSpLocks/>
                <a:stCxn id="26" idx="0"/>
                <a:endCxn id="30" idx="2"/>
              </p:cNvCxnSpPr>
              <p:nvPr/>
            </p:nvCxnSpPr>
            <p:spPr bwMode="auto">
              <a:xfrm flipH="1" flipV="1">
                <a:off x="7387640" y="4466891"/>
                <a:ext cx="223680" cy="93770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6927D1D-7B23-4EB2-5FD9-47829A1D8959}"/>
                  </a:ext>
                </a:extLst>
              </p:cNvPr>
              <p:cNvCxnSpPr>
                <a:cxnSpLocks/>
                <a:stCxn id="29" idx="3"/>
                <a:endCxn id="30" idx="1"/>
              </p:cNvCxnSpPr>
              <p:nvPr/>
            </p:nvCxnSpPr>
            <p:spPr bwMode="auto">
              <a:xfrm flipV="1">
                <a:off x="6669286" y="3851835"/>
                <a:ext cx="275249" cy="430519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EE99A94-FD7B-8C20-024E-76EAD79DE3C3}"/>
                  </a:ext>
                </a:extLst>
              </p:cNvPr>
              <p:cNvCxnSpPr>
                <a:cxnSpLocks/>
                <a:stCxn id="31" idx="1"/>
                <a:endCxn id="30" idx="3"/>
              </p:cNvCxnSpPr>
              <p:nvPr/>
            </p:nvCxnSpPr>
            <p:spPr bwMode="auto">
              <a:xfrm flipH="1" flipV="1">
                <a:off x="7830745" y="3851835"/>
                <a:ext cx="460393" cy="50679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E6FBF02-DE3B-9BBB-0005-365415D6D442}"/>
                  </a:ext>
                </a:extLst>
              </p:cNvPr>
              <p:cNvCxnSpPr>
                <a:cxnSpLocks/>
                <a:endCxn id="32" idx="1"/>
              </p:cNvCxnSpPr>
              <p:nvPr/>
            </p:nvCxnSpPr>
            <p:spPr bwMode="auto">
              <a:xfrm flipV="1">
                <a:off x="6297339" y="2246789"/>
                <a:ext cx="1155452" cy="148581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134AD01-B93A-2D01-03A1-5E7888E94E29}"/>
                  </a:ext>
                </a:extLst>
              </p:cNvPr>
              <p:cNvCxnSpPr>
                <a:cxnSpLocks/>
                <a:endCxn id="32" idx="2"/>
              </p:cNvCxnSpPr>
              <p:nvPr/>
            </p:nvCxnSpPr>
            <p:spPr bwMode="auto">
              <a:xfrm flipV="1">
                <a:off x="7341798" y="2784191"/>
                <a:ext cx="949340" cy="47676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BBE4797-656F-848D-6769-24943D492892}"/>
              </a:ext>
            </a:extLst>
          </p:cNvPr>
          <p:cNvGrpSpPr/>
          <p:nvPr/>
        </p:nvGrpSpPr>
        <p:grpSpPr>
          <a:xfrm>
            <a:off x="4584763" y="1119967"/>
            <a:ext cx="3017152" cy="5354412"/>
            <a:chOff x="4584763" y="1119967"/>
            <a:chExt cx="3017152" cy="535441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9D54718-6758-1640-A400-7E3DDEF6E469}"/>
                </a:ext>
              </a:extLst>
            </p:cNvPr>
            <p:cNvGrpSpPr/>
            <p:nvPr/>
          </p:nvGrpSpPr>
          <p:grpSpPr>
            <a:xfrm>
              <a:off x="4614440" y="1119967"/>
              <a:ext cx="2987475" cy="3053270"/>
              <a:chOff x="3090439" y="1119967"/>
              <a:chExt cx="2987475" cy="3053270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B234BB93-8903-7555-ECD3-BFF52BBEA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23089" y="1504572"/>
                <a:ext cx="2340424" cy="1322848"/>
              </a:xfrm>
              <a:prstGeom prst="rect">
                <a:avLst/>
              </a:prstGeom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D1474357-4193-F882-5ADA-03DC402BF8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2999" y="3457641"/>
                <a:ext cx="581422" cy="715596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78F02A3-9A12-AEDF-1050-6BCBEE723B8A}"/>
                  </a:ext>
                </a:extLst>
              </p:cNvPr>
              <p:cNvSpPr txBox="1"/>
              <p:nvPr/>
            </p:nvSpPr>
            <p:spPr>
              <a:xfrm>
                <a:off x="3090439" y="2871159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b="1" dirty="0">
                    <a:solidFill>
                      <a:srgbClr val="FF0000"/>
                    </a:solidFill>
                  </a:rPr>
                  <a:t>1980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F478731-3A1B-0A9D-1516-89F9ECF01920}"/>
                  </a:ext>
                </a:extLst>
              </p:cNvPr>
              <p:cNvCxnSpPr/>
              <p:nvPr/>
            </p:nvCxnSpPr>
            <p:spPr bwMode="auto">
              <a:xfrm flipV="1">
                <a:off x="4328551" y="2913665"/>
                <a:ext cx="259091" cy="52356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730E41E-6E76-CA70-5AD0-0E3CED0C5C3B}"/>
                  </a:ext>
                </a:extLst>
              </p:cNvPr>
              <p:cNvSpPr txBox="1"/>
              <p:nvPr/>
            </p:nvSpPr>
            <p:spPr>
              <a:xfrm>
                <a:off x="3384717" y="1119967"/>
                <a:ext cx="26931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8085 Microprocessor Trainer Kit With LED Display</a:t>
                </a:r>
              </a:p>
              <a:p>
                <a:endParaRPr lang="el-GR" sz="1200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A80B7E9-6A48-AEFE-D69E-88817E73CD73}"/>
                </a:ext>
              </a:extLst>
            </p:cNvPr>
            <p:cNvGrpSpPr/>
            <p:nvPr/>
          </p:nvGrpSpPr>
          <p:grpSpPr>
            <a:xfrm>
              <a:off x="4584763" y="4173238"/>
              <a:ext cx="2755311" cy="2301141"/>
              <a:chOff x="3060762" y="4173237"/>
              <a:chExt cx="2755311" cy="2301141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C091929E-D1C1-6316-E33E-1D3D13504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62813" y="4696960"/>
                <a:ext cx="2153260" cy="1777418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7B9703C-9328-72C9-113F-482EE26656C2}"/>
                  </a:ext>
                </a:extLst>
              </p:cNvPr>
              <p:cNvSpPr txBox="1"/>
              <p:nvPr/>
            </p:nvSpPr>
            <p:spPr>
              <a:xfrm>
                <a:off x="3060762" y="5447622"/>
                <a:ext cx="12453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b="1" dirty="0">
                    <a:solidFill>
                      <a:srgbClr val="FF0000"/>
                    </a:solidFill>
                  </a:rPr>
                  <a:t>198</a:t>
                </a:r>
                <a:r>
                  <a:rPr lang="en-US" b="1" dirty="0">
                    <a:solidFill>
                      <a:srgbClr val="FF0000"/>
                    </a:solidFill>
                  </a:rPr>
                  <a:t>7</a:t>
                </a:r>
                <a:endParaRPr lang="el-GR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5C69703-971F-A15E-698C-86C9FD5EEAD6}"/>
                  </a:ext>
                </a:extLst>
              </p:cNvPr>
              <p:cNvCxnSpPr>
                <a:cxnSpLocks/>
                <a:stCxn id="44" idx="0"/>
                <a:endCxn id="49" idx="2"/>
              </p:cNvCxnSpPr>
              <p:nvPr/>
            </p:nvCxnSpPr>
            <p:spPr bwMode="auto">
              <a:xfrm flipH="1" flipV="1">
                <a:off x="4363710" y="4173237"/>
                <a:ext cx="375733" cy="52372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42B89E5-150A-2920-4672-F30589CA14A8}"/>
                  </a:ext>
                </a:extLst>
              </p:cNvPr>
              <p:cNvSpPr txBox="1"/>
              <p:nvPr/>
            </p:nvSpPr>
            <p:spPr>
              <a:xfrm>
                <a:off x="4067173" y="4810799"/>
                <a:ext cx="15792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IBM Portable PC</a:t>
                </a:r>
                <a:endParaRPr lang="el-GR" sz="1400" dirty="0"/>
              </a:p>
            </p:txBody>
          </p: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EAEDF6B-6599-F473-1FAF-68FD914185FC}"/>
              </a:ext>
            </a:extLst>
          </p:cNvPr>
          <p:cNvCxnSpPr/>
          <p:nvPr/>
        </p:nvCxnSpPr>
        <p:spPr bwMode="auto">
          <a:xfrm>
            <a:off x="8078212" y="1095100"/>
            <a:ext cx="0" cy="53544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C260D7B-9BBF-009D-09AC-E01C6119184B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54" name="Rectangle 14">
              <a:extLst>
                <a:ext uri="{FF2B5EF4-FFF2-40B4-BE49-F238E27FC236}">
                  <a16:creationId xmlns:a16="http://schemas.microsoft.com/office/drawing/2014/main" id="{A77C6FBA-3E06-6036-ADE7-D246DE555814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Θέση υποσέλιδου 4">
              <a:extLst>
                <a:ext uri="{FF2B5EF4-FFF2-40B4-BE49-F238E27FC236}">
                  <a16:creationId xmlns:a16="http://schemas.microsoft.com/office/drawing/2014/main" id="{440E0AFC-6A18-7B0B-9B84-1A9001DF1EC3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56" name="Θέση υποσέλιδου 4">
              <a:extLst>
                <a:ext uri="{FF2B5EF4-FFF2-40B4-BE49-F238E27FC236}">
                  <a16:creationId xmlns:a16="http://schemas.microsoft.com/office/drawing/2014/main" id="{56BA04A2-0EBB-8306-8D06-A0DD3660A862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8E1E2B-BBEC-CB42-90F6-F4B225C755C9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66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721122-A8E6-34CF-D347-761D2B796204}"/>
              </a:ext>
            </a:extLst>
          </p:cNvPr>
          <p:cNvSpPr txBox="1">
            <a:spLocks/>
          </p:cNvSpPr>
          <p:nvPr/>
        </p:nvSpPr>
        <p:spPr bwMode="auto">
          <a:xfrm>
            <a:off x="355696" y="948778"/>
            <a:ext cx="10725592" cy="459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C00000"/>
                </a:solidFill>
                <a:latin typeface="Tahoma"/>
              </a:rPr>
              <a:t>Προγραμματισμός</a:t>
            </a:r>
            <a:endParaRPr lang="el-GR" sz="2800" b="1" kern="0" dirty="0">
              <a:solidFill>
                <a:srgbClr val="C00000"/>
              </a:solidFill>
              <a:latin typeface="Tahoma"/>
            </a:endParaRP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Τι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σχέση σας με τον Προγραμματισμό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Παραδείγματα από την καθημερινή πρακτική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Ανάθεση Έργου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000000"/>
                </a:solidFill>
                <a:latin typeface="Tahoma"/>
              </a:rPr>
              <a:t>Αντικείμενο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σημασία του αντικειμένου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000000"/>
                </a:solidFill>
                <a:latin typeface="Tahoma"/>
              </a:rPr>
              <a:t>Στόχος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Ποιος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Πως θα τον πετύχουμε - Οργάνωση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Αρμοδιότητες στην επίτευξη του στόχου</a:t>
            </a:r>
          </a:p>
          <a:p>
            <a:pPr lvl="0">
              <a:buClr>
                <a:srgbClr val="3333CC"/>
              </a:buClr>
              <a:defRPr/>
            </a:pPr>
            <a:endParaRPr lang="el-GR" sz="2800" kern="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080985-7771-D466-D348-725373272354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0202452C-2985-99EC-F0AC-E83CA01013B7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Θέση υποσέλιδου 4">
              <a:extLst>
                <a:ext uri="{FF2B5EF4-FFF2-40B4-BE49-F238E27FC236}">
                  <a16:creationId xmlns:a16="http://schemas.microsoft.com/office/drawing/2014/main" id="{4B114335-5E59-5F19-2EFE-9A2DCBAB028A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F19C1B1D-CD6B-8E6B-960F-D1E732CE6ED6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47C397-6935-0360-EC34-B385C47E52AA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494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5166-06F7-0B3D-E485-1CA4ECEC5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4F5F493-9500-5954-B1AE-CED73D1D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Εισαγωγή στον Προγραμματισμό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7A03BD-A468-4AB2-C5C3-D5A8A61C8AE6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D18808B3-AC26-B863-BA61-6186BADDAC3C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Θέση υποσέλιδου 4">
              <a:extLst>
                <a:ext uri="{FF2B5EF4-FFF2-40B4-BE49-F238E27FC236}">
                  <a16:creationId xmlns:a16="http://schemas.microsoft.com/office/drawing/2014/main" id="{8D55714B-01AC-CAE9-0F06-892970F081D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8F355505-2841-EE52-EFC2-2D750C4AAFBC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8094BF-C543-2F40-823E-59347FD8E709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B74F840-065D-186D-2E0E-108F2464070A}"/>
              </a:ext>
            </a:extLst>
          </p:cNvPr>
          <p:cNvSpPr txBox="1"/>
          <p:nvPr/>
        </p:nvSpPr>
        <p:spPr>
          <a:xfrm>
            <a:off x="184903" y="886373"/>
            <a:ext cx="11701220" cy="255454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Ο </a:t>
            </a:r>
            <a:r>
              <a:rPr lang="el-GR" sz="3200" b="1" dirty="0"/>
              <a:t>προγραμματισμός</a:t>
            </a:r>
            <a:r>
              <a:rPr lang="el-GR" sz="3200" dirty="0"/>
              <a:t> δεν είναι απλώς μια </a:t>
            </a:r>
            <a:r>
              <a:rPr lang="el-GR" sz="3200" b="1" dirty="0"/>
              <a:t>τεχνική δεξιότητα</a:t>
            </a:r>
            <a:r>
              <a:rPr lang="el-GR" sz="3200" dirty="0"/>
              <a:t>. </a:t>
            </a: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Είναι ένας </a:t>
            </a:r>
            <a:r>
              <a:rPr lang="el-GR" sz="3200" b="1" dirty="0"/>
              <a:t>τρόπος σκέψης</a:t>
            </a:r>
            <a:r>
              <a:rPr lang="el-GR" sz="3200" dirty="0"/>
              <a:t>, είναι η ικανότητα: </a:t>
            </a:r>
          </a:p>
          <a:p>
            <a:pPr marL="914400" lvl="1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να αναλύεις προβλήματα, </a:t>
            </a:r>
          </a:p>
          <a:p>
            <a:pPr marL="914400" lvl="1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να σχεδιάζεις λύσεις και </a:t>
            </a:r>
          </a:p>
          <a:p>
            <a:pPr marL="914400" lvl="1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να τις υλοποιείς με ακρίβεια και δημιουργικότητα. </a:t>
            </a: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FEBB5-B3E2-9F86-BB06-E61577B8504B}"/>
              </a:ext>
            </a:extLst>
          </p:cNvPr>
          <p:cNvSpPr txBox="1"/>
          <p:nvPr/>
        </p:nvSpPr>
        <p:spPr>
          <a:xfrm>
            <a:off x="184903" y="3702383"/>
            <a:ext cx="11701220" cy="255454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Θα ξεκινήσουμε </a:t>
            </a:r>
            <a:r>
              <a:rPr lang="el-GR" sz="3200" b="1" dirty="0"/>
              <a:t>από τις πολύ βασικές έννοιες προγραμματισμού </a:t>
            </a:r>
            <a:r>
              <a:rPr lang="el-GR" sz="3200" dirty="0"/>
              <a:t>και της </a:t>
            </a:r>
            <a:r>
              <a:rPr lang="el-GR" sz="3200" b="1" dirty="0"/>
              <a:t>γλώσσας </a:t>
            </a:r>
            <a:r>
              <a:rPr lang="en-US" sz="3200" b="1" dirty="0"/>
              <a:t>C</a:t>
            </a:r>
            <a:r>
              <a:rPr lang="en-US" sz="3200" dirty="0"/>
              <a:t>.</a:t>
            </a:r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3200" dirty="0"/>
              <a:t>Θα περάσουμε σταδιακά και ανάλογα με το επίπεδο και τον στόχο σας, σε προχωρημένα θέματα όπως, Δείκτες, Δυναμική διαχείριση μνήμης, χαμηλού επιπέδου προγραμματισμό, </a:t>
            </a:r>
            <a:r>
              <a:rPr lang="el-GR" sz="3200" dirty="0" err="1"/>
              <a:t>κ.λ.π</a:t>
            </a:r>
            <a:r>
              <a:rPr lang="el-GR" sz="3200" dirty="0"/>
              <a:t>.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56983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3453-7961-5B0D-C48F-19647D2C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EBA28ED-7BA0-8EF6-F419-9BBAA2FF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Προγραμματισμός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D20C7F-F49F-4234-5EAA-959A3AD6B773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A54C139F-4409-4B89-3844-8C94433E3F81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BFC5787C-E3F4-1701-8AE8-0863D48CBB5D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2D65F10B-F52F-0DC7-08B6-E0C68D654FA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4C98C0-AF82-E51A-D85D-1C4426482712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77A010-153B-083A-EB1B-A3D97FE62AAD}"/>
              </a:ext>
            </a:extLst>
          </p:cNvPr>
          <p:cNvSpPr txBox="1">
            <a:spLocks/>
          </p:cNvSpPr>
          <p:nvPr/>
        </p:nvSpPr>
        <p:spPr bwMode="auto">
          <a:xfrm>
            <a:off x="293703" y="769550"/>
            <a:ext cx="10145839" cy="459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3333CC"/>
              </a:buClr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Ορισμός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“καταγραφή και προκαθορισμός μιας σειράς μελλοντικών ενεργειών για επίτευξη αντικειμενικού σκοπού.”</a:t>
            </a:r>
          </a:p>
          <a:p>
            <a:pPr lvl="0">
              <a:buClr>
                <a:srgbClr val="3333CC"/>
              </a:buClr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Εκφράσεις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Τι πρόγραμμα έχεις για το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σκ</a:t>
            </a:r>
            <a:r>
              <a:rPr lang="el-GR" sz="2400" kern="0" dirty="0">
                <a:solidFill>
                  <a:srgbClr val="000000"/>
                </a:solidFill>
                <a:latin typeface="Tahoma"/>
              </a:rPr>
              <a:t>;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Κάνε το πρόγραμμα σου για αύριο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Σχεδίασε τις ενέργειες που πρόκειται να κάνεις</a:t>
            </a:r>
          </a:p>
          <a:p>
            <a:pPr lvl="0">
              <a:buClr>
                <a:srgbClr val="3333CC"/>
              </a:buClr>
              <a:defRPr/>
            </a:pPr>
            <a:r>
              <a:rPr lang="el-GR" sz="2800" kern="0" dirty="0">
                <a:solidFill>
                  <a:srgbClr val="000000"/>
                </a:solidFill>
                <a:latin typeface="Tahoma"/>
              </a:rPr>
              <a:t>Πρόγραμμα – Ορισμός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“προγραμματισμός, καταγραφή και γνωστοποίηση κάποιων ενεργειών, εκδηλώσεων κ.λπ. που πρόκειται να συμβούν ή να γίνουν”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“το έντυπο στο οποίο καταγράφονται τέτοιες πληροφορίες”</a:t>
            </a:r>
          </a:p>
          <a:p>
            <a:pPr lvl="0">
              <a:buClr>
                <a:srgbClr val="3333CC"/>
              </a:buClr>
              <a:defRPr/>
            </a:pPr>
            <a:endParaRPr lang="el-GR" sz="28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75839-86B0-9B31-0410-B3D89FF0AE8C}"/>
              </a:ext>
            </a:extLst>
          </p:cNvPr>
          <p:cNvSpPr txBox="1"/>
          <p:nvPr/>
        </p:nvSpPr>
        <p:spPr>
          <a:xfrm>
            <a:off x="7765746" y="5954377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i="1" dirty="0">
                <a:solidFill>
                  <a:srgbClr val="4D5156"/>
                </a:solidFill>
                <a:latin typeface="Arial" panose="020B0604020202020204" pitchFamily="34" charset="0"/>
              </a:rPr>
              <a:t>Πηγή: </a:t>
            </a:r>
            <a:r>
              <a:rPr lang="en-US" sz="2000" i="1" dirty="0" err="1">
                <a:solidFill>
                  <a:srgbClr val="4D5156"/>
                </a:solidFill>
                <a:latin typeface="Arial" panose="020B0604020202020204" pitchFamily="34" charset="0"/>
              </a:rPr>
              <a:t>wiktionary</a:t>
            </a:r>
            <a:endParaRPr lang="en-GB" sz="2000" i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04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57C0-25C2-79F8-D495-DA09327C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88726E0-5E8D-7B97-1B03-A6BE0BF7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Παράδειγμα Προγραμματισμού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2C212E-CF0B-FB1F-B035-535FA8A6D3C2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D15A6A49-1DAB-4183-334B-FD53793A4214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25EBE2ED-8E13-3564-A942-3C0C78B3EAA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C3447CA3-C25E-9E94-BF80-EE4106C3E033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261C28-D72C-0C95-5816-10968D9F4400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EA0DD9B5-C48C-834B-8BEA-A768DC32BBF4}"/>
              </a:ext>
            </a:extLst>
          </p:cNvPr>
          <p:cNvSpPr txBox="1">
            <a:spLocks/>
          </p:cNvSpPr>
          <p:nvPr/>
        </p:nvSpPr>
        <p:spPr bwMode="auto">
          <a:xfrm>
            <a:off x="1145611" y="769550"/>
            <a:ext cx="6156176" cy="1202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Εκτέλεση Συνταγής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4D515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lvl="1" indent="-342900">
              <a:buClr>
                <a:srgbClr val="3333CC"/>
              </a:buClr>
              <a:buSzPct val="60000"/>
            </a:pPr>
            <a:r>
              <a:rPr lang="el-GR" sz="2400" kern="0" dirty="0">
                <a:solidFill>
                  <a:srgbClr val="4D5156"/>
                </a:solidFill>
                <a:latin typeface="Arial" panose="020B0604020202020204" pitchFamily="34" charset="0"/>
              </a:rPr>
              <a:t>Ένα σύνολο από αυστηρά  προκαθορισμένες ενέργειες από τον ΕΟΠΠΥ </a:t>
            </a:r>
          </a:p>
          <a:p>
            <a:pPr lvl="1" indent="-342900">
              <a:buClr>
                <a:srgbClr val="3333CC"/>
              </a:buClr>
              <a:buSzPct val="60000"/>
            </a:pPr>
            <a:endParaRPr kumimoji="0" lang="el-GR" sz="2400" b="1" i="0" u="none" strike="noStrike" kern="0" cap="none" spc="0" normalizeH="0" baseline="0" noProof="0" dirty="0">
              <a:ln>
                <a:noFill/>
              </a:ln>
              <a:solidFill>
                <a:srgbClr val="4D515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AD4546E-C571-BB63-9235-57E4586ADAEA}"/>
              </a:ext>
            </a:extLst>
          </p:cNvPr>
          <p:cNvSpPr/>
          <p:nvPr/>
        </p:nvSpPr>
        <p:spPr bwMode="auto">
          <a:xfrm>
            <a:off x="1027574" y="2822895"/>
            <a:ext cx="8964488" cy="3686794"/>
          </a:xfrm>
          <a:prstGeom prst="wedgeRoundRectCallout">
            <a:avLst>
              <a:gd name="adj1" fmla="val -41916"/>
              <a:gd name="adj2" fmla="val 50928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Έλεγξε το γνήσιο της συνταγής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Έλεγξε τα στοιχεία του πελάτη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Για κάθε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φάρμακο </a:t>
            </a:r>
          </a:p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   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αν δεν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το έχεις </a:t>
            </a:r>
          </a:p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      διέκοψε την εκτέλεση της συνταγής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4. </a:t>
            </a:r>
            <a:r>
              <a:rPr kumimoji="0" 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Για κάθε </a:t>
            </a: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φάρμακο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Αναζήτησε το στην αποθήκη και φέρε το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Υπολόγισε κόστος συνταγής 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….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F5A2B-4A6C-7770-5D77-36747D272E0D}"/>
              </a:ext>
            </a:extLst>
          </p:cNvPr>
          <p:cNvSpPr txBox="1"/>
          <p:nvPr/>
        </p:nvSpPr>
        <p:spPr>
          <a:xfrm rot="1963281">
            <a:off x="7288903" y="3404956"/>
            <a:ext cx="2993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Προστακτικός Προγραμματισμός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8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1EFC4-F29C-824B-641C-1D178B23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50E8388-6D70-5D38-EE7E-1C6C41BCD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Ανάθεση έργου στη Μηχανή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585877-E9C2-FC8E-03E6-F01BFB1B3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20" y="1467027"/>
            <a:ext cx="5303439" cy="40060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EA7A93-CA23-6440-1491-9FD0B3B0D15B}"/>
              </a:ext>
            </a:extLst>
          </p:cNvPr>
          <p:cNvSpPr txBox="1"/>
          <p:nvPr/>
        </p:nvSpPr>
        <p:spPr>
          <a:xfrm>
            <a:off x="6278543" y="1521095"/>
            <a:ext cx="57727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/>
              <a:t>Γίνεται με βάση τις λειτουργίες/</a:t>
            </a:r>
            <a:r>
              <a:rPr lang="en-GB" sz="3200" dirty="0"/>
              <a:t> </a:t>
            </a:r>
            <a:r>
              <a:rPr lang="el-GR" sz="3200" dirty="0"/>
              <a:t>διεργασίες τις οποίες η μηχανή υποστηρίζει/μπορεί να εκτελέσει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F6973-DC50-6ED8-9CE8-82279040E36B}"/>
              </a:ext>
            </a:extLst>
          </p:cNvPr>
          <p:cNvSpPr txBox="1"/>
          <p:nvPr/>
        </p:nvSpPr>
        <p:spPr>
          <a:xfrm>
            <a:off x="6278540" y="3150699"/>
            <a:ext cx="5303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/>
              <a:t>Προστακτικός Προγραμματισμός </a:t>
            </a:r>
            <a:r>
              <a:rPr lang="el-GR" sz="3200" dirty="0"/>
              <a:t>(</a:t>
            </a:r>
            <a:r>
              <a:rPr lang="en-GB" sz="3200" dirty="0"/>
              <a:t>Imperative Programming)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CC9B0D-AF6B-15E2-9A74-704F28584713}"/>
              </a:ext>
            </a:extLst>
          </p:cNvPr>
          <p:cNvSpPr txBox="1"/>
          <p:nvPr/>
        </p:nvSpPr>
        <p:spPr>
          <a:xfrm>
            <a:off x="437634" y="749478"/>
            <a:ext cx="9108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/>
              <a:t>Έχετε κάνει ανάθεση έργου σε μηχανή;</a:t>
            </a:r>
            <a:endParaRPr lang="en-GB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ADB90-6A08-E8CC-97A5-EE949815C9C9}"/>
              </a:ext>
            </a:extLst>
          </p:cNvPr>
          <p:cNvSpPr txBox="1"/>
          <p:nvPr/>
        </p:nvSpPr>
        <p:spPr>
          <a:xfrm>
            <a:off x="6278540" y="4875240"/>
            <a:ext cx="5772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/>
              <a:t>Διαδικαστικός Προγραμματισμός </a:t>
            </a:r>
            <a:r>
              <a:rPr lang="el-GR" sz="2800" dirty="0"/>
              <a:t>(</a:t>
            </a:r>
            <a:r>
              <a:rPr lang="en-US" sz="2800" dirty="0"/>
              <a:t>Procedural </a:t>
            </a:r>
            <a:r>
              <a:rPr lang="en-GB" sz="2800" dirty="0"/>
              <a:t>Programming)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383998-AE4C-EC78-1CB6-3623431169E4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E979FB99-2DE0-C2C1-C9AB-66161CA7D745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F0BEC5DC-341B-B185-756D-44A778CAF9CF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566C22FA-4DCD-1123-6887-2DAC8E87A9F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A936C4F-1EAC-BF84-43EC-C0D45FB53CBB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33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8912-9419-ABAC-35FC-B685CA48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2CBDFE-9A4A-9168-D09A-5FD74966E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563A1F-2064-21A3-B4EF-E041E76CBD98}"/>
              </a:ext>
            </a:extLst>
          </p:cNvPr>
          <p:cNvSpPr txBox="1">
            <a:spLocks/>
          </p:cNvSpPr>
          <p:nvPr/>
        </p:nvSpPr>
        <p:spPr bwMode="auto">
          <a:xfrm>
            <a:off x="355696" y="948778"/>
            <a:ext cx="10725592" cy="459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latin typeface="Tahoma"/>
              </a:rPr>
              <a:t>Προγραμματισμός</a:t>
            </a:r>
            <a:endParaRPr lang="el-GR" sz="2800" b="1" kern="0" dirty="0">
              <a:latin typeface="Tahoma"/>
            </a:endParaRP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Τι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σχέση σας με τον Προγραμματισμό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Παραδείγματα από την καθημερινή πρακτική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Ανάθεση Έργου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C00000"/>
                </a:solidFill>
                <a:latin typeface="Tahoma"/>
              </a:rPr>
              <a:t>Αντικείμενο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σημασία του αντικειμένου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000000"/>
                </a:solidFill>
                <a:latin typeface="Tahoma"/>
              </a:rPr>
              <a:t>Στόχος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Ποιος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Πως θα τον πετύχουμε - Οργάνωση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Αρμοδιότητες στην επίτευξη του στόχου</a:t>
            </a:r>
          </a:p>
          <a:p>
            <a:pPr lvl="0">
              <a:buClr>
                <a:srgbClr val="3333CC"/>
              </a:buClr>
              <a:defRPr/>
            </a:pPr>
            <a:endParaRPr lang="el-GR" sz="2800" kern="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B3AECF-DC4C-DFEC-1C3E-3D77746B0465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3C06F5BB-51BA-9C7D-0C65-D3CF8ECE4F72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Θέση υποσέλιδου 4">
              <a:extLst>
                <a:ext uri="{FF2B5EF4-FFF2-40B4-BE49-F238E27FC236}">
                  <a16:creationId xmlns:a16="http://schemas.microsoft.com/office/drawing/2014/main" id="{BA81BAC5-4DFD-22EB-68B3-79A85559FAE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CDA418BC-C3A3-16FF-56CE-2F316250A3E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429B4C-43A7-0C27-DD65-77A8B476EC95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044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A4E4-4101-F49B-4E43-B4E0D871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42D633-45FD-56A3-F9E0-FB470DEC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Αντικείμενο του Μαθήματος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8CE739A-BC65-A7E8-8A48-C870774134C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36543AAC-C0A7-28C7-520B-1C3132C9BA56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61282DF2-95D6-4ECD-B932-98B0501C5DE4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43698C70-6609-FE65-1134-F1213A053291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028BA0-512E-6603-3344-F3687225BEB1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D36799-A8EC-D5A5-DDE0-D51AB87FEC17}"/>
              </a:ext>
            </a:extLst>
          </p:cNvPr>
          <p:cNvSpPr txBox="1"/>
          <p:nvPr/>
        </p:nvSpPr>
        <p:spPr>
          <a:xfrm>
            <a:off x="371959" y="1377462"/>
            <a:ext cx="11081289" cy="452431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Ανάθεση έργου στην Μηχανή με βάση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pPr marL="571500" indent="-5715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τον </a:t>
            </a:r>
            <a:r>
              <a:rPr kumimoji="0" lang="el-G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Προστακτικό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(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imperative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) Δομημένο 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(structured)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</a:t>
            </a:r>
            <a:r>
              <a:rPr kumimoji="0" lang="el-GR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Διαδικαστικό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(procedural) 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προγραμματισμό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,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και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,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pPr marL="571500" indent="-57150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pPr marL="571500" indent="-5715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χρήση της </a:t>
            </a:r>
            <a:r>
              <a:rPr kumimoji="0" 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C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 </a:t>
            </a:r>
            <a:r>
              <a:rPr kumimoji="0" lang="el-GR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ως γλώσσας προγραμματισμού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.</a:t>
            </a:r>
            <a:endParaRPr kumimoji="0" lang="en-GB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  <a:p>
            <a:pPr algn="ctr"/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71108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A9A21-1B1C-9FBC-0F14-B3C4F195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0DE0637-5073-DDEF-BC7D-C1A87D2B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Everybody should learn how …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DBAFEA-7E33-86EA-FB8F-2B9189461EA3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DCFF76E9-F6C0-B3A7-86F6-034F398281C6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1B69024D-27EA-3C47-7A57-CB3B118ADA4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4BE307F0-63EE-D651-0501-3576C0EC56B6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05A877-BBDB-3F1D-EBAA-DCD050219248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60C46E00-715A-C788-6525-DD0F1FAA3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352" y="1181477"/>
            <a:ext cx="9144000" cy="210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A1218C8-2AC9-0472-3333-C1E325C18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352" y="3773865"/>
            <a:ext cx="9144000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7FF11FE-68D7-B480-0192-8FD774F4F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002" y="5285165"/>
            <a:ext cx="2673350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CCE2C-3B40-C3C9-29CF-CB144CA64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26" y="5109219"/>
            <a:ext cx="644729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“We don’t need to teach our kids to code, we need to teach them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how to dream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”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Tom Goodwin, EVP, Head of Innovation at Zenith</a:t>
            </a:r>
            <a:endParaRPr kumimoji="0" lang="en-US" altLang="el-GR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hlinkClick r:id="rId6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2791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5D3A-A077-6090-1F9E-280BF5DE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FF861A1-3FC8-CBD4-D751-B4493AB66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Coding is Fundamental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CEDB973-2CC2-7A0E-28A9-3A703DE6F80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BFEF96A-409D-0798-21A1-CF09A1B6706F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75E4440E-A51A-87CB-F0C9-991F5C85C1AE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790B685-3B0B-E42D-53E6-A950E716350E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00C03C-830A-FD61-F28D-1BFE5D80B002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4DDEA795-FD30-2ADE-0C83-8FBEC4F0A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39" y="1196975"/>
            <a:ext cx="10864312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“The ability to read and write 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are basic to any hope of landing a decent job. But these days, </a:t>
            </a:r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the ability to code 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is so in demand by employers that some are equating it to </a:t>
            </a:r>
            <a:r>
              <a:rPr lang="en-US" sz="2000" b="1" dirty="0">
                <a:solidFill>
                  <a:srgbClr val="C00000"/>
                </a:solidFill>
                <a:latin typeface="Tahoma" panose="020B0604030504040204" pitchFamily="34" charset="0"/>
              </a:rPr>
              <a:t>basic literacy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. It used to be that only a tiny subset of schoolchildren tinkered with programming languages. They became the people who built websites and created apps or filled other IT roles. But now, online classes are making a broader cohort of kids—and an ever-growing group of adults looking to gain the skills that will make them marketable in the tech sector. "</a:t>
            </a:r>
            <a:r>
              <a:rPr lang="en-US" sz="2000" b="1" dirty="0">
                <a:solidFill>
                  <a:srgbClr val="C00000"/>
                </a:solidFill>
                <a:latin typeface="Tahoma" panose="020B0604030504040204" pitchFamily="34" charset="0"/>
              </a:rPr>
              <a:t>Programming teaches </a:t>
            </a:r>
            <a:r>
              <a:rPr lang="en-US" sz="2000" dirty="0">
                <a:solidFill>
                  <a:srgbClr val="C00000"/>
                </a:solidFill>
                <a:latin typeface="Tahoma" panose="020B0604030504040204" pitchFamily="34" charset="0"/>
              </a:rPr>
              <a:t>logic, higher-level math and learning concepts that make you smarter and are useful no matter what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,</a:t>
            </a: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 ..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" says Jake Schwartz, co-founder and CEO of General Assembly, a for-profit education startup that offers coding and design courses. "The vast majority of our students are those who, later in life, realize that this is a really interesting career and also one where there are a lot of jobs," says Schwartz. And companies are more frequently sending employees, including executives, to short courses designed to give them at least a rudimentary understanding of what lies beneath the programs and websites they use.” Source: The Wall Street Journal, 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  <a:hlinkClick r:id="rId3"/>
              </a:rPr>
              <a:t>Read more.</a:t>
            </a:r>
            <a:endParaRPr lang="en-US" sz="20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br>
              <a:rPr lang="en-US" sz="2000" kern="0" dirty="0">
                <a:solidFill>
                  <a:srgbClr val="000000"/>
                </a:solidFill>
                <a:latin typeface="Tahoma"/>
              </a:rPr>
            </a:br>
            <a:endParaRPr lang="el-GR" sz="2000" kern="0" dirty="0">
              <a:solidFill>
                <a:srgbClr val="3333CC"/>
              </a:solidFill>
              <a:latin typeface="Times New Roman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GB" sz="16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3423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A71A8-AE83-6920-F622-27D0B000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7741638-06F2-F60B-3BC6-467CEB89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Απαραίτητο για σειρά μαθημάτων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75075B-77C9-39DC-9533-F8EC665DE59F}"/>
              </a:ext>
            </a:extLst>
          </p:cNvPr>
          <p:cNvGrpSpPr/>
          <p:nvPr/>
        </p:nvGrpSpPr>
        <p:grpSpPr>
          <a:xfrm>
            <a:off x="0" y="782271"/>
            <a:ext cx="8140224" cy="1197968"/>
            <a:chOff x="0" y="782271"/>
            <a:chExt cx="8140224" cy="119796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7475E4-AD5E-1D09-CDA7-1BCF08AF6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36" y="1260908"/>
              <a:ext cx="8052988" cy="71933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EE22CD6-A7E2-81A8-29E3-36E46F8F8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82271"/>
              <a:ext cx="2766656" cy="71933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AB2165-EC34-1C52-78C9-2C5D84CDFBC6}"/>
              </a:ext>
            </a:extLst>
          </p:cNvPr>
          <p:cNvGrpSpPr/>
          <p:nvPr/>
        </p:nvGrpSpPr>
        <p:grpSpPr>
          <a:xfrm>
            <a:off x="3762068" y="2148977"/>
            <a:ext cx="6402803" cy="1088262"/>
            <a:chOff x="3762068" y="2148977"/>
            <a:chExt cx="6402803" cy="108826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45BF5A5-31B7-7B86-D137-1D8C4BE98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62068" y="2645676"/>
              <a:ext cx="6402803" cy="59156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44FE224-D721-7B34-564B-F2E01718F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62068" y="2148977"/>
              <a:ext cx="2262740" cy="49669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3B49043-B2A2-2DC8-0307-C773E08B0554}"/>
              </a:ext>
            </a:extLst>
          </p:cNvPr>
          <p:cNvGrpSpPr/>
          <p:nvPr/>
        </p:nvGrpSpPr>
        <p:grpSpPr>
          <a:xfrm>
            <a:off x="492420" y="3433444"/>
            <a:ext cx="5603580" cy="1091078"/>
            <a:chOff x="492420" y="3433444"/>
            <a:chExt cx="5603580" cy="109107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98A5C66-C81A-A7E6-834D-3D370184F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2420" y="3433444"/>
              <a:ext cx="2388108" cy="51314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CDA7187-95FF-28EC-E6EB-465299677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2420" y="4011374"/>
              <a:ext cx="5603580" cy="513148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90BFB2-7EEE-B685-94E3-E0761225736E}"/>
              </a:ext>
            </a:extLst>
          </p:cNvPr>
          <p:cNvGrpSpPr/>
          <p:nvPr/>
        </p:nvGrpSpPr>
        <p:grpSpPr>
          <a:xfrm>
            <a:off x="3762067" y="4949497"/>
            <a:ext cx="6841971" cy="940544"/>
            <a:chOff x="3762067" y="4949497"/>
            <a:chExt cx="6841971" cy="94054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115DAA8-E698-D02B-5CF3-0B1C1119A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62067" y="4949497"/>
              <a:ext cx="2333932" cy="388989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B579BCD-370E-3C21-6F2F-FF2FE7DA6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62068" y="5376893"/>
              <a:ext cx="6841970" cy="51314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BA6B2F-2611-24E4-1173-29BA13E912AE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3E14286D-FDB0-A60C-23B2-C66F018C3F04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Θέση υποσέλιδου 4">
              <a:extLst>
                <a:ext uri="{FF2B5EF4-FFF2-40B4-BE49-F238E27FC236}">
                  <a16:creationId xmlns:a16="http://schemas.microsoft.com/office/drawing/2014/main" id="{1D88CBC2-5405-C9D0-10E0-95B041B375B4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36" name="Θέση υποσέλιδου 4">
              <a:extLst>
                <a:ext uri="{FF2B5EF4-FFF2-40B4-BE49-F238E27FC236}">
                  <a16:creationId xmlns:a16="http://schemas.microsoft.com/office/drawing/2014/main" id="{312D68DC-2EFC-493F-FE20-881D5A94B69C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628308B-C605-E546-552C-64A80E504467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730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D29F-C36D-9686-C325-BFB84975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66943B-3110-3C70-AB27-B513902B4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Έξι λόγοι για να μάθεις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Alex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προγραμματισμό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268FC1-F178-61A4-F887-DC744CAE1E3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87864298-05B5-19B5-F700-5E87D95F4CA7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Θέση υποσέλιδου 4">
              <a:extLst>
                <a:ext uri="{FF2B5EF4-FFF2-40B4-BE49-F238E27FC236}">
                  <a16:creationId xmlns:a16="http://schemas.microsoft.com/office/drawing/2014/main" id="{F6C1EDF7-CA70-FCAE-7285-E19ADAD9540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36" name="Θέση υποσέλιδου 4">
              <a:extLst>
                <a:ext uri="{FF2B5EF4-FFF2-40B4-BE49-F238E27FC236}">
                  <a16:creationId xmlns:a16="http://schemas.microsoft.com/office/drawing/2014/main" id="{270549E5-25FB-5114-637E-3A296293BD6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80F825-EFA3-0086-1A1A-6A5F782CBBD5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16A867-4ABC-D057-4713-CEFA9ACC066A}"/>
              </a:ext>
            </a:extLst>
          </p:cNvPr>
          <p:cNvSpPr txBox="1"/>
          <p:nvPr/>
        </p:nvSpPr>
        <p:spPr>
          <a:xfrm>
            <a:off x="7698443" y="6031020"/>
            <a:ext cx="4315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Ιστοσελίδα Βιβλίου - Αποσπάσματα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C379E-2068-5D6C-45EF-88D7C772274A}"/>
              </a:ext>
            </a:extLst>
          </p:cNvPr>
          <p:cNvSpPr txBox="1"/>
          <p:nvPr/>
        </p:nvSpPr>
        <p:spPr>
          <a:xfrm>
            <a:off x="178230" y="779460"/>
            <a:ext cx="11430000" cy="5262979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b="1" dirty="0"/>
              <a:t>1. Ανάπτυξη Τρόπου Σκέψης</a:t>
            </a:r>
          </a:p>
          <a:p>
            <a:r>
              <a:rPr lang="el-GR" sz="2800" dirty="0"/>
              <a:t>Ο προγραμματισμός ενισχύει την αναλυτική σκέψη, την επίλυση προβλημάτων και την ικανότητα σχεδιασμού. Μαθαίνεις να «σπας» ένα πρόβλημα σε μικρά, </a:t>
            </a:r>
            <a:r>
              <a:rPr lang="el-GR" sz="2800" dirty="0" err="1"/>
              <a:t>διαχειρίσιμα</a:t>
            </a:r>
            <a:r>
              <a:rPr lang="el-GR" sz="2800" dirty="0"/>
              <a:t> τμήματα και να βρίσκεις απλές και λογικές λύσεις.</a:t>
            </a:r>
          </a:p>
          <a:p>
            <a:r>
              <a:rPr lang="el-GR" sz="2800" b="1" dirty="0"/>
              <a:t>2. Κατανόηση του Ψηφιακού Κόσμου</a:t>
            </a:r>
          </a:p>
          <a:p>
            <a:r>
              <a:rPr lang="el-GR" sz="2800" dirty="0"/>
              <a:t>Ζούμε σε έναν κόσμο γεμάτο τεχνολογία. Μαθαίνοντας προγραμματισμό, κατανοείς πώς λειτουργούν οι εφαρμογές, τα παιχνίδια, οι ιστοσελίδες και οι συσκευές που χρησιμοποιείς καθημερινά.</a:t>
            </a:r>
          </a:p>
          <a:p>
            <a:r>
              <a:rPr lang="el-GR" sz="2800" b="1" dirty="0"/>
              <a:t>3. Δημιουργικότητα και Καινοτομία</a:t>
            </a:r>
          </a:p>
          <a:p>
            <a:r>
              <a:rPr lang="el-GR" sz="2800" dirty="0"/>
              <a:t>Ο προγραμματισμός είναι ένα εργαλείο δημιουργίας. Μπορείς να φτιάξεις το δικό σου </a:t>
            </a:r>
            <a:r>
              <a:rPr lang="en-US" sz="2800" dirty="0"/>
              <a:t>…   		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330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2868-1AA6-FA95-3DB6-8A53AA48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AF1796-48B9-9FBC-2109-1C42201D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Γιατί Λογισμικό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Software);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D440616-E726-B9F8-83BF-9927E9B88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01" y="1396763"/>
            <a:ext cx="11296058" cy="449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κ.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Θραμπουλίδη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σας έκανα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register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ως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recommender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και στο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University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of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Washington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Παρότι είναι αρκετά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hardware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το εργαστήριο που κάνω αίτηση, στο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site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τονίζει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οτι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είναι απαραίτητο να έχουμε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strong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programming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background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Τελικά χωρίς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software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δεν πάμε πουθενά!! Να το τονίσετε αυτό στην τάξη και να φέρετε το παράδειγμά μου: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στα 11 από τα 14 πανεπιστήμια (που είναι από τα κορυφαία σε US) για να κάνω αίτηση για 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hardware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πρέπει να αποδείξω ότι ξέρω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software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!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FAC35-09FD-3725-05C8-EBCB2E78DC98}"/>
              </a:ext>
            </a:extLst>
          </p:cNvPr>
          <p:cNvSpPr txBox="1"/>
          <p:nvPr/>
        </p:nvSpPr>
        <p:spPr>
          <a:xfrm>
            <a:off x="8557147" y="5276571"/>
            <a:ext cx="297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el-GR" dirty="0"/>
              <a:t>Πηγή: </a:t>
            </a:r>
            <a:r>
              <a:rPr lang="en-US" altLang="el-GR" sz="1800" dirty="0"/>
              <a:t>Email </a:t>
            </a:r>
            <a:r>
              <a:rPr lang="el-GR" altLang="el-GR" sz="1800" dirty="0"/>
              <a:t>φοιτητή</a:t>
            </a:r>
            <a:endParaRPr lang="el-GR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073E96-B972-FAFA-A9A8-F481F1DC315B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390BBCBD-6C95-DE78-93FA-520A69FDB7FB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A5E4D07C-E08E-08D0-7DBA-AC1A0A2C6845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19C5344D-39AF-52C6-8C87-DE5945965D8B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B17EEE-088D-0257-91C4-E76E67BC5BB8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54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03D7-0635-2C4D-9625-8ADD72AB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CD59BBF-C7AE-6B28-2B07-BA4FFDA7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If your background doesn't demonstrate …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732CCBDF-F862-3564-0734-8C44FB3FC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64" y="2120567"/>
            <a:ext cx="1087158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…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good programming skills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, you should be prepared to work very hard to acquire them rapidly.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It would be best to be proficient in both a language that is suited to AI or rapid prototyping applications [Lisp, Prolog, Smalltalk] and a more conventional procedural language [Java, C, C++,C#].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6A5DCDA-94B1-D1BD-6486-B9029499F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637" y="5288425"/>
            <a:ext cx="2519362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B392B6-3B50-1273-FEA0-AED741B20E31}"/>
              </a:ext>
            </a:extLst>
          </p:cNvPr>
          <p:cNvSpPr txBox="1"/>
          <p:nvPr/>
        </p:nvSpPr>
        <p:spPr>
          <a:xfrm>
            <a:off x="566164" y="1302760"/>
            <a:ext cx="5363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l-GR" sz="4000" b="1" dirty="0"/>
              <a:t>Special Requirements: 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AB5B27E-E8DE-711B-EB70-0D1F0D1724AF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DD865018-5331-C9DB-B1D9-5176BC7D7E2B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EA64D757-F4A0-297F-824A-412F5103FA7E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CB535B72-4CFF-C99D-C424-1A80A8C620A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A7C6C1-FD29-51E2-E216-3B50272922B2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21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34A3-9F45-5F10-DAEB-C2F31C0CD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41ADCA3-C20A-A777-3490-DA25825E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Bosch seeks to hire thousands of engineers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D07F2F-3548-51FB-3AED-C2806AFF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179" y="758816"/>
            <a:ext cx="4139821" cy="304417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8E12E0-0637-752C-A826-222B22EB3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19" y="1404748"/>
            <a:ext cx="77724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Software seems to be the new hardware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for automotive and electronics giant Robert Bosch GmbH.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A6F8DB1-9677-9A76-4FA8-98284D467DA9}"/>
              </a:ext>
            </a:extLst>
          </p:cNvPr>
          <p:cNvSpPr txBox="1">
            <a:spLocks/>
          </p:cNvSpPr>
          <p:nvPr/>
        </p:nvSpPr>
        <p:spPr bwMode="auto">
          <a:xfrm>
            <a:off x="0" y="3731120"/>
            <a:ext cx="12051331" cy="271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3200" kern="0" dirty="0">
                <a:solidFill>
                  <a:srgbClr val="000000"/>
                </a:solidFill>
                <a:latin typeface="Tahoma"/>
              </a:rPr>
              <a:t>The German giant plans to recruit 12.000 engineers, and </a:t>
            </a:r>
            <a:r>
              <a:rPr lang="en-US" sz="3200" b="1" kern="0" dirty="0">
                <a:solidFill>
                  <a:srgbClr val="000000"/>
                </a:solidFill>
                <a:latin typeface="Tahoma"/>
              </a:rPr>
              <a:t>software expertise ranks highest among the requirements.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kern="0" dirty="0">
                <a:solidFill>
                  <a:srgbClr val="000000"/>
                </a:solidFill>
                <a:latin typeface="Tahoma"/>
              </a:rPr>
              <a:t>the 129-year old giant from the German state of Baden Württemberg has grown into other technology fields, and right now it seems that the company </a:t>
            </a:r>
            <a:r>
              <a:rPr lang="en-US" kern="0" dirty="0">
                <a:solidFill>
                  <a:srgbClr val="C00000"/>
                </a:solidFill>
                <a:latin typeface="Tahoma"/>
              </a:rPr>
              <a:t>has discovered the thousands of synergies it can activate </a:t>
            </a:r>
            <a:r>
              <a:rPr lang="en-US" b="1" kern="0" dirty="0">
                <a:solidFill>
                  <a:srgbClr val="000000"/>
                </a:solidFill>
                <a:latin typeface="Tahoma"/>
              </a:rPr>
              <a:t>if it combines its traditional strengths with new technologies and application fields like Internet of Things and Industrial Internet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, Connected Car and multimodal mobility. </a:t>
            </a:r>
            <a:endParaRPr lang="el-GR" b="1" kern="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3CD922-0011-9354-2FAF-99A683C7D907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10D3123B-6CD6-70EB-929E-B98DF0DBE9E0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Θέση υποσέλιδου 4">
              <a:extLst>
                <a:ext uri="{FF2B5EF4-FFF2-40B4-BE49-F238E27FC236}">
                  <a16:creationId xmlns:a16="http://schemas.microsoft.com/office/drawing/2014/main" id="{0B7A385D-76E0-B647-1A59-A12A4170D466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3" name="Θέση υποσέλιδου 4">
              <a:extLst>
                <a:ext uri="{FF2B5EF4-FFF2-40B4-BE49-F238E27FC236}">
                  <a16:creationId xmlns:a16="http://schemas.microsoft.com/office/drawing/2014/main" id="{B4A7AFE0-E664-D04A-B267-E28B27F27A61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BA838A-2327-FBFB-6BA8-47DA1D6F85A6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19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026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EEE9-4918-1F70-6247-9E39B916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53560A2-7A9C-C27D-496B-739D6187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FB3076-785E-632A-BF8A-7D038D9BF7FC}"/>
              </a:ext>
            </a:extLst>
          </p:cNvPr>
          <p:cNvSpPr txBox="1">
            <a:spLocks/>
          </p:cNvSpPr>
          <p:nvPr/>
        </p:nvSpPr>
        <p:spPr bwMode="auto">
          <a:xfrm>
            <a:off x="355696" y="948778"/>
            <a:ext cx="10725592" cy="459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000000"/>
                </a:solidFill>
                <a:latin typeface="Tahoma"/>
              </a:rPr>
              <a:t>Προγραμματισμός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Τι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σχέση σας με τον Προγραμματισμό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Παραδείγματα από την καθημερινή πρακτική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Ανάθεση Έργου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000000"/>
                </a:solidFill>
                <a:latin typeface="Tahoma"/>
              </a:rPr>
              <a:t>Αντικείμενο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Η σημασία του αντικειμένου</a:t>
            </a:r>
          </a:p>
          <a:p>
            <a:pPr lvl="0">
              <a:buClr>
                <a:srgbClr val="3333CC"/>
              </a:buClr>
              <a:defRPr/>
            </a:pPr>
            <a:r>
              <a:rPr lang="el-GR" b="1" kern="0" dirty="0">
                <a:solidFill>
                  <a:srgbClr val="C00000"/>
                </a:solidFill>
                <a:latin typeface="Tahoma"/>
              </a:rPr>
              <a:t>Στόχος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Ποιος είναι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Πως θα τον πετύχουμε - Οργάνωση μαθήματος</a:t>
            </a:r>
          </a:p>
          <a:p>
            <a:pPr lvl="1"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Αρμοδιότητες στην επίτευξη του στόχου</a:t>
            </a:r>
          </a:p>
          <a:p>
            <a:pPr lvl="0">
              <a:buClr>
                <a:srgbClr val="3333CC"/>
              </a:buClr>
              <a:defRPr/>
            </a:pPr>
            <a:endParaRPr lang="el-GR" sz="2800" kern="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DA2130-13D8-10A5-7EEC-E3E81451E9A8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FAFC49DE-3628-00E9-AAD5-F2850DC89BCE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Θέση υποσέλιδου 4">
              <a:extLst>
                <a:ext uri="{FF2B5EF4-FFF2-40B4-BE49-F238E27FC236}">
                  <a16:creationId xmlns:a16="http://schemas.microsoft.com/office/drawing/2014/main" id="{6C01CA4B-C312-86D0-199F-E8E566EC98A4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9" name="Θέση υποσέλιδου 4">
              <a:extLst>
                <a:ext uri="{FF2B5EF4-FFF2-40B4-BE49-F238E27FC236}">
                  <a16:creationId xmlns:a16="http://schemas.microsoft.com/office/drawing/2014/main" id="{8682FE1B-A71C-F82B-BB6F-19DBF77E66D0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9459B0-128F-3F40-5DC1-06909A09D761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37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1F3E-529A-84A4-3B38-61F1EC24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6333871-47BA-F621-E101-A56F09F9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απορία σας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B784EC-C1E3-BF6C-2C62-2886279883A3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8E4B7B2F-6E27-E8E3-88A6-9F0AE635AA70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06DFD028-1D9F-9B03-7B9E-32F1F33A042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88C5F9D4-9DD8-2459-41EC-7A8D0F948777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6924D4-C554-0A40-221D-6D6E05802C89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74D100A0-7713-2834-82A3-D5B587615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1" y="1165070"/>
            <a:ext cx="10125559" cy="1796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Γιατί ήμαστε εδώ;</a:t>
            </a:r>
          </a:p>
          <a:p>
            <a:pPr>
              <a:buClr>
                <a:srgbClr val="3333CC"/>
              </a:buClr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Ποιος είναι ο στόχος του μαθήματος και ο δικός μας;</a:t>
            </a:r>
          </a:p>
          <a:p>
            <a:pPr>
              <a:buClr>
                <a:srgbClr val="3333CC"/>
              </a:buClr>
            </a:pPr>
            <a:r>
              <a:rPr lang="en-US" sz="3600" dirty="0">
                <a:solidFill>
                  <a:srgbClr val="000000"/>
                </a:solidFill>
                <a:latin typeface="Tahoma"/>
              </a:rPr>
              <a:t>M</a:t>
            </a:r>
            <a:r>
              <a:rPr lang="el-GR" sz="3600" dirty="0" err="1">
                <a:solidFill>
                  <a:srgbClr val="000000"/>
                </a:solidFill>
                <a:latin typeface="Tahoma"/>
              </a:rPr>
              <a:t>ια</a:t>
            </a:r>
            <a:r>
              <a:rPr lang="el-GR" sz="3600" dirty="0">
                <a:solidFill>
                  <a:srgbClr val="000000"/>
                </a:solidFill>
                <a:latin typeface="Tahoma"/>
              </a:rPr>
              <a:t> γλώσσα προγραμματισμού?</a:t>
            </a:r>
            <a:r>
              <a:rPr lang="en-US" altLang="el-GR" kern="0" dirty="0">
                <a:solidFill>
                  <a:srgbClr val="000000"/>
                </a:solidFill>
                <a:latin typeface="Tahoma"/>
              </a:rPr>
              <a:t> </a:t>
            </a:r>
          </a:p>
        </p:txBody>
      </p:sp>
      <p:pic>
        <p:nvPicPr>
          <p:cNvPr id="4" name="Content Placeholder 4" descr="A large crowd of people in a room&#10;&#10;Description automatically generated">
            <a:extLst>
              <a:ext uri="{FF2B5EF4-FFF2-40B4-BE49-F238E27FC236}">
                <a16:creationId xmlns:a16="http://schemas.microsoft.com/office/drawing/2014/main" id="{6578CD25-7541-8DC1-BC15-DD030E5D1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3452843"/>
            <a:ext cx="4572000" cy="258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 group of people in a room&#10;&#10;Description automatically generated">
            <a:extLst>
              <a:ext uri="{FF2B5EF4-FFF2-40B4-BE49-F238E27FC236}">
                <a16:creationId xmlns:a16="http://schemas.microsoft.com/office/drawing/2014/main" id="{F82FCF8E-ECD7-25BC-883F-6A0B953EA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828" y="3467089"/>
            <a:ext cx="4578173" cy="258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5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BFD9-C0DA-3830-1789-3A4B5C895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E992E5E-85E2-EC66-BAB0-F2B0BE7B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Education is not …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C4264C-449E-F113-8406-B93114105FA0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12EF4E69-8BE0-035A-2D60-4AC9AB896DCC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2DB2FF4F-B8AB-5B9E-B737-C88C76889934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6907D6DE-6CDC-98FD-6BFC-4A3FBB4D98DC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CD8272-1422-98EC-4CEE-E92393F23F07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7" name="Picture 3" descr="EinsteinOnEducation.JPG">
            <a:extLst>
              <a:ext uri="{FF2B5EF4-FFF2-40B4-BE49-F238E27FC236}">
                <a16:creationId xmlns:a16="http://schemas.microsoft.com/office/drawing/2014/main" id="{34163C9E-A086-E24C-1CB0-E1EE7112D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355" y="0"/>
            <a:ext cx="9139645" cy="6807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04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586E-9EB4-BD47-4F83-5C183926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6377CE5-B2F8-5B5F-DEAE-3400EDE5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Μαθήματος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F5611D-AE76-0EAE-DF99-56EDDF9761E2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A73960E4-8275-4961-78C4-0A6D59BAA056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019C93C1-6902-D9BA-B295-9D6E94A4D0C2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73D69264-3780-8949-50F0-CB8CA29B5A61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2D1DDD-0E84-72C7-F2A3-1C1DB3358BD7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Picture 4">
            <a:extLst>
              <a:ext uri="{FF2B5EF4-FFF2-40B4-BE49-F238E27FC236}">
                <a16:creationId xmlns:a16="http://schemas.microsoft.com/office/drawing/2014/main" id="{DB4F63A3-35F2-3E6E-9F24-2EFD457AF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2890" y="-11761"/>
            <a:ext cx="2484437" cy="652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55AD06-7D5D-053A-C860-24F400E313D6}"/>
              </a:ext>
            </a:extLst>
          </p:cNvPr>
          <p:cNvSpPr txBox="1">
            <a:spLocks noChangeArrowheads="1"/>
          </p:cNvSpPr>
          <p:nvPr/>
        </p:nvSpPr>
        <p:spPr>
          <a:xfrm>
            <a:off x="170481" y="769550"/>
            <a:ext cx="9004975" cy="5146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Εισαγωγή στην </a:t>
            </a:r>
            <a:r>
              <a:rPr lang="el-GR" b="1" dirty="0"/>
              <a:t>Τέχνη του Προγραμματισμού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Εισαγωγή στις βασικές έννοιες προγραμματισμού</a:t>
            </a:r>
            <a:endParaRPr lang="en-US" dirty="0"/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Εξοικείωση με</a:t>
            </a:r>
            <a:r>
              <a:rPr lang="en-US" dirty="0"/>
              <a:t> 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το διαδικαστικό και το προστακτικό παράδειγμα προγραμματισμού και τις δυνατότητες που αυτά παρέχουν για την ανάπτυξη συστημάτων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Αξιοποίηση μιας πολύ βασικής γλώσσας προγραμματισμού, της </a:t>
            </a:r>
            <a:r>
              <a:rPr lang="en-US" dirty="0"/>
              <a:t>C.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Εξοικείωση με τους μηχανισμούς χειρισμού πολυπλοκότητας  στον προγραμματισμό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/>
              <a:t>Αφαιρετικότητα</a:t>
            </a:r>
            <a:r>
              <a:rPr lang="en-US" dirty="0"/>
              <a:t> (Procedural and Data)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l-GR" dirty="0" err="1"/>
              <a:t>Τμηματοποίηση</a:t>
            </a:r>
            <a:r>
              <a:rPr lang="en-US" dirty="0"/>
              <a:t> (+incremental development)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F93DB-BC9B-781F-5ECC-8E6ECFD498D1}"/>
              </a:ext>
            </a:extLst>
          </p:cNvPr>
          <p:cNvSpPr/>
          <p:nvPr/>
        </p:nvSpPr>
        <p:spPr bwMode="auto">
          <a:xfrm>
            <a:off x="2701871" y="5965949"/>
            <a:ext cx="7164288" cy="644178"/>
          </a:xfrm>
          <a:prstGeom prst="rect">
            <a:avLst/>
          </a:prstGeom>
          <a:solidFill>
            <a:srgbClr val="EBFD03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“One of the goals of higher education is to prepare students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for life by enabling them to become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independent learners</a:t>
            </a:r>
            <a:r>
              <a:rPr lang="en-US" sz="2000" dirty="0">
                <a:solidFill>
                  <a:srgbClr val="000000"/>
                </a:solidFill>
                <a:latin typeface="Tahoma" panose="020B0604030504040204" pitchFamily="34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58756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B56A-A793-E536-7C13-656D3F80D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F31A455-2A04-786C-89AA-04BCE6EA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η εκμάθηση μιας γλώσσας προγραμματισμού?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EA45AE-7DDE-41C0-44B1-8D8720E6EC1B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36E4350C-F938-10AD-09F0-0941B55FAF05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21FD1514-B9B6-3D6E-9DEE-E34BAA92578B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4E6CBF26-5116-505B-1324-4ECB2ADD2082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7CA7C8-A6FB-2855-39AB-6D09A73BEE8A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C30784CD-04AB-737A-C4DC-233FE905B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68" y="1057268"/>
            <a:ext cx="8895022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529913-EF33-A819-E219-001C7AE4A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77" y="2583886"/>
            <a:ext cx="8895022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sz="2400" kern="0" dirty="0">
                <a:solidFill>
                  <a:srgbClr val="000000"/>
                </a:solidFill>
                <a:latin typeface="Tahoma"/>
              </a:rPr>
              <a:t>Programming Paradigms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solidFill>
                  <a:srgbClr val="000000"/>
                </a:solidFill>
                <a:latin typeface="Tahoma"/>
              </a:rPr>
              <a:t>are a way to classify programming languages based on their features. Languages can be classified into multiple paradigms.</a:t>
            </a:r>
          </a:p>
          <a:p>
            <a:pPr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Common programming paradigms</a:t>
            </a:r>
          </a:p>
          <a:p>
            <a:pPr lvl="1">
              <a:buClr>
                <a:srgbClr val="FF0000"/>
              </a:buClr>
            </a:pPr>
            <a:r>
              <a:rPr lang="en-US" sz="2000" b="1" dirty="0">
                <a:solidFill>
                  <a:srgbClr val="000000"/>
                </a:solidFill>
                <a:latin typeface="Tahoma"/>
              </a:rPr>
              <a:t>imperative</a:t>
            </a:r>
            <a:r>
              <a:rPr lang="en-US" sz="2000" dirty="0">
                <a:solidFill>
                  <a:srgbClr val="000000"/>
                </a:solidFill>
                <a:latin typeface="Tahoma"/>
              </a:rPr>
              <a:t> in which the programmer instructs the machine how to change its state,</a:t>
            </a:r>
            <a:r>
              <a:rPr lang="el-GR" sz="200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2000" i="1" dirty="0">
                <a:solidFill>
                  <a:srgbClr val="000000"/>
                </a:solidFill>
                <a:latin typeface="Times New Roman" pitchFamily="18" charset="0"/>
              </a:rPr>
              <a:t>'first do this, next do that’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sz="2000" dirty="0">
              <a:solidFill>
                <a:srgbClr val="000000"/>
              </a:solidFill>
              <a:latin typeface="Tahoma"/>
            </a:endParaRPr>
          </a:p>
          <a:p>
            <a:pPr lvl="2">
              <a:buClr>
                <a:srgbClr val="3333CC"/>
              </a:buClr>
            </a:pPr>
            <a:r>
              <a:rPr lang="en-US" sz="1600" dirty="0">
                <a:solidFill>
                  <a:srgbClr val="C00000"/>
                </a:solidFill>
                <a:latin typeface="Tahoma"/>
              </a:rPr>
              <a:t>procedural</a:t>
            </a:r>
            <a:r>
              <a:rPr lang="en-US" sz="1600" dirty="0">
                <a:solidFill>
                  <a:srgbClr val="000000"/>
                </a:solidFill>
                <a:latin typeface="Tahoma"/>
              </a:rPr>
              <a:t> which groups instructions into procedures,</a:t>
            </a:r>
          </a:p>
          <a:p>
            <a:pPr lvl="2">
              <a:buClr>
                <a:srgbClr val="3333CC"/>
              </a:buClr>
            </a:pPr>
            <a:r>
              <a:rPr lang="en-US" sz="1600" dirty="0">
                <a:solidFill>
                  <a:srgbClr val="C00000"/>
                </a:solidFill>
                <a:latin typeface="Tahoma"/>
              </a:rPr>
              <a:t>object-oriented </a:t>
            </a:r>
            <a:r>
              <a:rPr lang="en-US" sz="1600" dirty="0">
                <a:solidFill>
                  <a:srgbClr val="000000"/>
                </a:solidFill>
                <a:latin typeface="Tahoma"/>
              </a:rPr>
              <a:t>which groups instructions together with the part of the state they operate on,</a:t>
            </a:r>
          </a:p>
          <a:p>
            <a:pPr lvl="1">
              <a:buClr>
                <a:srgbClr val="FF0000"/>
              </a:buClr>
            </a:pPr>
            <a:r>
              <a:rPr lang="en-US" sz="2000" b="1" dirty="0">
                <a:solidFill>
                  <a:srgbClr val="000000"/>
                </a:solidFill>
                <a:latin typeface="Tahoma"/>
              </a:rPr>
              <a:t>declarative</a:t>
            </a:r>
            <a:r>
              <a:rPr lang="en-US" sz="2000" dirty="0">
                <a:solidFill>
                  <a:srgbClr val="000000"/>
                </a:solidFill>
                <a:latin typeface="Tahoma"/>
              </a:rPr>
              <a:t> in which the programmer merely declares properties of the desired result, but not how to compute it</a:t>
            </a:r>
          </a:p>
          <a:p>
            <a:pPr>
              <a:buClr>
                <a:srgbClr val="3333CC"/>
              </a:buClr>
            </a:pPr>
            <a:endParaRPr lang="en-US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2C675-0E0A-33E3-7CC3-0D5521754DD8}"/>
              </a:ext>
            </a:extLst>
          </p:cNvPr>
          <p:cNvSpPr txBox="1"/>
          <p:nvPr/>
        </p:nvSpPr>
        <p:spPr>
          <a:xfrm>
            <a:off x="7180830" y="1057267"/>
            <a:ext cx="4749537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</a:rPr>
              <a:t>'first do this, next do that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’ </a:t>
            </a:r>
            <a:endParaRPr lang="el-GR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the spirit of the imperative paradigm</a:t>
            </a:r>
            <a:endParaRPr lang="en-GB" sz="28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125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AACD1-DDEE-608E-6A72-799BECB6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F7FF20E-24BE-8B36-4213-0B5D54E1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Programming Languages Classification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85EA59-2113-F8CE-EFEB-05B3F79E8A60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333C6BD0-A293-5B4F-D3B1-38C83B6E0226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C0E9D3E7-7783-418A-1010-CD2FE6F27A2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7FC1959-A882-8B06-0A0E-5C5C5D48EF48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7BCE1A-D934-E58C-A3CC-409AC60F15A0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BE8AD136-D689-764A-6941-DE561F4F9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528" y="836613"/>
            <a:ext cx="10332203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sz="2800" b="1" dirty="0">
                <a:solidFill>
                  <a:srgbClr val="000000"/>
                </a:solidFill>
                <a:latin typeface="Tahoma"/>
              </a:rPr>
              <a:t>Procedural languages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C++ (C with objects plus much else, such as, generics through STL)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C# (similar to Java/C++)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Python</a:t>
            </a:r>
          </a:p>
          <a:p>
            <a:pPr lvl="1">
              <a:buClr>
                <a:srgbClr val="3333CC"/>
              </a:buClr>
            </a:pPr>
            <a:endParaRPr lang="en-US" sz="2400" b="1" dirty="0">
              <a:solidFill>
                <a:srgbClr val="000000"/>
              </a:solidFill>
              <a:latin typeface="Tahoma"/>
            </a:endParaRPr>
          </a:p>
          <a:p>
            <a:pPr>
              <a:buClr>
                <a:srgbClr val="3333CC"/>
              </a:buClr>
            </a:pPr>
            <a:r>
              <a:rPr lang="en-US" sz="2800" b="1" dirty="0">
                <a:solidFill>
                  <a:srgbClr val="000000"/>
                </a:solidFill>
                <a:latin typeface="Tahoma"/>
              </a:rPr>
              <a:t>Object-oriented class-based languages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C++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C#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Java</a:t>
            </a:r>
          </a:p>
          <a:p>
            <a:pPr lvl="1">
              <a:buClr>
                <a:srgbClr val="3333CC"/>
              </a:buClr>
            </a:pPr>
            <a:r>
              <a:rPr lang="en-US" sz="2400" dirty="0">
                <a:solidFill>
                  <a:srgbClr val="000000"/>
                </a:solidFill>
                <a:latin typeface="Tahoma"/>
              </a:rPr>
              <a:t>Python (interpretive language, optionally object-oriented)</a:t>
            </a:r>
          </a:p>
          <a:p>
            <a:pPr lvl="1">
              <a:buClr>
                <a:srgbClr val="3333CC"/>
              </a:buClr>
            </a:pPr>
            <a:endParaRPr lang="en-US" sz="2400" b="1" dirty="0">
              <a:solidFill>
                <a:srgbClr val="000000"/>
              </a:solidFill>
              <a:latin typeface="Tahoma"/>
            </a:endParaRPr>
          </a:p>
          <a:p>
            <a:pPr>
              <a:buClr>
                <a:srgbClr val="3333CC"/>
              </a:buClr>
            </a:pPr>
            <a:endParaRPr lang="en-US" sz="2800" dirty="0">
              <a:solidFill>
                <a:srgbClr val="000000"/>
              </a:solidFill>
              <a:latin typeface="Tahoma"/>
            </a:endParaRPr>
          </a:p>
          <a:p>
            <a:pPr>
              <a:buClr>
                <a:srgbClr val="3333CC"/>
              </a:buClr>
            </a:pPr>
            <a:endParaRPr lang="en-US" sz="2000" kern="0" dirty="0">
              <a:solidFill>
                <a:srgbClr val="000000"/>
              </a:solidFill>
              <a:latin typeface="Tahoma"/>
            </a:endParaRPr>
          </a:p>
          <a:p>
            <a:pPr>
              <a:buClr>
                <a:srgbClr val="3333CC"/>
              </a:buClr>
            </a:pPr>
            <a:endParaRPr lang="en-US" sz="20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62201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C51C-F3D2-947D-083F-7015503A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908445E-E4D3-597B-C779-E8553BAF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8488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Έξι λόγοι για να χρησιμοποιήσεις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Alex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την C για να μάθεις προγραμματισμό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FBC9273-DB4B-77E3-7E3D-26E722A1BD52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AED47194-7DB8-AAB7-E1E4-A903F0C63B39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Θέση υποσέλιδου 4">
              <a:extLst>
                <a:ext uri="{FF2B5EF4-FFF2-40B4-BE49-F238E27FC236}">
                  <a16:creationId xmlns:a16="http://schemas.microsoft.com/office/drawing/2014/main" id="{B7A95388-4763-9E2E-7C0B-ED67EE2D2CD9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36" name="Θέση υποσέλιδου 4">
              <a:extLst>
                <a:ext uri="{FF2B5EF4-FFF2-40B4-BE49-F238E27FC236}">
                  <a16:creationId xmlns:a16="http://schemas.microsoft.com/office/drawing/2014/main" id="{CA06299D-F5EC-F47B-FE38-92449E6A1C7B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E51C97-8772-B7A3-30CB-58920C398A67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01E184-D0F7-FCD2-7E33-3DC9286F794C}"/>
              </a:ext>
            </a:extLst>
          </p:cNvPr>
          <p:cNvSpPr txBox="1"/>
          <p:nvPr/>
        </p:nvSpPr>
        <p:spPr>
          <a:xfrm>
            <a:off x="7698443" y="6140357"/>
            <a:ext cx="4315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Ιστοσελίδα Βιβλίου - Αποσπάσματα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DA992-AD19-A462-7F12-AC925BE6B314}"/>
              </a:ext>
            </a:extLst>
          </p:cNvPr>
          <p:cNvSpPr txBox="1"/>
          <p:nvPr/>
        </p:nvSpPr>
        <p:spPr>
          <a:xfrm>
            <a:off x="178229" y="1258046"/>
            <a:ext cx="11835540" cy="483209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l-GR" sz="2800" b="1" dirty="0"/>
              <a:t>1. Βάση για Πολλές Άλλες Γλώσσες</a:t>
            </a:r>
          </a:p>
          <a:p>
            <a:r>
              <a:rPr lang="el-GR" sz="2800" dirty="0"/>
              <a:t>Η C θεωρείται η «μητέρα» πολλών σύγχρονων γλωσσών, όπως η C++, η </a:t>
            </a:r>
            <a:r>
              <a:rPr lang="el-GR" sz="2800" dirty="0" err="1"/>
              <a:t>Java</a:t>
            </a:r>
            <a:r>
              <a:rPr lang="el-GR" sz="2800" dirty="0"/>
              <a:t>, η C#, η </a:t>
            </a:r>
            <a:r>
              <a:rPr lang="el-GR" sz="2800" dirty="0" err="1"/>
              <a:t>Objective</a:t>
            </a:r>
            <a:r>
              <a:rPr lang="el-GR" sz="2800" dirty="0"/>
              <a:t>-C και άλλες. Μαθαίνοντας C, αποκτάς γερά θεμέλια για να μάθεις και άλλες γλώσσες πιο εύκολα.</a:t>
            </a:r>
          </a:p>
          <a:p>
            <a:r>
              <a:rPr lang="el-GR" sz="2800" b="1" dirty="0"/>
              <a:t> 2. Κατανόηση της λειτουργίας του υπολογιστή </a:t>
            </a:r>
          </a:p>
          <a:p>
            <a:r>
              <a:rPr lang="el-GR" sz="2800" dirty="0"/>
              <a:t>Η C σου δίνει πρόσβαση σε χαμηλού επιπέδου λειτουργίες, όπως η διαχείριση μνήμης, οι δείκτες (</a:t>
            </a:r>
            <a:r>
              <a:rPr lang="el-GR" sz="2800" dirty="0" err="1"/>
              <a:t>pointers</a:t>
            </a:r>
            <a:r>
              <a:rPr lang="el-GR" sz="2800" dirty="0"/>
              <a:t>) και η άμεση επικοινωνία με το υλικό (</a:t>
            </a:r>
            <a:r>
              <a:rPr lang="el-GR" sz="2800" dirty="0" err="1"/>
              <a:t>hardware</a:t>
            </a:r>
            <a:r>
              <a:rPr lang="el-GR" sz="2800" dirty="0"/>
              <a:t>). Αυτό βοηθά στην κατανόηση του πώς «σκέφτεται» ένας υπολογιστής.</a:t>
            </a:r>
          </a:p>
          <a:p>
            <a:r>
              <a:rPr lang="el-GR" sz="2800" b="1" dirty="0"/>
              <a:t>3. Υψηλή Απόδοση και Ταχύτητα</a:t>
            </a:r>
          </a:p>
          <a:p>
            <a:r>
              <a:rPr lang="el-GR" sz="2800" dirty="0"/>
              <a:t>Ο κώδικας σε C είναι πολύ γρήγορος και αποδοτικός, γι’ αυτό και χρησιμοποιείται σε εφαρμογές όπου η ταχύτητα είναι κρίσιμη, όπως  …</a:t>
            </a:r>
            <a:r>
              <a:rPr lang="en-US" sz="2800" dirty="0"/>
              <a:t>	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58252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041D-70D1-8A5C-F941-3B57ABB8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4809737-E0A4-AD65-A679-5D64AE55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TIOBE Index : C is back in the number one spot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C7161-8C6B-F986-054B-8EEE74AFD839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DA294D3C-6C8E-337C-7F1C-B4E0ADD92B0E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E4C58615-FBF6-94F4-7134-15C64FCA4758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A13CAD49-2B85-BF1B-6396-8B860EA0C12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EA40E59-9251-F96C-5C28-19EE4E8ED599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75701B9-25D0-D8FC-0F7C-7C7803DEE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03" y="730064"/>
            <a:ext cx="9690458" cy="587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2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7C3A-EFF2-1D4D-9BB8-3A688FBA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BFA9A58-17A3-9C1A-6DDB-21A8F58D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Μαθήματος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F4B7E7-6023-561B-C8ED-66728AE95E9A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784C76CA-E446-4385-594F-467B39FBDA7E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3D420E9A-2A64-4D6E-8727-432A10256CF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5DEA1225-D921-490B-ED2D-B0B6C0EEEA8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0D5AEB-0F52-2BB0-8EBF-7BB9200476EB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28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609EA1C-1C14-6617-A838-32E4C28801C8}"/>
              </a:ext>
            </a:extLst>
          </p:cNvPr>
          <p:cNvSpPr/>
          <p:nvPr/>
        </p:nvSpPr>
        <p:spPr bwMode="auto">
          <a:xfrm>
            <a:off x="228600" y="4415134"/>
            <a:ext cx="11676185" cy="201550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B81FD8-F5F6-2AB1-04F9-65132E9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88087"/>
            <a:ext cx="1167618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Διαλέξεις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Η συμμετοχή σας στις διαλέξεις είναι το </a:t>
            </a:r>
            <a:r>
              <a:rPr kumimoji="0" lang="el-GR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Νο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1 που πρέπει να ικανοποιήσετε. Οι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έννοιες είναι καινούργιες και δύσκολες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και το πρώτο και βασικό που πρέπει να κάνετε είναι να συμμετέχετε, και μάλιστα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ενεργά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στις διαλέξεις.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Φροντιστήριο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Η συμμετοχή σας και εδώ επιβάλλεται. Σε ένα χρονικό διάστημα πιο χαλαρό από τις διαλέξεις μπορείτε να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εμπεδώσετε καλύτερα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τις έννοιες της διάλεξης, να λύσετε με μεγαλύτερη ευχέρεια τις απορίες σας, και να προετοιμαστείτε καλύτερα για τις εργαστηριακές ασκήσεις.</a:t>
            </a: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Εργαστήριο (2 ώρες την εβδομάδα)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Την επιτυχία σας στην τελική αξιολόγηση αλλά και στις ενδιάμεσες με τη μορφή παραδοτέων θα διασφαλίσετε μόνο με την κατανόηση των εννοιών και την αποτελεσματική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εφαρμογή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αυτών </a:t>
            </a: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στην πράξη </a:t>
            </a: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(ανάπτυξη προγράμματος).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7693A-FE32-854C-298B-EF912C1038AB}"/>
              </a:ext>
            </a:extLst>
          </p:cNvPr>
          <p:cNvSpPr txBox="1"/>
          <p:nvPr/>
        </p:nvSpPr>
        <p:spPr>
          <a:xfrm>
            <a:off x="8949154" y="4403659"/>
            <a:ext cx="3014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Υποχρεωτικό</a:t>
            </a:r>
            <a:endParaRPr lang="en-GB" sz="32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94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BA9E-FF81-BDC4-FB73-61409C35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60EC55-B3A2-8843-CC8F-3A38444FD14E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210A34EF-6764-D5BB-BB86-4CB03A840802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7AB80DED-B9F4-EE3E-6C8F-9D715C88B96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4331B597-51D3-A7CB-8B9F-CDD44F8DDCDE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ED8453-BA76-C212-1C20-F33C0E65460C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29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733B752-AAF7-63DE-E081-4BCCE6367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348" y="0"/>
            <a:ext cx="8860160" cy="664512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2D2CED-6D8F-B6B0-07B7-4911BE90D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2996953"/>
            <a:ext cx="3604572" cy="14707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19DC9A-36D9-03D4-C6B8-4C64156E6BE1}"/>
              </a:ext>
            </a:extLst>
          </p:cNvPr>
          <p:cNvSpPr/>
          <p:nvPr/>
        </p:nvSpPr>
        <p:spPr>
          <a:xfrm rot="1442656">
            <a:off x="4335071" y="4736906"/>
            <a:ext cx="46554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5400" b="1" dirty="0">
                <a:ln w="22225">
                  <a:solidFill>
                    <a:srgbClr val="FFCF01"/>
                  </a:solidFill>
                  <a:prstDash val="solid"/>
                </a:ln>
                <a:solidFill>
                  <a:srgbClr val="FFCF01">
                    <a:lumMod val="40000"/>
                    <a:lumOff val="60000"/>
                  </a:srgbClr>
                </a:solidFill>
                <a:latin typeface="Tahoma" panose="020B0604030504040204" pitchFamily="34" charset="0"/>
              </a:rPr>
              <a:t>Εργαστήριο !</a:t>
            </a:r>
            <a:endParaRPr lang="en-US" sz="5400" b="1" dirty="0">
              <a:ln w="22225">
                <a:solidFill>
                  <a:srgbClr val="FFCF01"/>
                </a:solidFill>
                <a:prstDash val="solid"/>
              </a:ln>
              <a:solidFill>
                <a:srgbClr val="FFCF01">
                  <a:lumMod val="40000"/>
                  <a:lumOff val="60000"/>
                </a:srgbClr>
              </a:solidFill>
              <a:latin typeface="Tahoma" panose="020B0604030504040204" pitchFamily="34" charset="0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A7ABE88-7E81-50BA-F51E-9532D30A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σημασία του Εργαστηρίου</a:t>
            </a:r>
          </a:p>
        </p:txBody>
      </p:sp>
    </p:spTree>
    <p:extLst>
      <p:ext uri="{BB962C8B-B14F-4D97-AF65-F5344CB8AC3E}">
        <p14:creationId xmlns:p14="http://schemas.microsoft.com/office/powerpoint/2010/main" val="126173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932B-F3C1-DD6E-8007-59446EAA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1B776E7-C036-D2E8-9C13-6FB3A83A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Πρόγραμμα Εργαστηρίου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3889C0-4C68-0D95-B865-2E86DB57BBA6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043AE549-831F-041E-76C0-B2D85A982A1E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8FA1C434-3786-1E1F-106F-3C5D39CCDA07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2AEE99BC-240E-776D-76C6-1897FFB84601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0FD2A5-CD81-DA52-B8AF-7F234CC1566B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30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BD68E19-7F92-F618-CC55-4E333B8A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50" y="769549"/>
            <a:ext cx="10379837" cy="574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4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8BEB-474D-0B71-4792-5CCC85A1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238B514-4DD9-9BBB-697A-A72209C9D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Ιστότοπος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Μαθήματος -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eclass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C085C9-696C-50C7-C33C-7D1C97ADBB0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EBD66A2C-8984-74F4-0C62-53BBD68D59F8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89D4FD4C-0C2B-C0CA-1931-82AB217B49DB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5CCFEF90-0028-C209-3FE7-81155729DEB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2B91920-A383-1605-07D6-290D889CDB2C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31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2EF693C-2E0A-7BC7-5DD8-455E70AD81C1}"/>
              </a:ext>
            </a:extLst>
          </p:cNvPr>
          <p:cNvSpPr txBox="1"/>
          <p:nvPr/>
        </p:nvSpPr>
        <p:spPr>
          <a:xfrm>
            <a:off x="3548329" y="661212"/>
            <a:ext cx="68372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https://eclass.upatras.gr/courses/CEID145</a:t>
            </a:r>
            <a:r>
              <a:rPr lang="el-GR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6</a:t>
            </a:r>
            <a:r>
              <a:rPr lang="en-US" sz="2000" dirty="0">
                <a:solidFill>
                  <a:srgbClr val="FF0000"/>
                </a:solidFill>
                <a:latin typeface="Tahoma" panose="020B0604030504040204" pitchFamily="34" charset="0"/>
              </a:rPr>
              <a:t>/</a:t>
            </a:r>
            <a:endParaRPr lang="el-GR" sz="2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l-GR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E4F19-A91B-494B-3040-9702EBAA8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22" y="1172737"/>
            <a:ext cx="2192682" cy="48947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04C639-26E1-605E-5170-829852CF0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904" y="1117222"/>
            <a:ext cx="7787435" cy="52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BE88-2536-404A-7EC8-DBB94369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E3EA79A-034E-85C9-CCCA-F8ED137F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Επιδιωκόμενα μαθησιακά αποτελέσματα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41D855-1A21-2694-82F6-2F3481402A8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61B30DBD-E8E0-16F8-9504-C6C1B06BA915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6F45130B-7E62-8ED8-87D5-DD87CA21B17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64E32FA4-FC4E-C784-28EE-AD64835CB82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F231A9-AAA9-5B38-60E7-4399BDACAEDC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32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2A77AA1E-D162-4B9C-9AEC-5A1FC4FCA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38" y="884885"/>
            <a:ext cx="10926304" cy="4536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των βασικών εννοιών προγραμματισμού</a:t>
            </a:r>
          </a:p>
          <a:p>
            <a:pPr marL="342900" marR="0" lvl="0" indent="-342900" algn="l" defTabSz="914400" rtl="0" eaLnBrk="0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Εκμάθηση των βασικών αρχών προστακτικού και διαδικαστικού παραδείγματος προγραμματισμού (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programming paradigm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 των μηχανισμών χειρισμού πολυπλοκότητας στο προγραμματισμό</a:t>
            </a:r>
          </a:p>
          <a:p>
            <a:pPr marL="342900" marR="0" lvl="0" indent="-342900" algn="l" defTabSz="914400" rtl="0" eaLnBrk="0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εξοικείωση με την τεχνική της αυξητικής ανάπτυξης προγράμματος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 των βασικών μηχανισμών υλοποίησης του προστακτικού διαδικαστικού παραδείγματος χρησιμοποιώντας ως γλώσσα προγραμματισμού την 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Εξοικείωση με τις βασικές αρχές της τέχνης του προγραμματισμού (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art of programming</a:t>
            </a: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Εκμάθηση μιας πολύ βασικής γλώσσας προγραμματισμού, της 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86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3436-961D-63EB-D8BD-908A99A47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D4EAF8C-3F17-222B-7C62-DAF6C3C32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Δεξιότητες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ACA93DC-2018-E4AC-ACD8-89FC95368C48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A3E1ECDB-17FF-B788-533C-DB7D93DBC290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77FEE792-9F04-DA4F-C421-F4B7116BC972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DFA490EF-EEC2-F9BF-42DD-12A4A1711635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D8C3E3-CEAB-2FE3-E779-BBAC3D749485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33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3">
            <a:extLst>
              <a:ext uri="{FF2B5EF4-FFF2-40B4-BE49-F238E27FC236}">
                <a16:creationId xmlns:a16="http://schemas.microsoft.com/office/drawing/2014/main" id="{9C2AFF57-1FB7-E106-7F9A-D4A6E952E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40" y="1557337"/>
            <a:ext cx="1124891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 βασικών εννοιών Προγραμματισμού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Εφαρμογή της αυξητικής ανάπτυξης στην διαδικασία ανάπτυξης προγράμματος</a:t>
            </a:r>
          </a:p>
          <a:p>
            <a:pPr>
              <a:buClr>
                <a:srgbClr val="3333CC"/>
              </a:buClr>
            </a:pP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Αυτοδύναμη ανάπτυξη προγράμματος για ζητούμενη λειτουργικότητα</a:t>
            </a:r>
            <a:endParaRPr lang="en-US" altLang="el-GR" sz="2800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 της λειτουργικότητας προγράμματος σε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κώδικα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Κατανόηση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προγράμματος και δυνατότητα επέκτασης της λειτουργικότητας του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41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CBEB-590A-A855-26A8-27005455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8C1104F-E598-0ABE-211E-7B36624D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Δεξιότητες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03C693E-2D1F-E1BB-29C3-6FEB6ED7B902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298B83D3-07BA-ED0E-CD7F-86B0236257AF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E1C34262-15A9-7114-7F09-DFDB053F1BC5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C33FAB1-197C-C3BC-27D3-EA12F8175391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E1F2AC-9C12-24C4-DAC3-15DCBC4AC6B2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34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CF11341-C6D4-4913-067B-D1CD5EC1F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96975"/>
            <a:ext cx="11388402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What can you learn about a program without actually running it?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GB" altLang="el-GR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What can you know by reading the code?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F784E5-A3DA-FBCE-30A6-4651EED04E28}"/>
              </a:ext>
            </a:extLst>
          </p:cNvPr>
          <p:cNvSpPr/>
          <p:nvPr/>
        </p:nvSpPr>
        <p:spPr bwMode="auto">
          <a:xfrm>
            <a:off x="0" y="5301208"/>
            <a:ext cx="12049448" cy="108012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lvl="1" indent="-45720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small programs may contain big ideas </a:t>
            </a:r>
          </a:p>
          <a:p>
            <a:pPr marR="0" lvl="1" indent="-45720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how to prove claims about their behavior. </a:t>
            </a: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4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540C-D70B-732A-0210-36C4B616D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285AEA3-0597-F60C-0E76-FC474998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Στόχος Μαθήματος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EECB5C-9BB6-FC04-E016-23764B155BCD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09BD799-413A-420A-8E3B-A594598B6D64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DFB1506B-E2F3-9F73-36AD-8AE1F9B5C818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07341939-D1BA-6EC8-FD2F-8799519BB4CF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D3B6A9-092E-4866-5E7E-EBF71CB147C3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35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pic>
        <p:nvPicPr>
          <p:cNvPr id="3" name="Content Placeholder 5" descr="A group of people in a room&#10;&#10;Description automatically generated">
            <a:extLst>
              <a:ext uri="{FF2B5EF4-FFF2-40B4-BE49-F238E27FC236}">
                <a16:creationId xmlns:a16="http://schemas.microsoft.com/office/drawing/2014/main" id="{A2A4F55F-DE14-727E-DAA7-83F3D2578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2816" y="3916116"/>
            <a:ext cx="4572000" cy="258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4" descr="A large crowd of people in a room&#10;&#10;Description automatically generated">
            <a:extLst>
              <a:ext uri="{FF2B5EF4-FFF2-40B4-BE49-F238E27FC236}">
                <a16:creationId xmlns:a16="http://schemas.microsoft.com/office/drawing/2014/main" id="{86877B3E-F332-B328-4440-81785143C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1119813"/>
            <a:ext cx="4572000" cy="2580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 group of people in a room&#10;&#10;Description automatically generated">
            <a:extLst>
              <a:ext uri="{FF2B5EF4-FFF2-40B4-BE49-F238E27FC236}">
                <a16:creationId xmlns:a16="http://schemas.microsoft.com/office/drawing/2014/main" id="{59A90E91-1537-9A02-CF6D-A32CB663F3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828" y="1116329"/>
            <a:ext cx="4578173" cy="2584452"/>
          </a:xfrm>
          <a:prstGeom prst="rect">
            <a:avLst/>
          </a:prstGeom>
        </p:spPr>
      </p:pic>
      <p:pic>
        <p:nvPicPr>
          <p:cNvPr id="7" name="Picture 6" descr="A picture containing table, building, bench, room&#10;&#10;Description automatically generated">
            <a:extLst>
              <a:ext uri="{FF2B5EF4-FFF2-40B4-BE49-F238E27FC236}">
                <a16:creationId xmlns:a16="http://schemas.microsoft.com/office/drawing/2014/main" id="{636FCA7F-1291-F328-CFD1-F6B3BE793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272" y="3916116"/>
            <a:ext cx="4543545" cy="2564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6986E-FC2E-2A29-0391-7F5D5B66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7381" y="4699458"/>
            <a:ext cx="1131962" cy="101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48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9090-3CD8-6A56-4A4A-456E68FB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EAEFAF0-0B17-7C4C-8EB8-1AFC055A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Συγγράμματα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6699F3-4DBA-DF67-C2B5-232704FE1D99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F08733B1-2C58-57ED-3DC7-E934DCE678AF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3B18A5C9-F1F8-4C6D-7F4F-12B514E53325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485B0657-9043-B514-2A04-3E3942D1120A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D52D09-F691-8461-9CA5-9F8BB9466A04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36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ABD9C31-CAB4-491C-3087-85B786609EED}"/>
              </a:ext>
            </a:extLst>
          </p:cNvPr>
          <p:cNvSpPr/>
          <p:nvPr/>
        </p:nvSpPr>
        <p:spPr bwMode="auto">
          <a:xfrm>
            <a:off x="594102" y="1273978"/>
            <a:ext cx="10680268" cy="190754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A7AE05-24E7-4D90-8B33-3085B0FC2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630" y="1634019"/>
            <a:ext cx="7772400" cy="448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hangingPunct="1">
              <a:lnSpc>
                <a:spcPct val="80000"/>
              </a:lnSpc>
              <a:buClr>
                <a:srgbClr val="3333CC"/>
              </a:buClr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ΜΙΑ ΕΙΣΑΓΩΓΗ ΣΤΗΝ ΤΕΧΝΗ ΤΟΥ ΠΡΟΓΡΑΜΜΑΤΙΣΜΟΥ με τη C και το ΑΙ </a:t>
            </a:r>
            <a:r>
              <a:rPr lang="el-GR" sz="2400" kern="0" dirty="0" err="1">
                <a:solidFill>
                  <a:srgbClr val="000000"/>
                </a:solidFill>
                <a:latin typeface="Tahoma"/>
              </a:rPr>
              <a:t>Chatbot</a:t>
            </a:r>
            <a:endParaRPr lang="el-GR" sz="2400" kern="0" dirty="0">
              <a:solidFill>
                <a:srgbClr val="000000"/>
              </a:solidFill>
              <a:latin typeface="Tahoma"/>
            </a:endParaRPr>
          </a:p>
          <a:p>
            <a:pPr marL="0" lvl="0" indent="0" hangingPunct="1">
              <a:lnSpc>
                <a:spcPct val="80000"/>
              </a:lnSpc>
              <a:buClr>
                <a:srgbClr val="3333CC"/>
              </a:buClr>
              <a:buNone/>
              <a:defRPr/>
            </a:pPr>
            <a:r>
              <a:rPr lang="el-GR" sz="2400" kern="0" dirty="0">
                <a:solidFill>
                  <a:srgbClr val="000000"/>
                </a:solidFill>
                <a:latin typeface="Tahoma"/>
              </a:rPr>
              <a:t>    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Συγγραφείς: </a:t>
            </a:r>
            <a:r>
              <a:rPr kumimoji="0" 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Θραμπουλίδης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Κλεάνθης Χ.</a:t>
            </a:r>
          </a:p>
          <a:p>
            <a:pPr marL="0" lvl="0" indent="0" hangingPunct="1">
              <a:lnSpc>
                <a:spcPct val="80000"/>
              </a:lnSpc>
              <a:buClr>
                <a:srgbClr val="3333CC"/>
              </a:buClr>
              <a:buNone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ISBN</a:t>
            </a:r>
            <a:r>
              <a:rPr lang="el-GR" sz="1600" kern="0" dirty="0">
                <a:solidFill>
                  <a:srgbClr val="000000"/>
                </a:solidFill>
                <a:latin typeface="Tahoma"/>
              </a:rPr>
              <a:t>: 978-618-221-166-3 </a:t>
            </a:r>
          </a:p>
          <a:p>
            <a:pPr marL="0" lvl="0" indent="0" hangingPunct="1">
              <a:lnSpc>
                <a:spcPct val="80000"/>
              </a:lnSpc>
              <a:buClr>
                <a:srgbClr val="3333CC"/>
              </a:buClr>
              <a:buNone/>
              <a:defRPr/>
            </a:pPr>
            <a:r>
              <a:rPr kumimoji="0" lang="el-GR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Διαθέτης (Εκδότης): ΕΚΔΟΣΕΙΣ Α. ΤΖΙΟΛΑ &amp; ΥΙΟΙ Α.Ε.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Η ΓΛΩΣΣΑ ΠΡΟΓΡΑΜΜΑΤΙΣΜΟΥ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Συγγραφείς: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BRIAN W. KERNIGHAN, DENNIS M. RITCHIE</a:t>
            </a: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ISBN: 978-960-461-132-4</a:t>
            </a: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Διαθέτης (Εκδότης): ΕΚΔΟΣΕΙΣ ΚΛΕΙΔΑΡΙΘΜΟΣ ΕΠΕ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 Προγραμματισμός</a:t>
            </a: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Συγγραφείς: </a:t>
            </a:r>
            <a:r>
              <a:rPr kumimoji="0" 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Abbey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Deitel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Harvey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Deitel</a:t>
            </a:r>
            <a:endParaRPr kumimoji="0" lang="el-G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ISBN: 978-960-512-6414</a:t>
            </a: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Διαθέτης (Εκδότης): Χ. ΓΚΙΟΥΡΔΑ &amp; ΣΙΑ ΕΕ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endParaRPr kumimoji="0" lang="el-G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517B8-9C01-960A-D956-3E0C962BB140}"/>
              </a:ext>
            </a:extLst>
          </p:cNvPr>
          <p:cNvSpPr txBox="1"/>
          <p:nvPr/>
        </p:nvSpPr>
        <p:spPr>
          <a:xfrm rot="20169050">
            <a:off x="6815532" y="1843165"/>
            <a:ext cx="3071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400" b="1" dirty="0">
                <a:solidFill>
                  <a:srgbClr val="C00000"/>
                </a:solidFill>
                <a:latin typeface="Tahoma" panose="020B0604030504040204" pitchFamily="34" charset="0"/>
              </a:rPr>
              <a:t>Βασικό Σύγγραμμα</a:t>
            </a:r>
            <a:endParaRPr lang="en-GB" sz="24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83818E-5B88-F583-FA8D-AAECFEE6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840" y="2135292"/>
            <a:ext cx="272453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1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B314A4-04DA-DBC4-4610-9B6D3A85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D94F139-D5F8-789C-B1CB-D7357105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απορία σας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985211-21BE-476A-51CB-BCA34E47531F}"/>
              </a:ext>
            </a:extLst>
          </p:cNvPr>
          <p:cNvGrpSpPr/>
          <p:nvPr/>
        </p:nvGrpSpPr>
        <p:grpSpPr>
          <a:xfrm>
            <a:off x="-1" y="6559908"/>
            <a:ext cx="12192001" cy="327219"/>
            <a:chOff x="-1" y="6559908"/>
            <a:chExt cx="12192001" cy="327219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4AD61B9A-8692-47A0-A153-09BFA66A797B}"/>
                </a:ext>
              </a:extLst>
            </p:cNvPr>
            <p:cNvSpPr/>
            <p:nvPr/>
          </p:nvSpPr>
          <p:spPr>
            <a:xfrm>
              <a:off x="0" y="6559908"/>
              <a:ext cx="12192000" cy="277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Θέση υποσέλιδου 4">
              <a:extLst>
                <a:ext uri="{FF2B5EF4-FFF2-40B4-BE49-F238E27FC236}">
                  <a16:creationId xmlns:a16="http://schemas.microsoft.com/office/drawing/2014/main" id="{5A8BD415-2C56-05F8-DD80-909078A5C62D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6599394"/>
              <a:ext cx="3840633" cy="237514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© 202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5</a:t>
              </a:r>
              <a:r>
                <a:rPr lang="en-US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 </a:t>
              </a:r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Μια Εισαγωγή στην Τέχνη του Προγραμματισμού</a:t>
              </a:r>
            </a:p>
          </p:txBody>
        </p:sp>
        <p:sp>
          <p:nvSpPr>
            <p:cNvPr id="16" name="Θέση υποσέλιδου 4">
              <a:extLst>
                <a:ext uri="{FF2B5EF4-FFF2-40B4-BE49-F238E27FC236}">
                  <a16:creationId xmlns:a16="http://schemas.microsoft.com/office/drawing/2014/main" id="{94F904FA-1A68-0CF0-7A56-56192FC44CA4}"/>
                </a:ext>
              </a:extLst>
            </p:cNvPr>
            <p:cNvSpPr txBox="1">
              <a:spLocks/>
            </p:cNvSpPr>
            <p:nvPr/>
          </p:nvSpPr>
          <p:spPr>
            <a:xfrm>
              <a:off x="3719657" y="6610127"/>
              <a:ext cx="4631713" cy="277000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l-GR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l-GR" sz="1100" dirty="0">
                  <a:solidFill>
                    <a:schemeClr val="tx1"/>
                  </a:solidFill>
                  <a:latin typeface="Bahnschrift" panose="020B0502040204020203" pitchFamily="34" charset="0"/>
                </a:rPr>
                <a:t>Εισαγωγή στον Προγραμματισμό</a:t>
              </a:r>
              <a:endParaRPr lang="en-US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  <a:p>
              <a:endParaRPr lang="el-GR" sz="1100" dirty="0">
                <a:solidFill>
                  <a:schemeClr val="tx1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4B2079-5E32-7461-6A6D-28CF0788C58C}"/>
                </a:ext>
              </a:extLst>
            </p:cNvPr>
            <p:cNvSpPr txBox="1"/>
            <p:nvPr/>
          </p:nvSpPr>
          <p:spPr>
            <a:xfrm>
              <a:off x="10269061" y="6559909"/>
              <a:ext cx="18864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l-GR" sz="1200" dirty="0">
                  <a:latin typeface="Bahnschrift Light" panose="020B0502040204020203" pitchFamily="34" charset="0"/>
                  <a:cs typeface="Arial" pitchFamily="34" charset="0"/>
                </a:rPr>
                <a:t>Διαφάνεια </a:t>
              </a:r>
              <a:fld id="{7C15C5B5-03C6-48D8-B20F-65D93A6CF09E}" type="slidenum">
                <a:rPr lang="en-US" sz="1200" smtClean="0">
                  <a:latin typeface="Bahnschrift Light" panose="020B0502040204020203" pitchFamily="34" charset="0"/>
                  <a:cs typeface="Arial" pitchFamily="34" charset="0"/>
                </a:rPr>
                <a:pPr algn="r"/>
                <a:t>37</a:t>
              </a:fld>
              <a:endParaRPr lang="en-US" sz="1200" dirty="0">
                <a:latin typeface="Bahnschrift Light" panose="020B0502040204020203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5542</TotalTime>
  <Words>2681</Words>
  <Application>Microsoft Office PowerPoint</Application>
  <PresentationFormat>Widescreen</PresentationFormat>
  <Paragraphs>399</Paragraphs>
  <Slides>37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Wingdings</vt:lpstr>
      <vt:lpstr>Προσαρμοσμένη σχεδίαση</vt:lpstr>
      <vt:lpstr>Θέμα του Office</vt:lpstr>
      <vt:lpstr>PowerPoint Presentation</vt:lpstr>
      <vt:lpstr>Καλώς ήλθατε …</vt:lpstr>
      <vt:lpstr> Γιατί ήμαστε εδώ; </vt:lpstr>
      <vt:lpstr>Ποιος είμαι</vt:lpstr>
      <vt:lpstr>Ποιος είμαι - Λίγα από το παρελθόν</vt:lpstr>
      <vt:lpstr>Οργάνωση Διάλεξης</vt:lpstr>
      <vt:lpstr>Εισαγωγή στον Προγραμματισμό</vt:lpstr>
      <vt:lpstr>Προγραμματισμός</vt:lpstr>
      <vt:lpstr>Παράδειγμα Προγραμματισμού</vt:lpstr>
      <vt:lpstr>Ανάθεση έργου στη Μηχανή</vt:lpstr>
      <vt:lpstr>Οργάνωση Διάλεξης</vt:lpstr>
      <vt:lpstr>Αντικείμενο του Μαθήματος</vt:lpstr>
      <vt:lpstr>Everybody should learn how …</vt:lpstr>
      <vt:lpstr>Coding is Fundamental</vt:lpstr>
      <vt:lpstr>Απαραίτητο για σειρά μαθημάτων</vt:lpstr>
      <vt:lpstr>Έξι λόγοι για να μάθεις Alex προγραμματισμό</vt:lpstr>
      <vt:lpstr>Γιατί Λογισμικό (Software);</vt:lpstr>
      <vt:lpstr>If your background doesn't demonstrate …</vt:lpstr>
      <vt:lpstr>Bosch seeks to hire thousands of engineers </vt:lpstr>
      <vt:lpstr>Οργάνωση Διάλεξης</vt:lpstr>
      <vt:lpstr>H απορία σας</vt:lpstr>
      <vt:lpstr>Education is not …</vt:lpstr>
      <vt:lpstr>Στόχος Μαθήματος</vt:lpstr>
      <vt:lpstr>Στόχος η εκμάθηση μιας γλώσσας προγραμματισμού?</vt:lpstr>
      <vt:lpstr>Programming Languages Classification</vt:lpstr>
      <vt:lpstr>Έξι λόγοι για να χρησιμοποιήσεις Alex την C για να μάθεις προγραμματισμό</vt:lpstr>
      <vt:lpstr>TIOBE Index : C is back in the number one spot</vt:lpstr>
      <vt:lpstr>Οργάνωση Μαθήματος</vt:lpstr>
      <vt:lpstr>H σημασία του Εργαστηρίου</vt:lpstr>
      <vt:lpstr>Πρόγραμμα Εργαστηρίου</vt:lpstr>
      <vt:lpstr>Ιστότοπος Μαθήματος - eclass</vt:lpstr>
      <vt:lpstr>Επιδιωκόμενα μαθησιακά αποτελέσματα </vt:lpstr>
      <vt:lpstr>Δεξιότητες</vt:lpstr>
      <vt:lpstr>Δεξιότητες</vt:lpstr>
      <vt:lpstr>Στόχος Μαθήματος </vt:lpstr>
      <vt:lpstr>Συγγράμματα</vt:lpstr>
      <vt:lpstr>H απορία σας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OOP-Introduction</dc:title>
  <dc:creator>Kleanthis Thramboulidis</dc:creator>
  <cp:lastModifiedBy>Kleanthis Thramboulidis</cp:lastModifiedBy>
  <cp:revision>52</cp:revision>
  <cp:lastPrinted>2023-02-24T15:57:04Z</cp:lastPrinted>
  <dcterms:created xsi:type="dcterms:W3CDTF">2020-03-13T12:21:17Z</dcterms:created>
  <dcterms:modified xsi:type="dcterms:W3CDTF">2025-10-14T19:24:47Z</dcterms:modified>
</cp:coreProperties>
</file>