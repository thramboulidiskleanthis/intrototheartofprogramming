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37"/>
  </p:notesMasterIdLst>
  <p:sldIdLst>
    <p:sldId id="262" r:id="rId3"/>
    <p:sldId id="818" r:id="rId4"/>
    <p:sldId id="961" r:id="rId5"/>
    <p:sldId id="983" r:id="rId6"/>
    <p:sldId id="822" r:id="rId7"/>
    <p:sldId id="962" r:id="rId8"/>
    <p:sldId id="984" r:id="rId9"/>
    <p:sldId id="985" r:id="rId10"/>
    <p:sldId id="986" r:id="rId11"/>
    <p:sldId id="987" r:id="rId12"/>
    <p:sldId id="988" r:id="rId13"/>
    <p:sldId id="989" r:id="rId14"/>
    <p:sldId id="990" r:id="rId15"/>
    <p:sldId id="991" r:id="rId16"/>
    <p:sldId id="992" r:id="rId17"/>
    <p:sldId id="993" r:id="rId18"/>
    <p:sldId id="980" r:id="rId19"/>
    <p:sldId id="1010" r:id="rId20"/>
    <p:sldId id="995" r:id="rId21"/>
    <p:sldId id="996" r:id="rId22"/>
    <p:sldId id="994" r:id="rId23"/>
    <p:sldId id="997" r:id="rId24"/>
    <p:sldId id="1000" r:id="rId25"/>
    <p:sldId id="998" r:id="rId26"/>
    <p:sldId id="1001" r:id="rId27"/>
    <p:sldId id="1002" r:id="rId28"/>
    <p:sldId id="1003" r:id="rId29"/>
    <p:sldId id="999" r:id="rId30"/>
    <p:sldId id="1004" r:id="rId31"/>
    <p:sldId id="1005" r:id="rId32"/>
    <p:sldId id="1006" r:id="rId33"/>
    <p:sldId id="1007" r:id="rId34"/>
    <p:sldId id="1008" r:id="rId35"/>
    <p:sldId id="1009" r:id="rId3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58" autoAdjust="0"/>
    <p:restoredTop sz="93969" autoAdjust="0"/>
  </p:normalViewPr>
  <p:slideViewPr>
    <p:cSldViewPr snapToGrid="0">
      <p:cViewPr varScale="1">
        <p:scale>
          <a:sx n="67" d="100"/>
          <a:sy n="67" d="100"/>
        </p:scale>
        <p:origin x="474"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14/10/2025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E02B-7508-585E-4F49-009EAA438C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5B95EB3-1D7B-031E-2AA8-257488295E8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DB813BF-C23F-3E4D-900A-75A69D3778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DD72C6-8023-8803-518A-C93D5F36A914}"/>
              </a:ext>
            </a:extLst>
          </p:cNvPr>
          <p:cNvSpPr>
            <a:spLocks noGrp="1"/>
          </p:cNvSpPr>
          <p:nvPr>
            <p:ph type="sldNum" sz="quarter" idx="5"/>
          </p:nvPr>
        </p:nvSpPr>
        <p:spPr/>
        <p:txBody>
          <a:bodyPr/>
          <a:lstStyle/>
          <a:p>
            <a:fld id="{C9D89646-4F35-49C2-BD28-89287C170EC3}" type="slidenum">
              <a:rPr lang="el-GR" smtClean="0"/>
              <a:t>2</a:t>
            </a:fld>
            <a:endParaRPr lang="el-GR"/>
          </a:p>
        </p:txBody>
      </p:sp>
    </p:spTree>
    <p:extLst>
      <p:ext uri="{BB962C8B-B14F-4D97-AF65-F5344CB8AC3E}">
        <p14:creationId xmlns:p14="http://schemas.microsoft.com/office/powerpoint/2010/main" val="2012106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23FB9-0F1D-17DF-38DF-5C715E0EA10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03A5525-E677-3845-E696-44D032E4127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5EE96D7-F737-E1AE-DF50-046CCCF70BE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3DAC3CD-2900-ACF8-296C-64FC817027DF}"/>
              </a:ext>
            </a:extLst>
          </p:cNvPr>
          <p:cNvSpPr>
            <a:spLocks noGrp="1"/>
          </p:cNvSpPr>
          <p:nvPr>
            <p:ph type="sldNum" sz="quarter" idx="5"/>
          </p:nvPr>
        </p:nvSpPr>
        <p:spPr/>
        <p:txBody>
          <a:bodyPr/>
          <a:lstStyle/>
          <a:p>
            <a:fld id="{C9D89646-4F35-49C2-BD28-89287C170EC3}" type="slidenum">
              <a:rPr lang="el-GR" smtClean="0"/>
              <a:t>3</a:t>
            </a:fld>
            <a:endParaRPr lang="el-GR"/>
          </a:p>
        </p:txBody>
      </p:sp>
    </p:spTree>
    <p:extLst>
      <p:ext uri="{BB962C8B-B14F-4D97-AF65-F5344CB8AC3E}">
        <p14:creationId xmlns:p14="http://schemas.microsoft.com/office/powerpoint/2010/main" val="1953050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C587-13AD-0AC3-F832-2B41FDA71FC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9C51617-DBCB-002E-028B-D92668ACA27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A7D6180-706D-9B7B-F2F9-F0AF2D5F263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7FB4202-9F8F-3E2F-0448-41544215AC25}"/>
              </a:ext>
            </a:extLst>
          </p:cNvPr>
          <p:cNvSpPr>
            <a:spLocks noGrp="1"/>
          </p:cNvSpPr>
          <p:nvPr>
            <p:ph type="sldNum" sz="quarter" idx="5"/>
          </p:nvPr>
        </p:nvSpPr>
        <p:spPr/>
        <p:txBody>
          <a:bodyPr/>
          <a:lstStyle/>
          <a:p>
            <a:fld id="{C9D89646-4F35-49C2-BD28-89287C170EC3}" type="slidenum">
              <a:rPr lang="el-GR" smtClean="0"/>
              <a:t>4</a:t>
            </a:fld>
            <a:endParaRPr lang="el-GR"/>
          </a:p>
        </p:txBody>
      </p:sp>
    </p:spTree>
    <p:extLst>
      <p:ext uri="{BB962C8B-B14F-4D97-AF65-F5344CB8AC3E}">
        <p14:creationId xmlns:p14="http://schemas.microsoft.com/office/powerpoint/2010/main" val="3698483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CDE23-4703-0D09-F7FD-B53EBCD35F5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4EA007E-0955-EB39-593C-63135B7BC6A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035F853-1C3C-9864-FAB8-3F5825FBFD6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EDBCB8F-1A44-2FD8-5F19-EF2AA7A25148}"/>
              </a:ext>
            </a:extLst>
          </p:cNvPr>
          <p:cNvSpPr>
            <a:spLocks noGrp="1"/>
          </p:cNvSpPr>
          <p:nvPr>
            <p:ph type="sldNum" sz="quarter" idx="5"/>
          </p:nvPr>
        </p:nvSpPr>
        <p:spPr/>
        <p:txBody>
          <a:bodyPr/>
          <a:lstStyle/>
          <a:p>
            <a:fld id="{C9D89646-4F35-49C2-BD28-89287C170EC3}" type="slidenum">
              <a:rPr lang="el-GR" smtClean="0"/>
              <a:t>5</a:t>
            </a:fld>
            <a:endParaRPr lang="el-GR"/>
          </a:p>
        </p:txBody>
      </p:sp>
    </p:spTree>
    <p:extLst>
      <p:ext uri="{BB962C8B-B14F-4D97-AF65-F5344CB8AC3E}">
        <p14:creationId xmlns:p14="http://schemas.microsoft.com/office/powerpoint/2010/main" val="2127403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73DB-6960-8FA7-2281-C110328A361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B71F5A4-4111-F82C-13AD-4FBEC8890A2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1D8A520-9EC1-D8E1-1B04-59C8ED95CEB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FA8C731-9DBC-B29A-3F93-7F48EE323238}"/>
              </a:ext>
            </a:extLst>
          </p:cNvPr>
          <p:cNvSpPr>
            <a:spLocks noGrp="1"/>
          </p:cNvSpPr>
          <p:nvPr>
            <p:ph type="sldNum" sz="quarter" idx="5"/>
          </p:nvPr>
        </p:nvSpPr>
        <p:spPr/>
        <p:txBody>
          <a:bodyPr/>
          <a:lstStyle/>
          <a:p>
            <a:fld id="{C9D89646-4F35-49C2-BD28-89287C170EC3}" type="slidenum">
              <a:rPr lang="el-GR" smtClean="0"/>
              <a:t>6</a:t>
            </a:fld>
            <a:endParaRPr lang="el-GR"/>
          </a:p>
        </p:txBody>
      </p:sp>
    </p:spTree>
    <p:extLst>
      <p:ext uri="{BB962C8B-B14F-4D97-AF65-F5344CB8AC3E}">
        <p14:creationId xmlns:p14="http://schemas.microsoft.com/office/powerpoint/2010/main" val="3753808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59390-0F6E-7408-E86A-66C2E05BB5A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CC56A58-92EB-9D78-6DC1-F50FB4F6457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0C4FA67-201C-C3A7-9913-B575EF9CDDD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96FBE5E-867E-EE01-8F8B-B38A76CA155B}"/>
              </a:ext>
            </a:extLst>
          </p:cNvPr>
          <p:cNvSpPr>
            <a:spLocks noGrp="1"/>
          </p:cNvSpPr>
          <p:nvPr>
            <p:ph type="sldNum" sz="quarter" idx="5"/>
          </p:nvPr>
        </p:nvSpPr>
        <p:spPr/>
        <p:txBody>
          <a:bodyPr/>
          <a:lstStyle/>
          <a:p>
            <a:fld id="{C9D89646-4F35-49C2-BD28-89287C170EC3}" type="slidenum">
              <a:rPr lang="el-GR" smtClean="0"/>
              <a:t>7</a:t>
            </a:fld>
            <a:endParaRPr lang="el-GR"/>
          </a:p>
        </p:txBody>
      </p:sp>
    </p:spTree>
    <p:extLst>
      <p:ext uri="{BB962C8B-B14F-4D97-AF65-F5344CB8AC3E}">
        <p14:creationId xmlns:p14="http://schemas.microsoft.com/office/powerpoint/2010/main" val="388474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06F2E-7E72-AE21-814C-C13AA533C88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D5D701D-0F74-D68B-EDD2-2AFF9ADAF7E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15BAAD2-5A93-CEA7-C0DF-CA86466CFEB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AC66F3D-D397-B715-B302-2B2737ED867B}"/>
              </a:ext>
            </a:extLst>
          </p:cNvPr>
          <p:cNvSpPr>
            <a:spLocks noGrp="1"/>
          </p:cNvSpPr>
          <p:nvPr>
            <p:ph type="sldNum" sz="quarter" idx="5"/>
          </p:nvPr>
        </p:nvSpPr>
        <p:spPr/>
        <p:txBody>
          <a:bodyPr/>
          <a:lstStyle/>
          <a:p>
            <a:fld id="{C9D89646-4F35-49C2-BD28-89287C170EC3}" type="slidenum">
              <a:rPr lang="el-GR" smtClean="0"/>
              <a:t>8</a:t>
            </a:fld>
            <a:endParaRPr lang="el-GR"/>
          </a:p>
        </p:txBody>
      </p:sp>
    </p:spTree>
    <p:extLst>
      <p:ext uri="{BB962C8B-B14F-4D97-AF65-F5344CB8AC3E}">
        <p14:creationId xmlns:p14="http://schemas.microsoft.com/office/powerpoint/2010/main" val="4214783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F71C-8F1A-4789-36B5-A0375990E3A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6E1132A-5022-DB34-E0C8-08451D70405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CC4A6EC-7278-876A-CF56-085993BA301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CBD4BF3-512E-85C4-8B09-8925EEB71566}"/>
              </a:ext>
            </a:extLst>
          </p:cNvPr>
          <p:cNvSpPr>
            <a:spLocks noGrp="1"/>
          </p:cNvSpPr>
          <p:nvPr>
            <p:ph type="sldNum" sz="quarter" idx="5"/>
          </p:nvPr>
        </p:nvSpPr>
        <p:spPr/>
        <p:txBody>
          <a:bodyPr/>
          <a:lstStyle/>
          <a:p>
            <a:fld id="{C9D89646-4F35-49C2-BD28-89287C170EC3}" type="slidenum">
              <a:rPr lang="el-GR" smtClean="0"/>
              <a:t>9</a:t>
            </a:fld>
            <a:endParaRPr lang="el-GR"/>
          </a:p>
        </p:txBody>
      </p:sp>
    </p:spTree>
    <p:extLst>
      <p:ext uri="{BB962C8B-B14F-4D97-AF65-F5344CB8AC3E}">
        <p14:creationId xmlns:p14="http://schemas.microsoft.com/office/powerpoint/2010/main" val="2657158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2A99-0477-DC68-0013-019F59BA8FE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62CD8B5-E5D9-ABE5-60EE-D0DD4BB459F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4132AF5-D3D4-30E3-6C90-1590EC1C9AF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F43DB13-7E08-3933-94C6-11D45D1E3C13}"/>
              </a:ext>
            </a:extLst>
          </p:cNvPr>
          <p:cNvSpPr>
            <a:spLocks noGrp="1"/>
          </p:cNvSpPr>
          <p:nvPr>
            <p:ph type="sldNum" sz="quarter" idx="5"/>
          </p:nvPr>
        </p:nvSpPr>
        <p:spPr/>
        <p:txBody>
          <a:bodyPr/>
          <a:lstStyle/>
          <a:p>
            <a:fld id="{C9D89646-4F35-49C2-BD28-89287C170EC3}" type="slidenum">
              <a:rPr lang="el-GR" smtClean="0"/>
              <a:t>10</a:t>
            </a:fld>
            <a:endParaRPr lang="el-GR"/>
          </a:p>
        </p:txBody>
      </p:sp>
    </p:spTree>
    <p:extLst>
      <p:ext uri="{BB962C8B-B14F-4D97-AF65-F5344CB8AC3E}">
        <p14:creationId xmlns:p14="http://schemas.microsoft.com/office/powerpoint/2010/main" val="716624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6F3B0-4FB4-49E8-2771-84D45A11CF0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05925CB-F583-64AF-7D76-CF6C09A78D8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4D93CAB-8419-227C-719B-BC39FAEA13E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AEBED15-D257-FE3E-3A62-C2F3F950A14B}"/>
              </a:ext>
            </a:extLst>
          </p:cNvPr>
          <p:cNvSpPr>
            <a:spLocks noGrp="1"/>
          </p:cNvSpPr>
          <p:nvPr>
            <p:ph type="sldNum" sz="quarter" idx="5"/>
          </p:nvPr>
        </p:nvSpPr>
        <p:spPr/>
        <p:txBody>
          <a:bodyPr/>
          <a:lstStyle/>
          <a:p>
            <a:fld id="{C9D89646-4F35-49C2-BD28-89287C170EC3}" type="slidenum">
              <a:rPr lang="el-GR" smtClean="0"/>
              <a:t>11</a:t>
            </a:fld>
            <a:endParaRPr lang="el-GR"/>
          </a:p>
        </p:txBody>
      </p:sp>
    </p:spTree>
    <p:extLst>
      <p:ext uri="{BB962C8B-B14F-4D97-AF65-F5344CB8AC3E}">
        <p14:creationId xmlns:p14="http://schemas.microsoft.com/office/powerpoint/2010/main" val="3695628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992C-0098-F003-0716-F040EB40A98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2BCC089-23DB-B977-3A23-712B5D28B39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F5B6B68-4679-2FAC-EC0A-49D16D76490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53B4A52-84B9-5BCF-67B3-CCE432689F66}"/>
              </a:ext>
            </a:extLst>
          </p:cNvPr>
          <p:cNvSpPr>
            <a:spLocks noGrp="1"/>
          </p:cNvSpPr>
          <p:nvPr>
            <p:ph type="sldNum" sz="quarter" idx="5"/>
          </p:nvPr>
        </p:nvSpPr>
        <p:spPr/>
        <p:txBody>
          <a:bodyPr/>
          <a:lstStyle/>
          <a:p>
            <a:fld id="{C9D89646-4F35-49C2-BD28-89287C170EC3}" type="slidenum">
              <a:rPr lang="el-GR" smtClean="0"/>
              <a:t>12</a:t>
            </a:fld>
            <a:endParaRPr lang="el-GR"/>
          </a:p>
        </p:txBody>
      </p:sp>
    </p:spTree>
    <p:extLst>
      <p:ext uri="{BB962C8B-B14F-4D97-AF65-F5344CB8AC3E}">
        <p14:creationId xmlns:p14="http://schemas.microsoft.com/office/powerpoint/2010/main" val="3473945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D201A-2546-74E7-6D71-302C85BDD3C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DD232ED-8996-C5D5-6D01-779A4B981F18}"/>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E202471-4C74-9AAF-4796-BDC7BAB250C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14C2B53-4FDF-BA0B-D18D-371073243873}"/>
              </a:ext>
            </a:extLst>
          </p:cNvPr>
          <p:cNvSpPr>
            <a:spLocks noGrp="1"/>
          </p:cNvSpPr>
          <p:nvPr>
            <p:ph type="sldNum" sz="quarter" idx="5"/>
          </p:nvPr>
        </p:nvSpPr>
        <p:spPr/>
        <p:txBody>
          <a:bodyPr/>
          <a:lstStyle/>
          <a:p>
            <a:fld id="{C9D89646-4F35-49C2-BD28-89287C170EC3}" type="slidenum">
              <a:rPr lang="el-GR" smtClean="0"/>
              <a:t>13</a:t>
            </a:fld>
            <a:endParaRPr lang="el-GR"/>
          </a:p>
        </p:txBody>
      </p:sp>
    </p:spTree>
    <p:extLst>
      <p:ext uri="{BB962C8B-B14F-4D97-AF65-F5344CB8AC3E}">
        <p14:creationId xmlns:p14="http://schemas.microsoft.com/office/powerpoint/2010/main" val="2597711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0BF6-652F-B4E4-8306-FD75749D79D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C5504C8-937F-4063-8DBE-0F971112153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EC33E5F-7C3F-5509-3BA8-42CF2C0D25B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BB1DDEB-745C-AA68-2790-A9302F13748B}"/>
              </a:ext>
            </a:extLst>
          </p:cNvPr>
          <p:cNvSpPr>
            <a:spLocks noGrp="1"/>
          </p:cNvSpPr>
          <p:nvPr>
            <p:ph type="sldNum" sz="quarter" idx="5"/>
          </p:nvPr>
        </p:nvSpPr>
        <p:spPr/>
        <p:txBody>
          <a:bodyPr/>
          <a:lstStyle/>
          <a:p>
            <a:fld id="{C9D89646-4F35-49C2-BD28-89287C170EC3}" type="slidenum">
              <a:rPr lang="el-GR" smtClean="0"/>
              <a:t>14</a:t>
            </a:fld>
            <a:endParaRPr lang="el-GR"/>
          </a:p>
        </p:txBody>
      </p:sp>
    </p:spTree>
    <p:extLst>
      <p:ext uri="{BB962C8B-B14F-4D97-AF65-F5344CB8AC3E}">
        <p14:creationId xmlns:p14="http://schemas.microsoft.com/office/powerpoint/2010/main" val="1337628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568AC-F9FF-AF64-33B8-E13D4144BD2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E36FF6F-B12E-ABF7-8FCB-919CED5E3AD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61183EC-144F-B991-6976-AA3B3C12E33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C38C335-A049-5154-EEF8-C2C1B36FD18E}"/>
              </a:ext>
            </a:extLst>
          </p:cNvPr>
          <p:cNvSpPr>
            <a:spLocks noGrp="1"/>
          </p:cNvSpPr>
          <p:nvPr>
            <p:ph type="sldNum" sz="quarter" idx="5"/>
          </p:nvPr>
        </p:nvSpPr>
        <p:spPr/>
        <p:txBody>
          <a:bodyPr/>
          <a:lstStyle/>
          <a:p>
            <a:fld id="{C9D89646-4F35-49C2-BD28-89287C170EC3}" type="slidenum">
              <a:rPr lang="el-GR" smtClean="0"/>
              <a:t>15</a:t>
            </a:fld>
            <a:endParaRPr lang="el-GR"/>
          </a:p>
        </p:txBody>
      </p:sp>
    </p:spTree>
    <p:extLst>
      <p:ext uri="{BB962C8B-B14F-4D97-AF65-F5344CB8AC3E}">
        <p14:creationId xmlns:p14="http://schemas.microsoft.com/office/powerpoint/2010/main" val="3424327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F007-56F2-C963-FDB0-00DB36CF664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2BC3D89-7E1D-B9C2-4B07-6040D231D4E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3C2D86B-AE22-A41D-265C-677B26A4B28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4817946-FA2A-C9D4-CE17-A0B9B7E1E94E}"/>
              </a:ext>
            </a:extLst>
          </p:cNvPr>
          <p:cNvSpPr>
            <a:spLocks noGrp="1"/>
          </p:cNvSpPr>
          <p:nvPr>
            <p:ph type="sldNum" sz="quarter" idx="5"/>
          </p:nvPr>
        </p:nvSpPr>
        <p:spPr/>
        <p:txBody>
          <a:bodyPr/>
          <a:lstStyle/>
          <a:p>
            <a:fld id="{C9D89646-4F35-49C2-BD28-89287C170EC3}" type="slidenum">
              <a:rPr lang="el-GR" smtClean="0"/>
              <a:t>16</a:t>
            </a:fld>
            <a:endParaRPr lang="el-GR"/>
          </a:p>
        </p:txBody>
      </p:sp>
    </p:spTree>
    <p:extLst>
      <p:ext uri="{BB962C8B-B14F-4D97-AF65-F5344CB8AC3E}">
        <p14:creationId xmlns:p14="http://schemas.microsoft.com/office/powerpoint/2010/main" val="2306558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B0E9-EF18-DDE0-355B-6E5AB413E51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275D416-F1C7-4021-FDF5-AE7B922627B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AA72461-78DB-B8AA-72B6-6BCFF04555E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2127B51-9B87-AB16-B3AD-60F6FF1CECA9}"/>
              </a:ext>
            </a:extLst>
          </p:cNvPr>
          <p:cNvSpPr>
            <a:spLocks noGrp="1"/>
          </p:cNvSpPr>
          <p:nvPr>
            <p:ph type="sldNum" sz="quarter" idx="5"/>
          </p:nvPr>
        </p:nvSpPr>
        <p:spPr/>
        <p:txBody>
          <a:bodyPr/>
          <a:lstStyle/>
          <a:p>
            <a:fld id="{C9D89646-4F35-49C2-BD28-89287C170EC3}" type="slidenum">
              <a:rPr lang="el-GR" smtClean="0"/>
              <a:t>17</a:t>
            </a:fld>
            <a:endParaRPr lang="el-GR"/>
          </a:p>
        </p:txBody>
      </p:sp>
    </p:spTree>
    <p:extLst>
      <p:ext uri="{BB962C8B-B14F-4D97-AF65-F5344CB8AC3E}">
        <p14:creationId xmlns:p14="http://schemas.microsoft.com/office/powerpoint/2010/main" val="2106832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EBDB-92D8-32B9-11B4-9AA97152CA9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2C4BC9B-850E-0179-8A39-A9570F1673B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D009C51-2932-88AB-2566-72EAFCE755E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3D94B02-326F-C8D0-60E4-5C0AA7105C14}"/>
              </a:ext>
            </a:extLst>
          </p:cNvPr>
          <p:cNvSpPr>
            <a:spLocks noGrp="1"/>
          </p:cNvSpPr>
          <p:nvPr>
            <p:ph type="sldNum" sz="quarter" idx="5"/>
          </p:nvPr>
        </p:nvSpPr>
        <p:spPr/>
        <p:txBody>
          <a:bodyPr/>
          <a:lstStyle/>
          <a:p>
            <a:fld id="{C9D89646-4F35-49C2-BD28-89287C170EC3}" type="slidenum">
              <a:rPr lang="el-GR" smtClean="0"/>
              <a:t>18</a:t>
            </a:fld>
            <a:endParaRPr lang="el-GR"/>
          </a:p>
        </p:txBody>
      </p:sp>
    </p:spTree>
    <p:extLst>
      <p:ext uri="{BB962C8B-B14F-4D97-AF65-F5344CB8AC3E}">
        <p14:creationId xmlns:p14="http://schemas.microsoft.com/office/powerpoint/2010/main" val="1154619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FF15-9CC7-338F-680E-3C9FFC55B49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9670F3D-AB24-2562-ACF5-D0C7F73E13E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515D589-0781-2875-D828-2031F0E8DA2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004E697-CA96-7364-3D17-134C01907484}"/>
              </a:ext>
            </a:extLst>
          </p:cNvPr>
          <p:cNvSpPr>
            <a:spLocks noGrp="1"/>
          </p:cNvSpPr>
          <p:nvPr>
            <p:ph type="sldNum" sz="quarter" idx="5"/>
          </p:nvPr>
        </p:nvSpPr>
        <p:spPr/>
        <p:txBody>
          <a:bodyPr/>
          <a:lstStyle/>
          <a:p>
            <a:fld id="{C9D89646-4F35-49C2-BD28-89287C170EC3}" type="slidenum">
              <a:rPr lang="el-GR" smtClean="0"/>
              <a:t>19</a:t>
            </a:fld>
            <a:endParaRPr lang="el-GR"/>
          </a:p>
        </p:txBody>
      </p:sp>
    </p:spTree>
    <p:extLst>
      <p:ext uri="{BB962C8B-B14F-4D97-AF65-F5344CB8AC3E}">
        <p14:creationId xmlns:p14="http://schemas.microsoft.com/office/powerpoint/2010/main" val="1213992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6519-4790-86CE-199F-DAC7ED2D39D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5936EE5-F03E-D852-0C44-CBE55D5F2F7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3BDF1D8-9CF7-90D9-CF5B-1DA025A5F0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462EFE5-1246-F9F7-3854-F3D193F6ACC5}"/>
              </a:ext>
            </a:extLst>
          </p:cNvPr>
          <p:cNvSpPr>
            <a:spLocks noGrp="1"/>
          </p:cNvSpPr>
          <p:nvPr>
            <p:ph type="sldNum" sz="quarter" idx="5"/>
          </p:nvPr>
        </p:nvSpPr>
        <p:spPr/>
        <p:txBody>
          <a:bodyPr/>
          <a:lstStyle/>
          <a:p>
            <a:fld id="{C9D89646-4F35-49C2-BD28-89287C170EC3}" type="slidenum">
              <a:rPr lang="el-GR" smtClean="0"/>
              <a:t>20</a:t>
            </a:fld>
            <a:endParaRPr lang="el-GR"/>
          </a:p>
        </p:txBody>
      </p:sp>
    </p:spTree>
    <p:extLst>
      <p:ext uri="{BB962C8B-B14F-4D97-AF65-F5344CB8AC3E}">
        <p14:creationId xmlns:p14="http://schemas.microsoft.com/office/powerpoint/2010/main" val="620779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EC79D-C03E-848D-3C29-D2D5805ABFA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D609363-8425-979B-AF5A-4821658C5BD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96CA251-1538-9DF7-597E-E4198E43332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795F2B6-1AD0-717E-F3CB-529F3AF313CC}"/>
              </a:ext>
            </a:extLst>
          </p:cNvPr>
          <p:cNvSpPr>
            <a:spLocks noGrp="1"/>
          </p:cNvSpPr>
          <p:nvPr>
            <p:ph type="sldNum" sz="quarter" idx="5"/>
          </p:nvPr>
        </p:nvSpPr>
        <p:spPr/>
        <p:txBody>
          <a:bodyPr/>
          <a:lstStyle/>
          <a:p>
            <a:fld id="{C9D89646-4F35-49C2-BD28-89287C170EC3}" type="slidenum">
              <a:rPr lang="el-GR" smtClean="0"/>
              <a:t>21</a:t>
            </a:fld>
            <a:endParaRPr lang="el-GR"/>
          </a:p>
        </p:txBody>
      </p:sp>
    </p:spTree>
    <p:extLst>
      <p:ext uri="{BB962C8B-B14F-4D97-AF65-F5344CB8AC3E}">
        <p14:creationId xmlns:p14="http://schemas.microsoft.com/office/powerpoint/2010/main" val="4040615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FEB9-7E9B-BFF8-5FA7-45263E97EF6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BBE9ED8-C146-443D-2B33-B3D32AC144A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FD1F26A-F2E4-7418-E945-A62B940D5EBD}"/>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D30A462-1C17-5279-3FF2-1270F9E9B792}"/>
              </a:ext>
            </a:extLst>
          </p:cNvPr>
          <p:cNvSpPr>
            <a:spLocks noGrp="1"/>
          </p:cNvSpPr>
          <p:nvPr>
            <p:ph type="sldNum" sz="quarter" idx="5"/>
          </p:nvPr>
        </p:nvSpPr>
        <p:spPr/>
        <p:txBody>
          <a:bodyPr/>
          <a:lstStyle/>
          <a:p>
            <a:fld id="{C9D89646-4F35-49C2-BD28-89287C170EC3}" type="slidenum">
              <a:rPr lang="el-GR" smtClean="0"/>
              <a:t>22</a:t>
            </a:fld>
            <a:endParaRPr lang="el-GR"/>
          </a:p>
        </p:txBody>
      </p:sp>
    </p:spTree>
    <p:extLst>
      <p:ext uri="{BB962C8B-B14F-4D97-AF65-F5344CB8AC3E}">
        <p14:creationId xmlns:p14="http://schemas.microsoft.com/office/powerpoint/2010/main" val="4268819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E60FC-1BB0-3C5C-08BF-7CBB99FC99E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C055D9D-713F-819F-E6FC-6942A07E9FD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1AC57BF-7448-BAB0-E4A7-8AD98BDC6AE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9BA7379-A681-A064-4D74-64AD2FA33603}"/>
              </a:ext>
            </a:extLst>
          </p:cNvPr>
          <p:cNvSpPr>
            <a:spLocks noGrp="1"/>
          </p:cNvSpPr>
          <p:nvPr>
            <p:ph type="sldNum" sz="quarter" idx="5"/>
          </p:nvPr>
        </p:nvSpPr>
        <p:spPr/>
        <p:txBody>
          <a:bodyPr/>
          <a:lstStyle/>
          <a:p>
            <a:fld id="{C9D89646-4F35-49C2-BD28-89287C170EC3}" type="slidenum">
              <a:rPr lang="el-GR" smtClean="0"/>
              <a:t>23</a:t>
            </a:fld>
            <a:endParaRPr lang="el-GR"/>
          </a:p>
        </p:txBody>
      </p:sp>
    </p:spTree>
    <p:extLst>
      <p:ext uri="{BB962C8B-B14F-4D97-AF65-F5344CB8AC3E}">
        <p14:creationId xmlns:p14="http://schemas.microsoft.com/office/powerpoint/2010/main" val="27526837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0829A-0F9D-4E75-80D1-53E9CE148EE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D31B61C-F91B-791F-1C64-F0BE594CB55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EC2885F-6400-0522-10DD-DD98031D5A8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CB85534-2CF6-5176-C123-3E77F7ADC18C}"/>
              </a:ext>
            </a:extLst>
          </p:cNvPr>
          <p:cNvSpPr>
            <a:spLocks noGrp="1"/>
          </p:cNvSpPr>
          <p:nvPr>
            <p:ph type="sldNum" sz="quarter" idx="5"/>
          </p:nvPr>
        </p:nvSpPr>
        <p:spPr/>
        <p:txBody>
          <a:bodyPr/>
          <a:lstStyle/>
          <a:p>
            <a:fld id="{C9D89646-4F35-49C2-BD28-89287C170EC3}" type="slidenum">
              <a:rPr lang="el-GR" smtClean="0"/>
              <a:t>24</a:t>
            </a:fld>
            <a:endParaRPr lang="el-GR"/>
          </a:p>
        </p:txBody>
      </p:sp>
    </p:spTree>
    <p:extLst>
      <p:ext uri="{BB962C8B-B14F-4D97-AF65-F5344CB8AC3E}">
        <p14:creationId xmlns:p14="http://schemas.microsoft.com/office/powerpoint/2010/main" val="1149350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214E1-E4FC-BE8B-752E-86703BD492C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E470D8E-6191-F2A3-A21E-F95C844DBA2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B9AFB7C-CFA4-27AC-F790-1CA31DA6B5C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C19EA81-4A9B-789E-C0C3-202AEF11EE16}"/>
              </a:ext>
            </a:extLst>
          </p:cNvPr>
          <p:cNvSpPr>
            <a:spLocks noGrp="1"/>
          </p:cNvSpPr>
          <p:nvPr>
            <p:ph type="sldNum" sz="quarter" idx="5"/>
          </p:nvPr>
        </p:nvSpPr>
        <p:spPr/>
        <p:txBody>
          <a:bodyPr/>
          <a:lstStyle/>
          <a:p>
            <a:fld id="{C9D89646-4F35-49C2-BD28-89287C170EC3}" type="slidenum">
              <a:rPr lang="el-GR" smtClean="0"/>
              <a:t>25</a:t>
            </a:fld>
            <a:endParaRPr lang="el-GR"/>
          </a:p>
        </p:txBody>
      </p:sp>
    </p:spTree>
    <p:extLst>
      <p:ext uri="{BB962C8B-B14F-4D97-AF65-F5344CB8AC3E}">
        <p14:creationId xmlns:p14="http://schemas.microsoft.com/office/powerpoint/2010/main" val="883096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5E030-D7AB-EE2E-4A57-FB0933F7936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92ADB1C-5A02-E517-1C15-2FB0F14AE8E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3967010-B68F-0631-375B-6B9A11AF778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6A93F5-6307-5CAE-9D34-ABA4260FEA9A}"/>
              </a:ext>
            </a:extLst>
          </p:cNvPr>
          <p:cNvSpPr>
            <a:spLocks noGrp="1"/>
          </p:cNvSpPr>
          <p:nvPr>
            <p:ph type="sldNum" sz="quarter" idx="5"/>
          </p:nvPr>
        </p:nvSpPr>
        <p:spPr/>
        <p:txBody>
          <a:bodyPr/>
          <a:lstStyle/>
          <a:p>
            <a:fld id="{C9D89646-4F35-49C2-BD28-89287C170EC3}" type="slidenum">
              <a:rPr lang="el-GR" smtClean="0"/>
              <a:t>26</a:t>
            </a:fld>
            <a:endParaRPr lang="el-GR"/>
          </a:p>
        </p:txBody>
      </p:sp>
    </p:spTree>
    <p:extLst>
      <p:ext uri="{BB962C8B-B14F-4D97-AF65-F5344CB8AC3E}">
        <p14:creationId xmlns:p14="http://schemas.microsoft.com/office/powerpoint/2010/main" val="2379085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72C0E-BD72-913E-A14F-1C8A4C8827E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F630DB9-BA38-86DD-B11B-6389B0BAFBD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730989F-7E6D-BF9E-3A93-20313BDA54D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E88625B-7309-D562-9B8E-72BD67D5631B}"/>
              </a:ext>
            </a:extLst>
          </p:cNvPr>
          <p:cNvSpPr>
            <a:spLocks noGrp="1"/>
          </p:cNvSpPr>
          <p:nvPr>
            <p:ph type="sldNum" sz="quarter" idx="5"/>
          </p:nvPr>
        </p:nvSpPr>
        <p:spPr/>
        <p:txBody>
          <a:bodyPr/>
          <a:lstStyle/>
          <a:p>
            <a:fld id="{C9D89646-4F35-49C2-BD28-89287C170EC3}" type="slidenum">
              <a:rPr lang="el-GR" smtClean="0"/>
              <a:t>27</a:t>
            </a:fld>
            <a:endParaRPr lang="el-GR"/>
          </a:p>
        </p:txBody>
      </p:sp>
    </p:spTree>
    <p:extLst>
      <p:ext uri="{BB962C8B-B14F-4D97-AF65-F5344CB8AC3E}">
        <p14:creationId xmlns:p14="http://schemas.microsoft.com/office/powerpoint/2010/main" val="12340074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B5720-7763-BCB1-6348-370D640A753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7550F71-2CF4-1D03-2E6B-3B930C6FECC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8F0E524-F68D-3ADC-7C3F-517CB8396E3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6C683CF-3571-EC01-EFEE-4BA7F4EC5F53}"/>
              </a:ext>
            </a:extLst>
          </p:cNvPr>
          <p:cNvSpPr>
            <a:spLocks noGrp="1"/>
          </p:cNvSpPr>
          <p:nvPr>
            <p:ph type="sldNum" sz="quarter" idx="5"/>
          </p:nvPr>
        </p:nvSpPr>
        <p:spPr/>
        <p:txBody>
          <a:bodyPr/>
          <a:lstStyle/>
          <a:p>
            <a:fld id="{C9D89646-4F35-49C2-BD28-89287C170EC3}" type="slidenum">
              <a:rPr lang="el-GR" smtClean="0"/>
              <a:t>28</a:t>
            </a:fld>
            <a:endParaRPr lang="el-GR"/>
          </a:p>
        </p:txBody>
      </p:sp>
    </p:spTree>
    <p:extLst>
      <p:ext uri="{BB962C8B-B14F-4D97-AF65-F5344CB8AC3E}">
        <p14:creationId xmlns:p14="http://schemas.microsoft.com/office/powerpoint/2010/main" val="36660721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FCC65-81EE-9A41-A285-4BA769A5B25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580FF6C-8921-E558-31D3-D05BBD51298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4C4F32D-945E-0B90-6F75-6492007F7C7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780FDCB-7EBF-88B7-58A1-44C167F13D95}"/>
              </a:ext>
            </a:extLst>
          </p:cNvPr>
          <p:cNvSpPr>
            <a:spLocks noGrp="1"/>
          </p:cNvSpPr>
          <p:nvPr>
            <p:ph type="sldNum" sz="quarter" idx="5"/>
          </p:nvPr>
        </p:nvSpPr>
        <p:spPr/>
        <p:txBody>
          <a:bodyPr/>
          <a:lstStyle/>
          <a:p>
            <a:fld id="{C9D89646-4F35-49C2-BD28-89287C170EC3}" type="slidenum">
              <a:rPr lang="el-GR" smtClean="0"/>
              <a:t>29</a:t>
            </a:fld>
            <a:endParaRPr lang="el-GR"/>
          </a:p>
        </p:txBody>
      </p:sp>
    </p:spTree>
    <p:extLst>
      <p:ext uri="{BB962C8B-B14F-4D97-AF65-F5344CB8AC3E}">
        <p14:creationId xmlns:p14="http://schemas.microsoft.com/office/powerpoint/2010/main" val="27403399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C490D-7AAA-8F45-8C48-714DFFB271D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AD02A54-99E3-F7B5-D9C1-480F1EE19E3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8C658F6-45D5-5E8D-55DA-73BA1A2A0C1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1B7B9EE-DBEC-C5CD-D189-8DED84A7F326}"/>
              </a:ext>
            </a:extLst>
          </p:cNvPr>
          <p:cNvSpPr>
            <a:spLocks noGrp="1"/>
          </p:cNvSpPr>
          <p:nvPr>
            <p:ph type="sldNum" sz="quarter" idx="5"/>
          </p:nvPr>
        </p:nvSpPr>
        <p:spPr/>
        <p:txBody>
          <a:bodyPr/>
          <a:lstStyle/>
          <a:p>
            <a:fld id="{C9D89646-4F35-49C2-BD28-89287C170EC3}" type="slidenum">
              <a:rPr lang="el-GR" smtClean="0"/>
              <a:t>30</a:t>
            </a:fld>
            <a:endParaRPr lang="el-GR"/>
          </a:p>
        </p:txBody>
      </p:sp>
    </p:spTree>
    <p:extLst>
      <p:ext uri="{BB962C8B-B14F-4D97-AF65-F5344CB8AC3E}">
        <p14:creationId xmlns:p14="http://schemas.microsoft.com/office/powerpoint/2010/main" val="37652218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BE4C-A0A7-DBA0-04BB-6EBE998B9BF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BBFEE95-006B-93B7-4337-CC57B0DD10A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DF7E241-7A67-4DEF-E77E-8E6B825B803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EA9291C-9412-7900-7096-6AC6063C58E1}"/>
              </a:ext>
            </a:extLst>
          </p:cNvPr>
          <p:cNvSpPr>
            <a:spLocks noGrp="1"/>
          </p:cNvSpPr>
          <p:nvPr>
            <p:ph type="sldNum" sz="quarter" idx="5"/>
          </p:nvPr>
        </p:nvSpPr>
        <p:spPr/>
        <p:txBody>
          <a:bodyPr/>
          <a:lstStyle/>
          <a:p>
            <a:fld id="{C9D89646-4F35-49C2-BD28-89287C170EC3}" type="slidenum">
              <a:rPr lang="el-GR" smtClean="0"/>
              <a:t>31</a:t>
            </a:fld>
            <a:endParaRPr lang="el-GR"/>
          </a:p>
        </p:txBody>
      </p:sp>
    </p:spTree>
    <p:extLst>
      <p:ext uri="{BB962C8B-B14F-4D97-AF65-F5344CB8AC3E}">
        <p14:creationId xmlns:p14="http://schemas.microsoft.com/office/powerpoint/2010/main" val="33529087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C350-ABFC-66F8-D560-E3EBAB609BD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D4CEB58-B214-41C4-1797-7D3EB85B87C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9DF2B16-2FBA-3772-2494-84DA8F31954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53E313A-9704-CD3D-6EC6-30A961A336F5}"/>
              </a:ext>
            </a:extLst>
          </p:cNvPr>
          <p:cNvSpPr>
            <a:spLocks noGrp="1"/>
          </p:cNvSpPr>
          <p:nvPr>
            <p:ph type="sldNum" sz="quarter" idx="5"/>
          </p:nvPr>
        </p:nvSpPr>
        <p:spPr/>
        <p:txBody>
          <a:bodyPr/>
          <a:lstStyle/>
          <a:p>
            <a:fld id="{C9D89646-4F35-49C2-BD28-89287C170EC3}" type="slidenum">
              <a:rPr lang="el-GR" smtClean="0"/>
              <a:t>32</a:t>
            </a:fld>
            <a:endParaRPr lang="el-GR"/>
          </a:p>
        </p:txBody>
      </p:sp>
    </p:spTree>
    <p:extLst>
      <p:ext uri="{BB962C8B-B14F-4D97-AF65-F5344CB8AC3E}">
        <p14:creationId xmlns:p14="http://schemas.microsoft.com/office/powerpoint/2010/main" val="30563693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C332-A681-8941-6D82-46349F60D00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AA6B6E0-1BEA-AFBE-1A16-C3124D360BC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E803146-1DE8-3994-9534-78CD108212A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625CF5F-579F-FDFA-8AE6-D37916F53320}"/>
              </a:ext>
            </a:extLst>
          </p:cNvPr>
          <p:cNvSpPr>
            <a:spLocks noGrp="1"/>
          </p:cNvSpPr>
          <p:nvPr>
            <p:ph type="sldNum" sz="quarter" idx="5"/>
          </p:nvPr>
        </p:nvSpPr>
        <p:spPr/>
        <p:txBody>
          <a:bodyPr/>
          <a:lstStyle/>
          <a:p>
            <a:fld id="{C9D89646-4F35-49C2-BD28-89287C170EC3}" type="slidenum">
              <a:rPr lang="el-GR" smtClean="0"/>
              <a:t>33</a:t>
            </a:fld>
            <a:endParaRPr lang="el-GR"/>
          </a:p>
        </p:txBody>
      </p:sp>
    </p:spTree>
    <p:extLst>
      <p:ext uri="{BB962C8B-B14F-4D97-AF65-F5344CB8AC3E}">
        <p14:creationId xmlns:p14="http://schemas.microsoft.com/office/powerpoint/2010/main" val="3830047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257B-64AB-79CA-B584-7E0C52ABA57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B074FF7-8A3E-0B3D-0304-9D1259BA7F0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8600365-A5D5-7ACC-174D-702B2DA2929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DE28D6F-4CFC-531F-A0F5-C730A0615744}"/>
              </a:ext>
            </a:extLst>
          </p:cNvPr>
          <p:cNvSpPr>
            <a:spLocks noGrp="1"/>
          </p:cNvSpPr>
          <p:nvPr>
            <p:ph type="sldNum" sz="quarter" idx="5"/>
          </p:nvPr>
        </p:nvSpPr>
        <p:spPr/>
        <p:txBody>
          <a:bodyPr/>
          <a:lstStyle/>
          <a:p>
            <a:fld id="{C9D89646-4F35-49C2-BD28-89287C170EC3}" type="slidenum">
              <a:rPr lang="el-GR" smtClean="0"/>
              <a:t>34</a:t>
            </a:fld>
            <a:endParaRPr lang="el-GR"/>
          </a:p>
        </p:txBody>
      </p:sp>
    </p:spTree>
    <p:extLst>
      <p:ext uri="{BB962C8B-B14F-4D97-AF65-F5344CB8AC3E}">
        <p14:creationId xmlns:p14="http://schemas.microsoft.com/office/powerpoint/2010/main" val="266735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14/10/2025</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14/10/2025</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sites.google.com/view/i2art-of-programming/hom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16237" y="1648085"/>
            <a:ext cx="8865031" cy="946331"/>
          </a:xfrm>
          <a:prstGeom prst="rect">
            <a:avLst/>
          </a:prstGeom>
        </p:spPr>
        <p:txBody>
          <a:bodyPr vert="horz" lIns="91440" tIns="45720" rIns="91440" bIns="45720" rtlCol="0" anchor="b">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16000" b="1" dirty="0">
                <a:solidFill>
                  <a:srgbClr val="60D69E"/>
                </a:solidFill>
                <a:latin typeface="Bahnschrift" panose="020B0502040204020203" pitchFamily="34" charset="0"/>
              </a:rPr>
              <a:t>Παίζοντας με Αριθμούς </a:t>
            </a:r>
            <a:r>
              <a:rPr lang="el-GR" sz="16000" b="1" dirty="0" err="1">
                <a:solidFill>
                  <a:srgbClr val="60D69E"/>
                </a:solidFill>
                <a:latin typeface="Bahnschrift" panose="020B0502040204020203" pitchFamily="34" charset="0"/>
              </a:rPr>
              <a:t>Νο</a:t>
            </a:r>
            <a:r>
              <a:rPr lang="el-GR" sz="16000" b="1" dirty="0">
                <a:solidFill>
                  <a:srgbClr val="60D69E"/>
                </a:solidFill>
                <a:latin typeface="Bahnschrift" panose="020B0502040204020203" pitchFamily="34" charset="0"/>
              </a:rPr>
              <a:t> 2</a:t>
            </a:r>
            <a:r>
              <a:rPr lang="en-US" sz="16000" b="1" dirty="0">
                <a:solidFill>
                  <a:srgbClr val="60D69E"/>
                </a:solidFill>
                <a:latin typeface="Bahnschrift" panose="020B0502040204020203" pitchFamily="34" charset="0"/>
              </a:rPr>
              <a:t>-</a:t>
            </a:r>
            <a:r>
              <a:rPr lang="el-GR" sz="16000" b="1" dirty="0">
                <a:solidFill>
                  <a:srgbClr val="60D69E"/>
                </a:solidFill>
                <a:latin typeface="Bahnschrift" panose="020B0502040204020203" pitchFamily="34" charset="0"/>
              </a:rPr>
              <a:t>Β</a:t>
            </a:r>
            <a:endParaRPr lang="en-US" sz="16000" b="1" dirty="0">
              <a:solidFill>
                <a:srgbClr val="60D69E"/>
              </a:solidFill>
              <a:latin typeface="Bahnschrift" panose="020B0502040204020203" pitchFamily="34" charset="0"/>
            </a:endParaRPr>
          </a:p>
          <a:p>
            <a:pPr algn="l">
              <a:lnSpc>
                <a:spcPct val="100000"/>
              </a:lnSpc>
              <a:spcBef>
                <a:spcPct val="0"/>
              </a:spcBef>
              <a:spcAft>
                <a:spcPts val="600"/>
              </a:spcAft>
            </a:pPr>
            <a:r>
              <a:rPr lang="el-GR" sz="7200" b="1" dirty="0">
                <a:solidFill>
                  <a:srgbClr val="60D69E"/>
                </a:solidFill>
                <a:latin typeface="Bahnschrift" panose="020B0502040204020203" pitchFamily="34" charset="0"/>
              </a:rPr>
              <a:t>Η σημασία του Αλγορίθμου και της Αφαιρετικότητας. Αριθμητική δεικτών.</a:t>
            </a:r>
            <a:endParaRPr lang="en-US" sz="7200" b="1" dirty="0">
              <a:solidFill>
                <a:srgbClr val="60D69E"/>
              </a:solidFill>
              <a:latin typeface="Bahnschrift" panose="020B0502040204020203" pitchFamily="34" charset="0"/>
            </a:endParaRPr>
          </a:p>
        </p:txBody>
      </p:sp>
      <p:sp>
        <p:nvSpPr>
          <p:cNvPr id="18" name="Υπότιτλος 2">
            <a:extLst>
              <a:ext uri="{FF2B5EF4-FFF2-40B4-BE49-F238E27FC236}">
                <a16:creationId xmlns:a16="http://schemas.microsoft.com/office/drawing/2014/main" id="{1CC770C9-EFCA-6DAF-8AF4-65DBC6C0060B}"/>
              </a:ext>
            </a:extLst>
          </p:cNvPr>
          <p:cNvSpPr txBox="1">
            <a:spLocks/>
          </p:cNvSpPr>
          <p:nvPr/>
        </p:nvSpPr>
        <p:spPr>
          <a:xfrm>
            <a:off x="6868910" y="2945196"/>
            <a:ext cx="4452747" cy="364401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n-US" sz="4000" b="1" dirty="0">
                <a:solidFill>
                  <a:srgbClr val="C00000"/>
                </a:solidFill>
                <a:latin typeface="Bahnschrift" panose="020B0502040204020203" pitchFamily="34" charset="0"/>
              </a:rPr>
              <a:t>Algorithm</a:t>
            </a:r>
          </a:p>
          <a:p>
            <a:pPr algn="l">
              <a:lnSpc>
                <a:spcPct val="100000"/>
              </a:lnSpc>
              <a:spcBef>
                <a:spcPct val="0"/>
              </a:spcBef>
              <a:spcAft>
                <a:spcPts val="600"/>
              </a:spcAft>
            </a:pPr>
            <a:r>
              <a:rPr lang="en-US" sz="4000" b="1" dirty="0">
                <a:solidFill>
                  <a:srgbClr val="C00000"/>
                </a:solidFill>
                <a:latin typeface="Bahnschrift" panose="020B0502040204020203" pitchFamily="34" charset="0"/>
              </a:rPr>
              <a:t>Abstraction</a:t>
            </a:r>
          </a:p>
          <a:p>
            <a:pPr algn="l">
              <a:lnSpc>
                <a:spcPct val="100000"/>
              </a:lnSpc>
              <a:spcBef>
                <a:spcPct val="0"/>
              </a:spcBef>
              <a:spcAft>
                <a:spcPts val="600"/>
              </a:spcAft>
            </a:pPr>
            <a:r>
              <a:rPr lang="en-US" sz="4000" b="1" dirty="0">
                <a:solidFill>
                  <a:srgbClr val="C00000"/>
                </a:solidFill>
                <a:latin typeface="Bahnschrift" panose="020B0502040204020203" pitchFamily="34" charset="0"/>
              </a:rPr>
              <a:t>Pointer Arithmetic</a:t>
            </a:r>
          </a:p>
        </p:txBody>
      </p:sp>
      <p:pic>
        <p:nvPicPr>
          <p:cNvPr id="20" name="Picture 19">
            <a:extLst>
              <a:ext uri="{FF2B5EF4-FFF2-40B4-BE49-F238E27FC236}">
                <a16:creationId xmlns:a16="http://schemas.microsoft.com/office/drawing/2014/main" id="{F8104CF0-71DB-277D-FF43-3A47565FC2FF}"/>
              </a:ext>
            </a:extLst>
          </p:cNvPr>
          <p:cNvPicPr>
            <a:picLocks noChangeAspect="1"/>
          </p:cNvPicPr>
          <p:nvPr/>
        </p:nvPicPr>
        <p:blipFill>
          <a:blip r:embed="rId3"/>
          <a:stretch>
            <a:fillRect/>
          </a:stretch>
        </p:blipFill>
        <p:spPr>
          <a:xfrm>
            <a:off x="9565650" y="27543"/>
            <a:ext cx="2610113" cy="3728733"/>
          </a:xfrm>
          <a:prstGeom prst="rect">
            <a:avLst/>
          </a:prstGeom>
        </p:spPr>
      </p:pic>
      <p:sp>
        <p:nvSpPr>
          <p:cNvPr id="2" name="TextBox 1">
            <a:extLst>
              <a:ext uri="{FF2B5EF4-FFF2-40B4-BE49-F238E27FC236}">
                <a16:creationId xmlns:a16="http://schemas.microsoft.com/office/drawing/2014/main" id="{5F645747-ED20-19B3-8190-54D45634BE1F}"/>
              </a:ext>
            </a:extLst>
          </p:cNvPr>
          <p:cNvSpPr txBox="1"/>
          <p:nvPr/>
        </p:nvSpPr>
        <p:spPr>
          <a:xfrm flipH="1">
            <a:off x="4554512" y="2416145"/>
            <a:ext cx="5370738" cy="369332"/>
          </a:xfrm>
          <a:prstGeom prst="rect">
            <a:avLst/>
          </a:prstGeom>
          <a:noFill/>
        </p:spPr>
        <p:txBody>
          <a:bodyPr wrap="square" rtlCol="0">
            <a:spAutoFit/>
          </a:bodyPr>
          <a:lstStyle/>
          <a:p>
            <a:r>
              <a:rPr lang="en-GB" dirty="0"/>
              <a:t>https://sites.google.com/view/i2art-of-programming</a:t>
            </a:r>
          </a:p>
        </p:txBody>
      </p:sp>
      <p:sp>
        <p:nvSpPr>
          <p:cNvPr id="5" name="TextBox 4">
            <a:extLst>
              <a:ext uri="{FF2B5EF4-FFF2-40B4-BE49-F238E27FC236}">
                <a16:creationId xmlns:a16="http://schemas.microsoft.com/office/drawing/2014/main" id="{2DA0368E-6ADC-C0B8-7EA7-E8B85F721C26}"/>
              </a:ext>
            </a:extLst>
          </p:cNvPr>
          <p:cNvSpPr txBox="1"/>
          <p:nvPr/>
        </p:nvSpPr>
        <p:spPr>
          <a:xfrm>
            <a:off x="9565650" y="3746541"/>
            <a:ext cx="2610113" cy="923330"/>
          </a:xfrm>
          <a:prstGeom prst="rect">
            <a:avLst/>
          </a:prstGeom>
          <a:noFill/>
        </p:spPr>
        <p:txBody>
          <a:bodyPr wrap="square" rtlCol="0">
            <a:spAutoFit/>
          </a:bodyPr>
          <a:lstStyle/>
          <a:p>
            <a:r>
              <a:rPr lang="el-GR" dirty="0"/>
              <a:t>Πηγή: </a:t>
            </a:r>
            <a:r>
              <a:rPr lang="el-GR" dirty="0">
                <a:hlinkClick r:id="rId4"/>
              </a:rPr>
              <a:t>Μια Εισαγωγή στην Τέχνη του Προγραμματισμού</a:t>
            </a:r>
            <a:endParaRPr lang="en-GB" dirty="0"/>
          </a:p>
        </p:txBody>
      </p:sp>
      <p:pic>
        <p:nvPicPr>
          <p:cNvPr id="7" name="Picture 6">
            <a:extLst>
              <a:ext uri="{FF2B5EF4-FFF2-40B4-BE49-F238E27FC236}">
                <a16:creationId xmlns:a16="http://schemas.microsoft.com/office/drawing/2014/main" id="{B51773A9-257B-5628-1954-AEA1B1B165B5}"/>
              </a:ext>
            </a:extLst>
          </p:cNvPr>
          <p:cNvPicPr>
            <a:picLocks noChangeAspect="1"/>
          </p:cNvPicPr>
          <p:nvPr/>
        </p:nvPicPr>
        <p:blipFill>
          <a:blip r:embed="rId5"/>
          <a:stretch>
            <a:fillRect/>
          </a:stretch>
        </p:blipFill>
        <p:spPr>
          <a:xfrm>
            <a:off x="-3" y="2805341"/>
            <a:ext cx="6868913" cy="4052659"/>
          </a:xfrm>
          <a:prstGeom prst="rect">
            <a:avLst/>
          </a:prstGeom>
        </p:spPr>
      </p:pic>
      <p:sp>
        <p:nvSpPr>
          <p:cNvPr id="3" name="Υπότιτλος 2">
            <a:extLst>
              <a:ext uri="{FF2B5EF4-FFF2-40B4-BE49-F238E27FC236}">
                <a16:creationId xmlns:a16="http://schemas.microsoft.com/office/drawing/2014/main" id="{E8046AC3-BB09-52F7-1F81-DF45B5C6F5C3}"/>
              </a:ext>
            </a:extLst>
          </p:cNvPr>
          <p:cNvSpPr txBox="1">
            <a:spLocks/>
          </p:cNvSpPr>
          <p:nvPr/>
        </p:nvSpPr>
        <p:spPr>
          <a:xfrm>
            <a:off x="-16239" y="-1461"/>
            <a:ext cx="12192002" cy="1639614"/>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pPr>
            <a:r>
              <a:rPr lang="el-GR" sz="4800" b="1" dirty="0">
                <a:latin typeface="Bahnschrift" panose="020B0502040204020203" pitchFamily="34" charset="0"/>
              </a:rPr>
              <a:t>Εισαγωγή στην Τέχνη του</a:t>
            </a:r>
          </a:p>
          <a:p>
            <a:pPr algn="l">
              <a:lnSpc>
                <a:spcPct val="100000"/>
              </a:lnSpc>
              <a:spcBef>
                <a:spcPct val="0"/>
              </a:spcBef>
            </a:pPr>
            <a:r>
              <a:rPr lang="el-GR" sz="4800" b="1" dirty="0">
                <a:latin typeface="Bahnschrift" panose="020B0502040204020203" pitchFamily="34" charset="0"/>
              </a:rPr>
              <a:t>Προγραμματισμού (με τη </a:t>
            </a:r>
            <a:r>
              <a:rPr lang="en-US" sz="4800" b="1" dirty="0">
                <a:latin typeface="Bahnschrift" panose="020B0502040204020203" pitchFamily="34" charset="0"/>
              </a:rPr>
              <a:t>C</a:t>
            </a:r>
            <a:r>
              <a:rPr lang="el-GR" sz="4800" b="1" dirty="0">
                <a:latin typeface="Bahnschrift" panose="020B0502040204020203" pitchFamily="34" charset="0"/>
              </a:rPr>
              <a:t>)</a:t>
            </a:r>
            <a:endParaRPr lang="en-US" sz="3200" b="1" dirty="0">
              <a:latin typeface="Bahnschrift" panose="020B0502040204020203" pitchFamily="34" charset="0"/>
            </a:endParaRP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635E-13B9-9C1B-C13D-3FFB3D544CD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28A9634-4676-80EF-67E2-A6D4D1470B18}"/>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B1C13C6-17D1-7C66-983F-D7B6E57CB93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Στόχος Ενότητας </a:t>
            </a:r>
          </a:p>
        </p:txBody>
      </p:sp>
      <p:sp>
        <p:nvSpPr>
          <p:cNvPr id="8" name="Θέση υποσέλιδου 4">
            <a:extLst>
              <a:ext uri="{FF2B5EF4-FFF2-40B4-BE49-F238E27FC236}">
                <a16:creationId xmlns:a16="http://schemas.microsoft.com/office/drawing/2014/main" id="{1F0DD3F0-F993-07FA-CF3E-EC2B3B0D151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EE05CF8-C118-C650-A095-0EE349F5B94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22D7C49-9DEB-8E6A-F5E3-97DFE5BE0160}"/>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6E116A2B-F56B-26DB-A6D1-1ECEEB4E2B4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CA111B06-1E70-E8F2-34FB-B4873DAA7401}"/>
              </a:ext>
            </a:extLst>
          </p:cNvPr>
          <p:cNvSpPr txBox="1">
            <a:spLocks/>
          </p:cNvSpPr>
          <p:nvPr/>
        </p:nvSpPr>
        <p:spPr bwMode="auto">
          <a:xfrm>
            <a:off x="-1" y="1118155"/>
            <a:ext cx="12191999" cy="3645313"/>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kern="0" dirty="0">
                <a:solidFill>
                  <a:srgbClr val="000000"/>
                </a:solidFill>
                <a:latin typeface="Tahoma"/>
              </a:rPr>
              <a:t>Στόχος του κεφαλαίου είναι</a:t>
            </a:r>
            <a:r>
              <a:rPr lang="en-US" sz="2400" kern="0" dirty="0">
                <a:solidFill>
                  <a:srgbClr val="000000"/>
                </a:solidFill>
                <a:latin typeface="Tahoma"/>
              </a:rPr>
              <a:t>:</a:t>
            </a:r>
          </a:p>
          <a:p>
            <a:pPr lvl="1">
              <a:buClr>
                <a:srgbClr val="3333CC"/>
              </a:buClr>
              <a:defRPr/>
            </a:pPr>
            <a:r>
              <a:rPr lang="el-GR" sz="2000" kern="0" dirty="0">
                <a:solidFill>
                  <a:srgbClr val="000000"/>
                </a:solidFill>
                <a:latin typeface="Tahoma"/>
              </a:rPr>
              <a:t>να αξιοποιήσει την γνώση και τις πρακτικές που αποκτήθηκαν σε προηγούμενες Δραστηριότητες, </a:t>
            </a:r>
            <a:endParaRPr lang="en-US" sz="2000" kern="0" dirty="0">
              <a:solidFill>
                <a:srgbClr val="000000"/>
              </a:solidFill>
              <a:latin typeface="Tahoma"/>
            </a:endParaRPr>
          </a:p>
          <a:p>
            <a:pPr lvl="1">
              <a:buClr>
                <a:srgbClr val="3333CC"/>
              </a:buClr>
              <a:defRPr/>
            </a:pPr>
            <a:r>
              <a:rPr lang="el-GR" sz="2000" kern="0" dirty="0">
                <a:solidFill>
                  <a:srgbClr val="000000"/>
                </a:solidFill>
                <a:latin typeface="Tahoma"/>
              </a:rPr>
              <a:t>να εξοικειώσει τον αναγνώστη με την </a:t>
            </a:r>
            <a:r>
              <a:rPr lang="el-GR" sz="2000" b="1" kern="0" dirty="0">
                <a:solidFill>
                  <a:srgbClr val="000000"/>
                </a:solidFill>
                <a:latin typeface="Tahoma"/>
              </a:rPr>
              <a:t>διαδικασία ανάπτυξης πιο σύνθετων και πιο απαιτητικών εφαρμογών</a:t>
            </a:r>
            <a:r>
              <a:rPr lang="el-GR" sz="2000" kern="0" dirty="0">
                <a:solidFill>
                  <a:srgbClr val="000000"/>
                </a:solidFill>
                <a:latin typeface="Tahoma"/>
              </a:rPr>
              <a:t> στις οποίες </a:t>
            </a:r>
            <a:r>
              <a:rPr lang="el-GR" sz="2000" b="1" kern="0" dirty="0">
                <a:solidFill>
                  <a:srgbClr val="000000"/>
                </a:solidFill>
                <a:latin typeface="Tahoma"/>
              </a:rPr>
              <a:t>ο σχεδιασμός του αλγορίθμου </a:t>
            </a:r>
            <a:r>
              <a:rPr lang="el-GR" sz="2000" kern="0" dirty="0">
                <a:solidFill>
                  <a:srgbClr val="000000"/>
                </a:solidFill>
                <a:latin typeface="Tahoma"/>
              </a:rPr>
              <a:t>ανάγεται στο πλέον σημαντικό βήμα για την ανάπτυξη </a:t>
            </a:r>
            <a:r>
              <a:rPr lang="el-GR" sz="2000" b="1" kern="0" dirty="0">
                <a:solidFill>
                  <a:srgbClr val="000000"/>
                </a:solidFill>
                <a:latin typeface="Tahoma"/>
              </a:rPr>
              <a:t>αρθρωτού κώδικα</a:t>
            </a:r>
            <a:r>
              <a:rPr lang="el-GR" sz="2000" kern="0" dirty="0">
                <a:solidFill>
                  <a:srgbClr val="000000"/>
                </a:solidFill>
                <a:latin typeface="Tahoma"/>
              </a:rPr>
              <a:t>. </a:t>
            </a:r>
            <a:endParaRPr lang="en-US" sz="2000" kern="0" dirty="0">
              <a:solidFill>
                <a:srgbClr val="000000"/>
              </a:solidFill>
              <a:latin typeface="Tahoma"/>
            </a:endParaRPr>
          </a:p>
          <a:p>
            <a:pPr>
              <a:buClr>
                <a:srgbClr val="3333CC"/>
              </a:buClr>
              <a:defRPr/>
            </a:pPr>
            <a:r>
              <a:rPr lang="el-GR" sz="2400" kern="0" dirty="0">
                <a:solidFill>
                  <a:srgbClr val="000000"/>
                </a:solidFill>
                <a:latin typeface="Tahoma"/>
              </a:rPr>
              <a:t>Προς την κατεύθυνση αυτή</a:t>
            </a:r>
            <a:r>
              <a:rPr lang="en-US" sz="2400" kern="0" dirty="0">
                <a:solidFill>
                  <a:srgbClr val="000000"/>
                </a:solidFill>
                <a:latin typeface="Tahoma"/>
              </a:rPr>
              <a:t>:</a:t>
            </a:r>
          </a:p>
          <a:p>
            <a:pPr lvl="1">
              <a:buClr>
                <a:srgbClr val="3333CC"/>
              </a:buClr>
              <a:defRPr/>
            </a:pPr>
            <a:r>
              <a:rPr lang="el-GR" sz="2000" kern="0" dirty="0">
                <a:solidFill>
                  <a:srgbClr val="000000"/>
                </a:solidFill>
                <a:latin typeface="Tahoma"/>
              </a:rPr>
              <a:t>τονίζει τη σημασία της σταδιακής ανάπτυξης του αλγορίθμου μέσα από μια επαναληπτική διαδικασία για την </a:t>
            </a:r>
            <a:r>
              <a:rPr lang="el-GR" sz="2000" b="1" kern="0" dirty="0">
                <a:solidFill>
                  <a:srgbClr val="000000"/>
                </a:solidFill>
                <a:latin typeface="Tahoma"/>
              </a:rPr>
              <a:t>αντιμετώπιση της πολυπλοκότητας</a:t>
            </a:r>
            <a:r>
              <a:rPr lang="el-GR" sz="2000" kern="0" dirty="0">
                <a:solidFill>
                  <a:srgbClr val="000000"/>
                </a:solidFill>
                <a:latin typeface="Tahoma"/>
              </a:rPr>
              <a:t>, και, </a:t>
            </a:r>
            <a:endParaRPr lang="en-US" sz="2000" kern="0" dirty="0">
              <a:solidFill>
                <a:srgbClr val="000000"/>
              </a:solidFill>
              <a:latin typeface="Tahoma"/>
            </a:endParaRPr>
          </a:p>
          <a:p>
            <a:pPr lvl="1">
              <a:buClr>
                <a:srgbClr val="3333CC"/>
              </a:buClr>
              <a:defRPr/>
            </a:pPr>
            <a:r>
              <a:rPr lang="el-GR" sz="2000" kern="0" dirty="0">
                <a:solidFill>
                  <a:srgbClr val="000000"/>
                </a:solidFill>
                <a:latin typeface="Tahoma"/>
              </a:rPr>
              <a:t>εισάγει τις τεχνικές της </a:t>
            </a:r>
            <a:r>
              <a:rPr lang="el-GR" sz="2000" kern="0" dirty="0" err="1">
                <a:solidFill>
                  <a:srgbClr val="000000"/>
                </a:solidFill>
                <a:latin typeface="Tahoma"/>
              </a:rPr>
              <a:t>τμηματοποίησης</a:t>
            </a:r>
            <a:r>
              <a:rPr lang="el-GR" sz="2000" kern="0" dirty="0">
                <a:solidFill>
                  <a:srgbClr val="000000"/>
                </a:solidFill>
                <a:latin typeface="Tahoma"/>
              </a:rPr>
              <a:t> (</a:t>
            </a:r>
            <a:r>
              <a:rPr lang="el-GR" sz="2000" kern="0" dirty="0" err="1">
                <a:solidFill>
                  <a:srgbClr val="000000"/>
                </a:solidFill>
                <a:latin typeface="Tahoma"/>
              </a:rPr>
              <a:t>partitioning</a:t>
            </a:r>
            <a:r>
              <a:rPr lang="el-GR" sz="2000" kern="0" dirty="0">
                <a:solidFill>
                  <a:srgbClr val="000000"/>
                </a:solidFill>
                <a:latin typeface="Tahoma"/>
              </a:rPr>
              <a:t>) και της από το γενικό προς το ειδικό ανάπτυξης (</a:t>
            </a:r>
            <a:r>
              <a:rPr lang="el-GR" sz="2000" kern="0" dirty="0" err="1">
                <a:solidFill>
                  <a:srgbClr val="000000"/>
                </a:solidFill>
                <a:latin typeface="Tahoma"/>
              </a:rPr>
              <a:t>top-down</a:t>
            </a:r>
            <a:r>
              <a:rPr lang="el-GR" sz="2000" kern="0" dirty="0">
                <a:solidFill>
                  <a:srgbClr val="000000"/>
                </a:solidFill>
                <a:latin typeface="Tahoma"/>
              </a:rPr>
              <a:t>).</a:t>
            </a:r>
            <a:endParaRPr lang="en-US" sz="2000" kern="0" dirty="0">
              <a:solidFill>
                <a:srgbClr val="000000"/>
              </a:solidFill>
              <a:latin typeface="Tahoma"/>
            </a:endParaRPr>
          </a:p>
        </p:txBody>
      </p:sp>
      <p:sp>
        <p:nvSpPr>
          <p:cNvPr id="4" name="TextBox 3">
            <a:extLst>
              <a:ext uri="{FF2B5EF4-FFF2-40B4-BE49-F238E27FC236}">
                <a16:creationId xmlns:a16="http://schemas.microsoft.com/office/drawing/2014/main" id="{27005B80-82D9-1195-C715-BE2289AA96E2}"/>
              </a:ext>
            </a:extLst>
          </p:cNvPr>
          <p:cNvSpPr txBox="1"/>
          <p:nvPr/>
        </p:nvSpPr>
        <p:spPr>
          <a:xfrm>
            <a:off x="132151" y="5061524"/>
            <a:ext cx="11919180" cy="1200329"/>
          </a:xfrm>
          <a:prstGeom prst="rect">
            <a:avLst/>
          </a:prstGeom>
          <a:solidFill>
            <a:srgbClr val="FFFF00"/>
          </a:solidFill>
        </p:spPr>
        <p:txBody>
          <a:bodyPr wrap="square" rtlCol="0">
            <a:spAutoFit/>
          </a:bodyPr>
          <a:lstStyle/>
          <a:p>
            <a:pPr algn="ctr"/>
            <a:r>
              <a:rPr lang="el-GR" sz="2400" kern="0" dirty="0">
                <a:solidFill>
                  <a:srgbClr val="000000"/>
                </a:solidFill>
                <a:latin typeface="Tahoma"/>
              </a:rPr>
              <a:t>Η ικανότητα να σκέφτεται κανείς αφαιρετικά και να διατυπώνει τη Λεκτική Περιγραφή, ενισχύει την αποτελεσματικότητα και τις δεξιότητες του προγραμματιστή, ιδιαίτερα κατά τον σχεδιασμό αλγορίθμων.</a:t>
            </a:r>
          </a:p>
        </p:txBody>
      </p:sp>
    </p:spTree>
    <p:extLst>
      <p:ext uri="{BB962C8B-B14F-4D97-AF65-F5344CB8AC3E}">
        <p14:creationId xmlns:p14="http://schemas.microsoft.com/office/powerpoint/2010/main" val="32710038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fade">
                                      <p:cBhvr>
                                        <p:cTn id="16" dur="500"/>
                                        <p:tgtEl>
                                          <p:spTgt spid="12">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500"/>
                                        <p:tgtEl>
                                          <p:spTgt spid="12">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500"/>
                                        <p:tgtEl>
                                          <p:spTgt spid="12">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animEffect transition="in" filter="fade">
                                      <p:cBhvr>
                                        <p:cTn id="25" dur="500"/>
                                        <p:tgtEl>
                                          <p:spTgt spid="12">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41982-FCD5-1E79-BEFA-CC6F1022DD3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70BAAA41-34FB-8D7F-1A77-9E2E7A44D5EC}"/>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64FF8C37-5BDE-48FF-5A1A-FCC43683C78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Η ενότητα </a:t>
            </a:r>
          </a:p>
        </p:txBody>
      </p:sp>
      <p:sp>
        <p:nvSpPr>
          <p:cNvPr id="8" name="Θέση υποσέλιδου 4">
            <a:extLst>
              <a:ext uri="{FF2B5EF4-FFF2-40B4-BE49-F238E27FC236}">
                <a16:creationId xmlns:a16="http://schemas.microsoft.com/office/drawing/2014/main" id="{E9EFFE73-7F77-0A36-88FB-CD91982A9E8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D27D7C5-5AD6-C86F-B33E-45AFA4AA874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14204B53-0D26-06E3-8CC7-8A8B6FD223D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104A6A52-F239-5F66-454C-3754A2F38C83}"/>
              </a:ext>
            </a:extLst>
          </p:cNvPr>
          <p:cNvSpPr txBox="1">
            <a:spLocks/>
          </p:cNvSpPr>
          <p:nvPr/>
        </p:nvSpPr>
        <p:spPr bwMode="auto">
          <a:xfrm>
            <a:off x="-1" y="818993"/>
            <a:ext cx="12191999" cy="5263152"/>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b="1" kern="0" dirty="0">
                <a:solidFill>
                  <a:srgbClr val="000000"/>
                </a:solidFill>
                <a:latin typeface="Tahoma"/>
              </a:rPr>
              <a:t>εισάγει</a:t>
            </a:r>
            <a:r>
              <a:rPr lang="el-GR" sz="2400" kern="0" dirty="0">
                <a:solidFill>
                  <a:srgbClr val="000000"/>
                </a:solidFill>
                <a:latin typeface="Tahoma"/>
              </a:rPr>
              <a:t> και ενισχύει βασικές έννοιες όπως:</a:t>
            </a:r>
          </a:p>
          <a:p>
            <a:pPr lvl="1">
              <a:buClr>
                <a:srgbClr val="3333CC"/>
              </a:buClr>
              <a:defRPr/>
            </a:pPr>
            <a:r>
              <a:rPr lang="el-GR" sz="2000" kern="0" dirty="0">
                <a:solidFill>
                  <a:srgbClr val="000000"/>
                </a:solidFill>
                <a:latin typeface="Tahoma"/>
              </a:rPr>
              <a:t>ο σχεδιασμός από το γενικό προς το ειδικό (</a:t>
            </a:r>
            <a:r>
              <a:rPr lang="el-GR" sz="2000" kern="0" dirty="0" err="1">
                <a:solidFill>
                  <a:srgbClr val="000000"/>
                </a:solidFill>
                <a:latin typeface="Tahoma"/>
              </a:rPr>
              <a:t>top-down</a:t>
            </a:r>
            <a:r>
              <a:rPr lang="el-GR" sz="2000" kern="0" dirty="0">
                <a:solidFill>
                  <a:srgbClr val="000000"/>
                </a:solidFill>
                <a:latin typeface="Tahoma"/>
              </a:rPr>
              <a:t> </a:t>
            </a:r>
            <a:r>
              <a:rPr lang="el-GR" sz="2000" kern="0" dirty="0" err="1">
                <a:solidFill>
                  <a:srgbClr val="000000"/>
                </a:solidFill>
                <a:latin typeface="Tahoma"/>
              </a:rPr>
              <a:t>design</a:t>
            </a:r>
            <a:r>
              <a:rPr lang="el-GR" sz="2000" kern="0" dirty="0">
                <a:solidFill>
                  <a:srgbClr val="000000"/>
                </a:solidFill>
                <a:latin typeface="Tahoma"/>
              </a:rPr>
              <a:t>),</a:t>
            </a:r>
          </a:p>
          <a:p>
            <a:pPr lvl="1">
              <a:buClr>
                <a:srgbClr val="3333CC"/>
              </a:buClr>
              <a:defRPr/>
            </a:pPr>
            <a:r>
              <a:rPr lang="el-GR" sz="2000" kern="0" dirty="0">
                <a:solidFill>
                  <a:srgbClr val="000000"/>
                </a:solidFill>
                <a:latin typeface="Tahoma"/>
              </a:rPr>
              <a:t>ο αρθρωτός προγραμματισμός με χρήση συναρτήσεων,</a:t>
            </a:r>
          </a:p>
          <a:p>
            <a:pPr lvl="1">
              <a:buClr>
                <a:srgbClr val="3333CC"/>
              </a:buClr>
              <a:defRPr/>
            </a:pPr>
            <a:r>
              <a:rPr lang="el-GR" sz="2000" kern="0" dirty="0">
                <a:solidFill>
                  <a:srgbClr val="000000"/>
                </a:solidFill>
                <a:latin typeface="Tahoma"/>
              </a:rPr>
              <a:t>η αριθμητική δεικτών, και</a:t>
            </a:r>
          </a:p>
          <a:p>
            <a:pPr lvl="1">
              <a:buClr>
                <a:srgbClr val="3333CC"/>
              </a:buClr>
              <a:defRPr/>
            </a:pPr>
            <a:r>
              <a:rPr lang="el-GR" sz="2000" kern="0" dirty="0">
                <a:solidFill>
                  <a:srgbClr val="000000"/>
                </a:solidFill>
                <a:latin typeface="Tahoma"/>
              </a:rPr>
              <a:t>οι τεχνικές σχεδίασης αλγορίθμων.</a:t>
            </a:r>
          </a:p>
          <a:p>
            <a:pPr>
              <a:buClr>
                <a:srgbClr val="3333CC"/>
              </a:buClr>
              <a:defRPr/>
            </a:pPr>
            <a:r>
              <a:rPr lang="el-GR" sz="2400" b="1" kern="0" dirty="0">
                <a:solidFill>
                  <a:srgbClr val="000000"/>
                </a:solidFill>
                <a:latin typeface="Tahoma"/>
              </a:rPr>
              <a:t>εμβαθύνει</a:t>
            </a:r>
            <a:r>
              <a:rPr lang="el-GR" sz="2400" kern="0" dirty="0">
                <a:solidFill>
                  <a:srgbClr val="000000"/>
                </a:solidFill>
                <a:latin typeface="Tahoma"/>
              </a:rPr>
              <a:t> σε πιο προχωρημένα θέματα, </a:t>
            </a:r>
          </a:p>
          <a:p>
            <a:pPr lvl="1">
              <a:buClr>
                <a:srgbClr val="3333CC"/>
              </a:buClr>
              <a:defRPr/>
            </a:pPr>
            <a:r>
              <a:rPr lang="el-GR" sz="2000" kern="0" dirty="0">
                <a:solidFill>
                  <a:srgbClr val="000000"/>
                </a:solidFill>
                <a:latin typeface="Tahoma"/>
              </a:rPr>
              <a:t>όπως η κλήση με αναφορά και η αναδρομικότητα, μέσα από το ενδιαφέρον παράδειγμα της εύρεσης αριθμών </a:t>
            </a:r>
            <a:r>
              <a:rPr lang="el-GR" sz="2000" kern="0" dirty="0" err="1">
                <a:solidFill>
                  <a:srgbClr val="000000"/>
                </a:solidFill>
                <a:latin typeface="Tahoma"/>
              </a:rPr>
              <a:t>Armstrong</a:t>
            </a:r>
            <a:r>
              <a:rPr lang="el-GR" sz="2000" kern="0" dirty="0">
                <a:solidFill>
                  <a:srgbClr val="000000"/>
                </a:solidFill>
                <a:latin typeface="Tahoma"/>
              </a:rPr>
              <a:t>.</a:t>
            </a:r>
          </a:p>
          <a:p>
            <a:pPr>
              <a:buClr>
                <a:srgbClr val="3333CC"/>
              </a:buClr>
              <a:defRPr/>
            </a:pPr>
            <a:r>
              <a:rPr lang="el-GR" sz="2400" b="1" kern="0" dirty="0">
                <a:solidFill>
                  <a:srgbClr val="000000"/>
                </a:solidFill>
                <a:latin typeface="Tahoma"/>
              </a:rPr>
              <a:t>προσφέρει</a:t>
            </a:r>
            <a:r>
              <a:rPr lang="el-GR" sz="2400" kern="0" dirty="0">
                <a:solidFill>
                  <a:srgbClr val="000000"/>
                </a:solidFill>
                <a:latin typeface="Tahoma"/>
              </a:rPr>
              <a:t> πρακτική εμπειρία στον σχεδιασμό και την υλοποίηση αλγορίθμων,</a:t>
            </a:r>
          </a:p>
          <a:p>
            <a:pPr>
              <a:buClr>
                <a:srgbClr val="3333CC"/>
              </a:buClr>
              <a:defRPr/>
            </a:pPr>
            <a:r>
              <a:rPr lang="el-GR" sz="2400" b="1" kern="0" dirty="0">
                <a:solidFill>
                  <a:srgbClr val="000000"/>
                </a:solidFill>
                <a:latin typeface="Tahoma"/>
              </a:rPr>
              <a:t>ενθαρρύνει</a:t>
            </a:r>
          </a:p>
          <a:p>
            <a:pPr lvl="1">
              <a:buClr>
                <a:srgbClr val="3333CC"/>
              </a:buClr>
              <a:defRPr/>
            </a:pPr>
            <a:r>
              <a:rPr lang="el-GR" sz="2000" kern="0" dirty="0">
                <a:solidFill>
                  <a:srgbClr val="000000"/>
                </a:solidFill>
                <a:latin typeface="Tahoma"/>
              </a:rPr>
              <a:t>την επαναληπτική ανάπτυξη για τη διαχείριση της πολυπλοκότητας,</a:t>
            </a:r>
          </a:p>
          <a:p>
            <a:pPr lvl="1">
              <a:buClr>
                <a:srgbClr val="3333CC"/>
              </a:buClr>
              <a:defRPr/>
            </a:pPr>
            <a:r>
              <a:rPr lang="el-GR" sz="2000" kern="0" dirty="0">
                <a:solidFill>
                  <a:srgbClr val="000000"/>
                </a:solidFill>
                <a:latin typeface="Tahoma"/>
              </a:rPr>
              <a:t>τη σταδιακή διατύπωση του αλγορίθμου με τη μορφή Λεκτικής Περιγραφής, και </a:t>
            </a:r>
          </a:p>
          <a:p>
            <a:pPr lvl="1">
              <a:buClr>
                <a:srgbClr val="3333CC"/>
              </a:buClr>
              <a:defRPr/>
            </a:pPr>
            <a:r>
              <a:rPr lang="el-GR" sz="2000" kern="0" dirty="0">
                <a:solidFill>
                  <a:srgbClr val="000000"/>
                </a:solidFill>
                <a:latin typeface="Tahoma"/>
              </a:rPr>
              <a:t>τη βελτιστοποίηση του χρόνου εκτέλεσης του προγράμματος.</a:t>
            </a:r>
          </a:p>
          <a:p>
            <a:pPr>
              <a:buClr>
                <a:srgbClr val="3333CC"/>
              </a:buClr>
              <a:defRPr/>
            </a:pPr>
            <a:endParaRPr lang="el-GR" sz="2400" kern="0" dirty="0">
              <a:solidFill>
                <a:srgbClr val="000000"/>
              </a:solidFill>
              <a:latin typeface="Tahoma"/>
            </a:endParaRPr>
          </a:p>
        </p:txBody>
      </p:sp>
      <p:sp>
        <p:nvSpPr>
          <p:cNvPr id="6" name="Θέση υποσέλιδου 4">
            <a:extLst>
              <a:ext uri="{FF2B5EF4-FFF2-40B4-BE49-F238E27FC236}">
                <a16:creationId xmlns:a16="http://schemas.microsoft.com/office/drawing/2014/main" id="{2AC82A08-6FC8-B315-BCB2-9504E8EEA29A}"/>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165601801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fade">
                                      <p:cBhvr>
                                        <p:cTn id="16" dur="500"/>
                                        <p:tgtEl>
                                          <p:spTgt spid="12">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500"/>
                                        <p:tgtEl>
                                          <p:spTgt spid="12">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500"/>
                                        <p:tgtEl>
                                          <p:spTgt spid="12">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animEffect transition="in" filter="fade">
                                      <p:cBhvr>
                                        <p:cTn id="25" dur="500"/>
                                        <p:tgtEl>
                                          <p:spTgt spid="12">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xEl>
                                              <p:pRg st="6" end="6"/>
                                            </p:txEl>
                                          </p:spTgt>
                                        </p:tgtEl>
                                        <p:attrNameLst>
                                          <p:attrName>style.visibility</p:attrName>
                                        </p:attrNameLst>
                                      </p:cBhvr>
                                      <p:to>
                                        <p:strVal val="visible"/>
                                      </p:to>
                                    </p:set>
                                    <p:animEffect transition="in" filter="fade">
                                      <p:cBhvr>
                                        <p:cTn id="28" dur="500"/>
                                        <p:tgtEl>
                                          <p:spTgt spid="12">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animEffect transition="in" filter="fade">
                                      <p:cBhvr>
                                        <p:cTn id="31" dur="500"/>
                                        <p:tgtEl>
                                          <p:spTgt spid="12">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xEl>
                                              <p:pRg st="8" end="8"/>
                                            </p:txEl>
                                          </p:spTgt>
                                        </p:tgtEl>
                                        <p:attrNameLst>
                                          <p:attrName>style.visibility</p:attrName>
                                        </p:attrNameLst>
                                      </p:cBhvr>
                                      <p:to>
                                        <p:strVal val="visible"/>
                                      </p:to>
                                    </p:set>
                                    <p:animEffect transition="in" filter="fade">
                                      <p:cBhvr>
                                        <p:cTn id="34" dur="500"/>
                                        <p:tgtEl>
                                          <p:spTgt spid="12">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xEl>
                                              <p:pRg st="9" end="9"/>
                                            </p:txEl>
                                          </p:spTgt>
                                        </p:tgtEl>
                                        <p:attrNameLst>
                                          <p:attrName>style.visibility</p:attrName>
                                        </p:attrNameLst>
                                      </p:cBhvr>
                                      <p:to>
                                        <p:strVal val="visible"/>
                                      </p:to>
                                    </p:set>
                                    <p:animEffect transition="in" filter="fade">
                                      <p:cBhvr>
                                        <p:cTn id="37" dur="500"/>
                                        <p:tgtEl>
                                          <p:spTgt spid="12">
                                            <p:txEl>
                                              <p:pRg st="9" end="9"/>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xEl>
                                              <p:pRg st="10" end="10"/>
                                            </p:txEl>
                                          </p:spTgt>
                                        </p:tgtEl>
                                        <p:attrNameLst>
                                          <p:attrName>style.visibility</p:attrName>
                                        </p:attrNameLst>
                                      </p:cBhvr>
                                      <p:to>
                                        <p:strVal val="visible"/>
                                      </p:to>
                                    </p:set>
                                    <p:animEffect transition="in" filter="fade">
                                      <p:cBhvr>
                                        <p:cTn id="40" dur="500"/>
                                        <p:tgtEl>
                                          <p:spTgt spid="12">
                                            <p:txEl>
                                              <p:pRg st="10" end="1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xEl>
                                              <p:pRg st="11" end="11"/>
                                            </p:txEl>
                                          </p:spTgt>
                                        </p:tgtEl>
                                        <p:attrNameLst>
                                          <p:attrName>style.visibility</p:attrName>
                                        </p:attrNameLst>
                                      </p:cBhvr>
                                      <p:to>
                                        <p:strVal val="visible"/>
                                      </p:to>
                                    </p:set>
                                    <p:animEffect transition="in" filter="fade">
                                      <p:cBhvr>
                                        <p:cTn id="43"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A465-FD08-1A1D-B033-573F566380C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158983A4-8924-9752-3540-744FE8E54A51}"/>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DC3CDDB-9460-7CC9-9108-943C37EC744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07F9E7D2-68EA-62C0-B24F-A283A12102E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98A300D-ECEF-45F7-2ADB-74244DD7439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B871775F-640D-BCCF-612D-91C87341055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8FB239DB-63A9-5E03-D2DF-29A6E9914E15}"/>
              </a:ext>
            </a:extLst>
          </p:cNvPr>
          <p:cNvSpPr txBox="1">
            <a:spLocks noChangeArrowheads="1"/>
          </p:cNvSpPr>
          <p:nvPr/>
        </p:nvSpPr>
        <p:spPr bwMode="auto">
          <a:xfrm>
            <a:off x="252524" y="754819"/>
            <a:ext cx="11207100" cy="51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lnSpc>
                <a:spcPct val="80000"/>
              </a:lnSpc>
              <a:buNone/>
            </a:pPr>
            <a:r>
              <a:rPr lang="el-GR" altLang="el-GR" sz="2000" b="1" dirty="0">
                <a:latin typeface="Tahoma" panose="020B0604030504040204" pitchFamily="34" charset="0"/>
                <a:ea typeface="Tahoma" panose="020B0604030504040204" pitchFamily="34" charset="0"/>
                <a:cs typeface="Tahoma" panose="020B0604030504040204" pitchFamily="34" charset="0"/>
              </a:rPr>
              <a:t>Μέρος Α</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7.1 </a:t>
            </a:r>
            <a:r>
              <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Divisors</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7.2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Most_Frequent_Number</a:t>
            </a:r>
            <a:endPar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marL="0" indent="0" eaLnBrk="1" hangingPunct="1">
              <a:lnSpc>
                <a:spcPct val="80000"/>
              </a:lnSpc>
              <a:buNone/>
            </a:pPr>
            <a:r>
              <a:rPr lang="el-GR" altLang="el-GR" sz="2400" b="1" dirty="0">
                <a:latin typeface="Tahoma" panose="020B0604030504040204" pitchFamily="34" charset="0"/>
                <a:ea typeface="Tahoma" panose="020B0604030504040204" pitchFamily="34" charset="0"/>
                <a:cs typeface="Tahoma" panose="020B0604030504040204" pitchFamily="34" charset="0"/>
              </a:rPr>
              <a:t>Μέρος Β</a:t>
            </a:r>
          </a:p>
          <a:p>
            <a:pPr eaLnBrk="1" hangingPunct="1">
              <a:lnSpc>
                <a:spcPct val="80000"/>
              </a:lnSpc>
            </a:pPr>
            <a:r>
              <a:rPr lang="el-GR" altLang="el-GR" sz="2400" b="1" dirty="0">
                <a:solidFill>
                  <a:srgbClr val="C00000"/>
                </a:solidFill>
                <a:latin typeface="Tahoma" panose="020B0604030504040204" pitchFamily="34" charset="0"/>
                <a:ea typeface="Tahoma" panose="020B0604030504040204" pitchFamily="34" charset="0"/>
                <a:cs typeface="Tahoma" panose="020B0604030504040204" pitchFamily="34" charset="0"/>
              </a:rPr>
              <a:t>Δραστηριότητα 7.3 </a:t>
            </a:r>
            <a:r>
              <a:rPr lang="el-GR" altLang="el-GR" sz="2400" b="1" dirty="0" err="1">
                <a:solidFill>
                  <a:srgbClr val="C00000"/>
                </a:solidFill>
                <a:latin typeface="Tahoma" panose="020B0604030504040204" pitchFamily="34" charset="0"/>
                <a:ea typeface="Tahoma" panose="020B0604030504040204" pitchFamily="34" charset="0"/>
                <a:cs typeface="Tahoma" panose="020B0604030504040204" pitchFamily="34" charset="0"/>
              </a:rPr>
              <a:t>Min_And_Max</a:t>
            </a:r>
            <a:endParaRPr lang="en-US" altLang="el-GR" sz="2400" b="1" dirty="0">
              <a:solidFill>
                <a:srgbClr val="C00000"/>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H </a:t>
            </a:r>
            <a:r>
              <a:rPr lang="el-GR" altLang="el-GR" sz="2000" dirty="0" err="1">
                <a:latin typeface="Tahoma" panose="020B0604030504040204" pitchFamily="34" charset="0"/>
                <a:ea typeface="Tahoma" panose="020B0604030504040204" pitchFamily="34" charset="0"/>
                <a:cs typeface="Tahoma" panose="020B0604030504040204" pitchFamily="34" charset="0"/>
              </a:rPr>
              <a:t>scanf</a:t>
            </a:r>
            <a:r>
              <a:rPr lang="el-GR" altLang="el-GR" sz="2000" dirty="0">
                <a:latin typeface="Tahoma" panose="020B0604030504040204" pitchFamily="34" charset="0"/>
                <a:ea typeface="Tahoma" panose="020B0604030504040204" pitchFamily="34" charset="0"/>
                <a:cs typeface="Tahoma" panose="020B0604030504040204" pitchFamily="34" charset="0"/>
              </a:rPr>
              <a:t> για αριθμούς</a:t>
            </a: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Πέρασμα ορίσματος κατά αναφορά (</a:t>
            </a:r>
            <a:r>
              <a:rPr lang="el-GR" altLang="el-GR" sz="2000" dirty="0" err="1">
                <a:latin typeface="Tahoma" panose="020B0604030504040204" pitchFamily="34" charset="0"/>
                <a:ea typeface="Tahoma" panose="020B0604030504040204" pitchFamily="34" charset="0"/>
                <a:cs typeface="Tahoma" panose="020B0604030504040204" pitchFamily="34" charset="0"/>
              </a:rPr>
              <a:t>call</a:t>
            </a:r>
            <a:r>
              <a:rPr lang="el-GR" altLang="el-GR" sz="2000" dirty="0">
                <a:latin typeface="Tahoma" panose="020B0604030504040204" pitchFamily="34" charset="0"/>
                <a:ea typeface="Tahoma" panose="020B0604030504040204" pitchFamily="34" charset="0"/>
                <a:cs typeface="Tahoma" panose="020B0604030504040204" pitchFamily="34" charset="0"/>
              </a:rPr>
              <a:t> </a:t>
            </a:r>
            <a:r>
              <a:rPr lang="el-GR" altLang="el-GR" sz="2000" dirty="0" err="1">
                <a:latin typeface="Tahoma" panose="020B0604030504040204" pitchFamily="34" charset="0"/>
                <a:ea typeface="Tahoma" panose="020B0604030504040204" pitchFamily="34" charset="0"/>
                <a:cs typeface="Tahoma" panose="020B0604030504040204" pitchFamily="34" charset="0"/>
              </a:rPr>
              <a:t>by</a:t>
            </a:r>
            <a:r>
              <a:rPr lang="el-GR" altLang="el-GR" sz="2000" dirty="0">
                <a:latin typeface="Tahoma" panose="020B0604030504040204" pitchFamily="34" charset="0"/>
                <a:ea typeface="Tahoma" panose="020B0604030504040204" pitchFamily="34" charset="0"/>
                <a:cs typeface="Tahoma" panose="020B0604030504040204" pitchFamily="34" charset="0"/>
              </a:rPr>
              <a:t> </a:t>
            </a:r>
            <a:r>
              <a:rPr lang="el-GR" altLang="el-GR" sz="2000" dirty="0" err="1">
                <a:latin typeface="Tahoma" panose="020B0604030504040204" pitchFamily="34" charset="0"/>
                <a:ea typeface="Tahoma" panose="020B0604030504040204" pitchFamily="34" charset="0"/>
                <a:cs typeface="Tahoma" panose="020B0604030504040204" pitchFamily="34" charset="0"/>
              </a:rPr>
              <a:t>reference</a:t>
            </a:r>
            <a:r>
              <a:rPr lang="el-GR" altLang="el-GR" sz="2000" dirty="0">
                <a:latin typeface="Tahoma" panose="020B0604030504040204" pitchFamily="34" charset="0"/>
                <a:ea typeface="Tahoma" panose="020B0604030504040204" pitchFamily="34" charset="0"/>
                <a:cs typeface="Tahoma" panose="020B0604030504040204" pitchFamily="34" charset="0"/>
              </a:rPr>
              <a:t>)</a:t>
            </a:r>
            <a:endParaRPr lang="en-US" altLang="el-GR" sz="20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7.4 </a:t>
            </a:r>
            <a:r>
              <a:rPr lang="en-US"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Temperature_Handling</a:t>
            </a:r>
            <a:endParaRPr lang="en-US"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Οργάνωση πληροφορίας</a:t>
            </a:r>
            <a:endParaRPr lang="en-US" altLang="el-GR" sz="2000" dirty="0">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Πολυδιάστατοι πίνακες</a:t>
            </a:r>
            <a:endParaRPr lang="en-US" altLang="el-GR" sz="2000" dirty="0">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Η συνάρτηση </a:t>
            </a:r>
            <a:r>
              <a:rPr lang="en-US" altLang="el-GR" sz="2000" dirty="0">
                <a:latin typeface="Tahoma" panose="020B0604030504040204" pitchFamily="34" charset="0"/>
                <a:ea typeface="Tahoma" panose="020B0604030504040204" pitchFamily="34" charset="0"/>
                <a:cs typeface="Tahoma" panose="020B0604030504040204" pitchFamily="34" charset="0"/>
              </a:rPr>
              <a:t>rand</a:t>
            </a:r>
            <a:endParaRPr lang="el-GR" altLang="el-GR" sz="2000" dirty="0">
              <a:latin typeface="Tahoma" panose="020B0604030504040204" pitchFamily="34" charset="0"/>
              <a:ea typeface="Tahoma" panose="020B0604030504040204" pitchFamily="34" charset="0"/>
              <a:cs typeface="Tahoma" panose="020B0604030504040204" pitchFamily="34" charset="0"/>
            </a:endParaRPr>
          </a:p>
          <a:p>
            <a:pPr marL="0" indent="0" eaLnBrk="1" hangingPunct="1">
              <a:lnSpc>
                <a:spcPct val="80000"/>
              </a:lnSpc>
              <a:buNone/>
            </a:pPr>
            <a:r>
              <a:rPr lang="el-GR" altLang="el-GR" sz="2000" b="1" dirty="0">
                <a:latin typeface="Tahoma" panose="020B0604030504040204" pitchFamily="34" charset="0"/>
                <a:ea typeface="Tahoma" panose="020B0604030504040204" pitchFamily="34" charset="0"/>
                <a:cs typeface="Tahoma" panose="020B0604030504040204" pitchFamily="34" charset="0"/>
              </a:rPr>
              <a:t>Μέρος Γ</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7.5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Add_Numbers</a:t>
            </a:r>
            <a:endPar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1800" dirty="0">
                <a:latin typeface="Tahoma" panose="020B0604030504040204" pitchFamily="34" charset="0"/>
                <a:ea typeface="Tahoma" panose="020B0604030504040204" pitchFamily="34" charset="0"/>
                <a:cs typeface="Tahoma" panose="020B0604030504040204" pitchFamily="34" charset="0"/>
              </a:rPr>
              <a:t>Σταδιακή ανάπτυξη αλγορίθμου</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7.6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Four_Digit_Numbers</a:t>
            </a:r>
            <a:endPar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1800" dirty="0">
                <a:latin typeface="Tahoma" panose="020B0604030504040204" pitchFamily="34" charset="0"/>
                <a:ea typeface="Tahoma" panose="020B0604030504040204" pitchFamily="34" charset="0"/>
                <a:cs typeface="Tahoma" panose="020B0604030504040204" pitchFamily="34" charset="0"/>
              </a:rPr>
              <a:t>Βελτίωση χρόνου εκτέλεσης</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7.7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Armstrong_Sequence_Generator</a:t>
            </a:r>
            <a:endPar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1800" dirty="0">
                <a:latin typeface="Tahoma" panose="020B0604030504040204" pitchFamily="34" charset="0"/>
                <a:ea typeface="Tahoma" panose="020B0604030504040204" pitchFamily="34" charset="0"/>
                <a:cs typeface="Tahoma" panose="020B0604030504040204" pitchFamily="34" charset="0"/>
              </a:rPr>
              <a:t>Αναδρομικότητα (</a:t>
            </a:r>
            <a:r>
              <a:rPr lang="en-GB" altLang="el-GR" sz="1800" dirty="0">
                <a:latin typeface="Tahoma" panose="020B0604030504040204" pitchFamily="34" charset="0"/>
                <a:ea typeface="Tahoma" panose="020B0604030504040204" pitchFamily="34" charset="0"/>
                <a:cs typeface="Tahoma" panose="020B0604030504040204" pitchFamily="34" charset="0"/>
              </a:rPr>
              <a:t>recursion)</a:t>
            </a:r>
            <a:endParaRPr lang="el-GR" altLang="el-GR" sz="18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7.8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RPN_Calculator</a:t>
            </a:r>
            <a:endParaRPr lang="en-US"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endParaRPr>
          </a:p>
        </p:txBody>
      </p:sp>
      <p:sp>
        <p:nvSpPr>
          <p:cNvPr id="5" name="Θέση υποσέλιδου 4">
            <a:extLst>
              <a:ext uri="{FF2B5EF4-FFF2-40B4-BE49-F238E27FC236}">
                <a16:creationId xmlns:a16="http://schemas.microsoft.com/office/drawing/2014/main" id="{84F3C577-3035-DE5B-AB78-B26E8D08BEE8}"/>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23604752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B28CF-E681-26C9-8D97-B3BCE1DFBBF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11F938E-4720-BC45-BB9B-C3E2B87F766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Δραστηριότητα 7.3  - </a:t>
            </a:r>
            <a:r>
              <a:rPr lang="en-GB" sz="4000" b="1" dirty="0">
                <a:solidFill>
                  <a:srgbClr val="F9853D"/>
                </a:solidFill>
                <a:latin typeface="Bahnschrift" panose="020B0502040204020203" pitchFamily="34" charset="0"/>
              </a:rPr>
              <a:t>MinAndMax</a:t>
            </a:r>
          </a:p>
        </p:txBody>
      </p:sp>
      <p:sp>
        <p:nvSpPr>
          <p:cNvPr id="3" name="Rectangle 2">
            <a:extLst>
              <a:ext uri="{FF2B5EF4-FFF2-40B4-BE49-F238E27FC236}">
                <a16:creationId xmlns:a16="http://schemas.microsoft.com/office/drawing/2014/main" id="{D99C3B9D-3E44-1536-B2C1-AA08E650683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F5DE8881-1F28-FAD6-ECCC-15C2C20030EE}"/>
              </a:ext>
            </a:extLst>
          </p:cNvPr>
          <p:cNvSpPr txBox="1">
            <a:spLocks/>
          </p:cNvSpPr>
          <p:nvPr/>
        </p:nvSpPr>
        <p:spPr bwMode="auto">
          <a:xfrm>
            <a:off x="-1" y="839666"/>
            <a:ext cx="12191999" cy="1416838"/>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800" b="1" kern="0" dirty="0">
                <a:solidFill>
                  <a:srgbClr val="000000"/>
                </a:solidFill>
                <a:latin typeface="Tahoma"/>
              </a:rPr>
              <a:t>Αναπτύξτε ένα πρόγραμμα </a:t>
            </a:r>
            <a:r>
              <a:rPr lang="el-GR" sz="2800" kern="0" dirty="0">
                <a:solidFill>
                  <a:srgbClr val="000000"/>
                </a:solidFill>
                <a:latin typeface="Tahoma"/>
              </a:rPr>
              <a:t>σύμφωνα με το οποίο το σύστημα θα δέχεται, από τη βασική είσοδο, μία ακολουθία n αριθμών και θα εμφανίζει τον αριθμό με τη μικρότερη τιμή καθώς και αυτόν με τη μεγαλύτερη.</a:t>
            </a:r>
            <a:endParaRPr lang="en-US" sz="1600" kern="0" dirty="0">
              <a:solidFill>
                <a:srgbClr val="000000"/>
              </a:solidFill>
              <a:latin typeface="Tahoma"/>
            </a:endParaRPr>
          </a:p>
        </p:txBody>
      </p:sp>
      <p:sp>
        <p:nvSpPr>
          <p:cNvPr id="4" name="TextBox 3">
            <a:extLst>
              <a:ext uri="{FF2B5EF4-FFF2-40B4-BE49-F238E27FC236}">
                <a16:creationId xmlns:a16="http://schemas.microsoft.com/office/drawing/2014/main" id="{1CB54534-43EF-2E56-7369-E7676D5386B0}"/>
              </a:ext>
            </a:extLst>
          </p:cNvPr>
          <p:cNvSpPr txBox="1"/>
          <p:nvPr/>
        </p:nvSpPr>
        <p:spPr>
          <a:xfrm>
            <a:off x="70334" y="3238221"/>
            <a:ext cx="12051331" cy="1569660"/>
          </a:xfrm>
          <a:prstGeom prst="rect">
            <a:avLst/>
          </a:prstGeom>
          <a:solidFill>
            <a:srgbClr val="92D050"/>
          </a:solidFill>
        </p:spPr>
        <p:txBody>
          <a:bodyPr wrap="square" rtlCol="0">
            <a:spAutoFit/>
          </a:bodyPr>
          <a:lstStyle/>
          <a:p>
            <a:pPr marL="342900" indent="-342900">
              <a:buFont typeface="Wingdings" panose="05000000000000000000" pitchFamily="2" charset="2"/>
              <a:buChar char="Ø"/>
            </a:pPr>
            <a:r>
              <a:rPr lang="el-GR" sz="3200" dirty="0"/>
              <a:t>Η Δραστηριότητα έχει στόχο την εξάσκηση με: </a:t>
            </a:r>
          </a:p>
          <a:p>
            <a:pPr marL="800100" lvl="1" indent="-342900">
              <a:buFont typeface="Wingdings" panose="05000000000000000000" pitchFamily="2" charset="2"/>
              <a:buChar char="Ø"/>
            </a:pPr>
            <a:r>
              <a:rPr lang="el-GR" sz="3200" dirty="0"/>
              <a:t>τον ορισμό αλγορίθμων με τη μορφή Λεκτικής περιγραφής, και,</a:t>
            </a:r>
          </a:p>
          <a:p>
            <a:pPr marL="800100" lvl="1" indent="-342900">
              <a:buFont typeface="Wingdings" panose="05000000000000000000" pitchFamily="2" charset="2"/>
              <a:buChar char="Ø"/>
            </a:pPr>
            <a:r>
              <a:rPr lang="el-GR" sz="3200" dirty="0"/>
              <a:t> την αξιοποίηση δεικτών σε εναλλακτικές υλοποιήσεις. </a:t>
            </a:r>
            <a:endParaRPr lang="en-GB" sz="2400" dirty="0"/>
          </a:p>
        </p:txBody>
      </p:sp>
      <p:grpSp>
        <p:nvGrpSpPr>
          <p:cNvPr id="14" name="Group 13">
            <a:extLst>
              <a:ext uri="{FF2B5EF4-FFF2-40B4-BE49-F238E27FC236}">
                <a16:creationId xmlns:a16="http://schemas.microsoft.com/office/drawing/2014/main" id="{A312BCEC-7495-A52A-C9A1-127C77C94F84}"/>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718EF5EC-6240-08EF-09DC-3401690F5A6A}"/>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4CBA5E8F-CA46-4D89-4467-369B19EA55D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FEC4CF8-BA63-2A51-3CA2-CBDC54C9842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5</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32F43745-73F8-8794-22D6-3DC4C9355229}"/>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9933775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897F7-041A-BF1B-B15A-335C48F6D64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8E355E2-BA55-6C39-44AA-F7DD1CED0B17}"/>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MinAndMax </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7-8 Πρώτα βήματα της διαδικασίας ανάπτυξης</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3C4F69BB-CD3A-91DD-C229-6573566EDE8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669B1209-E70C-6F0C-2F11-8BDFFADBBC98}"/>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15150E68-9627-75AB-E2DD-F1734F236F61}"/>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393E5DFC-D63E-460E-02F2-A857EC57D14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05E24A5-6E73-DDFD-F9A4-7D98E71BA0B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6</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1E37B0B3-80A4-9D7D-1219-B1FBE818815F}"/>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43A440F8-B383-47A4-3975-C7FFD5A72D24}"/>
              </a:ext>
            </a:extLst>
          </p:cNvPr>
          <p:cNvSpPr/>
          <p:nvPr/>
        </p:nvSpPr>
        <p:spPr>
          <a:xfrm>
            <a:off x="5957008" y="2295641"/>
            <a:ext cx="5829519" cy="3431772"/>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Δώστε την </a:t>
            </a:r>
            <a:r>
              <a:rPr lang="el-GR" sz="2800" b="1" dirty="0">
                <a:solidFill>
                  <a:srgbClr val="C00000"/>
                </a:solidFill>
              </a:rPr>
              <a:t>αφαιρετική αναπαράσταση </a:t>
            </a:r>
            <a:r>
              <a:rPr lang="el-GR" sz="2800" b="1" dirty="0">
                <a:solidFill>
                  <a:schemeClr val="bg1"/>
                </a:solidFill>
              </a:rPr>
              <a:t>της διεργασίας και περιγράψτε σε μορφή λεκτικής περιγραφής τον </a:t>
            </a:r>
            <a:r>
              <a:rPr lang="el-GR" sz="2800" b="1" dirty="0">
                <a:solidFill>
                  <a:srgbClr val="C00000"/>
                </a:solidFill>
              </a:rPr>
              <a:t>αλγόριθμο</a:t>
            </a:r>
            <a:r>
              <a:rPr lang="el-GR" sz="2800" b="1" dirty="0">
                <a:solidFill>
                  <a:schemeClr val="bg1"/>
                </a:solidFill>
              </a:rPr>
              <a:t> που θα υλοποιεί το πρόγραμμα σας. Δώστε δύο τουλάχιστο αλγορίθμους. Αξιοποιήστε αφαιρετικότητα στις διεργασίες. </a:t>
            </a:r>
            <a:endParaRPr lang="en-GB" sz="2800" b="1" dirty="0">
              <a:solidFill>
                <a:schemeClr val="bg1"/>
              </a:solidFill>
              <a:highlight>
                <a:srgbClr val="FFFF00"/>
              </a:highlight>
            </a:endParaRPr>
          </a:p>
        </p:txBody>
      </p:sp>
      <p:pic>
        <p:nvPicPr>
          <p:cNvPr id="7" name="Picture 6">
            <a:extLst>
              <a:ext uri="{FF2B5EF4-FFF2-40B4-BE49-F238E27FC236}">
                <a16:creationId xmlns:a16="http://schemas.microsoft.com/office/drawing/2014/main" id="{F0014977-B5D7-FC64-FDCF-80030DC5C691}"/>
              </a:ext>
            </a:extLst>
          </p:cNvPr>
          <p:cNvPicPr>
            <a:picLocks noChangeAspect="1"/>
          </p:cNvPicPr>
          <p:nvPr/>
        </p:nvPicPr>
        <p:blipFill>
          <a:blip r:embed="rId3"/>
          <a:stretch>
            <a:fillRect/>
          </a:stretch>
        </p:blipFill>
        <p:spPr>
          <a:xfrm>
            <a:off x="140669" y="2557612"/>
            <a:ext cx="5019554" cy="3695704"/>
          </a:xfrm>
          <a:prstGeom prst="rect">
            <a:avLst/>
          </a:prstGeom>
        </p:spPr>
      </p:pic>
      <p:sp>
        <p:nvSpPr>
          <p:cNvPr id="4" name="Content Placeholder 2">
            <a:extLst>
              <a:ext uri="{FF2B5EF4-FFF2-40B4-BE49-F238E27FC236}">
                <a16:creationId xmlns:a16="http://schemas.microsoft.com/office/drawing/2014/main" id="{324A4797-CD10-6C3D-D751-18C5807E364B}"/>
              </a:ext>
            </a:extLst>
          </p:cNvPr>
          <p:cNvSpPr txBox="1">
            <a:spLocks/>
          </p:cNvSpPr>
          <p:nvPr/>
        </p:nvSpPr>
        <p:spPr bwMode="auto">
          <a:xfrm>
            <a:off x="-60487" y="1130587"/>
            <a:ext cx="12191999" cy="719331"/>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1800" b="1" kern="0" dirty="0">
                <a:solidFill>
                  <a:srgbClr val="000000"/>
                </a:solidFill>
                <a:latin typeface="Tahoma"/>
              </a:rPr>
              <a:t>Αναπτύξτε ένα πρόγραμμα </a:t>
            </a:r>
            <a:r>
              <a:rPr lang="el-GR" sz="1800" kern="0" dirty="0">
                <a:solidFill>
                  <a:srgbClr val="000000"/>
                </a:solidFill>
                <a:latin typeface="Tahoma"/>
              </a:rPr>
              <a:t>σύμφωνα με το οποίο το σύστημα θα δέχεται, από τη βασική είσοδο, μία ακολουθία n αριθμών και θα εμφανίζει τον αριθμό με τη μικρότερη τιμή καθώς και αυτόν με τη μεγαλύτερη.</a:t>
            </a:r>
            <a:endParaRPr lang="en-US" sz="1100" kern="0" dirty="0">
              <a:solidFill>
                <a:srgbClr val="000000"/>
              </a:solidFill>
              <a:latin typeface="Tahoma"/>
            </a:endParaRPr>
          </a:p>
        </p:txBody>
      </p:sp>
    </p:spTree>
    <p:extLst>
      <p:ext uri="{BB962C8B-B14F-4D97-AF65-F5344CB8AC3E}">
        <p14:creationId xmlns:p14="http://schemas.microsoft.com/office/powerpoint/2010/main" val="123488366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A657E-87EA-629A-AEBF-2837A68E2F0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8A8ED39F-CC96-3566-A78F-2C8526FCAEF6}"/>
              </a:ext>
            </a:extLst>
          </p:cNvPr>
          <p:cNvSpPr>
            <a:spLocks noGrp="1"/>
          </p:cNvSpPr>
          <p:nvPr>
            <p:ph type="title"/>
          </p:nvPr>
        </p:nvSpPr>
        <p:spPr>
          <a:xfrm>
            <a:off x="0" y="0"/>
            <a:ext cx="12191999" cy="719331"/>
          </a:xfrm>
          <a:solidFill>
            <a:srgbClr val="FDCBAD"/>
          </a:solidFill>
        </p:spPr>
        <p:txBody>
          <a:bodyPr>
            <a:normAutofit fontScale="90000"/>
          </a:bodyPr>
          <a:lstStyle/>
          <a:p>
            <a:r>
              <a:rPr lang="en-US" b="1" dirty="0">
                <a:solidFill>
                  <a:srgbClr val="F9853D"/>
                </a:solidFill>
                <a:latin typeface="Bahnschrift" panose="020B0502040204020203" pitchFamily="34" charset="0"/>
              </a:rPr>
              <a:t>MinAndMax </a:t>
            </a: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7-8 Πρώτα βήματα της διαδικασίας ανάπτυξης</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1C38A41C-64C1-7C1D-8FE5-21104215710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8EB441AA-D888-4247-F9C7-97A41A4426FE}"/>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73BC1083-0DDB-7EE5-0585-69FAFF830327}"/>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4D2560AE-575C-AA52-C2CC-EDF9A1C4CBF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79DD20D-89A6-A91D-1A16-60D86001985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7</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E2A5A41B-2E10-1E5E-20C9-8766DC04D0BF}"/>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4" name="Content Placeholder 2">
            <a:extLst>
              <a:ext uri="{FF2B5EF4-FFF2-40B4-BE49-F238E27FC236}">
                <a16:creationId xmlns:a16="http://schemas.microsoft.com/office/drawing/2014/main" id="{FF8AE33C-8722-5F6F-0E52-37A4AADBA328}"/>
              </a:ext>
            </a:extLst>
          </p:cNvPr>
          <p:cNvSpPr txBox="1">
            <a:spLocks/>
          </p:cNvSpPr>
          <p:nvPr/>
        </p:nvSpPr>
        <p:spPr bwMode="auto">
          <a:xfrm>
            <a:off x="-1" y="839666"/>
            <a:ext cx="12191999" cy="719331"/>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1800" b="1" kern="0" dirty="0">
                <a:solidFill>
                  <a:srgbClr val="000000"/>
                </a:solidFill>
                <a:latin typeface="Tahoma"/>
              </a:rPr>
              <a:t>Αναπτύξτε ένα πρόγραμμα </a:t>
            </a:r>
            <a:r>
              <a:rPr lang="el-GR" sz="1800" kern="0" dirty="0">
                <a:solidFill>
                  <a:srgbClr val="000000"/>
                </a:solidFill>
                <a:latin typeface="Tahoma"/>
              </a:rPr>
              <a:t>σύμφωνα με το οποίο το σύστημα θα δέχεται, από τη βασική είσοδο, μία ακολουθία n αριθμών και θα εμφανίζει τον αριθμό με τη μικρότερη τιμή καθώς και αυτόν με τη μεγαλύτερη.</a:t>
            </a:r>
            <a:endParaRPr lang="en-US" sz="1100" kern="0" dirty="0">
              <a:solidFill>
                <a:srgbClr val="000000"/>
              </a:solidFill>
              <a:latin typeface="Tahoma"/>
            </a:endParaRPr>
          </a:p>
        </p:txBody>
      </p:sp>
      <p:pic>
        <p:nvPicPr>
          <p:cNvPr id="9" name="Picture 8" descr="A green oval with black text&#10;&#10;AI-generated content may be incorrect.">
            <a:extLst>
              <a:ext uri="{FF2B5EF4-FFF2-40B4-BE49-F238E27FC236}">
                <a16:creationId xmlns:a16="http://schemas.microsoft.com/office/drawing/2014/main" id="{09C24ABB-336A-C96E-DFE2-049C692F21F4}"/>
              </a:ext>
            </a:extLst>
          </p:cNvPr>
          <p:cNvPicPr>
            <a:picLocks noChangeAspect="1"/>
          </p:cNvPicPr>
          <p:nvPr/>
        </p:nvPicPr>
        <p:blipFill>
          <a:blip r:embed="rId3"/>
          <a:stretch>
            <a:fillRect/>
          </a:stretch>
        </p:blipFill>
        <p:spPr>
          <a:xfrm>
            <a:off x="0" y="1796843"/>
            <a:ext cx="6788374" cy="1670537"/>
          </a:xfrm>
          <a:prstGeom prst="rect">
            <a:avLst/>
          </a:prstGeom>
        </p:spPr>
      </p:pic>
      <p:pic>
        <p:nvPicPr>
          <p:cNvPr id="12" name="Picture 11">
            <a:extLst>
              <a:ext uri="{FF2B5EF4-FFF2-40B4-BE49-F238E27FC236}">
                <a16:creationId xmlns:a16="http://schemas.microsoft.com/office/drawing/2014/main" id="{5E4F5863-283F-B0FE-DFED-3B7CBF305F68}"/>
              </a:ext>
            </a:extLst>
          </p:cNvPr>
          <p:cNvPicPr>
            <a:picLocks noChangeAspect="1"/>
          </p:cNvPicPr>
          <p:nvPr/>
        </p:nvPicPr>
        <p:blipFill>
          <a:blip r:embed="rId4"/>
          <a:stretch>
            <a:fillRect/>
          </a:stretch>
        </p:blipFill>
        <p:spPr>
          <a:xfrm>
            <a:off x="167430" y="3554362"/>
            <a:ext cx="4782607" cy="2920149"/>
          </a:xfrm>
          <a:prstGeom prst="rect">
            <a:avLst/>
          </a:prstGeom>
        </p:spPr>
      </p:pic>
      <p:pic>
        <p:nvPicPr>
          <p:cNvPr id="13" name="Picture 12">
            <a:extLst>
              <a:ext uri="{FF2B5EF4-FFF2-40B4-BE49-F238E27FC236}">
                <a16:creationId xmlns:a16="http://schemas.microsoft.com/office/drawing/2014/main" id="{CB71ACC4-7C6D-4532-2768-BB1D7C2CAE07}"/>
              </a:ext>
            </a:extLst>
          </p:cNvPr>
          <p:cNvPicPr>
            <a:picLocks noChangeAspect="1"/>
          </p:cNvPicPr>
          <p:nvPr/>
        </p:nvPicPr>
        <p:blipFill>
          <a:blip r:embed="rId5"/>
          <a:stretch>
            <a:fillRect/>
          </a:stretch>
        </p:blipFill>
        <p:spPr>
          <a:xfrm>
            <a:off x="6745851" y="1558997"/>
            <a:ext cx="5446147" cy="2304605"/>
          </a:xfrm>
          <a:prstGeom prst="rect">
            <a:avLst/>
          </a:prstGeom>
        </p:spPr>
      </p:pic>
      <p:sp>
        <p:nvSpPr>
          <p:cNvPr id="15" name="Speech Bubble: Rectangle with Corners Rounded 14">
            <a:extLst>
              <a:ext uri="{FF2B5EF4-FFF2-40B4-BE49-F238E27FC236}">
                <a16:creationId xmlns:a16="http://schemas.microsoft.com/office/drawing/2014/main" id="{DA710099-5AE4-1CE8-1757-695E262187A4}"/>
              </a:ext>
            </a:extLst>
          </p:cNvPr>
          <p:cNvSpPr/>
          <p:nvPr/>
        </p:nvSpPr>
        <p:spPr>
          <a:xfrm>
            <a:off x="6096000" y="4247534"/>
            <a:ext cx="5732206" cy="2094271"/>
          </a:xfrm>
          <a:prstGeom prst="wedgeRoundRectCallout">
            <a:avLst>
              <a:gd name="adj1" fmla="val -51329"/>
              <a:gd name="adj2" fmla="val 68702"/>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3200" b="1" dirty="0"/>
              <a:t>Δώστε μια Λεκτική Περιγραφή που βασίζεται στην είσοδο πρώτα όλων των αριθμών της ακολουθίας</a:t>
            </a:r>
            <a:endParaRPr lang="en-GB" sz="3200" b="1" dirty="0"/>
          </a:p>
        </p:txBody>
      </p:sp>
      <p:sp>
        <p:nvSpPr>
          <p:cNvPr id="16" name="TextBox 15">
            <a:extLst>
              <a:ext uri="{FF2B5EF4-FFF2-40B4-BE49-F238E27FC236}">
                <a16:creationId xmlns:a16="http://schemas.microsoft.com/office/drawing/2014/main" id="{CD818E4D-BF5C-794C-6DCB-FF817544E500}"/>
              </a:ext>
            </a:extLst>
          </p:cNvPr>
          <p:cNvSpPr txBox="1"/>
          <p:nvPr/>
        </p:nvSpPr>
        <p:spPr>
          <a:xfrm>
            <a:off x="10164871" y="2772328"/>
            <a:ext cx="3049493" cy="523220"/>
          </a:xfrm>
          <a:prstGeom prst="rect">
            <a:avLst/>
          </a:prstGeom>
          <a:noFill/>
        </p:spPr>
        <p:txBody>
          <a:bodyPr wrap="square">
            <a:spAutoFit/>
          </a:bodyPr>
          <a:lstStyle/>
          <a:p>
            <a:r>
              <a:rPr lang="el-GR" sz="2800" b="1" dirty="0">
                <a:solidFill>
                  <a:srgbClr val="F9853D"/>
                </a:solidFill>
                <a:latin typeface="Bahnschrift" panose="020B0502040204020203" pitchFamily="34" charset="0"/>
              </a:rPr>
              <a:t>2</a:t>
            </a:r>
            <a:r>
              <a:rPr lang="el-GR" sz="2800" b="1" baseline="30000" dirty="0">
                <a:solidFill>
                  <a:srgbClr val="F9853D"/>
                </a:solidFill>
                <a:latin typeface="Bahnschrift" panose="020B0502040204020203" pitchFamily="34" charset="0"/>
              </a:rPr>
              <a:t>η</a:t>
            </a:r>
            <a:r>
              <a:rPr lang="el-GR" sz="2800" b="1" dirty="0">
                <a:solidFill>
                  <a:srgbClr val="F9853D"/>
                </a:solidFill>
                <a:latin typeface="Bahnschrift" panose="020B0502040204020203" pitchFamily="34" charset="0"/>
              </a:rPr>
              <a:t> εκδοχή</a:t>
            </a:r>
            <a:endParaRPr lang="en-GB" sz="2800" dirty="0"/>
          </a:p>
        </p:txBody>
      </p:sp>
    </p:spTree>
    <p:extLst>
      <p:ext uri="{BB962C8B-B14F-4D97-AF65-F5344CB8AC3E}">
        <p14:creationId xmlns:p14="http://schemas.microsoft.com/office/powerpoint/2010/main" val="37572169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987D6-10DA-63A6-9B20-36C841155043}"/>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E8F6E4A-1229-6825-D5BA-E367A2BD39DC}"/>
              </a:ext>
            </a:extLst>
          </p:cNvPr>
          <p:cNvSpPr>
            <a:spLocks noGrp="1"/>
          </p:cNvSpPr>
          <p:nvPr>
            <p:ph type="title"/>
          </p:nvPr>
        </p:nvSpPr>
        <p:spPr>
          <a:xfrm>
            <a:off x="0" y="0"/>
            <a:ext cx="12191999" cy="719331"/>
          </a:xfrm>
          <a:solidFill>
            <a:srgbClr val="FDCBAD"/>
          </a:solidFill>
        </p:spPr>
        <p:txBody>
          <a:bodyPr>
            <a:normAutofit/>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Λεκτική Περιγραφή </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E2BCF0FB-412A-3F75-A263-07A51D20B43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0CF84D44-BAD0-F6BD-0A44-0CE88A1985A4}"/>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44997A8F-09C7-AB49-E39E-DD87181BD377}"/>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666391F5-FDF8-B88F-B3EF-9BE08A702BB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25F876C-3616-C111-5CB1-1195C210CB6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8</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29144A8F-5EF6-926E-7148-538601C1C63B}"/>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9" name="Picture 8" descr="A close-up of a text&#10;&#10;AI-generated content may be incorrect.">
            <a:extLst>
              <a:ext uri="{FF2B5EF4-FFF2-40B4-BE49-F238E27FC236}">
                <a16:creationId xmlns:a16="http://schemas.microsoft.com/office/drawing/2014/main" id="{1F3E210A-46A1-C9AD-70C1-D12F4C7D15D5}"/>
              </a:ext>
            </a:extLst>
          </p:cNvPr>
          <p:cNvPicPr>
            <a:picLocks noChangeAspect="1"/>
          </p:cNvPicPr>
          <p:nvPr/>
        </p:nvPicPr>
        <p:blipFill>
          <a:blip r:embed="rId3"/>
          <a:stretch>
            <a:fillRect/>
          </a:stretch>
        </p:blipFill>
        <p:spPr>
          <a:xfrm>
            <a:off x="87660" y="1349421"/>
            <a:ext cx="8903155" cy="2746795"/>
          </a:xfrm>
          <a:prstGeom prst="rect">
            <a:avLst/>
          </a:prstGeom>
        </p:spPr>
      </p:pic>
      <p:pic>
        <p:nvPicPr>
          <p:cNvPr id="12" name="Picture 11">
            <a:extLst>
              <a:ext uri="{FF2B5EF4-FFF2-40B4-BE49-F238E27FC236}">
                <a16:creationId xmlns:a16="http://schemas.microsoft.com/office/drawing/2014/main" id="{61A87B00-9CC9-76F5-8A10-E03822B8F006}"/>
              </a:ext>
            </a:extLst>
          </p:cNvPr>
          <p:cNvPicPr>
            <a:picLocks noChangeAspect="1"/>
          </p:cNvPicPr>
          <p:nvPr/>
        </p:nvPicPr>
        <p:blipFill>
          <a:blip r:embed="rId4"/>
          <a:stretch>
            <a:fillRect/>
          </a:stretch>
        </p:blipFill>
        <p:spPr>
          <a:xfrm>
            <a:off x="190899" y="4514153"/>
            <a:ext cx="10767079" cy="1724415"/>
          </a:xfrm>
          <a:prstGeom prst="rect">
            <a:avLst/>
          </a:prstGeom>
        </p:spPr>
      </p:pic>
      <p:sp>
        <p:nvSpPr>
          <p:cNvPr id="15" name="TextBox 14">
            <a:extLst>
              <a:ext uri="{FF2B5EF4-FFF2-40B4-BE49-F238E27FC236}">
                <a16:creationId xmlns:a16="http://schemas.microsoft.com/office/drawing/2014/main" id="{826790A8-FC1B-0EC3-19C0-CE1A1D867628}"/>
              </a:ext>
            </a:extLst>
          </p:cNvPr>
          <p:cNvSpPr txBox="1"/>
          <p:nvPr/>
        </p:nvSpPr>
        <p:spPr>
          <a:xfrm>
            <a:off x="190899" y="901700"/>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3</a:t>
            </a:r>
            <a:r>
              <a:rPr lang="el-GR" sz="3200" b="1" baseline="30000" dirty="0">
                <a:solidFill>
                  <a:srgbClr val="F9853D"/>
                </a:solidFill>
                <a:latin typeface="Bahnschrift" panose="020B0502040204020203" pitchFamily="34" charset="0"/>
              </a:rPr>
              <a:t>η</a:t>
            </a:r>
            <a:r>
              <a:rPr lang="el-GR" sz="3200" b="1" dirty="0">
                <a:solidFill>
                  <a:srgbClr val="F9853D"/>
                </a:solidFill>
                <a:latin typeface="Bahnschrift" panose="020B0502040204020203" pitchFamily="34" charset="0"/>
              </a:rPr>
              <a:t> εκδοχή</a:t>
            </a:r>
            <a:endParaRPr lang="en-GB" sz="3200" dirty="0"/>
          </a:p>
        </p:txBody>
      </p:sp>
      <p:sp>
        <p:nvSpPr>
          <p:cNvPr id="16" name="TextBox 15">
            <a:extLst>
              <a:ext uri="{FF2B5EF4-FFF2-40B4-BE49-F238E27FC236}">
                <a16:creationId xmlns:a16="http://schemas.microsoft.com/office/drawing/2014/main" id="{2C18231F-C509-1E9E-7DCA-B84BD0175D00}"/>
              </a:ext>
            </a:extLst>
          </p:cNvPr>
          <p:cNvSpPr txBox="1"/>
          <p:nvPr/>
        </p:nvSpPr>
        <p:spPr>
          <a:xfrm>
            <a:off x="190899" y="4033046"/>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4</a:t>
            </a:r>
            <a:r>
              <a:rPr lang="el-GR" sz="3200" b="1" baseline="30000" dirty="0">
                <a:solidFill>
                  <a:srgbClr val="F9853D"/>
                </a:solidFill>
                <a:latin typeface="Bahnschrift" panose="020B0502040204020203" pitchFamily="34" charset="0"/>
              </a:rPr>
              <a:t>η</a:t>
            </a:r>
            <a:r>
              <a:rPr lang="el-GR" sz="3200" b="1" dirty="0">
                <a:solidFill>
                  <a:srgbClr val="F9853D"/>
                </a:solidFill>
                <a:latin typeface="Bahnschrift" panose="020B0502040204020203" pitchFamily="34" charset="0"/>
              </a:rPr>
              <a:t> εκδοχή</a:t>
            </a:r>
            <a:endParaRPr lang="en-GB" sz="3200" dirty="0"/>
          </a:p>
        </p:txBody>
      </p:sp>
      <p:sp>
        <p:nvSpPr>
          <p:cNvPr id="19" name="Callout: Bent Line 18">
            <a:extLst>
              <a:ext uri="{FF2B5EF4-FFF2-40B4-BE49-F238E27FC236}">
                <a16:creationId xmlns:a16="http://schemas.microsoft.com/office/drawing/2014/main" id="{2F72A247-AC7E-1C3E-85C6-B88E5DEFA65B}"/>
              </a:ext>
            </a:extLst>
          </p:cNvPr>
          <p:cNvSpPr/>
          <p:nvPr/>
        </p:nvSpPr>
        <p:spPr>
          <a:xfrm>
            <a:off x="8351370" y="1468615"/>
            <a:ext cx="3284805" cy="584775"/>
          </a:xfrm>
          <a:prstGeom prst="borderCallout2">
            <a:avLst>
              <a:gd name="adj1" fmla="val 49015"/>
              <a:gd name="adj2" fmla="val -700"/>
              <a:gd name="adj3" fmla="val 84324"/>
              <a:gd name="adj4" fmla="val -16218"/>
              <a:gd name="adj5" fmla="val 109978"/>
              <a:gd name="adj6" fmla="val -91566"/>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rgbClr val="202122"/>
                </a:solidFill>
                <a:latin typeface="Courier New" panose="02070309020205020404" pitchFamily="49" charset="0"/>
                <a:ea typeface="Calibri" panose="020F0502020204030204" pitchFamily="34" charset="0"/>
                <a:cs typeface="Courier New" panose="02070309020205020404" pitchFamily="49" charset="0"/>
              </a:rPr>
              <a:t>getArrayOfInts</a:t>
            </a:r>
            <a:r>
              <a:rPr lang="en-US" sz="2800" b="1" dirty="0">
                <a:solidFill>
                  <a:srgbClr val="202122"/>
                </a:solidFill>
                <a:latin typeface="Calibri" panose="020F0502020204030204" pitchFamily="34" charset="0"/>
                <a:ea typeface="Calibri" panose="020F0502020204030204" pitchFamily="34" charset="0"/>
              </a:rPr>
              <a:t> </a:t>
            </a:r>
            <a:endParaRPr lang="en-GB" sz="2800" b="1" dirty="0"/>
          </a:p>
        </p:txBody>
      </p:sp>
      <p:sp>
        <p:nvSpPr>
          <p:cNvPr id="20" name="Callout: Bent Line 19">
            <a:extLst>
              <a:ext uri="{FF2B5EF4-FFF2-40B4-BE49-F238E27FC236}">
                <a16:creationId xmlns:a16="http://schemas.microsoft.com/office/drawing/2014/main" id="{621974A9-F238-0089-792C-CAD1EAD96A8F}"/>
              </a:ext>
            </a:extLst>
          </p:cNvPr>
          <p:cNvSpPr/>
          <p:nvPr/>
        </p:nvSpPr>
        <p:spPr>
          <a:xfrm>
            <a:off x="7383195" y="4994219"/>
            <a:ext cx="3574783" cy="584775"/>
          </a:xfrm>
          <a:prstGeom prst="borderCallout2">
            <a:avLst>
              <a:gd name="adj1" fmla="val 49015"/>
              <a:gd name="adj2" fmla="val -700"/>
              <a:gd name="adj3" fmla="val 84324"/>
              <a:gd name="adj4" fmla="val -16218"/>
              <a:gd name="adj5" fmla="val 107456"/>
              <a:gd name="adj6" fmla="val -11673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err="1">
                <a:solidFill>
                  <a:srgbClr val="202122"/>
                </a:solidFill>
                <a:latin typeface="Courier New" panose="02070309020205020404" pitchFamily="49" charset="0"/>
                <a:ea typeface="Calibri" panose="020F0502020204030204" pitchFamily="34" charset="0"/>
                <a:cs typeface="Courier New" panose="02070309020205020404" pitchFamily="49" charset="0"/>
              </a:rPr>
              <a:t>sortIntArrayInc</a:t>
            </a:r>
            <a:r>
              <a:rPr lang="en-US" sz="2800" b="1" dirty="0">
                <a:solidFill>
                  <a:srgbClr val="202122"/>
                </a:solidFill>
                <a:latin typeface="Calibri" panose="020F0502020204030204" pitchFamily="34" charset="0"/>
                <a:ea typeface="Calibri" panose="020F0502020204030204" pitchFamily="34" charset="0"/>
              </a:rPr>
              <a:t> </a:t>
            </a:r>
            <a:endParaRPr lang="en-GB" sz="2800" b="1" dirty="0"/>
          </a:p>
        </p:txBody>
      </p:sp>
    </p:spTree>
    <p:extLst>
      <p:ext uri="{BB962C8B-B14F-4D97-AF65-F5344CB8AC3E}">
        <p14:creationId xmlns:p14="http://schemas.microsoft.com/office/powerpoint/2010/main" val="29070383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43CCE-E8D5-BEBB-15DF-0140C97EF49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00CC676-308D-8FE8-C763-810BED896CAE}"/>
              </a:ext>
            </a:extLst>
          </p:cNvPr>
          <p:cNvSpPr>
            <a:spLocks noGrp="1"/>
          </p:cNvSpPr>
          <p:nvPr>
            <p:ph type="title"/>
          </p:nvPr>
        </p:nvSpPr>
        <p:spPr>
          <a:xfrm>
            <a:off x="0" y="0"/>
            <a:ext cx="12191999" cy="719331"/>
          </a:xfrm>
          <a:solidFill>
            <a:srgbClr val="FDCBAD"/>
          </a:solidFill>
        </p:spPr>
        <p:txBody>
          <a:bodyPr>
            <a:normAutofit/>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Source Code V1</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0C4BD580-17FF-4985-9F80-B392D668935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A1FB1844-83B9-109B-2741-1FBACBEAAC61}"/>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6927B2D4-1740-6562-9585-56B0BCB6BD74}"/>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01A0C0C4-B404-52D9-DD97-41F86610A32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FF4CD88-C5EB-D12A-AC35-0A5E77570A7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9</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35B90444-A41F-A99F-EF85-DD09CBE3F118}"/>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5" name="Picture 4">
            <a:extLst>
              <a:ext uri="{FF2B5EF4-FFF2-40B4-BE49-F238E27FC236}">
                <a16:creationId xmlns:a16="http://schemas.microsoft.com/office/drawing/2014/main" id="{792D6213-8469-8455-3E2D-51FFACD55AD1}"/>
              </a:ext>
            </a:extLst>
          </p:cNvPr>
          <p:cNvPicPr>
            <a:picLocks noChangeAspect="1"/>
          </p:cNvPicPr>
          <p:nvPr/>
        </p:nvPicPr>
        <p:blipFill>
          <a:blip r:embed="rId3"/>
          <a:stretch>
            <a:fillRect/>
          </a:stretch>
        </p:blipFill>
        <p:spPr>
          <a:xfrm>
            <a:off x="305244" y="773444"/>
            <a:ext cx="6914927" cy="5617487"/>
          </a:xfrm>
          <a:prstGeom prst="rect">
            <a:avLst/>
          </a:prstGeom>
        </p:spPr>
      </p:pic>
      <p:sp>
        <p:nvSpPr>
          <p:cNvPr id="13" name="Callout: Bent Line 12">
            <a:extLst>
              <a:ext uri="{FF2B5EF4-FFF2-40B4-BE49-F238E27FC236}">
                <a16:creationId xmlns:a16="http://schemas.microsoft.com/office/drawing/2014/main" id="{88B3FF47-48F6-CDA9-7A18-FD8787FB33B1}"/>
              </a:ext>
            </a:extLst>
          </p:cNvPr>
          <p:cNvSpPr/>
          <p:nvPr/>
        </p:nvSpPr>
        <p:spPr>
          <a:xfrm>
            <a:off x="8314890" y="1936408"/>
            <a:ext cx="3699961" cy="1713082"/>
          </a:xfrm>
          <a:prstGeom prst="borderCallout2">
            <a:avLst>
              <a:gd name="adj1" fmla="val 49015"/>
              <a:gd name="adj2" fmla="val -700"/>
              <a:gd name="adj3" fmla="val 46444"/>
              <a:gd name="adj4" fmla="val -133011"/>
              <a:gd name="adj5" fmla="val 50574"/>
              <a:gd name="adj6" fmla="val -142190"/>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l-GR" sz="2400" dirty="0">
                <a:solidFill>
                  <a:srgbClr val="202122"/>
                </a:solidFill>
                <a:latin typeface="Tahoma" panose="020B0604030504040204" pitchFamily="34" charset="0"/>
                <a:ea typeface="Tahoma" panose="020B0604030504040204" pitchFamily="34" charset="0"/>
                <a:cs typeface="Tahoma" panose="020B0604030504040204" pitchFamily="34" charset="0"/>
              </a:rPr>
              <a:t>ο τελεστής ανάθεσης έχει </a:t>
            </a:r>
            <a:r>
              <a:rPr lang="el-GR" sz="2400" dirty="0" err="1">
                <a:solidFill>
                  <a:srgbClr val="202122"/>
                </a:solidFill>
                <a:latin typeface="Tahoma" panose="020B0604030504040204" pitchFamily="34" charset="0"/>
                <a:ea typeface="Tahoma" panose="020B0604030504040204" pitchFamily="34" charset="0"/>
                <a:cs typeface="Tahoma" panose="020B0604030504040204" pitchFamily="34" charset="0"/>
              </a:rPr>
              <a:t>προσαιτεριστικότητα</a:t>
            </a:r>
            <a:r>
              <a:rPr lang="el-GR" sz="2400" dirty="0">
                <a:solidFill>
                  <a:srgbClr val="202122"/>
                </a:solidFill>
                <a:latin typeface="Tahoma" panose="020B0604030504040204" pitchFamily="34" charset="0"/>
                <a:ea typeface="Tahoma" panose="020B0604030504040204" pitchFamily="34" charset="0"/>
                <a:cs typeface="Tahoma" panose="020B0604030504040204" pitchFamily="34" charset="0"/>
              </a:rPr>
              <a:t>  (</a:t>
            </a:r>
            <a:r>
              <a:rPr lang="el-GR" sz="2400" dirty="0" err="1">
                <a:solidFill>
                  <a:srgbClr val="202122"/>
                </a:solidFill>
                <a:latin typeface="Tahoma" panose="020B0604030504040204" pitchFamily="34" charset="0"/>
                <a:ea typeface="Tahoma" panose="020B0604030504040204" pitchFamily="34" charset="0"/>
                <a:cs typeface="Tahoma" panose="020B0604030504040204" pitchFamily="34" charset="0"/>
              </a:rPr>
              <a:t>Associativity</a:t>
            </a:r>
            <a:r>
              <a:rPr lang="el-GR" sz="2400" dirty="0">
                <a:solidFill>
                  <a:srgbClr val="202122"/>
                </a:solidFill>
                <a:latin typeface="Tahoma" panose="020B0604030504040204" pitchFamily="34" charset="0"/>
                <a:ea typeface="Tahoma" panose="020B0604030504040204" pitchFamily="34" charset="0"/>
                <a:cs typeface="Tahoma" panose="020B0604030504040204" pitchFamily="34" charset="0"/>
              </a:rPr>
              <a:t>) από δεξιά προς τα αριστερά</a:t>
            </a:r>
            <a:endParaRPr lang="en-GB" sz="2400" dirty="0">
              <a:latin typeface="Tahoma" panose="020B0604030504040204" pitchFamily="34" charset="0"/>
              <a:ea typeface="Tahoma" panose="020B0604030504040204" pitchFamily="34" charset="0"/>
              <a:cs typeface="Tahoma" panose="020B0604030504040204" pitchFamily="34" charset="0"/>
            </a:endParaRPr>
          </a:p>
        </p:txBody>
      </p:sp>
      <p:sp>
        <p:nvSpPr>
          <p:cNvPr id="17" name="Callout: Bent Line 16">
            <a:extLst>
              <a:ext uri="{FF2B5EF4-FFF2-40B4-BE49-F238E27FC236}">
                <a16:creationId xmlns:a16="http://schemas.microsoft.com/office/drawing/2014/main" id="{D15F7CE8-FA98-21F0-CA55-E23CACF9395E}"/>
              </a:ext>
            </a:extLst>
          </p:cNvPr>
          <p:cNvSpPr/>
          <p:nvPr/>
        </p:nvSpPr>
        <p:spPr>
          <a:xfrm>
            <a:off x="6448828" y="3945590"/>
            <a:ext cx="4907430" cy="584775"/>
          </a:xfrm>
          <a:prstGeom prst="borderCallout2">
            <a:avLst>
              <a:gd name="adj1" fmla="val 49015"/>
              <a:gd name="adj2" fmla="val -700"/>
              <a:gd name="adj3" fmla="val 3618"/>
              <a:gd name="adj4" fmla="val -23829"/>
              <a:gd name="adj5" fmla="val -16124"/>
              <a:gd name="adj6" fmla="val -40381"/>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err="1">
                <a:solidFill>
                  <a:srgbClr val="202122"/>
                </a:solidFill>
                <a:latin typeface="Courier New" panose="02070309020205020404" pitchFamily="49" charset="0"/>
                <a:ea typeface="Calibri" panose="020F0502020204030204" pitchFamily="34" charset="0"/>
                <a:cs typeface="Courier New" panose="02070309020205020404" pitchFamily="49" charset="0"/>
              </a:rPr>
              <a:t>scanf</a:t>
            </a:r>
            <a:r>
              <a:rPr lang="en-US" sz="2800" b="1" dirty="0">
                <a:solidFill>
                  <a:srgbClr val="202122"/>
                </a:solidFill>
                <a:latin typeface="Courier New" panose="02070309020205020404" pitchFamily="49" charset="0"/>
                <a:ea typeface="Calibri" panose="020F0502020204030204" pitchFamily="34" charset="0"/>
                <a:cs typeface="Courier New" panose="02070309020205020404" pitchFamily="49" charset="0"/>
              </a:rPr>
              <a:t>(“%d”,</a:t>
            </a:r>
            <a:r>
              <a:rPr lang="en-US" sz="3200" b="1" dirty="0">
                <a:solidFill>
                  <a:srgbClr val="FF0000"/>
                </a:solidFill>
                <a:latin typeface="Courier New" panose="02070309020205020404" pitchFamily="49" charset="0"/>
                <a:ea typeface="Calibri" panose="020F0502020204030204" pitchFamily="34" charset="0"/>
                <a:cs typeface="Courier New" panose="02070309020205020404" pitchFamily="49" charset="0"/>
              </a:rPr>
              <a:t>&amp;</a:t>
            </a:r>
            <a:r>
              <a:rPr lang="en-US" sz="3200" b="1"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cTerm</a:t>
            </a:r>
            <a:r>
              <a:rPr lang="en-US" sz="2800" b="1" dirty="0">
                <a:solidFill>
                  <a:srgbClr val="202122"/>
                </a:solidFill>
                <a:latin typeface="Courier New" panose="02070309020205020404" pitchFamily="49" charset="0"/>
                <a:ea typeface="Calibri" panose="020F0502020204030204" pitchFamily="34" charset="0"/>
                <a:cs typeface="Courier New" panose="02070309020205020404" pitchFamily="49" charset="0"/>
              </a:rPr>
              <a:t>);</a:t>
            </a:r>
            <a:endParaRPr lang="en-GB" sz="2800" b="1" dirty="0"/>
          </a:p>
        </p:txBody>
      </p:sp>
      <p:cxnSp>
        <p:nvCxnSpPr>
          <p:cNvPr id="21" name="Straight Connector 20">
            <a:extLst>
              <a:ext uri="{FF2B5EF4-FFF2-40B4-BE49-F238E27FC236}">
                <a16:creationId xmlns:a16="http://schemas.microsoft.com/office/drawing/2014/main" id="{76C57B16-52F2-A512-0B84-9A95233F2FCC}"/>
              </a:ext>
            </a:extLst>
          </p:cNvPr>
          <p:cNvCxnSpPr/>
          <p:nvPr/>
        </p:nvCxnSpPr>
        <p:spPr>
          <a:xfrm>
            <a:off x="2772697" y="5973097"/>
            <a:ext cx="444747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98471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5ABC9-F355-46D6-74EF-57E24C4F8DF0}"/>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3A1EA723-66E9-67CA-5C50-32C835224BBB}"/>
              </a:ext>
            </a:extLst>
          </p:cNvPr>
          <p:cNvSpPr>
            <a:spLocks noGrp="1"/>
          </p:cNvSpPr>
          <p:nvPr>
            <p:ph type="title"/>
          </p:nvPr>
        </p:nvSpPr>
        <p:spPr>
          <a:xfrm>
            <a:off x="0" y="0"/>
            <a:ext cx="12191999" cy="719331"/>
          </a:xfrm>
          <a:solidFill>
            <a:srgbClr val="FDCBAD"/>
          </a:solidFill>
        </p:spPr>
        <p:txBody>
          <a:bodyPr>
            <a:normAutofit/>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Source Code V2</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C609C33F-4F23-BA7E-CA21-2FA41B9B495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7978CEB2-B4D7-AFC7-3FA5-6FF85BB3C182}"/>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5297CC15-C6C4-C08C-AE47-434EB5A66EDD}"/>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EC3662AB-4F36-7E50-6E6A-95A3901D64F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C70B2C1-7E65-F1FC-5616-89B93907EB4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10</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F3DFAEF5-EC1C-8889-4B02-C032AED40782}"/>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7" name="Picture 6">
            <a:extLst>
              <a:ext uri="{FF2B5EF4-FFF2-40B4-BE49-F238E27FC236}">
                <a16:creationId xmlns:a16="http://schemas.microsoft.com/office/drawing/2014/main" id="{5D1AF6FB-D682-A13F-DFF4-5E6C1F7096F7}"/>
              </a:ext>
            </a:extLst>
          </p:cNvPr>
          <p:cNvPicPr>
            <a:picLocks noChangeAspect="1"/>
          </p:cNvPicPr>
          <p:nvPr/>
        </p:nvPicPr>
        <p:blipFill>
          <a:blip r:embed="rId3"/>
          <a:stretch>
            <a:fillRect/>
          </a:stretch>
        </p:blipFill>
        <p:spPr>
          <a:xfrm>
            <a:off x="177149" y="884902"/>
            <a:ext cx="6481963" cy="5506027"/>
          </a:xfrm>
          <a:prstGeom prst="rect">
            <a:avLst/>
          </a:prstGeom>
        </p:spPr>
      </p:pic>
      <p:sp>
        <p:nvSpPr>
          <p:cNvPr id="13" name="Callout: Bent Line 12">
            <a:extLst>
              <a:ext uri="{FF2B5EF4-FFF2-40B4-BE49-F238E27FC236}">
                <a16:creationId xmlns:a16="http://schemas.microsoft.com/office/drawing/2014/main" id="{91B8059E-BF6C-4F60-CB8D-EC4EDA2FE236}"/>
              </a:ext>
            </a:extLst>
          </p:cNvPr>
          <p:cNvSpPr/>
          <p:nvPr/>
        </p:nvSpPr>
        <p:spPr>
          <a:xfrm>
            <a:off x="8351370" y="2343803"/>
            <a:ext cx="3699961" cy="908051"/>
          </a:xfrm>
          <a:prstGeom prst="borderCallout2">
            <a:avLst>
              <a:gd name="adj1" fmla="val 49015"/>
              <a:gd name="adj2" fmla="val -700"/>
              <a:gd name="adj3" fmla="val 54192"/>
              <a:gd name="adj4" fmla="val -60065"/>
              <a:gd name="adj5" fmla="val 64917"/>
              <a:gd name="adj6" fmla="val -9834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l-GR" sz="2400" dirty="0">
                <a:solidFill>
                  <a:srgbClr val="202122"/>
                </a:solidFill>
                <a:latin typeface="Tahoma" panose="020B0604030504040204" pitchFamily="34" charset="0"/>
                <a:ea typeface="Tahoma" panose="020B0604030504040204" pitchFamily="34" charset="0"/>
                <a:cs typeface="Tahoma" panose="020B0604030504040204" pitchFamily="34" charset="0"/>
              </a:rPr>
              <a:t>Είναι η συνάρτηση επαναχρησιμοποιήσιμη;</a:t>
            </a:r>
            <a:endParaRPr lang="en-GB" sz="2400" dirty="0">
              <a:latin typeface="Tahoma" panose="020B0604030504040204" pitchFamily="34" charset="0"/>
              <a:ea typeface="Tahoma" panose="020B0604030504040204" pitchFamily="34" charset="0"/>
              <a:cs typeface="Tahoma" panose="020B0604030504040204" pitchFamily="34" charset="0"/>
            </a:endParaRPr>
          </a:p>
        </p:txBody>
      </p:sp>
      <p:sp>
        <p:nvSpPr>
          <p:cNvPr id="9" name="Speech Bubble: Rectangle with Corners Rounded 8">
            <a:extLst>
              <a:ext uri="{FF2B5EF4-FFF2-40B4-BE49-F238E27FC236}">
                <a16:creationId xmlns:a16="http://schemas.microsoft.com/office/drawing/2014/main" id="{D7E02FC8-4C28-B0BE-8DEF-40EE5F2211E4}"/>
              </a:ext>
            </a:extLst>
          </p:cNvPr>
          <p:cNvSpPr/>
          <p:nvPr/>
        </p:nvSpPr>
        <p:spPr>
          <a:xfrm>
            <a:off x="5919020" y="4912967"/>
            <a:ext cx="5732206" cy="1091381"/>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3200" b="1" dirty="0"/>
              <a:t>Δώστε πλεονεκτήματα χρήσης της </a:t>
            </a:r>
            <a:r>
              <a:rPr lang="en-US" sz="3200" b="1" dirty="0" err="1"/>
              <a:t>printMinAndMax</a:t>
            </a:r>
            <a:r>
              <a:rPr lang="el-GR" sz="3200" b="1" dirty="0"/>
              <a:t>;</a:t>
            </a:r>
            <a:endParaRPr lang="en-GB" sz="3200" b="1" dirty="0"/>
          </a:p>
        </p:txBody>
      </p:sp>
      <p:sp>
        <p:nvSpPr>
          <p:cNvPr id="12" name="Speech Bubble: Rectangle with Corners Rounded 11">
            <a:extLst>
              <a:ext uri="{FF2B5EF4-FFF2-40B4-BE49-F238E27FC236}">
                <a16:creationId xmlns:a16="http://schemas.microsoft.com/office/drawing/2014/main" id="{517728E1-EF6A-9A28-EC07-4947C92BE2CE}"/>
              </a:ext>
            </a:extLst>
          </p:cNvPr>
          <p:cNvSpPr/>
          <p:nvPr/>
        </p:nvSpPr>
        <p:spPr>
          <a:xfrm>
            <a:off x="5687962" y="3606147"/>
            <a:ext cx="5732206" cy="914234"/>
          </a:xfrm>
          <a:prstGeom prst="wedgeRoundRectCallout">
            <a:avLst>
              <a:gd name="adj1" fmla="val -82976"/>
              <a:gd name="adj2" fmla="val 44560"/>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Κάντε την πρόταση σας για μετατροπή της σε επαναχρησιμοποιήσιμη</a:t>
            </a:r>
            <a:endParaRPr lang="en-GB" sz="2400" b="1" dirty="0"/>
          </a:p>
        </p:txBody>
      </p:sp>
    </p:spTree>
    <p:extLst>
      <p:ext uri="{BB962C8B-B14F-4D97-AF65-F5344CB8AC3E}">
        <p14:creationId xmlns:p14="http://schemas.microsoft.com/office/powerpoint/2010/main" val="12833563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C3B7-CE28-4BE9-503B-8B47BD9DBF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947092-2B6C-E19E-B28F-446C68762534}"/>
              </a:ext>
            </a:extLst>
          </p:cNvPr>
          <p:cNvPicPr>
            <a:picLocks noChangeAspect="1"/>
          </p:cNvPicPr>
          <p:nvPr/>
        </p:nvPicPr>
        <p:blipFill>
          <a:blip r:embed="rId3"/>
          <a:stretch>
            <a:fillRect/>
          </a:stretch>
        </p:blipFill>
        <p:spPr>
          <a:xfrm>
            <a:off x="140669" y="876799"/>
            <a:ext cx="8149419" cy="5482882"/>
          </a:xfrm>
          <a:prstGeom prst="rect">
            <a:avLst/>
          </a:prstGeom>
        </p:spPr>
      </p:pic>
      <p:sp>
        <p:nvSpPr>
          <p:cNvPr id="2" name="Τίτλος 1">
            <a:extLst>
              <a:ext uri="{FF2B5EF4-FFF2-40B4-BE49-F238E27FC236}">
                <a16:creationId xmlns:a16="http://schemas.microsoft.com/office/drawing/2014/main" id="{675A340A-76A7-EE17-9D95-14B7B3E488CD}"/>
              </a:ext>
            </a:extLst>
          </p:cNvPr>
          <p:cNvSpPr>
            <a:spLocks noGrp="1"/>
          </p:cNvSpPr>
          <p:nvPr>
            <p:ph type="title"/>
          </p:nvPr>
        </p:nvSpPr>
        <p:spPr>
          <a:xfrm>
            <a:off x="0" y="0"/>
            <a:ext cx="12191999" cy="719331"/>
          </a:xfrm>
          <a:solidFill>
            <a:srgbClr val="FDCBAD"/>
          </a:solidFill>
        </p:spPr>
        <p:txBody>
          <a:bodyPr>
            <a:normAutofit/>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Source Code V</a:t>
            </a:r>
            <a:r>
              <a:rPr lang="el-GR" b="1" dirty="0">
                <a:solidFill>
                  <a:srgbClr val="F9853D"/>
                </a:solidFill>
                <a:latin typeface="Bahnschrift" panose="020B0502040204020203" pitchFamily="34" charset="0"/>
              </a:rPr>
              <a:t>3</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0A84E2E2-6371-DCD8-D0E0-04CB90F84BB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289CA73E-A288-2631-90EB-88769BE6ECA4}"/>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14951F80-F313-E8E6-398F-5EC12EAFE83C}"/>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8BAEFB2C-A932-46AD-9623-49A302CE430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770DD45-DD51-9AA5-EE59-74DA7A0E91D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11</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BA6FC6DE-ED2C-C93D-5E79-FD292ABF713E}"/>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13" name="Callout: Bent Line 12">
            <a:extLst>
              <a:ext uri="{FF2B5EF4-FFF2-40B4-BE49-F238E27FC236}">
                <a16:creationId xmlns:a16="http://schemas.microsoft.com/office/drawing/2014/main" id="{BF7636B2-339C-917A-5695-90ADC779ED95}"/>
              </a:ext>
            </a:extLst>
          </p:cNvPr>
          <p:cNvSpPr/>
          <p:nvPr/>
        </p:nvSpPr>
        <p:spPr>
          <a:xfrm>
            <a:off x="3901912" y="1790045"/>
            <a:ext cx="8149419" cy="556669"/>
          </a:xfrm>
          <a:prstGeom prst="borderCallout2">
            <a:avLst>
              <a:gd name="adj1" fmla="val -192"/>
              <a:gd name="adj2" fmla="val 56850"/>
              <a:gd name="adj3" fmla="val -40813"/>
              <a:gd name="adj4" fmla="val 56620"/>
              <a:gd name="adj5" fmla="val -22073"/>
              <a:gd name="adj6" fmla="val 2617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rgbClr val="202122"/>
                </a:solidFill>
                <a:latin typeface="Courier New" panose="02070309020205020404" pitchFamily="49" charset="0"/>
                <a:ea typeface="Tahoma" panose="020B0604030504040204" pitchFamily="34" charset="0"/>
                <a:cs typeface="Courier New" panose="02070309020205020404" pitchFamily="49" charset="0"/>
              </a:rPr>
              <a:t>void </a:t>
            </a:r>
            <a:r>
              <a:rPr lang="en-US" sz="2400" dirty="0" err="1">
                <a:solidFill>
                  <a:srgbClr val="202122"/>
                </a:solidFill>
                <a:latin typeface="Courier New" panose="02070309020205020404" pitchFamily="49" charset="0"/>
                <a:ea typeface="Tahoma" panose="020B0604030504040204" pitchFamily="34" charset="0"/>
                <a:cs typeface="Courier New" panose="02070309020205020404" pitchFamily="49" charset="0"/>
              </a:rPr>
              <a:t>getArray</a:t>
            </a:r>
            <a:r>
              <a:rPr lang="en-US" sz="2400" dirty="0">
                <a:solidFill>
                  <a:srgbClr val="202122"/>
                </a:solidFill>
                <a:latin typeface="Courier New" panose="02070309020205020404" pitchFamily="49" charset="0"/>
                <a:ea typeface="Tahoma" panose="020B0604030504040204" pitchFamily="34" charset="0"/>
                <a:cs typeface="Courier New" panose="02070309020205020404" pitchFamily="49" charset="0"/>
              </a:rPr>
              <a:t>(</a:t>
            </a:r>
            <a:r>
              <a:rPr lang="en-US" sz="2400" b="1" dirty="0">
                <a:solidFill>
                  <a:srgbClr val="202122"/>
                </a:solidFill>
                <a:latin typeface="Courier New" panose="02070309020205020404" pitchFamily="49" charset="0"/>
                <a:ea typeface="Tahoma" panose="020B0604030504040204" pitchFamily="34" charset="0"/>
                <a:cs typeface="Courier New" panose="02070309020205020404" pitchFamily="49" charset="0"/>
              </a:rPr>
              <a:t>int </a:t>
            </a:r>
            <a:r>
              <a:rPr lang="en-US" sz="2400" b="1" dirty="0" err="1">
                <a:solidFill>
                  <a:srgbClr val="202122"/>
                </a:solidFill>
                <a:latin typeface="Courier New" panose="02070309020205020404" pitchFamily="49" charset="0"/>
                <a:ea typeface="Tahoma" panose="020B0604030504040204" pitchFamily="34" charset="0"/>
                <a:cs typeface="Courier New" panose="02070309020205020404" pitchFamily="49" charset="0"/>
              </a:rPr>
              <a:t>ar</a:t>
            </a:r>
            <a:r>
              <a:rPr lang="en-US" sz="2400" b="1" dirty="0">
                <a:solidFill>
                  <a:srgbClr val="202122"/>
                </a:solidFill>
                <a:latin typeface="Courier New" panose="02070309020205020404" pitchFamily="49" charset="0"/>
                <a:ea typeface="Tahoma" panose="020B0604030504040204" pitchFamily="34" charset="0"/>
                <a:cs typeface="Courier New" panose="02070309020205020404" pitchFamily="49" charset="0"/>
              </a:rPr>
              <a:t>[], </a:t>
            </a:r>
            <a:r>
              <a:rPr lang="en-US" sz="2400" dirty="0">
                <a:solidFill>
                  <a:srgbClr val="202122"/>
                </a:solidFill>
                <a:latin typeface="Courier New" panose="02070309020205020404" pitchFamily="49" charset="0"/>
                <a:ea typeface="Tahoma" panose="020B0604030504040204" pitchFamily="34" charset="0"/>
                <a:cs typeface="Courier New" panose="02070309020205020404" pitchFamily="49" charset="0"/>
              </a:rPr>
              <a:t>int </a:t>
            </a:r>
            <a:r>
              <a:rPr lang="en-US" sz="2400" dirty="0" err="1">
                <a:solidFill>
                  <a:srgbClr val="202122"/>
                </a:solidFill>
                <a:latin typeface="Courier New" panose="02070309020205020404" pitchFamily="49" charset="0"/>
                <a:ea typeface="Tahoma" panose="020B0604030504040204" pitchFamily="34" charset="0"/>
                <a:cs typeface="Courier New" panose="02070309020205020404" pitchFamily="49" charset="0"/>
              </a:rPr>
              <a:t>numOfElements</a:t>
            </a:r>
            <a:r>
              <a:rPr lang="en-US" sz="2400" dirty="0">
                <a:solidFill>
                  <a:srgbClr val="202122"/>
                </a:solidFill>
                <a:latin typeface="Courier New" panose="02070309020205020404" pitchFamily="49" charset="0"/>
                <a:ea typeface="Tahoma" panose="020B0604030504040204" pitchFamily="34" charset="0"/>
                <a:cs typeface="Courier New" panose="02070309020205020404" pitchFamily="49" charset="0"/>
              </a:rPr>
              <a:t>);</a:t>
            </a:r>
            <a:endParaRPr lang="en-GB" sz="2400" dirty="0">
              <a:latin typeface="Courier New" panose="02070309020205020404" pitchFamily="49" charset="0"/>
              <a:ea typeface="Tahoma" panose="020B0604030504040204" pitchFamily="34" charset="0"/>
              <a:cs typeface="Courier New" panose="02070309020205020404" pitchFamily="49" charset="0"/>
            </a:endParaRPr>
          </a:p>
        </p:txBody>
      </p:sp>
      <p:sp>
        <p:nvSpPr>
          <p:cNvPr id="9" name="Speech Bubble: Rectangle with Corners Rounded 8">
            <a:extLst>
              <a:ext uri="{FF2B5EF4-FFF2-40B4-BE49-F238E27FC236}">
                <a16:creationId xmlns:a16="http://schemas.microsoft.com/office/drawing/2014/main" id="{1D473C76-CAA9-CEE6-793D-4A09A565B0A7}"/>
              </a:ext>
            </a:extLst>
          </p:cNvPr>
          <p:cNvSpPr/>
          <p:nvPr/>
        </p:nvSpPr>
        <p:spPr>
          <a:xfrm>
            <a:off x="5919020" y="4912967"/>
            <a:ext cx="5732206" cy="1091381"/>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3200" b="1" dirty="0"/>
              <a:t>Δώστε τον ορισμό της </a:t>
            </a:r>
            <a:r>
              <a:rPr lang="en-US" sz="3200" b="1" dirty="0" err="1"/>
              <a:t>getArray</a:t>
            </a:r>
            <a:r>
              <a:rPr lang="en-US" sz="3200" b="1" dirty="0"/>
              <a:t>()</a:t>
            </a:r>
            <a:endParaRPr lang="en-GB" sz="3200" b="1" dirty="0"/>
          </a:p>
        </p:txBody>
      </p:sp>
    </p:spTree>
    <p:extLst>
      <p:ext uri="{BB962C8B-B14F-4D97-AF65-F5344CB8AC3E}">
        <p14:creationId xmlns:p14="http://schemas.microsoft.com/office/powerpoint/2010/main" val="9595081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641FA-CB39-74BA-2BE7-47EA98A8FC46}"/>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7E68C05-8099-2581-F5CB-DAC288BEC54D}"/>
              </a:ext>
            </a:extLst>
          </p:cNvPr>
          <p:cNvSpPr>
            <a:spLocks noGrp="1"/>
          </p:cNvSpPr>
          <p:nvPr>
            <p:ph type="title"/>
          </p:nvPr>
        </p:nvSpPr>
        <p:spPr>
          <a:xfrm>
            <a:off x="0" y="0"/>
            <a:ext cx="12191999" cy="719331"/>
          </a:xfrm>
          <a:solidFill>
            <a:srgbClr val="FDCBAD"/>
          </a:solidFill>
        </p:spPr>
        <p:txBody>
          <a:bodyPr>
            <a:normAutofit fontScale="90000"/>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Αριθμητική Δεικτών (</a:t>
            </a:r>
            <a:r>
              <a:rPr lang="en-US" sz="4000" b="1" dirty="0">
                <a:solidFill>
                  <a:srgbClr val="F9853D"/>
                </a:solidFill>
                <a:latin typeface="Bahnschrift" panose="020B0502040204020203" pitchFamily="34" charset="0"/>
              </a:rPr>
              <a:t>pointer arithmetic)</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4AEB9093-B8F5-8D53-6EC6-5B267716147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F104BF9D-7261-C782-C421-65FCBF7F53A2}"/>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58AFBFF7-6D74-E578-2D0B-DB3FE68BBF7A}"/>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C90830A3-4A46-D34D-1A25-D42193C1895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5123D7C1-35F0-1DEA-AFCF-793419A189D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12</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0AC60594-C535-40E8-7AEC-1D7B099EE89A}"/>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7" name="Picture 6">
            <a:extLst>
              <a:ext uri="{FF2B5EF4-FFF2-40B4-BE49-F238E27FC236}">
                <a16:creationId xmlns:a16="http://schemas.microsoft.com/office/drawing/2014/main" id="{A61A9F34-2850-B3C1-2CEC-545C7C6D8667}"/>
              </a:ext>
            </a:extLst>
          </p:cNvPr>
          <p:cNvPicPr>
            <a:picLocks noChangeAspect="1"/>
          </p:cNvPicPr>
          <p:nvPr/>
        </p:nvPicPr>
        <p:blipFill>
          <a:blip r:embed="rId3"/>
          <a:stretch>
            <a:fillRect/>
          </a:stretch>
        </p:blipFill>
        <p:spPr>
          <a:xfrm>
            <a:off x="140669" y="867016"/>
            <a:ext cx="7916894" cy="2418568"/>
          </a:xfrm>
          <a:prstGeom prst="rect">
            <a:avLst/>
          </a:prstGeom>
        </p:spPr>
      </p:pic>
      <p:pic>
        <p:nvPicPr>
          <p:cNvPr id="15" name="Picture 14">
            <a:extLst>
              <a:ext uri="{FF2B5EF4-FFF2-40B4-BE49-F238E27FC236}">
                <a16:creationId xmlns:a16="http://schemas.microsoft.com/office/drawing/2014/main" id="{DADF297B-86CB-0B00-7E32-7BCDE8D787D0}"/>
              </a:ext>
            </a:extLst>
          </p:cNvPr>
          <p:cNvPicPr>
            <a:picLocks noChangeAspect="1"/>
          </p:cNvPicPr>
          <p:nvPr/>
        </p:nvPicPr>
        <p:blipFill>
          <a:blip r:embed="rId4"/>
          <a:stretch>
            <a:fillRect/>
          </a:stretch>
        </p:blipFill>
        <p:spPr>
          <a:xfrm>
            <a:off x="6613978" y="2336034"/>
            <a:ext cx="5288285" cy="4297731"/>
          </a:xfrm>
          <a:prstGeom prst="rect">
            <a:avLst/>
          </a:prstGeom>
        </p:spPr>
      </p:pic>
      <p:sp>
        <p:nvSpPr>
          <p:cNvPr id="13" name="Callout: Bent Line 12">
            <a:extLst>
              <a:ext uri="{FF2B5EF4-FFF2-40B4-BE49-F238E27FC236}">
                <a16:creationId xmlns:a16="http://schemas.microsoft.com/office/drawing/2014/main" id="{2EB98972-C62B-5197-68D2-1EE0F0C2B12E}"/>
              </a:ext>
            </a:extLst>
          </p:cNvPr>
          <p:cNvSpPr/>
          <p:nvPr/>
        </p:nvSpPr>
        <p:spPr>
          <a:xfrm>
            <a:off x="156771" y="3928230"/>
            <a:ext cx="5565604" cy="1410686"/>
          </a:xfrm>
          <a:prstGeom prst="borderCallout2">
            <a:avLst>
              <a:gd name="adj1" fmla="val 853"/>
              <a:gd name="adj2" fmla="val 28496"/>
              <a:gd name="adj3" fmla="val -130724"/>
              <a:gd name="adj4" fmla="val 30916"/>
              <a:gd name="adj5" fmla="val -129757"/>
              <a:gd name="adj6" fmla="val 46047"/>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l-GR" sz="2400" dirty="0">
                <a:solidFill>
                  <a:srgbClr val="202122"/>
                </a:solidFill>
                <a:latin typeface="Tahoma" panose="020B0604030504040204" pitchFamily="34" charset="0"/>
                <a:ea typeface="Tahoma" panose="020B0604030504040204" pitchFamily="34" charset="0"/>
                <a:cs typeface="Tahoma" panose="020B0604030504040204" pitchFamily="34" charset="0"/>
              </a:rPr>
              <a:t>Εναλλακτικά μπορεί να χρησιμοποιηθεί και η </a:t>
            </a:r>
            <a:endParaRPr lang="en-US" sz="2400" dirty="0">
              <a:solidFill>
                <a:srgbClr val="202122"/>
              </a:solidFill>
              <a:latin typeface="Tahoma" panose="020B0604030504040204" pitchFamily="34" charset="0"/>
              <a:ea typeface="Tahoma" panose="020B0604030504040204" pitchFamily="34" charset="0"/>
              <a:cs typeface="Tahoma" panose="020B0604030504040204" pitchFamily="34" charset="0"/>
            </a:endParaRPr>
          </a:p>
          <a:p>
            <a:r>
              <a:rPr lang="en-US" sz="3200" b="1" dirty="0" err="1">
                <a:solidFill>
                  <a:srgbClr val="202122"/>
                </a:solidFill>
                <a:latin typeface="Courier New" panose="02070309020205020404" pitchFamily="49" charset="0"/>
                <a:ea typeface="Tahoma" panose="020B0604030504040204" pitchFamily="34" charset="0"/>
                <a:cs typeface="Courier New" panose="02070309020205020404" pitchFamily="49" charset="0"/>
              </a:rPr>
              <a:t>scanf</a:t>
            </a:r>
            <a:r>
              <a:rPr lang="en-US" sz="3200" b="1" dirty="0">
                <a:solidFill>
                  <a:srgbClr val="202122"/>
                </a:solidFill>
                <a:latin typeface="Courier New" panose="02070309020205020404" pitchFamily="49" charset="0"/>
                <a:ea typeface="Tahoma" panose="020B0604030504040204" pitchFamily="34" charset="0"/>
                <a:cs typeface="Courier New" panose="02070309020205020404" pitchFamily="49" charset="0"/>
              </a:rPr>
              <a:t>("%d",&amp;</a:t>
            </a:r>
            <a:r>
              <a:rPr lang="en-US" sz="3200" b="1" dirty="0" err="1">
                <a:solidFill>
                  <a:srgbClr val="202122"/>
                </a:solidFill>
                <a:latin typeface="Courier New" panose="02070309020205020404" pitchFamily="49" charset="0"/>
                <a:ea typeface="Tahoma" panose="020B0604030504040204" pitchFamily="34" charset="0"/>
                <a:cs typeface="Courier New" panose="02070309020205020404" pitchFamily="49" charset="0"/>
              </a:rPr>
              <a:t>ar</a:t>
            </a:r>
            <a:r>
              <a:rPr lang="en-US" sz="3200" b="1" dirty="0">
                <a:solidFill>
                  <a:srgbClr val="202122"/>
                </a:solidFill>
                <a:latin typeface="Courier New" panose="02070309020205020404" pitchFamily="49" charset="0"/>
                <a:ea typeface="Tahoma" panose="020B0604030504040204" pitchFamily="34" charset="0"/>
                <a:cs typeface="Courier New" panose="02070309020205020404" pitchFamily="49" charset="0"/>
              </a:rPr>
              <a:t>[</a:t>
            </a:r>
            <a:r>
              <a:rPr lang="en-US" sz="3200" b="1" dirty="0" err="1">
                <a:solidFill>
                  <a:srgbClr val="202122"/>
                </a:solidFill>
                <a:latin typeface="Courier New" panose="02070309020205020404" pitchFamily="49" charset="0"/>
                <a:ea typeface="Tahoma" panose="020B0604030504040204" pitchFamily="34" charset="0"/>
                <a:cs typeface="Courier New" panose="02070309020205020404" pitchFamily="49" charset="0"/>
              </a:rPr>
              <a:t>i</a:t>
            </a:r>
            <a:r>
              <a:rPr lang="en-US" sz="3200" b="1" dirty="0">
                <a:solidFill>
                  <a:srgbClr val="202122"/>
                </a:solidFill>
                <a:latin typeface="Courier New" panose="02070309020205020404" pitchFamily="49" charset="0"/>
                <a:ea typeface="Tahoma" panose="020B0604030504040204" pitchFamily="34" charset="0"/>
                <a:cs typeface="Courier New" panose="02070309020205020404" pitchFamily="49" charset="0"/>
              </a:rPr>
              <a:t>]);</a:t>
            </a:r>
            <a:endParaRPr lang="en-GB" sz="3200" b="1" dirty="0">
              <a:latin typeface="Courier New" panose="02070309020205020404" pitchFamily="49" charset="0"/>
              <a:ea typeface="Tahoma" panose="020B0604030504040204" pitchFamily="34" charset="0"/>
              <a:cs typeface="Courier New" panose="02070309020205020404" pitchFamily="49" charset="0"/>
            </a:endParaRPr>
          </a:p>
        </p:txBody>
      </p:sp>
      <p:cxnSp>
        <p:nvCxnSpPr>
          <p:cNvPr id="16" name="Straight Connector 15">
            <a:extLst>
              <a:ext uri="{FF2B5EF4-FFF2-40B4-BE49-F238E27FC236}">
                <a16:creationId xmlns:a16="http://schemas.microsoft.com/office/drawing/2014/main" id="{95A70A00-C3B4-6561-331E-46FAE8C4EF27}"/>
              </a:ext>
            </a:extLst>
          </p:cNvPr>
          <p:cNvCxnSpPr>
            <a:cxnSpLocks/>
          </p:cNvCxnSpPr>
          <p:nvPr/>
        </p:nvCxnSpPr>
        <p:spPr>
          <a:xfrm>
            <a:off x="10164871" y="3285584"/>
            <a:ext cx="1179871" cy="0"/>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5ECD8CE-AD67-1501-7A99-8844D29CAA5D}"/>
              </a:ext>
            </a:extLst>
          </p:cNvPr>
          <p:cNvCxnSpPr>
            <a:cxnSpLocks/>
          </p:cNvCxnSpPr>
          <p:nvPr/>
        </p:nvCxnSpPr>
        <p:spPr>
          <a:xfrm>
            <a:off x="10164871" y="4883326"/>
            <a:ext cx="1179871" cy="0"/>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86062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6E8C1-BA96-D1A0-E8D9-C7BD66BDEFA4}"/>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1C52EC3-0AF5-D21B-7D88-46F59D1892ED}"/>
              </a:ext>
            </a:extLst>
          </p:cNvPr>
          <p:cNvSpPr>
            <a:spLocks noGrp="1"/>
          </p:cNvSpPr>
          <p:nvPr>
            <p:ph type="title"/>
          </p:nvPr>
        </p:nvSpPr>
        <p:spPr>
          <a:xfrm>
            <a:off x="0" y="0"/>
            <a:ext cx="12191999" cy="719331"/>
          </a:xfrm>
          <a:solidFill>
            <a:srgbClr val="FDCBAD"/>
          </a:solidFill>
        </p:spPr>
        <p:txBody>
          <a:bodyPr>
            <a:normAutofit/>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Source Code V4</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4E61A624-7C36-8199-EBFC-64C2D115457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BD5D6FD2-C8C5-EFFD-31D6-14CFB8D65AC3}"/>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7A05D271-BDCD-BEC0-945A-5E748C9DD889}"/>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1800A034-A447-4CDD-5020-8448DE6F1EA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BBF95F8-2770-03F6-3AA4-D0A0E38C7D9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13</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4109C46C-9C4A-F608-2278-6802B2CE89C2}"/>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7" name="Picture 6">
            <a:extLst>
              <a:ext uri="{FF2B5EF4-FFF2-40B4-BE49-F238E27FC236}">
                <a16:creationId xmlns:a16="http://schemas.microsoft.com/office/drawing/2014/main" id="{EA184593-528F-CE34-B526-E7DCC2B5B2F2}"/>
              </a:ext>
            </a:extLst>
          </p:cNvPr>
          <p:cNvPicPr>
            <a:picLocks noChangeAspect="1"/>
          </p:cNvPicPr>
          <p:nvPr/>
        </p:nvPicPr>
        <p:blipFill>
          <a:blip r:embed="rId3"/>
          <a:stretch>
            <a:fillRect/>
          </a:stretch>
        </p:blipFill>
        <p:spPr>
          <a:xfrm>
            <a:off x="264038" y="822501"/>
            <a:ext cx="9344525" cy="5568431"/>
          </a:xfrm>
          <a:prstGeom prst="rect">
            <a:avLst/>
          </a:prstGeom>
        </p:spPr>
      </p:pic>
      <p:cxnSp>
        <p:nvCxnSpPr>
          <p:cNvPr id="12" name="Straight Connector 11">
            <a:extLst>
              <a:ext uri="{FF2B5EF4-FFF2-40B4-BE49-F238E27FC236}">
                <a16:creationId xmlns:a16="http://schemas.microsoft.com/office/drawing/2014/main" id="{3B0F0155-A344-4B7E-57DE-094D6BF31A3A}"/>
              </a:ext>
            </a:extLst>
          </p:cNvPr>
          <p:cNvCxnSpPr>
            <a:cxnSpLocks/>
          </p:cNvCxnSpPr>
          <p:nvPr/>
        </p:nvCxnSpPr>
        <p:spPr>
          <a:xfrm>
            <a:off x="9235723" y="4553945"/>
            <a:ext cx="1987800" cy="0"/>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8962111-E3DD-CA5C-32ED-C54014D5FB3E}"/>
              </a:ext>
            </a:extLst>
          </p:cNvPr>
          <p:cNvCxnSpPr>
            <a:cxnSpLocks/>
          </p:cNvCxnSpPr>
          <p:nvPr/>
        </p:nvCxnSpPr>
        <p:spPr>
          <a:xfrm>
            <a:off x="7500329" y="4912823"/>
            <a:ext cx="1987800" cy="0"/>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C0BD48-1219-862F-46E1-CA30EDD7E5EF}"/>
              </a:ext>
            </a:extLst>
          </p:cNvPr>
          <p:cNvCxnSpPr>
            <a:cxnSpLocks/>
          </p:cNvCxnSpPr>
          <p:nvPr/>
        </p:nvCxnSpPr>
        <p:spPr>
          <a:xfrm>
            <a:off x="8614663" y="5610913"/>
            <a:ext cx="1987800" cy="0"/>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38855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8387A-A926-8F22-F80A-78B912FD3ED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D1BDCF4-E796-179F-095C-CD62A55EAEE2}"/>
              </a:ext>
            </a:extLst>
          </p:cNvPr>
          <p:cNvSpPr>
            <a:spLocks noGrp="1"/>
          </p:cNvSpPr>
          <p:nvPr>
            <p:ph type="title"/>
          </p:nvPr>
        </p:nvSpPr>
        <p:spPr>
          <a:xfrm>
            <a:off x="0" y="0"/>
            <a:ext cx="12191999" cy="791375"/>
          </a:xfrm>
          <a:solidFill>
            <a:srgbClr val="FDCBAD"/>
          </a:solidFill>
        </p:spPr>
        <p:txBody>
          <a:bodyPr>
            <a:normAutofit/>
          </a:bodyPr>
          <a:lstStyle/>
          <a:p>
            <a:r>
              <a:rPr lang="en-US" b="1" dirty="0">
                <a:solidFill>
                  <a:srgbClr val="F9853D"/>
                </a:solidFill>
                <a:latin typeface="Bahnschrift" panose="020B0502040204020203" pitchFamily="34" charset="0"/>
              </a:rPr>
              <a:t>MinAndMax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Source Code V5</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F2578EDC-1565-32D4-B910-04378114651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5E69D0BB-4508-15FD-EEE7-54286A002ED7}"/>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2EF64C0F-DB76-D1E1-3D30-E8BA3F2D38EE}"/>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C318E2D-25E6-3228-C6AF-FA520C81423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94065F84-87DB-F899-7763-E726B2C5490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14</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5DB1DEFE-35CE-B1AC-868D-3F7BE763AB25}"/>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7" name="Picture 6">
            <a:extLst>
              <a:ext uri="{FF2B5EF4-FFF2-40B4-BE49-F238E27FC236}">
                <a16:creationId xmlns:a16="http://schemas.microsoft.com/office/drawing/2014/main" id="{2164898C-F7C1-AB18-6FD4-157A2F72E739}"/>
              </a:ext>
            </a:extLst>
          </p:cNvPr>
          <p:cNvPicPr>
            <a:picLocks noChangeAspect="1"/>
          </p:cNvPicPr>
          <p:nvPr/>
        </p:nvPicPr>
        <p:blipFill>
          <a:blip r:embed="rId3"/>
          <a:stretch>
            <a:fillRect/>
          </a:stretch>
        </p:blipFill>
        <p:spPr>
          <a:xfrm>
            <a:off x="140669" y="2557612"/>
            <a:ext cx="4378548" cy="3223756"/>
          </a:xfrm>
          <a:prstGeom prst="rect">
            <a:avLst/>
          </a:prstGeom>
        </p:spPr>
      </p:pic>
      <p:sp>
        <p:nvSpPr>
          <p:cNvPr id="4" name="Content Placeholder 2">
            <a:extLst>
              <a:ext uri="{FF2B5EF4-FFF2-40B4-BE49-F238E27FC236}">
                <a16:creationId xmlns:a16="http://schemas.microsoft.com/office/drawing/2014/main" id="{4AADF547-2BA4-AC9B-7FD6-ACAF5B1FF42B}"/>
              </a:ext>
            </a:extLst>
          </p:cNvPr>
          <p:cNvSpPr txBox="1">
            <a:spLocks/>
          </p:cNvSpPr>
          <p:nvPr/>
        </p:nvSpPr>
        <p:spPr bwMode="auto">
          <a:xfrm>
            <a:off x="-1" y="942421"/>
            <a:ext cx="12191999" cy="1407282"/>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7-</a:t>
            </a:r>
            <a:r>
              <a:rPr lang="en-US" b="1" dirty="0">
                <a:solidFill>
                  <a:srgbClr val="F9853D"/>
                </a:solidFill>
                <a:latin typeface="Bahnschrift" panose="020B0502040204020203" pitchFamily="34" charset="0"/>
              </a:rPr>
              <a:t>10</a:t>
            </a:r>
            <a:endParaRPr lang="en-US" b="1" kern="0" dirty="0">
              <a:solidFill>
                <a:srgbClr val="000000"/>
              </a:solidFill>
              <a:latin typeface="Tahoma"/>
            </a:endParaRPr>
          </a:p>
          <a:p>
            <a:pPr marL="0" indent="0">
              <a:buClr>
                <a:srgbClr val="3333CC"/>
              </a:buClr>
              <a:buNone/>
              <a:defRPr/>
            </a:pPr>
            <a:r>
              <a:rPr lang="el-GR" sz="1800" kern="0" dirty="0">
                <a:solidFill>
                  <a:srgbClr val="000000"/>
                </a:solidFill>
                <a:latin typeface="Tahoma"/>
              </a:rPr>
              <a:t>Χρησιμοποιήστε ως βάση μια από τις εκδόσεις 2 ή 3 της </a:t>
            </a:r>
            <a:r>
              <a:rPr lang="el-GR" sz="1800" kern="0" dirty="0" err="1">
                <a:solidFill>
                  <a:srgbClr val="000000"/>
                </a:solidFill>
                <a:latin typeface="Tahoma"/>
              </a:rPr>
              <a:t>MinAndMax</a:t>
            </a:r>
            <a:r>
              <a:rPr lang="el-GR" sz="1800" kern="0" dirty="0">
                <a:solidFill>
                  <a:srgbClr val="000000"/>
                </a:solidFill>
                <a:latin typeface="Tahoma"/>
              </a:rPr>
              <a:t> για να δημιουργήσετε μια 5η έκδοση στην οποία η συνάρτηση </a:t>
            </a:r>
            <a:r>
              <a:rPr lang="en-GB" sz="2400" b="1" kern="0" dirty="0" err="1">
                <a:solidFill>
                  <a:srgbClr val="000000"/>
                </a:solidFill>
                <a:latin typeface="Courier New" panose="02070309020205020404" pitchFamily="49" charset="0"/>
                <a:cs typeface="Courier New" panose="02070309020205020404" pitchFamily="49" charset="0"/>
              </a:rPr>
              <a:t>updateMinAndMax</a:t>
            </a:r>
            <a:r>
              <a:rPr lang="en-GB" sz="1800" kern="0" dirty="0">
                <a:solidFill>
                  <a:srgbClr val="000000"/>
                </a:solidFill>
                <a:latin typeface="Tahoma"/>
              </a:rPr>
              <a:t> </a:t>
            </a:r>
            <a:r>
              <a:rPr lang="el-GR" sz="1800" kern="0" dirty="0">
                <a:solidFill>
                  <a:srgbClr val="000000"/>
                </a:solidFill>
                <a:latin typeface="Tahoma"/>
              </a:rPr>
              <a:t>θα είναι επαναχρησιμοποιήσιμη.</a:t>
            </a:r>
            <a:endParaRPr lang="en-US" sz="1100" kern="0" dirty="0">
              <a:solidFill>
                <a:srgbClr val="000000"/>
              </a:solidFill>
              <a:latin typeface="Tahoma"/>
            </a:endParaRPr>
          </a:p>
        </p:txBody>
      </p:sp>
      <p:pic>
        <p:nvPicPr>
          <p:cNvPr id="12" name="Picture 11">
            <a:extLst>
              <a:ext uri="{FF2B5EF4-FFF2-40B4-BE49-F238E27FC236}">
                <a16:creationId xmlns:a16="http://schemas.microsoft.com/office/drawing/2014/main" id="{1D7925BD-EA35-6577-90D1-64496F7C6406}"/>
              </a:ext>
            </a:extLst>
          </p:cNvPr>
          <p:cNvPicPr>
            <a:picLocks noChangeAspect="1"/>
          </p:cNvPicPr>
          <p:nvPr/>
        </p:nvPicPr>
        <p:blipFill>
          <a:blip r:embed="rId4"/>
          <a:stretch>
            <a:fillRect/>
          </a:stretch>
        </p:blipFill>
        <p:spPr>
          <a:xfrm>
            <a:off x="4608516" y="4100952"/>
            <a:ext cx="6355528" cy="2034608"/>
          </a:xfrm>
          <a:prstGeom prst="rect">
            <a:avLst/>
          </a:prstGeom>
        </p:spPr>
      </p:pic>
      <p:pic>
        <p:nvPicPr>
          <p:cNvPr id="15" name="Picture 14">
            <a:extLst>
              <a:ext uri="{FF2B5EF4-FFF2-40B4-BE49-F238E27FC236}">
                <a16:creationId xmlns:a16="http://schemas.microsoft.com/office/drawing/2014/main" id="{F7C60EBB-9E1B-E7A1-91FE-FDA5B05E93D4}"/>
              </a:ext>
            </a:extLst>
          </p:cNvPr>
          <p:cNvPicPr>
            <a:picLocks noChangeAspect="1"/>
          </p:cNvPicPr>
          <p:nvPr/>
        </p:nvPicPr>
        <p:blipFill>
          <a:blip r:embed="rId5"/>
          <a:stretch>
            <a:fillRect/>
          </a:stretch>
        </p:blipFill>
        <p:spPr>
          <a:xfrm>
            <a:off x="4608515" y="2500749"/>
            <a:ext cx="4382679" cy="1407282"/>
          </a:xfrm>
          <a:prstGeom prst="rect">
            <a:avLst/>
          </a:prstGeom>
        </p:spPr>
      </p:pic>
    </p:spTree>
    <p:extLst>
      <p:ext uri="{BB962C8B-B14F-4D97-AF65-F5344CB8AC3E}">
        <p14:creationId xmlns:p14="http://schemas.microsoft.com/office/powerpoint/2010/main" val="24273195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0A9D0-D9A4-B7B9-764D-B95E30E4AEE3}"/>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6A6546BE-0FDC-13FB-94AB-5A6600727017}"/>
              </a:ext>
            </a:extLst>
          </p:cNvPr>
          <p:cNvSpPr>
            <a:spLocks noGrp="1"/>
          </p:cNvSpPr>
          <p:nvPr>
            <p:ph type="title"/>
          </p:nvPr>
        </p:nvSpPr>
        <p:spPr>
          <a:xfrm>
            <a:off x="0" y="0"/>
            <a:ext cx="12191999" cy="791375"/>
          </a:xfrm>
          <a:solidFill>
            <a:srgbClr val="FDCBAD"/>
          </a:solidFill>
        </p:spPr>
        <p:txBody>
          <a:bodyPr>
            <a:normAutofit/>
          </a:bodyPr>
          <a:lstStyle/>
          <a:p>
            <a:r>
              <a:rPr lang="en-US" b="1" dirty="0">
                <a:solidFill>
                  <a:srgbClr val="F9853D"/>
                </a:solidFill>
                <a:latin typeface="Bahnschrift" panose="020B0502040204020203" pitchFamily="34" charset="0"/>
              </a:rPr>
              <a:t>updateMinAndMax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1</a:t>
            </a:r>
            <a:r>
              <a:rPr lang="el-GR" b="1" baseline="30000" dirty="0">
                <a:solidFill>
                  <a:srgbClr val="F9853D"/>
                </a:solidFill>
                <a:latin typeface="Bahnschrift" panose="020B0502040204020203" pitchFamily="34" charset="0"/>
              </a:rPr>
              <a:t>η</a:t>
            </a:r>
            <a:r>
              <a:rPr lang="el-GR" b="1" dirty="0">
                <a:solidFill>
                  <a:srgbClr val="F9853D"/>
                </a:solidFill>
                <a:latin typeface="Bahnschrift" panose="020B0502040204020203" pitchFamily="34" charset="0"/>
              </a:rPr>
              <a:t> προσπάθεια</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B4570D23-4CE4-6826-1A5C-4B0922A30CD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00CC2CCF-B7C4-AA59-EA6D-064C66325314}"/>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7E9AB1BA-6B84-C020-229F-FD37DACB6AA2}"/>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A08A0888-DE76-D6E2-0FDF-D06A4883E65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BB58AAD-497E-3C5C-64E2-D722D4FFE8B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15</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0F85C712-5B29-5A21-0367-0B5EB1D4F0CA}"/>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TextBox 4">
            <a:extLst>
              <a:ext uri="{FF2B5EF4-FFF2-40B4-BE49-F238E27FC236}">
                <a16:creationId xmlns:a16="http://schemas.microsoft.com/office/drawing/2014/main" id="{F89420AE-5F1B-569E-8CF7-D1221EB6767E}"/>
              </a:ext>
            </a:extLst>
          </p:cNvPr>
          <p:cNvSpPr txBox="1"/>
          <p:nvPr/>
        </p:nvSpPr>
        <p:spPr>
          <a:xfrm>
            <a:off x="254145" y="1704145"/>
            <a:ext cx="11562736"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void updateMinAndMax</a:t>
            </a:r>
            <a:r>
              <a:rPr lang="en-GB" sz="2800" dirty="0">
                <a:latin typeface="Courier New" panose="02070309020205020404" pitchFamily="49" charset="0"/>
                <a:cs typeface="Courier New" panose="02070309020205020404" pitchFamily="49" charset="0"/>
              </a:rPr>
              <a:t>(</a:t>
            </a:r>
            <a:r>
              <a:rPr lang="en-US" sz="2800" dirty="0">
                <a:latin typeface="Courier New" panose="02070309020205020404" pitchFamily="49" charset="0"/>
                <a:cs typeface="Courier New" panose="02070309020205020404" pitchFamily="49" charset="0"/>
              </a:rPr>
              <a:t>int n</a:t>
            </a:r>
            <a:r>
              <a:rPr lang="en-GB" sz="2800" dirty="0">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int min</a:t>
            </a:r>
            <a:r>
              <a:rPr lang="en-GB" sz="2800" dirty="0">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int max</a:t>
            </a:r>
            <a:r>
              <a:rPr lang="en-GB" sz="2800" dirty="0">
                <a:latin typeface="Courier New" panose="02070309020205020404" pitchFamily="49" charset="0"/>
                <a:cs typeface="Courier New" panose="02070309020205020404" pitchFamily="49" charset="0"/>
              </a:rPr>
              <a:t>);</a:t>
            </a:r>
          </a:p>
        </p:txBody>
      </p:sp>
      <p:sp>
        <p:nvSpPr>
          <p:cNvPr id="13" name="TextBox 12">
            <a:extLst>
              <a:ext uri="{FF2B5EF4-FFF2-40B4-BE49-F238E27FC236}">
                <a16:creationId xmlns:a16="http://schemas.microsoft.com/office/drawing/2014/main" id="{3BCC01C1-64C1-F340-81F5-748B1E2C96C7}"/>
              </a:ext>
            </a:extLst>
          </p:cNvPr>
          <p:cNvSpPr txBox="1"/>
          <p:nvPr/>
        </p:nvSpPr>
        <p:spPr>
          <a:xfrm>
            <a:off x="254145" y="3172165"/>
            <a:ext cx="11562736"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updateMinAndMax(</a:t>
            </a:r>
            <a:r>
              <a:rPr lang="en-US" sz="2800" dirty="0" err="1">
                <a:latin typeface="Courier New" panose="02070309020205020404" pitchFamily="49" charset="0"/>
                <a:cs typeface="Courier New" panose="02070309020205020404" pitchFamily="49" charset="0"/>
              </a:rPr>
              <a:t>cTerm</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min,max</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6" name="TextBox 15">
            <a:extLst>
              <a:ext uri="{FF2B5EF4-FFF2-40B4-BE49-F238E27FC236}">
                <a16:creationId xmlns:a16="http://schemas.microsoft.com/office/drawing/2014/main" id="{B71DD159-F4F5-BA2F-5D07-B3C1C2DE1BDA}"/>
              </a:ext>
            </a:extLst>
          </p:cNvPr>
          <p:cNvSpPr txBox="1"/>
          <p:nvPr/>
        </p:nvSpPr>
        <p:spPr>
          <a:xfrm>
            <a:off x="190899" y="1050177"/>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Δήλωση συνάρτησης</a:t>
            </a:r>
            <a:endParaRPr lang="en-GB" sz="3200" dirty="0"/>
          </a:p>
        </p:txBody>
      </p:sp>
      <p:sp>
        <p:nvSpPr>
          <p:cNvPr id="17" name="TextBox 16">
            <a:extLst>
              <a:ext uri="{FF2B5EF4-FFF2-40B4-BE49-F238E27FC236}">
                <a16:creationId xmlns:a16="http://schemas.microsoft.com/office/drawing/2014/main" id="{A660F92A-0D25-A2AB-BFDA-7316073FECBA}"/>
              </a:ext>
            </a:extLst>
          </p:cNvPr>
          <p:cNvSpPr txBox="1"/>
          <p:nvPr/>
        </p:nvSpPr>
        <p:spPr>
          <a:xfrm>
            <a:off x="190899" y="2533276"/>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Κλήση συνάρτησης</a:t>
            </a:r>
            <a:endParaRPr lang="en-GB" sz="3200" dirty="0"/>
          </a:p>
        </p:txBody>
      </p:sp>
      <p:sp>
        <p:nvSpPr>
          <p:cNvPr id="18" name="TextBox 17">
            <a:extLst>
              <a:ext uri="{FF2B5EF4-FFF2-40B4-BE49-F238E27FC236}">
                <a16:creationId xmlns:a16="http://schemas.microsoft.com/office/drawing/2014/main" id="{A93AD2D9-30B6-9AA8-70AD-91AE9BACC35F}"/>
              </a:ext>
            </a:extLst>
          </p:cNvPr>
          <p:cNvSpPr txBox="1"/>
          <p:nvPr/>
        </p:nvSpPr>
        <p:spPr>
          <a:xfrm>
            <a:off x="190899" y="3971688"/>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Ορισμός συνάρτησης</a:t>
            </a:r>
            <a:endParaRPr lang="en-GB" sz="3200" dirty="0"/>
          </a:p>
        </p:txBody>
      </p:sp>
      <p:sp>
        <p:nvSpPr>
          <p:cNvPr id="20" name="Speech Bubble: Rectangle with Corners Rounded 19">
            <a:extLst>
              <a:ext uri="{FF2B5EF4-FFF2-40B4-BE49-F238E27FC236}">
                <a16:creationId xmlns:a16="http://schemas.microsoft.com/office/drawing/2014/main" id="{80CC69DF-035D-64DA-372A-6FB853564BAA}"/>
              </a:ext>
            </a:extLst>
          </p:cNvPr>
          <p:cNvSpPr/>
          <p:nvPr/>
        </p:nvSpPr>
        <p:spPr>
          <a:xfrm>
            <a:off x="363793" y="4716442"/>
            <a:ext cx="4326194" cy="1091381"/>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3200" b="1" dirty="0"/>
              <a:t>Δώστε τον ορισμό της συνάρτησης</a:t>
            </a:r>
            <a:endParaRPr lang="en-GB" sz="3200" b="1" dirty="0"/>
          </a:p>
        </p:txBody>
      </p:sp>
      <p:sp>
        <p:nvSpPr>
          <p:cNvPr id="21" name="Speech Bubble: Rectangle with Corners Rounded 20">
            <a:extLst>
              <a:ext uri="{FF2B5EF4-FFF2-40B4-BE49-F238E27FC236}">
                <a16:creationId xmlns:a16="http://schemas.microsoft.com/office/drawing/2014/main" id="{27CF95C1-8FBC-3B48-918A-02516D7D2DC2}"/>
              </a:ext>
            </a:extLst>
          </p:cNvPr>
          <p:cNvSpPr/>
          <p:nvPr/>
        </p:nvSpPr>
        <p:spPr>
          <a:xfrm>
            <a:off x="6844683" y="4640185"/>
            <a:ext cx="4326194" cy="1091381"/>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3200" b="1" dirty="0"/>
              <a:t>Τρέξτε το πρόγραμμα και ελέγξτε το</a:t>
            </a:r>
            <a:endParaRPr lang="en-GB" sz="3200" b="1" dirty="0"/>
          </a:p>
        </p:txBody>
      </p:sp>
    </p:spTree>
    <p:extLst>
      <p:ext uri="{BB962C8B-B14F-4D97-AF65-F5344CB8AC3E}">
        <p14:creationId xmlns:p14="http://schemas.microsoft.com/office/powerpoint/2010/main" val="19822006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p:bldP spid="18" grpId="0"/>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5875B-EF37-0CB5-744F-8E85EA60433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F9034EF7-5B22-DD0A-534B-9A6B9DE7D4FC}"/>
              </a:ext>
            </a:extLst>
          </p:cNvPr>
          <p:cNvSpPr>
            <a:spLocks noGrp="1"/>
          </p:cNvSpPr>
          <p:nvPr>
            <p:ph type="title"/>
          </p:nvPr>
        </p:nvSpPr>
        <p:spPr>
          <a:xfrm>
            <a:off x="0" y="0"/>
            <a:ext cx="12191999" cy="791375"/>
          </a:xfrm>
          <a:solidFill>
            <a:srgbClr val="FDCBAD"/>
          </a:solidFill>
        </p:spPr>
        <p:txBody>
          <a:bodyPr>
            <a:normAutofit/>
          </a:bodyPr>
          <a:lstStyle/>
          <a:p>
            <a:r>
              <a:rPr lang="en-US" b="1" dirty="0">
                <a:solidFill>
                  <a:srgbClr val="F9853D"/>
                </a:solidFill>
                <a:latin typeface="Bahnschrift" panose="020B0502040204020203" pitchFamily="34" charset="0"/>
              </a:rPr>
              <a:t>updateMinAndMax </a:t>
            </a:r>
            <a:r>
              <a:rPr lang="el-GR" b="1" dirty="0">
                <a:solidFill>
                  <a:srgbClr val="F9853D"/>
                </a:solidFill>
                <a:latin typeface="Bahnschrift" panose="020B0502040204020203" pitchFamily="34" charset="0"/>
              </a:rPr>
              <a:t>– 2</a:t>
            </a:r>
            <a:r>
              <a:rPr lang="el-GR" b="1" baseline="30000" dirty="0">
                <a:solidFill>
                  <a:srgbClr val="F9853D"/>
                </a:solidFill>
                <a:latin typeface="Bahnschrift" panose="020B0502040204020203" pitchFamily="34" charset="0"/>
              </a:rPr>
              <a:t>η</a:t>
            </a:r>
            <a:r>
              <a:rPr lang="el-GR" b="1" dirty="0">
                <a:solidFill>
                  <a:srgbClr val="F9853D"/>
                </a:solidFill>
                <a:latin typeface="Bahnschrift" panose="020B0502040204020203" pitchFamily="34" charset="0"/>
              </a:rPr>
              <a:t> προσπάθεια</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85D5D98C-ECE5-93E2-81E2-C251525B125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52950AAC-67F8-5363-6613-6E97D1DAA090}"/>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5D15F93F-47B5-938C-5A56-F6A80BD0E9BB}"/>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73F491C9-A07D-25AC-70C7-014C044FEAC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A1F5B18-38B5-47BF-A304-27CAB120DC2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16</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C1FC9F66-A35B-A636-D92F-7AB319770694}"/>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TextBox 4">
            <a:extLst>
              <a:ext uri="{FF2B5EF4-FFF2-40B4-BE49-F238E27FC236}">
                <a16:creationId xmlns:a16="http://schemas.microsoft.com/office/drawing/2014/main" id="{47B67C10-5FC4-708C-B46A-DD6F48DA5496}"/>
              </a:ext>
            </a:extLst>
          </p:cNvPr>
          <p:cNvSpPr txBox="1"/>
          <p:nvPr/>
        </p:nvSpPr>
        <p:spPr>
          <a:xfrm>
            <a:off x="68841" y="2477922"/>
            <a:ext cx="1212315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void updateMinAndMax(int n, int </a:t>
            </a:r>
            <a:r>
              <a:rPr lang="en-US" sz="2800" b="1" dirty="0">
                <a:solidFill>
                  <a:srgbClr val="FF0000"/>
                </a:solidFill>
                <a:latin typeface="Courier New" panose="02070309020205020404" pitchFamily="49" charset="0"/>
                <a:cs typeface="Courier New" panose="02070309020205020404" pitchFamily="49" charset="0"/>
              </a:rPr>
              <a:t>*</a:t>
            </a:r>
            <a:r>
              <a:rPr lang="en-US" sz="2800" b="1" dirty="0" err="1">
                <a:solidFill>
                  <a:srgbClr val="FF0000"/>
                </a:solidFill>
                <a:latin typeface="Courier New" panose="02070309020205020404" pitchFamily="49" charset="0"/>
                <a:cs typeface="Courier New" panose="02070309020205020404" pitchFamily="49" charset="0"/>
              </a:rPr>
              <a:t>minPtr</a:t>
            </a:r>
            <a:r>
              <a:rPr lang="en-US" sz="2800" dirty="0">
                <a:latin typeface="Courier New" panose="02070309020205020404" pitchFamily="49" charset="0"/>
                <a:cs typeface="Courier New" panose="02070309020205020404" pitchFamily="49" charset="0"/>
              </a:rPr>
              <a:t>, int </a:t>
            </a:r>
            <a:r>
              <a:rPr lang="en-US" sz="2800" b="1" dirty="0">
                <a:solidFill>
                  <a:srgbClr val="FF0000"/>
                </a:solidFill>
                <a:latin typeface="Courier New" panose="02070309020205020404" pitchFamily="49" charset="0"/>
                <a:cs typeface="Courier New" panose="02070309020205020404" pitchFamily="49" charset="0"/>
              </a:rPr>
              <a:t>*</a:t>
            </a:r>
            <a:r>
              <a:rPr lang="en-US" sz="2800" b="1" dirty="0" err="1">
                <a:solidFill>
                  <a:srgbClr val="FF0000"/>
                </a:solidFill>
                <a:latin typeface="Courier New" panose="02070309020205020404" pitchFamily="49" charset="0"/>
                <a:cs typeface="Courier New" panose="02070309020205020404" pitchFamily="49" charset="0"/>
              </a:rPr>
              <a:t>maxPtr</a:t>
            </a:r>
            <a:r>
              <a:rPr lang="en-US" sz="2800" b="1" dirty="0">
                <a:solidFill>
                  <a:srgbClr val="FF0000"/>
                </a:solidFill>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4CFAF654-D46C-F794-D650-8B73847B1C7D}"/>
              </a:ext>
            </a:extLst>
          </p:cNvPr>
          <p:cNvSpPr txBox="1"/>
          <p:nvPr/>
        </p:nvSpPr>
        <p:spPr>
          <a:xfrm>
            <a:off x="68841" y="3667447"/>
            <a:ext cx="11562736"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updateMinAndMax(</a:t>
            </a:r>
            <a:r>
              <a:rPr lang="en-US" sz="2800" dirty="0" err="1">
                <a:latin typeface="Courier New" panose="02070309020205020404" pitchFamily="49" charset="0"/>
                <a:cs typeface="Courier New" panose="02070309020205020404" pitchFamily="49" charset="0"/>
              </a:rPr>
              <a:t>cTerm</a:t>
            </a:r>
            <a:r>
              <a:rPr lang="en-US" sz="2800" dirty="0">
                <a:latin typeface="Courier New" panose="02070309020205020404" pitchFamily="49" charset="0"/>
                <a:cs typeface="Courier New" panose="02070309020205020404" pitchFamily="49" charset="0"/>
              </a:rPr>
              <a:t>, </a:t>
            </a:r>
            <a:r>
              <a:rPr lang="en-US" sz="2800" b="1" dirty="0">
                <a:solidFill>
                  <a:srgbClr val="FF0000"/>
                </a:solidFill>
                <a:latin typeface="Courier New" panose="02070309020205020404" pitchFamily="49" charset="0"/>
                <a:cs typeface="Courier New" panose="02070309020205020404" pitchFamily="49" charset="0"/>
              </a:rPr>
              <a:t>&amp;</a:t>
            </a:r>
            <a:r>
              <a:rPr lang="en-US" sz="2800" b="1" dirty="0" err="1">
                <a:solidFill>
                  <a:srgbClr val="FF0000"/>
                </a:solidFill>
                <a:latin typeface="Courier New" panose="02070309020205020404" pitchFamily="49" charset="0"/>
                <a:cs typeface="Courier New" panose="02070309020205020404" pitchFamily="49" charset="0"/>
              </a:rPr>
              <a:t>min,&amp;max</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6" name="TextBox 15">
            <a:extLst>
              <a:ext uri="{FF2B5EF4-FFF2-40B4-BE49-F238E27FC236}">
                <a16:creationId xmlns:a16="http://schemas.microsoft.com/office/drawing/2014/main" id="{C3C235B7-6640-5C53-8A3A-7A94CEC3C0A9}"/>
              </a:ext>
            </a:extLst>
          </p:cNvPr>
          <p:cNvSpPr txBox="1"/>
          <p:nvPr/>
        </p:nvSpPr>
        <p:spPr>
          <a:xfrm>
            <a:off x="0" y="1915838"/>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Δήλωση συνάρτησης</a:t>
            </a:r>
            <a:endParaRPr lang="en-GB" sz="3200" dirty="0"/>
          </a:p>
        </p:txBody>
      </p:sp>
      <p:sp>
        <p:nvSpPr>
          <p:cNvPr id="17" name="TextBox 16">
            <a:extLst>
              <a:ext uri="{FF2B5EF4-FFF2-40B4-BE49-F238E27FC236}">
                <a16:creationId xmlns:a16="http://schemas.microsoft.com/office/drawing/2014/main" id="{10158E55-A742-06A5-5CF9-E22F8B34AE83}"/>
              </a:ext>
            </a:extLst>
          </p:cNvPr>
          <p:cNvSpPr txBox="1"/>
          <p:nvPr/>
        </p:nvSpPr>
        <p:spPr>
          <a:xfrm>
            <a:off x="68841" y="3080387"/>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Κλήση συνάρτησης</a:t>
            </a:r>
            <a:endParaRPr lang="en-GB" sz="3200" dirty="0"/>
          </a:p>
        </p:txBody>
      </p:sp>
      <p:sp>
        <p:nvSpPr>
          <p:cNvPr id="18" name="TextBox 17">
            <a:extLst>
              <a:ext uri="{FF2B5EF4-FFF2-40B4-BE49-F238E27FC236}">
                <a16:creationId xmlns:a16="http://schemas.microsoft.com/office/drawing/2014/main" id="{7248D6E7-0D40-D6B1-F889-AA92728B3938}"/>
              </a:ext>
            </a:extLst>
          </p:cNvPr>
          <p:cNvSpPr txBox="1"/>
          <p:nvPr/>
        </p:nvSpPr>
        <p:spPr>
          <a:xfrm>
            <a:off x="68841" y="4331467"/>
            <a:ext cx="6223818" cy="584775"/>
          </a:xfrm>
          <a:prstGeom prst="rect">
            <a:avLst/>
          </a:prstGeom>
          <a:noFill/>
        </p:spPr>
        <p:txBody>
          <a:bodyPr wrap="square">
            <a:spAutoFit/>
          </a:bodyPr>
          <a:lstStyle/>
          <a:p>
            <a:r>
              <a:rPr lang="el-GR" sz="3200" b="1" dirty="0">
                <a:solidFill>
                  <a:srgbClr val="F9853D"/>
                </a:solidFill>
                <a:latin typeface="Bahnschrift" panose="020B0502040204020203" pitchFamily="34" charset="0"/>
              </a:rPr>
              <a:t>Ορισμός συνάρτησης</a:t>
            </a:r>
            <a:endParaRPr lang="en-GB" sz="3200" dirty="0"/>
          </a:p>
        </p:txBody>
      </p:sp>
      <p:sp>
        <p:nvSpPr>
          <p:cNvPr id="20" name="Speech Bubble: Rectangle with Corners Rounded 19">
            <a:extLst>
              <a:ext uri="{FF2B5EF4-FFF2-40B4-BE49-F238E27FC236}">
                <a16:creationId xmlns:a16="http://schemas.microsoft.com/office/drawing/2014/main" id="{0E1ECAC0-4AA3-6F7A-96D4-05C3DC8A1123}"/>
              </a:ext>
            </a:extLst>
          </p:cNvPr>
          <p:cNvSpPr/>
          <p:nvPr/>
        </p:nvSpPr>
        <p:spPr>
          <a:xfrm>
            <a:off x="224648" y="4891981"/>
            <a:ext cx="3615984" cy="962095"/>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Δώστε τον ορισμό της συνάρτησης</a:t>
            </a:r>
            <a:endParaRPr lang="en-GB" sz="2800" b="1" dirty="0"/>
          </a:p>
        </p:txBody>
      </p:sp>
      <p:sp>
        <p:nvSpPr>
          <p:cNvPr id="21" name="Speech Bubble: Rectangle with Corners Rounded 20">
            <a:extLst>
              <a:ext uri="{FF2B5EF4-FFF2-40B4-BE49-F238E27FC236}">
                <a16:creationId xmlns:a16="http://schemas.microsoft.com/office/drawing/2014/main" id="{3DA77128-87A0-15A5-3A33-77628648F37D}"/>
              </a:ext>
            </a:extLst>
          </p:cNvPr>
          <p:cNvSpPr/>
          <p:nvPr/>
        </p:nvSpPr>
        <p:spPr>
          <a:xfrm>
            <a:off x="8435347" y="4579792"/>
            <a:ext cx="3615984" cy="1091381"/>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Τρέξτε το πρόγραμμα και ελέγξτε το</a:t>
            </a:r>
            <a:endParaRPr lang="en-GB" sz="2800" b="1" dirty="0"/>
          </a:p>
        </p:txBody>
      </p:sp>
      <p:sp>
        <p:nvSpPr>
          <p:cNvPr id="4" name="TextBox 3">
            <a:extLst>
              <a:ext uri="{FF2B5EF4-FFF2-40B4-BE49-F238E27FC236}">
                <a16:creationId xmlns:a16="http://schemas.microsoft.com/office/drawing/2014/main" id="{4F1A5AAB-9455-7C90-C86D-C1F2F84409A0}"/>
              </a:ext>
            </a:extLst>
          </p:cNvPr>
          <p:cNvSpPr txBox="1"/>
          <p:nvPr/>
        </p:nvSpPr>
        <p:spPr>
          <a:xfrm>
            <a:off x="68841" y="857815"/>
            <a:ext cx="11933344" cy="954107"/>
          </a:xfrm>
          <a:prstGeom prst="rect">
            <a:avLst/>
          </a:prstGeom>
          <a:solidFill>
            <a:srgbClr val="92D050"/>
          </a:solidFill>
        </p:spPr>
        <p:txBody>
          <a:bodyPr wrap="square" rtlCol="0">
            <a:spAutoFit/>
          </a:bodyPr>
          <a:lstStyle/>
          <a:p>
            <a:r>
              <a:rPr lang="el-GR" sz="2800" dirty="0"/>
              <a:t>Θα πρέπει με κάποιο τρόπο να δώσουμε τη δυνατότητα στη συνάρτηση να έχει </a:t>
            </a:r>
            <a:r>
              <a:rPr lang="el-GR" sz="2800" b="1" dirty="0">
                <a:solidFill>
                  <a:srgbClr val="C00000"/>
                </a:solidFill>
              </a:rPr>
              <a:t>πρόσβαση στα πραγματικά ορίσματα</a:t>
            </a:r>
            <a:r>
              <a:rPr lang="el-GR" sz="2800" dirty="0"/>
              <a:t>. </a:t>
            </a:r>
            <a:endParaRPr lang="en-GB" sz="2800" dirty="0"/>
          </a:p>
        </p:txBody>
      </p:sp>
      <p:pic>
        <p:nvPicPr>
          <p:cNvPr id="15" name="Picture 14">
            <a:extLst>
              <a:ext uri="{FF2B5EF4-FFF2-40B4-BE49-F238E27FC236}">
                <a16:creationId xmlns:a16="http://schemas.microsoft.com/office/drawing/2014/main" id="{BBBE2F30-C887-6CC8-2AFD-FAD556298021}"/>
              </a:ext>
            </a:extLst>
          </p:cNvPr>
          <p:cNvPicPr>
            <a:picLocks noChangeAspect="1"/>
          </p:cNvPicPr>
          <p:nvPr/>
        </p:nvPicPr>
        <p:blipFill>
          <a:blip r:embed="rId3"/>
          <a:stretch>
            <a:fillRect/>
          </a:stretch>
        </p:blipFill>
        <p:spPr>
          <a:xfrm>
            <a:off x="4228525" y="4959263"/>
            <a:ext cx="3734947" cy="1423820"/>
          </a:xfrm>
          <a:prstGeom prst="rect">
            <a:avLst/>
          </a:prstGeom>
        </p:spPr>
      </p:pic>
    </p:spTree>
    <p:extLst>
      <p:ext uri="{BB962C8B-B14F-4D97-AF65-F5344CB8AC3E}">
        <p14:creationId xmlns:p14="http://schemas.microsoft.com/office/powerpoint/2010/main" val="34409740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p:bldP spid="18" grpId="0"/>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11A39-B24B-DE03-A16C-2F5F143110EE}"/>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3E536BC-1933-B1B5-5317-FEECAD0138A3}"/>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Τεχνικές για το πέρασμα ορισμάτων</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885AB90E-2BFD-650B-5903-5E036EA8525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EC058B0D-A954-AA2C-CEBD-F594E0E54CB9}"/>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43E40BE1-980F-4837-D038-08B2D9D7A6A7}"/>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7C86ABB3-49FF-8BAD-B9A6-EB94CBA2E7E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4BBB319-4189-489F-A85A-B76E9D7D1CC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17</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7D478747-31F1-4938-0806-0D3D790736C9}"/>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4" name="TextBox 3">
            <a:extLst>
              <a:ext uri="{FF2B5EF4-FFF2-40B4-BE49-F238E27FC236}">
                <a16:creationId xmlns:a16="http://schemas.microsoft.com/office/drawing/2014/main" id="{1C86920E-2D1F-1DDF-D109-1045C0B18AAC}"/>
              </a:ext>
            </a:extLst>
          </p:cNvPr>
          <p:cNvSpPr txBox="1"/>
          <p:nvPr/>
        </p:nvSpPr>
        <p:spPr>
          <a:xfrm>
            <a:off x="191728" y="1006409"/>
            <a:ext cx="11859603" cy="3046988"/>
          </a:xfrm>
          <a:prstGeom prst="rect">
            <a:avLst/>
          </a:prstGeom>
          <a:solidFill>
            <a:srgbClr val="92D050"/>
          </a:solidFill>
        </p:spPr>
        <p:txBody>
          <a:bodyPr wrap="square" rtlCol="0">
            <a:spAutoFit/>
          </a:bodyPr>
          <a:lstStyle/>
          <a:p>
            <a:pPr lvl="0"/>
            <a:r>
              <a:rPr lang="el-GR" sz="2400" b="1" u="sng" dirty="0"/>
              <a:t>Κατ’ αξία</a:t>
            </a:r>
            <a:endParaRPr lang="en-GB" sz="2400" b="1" dirty="0"/>
          </a:p>
          <a:p>
            <a:r>
              <a:rPr lang="el-GR" sz="2400" dirty="0"/>
              <a:t>στην περίπτωση αυτή η συνάρτηση δουλεύει πάνω σε αντίγραφο του πραγματικού ορίσματος καθώς περνάμε ως όρισμα τη μεταβλητή, </a:t>
            </a:r>
          </a:p>
          <a:p>
            <a:endParaRPr lang="en-GB" sz="2400" dirty="0"/>
          </a:p>
          <a:p>
            <a:pPr lvl="0"/>
            <a:r>
              <a:rPr lang="el-GR" sz="2400" b="1" u="sng" dirty="0"/>
              <a:t>Κατ’ αναφορά </a:t>
            </a:r>
            <a:endParaRPr lang="en-GB" sz="2400" b="1" dirty="0"/>
          </a:p>
          <a:p>
            <a:r>
              <a:rPr lang="el-GR" sz="2400" dirty="0"/>
              <a:t>στην περίπτωση αυτή η συνάρτηση δουλεύει στο πραγματικό όρισμα καθώς περνάμε ως όρισμα τη διεύθυνση της μεταβλητής την οποία αξιοποιεί η συνάρτηση για να έχει πρόσβαση στο πραγματικό όρισμα.</a:t>
            </a:r>
            <a:endParaRPr lang="en-GB" sz="2400" dirty="0"/>
          </a:p>
        </p:txBody>
      </p:sp>
      <p:sp>
        <p:nvSpPr>
          <p:cNvPr id="5" name="TextBox 4">
            <a:extLst>
              <a:ext uri="{FF2B5EF4-FFF2-40B4-BE49-F238E27FC236}">
                <a16:creationId xmlns:a16="http://schemas.microsoft.com/office/drawing/2014/main" id="{676B06CB-18BB-B70B-5A2B-DC5D8CD8E9CB}"/>
              </a:ext>
            </a:extLst>
          </p:cNvPr>
          <p:cNvSpPr txBox="1"/>
          <p:nvPr/>
        </p:nvSpPr>
        <p:spPr>
          <a:xfrm>
            <a:off x="34420" y="5035172"/>
            <a:ext cx="1212315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void </a:t>
            </a:r>
            <a:r>
              <a:rPr lang="en-US" sz="2800" dirty="0" err="1">
                <a:latin typeface="Courier New" panose="02070309020205020404" pitchFamily="49" charset="0"/>
                <a:cs typeface="Courier New" panose="02070309020205020404" pitchFamily="49" charset="0"/>
              </a:rPr>
              <a:t>sortIntArrayInc</a:t>
            </a:r>
            <a:r>
              <a:rPr lang="en-US" sz="2800" dirty="0">
                <a:latin typeface="Courier New" panose="02070309020205020404" pitchFamily="49" charset="0"/>
                <a:cs typeface="Courier New" panose="02070309020205020404" pitchFamily="49" charset="0"/>
              </a:rPr>
              <a:t>(</a:t>
            </a:r>
            <a:r>
              <a:rPr lang="en-US" sz="2800" b="1" dirty="0">
                <a:solidFill>
                  <a:srgbClr val="FF0000"/>
                </a:solidFill>
                <a:latin typeface="Courier New" panose="02070309020205020404" pitchFamily="49" charset="0"/>
                <a:cs typeface="Courier New" panose="02070309020205020404" pitchFamily="49" charset="0"/>
              </a:rPr>
              <a:t>int </a:t>
            </a:r>
            <a:r>
              <a:rPr lang="en-US" sz="2800" b="1" dirty="0" err="1">
                <a:solidFill>
                  <a:srgbClr val="FF0000"/>
                </a:solidFill>
                <a:latin typeface="Courier New" panose="02070309020205020404" pitchFamily="49" charset="0"/>
                <a:cs typeface="Courier New" panose="02070309020205020404" pitchFamily="49" charset="0"/>
              </a:rPr>
              <a:t>ar</a:t>
            </a:r>
            <a:r>
              <a:rPr lang="en-US" sz="2800" b="1" dirty="0">
                <a:solidFill>
                  <a:srgbClr val="FF0000"/>
                </a:solidFill>
                <a:latin typeface="Courier New" panose="02070309020205020404" pitchFamily="49" charset="0"/>
                <a:cs typeface="Courier New" panose="02070309020205020404" pitchFamily="49" charset="0"/>
              </a:rPr>
              <a:t>[]</a:t>
            </a:r>
            <a:r>
              <a:rPr lang="en-US" sz="2800" dirty="0">
                <a:latin typeface="Courier New" panose="02070309020205020404" pitchFamily="49" charset="0"/>
                <a:cs typeface="Courier New" panose="02070309020205020404" pitchFamily="49" charset="0"/>
              </a:rPr>
              <a:t>,int </a:t>
            </a:r>
            <a:r>
              <a:rPr lang="en-US" sz="2800" dirty="0" err="1">
                <a:latin typeface="Courier New" panose="02070309020205020404" pitchFamily="49" charset="0"/>
                <a:cs typeface="Courier New" panose="02070309020205020404" pitchFamily="49" charset="0"/>
              </a:rPr>
              <a:t>numOfElements</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7" name="Speech Bubble: Rectangle with Corners Rounded 6">
            <a:extLst>
              <a:ext uri="{FF2B5EF4-FFF2-40B4-BE49-F238E27FC236}">
                <a16:creationId xmlns:a16="http://schemas.microsoft.com/office/drawing/2014/main" id="{FD575E81-3D8C-11F0-95F8-91DDF9C1C05E}"/>
              </a:ext>
            </a:extLst>
          </p:cNvPr>
          <p:cNvSpPr/>
          <p:nvPr/>
        </p:nvSpPr>
        <p:spPr>
          <a:xfrm>
            <a:off x="191728" y="4273761"/>
            <a:ext cx="6264642" cy="523220"/>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οι πίνακες δεν περνάνε κατ’ αξία </a:t>
            </a:r>
            <a:endParaRPr lang="en-GB" sz="2800" b="1" dirty="0"/>
          </a:p>
        </p:txBody>
      </p:sp>
      <p:sp>
        <p:nvSpPr>
          <p:cNvPr id="9" name="TextBox 8">
            <a:extLst>
              <a:ext uri="{FF2B5EF4-FFF2-40B4-BE49-F238E27FC236}">
                <a16:creationId xmlns:a16="http://schemas.microsoft.com/office/drawing/2014/main" id="{581616FE-FE45-4859-AD4D-32A32CF1DE99}"/>
              </a:ext>
            </a:extLst>
          </p:cNvPr>
          <p:cNvSpPr txBox="1"/>
          <p:nvPr/>
        </p:nvSpPr>
        <p:spPr>
          <a:xfrm>
            <a:off x="34420" y="5851591"/>
            <a:ext cx="1212315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void </a:t>
            </a:r>
            <a:r>
              <a:rPr lang="en-US" sz="2800" dirty="0" err="1">
                <a:latin typeface="Courier New" panose="02070309020205020404" pitchFamily="49" charset="0"/>
                <a:cs typeface="Courier New" panose="02070309020205020404" pitchFamily="49" charset="0"/>
              </a:rPr>
              <a:t>sortIntArrayInc</a:t>
            </a:r>
            <a:r>
              <a:rPr lang="en-US" sz="2800" dirty="0">
                <a:latin typeface="Courier New" panose="02070309020205020404" pitchFamily="49" charset="0"/>
                <a:cs typeface="Courier New" panose="02070309020205020404" pitchFamily="49" charset="0"/>
              </a:rPr>
              <a:t>(</a:t>
            </a:r>
            <a:r>
              <a:rPr lang="en-US" sz="2800" b="1" dirty="0">
                <a:solidFill>
                  <a:srgbClr val="FF0000"/>
                </a:solidFill>
                <a:latin typeface="Courier New" panose="02070309020205020404" pitchFamily="49" charset="0"/>
                <a:cs typeface="Courier New" panose="02070309020205020404" pitchFamily="49" charset="0"/>
              </a:rPr>
              <a:t>int </a:t>
            </a:r>
            <a:r>
              <a:rPr lang="el-GR" sz="2800" b="1" dirty="0">
                <a:solidFill>
                  <a:srgbClr val="FF0000"/>
                </a:solidFill>
                <a:latin typeface="Courier New" panose="02070309020205020404" pitchFamily="49" charset="0"/>
                <a:cs typeface="Courier New" panose="02070309020205020404" pitchFamily="49" charset="0"/>
              </a:rPr>
              <a:t>*</a:t>
            </a:r>
            <a:r>
              <a:rPr lang="en-US" sz="2800" b="1" dirty="0" err="1">
                <a:solidFill>
                  <a:srgbClr val="FF0000"/>
                </a:solidFill>
                <a:latin typeface="Courier New" panose="02070309020205020404" pitchFamily="49" charset="0"/>
                <a:cs typeface="Courier New" panose="02070309020205020404" pitchFamily="49" charset="0"/>
              </a:rPr>
              <a:t>ar</a:t>
            </a:r>
            <a:r>
              <a:rPr lang="en-US" sz="2800" dirty="0" err="1">
                <a:latin typeface="Courier New" panose="02070309020205020404" pitchFamily="49" charset="0"/>
                <a:cs typeface="Courier New" panose="02070309020205020404" pitchFamily="49" charset="0"/>
              </a:rPr>
              <a:t>,int</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numOfElements</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965198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3F75E-47B4-1BE8-3081-45A941E84DF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8A942795-32F5-62C0-F85A-D9B2CAC1BBBB}"/>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63024AF-003C-2E30-E847-BDDE85A1FA8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2782A358-0796-FDBF-A7A6-A0887ACCAE8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45FAB77-D339-38DE-4EF8-D1FB2778E2E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18</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81012DCD-03AD-684E-3D05-8484EFFD2A6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FA4C3FEF-B1D3-66F5-0FC6-AE01DB7E6821}"/>
              </a:ext>
            </a:extLst>
          </p:cNvPr>
          <p:cNvSpPr txBox="1">
            <a:spLocks noChangeArrowheads="1"/>
          </p:cNvSpPr>
          <p:nvPr/>
        </p:nvSpPr>
        <p:spPr bwMode="auto">
          <a:xfrm>
            <a:off x="252524" y="754819"/>
            <a:ext cx="11207100" cy="51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lnSpc>
                <a:spcPct val="80000"/>
              </a:lnSpc>
              <a:buNone/>
            </a:pPr>
            <a:r>
              <a:rPr lang="el-GR" altLang="el-GR" sz="2000" b="1" dirty="0">
                <a:latin typeface="Tahoma" panose="020B0604030504040204" pitchFamily="34" charset="0"/>
                <a:ea typeface="Tahoma" panose="020B0604030504040204" pitchFamily="34" charset="0"/>
                <a:cs typeface="Tahoma" panose="020B0604030504040204" pitchFamily="34" charset="0"/>
              </a:rPr>
              <a:t>Μέρος Α</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7.1 </a:t>
            </a:r>
            <a:r>
              <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Divisors</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7.2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Most_Frequent_Number</a:t>
            </a:r>
            <a:endPar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marL="0" indent="0" eaLnBrk="1" hangingPunct="1">
              <a:lnSpc>
                <a:spcPct val="80000"/>
              </a:lnSpc>
              <a:buNone/>
            </a:pPr>
            <a:r>
              <a:rPr lang="el-GR" altLang="el-GR" sz="2400" b="1" dirty="0">
                <a:latin typeface="Tahoma" panose="020B0604030504040204" pitchFamily="34" charset="0"/>
                <a:ea typeface="Tahoma" panose="020B0604030504040204" pitchFamily="34" charset="0"/>
                <a:cs typeface="Tahoma" panose="020B0604030504040204" pitchFamily="34" charset="0"/>
              </a:rPr>
              <a:t>Μέρος Β</a:t>
            </a: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7.3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Min_And_Max</a:t>
            </a:r>
            <a:endParaRPr lang="en-US"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H </a:t>
            </a:r>
            <a:r>
              <a:rPr lang="el-GR" altLang="el-GR" sz="2000" dirty="0" err="1">
                <a:latin typeface="Tahoma" panose="020B0604030504040204" pitchFamily="34" charset="0"/>
                <a:ea typeface="Tahoma" panose="020B0604030504040204" pitchFamily="34" charset="0"/>
                <a:cs typeface="Tahoma" panose="020B0604030504040204" pitchFamily="34" charset="0"/>
              </a:rPr>
              <a:t>scanf</a:t>
            </a:r>
            <a:r>
              <a:rPr lang="el-GR" altLang="el-GR" sz="2000" dirty="0">
                <a:latin typeface="Tahoma" panose="020B0604030504040204" pitchFamily="34" charset="0"/>
                <a:ea typeface="Tahoma" panose="020B0604030504040204" pitchFamily="34" charset="0"/>
                <a:cs typeface="Tahoma" panose="020B0604030504040204" pitchFamily="34" charset="0"/>
              </a:rPr>
              <a:t> για αριθμούς</a:t>
            </a: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Πέρασμα ορίσματος κατά αναφορά (</a:t>
            </a:r>
            <a:r>
              <a:rPr lang="el-GR" altLang="el-GR" sz="2000" dirty="0" err="1">
                <a:latin typeface="Tahoma" panose="020B0604030504040204" pitchFamily="34" charset="0"/>
                <a:ea typeface="Tahoma" panose="020B0604030504040204" pitchFamily="34" charset="0"/>
                <a:cs typeface="Tahoma" panose="020B0604030504040204" pitchFamily="34" charset="0"/>
              </a:rPr>
              <a:t>call</a:t>
            </a:r>
            <a:r>
              <a:rPr lang="el-GR" altLang="el-GR" sz="2000" dirty="0">
                <a:latin typeface="Tahoma" panose="020B0604030504040204" pitchFamily="34" charset="0"/>
                <a:ea typeface="Tahoma" panose="020B0604030504040204" pitchFamily="34" charset="0"/>
                <a:cs typeface="Tahoma" panose="020B0604030504040204" pitchFamily="34" charset="0"/>
              </a:rPr>
              <a:t> </a:t>
            </a:r>
            <a:r>
              <a:rPr lang="el-GR" altLang="el-GR" sz="2000" dirty="0" err="1">
                <a:latin typeface="Tahoma" panose="020B0604030504040204" pitchFamily="34" charset="0"/>
                <a:ea typeface="Tahoma" panose="020B0604030504040204" pitchFamily="34" charset="0"/>
                <a:cs typeface="Tahoma" panose="020B0604030504040204" pitchFamily="34" charset="0"/>
              </a:rPr>
              <a:t>by</a:t>
            </a:r>
            <a:r>
              <a:rPr lang="el-GR" altLang="el-GR" sz="2000" dirty="0">
                <a:latin typeface="Tahoma" panose="020B0604030504040204" pitchFamily="34" charset="0"/>
                <a:ea typeface="Tahoma" panose="020B0604030504040204" pitchFamily="34" charset="0"/>
                <a:cs typeface="Tahoma" panose="020B0604030504040204" pitchFamily="34" charset="0"/>
              </a:rPr>
              <a:t> </a:t>
            </a:r>
            <a:r>
              <a:rPr lang="el-GR" altLang="el-GR" sz="2000" dirty="0" err="1">
                <a:latin typeface="Tahoma" panose="020B0604030504040204" pitchFamily="34" charset="0"/>
                <a:ea typeface="Tahoma" panose="020B0604030504040204" pitchFamily="34" charset="0"/>
                <a:cs typeface="Tahoma" panose="020B0604030504040204" pitchFamily="34" charset="0"/>
              </a:rPr>
              <a:t>reference</a:t>
            </a:r>
            <a:r>
              <a:rPr lang="el-GR" altLang="el-GR" sz="2000" dirty="0">
                <a:latin typeface="Tahoma" panose="020B0604030504040204" pitchFamily="34" charset="0"/>
                <a:ea typeface="Tahoma" panose="020B0604030504040204" pitchFamily="34" charset="0"/>
                <a:cs typeface="Tahoma" panose="020B0604030504040204" pitchFamily="34" charset="0"/>
              </a:rPr>
              <a:t>)</a:t>
            </a:r>
            <a:endParaRPr lang="en-US" altLang="el-GR" sz="20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C00000"/>
                </a:solidFill>
                <a:latin typeface="Tahoma" panose="020B0604030504040204" pitchFamily="34" charset="0"/>
                <a:ea typeface="Tahoma" panose="020B0604030504040204" pitchFamily="34" charset="0"/>
                <a:cs typeface="Tahoma" panose="020B0604030504040204" pitchFamily="34" charset="0"/>
              </a:rPr>
              <a:t>Δραστηριότητα 7.4 </a:t>
            </a:r>
            <a:r>
              <a:rPr lang="en-US" altLang="el-GR" sz="2400" b="1" dirty="0" err="1">
                <a:solidFill>
                  <a:srgbClr val="C00000"/>
                </a:solidFill>
                <a:latin typeface="Tahoma" panose="020B0604030504040204" pitchFamily="34" charset="0"/>
                <a:ea typeface="Tahoma" panose="020B0604030504040204" pitchFamily="34" charset="0"/>
                <a:cs typeface="Tahoma" panose="020B0604030504040204" pitchFamily="34" charset="0"/>
              </a:rPr>
              <a:t>Temperature_Handling</a:t>
            </a:r>
            <a:endParaRPr lang="en-US" altLang="el-GR" sz="2400" b="1" dirty="0">
              <a:solidFill>
                <a:srgbClr val="C00000"/>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Οργάνωση πληροφορίας</a:t>
            </a:r>
            <a:endParaRPr lang="en-US" altLang="el-GR" sz="2000" dirty="0">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Πολυδιάστατοι πίνακες</a:t>
            </a:r>
            <a:endParaRPr lang="en-US" altLang="el-GR" sz="2000" dirty="0">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2000" dirty="0">
                <a:latin typeface="Tahoma" panose="020B0604030504040204" pitchFamily="34" charset="0"/>
                <a:ea typeface="Tahoma" panose="020B0604030504040204" pitchFamily="34" charset="0"/>
                <a:cs typeface="Tahoma" panose="020B0604030504040204" pitchFamily="34" charset="0"/>
              </a:rPr>
              <a:t>Η συνάρτηση </a:t>
            </a:r>
            <a:r>
              <a:rPr lang="en-US" altLang="el-GR" sz="2000" dirty="0">
                <a:latin typeface="Tahoma" panose="020B0604030504040204" pitchFamily="34" charset="0"/>
                <a:ea typeface="Tahoma" panose="020B0604030504040204" pitchFamily="34" charset="0"/>
                <a:cs typeface="Tahoma" panose="020B0604030504040204" pitchFamily="34" charset="0"/>
              </a:rPr>
              <a:t>rand</a:t>
            </a:r>
            <a:endParaRPr lang="el-GR" altLang="el-GR" sz="2000" dirty="0">
              <a:latin typeface="Tahoma" panose="020B0604030504040204" pitchFamily="34" charset="0"/>
              <a:ea typeface="Tahoma" panose="020B0604030504040204" pitchFamily="34" charset="0"/>
              <a:cs typeface="Tahoma" panose="020B0604030504040204" pitchFamily="34" charset="0"/>
            </a:endParaRPr>
          </a:p>
          <a:p>
            <a:pPr marL="0" indent="0" eaLnBrk="1" hangingPunct="1">
              <a:lnSpc>
                <a:spcPct val="80000"/>
              </a:lnSpc>
              <a:buNone/>
            </a:pPr>
            <a:r>
              <a:rPr lang="el-GR" altLang="el-GR" sz="2000" b="1" dirty="0">
                <a:latin typeface="Tahoma" panose="020B0604030504040204" pitchFamily="34" charset="0"/>
                <a:ea typeface="Tahoma" panose="020B0604030504040204" pitchFamily="34" charset="0"/>
                <a:cs typeface="Tahoma" panose="020B0604030504040204" pitchFamily="34" charset="0"/>
              </a:rPr>
              <a:t>Μέρος Γ</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7.5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Add_Numbers</a:t>
            </a:r>
            <a:endPar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1800" dirty="0">
                <a:latin typeface="Tahoma" panose="020B0604030504040204" pitchFamily="34" charset="0"/>
                <a:ea typeface="Tahoma" panose="020B0604030504040204" pitchFamily="34" charset="0"/>
                <a:cs typeface="Tahoma" panose="020B0604030504040204" pitchFamily="34" charset="0"/>
              </a:rPr>
              <a:t>Σταδιακή ανάπτυξη αλγορίθμου</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7.6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Four_Digit_Numbers</a:t>
            </a:r>
            <a:endParaRPr lang="en-GB"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1800" dirty="0">
                <a:latin typeface="Tahoma" panose="020B0604030504040204" pitchFamily="34" charset="0"/>
                <a:ea typeface="Tahoma" panose="020B0604030504040204" pitchFamily="34" charset="0"/>
                <a:cs typeface="Tahoma" panose="020B0604030504040204" pitchFamily="34" charset="0"/>
              </a:rPr>
              <a:t>Βελτίωση χρόνου εκτέλεσης</a:t>
            </a: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7.7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Armstrong_Sequence_Generator</a:t>
            </a:r>
            <a:endPar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lvl="1" eaLnBrk="1" hangingPunct="1">
              <a:lnSpc>
                <a:spcPct val="80000"/>
              </a:lnSpc>
            </a:pPr>
            <a:r>
              <a:rPr lang="el-GR" altLang="el-GR" sz="1800" dirty="0">
                <a:latin typeface="Tahoma" panose="020B0604030504040204" pitchFamily="34" charset="0"/>
                <a:ea typeface="Tahoma" panose="020B0604030504040204" pitchFamily="34" charset="0"/>
                <a:cs typeface="Tahoma" panose="020B0604030504040204" pitchFamily="34" charset="0"/>
              </a:rPr>
              <a:t>Αναδρομικότητα (</a:t>
            </a:r>
            <a:r>
              <a:rPr lang="en-GB" altLang="el-GR" sz="1800" dirty="0">
                <a:latin typeface="Tahoma" panose="020B0604030504040204" pitchFamily="34" charset="0"/>
                <a:ea typeface="Tahoma" panose="020B0604030504040204" pitchFamily="34" charset="0"/>
                <a:cs typeface="Tahoma" panose="020B0604030504040204" pitchFamily="34" charset="0"/>
              </a:rPr>
              <a:t>recursion)</a:t>
            </a:r>
            <a:endParaRPr lang="el-GR" altLang="el-GR" sz="18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000" b="1" dirty="0">
                <a:solidFill>
                  <a:srgbClr val="F9853D"/>
                </a:solidFill>
                <a:latin typeface="Tahoma" panose="020B0604030504040204" pitchFamily="34" charset="0"/>
                <a:ea typeface="Tahoma" panose="020B0604030504040204" pitchFamily="34" charset="0"/>
                <a:cs typeface="Tahoma" panose="020B0604030504040204" pitchFamily="34" charset="0"/>
              </a:rPr>
              <a:t>Δραστηριότητα 7.8 </a:t>
            </a:r>
            <a:r>
              <a:rPr lang="en-GB" altLang="el-GR" sz="2000" b="1" dirty="0" err="1">
                <a:solidFill>
                  <a:srgbClr val="F9853D"/>
                </a:solidFill>
                <a:latin typeface="Tahoma" panose="020B0604030504040204" pitchFamily="34" charset="0"/>
                <a:ea typeface="Tahoma" panose="020B0604030504040204" pitchFamily="34" charset="0"/>
                <a:cs typeface="Tahoma" panose="020B0604030504040204" pitchFamily="34" charset="0"/>
              </a:rPr>
              <a:t>RPN_Calculator</a:t>
            </a:r>
            <a:endParaRPr lang="en-US"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endParaRPr>
          </a:p>
        </p:txBody>
      </p:sp>
      <p:sp>
        <p:nvSpPr>
          <p:cNvPr id="5" name="Θέση υποσέλιδου 4">
            <a:extLst>
              <a:ext uri="{FF2B5EF4-FFF2-40B4-BE49-F238E27FC236}">
                <a16:creationId xmlns:a16="http://schemas.microsoft.com/office/drawing/2014/main" id="{C52FBC2C-8FB5-9332-007F-1339131EAFD5}"/>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1327033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F6F07-24C0-B549-5420-2056E60173A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703553C-1541-0300-31EB-3A0D2F85B20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Δραστηριότητα 7.4  - </a:t>
            </a:r>
            <a:r>
              <a:rPr lang="en-GB" sz="4000" b="1" dirty="0" err="1">
                <a:solidFill>
                  <a:srgbClr val="F9853D"/>
                </a:solidFill>
                <a:latin typeface="Bahnschrift" panose="020B0502040204020203" pitchFamily="34" charset="0"/>
              </a:rPr>
              <a:t>TemperatureHandling</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63D80C97-EECA-156F-A986-A782A32A667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BCE5E5E2-E79B-1375-BA8C-2B71A1A08056}"/>
              </a:ext>
            </a:extLst>
          </p:cNvPr>
          <p:cNvSpPr txBox="1">
            <a:spLocks/>
          </p:cNvSpPr>
          <p:nvPr/>
        </p:nvSpPr>
        <p:spPr bwMode="auto">
          <a:xfrm>
            <a:off x="-1" y="839666"/>
            <a:ext cx="12191999" cy="1977276"/>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800" kern="0" dirty="0">
                <a:solidFill>
                  <a:srgbClr val="000000"/>
                </a:solidFill>
                <a:latin typeface="Tahoma"/>
              </a:rPr>
              <a:t>Σας ανατίθεται η ανάπτυξη ενός προγράμματος για τη διαχείριση των μέσων ημερήσιων θερμοκρασιών (ΜΗΘ) για τα έτη 2010-2024. </a:t>
            </a:r>
          </a:p>
          <a:p>
            <a:pPr marL="0" indent="0">
              <a:buClr>
                <a:srgbClr val="3333CC"/>
              </a:buClr>
              <a:buNone/>
              <a:defRPr/>
            </a:pPr>
            <a:r>
              <a:rPr lang="el-GR" sz="2800" kern="0" dirty="0">
                <a:solidFill>
                  <a:srgbClr val="000000"/>
                </a:solidFill>
                <a:latin typeface="Tahoma"/>
              </a:rPr>
              <a:t>Αναπτύξτε ένα πρόγραμμα (</a:t>
            </a:r>
            <a:r>
              <a:rPr lang="el-GR" sz="2800" kern="0" dirty="0" err="1">
                <a:solidFill>
                  <a:srgbClr val="000000"/>
                </a:solidFill>
                <a:latin typeface="Tahoma"/>
              </a:rPr>
              <a:t>TemperatureHandling</a:t>
            </a:r>
            <a:r>
              <a:rPr lang="el-GR" sz="2800" kern="0" dirty="0">
                <a:solidFill>
                  <a:srgbClr val="000000"/>
                </a:solidFill>
                <a:latin typeface="Tahoma"/>
              </a:rPr>
              <a:t>) που να ικανοποιεί βασικές απαιτήσεις προς τη κατεύθυνση αυτή. </a:t>
            </a:r>
            <a:endParaRPr lang="en-US" sz="1600" kern="0" dirty="0">
              <a:solidFill>
                <a:srgbClr val="000000"/>
              </a:solidFill>
              <a:latin typeface="Tahoma"/>
            </a:endParaRPr>
          </a:p>
        </p:txBody>
      </p:sp>
      <p:sp>
        <p:nvSpPr>
          <p:cNvPr id="4" name="TextBox 3">
            <a:extLst>
              <a:ext uri="{FF2B5EF4-FFF2-40B4-BE49-F238E27FC236}">
                <a16:creationId xmlns:a16="http://schemas.microsoft.com/office/drawing/2014/main" id="{95BAB57F-66C5-DD80-02E6-A5E3BD454BA8}"/>
              </a:ext>
            </a:extLst>
          </p:cNvPr>
          <p:cNvSpPr txBox="1"/>
          <p:nvPr/>
        </p:nvSpPr>
        <p:spPr>
          <a:xfrm>
            <a:off x="70334" y="3238221"/>
            <a:ext cx="12051331" cy="2554545"/>
          </a:xfrm>
          <a:prstGeom prst="rect">
            <a:avLst/>
          </a:prstGeom>
          <a:solidFill>
            <a:srgbClr val="92D050"/>
          </a:solidFill>
        </p:spPr>
        <p:txBody>
          <a:bodyPr wrap="square" rtlCol="0">
            <a:spAutoFit/>
          </a:bodyPr>
          <a:lstStyle/>
          <a:p>
            <a:pPr marL="342900" indent="-342900">
              <a:buFont typeface="Wingdings" panose="05000000000000000000" pitchFamily="2" charset="2"/>
              <a:buChar char="Ø"/>
            </a:pPr>
            <a:r>
              <a:rPr lang="el-GR" sz="3200" dirty="0"/>
              <a:t>Η Δραστηριότητα : </a:t>
            </a:r>
          </a:p>
          <a:p>
            <a:pPr marL="800100" lvl="1" indent="-342900">
              <a:buFont typeface="Wingdings" panose="05000000000000000000" pitchFamily="2" charset="2"/>
              <a:buChar char="Ø"/>
            </a:pPr>
            <a:r>
              <a:rPr lang="el-GR" sz="3200" dirty="0"/>
              <a:t>κάνει μια </a:t>
            </a:r>
            <a:r>
              <a:rPr lang="el-GR" sz="3200" b="1" dirty="0"/>
              <a:t>εισαγωγή σε πολυδιάστατους πίνακες </a:t>
            </a:r>
            <a:r>
              <a:rPr lang="el-GR" sz="3200" dirty="0"/>
              <a:t>(πίνακες με περισσότερες από μια διαστάσεις). </a:t>
            </a:r>
          </a:p>
          <a:p>
            <a:pPr marL="800100" lvl="1" indent="-342900">
              <a:buFont typeface="Wingdings" panose="05000000000000000000" pitchFamily="2" charset="2"/>
              <a:buChar char="Ø"/>
            </a:pPr>
            <a:r>
              <a:rPr lang="el-GR" sz="3200" dirty="0"/>
              <a:t>Αντιμετωπίζει παράλληλα και  το </a:t>
            </a:r>
            <a:r>
              <a:rPr lang="el-GR" sz="3200" b="1" dirty="0"/>
              <a:t>πέρασμα πολυδιάστατου πίνακα ως όρισμα</a:t>
            </a:r>
            <a:r>
              <a:rPr lang="el-GR" sz="3200" dirty="0"/>
              <a:t> σε συνάρτηση. </a:t>
            </a:r>
            <a:endParaRPr lang="en-GB" sz="2400" dirty="0"/>
          </a:p>
        </p:txBody>
      </p:sp>
      <p:grpSp>
        <p:nvGrpSpPr>
          <p:cNvPr id="14" name="Group 13">
            <a:extLst>
              <a:ext uri="{FF2B5EF4-FFF2-40B4-BE49-F238E27FC236}">
                <a16:creationId xmlns:a16="http://schemas.microsoft.com/office/drawing/2014/main" id="{A15E520D-FA2A-593C-5CF1-D5E6840755FD}"/>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2764C01F-A4C1-9E7C-4FC2-76749E24A63B}"/>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D87AF2D-38C9-C685-2941-05AC8B972576}"/>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29E3CA1-39F9-0FF7-9C62-BA5222A92BC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19</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7BD8BA65-A638-7781-0FB4-0AC2B7C2FBC4}"/>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81462713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6422-E38E-E885-9772-F486269C45E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EDCC8A62-6FB9-42FC-596B-70611B23BD34}"/>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7.11 Βασική λειτουργικότητα προγράμματος</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941C7E26-F57E-2051-5FD7-A062DD3518C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B1D62B13-CDCA-3C06-AED3-9B4D44EDE58F}"/>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473AE9A3-DF4D-1AD7-8BB9-CAB6CC9CB7D3}"/>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7709AB7-F678-A21F-CD50-7C38812068D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C457F0B-BEE1-0C93-A472-F0E6190F740C}"/>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20</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E6801DFF-E202-CBBC-10FA-66EDD0CEE627}"/>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951DCC2D-5E7A-AC83-9495-25A58534C378}"/>
              </a:ext>
            </a:extLst>
          </p:cNvPr>
          <p:cNvSpPr/>
          <p:nvPr/>
        </p:nvSpPr>
        <p:spPr>
          <a:xfrm>
            <a:off x="5731578" y="2727048"/>
            <a:ext cx="5829519" cy="1812789"/>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Περιγράψτε βασικές διεργασίες που κατά τη γνώμη σας θα πρέπει να εκτελεί ένα τέτοιο πρόγραμμα. </a:t>
            </a:r>
            <a:endParaRPr lang="en-GB" sz="2800" b="1" dirty="0">
              <a:solidFill>
                <a:schemeClr val="bg1"/>
              </a:solidFill>
              <a:highlight>
                <a:srgbClr val="FFFF00"/>
              </a:highlight>
            </a:endParaRPr>
          </a:p>
        </p:txBody>
      </p:sp>
      <p:pic>
        <p:nvPicPr>
          <p:cNvPr id="7" name="Picture 6">
            <a:extLst>
              <a:ext uri="{FF2B5EF4-FFF2-40B4-BE49-F238E27FC236}">
                <a16:creationId xmlns:a16="http://schemas.microsoft.com/office/drawing/2014/main" id="{32B061AD-33CA-3F2B-E146-495FD42DD70A}"/>
              </a:ext>
            </a:extLst>
          </p:cNvPr>
          <p:cNvPicPr>
            <a:picLocks noChangeAspect="1"/>
          </p:cNvPicPr>
          <p:nvPr/>
        </p:nvPicPr>
        <p:blipFill>
          <a:blip r:embed="rId3"/>
          <a:stretch>
            <a:fillRect/>
          </a:stretch>
        </p:blipFill>
        <p:spPr>
          <a:xfrm>
            <a:off x="140669" y="2557612"/>
            <a:ext cx="4939429" cy="3636711"/>
          </a:xfrm>
          <a:prstGeom prst="rect">
            <a:avLst/>
          </a:prstGeom>
        </p:spPr>
      </p:pic>
      <p:sp>
        <p:nvSpPr>
          <p:cNvPr id="9" name="Content Placeholder 2">
            <a:extLst>
              <a:ext uri="{FF2B5EF4-FFF2-40B4-BE49-F238E27FC236}">
                <a16:creationId xmlns:a16="http://schemas.microsoft.com/office/drawing/2014/main" id="{137B4670-F800-D87E-907C-D17EDC6E26F0}"/>
              </a:ext>
            </a:extLst>
          </p:cNvPr>
          <p:cNvSpPr txBox="1">
            <a:spLocks/>
          </p:cNvSpPr>
          <p:nvPr/>
        </p:nvSpPr>
        <p:spPr bwMode="auto">
          <a:xfrm>
            <a:off x="-1" y="1028121"/>
            <a:ext cx="12191999" cy="1313599"/>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Σας ανατίθεται η ανάπτυξη ενός προγράμματος για τη διαχείριση των μέσων ημερήσιων θερμοκρασιών (ΜΗΘ) για τα έτη 2010-2024. </a:t>
            </a:r>
          </a:p>
          <a:p>
            <a:pPr marL="0" indent="0">
              <a:buClr>
                <a:srgbClr val="3333CC"/>
              </a:buClr>
              <a:buNone/>
              <a:defRPr/>
            </a:pPr>
            <a:r>
              <a:rPr lang="el-GR" sz="2000" kern="0" dirty="0">
                <a:solidFill>
                  <a:srgbClr val="000000"/>
                </a:solidFill>
                <a:latin typeface="Tahoma"/>
              </a:rPr>
              <a:t>Αναπτύξτε ένα πρόγραμμα (</a:t>
            </a:r>
            <a:r>
              <a:rPr lang="el-GR" sz="2000" kern="0" dirty="0" err="1">
                <a:solidFill>
                  <a:srgbClr val="000000"/>
                </a:solidFill>
                <a:latin typeface="Tahoma"/>
              </a:rPr>
              <a:t>TemperatureHandling</a:t>
            </a:r>
            <a:r>
              <a:rPr lang="el-GR" sz="2000" kern="0" dirty="0">
                <a:solidFill>
                  <a:srgbClr val="000000"/>
                </a:solidFill>
                <a:latin typeface="Tahoma"/>
              </a:rPr>
              <a:t>) που να ικανοποιεί βασικές απαιτήσεις προς τη κατεύθυνση αυτή. </a:t>
            </a:r>
            <a:endParaRPr lang="en-US" sz="1200" kern="0" dirty="0">
              <a:solidFill>
                <a:srgbClr val="000000"/>
              </a:solidFill>
              <a:latin typeface="Tahoma"/>
            </a:endParaRPr>
          </a:p>
        </p:txBody>
      </p:sp>
    </p:spTree>
    <p:extLst>
      <p:ext uri="{BB962C8B-B14F-4D97-AF65-F5344CB8AC3E}">
        <p14:creationId xmlns:p14="http://schemas.microsoft.com/office/powerpoint/2010/main" val="169300842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10689-17A8-46B1-475B-646029F35D7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39E9535A-C85E-EEB3-ED54-F404B13D0C31}"/>
              </a:ext>
            </a:extLst>
          </p:cNvPr>
          <p:cNvSpPr>
            <a:spLocks noGrp="1"/>
          </p:cNvSpPr>
          <p:nvPr>
            <p:ph type="title"/>
          </p:nvPr>
        </p:nvSpPr>
        <p:spPr>
          <a:xfrm>
            <a:off x="0" y="0"/>
            <a:ext cx="12191999" cy="719331"/>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 Βασική λειτουργικότητα</a:t>
            </a:r>
            <a:r>
              <a:rPr lang="en-US" sz="4000" b="1" dirty="0">
                <a:solidFill>
                  <a:srgbClr val="F9853D"/>
                </a:solidFill>
                <a:latin typeface="Bahnschrift" panose="020B0502040204020203" pitchFamily="34" charset="0"/>
              </a:rPr>
              <a:t> 1/2</a:t>
            </a:r>
            <a:r>
              <a:rPr lang="el-GR" sz="40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28282613-CAFF-3904-6669-8456BC92514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97B2276F-FCFA-7580-E4C7-2E9DDB3CECB8}"/>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F8C6A683-964D-275D-DE0C-0B072864C202}"/>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C0FFDFA5-F158-0D42-A2A9-DDE0AB44BC3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8B747FF-5571-4889-9BB9-5BD51F087BE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21</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786F1021-70F4-1271-55F0-2A8CE7FA53B2}"/>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4" name="TextBox 3">
            <a:extLst>
              <a:ext uri="{FF2B5EF4-FFF2-40B4-BE49-F238E27FC236}">
                <a16:creationId xmlns:a16="http://schemas.microsoft.com/office/drawing/2014/main" id="{2A341277-F124-87C2-12C6-BBB4A2BFB2C9}"/>
              </a:ext>
            </a:extLst>
          </p:cNvPr>
          <p:cNvSpPr txBox="1"/>
          <p:nvPr/>
        </p:nvSpPr>
        <p:spPr>
          <a:xfrm>
            <a:off x="191728" y="1674204"/>
            <a:ext cx="10314039" cy="4524315"/>
          </a:xfrm>
          <a:prstGeom prst="rect">
            <a:avLst/>
          </a:prstGeom>
          <a:noFill/>
        </p:spPr>
        <p:txBody>
          <a:bodyPr wrap="square" rtlCol="0">
            <a:spAutoFit/>
          </a:bodyPr>
          <a:lstStyle/>
          <a:p>
            <a:pPr marL="342900" lvl="0" indent="-342900">
              <a:buFont typeface="+mj-lt"/>
              <a:buAutoNum type="arabicPeriod"/>
            </a:pPr>
            <a:r>
              <a:rPr lang="el-GR" sz="3200" dirty="0"/>
              <a:t>Εισαγωγή μέσων ημερήσιων θερμοκρασιών μήνα. </a:t>
            </a:r>
            <a:endParaRPr lang="en-GB" sz="3200" dirty="0"/>
          </a:p>
          <a:p>
            <a:pPr marL="342900" lvl="0" indent="-342900">
              <a:buFont typeface="+mj-lt"/>
              <a:buAutoNum type="arabicPeriod"/>
            </a:pPr>
            <a:r>
              <a:rPr lang="el-GR" sz="3200" dirty="0"/>
              <a:t>Εισαγωγή μέσων ημερήσιων θερμοκρασιών έτους. </a:t>
            </a:r>
            <a:endParaRPr lang="en-GB" sz="3200" dirty="0"/>
          </a:p>
          <a:p>
            <a:pPr marL="342900" lvl="0" indent="-342900">
              <a:buFont typeface="+mj-lt"/>
              <a:buAutoNum type="arabicPeriod"/>
            </a:pPr>
            <a:r>
              <a:rPr lang="el-GR" sz="3200" dirty="0"/>
              <a:t>Εισαγωγή μέσων ημερήσιων θερμοκρασιών ενός συνόλου διαδοχικών ετών. </a:t>
            </a:r>
            <a:endParaRPr lang="en-GB" sz="3200" dirty="0"/>
          </a:p>
          <a:p>
            <a:pPr marL="342900" lvl="0" indent="-342900">
              <a:buFont typeface="+mj-lt"/>
              <a:buAutoNum type="arabicPeriod"/>
            </a:pPr>
            <a:r>
              <a:rPr lang="el-GR" sz="3200" dirty="0"/>
              <a:t>Εμφάνιση μέσων ημερήσιων θερμοκρασιών μήνα. </a:t>
            </a:r>
            <a:endParaRPr lang="en-GB" sz="3200" dirty="0"/>
          </a:p>
          <a:p>
            <a:pPr marL="342900" lvl="0" indent="-342900">
              <a:buFont typeface="+mj-lt"/>
              <a:buAutoNum type="arabicPeriod"/>
            </a:pPr>
            <a:r>
              <a:rPr lang="el-GR" sz="3200" dirty="0"/>
              <a:t>Εμφάνιση μέσων ημερήσιων θερμοκρασιών έτους. </a:t>
            </a:r>
            <a:endParaRPr lang="en-GB" sz="3200" dirty="0"/>
          </a:p>
          <a:p>
            <a:pPr marL="342900" lvl="0" indent="-342900">
              <a:buFont typeface="+mj-lt"/>
              <a:buAutoNum type="arabicPeriod"/>
            </a:pPr>
            <a:r>
              <a:rPr lang="el-GR" sz="3200" dirty="0"/>
              <a:t>Εμφάνιση μέσων ημερήσιων θερμοκρασιών ενός συνόλου διαδοχικών ετών. </a:t>
            </a:r>
            <a:endParaRPr lang="en-GB" sz="3200" dirty="0"/>
          </a:p>
          <a:p>
            <a:pPr marL="342900" indent="-342900">
              <a:buFont typeface="+mj-lt"/>
              <a:buAutoNum type="arabicPeriod"/>
            </a:pPr>
            <a:endParaRPr lang="en-GB" sz="3200" dirty="0"/>
          </a:p>
        </p:txBody>
      </p:sp>
      <p:sp>
        <p:nvSpPr>
          <p:cNvPr id="5" name="TextBox 4">
            <a:extLst>
              <a:ext uri="{FF2B5EF4-FFF2-40B4-BE49-F238E27FC236}">
                <a16:creationId xmlns:a16="http://schemas.microsoft.com/office/drawing/2014/main" id="{3333A071-6245-0E8E-44F3-4A9A1E6F3A6B}"/>
              </a:ext>
            </a:extLst>
          </p:cNvPr>
          <p:cNvSpPr txBox="1"/>
          <p:nvPr/>
        </p:nvSpPr>
        <p:spPr>
          <a:xfrm>
            <a:off x="191728" y="927791"/>
            <a:ext cx="9792929" cy="646331"/>
          </a:xfrm>
          <a:prstGeom prst="rect">
            <a:avLst/>
          </a:prstGeom>
          <a:noFill/>
        </p:spPr>
        <p:txBody>
          <a:bodyPr wrap="square" rtlCol="0">
            <a:spAutoFit/>
          </a:bodyPr>
          <a:lstStyle/>
          <a:p>
            <a:r>
              <a:rPr lang="el-GR" sz="3600" b="1" dirty="0">
                <a:solidFill>
                  <a:schemeClr val="accent2">
                    <a:lumMod val="75000"/>
                  </a:schemeClr>
                </a:solidFill>
              </a:rPr>
              <a:t>Διεργασίες εισόδου και εξόδου της πληροφορίας</a:t>
            </a:r>
            <a:endParaRPr lang="en-GB" sz="3600" b="1" dirty="0">
              <a:solidFill>
                <a:schemeClr val="accent2">
                  <a:lumMod val="75000"/>
                </a:schemeClr>
              </a:solidFill>
            </a:endParaRPr>
          </a:p>
        </p:txBody>
      </p:sp>
    </p:spTree>
    <p:extLst>
      <p:ext uri="{BB962C8B-B14F-4D97-AF65-F5344CB8AC3E}">
        <p14:creationId xmlns:p14="http://schemas.microsoft.com/office/powerpoint/2010/main" val="626425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0ED9-30B7-EC98-3FFF-A708E3A894A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B3C4E93-2854-6256-13F0-F665C6B23127}"/>
              </a:ext>
            </a:extLst>
          </p:cNvPr>
          <p:cNvSpPr>
            <a:spLocks noGrp="1"/>
          </p:cNvSpPr>
          <p:nvPr>
            <p:ph type="title"/>
          </p:nvPr>
        </p:nvSpPr>
        <p:spPr>
          <a:xfrm>
            <a:off x="0" y="0"/>
            <a:ext cx="12191999" cy="719331"/>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 Βασική λειτουργικότητα</a:t>
            </a:r>
            <a:r>
              <a:rPr lang="en-US" sz="4000" b="1" dirty="0">
                <a:solidFill>
                  <a:srgbClr val="F9853D"/>
                </a:solidFill>
                <a:latin typeface="Bahnschrift" panose="020B0502040204020203" pitchFamily="34" charset="0"/>
              </a:rPr>
              <a:t> 2/2</a:t>
            </a:r>
            <a:r>
              <a:rPr lang="el-GR" sz="40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52F79275-F6B3-1717-AF49-24E6DFC9AD6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F83D8AA3-BC54-B80A-2614-E1028A15F41D}"/>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3D6DCCC1-6DDE-AE67-C36E-1299395C72AB}"/>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006D7FA3-A52B-98B6-5CDE-B6D8B0F9E4A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3DA173F-9B05-1AD5-55F4-45BEEC7D23F1}"/>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22</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76E85FA4-469C-1274-FF14-617F83964488}"/>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4" name="TextBox 3">
            <a:extLst>
              <a:ext uri="{FF2B5EF4-FFF2-40B4-BE49-F238E27FC236}">
                <a16:creationId xmlns:a16="http://schemas.microsoft.com/office/drawing/2014/main" id="{51DE0953-9B4A-6FEC-3E7E-0FD29274A91B}"/>
              </a:ext>
            </a:extLst>
          </p:cNvPr>
          <p:cNvSpPr txBox="1"/>
          <p:nvPr/>
        </p:nvSpPr>
        <p:spPr>
          <a:xfrm>
            <a:off x="353961" y="2275077"/>
            <a:ext cx="10314039" cy="4031873"/>
          </a:xfrm>
          <a:prstGeom prst="rect">
            <a:avLst/>
          </a:prstGeom>
          <a:noFill/>
        </p:spPr>
        <p:txBody>
          <a:bodyPr wrap="square" rtlCol="0">
            <a:spAutoFit/>
          </a:bodyPr>
          <a:lstStyle/>
          <a:p>
            <a:pPr marL="342900" lvl="0" indent="-342900">
              <a:buFont typeface="+mj-lt"/>
              <a:buAutoNum type="arabicPeriod"/>
            </a:pPr>
            <a:r>
              <a:rPr lang="el-GR" sz="3200" dirty="0"/>
              <a:t>Αναζήτηση μέγιστης μέσης θερμοκρασίας μήνα, έτους, συνόλου διαδοχικών ετών.</a:t>
            </a:r>
          </a:p>
          <a:p>
            <a:pPr marL="342900" lvl="0" indent="-342900">
              <a:buFont typeface="+mj-lt"/>
              <a:buAutoNum type="arabicPeriod"/>
            </a:pPr>
            <a:r>
              <a:rPr lang="el-GR" sz="3200" dirty="0"/>
              <a:t>Αναζήτηση ελάχιστης μέσης θερμοκρασίας μήνα, έτους, συνόλου διαδοχικών ετών. </a:t>
            </a:r>
          </a:p>
          <a:p>
            <a:pPr marL="342900" lvl="0" indent="-342900">
              <a:buFont typeface="+mj-lt"/>
              <a:buAutoNum type="arabicPeriod"/>
            </a:pPr>
            <a:r>
              <a:rPr lang="el-GR" sz="3200" dirty="0"/>
              <a:t>Αναζήτηση μήνα με την υψηλότερη μέση θερμοκρασία.</a:t>
            </a:r>
          </a:p>
          <a:p>
            <a:pPr marL="342900" lvl="0" indent="-342900">
              <a:buFont typeface="+mj-lt"/>
              <a:buAutoNum type="arabicPeriod"/>
            </a:pPr>
            <a:r>
              <a:rPr lang="el-GR" sz="3200" dirty="0"/>
              <a:t>Αναζήτηση της μεγαλύτερης διαφοράς μέσης  θερμοκρασίας μεταξύ δύο διαδοχικών ημερών ενός μήνα.</a:t>
            </a:r>
          </a:p>
          <a:p>
            <a:pPr marL="342900" indent="-342900">
              <a:buFont typeface="+mj-lt"/>
              <a:buAutoNum type="arabicPeriod"/>
            </a:pPr>
            <a:endParaRPr lang="en-GB" sz="3200" dirty="0"/>
          </a:p>
        </p:txBody>
      </p:sp>
      <p:sp>
        <p:nvSpPr>
          <p:cNvPr id="5" name="TextBox 4">
            <a:extLst>
              <a:ext uri="{FF2B5EF4-FFF2-40B4-BE49-F238E27FC236}">
                <a16:creationId xmlns:a16="http://schemas.microsoft.com/office/drawing/2014/main" id="{7FD43EEE-0755-AB1B-1C46-92539EC11850}"/>
              </a:ext>
            </a:extLst>
          </p:cNvPr>
          <p:cNvSpPr txBox="1"/>
          <p:nvPr/>
        </p:nvSpPr>
        <p:spPr>
          <a:xfrm>
            <a:off x="191728" y="927791"/>
            <a:ext cx="11808544" cy="1200329"/>
          </a:xfrm>
          <a:prstGeom prst="rect">
            <a:avLst/>
          </a:prstGeom>
          <a:noFill/>
        </p:spPr>
        <p:txBody>
          <a:bodyPr wrap="square" rtlCol="0">
            <a:spAutoFit/>
          </a:bodyPr>
          <a:lstStyle/>
          <a:p>
            <a:r>
              <a:rPr lang="el-GR" sz="3600" b="1" dirty="0">
                <a:solidFill>
                  <a:schemeClr val="accent2">
                    <a:lumMod val="75000"/>
                  </a:schemeClr>
                </a:solidFill>
              </a:rPr>
              <a:t>Διεργασίες επεξεργασίας της πληροφορίας εισόδου και εμφάνισης  των αποτελεσμάτων </a:t>
            </a:r>
            <a:endParaRPr lang="en-GB" sz="3600" b="1" dirty="0">
              <a:solidFill>
                <a:schemeClr val="accent2">
                  <a:lumMod val="75000"/>
                </a:schemeClr>
              </a:solidFill>
            </a:endParaRPr>
          </a:p>
        </p:txBody>
      </p:sp>
    </p:spTree>
    <p:extLst>
      <p:ext uri="{BB962C8B-B14F-4D97-AF65-F5344CB8AC3E}">
        <p14:creationId xmlns:p14="http://schemas.microsoft.com/office/powerpoint/2010/main" val="10501380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F3B1-FC07-B70C-84F6-8D83FB1BC8D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68AF1E1-BA5C-78EC-624A-CD9505971071}"/>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7.12 Οργάνωση πληροφορίας</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FE3B7928-D4BA-E6BC-5802-16682895E58B}"/>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09C84368-962B-5613-55D9-02FE880C0169}"/>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A026EC22-7653-5474-F873-5A2CFDB1225D}"/>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B3801FC-59EA-BE9B-77ED-43C16325091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FAC7D4D-33EA-55DB-660C-09B23596505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23</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34A4D496-F1A3-3FC7-D591-4E21621B41DB}"/>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51721DDF-0FD6-9D0A-8BD1-735633EB6019}"/>
              </a:ext>
            </a:extLst>
          </p:cNvPr>
          <p:cNvSpPr/>
          <p:nvPr/>
        </p:nvSpPr>
        <p:spPr>
          <a:xfrm>
            <a:off x="5436610" y="2831690"/>
            <a:ext cx="5829519" cy="2890684"/>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Δώστε την πρόταση σας για την οργάνωση της βασικής πληροφορίας που θα διαχειρίζεται ένα τέτοιο πρόγραμμα. Με άλλα λόγια, δηλώστε τις μεταβλητές που απαιτούνται για την αποθήκευση των ημερήσιων θερμοκρασιών για τα έτη 2010-2024</a:t>
            </a:r>
            <a:endParaRPr lang="en-GB" sz="2400" b="1" dirty="0">
              <a:solidFill>
                <a:schemeClr val="bg1"/>
              </a:solidFill>
              <a:highlight>
                <a:srgbClr val="FFFF00"/>
              </a:highlight>
            </a:endParaRPr>
          </a:p>
        </p:txBody>
      </p:sp>
      <p:pic>
        <p:nvPicPr>
          <p:cNvPr id="7" name="Picture 6">
            <a:extLst>
              <a:ext uri="{FF2B5EF4-FFF2-40B4-BE49-F238E27FC236}">
                <a16:creationId xmlns:a16="http://schemas.microsoft.com/office/drawing/2014/main" id="{773F1F64-1A37-18C3-039A-74138B6D93C9}"/>
              </a:ext>
            </a:extLst>
          </p:cNvPr>
          <p:cNvPicPr>
            <a:picLocks noChangeAspect="1"/>
          </p:cNvPicPr>
          <p:nvPr/>
        </p:nvPicPr>
        <p:blipFill>
          <a:blip r:embed="rId3"/>
          <a:stretch>
            <a:fillRect/>
          </a:stretch>
        </p:blipFill>
        <p:spPr>
          <a:xfrm>
            <a:off x="140669" y="2557612"/>
            <a:ext cx="4699051" cy="3459730"/>
          </a:xfrm>
          <a:prstGeom prst="rect">
            <a:avLst/>
          </a:prstGeom>
        </p:spPr>
      </p:pic>
      <p:sp>
        <p:nvSpPr>
          <p:cNvPr id="9" name="Content Placeholder 2">
            <a:extLst>
              <a:ext uri="{FF2B5EF4-FFF2-40B4-BE49-F238E27FC236}">
                <a16:creationId xmlns:a16="http://schemas.microsoft.com/office/drawing/2014/main" id="{23F6D5A2-5C81-AD71-6C96-246ECD7C2D5F}"/>
              </a:ext>
            </a:extLst>
          </p:cNvPr>
          <p:cNvSpPr txBox="1">
            <a:spLocks/>
          </p:cNvSpPr>
          <p:nvPr/>
        </p:nvSpPr>
        <p:spPr bwMode="auto">
          <a:xfrm>
            <a:off x="-1" y="1028121"/>
            <a:ext cx="12191999" cy="1313599"/>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Σας ανατίθεται η ανάπτυξη ενός προγράμματος για τη διαχείριση των μέσων ημερήσιων θερμοκρασιών (ΜΗΘ) για τα έτη 2010-2024. </a:t>
            </a:r>
          </a:p>
          <a:p>
            <a:pPr marL="0" indent="0">
              <a:buClr>
                <a:srgbClr val="3333CC"/>
              </a:buClr>
              <a:buNone/>
              <a:defRPr/>
            </a:pPr>
            <a:r>
              <a:rPr lang="el-GR" sz="2000" kern="0" dirty="0">
                <a:solidFill>
                  <a:srgbClr val="000000"/>
                </a:solidFill>
                <a:latin typeface="Tahoma"/>
              </a:rPr>
              <a:t>Αναπτύξτε ένα πρόγραμμα (</a:t>
            </a:r>
            <a:r>
              <a:rPr lang="el-GR" sz="2000" kern="0" dirty="0" err="1">
                <a:solidFill>
                  <a:srgbClr val="000000"/>
                </a:solidFill>
                <a:latin typeface="Tahoma"/>
              </a:rPr>
              <a:t>TemperatureHandling</a:t>
            </a:r>
            <a:r>
              <a:rPr lang="el-GR" sz="2000" kern="0" dirty="0">
                <a:solidFill>
                  <a:srgbClr val="000000"/>
                </a:solidFill>
                <a:latin typeface="Tahoma"/>
              </a:rPr>
              <a:t>) που να ικανοποιεί βασικές απαιτήσεις προς τη κατεύθυνση αυτή. </a:t>
            </a:r>
            <a:endParaRPr lang="en-US" sz="1200" kern="0" dirty="0">
              <a:solidFill>
                <a:srgbClr val="000000"/>
              </a:solidFill>
              <a:latin typeface="Tahoma"/>
            </a:endParaRPr>
          </a:p>
        </p:txBody>
      </p:sp>
    </p:spTree>
    <p:extLst>
      <p:ext uri="{BB962C8B-B14F-4D97-AF65-F5344CB8AC3E}">
        <p14:creationId xmlns:p14="http://schemas.microsoft.com/office/powerpoint/2010/main" val="13431685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AC3EA-F525-099E-A1C3-9B1AC7E7A2B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6165F35E-681E-0F7B-ED2E-513C1CED2FE2}"/>
              </a:ext>
            </a:extLst>
          </p:cNvPr>
          <p:cNvSpPr>
            <a:spLocks noGrp="1"/>
          </p:cNvSpPr>
          <p:nvPr>
            <p:ph type="title"/>
          </p:nvPr>
        </p:nvSpPr>
        <p:spPr>
          <a:xfrm>
            <a:off x="0" y="0"/>
            <a:ext cx="12191999" cy="719331"/>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 Οργάνωση πληροφορίας 1/3</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01744D9E-DB0B-6790-3E08-7E2867F4D92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56F3D582-BF58-1B88-D179-EEDD4CF7C8BF}"/>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94975CCA-79C0-ED2F-A2E6-D036F733539C}"/>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29E8BFDE-61E9-135B-C96D-D234CDE4402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1BBCA9B-8431-7C6F-2BD2-47A80138637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24</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040DC5AC-1A6B-DFC3-0C5E-90748E709F5C}"/>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7" name="TextBox 6">
            <a:extLst>
              <a:ext uri="{FF2B5EF4-FFF2-40B4-BE49-F238E27FC236}">
                <a16:creationId xmlns:a16="http://schemas.microsoft.com/office/drawing/2014/main" id="{C73D8E82-DED1-BB61-AB0B-5C3C824F12DE}"/>
              </a:ext>
            </a:extLst>
          </p:cNvPr>
          <p:cNvSpPr txBox="1"/>
          <p:nvPr/>
        </p:nvSpPr>
        <p:spPr>
          <a:xfrm>
            <a:off x="6789174" y="1918988"/>
            <a:ext cx="5073446" cy="646331"/>
          </a:xfrm>
          <a:prstGeom prst="rect">
            <a:avLst/>
          </a:prstGeom>
          <a:noFill/>
        </p:spPr>
        <p:txBody>
          <a:bodyPr wrap="square" rtlCol="0">
            <a:spAutoFit/>
          </a:bodyPr>
          <a:lstStyle/>
          <a:p>
            <a:r>
              <a:rPr lang="el-GR" sz="3600" b="1" dirty="0">
                <a:solidFill>
                  <a:schemeClr val="accent2">
                    <a:lumMod val="75000"/>
                  </a:schemeClr>
                </a:solidFill>
              </a:rPr>
              <a:t>Πίνακας μιας διάστασης</a:t>
            </a:r>
            <a:endParaRPr lang="en-GB" sz="3600" b="1" dirty="0">
              <a:solidFill>
                <a:schemeClr val="accent2">
                  <a:lumMod val="75000"/>
                </a:schemeClr>
              </a:solidFill>
            </a:endParaRPr>
          </a:p>
        </p:txBody>
      </p:sp>
      <p:sp>
        <p:nvSpPr>
          <p:cNvPr id="9" name="TextBox 8">
            <a:extLst>
              <a:ext uri="{FF2B5EF4-FFF2-40B4-BE49-F238E27FC236}">
                <a16:creationId xmlns:a16="http://schemas.microsoft.com/office/drawing/2014/main" id="{5C96A54E-5179-D78D-A827-0E1AEE3AC609}"/>
              </a:ext>
            </a:extLst>
          </p:cNvPr>
          <p:cNvSpPr txBox="1"/>
          <p:nvPr/>
        </p:nvSpPr>
        <p:spPr>
          <a:xfrm>
            <a:off x="191728" y="1734381"/>
            <a:ext cx="468998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temp2010Jan1;</a:t>
            </a:r>
            <a:endParaRPr lang="en-GB" sz="2800"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23B7AD51-036F-ADDE-4A1C-4458C67200AF}"/>
              </a:ext>
            </a:extLst>
          </p:cNvPr>
          <p:cNvSpPr txBox="1"/>
          <p:nvPr/>
        </p:nvSpPr>
        <p:spPr>
          <a:xfrm>
            <a:off x="191728" y="2437265"/>
            <a:ext cx="468998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temp2010Jan</a:t>
            </a:r>
            <a:r>
              <a:rPr lang="el-GR" sz="2800" dirty="0">
                <a:latin typeface="Courier New" panose="02070309020205020404" pitchFamily="49" charset="0"/>
                <a:cs typeface="Courier New" panose="02070309020205020404" pitchFamily="49" charset="0"/>
              </a:rPr>
              <a:t>2</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4DDDAEE2-5DAF-31EF-437E-6CB20E528C94}"/>
              </a:ext>
            </a:extLst>
          </p:cNvPr>
          <p:cNvSpPr txBox="1"/>
          <p:nvPr/>
        </p:nvSpPr>
        <p:spPr>
          <a:xfrm>
            <a:off x="191728" y="3139333"/>
            <a:ext cx="468998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temp2010Jan</a:t>
            </a:r>
            <a:r>
              <a:rPr lang="el-GR" sz="2800" dirty="0">
                <a:latin typeface="Courier New" panose="02070309020205020404" pitchFamily="49" charset="0"/>
                <a:cs typeface="Courier New" panose="02070309020205020404" pitchFamily="49" charset="0"/>
              </a:rPr>
              <a:t>3</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61487328-94A7-3207-0B89-8DE58BAC2510}"/>
              </a:ext>
            </a:extLst>
          </p:cNvPr>
          <p:cNvSpPr txBox="1"/>
          <p:nvPr/>
        </p:nvSpPr>
        <p:spPr>
          <a:xfrm>
            <a:off x="191728" y="4491220"/>
            <a:ext cx="4689988"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temp2010Jan</a:t>
            </a:r>
            <a:r>
              <a:rPr lang="el-GR" sz="2800" dirty="0">
                <a:latin typeface="Courier New" panose="02070309020205020404" pitchFamily="49" charset="0"/>
                <a:cs typeface="Courier New" panose="02070309020205020404" pitchFamily="49" charset="0"/>
              </a:rPr>
              <a:t>31</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6" name="TextBox 15">
            <a:extLst>
              <a:ext uri="{FF2B5EF4-FFF2-40B4-BE49-F238E27FC236}">
                <a16:creationId xmlns:a16="http://schemas.microsoft.com/office/drawing/2014/main" id="{BE929BB7-139E-5730-EC70-B431A656EDCA}"/>
              </a:ext>
            </a:extLst>
          </p:cNvPr>
          <p:cNvSpPr txBox="1"/>
          <p:nvPr/>
        </p:nvSpPr>
        <p:spPr>
          <a:xfrm>
            <a:off x="191728" y="3784499"/>
            <a:ext cx="4689988" cy="584775"/>
          </a:xfrm>
          <a:prstGeom prst="rect">
            <a:avLst/>
          </a:prstGeom>
          <a:noFill/>
        </p:spPr>
        <p:txBody>
          <a:bodyPr wrap="square" rtlCol="0">
            <a:spAutoFit/>
          </a:bodyPr>
          <a:lstStyle/>
          <a:p>
            <a:r>
              <a:rPr lang="el-GR" sz="3200" dirty="0"/>
              <a:t>….</a:t>
            </a:r>
            <a:endParaRPr lang="en-GB" sz="3200" dirty="0"/>
          </a:p>
        </p:txBody>
      </p:sp>
      <p:sp>
        <p:nvSpPr>
          <p:cNvPr id="17" name="TextBox 16">
            <a:extLst>
              <a:ext uri="{FF2B5EF4-FFF2-40B4-BE49-F238E27FC236}">
                <a16:creationId xmlns:a16="http://schemas.microsoft.com/office/drawing/2014/main" id="{D3872367-95C6-DDA3-4D18-1885567FA41E}"/>
              </a:ext>
            </a:extLst>
          </p:cNvPr>
          <p:cNvSpPr txBox="1"/>
          <p:nvPr/>
        </p:nvSpPr>
        <p:spPr>
          <a:xfrm>
            <a:off x="6607278" y="2969834"/>
            <a:ext cx="5255342" cy="523220"/>
          </a:xfrm>
          <a:prstGeom prst="rect">
            <a:avLst/>
          </a:prstGeom>
          <a:solidFill>
            <a:schemeClr val="accent1">
              <a:lumMod val="60000"/>
              <a:lumOff val="40000"/>
            </a:schemeClr>
          </a:solidFill>
        </p:spPr>
        <p:txBody>
          <a:bodyPr wrap="square" rtlCol="0">
            <a:spAutoFit/>
          </a:bodyPr>
          <a:lstStyle/>
          <a:p>
            <a:r>
              <a:rPr lang="en-US" sz="2800" b="1" dirty="0">
                <a:latin typeface="Courier New" panose="02070309020205020404" pitchFamily="49" charset="0"/>
                <a:cs typeface="Courier New" panose="02070309020205020404" pitchFamily="49" charset="0"/>
              </a:rPr>
              <a:t>float temp2010Jan[31];</a:t>
            </a:r>
            <a:endParaRPr lang="en-GB" sz="2800" b="1" dirty="0">
              <a:latin typeface="Courier New" panose="02070309020205020404" pitchFamily="49" charset="0"/>
              <a:cs typeface="Courier New" panose="02070309020205020404" pitchFamily="49" charset="0"/>
            </a:endParaRPr>
          </a:p>
        </p:txBody>
      </p:sp>
      <p:sp>
        <p:nvSpPr>
          <p:cNvPr id="18" name="TextBox 17">
            <a:extLst>
              <a:ext uri="{FF2B5EF4-FFF2-40B4-BE49-F238E27FC236}">
                <a16:creationId xmlns:a16="http://schemas.microsoft.com/office/drawing/2014/main" id="{079AD39C-B709-2943-0482-6473E12BB8C3}"/>
              </a:ext>
            </a:extLst>
          </p:cNvPr>
          <p:cNvSpPr txBox="1"/>
          <p:nvPr/>
        </p:nvSpPr>
        <p:spPr>
          <a:xfrm>
            <a:off x="191728" y="855605"/>
            <a:ext cx="5073446" cy="646331"/>
          </a:xfrm>
          <a:prstGeom prst="rect">
            <a:avLst/>
          </a:prstGeom>
          <a:noFill/>
        </p:spPr>
        <p:txBody>
          <a:bodyPr wrap="square" rtlCol="0">
            <a:spAutoFit/>
          </a:bodyPr>
          <a:lstStyle/>
          <a:p>
            <a:r>
              <a:rPr lang="el-GR" sz="3600" b="1" dirty="0">
                <a:solidFill>
                  <a:schemeClr val="accent2">
                    <a:lumMod val="75000"/>
                  </a:schemeClr>
                </a:solidFill>
              </a:rPr>
              <a:t>Απλές μεταβλητές</a:t>
            </a:r>
            <a:endParaRPr lang="en-GB" sz="3600" b="1" dirty="0">
              <a:solidFill>
                <a:schemeClr val="accent2">
                  <a:lumMod val="75000"/>
                </a:schemeClr>
              </a:solidFill>
            </a:endParaRPr>
          </a:p>
        </p:txBody>
      </p:sp>
      <p:sp>
        <p:nvSpPr>
          <p:cNvPr id="19" name="TextBox 18">
            <a:extLst>
              <a:ext uri="{FF2B5EF4-FFF2-40B4-BE49-F238E27FC236}">
                <a16:creationId xmlns:a16="http://schemas.microsoft.com/office/drawing/2014/main" id="{442E742F-3C51-1F82-3663-145AB041FB64}"/>
              </a:ext>
            </a:extLst>
          </p:cNvPr>
          <p:cNvSpPr txBox="1"/>
          <p:nvPr/>
        </p:nvSpPr>
        <p:spPr>
          <a:xfrm>
            <a:off x="1004797" y="5196881"/>
            <a:ext cx="11046534" cy="1200329"/>
          </a:xfrm>
          <a:prstGeom prst="rect">
            <a:avLst/>
          </a:prstGeom>
          <a:solidFill>
            <a:schemeClr val="accent1">
              <a:lumMod val="60000"/>
              <a:lumOff val="40000"/>
            </a:schemeClr>
          </a:solidFill>
        </p:spPr>
        <p:txBody>
          <a:bodyPr wrap="square" rtlCol="0">
            <a:spAutoFit/>
          </a:bodyPr>
          <a:lstStyle/>
          <a:p>
            <a:r>
              <a:rPr lang="en-US" sz="2400" dirty="0">
                <a:latin typeface="Courier New" panose="02070309020205020404" pitchFamily="49" charset="0"/>
                <a:cs typeface="Courier New" panose="02070309020205020404" pitchFamily="49" charset="0"/>
              </a:rPr>
              <a:t>for(int day=0;day&lt;31;day++)</a:t>
            </a:r>
            <a:endParaRPr lang="en-GB" sz="2400" dirty="0">
              <a:latin typeface="Courier New" panose="02070309020205020404" pitchFamily="49" charset="0"/>
              <a:cs typeface="Courier New" panose="02070309020205020404" pitchFamily="49" charset="0"/>
            </a:endParaRPr>
          </a:p>
          <a:p>
            <a:r>
              <a:rPr lang="el-GR"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printf</a:t>
            </a:r>
            <a:r>
              <a:rPr lang="en-US" sz="2400" dirty="0">
                <a:latin typeface="Courier New" panose="02070309020205020404" pitchFamily="49" charset="0"/>
                <a:cs typeface="Courier New" panose="02070309020205020404" pitchFamily="49" charset="0"/>
              </a:rPr>
              <a:t>(“avg Temp of day %d of Jan of 2010 =%f\n,</a:t>
            </a:r>
            <a:endParaRPr lang="en-GB"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 </a:t>
            </a:r>
            <a:r>
              <a:rPr lang="el-GR" sz="2400"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day</a:t>
            </a:r>
            <a:r>
              <a:rPr lang="el-GR" sz="2400" dirty="0">
                <a:latin typeface="Courier New" panose="02070309020205020404" pitchFamily="49" charset="0"/>
                <a:cs typeface="Courier New" panose="02070309020205020404" pitchFamily="49" charset="0"/>
              </a:rPr>
              <a:t>+1,</a:t>
            </a:r>
            <a:r>
              <a:rPr lang="en-US" sz="2400" b="1" dirty="0">
                <a:latin typeface="Courier New" panose="02070309020205020404" pitchFamily="49" charset="0"/>
                <a:cs typeface="Courier New" panose="02070309020205020404" pitchFamily="49" charset="0"/>
              </a:rPr>
              <a:t>temp</a:t>
            </a:r>
            <a:r>
              <a:rPr lang="el-GR" sz="2400" b="1" dirty="0">
                <a:latin typeface="Courier New" panose="02070309020205020404" pitchFamily="49" charset="0"/>
                <a:cs typeface="Courier New" panose="02070309020205020404" pitchFamily="49" charset="0"/>
              </a:rPr>
              <a:t>2010</a:t>
            </a:r>
            <a:r>
              <a:rPr lang="en-US" sz="2400" b="1" dirty="0">
                <a:latin typeface="Courier New" panose="02070309020205020404" pitchFamily="49" charset="0"/>
                <a:cs typeface="Courier New" panose="02070309020205020404" pitchFamily="49" charset="0"/>
              </a:rPr>
              <a:t>Jan</a:t>
            </a:r>
            <a:r>
              <a:rPr lang="el-GR" sz="2400" b="1" dirty="0">
                <a:latin typeface="Courier New" panose="02070309020205020404" pitchFamily="49" charset="0"/>
                <a:cs typeface="Courier New" panose="02070309020205020404" pitchFamily="49" charset="0"/>
              </a:rPr>
              <a:t>[</a:t>
            </a:r>
            <a:r>
              <a:rPr lang="en-US" sz="2400" b="1" dirty="0">
                <a:latin typeface="Courier New" panose="02070309020205020404" pitchFamily="49" charset="0"/>
                <a:cs typeface="Courier New" panose="02070309020205020404" pitchFamily="49" charset="0"/>
              </a:rPr>
              <a:t>day</a:t>
            </a:r>
            <a:r>
              <a:rPr lang="el-GR" sz="2400" b="1" dirty="0">
                <a:latin typeface="Courier New" panose="02070309020205020404" pitchFamily="49" charset="0"/>
                <a:cs typeface="Courier New" panose="02070309020205020404" pitchFamily="49" charset="0"/>
              </a:rPr>
              <a:t>]</a:t>
            </a:r>
            <a:r>
              <a:rPr lang="el-GR" sz="2400" dirty="0">
                <a:latin typeface="Courier New" panose="02070309020205020404" pitchFamily="49" charset="0"/>
                <a:cs typeface="Courier New" panose="02070309020205020404" pitchFamily="49" charset="0"/>
              </a:rPr>
              <a:t>)</a:t>
            </a:r>
            <a:endParaRPr lang="en-GB" sz="1600" dirty="0"/>
          </a:p>
        </p:txBody>
      </p:sp>
      <p:sp>
        <p:nvSpPr>
          <p:cNvPr id="20" name="Arrow: Right 19">
            <a:extLst>
              <a:ext uri="{FF2B5EF4-FFF2-40B4-BE49-F238E27FC236}">
                <a16:creationId xmlns:a16="http://schemas.microsoft.com/office/drawing/2014/main" id="{D1FA0406-D213-F1A2-0092-37C31066497E}"/>
              </a:ext>
            </a:extLst>
          </p:cNvPr>
          <p:cNvSpPr/>
          <p:nvPr/>
        </p:nvSpPr>
        <p:spPr>
          <a:xfrm>
            <a:off x="5294671" y="2969834"/>
            <a:ext cx="899651" cy="523220"/>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544809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2" grpId="0" animBg="1"/>
      <p:bldP spid="13" grpId="0" animBg="1"/>
      <p:bldP spid="15" grpId="0" animBg="1"/>
      <p:bldP spid="16" grpId="0"/>
      <p:bldP spid="17" grpId="0" animBg="1"/>
      <p:bldP spid="18" grpId="0"/>
      <p:bldP spid="19"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7B16D-6A0A-3E52-85D2-805B203E5C2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8D1D1A7A-4B1E-85B2-CA35-2562B110A403}"/>
              </a:ext>
            </a:extLst>
          </p:cNvPr>
          <p:cNvSpPr>
            <a:spLocks noGrp="1"/>
          </p:cNvSpPr>
          <p:nvPr>
            <p:ph type="title"/>
          </p:nvPr>
        </p:nvSpPr>
        <p:spPr>
          <a:xfrm>
            <a:off x="0" y="0"/>
            <a:ext cx="12191999" cy="719331"/>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 Οργάνωση πληροφορίας 2/3</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3CDDB02C-0FBA-764D-7B06-3572809A24F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41181313-02D4-6C5E-0760-CF11C490E63E}"/>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FF2C8B2A-70AD-3D3A-83F6-B6C70936125A}"/>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30C16322-3FCD-C7EB-CAAF-AC7578444FE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E127352-6C86-9554-C5F4-5C4F65D2D58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25</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81696426-80EF-FFCB-8287-C891F43968DF}"/>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7" name="TextBox 6">
            <a:extLst>
              <a:ext uri="{FF2B5EF4-FFF2-40B4-BE49-F238E27FC236}">
                <a16:creationId xmlns:a16="http://schemas.microsoft.com/office/drawing/2014/main" id="{87067436-3332-9B93-4C2D-2A771D794AED}"/>
              </a:ext>
            </a:extLst>
          </p:cNvPr>
          <p:cNvSpPr txBox="1"/>
          <p:nvPr/>
        </p:nvSpPr>
        <p:spPr>
          <a:xfrm>
            <a:off x="6789174" y="1918988"/>
            <a:ext cx="5073446" cy="646331"/>
          </a:xfrm>
          <a:prstGeom prst="rect">
            <a:avLst/>
          </a:prstGeom>
          <a:noFill/>
        </p:spPr>
        <p:txBody>
          <a:bodyPr wrap="square" rtlCol="0">
            <a:spAutoFit/>
          </a:bodyPr>
          <a:lstStyle/>
          <a:p>
            <a:r>
              <a:rPr lang="el-GR" sz="3600" b="1" dirty="0">
                <a:solidFill>
                  <a:schemeClr val="accent2">
                    <a:lumMod val="75000"/>
                  </a:schemeClr>
                </a:solidFill>
              </a:rPr>
              <a:t>Πίνακας δύο διαστάσεων</a:t>
            </a:r>
            <a:endParaRPr lang="en-GB" sz="3600" b="1" dirty="0">
              <a:solidFill>
                <a:schemeClr val="accent2">
                  <a:lumMod val="75000"/>
                </a:schemeClr>
              </a:solidFill>
            </a:endParaRPr>
          </a:p>
        </p:txBody>
      </p:sp>
      <p:sp>
        <p:nvSpPr>
          <p:cNvPr id="9" name="TextBox 8">
            <a:extLst>
              <a:ext uri="{FF2B5EF4-FFF2-40B4-BE49-F238E27FC236}">
                <a16:creationId xmlns:a16="http://schemas.microsoft.com/office/drawing/2014/main" id="{D360EC9D-A5EC-B326-A85A-E7B506C8D785}"/>
              </a:ext>
            </a:extLst>
          </p:cNvPr>
          <p:cNvSpPr txBox="1"/>
          <p:nvPr/>
        </p:nvSpPr>
        <p:spPr>
          <a:xfrm>
            <a:off x="191727" y="1734381"/>
            <a:ext cx="5073445"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temp2010Jan[31];</a:t>
            </a:r>
          </a:p>
        </p:txBody>
      </p:sp>
      <p:sp>
        <p:nvSpPr>
          <p:cNvPr id="12" name="TextBox 11">
            <a:extLst>
              <a:ext uri="{FF2B5EF4-FFF2-40B4-BE49-F238E27FC236}">
                <a16:creationId xmlns:a16="http://schemas.microsoft.com/office/drawing/2014/main" id="{8F2476E3-2FBE-A6A6-102F-FA49C07F056D}"/>
              </a:ext>
            </a:extLst>
          </p:cNvPr>
          <p:cNvSpPr txBox="1"/>
          <p:nvPr/>
        </p:nvSpPr>
        <p:spPr>
          <a:xfrm>
            <a:off x="191728" y="2437265"/>
            <a:ext cx="4896466"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temp2010Feb[31];</a:t>
            </a:r>
            <a:endParaRPr lang="en-GB" sz="28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3F2C6392-BE8F-804F-5A20-F6E32087B440}"/>
              </a:ext>
            </a:extLst>
          </p:cNvPr>
          <p:cNvSpPr txBox="1"/>
          <p:nvPr/>
        </p:nvSpPr>
        <p:spPr>
          <a:xfrm>
            <a:off x="191728" y="3139333"/>
            <a:ext cx="4896466"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temp2010Mar[31];</a:t>
            </a:r>
            <a:endParaRPr lang="en-GB" sz="2800"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F22313B8-3D9B-C556-33FD-866A62A9913F}"/>
              </a:ext>
            </a:extLst>
          </p:cNvPr>
          <p:cNvSpPr txBox="1"/>
          <p:nvPr/>
        </p:nvSpPr>
        <p:spPr>
          <a:xfrm>
            <a:off x="191727" y="4491220"/>
            <a:ext cx="4896465"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temp2010Dec[</a:t>
            </a:r>
            <a:r>
              <a:rPr lang="el-GR" sz="2800" dirty="0">
                <a:latin typeface="Courier New" panose="02070309020205020404" pitchFamily="49" charset="0"/>
                <a:cs typeface="Courier New" panose="02070309020205020404" pitchFamily="49" charset="0"/>
              </a:rPr>
              <a:t>31</a:t>
            </a:r>
            <a:r>
              <a:rPr lang="en-US" sz="2800" dirty="0">
                <a:latin typeface="Courier New" panose="02070309020205020404" pitchFamily="49" charset="0"/>
                <a:cs typeface="Courier New" panose="02070309020205020404" pitchFamily="49" charset="0"/>
              </a:rPr>
              <a:t>];</a:t>
            </a:r>
            <a:endParaRPr lang="en-GB" sz="2800" dirty="0">
              <a:latin typeface="Courier New" panose="02070309020205020404" pitchFamily="49" charset="0"/>
              <a:cs typeface="Courier New" panose="02070309020205020404" pitchFamily="49" charset="0"/>
            </a:endParaRPr>
          </a:p>
        </p:txBody>
      </p:sp>
      <p:sp>
        <p:nvSpPr>
          <p:cNvPr id="16" name="TextBox 15">
            <a:extLst>
              <a:ext uri="{FF2B5EF4-FFF2-40B4-BE49-F238E27FC236}">
                <a16:creationId xmlns:a16="http://schemas.microsoft.com/office/drawing/2014/main" id="{07512977-5AF5-1903-A1F6-218CA9374A6D}"/>
              </a:ext>
            </a:extLst>
          </p:cNvPr>
          <p:cNvSpPr txBox="1"/>
          <p:nvPr/>
        </p:nvSpPr>
        <p:spPr>
          <a:xfrm>
            <a:off x="191728" y="3784499"/>
            <a:ext cx="4689988" cy="584775"/>
          </a:xfrm>
          <a:prstGeom prst="rect">
            <a:avLst/>
          </a:prstGeom>
          <a:noFill/>
        </p:spPr>
        <p:txBody>
          <a:bodyPr wrap="square" rtlCol="0">
            <a:spAutoFit/>
          </a:bodyPr>
          <a:lstStyle/>
          <a:p>
            <a:r>
              <a:rPr lang="el-GR" sz="3200" dirty="0"/>
              <a:t>….</a:t>
            </a:r>
            <a:endParaRPr lang="en-GB" sz="3200" dirty="0"/>
          </a:p>
        </p:txBody>
      </p:sp>
      <p:sp>
        <p:nvSpPr>
          <p:cNvPr id="17" name="TextBox 16">
            <a:extLst>
              <a:ext uri="{FF2B5EF4-FFF2-40B4-BE49-F238E27FC236}">
                <a16:creationId xmlns:a16="http://schemas.microsoft.com/office/drawing/2014/main" id="{A69AAD02-48BE-9D73-3EE2-84A6F646320E}"/>
              </a:ext>
            </a:extLst>
          </p:cNvPr>
          <p:cNvSpPr txBox="1"/>
          <p:nvPr/>
        </p:nvSpPr>
        <p:spPr>
          <a:xfrm>
            <a:off x="6607278" y="2969834"/>
            <a:ext cx="5255342" cy="523220"/>
          </a:xfrm>
          <a:prstGeom prst="rect">
            <a:avLst/>
          </a:prstGeom>
          <a:solidFill>
            <a:schemeClr val="accent1">
              <a:lumMod val="60000"/>
              <a:lumOff val="40000"/>
            </a:schemeClr>
          </a:solidFill>
        </p:spPr>
        <p:txBody>
          <a:bodyPr wrap="square" rtlCol="0">
            <a:spAutoFit/>
          </a:bodyPr>
          <a:lstStyle/>
          <a:p>
            <a:r>
              <a:rPr lang="en-US" sz="2800" b="1" dirty="0">
                <a:latin typeface="Courier New" panose="02070309020205020404" pitchFamily="49" charset="0"/>
                <a:cs typeface="Courier New" panose="02070309020205020404" pitchFamily="49" charset="0"/>
              </a:rPr>
              <a:t>float temp2010[12][31];</a:t>
            </a:r>
            <a:endParaRPr lang="en-GB" sz="2800" b="1" dirty="0">
              <a:latin typeface="Courier New" panose="02070309020205020404" pitchFamily="49" charset="0"/>
              <a:cs typeface="Courier New" panose="02070309020205020404" pitchFamily="49" charset="0"/>
            </a:endParaRPr>
          </a:p>
        </p:txBody>
      </p:sp>
      <p:sp>
        <p:nvSpPr>
          <p:cNvPr id="18" name="TextBox 17">
            <a:extLst>
              <a:ext uri="{FF2B5EF4-FFF2-40B4-BE49-F238E27FC236}">
                <a16:creationId xmlns:a16="http://schemas.microsoft.com/office/drawing/2014/main" id="{A74ED13F-D860-4139-D5F6-2AAE2543E347}"/>
              </a:ext>
            </a:extLst>
          </p:cNvPr>
          <p:cNvSpPr txBox="1"/>
          <p:nvPr/>
        </p:nvSpPr>
        <p:spPr>
          <a:xfrm>
            <a:off x="191728" y="855605"/>
            <a:ext cx="5073446" cy="646331"/>
          </a:xfrm>
          <a:prstGeom prst="rect">
            <a:avLst/>
          </a:prstGeom>
          <a:noFill/>
        </p:spPr>
        <p:txBody>
          <a:bodyPr wrap="square" rtlCol="0">
            <a:spAutoFit/>
          </a:bodyPr>
          <a:lstStyle/>
          <a:p>
            <a:r>
              <a:rPr lang="el-GR" sz="3600" b="1" dirty="0">
                <a:solidFill>
                  <a:schemeClr val="accent2">
                    <a:lumMod val="75000"/>
                  </a:schemeClr>
                </a:solidFill>
              </a:rPr>
              <a:t>Πίνακες μιας διάστασης</a:t>
            </a:r>
            <a:endParaRPr lang="en-GB" sz="3600" b="1" dirty="0">
              <a:solidFill>
                <a:schemeClr val="accent2">
                  <a:lumMod val="75000"/>
                </a:schemeClr>
              </a:solidFill>
            </a:endParaRPr>
          </a:p>
        </p:txBody>
      </p:sp>
      <p:sp>
        <p:nvSpPr>
          <p:cNvPr id="20" name="Arrow: Right 19">
            <a:extLst>
              <a:ext uri="{FF2B5EF4-FFF2-40B4-BE49-F238E27FC236}">
                <a16:creationId xmlns:a16="http://schemas.microsoft.com/office/drawing/2014/main" id="{E04B322E-F71E-A299-0CFB-1AB7A1E69EFE}"/>
              </a:ext>
            </a:extLst>
          </p:cNvPr>
          <p:cNvSpPr/>
          <p:nvPr/>
        </p:nvSpPr>
        <p:spPr>
          <a:xfrm>
            <a:off x="5294671" y="2969834"/>
            <a:ext cx="899651" cy="523220"/>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descr="A close up of numbers&#10;&#10;AI-generated content may be incorrect.">
            <a:extLst>
              <a:ext uri="{FF2B5EF4-FFF2-40B4-BE49-F238E27FC236}">
                <a16:creationId xmlns:a16="http://schemas.microsoft.com/office/drawing/2014/main" id="{9396B6B8-33BB-14D8-77E8-94F56245539A}"/>
              </a:ext>
            </a:extLst>
          </p:cNvPr>
          <p:cNvPicPr>
            <a:picLocks noChangeAspect="1"/>
          </p:cNvPicPr>
          <p:nvPr/>
        </p:nvPicPr>
        <p:blipFill>
          <a:blip r:embed="rId3"/>
          <a:stretch>
            <a:fillRect/>
          </a:stretch>
        </p:blipFill>
        <p:spPr>
          <a:xfrm>
            <a:off x="6607278" y="3953902"/>
            <a:ext cx="5418891" cy="1054259"/>
          </a:xfrm>
          <a:prstGeom prst="rect">
            <a:avLst/>
          </a:prstGeom>
        </p:spPr>
      </p:pic>
      <p:sp>
        <p:nvSpPr>
          <p:cNvPr id="5" name="Speech Bubble: Rectangle with Corners Rounded 4">
            <a:extLst>
              <a:ext uri="{FF2B5EF4-FFF2-40B4-BE49-F238E27FC236}">
                <a16:creationId xmlns:a16="http://schemas.microsoft.com/office/drawing/2014/main" id="{7430E069-CF36-4F48-D3CB-2640E5B25299}"/>
              </a:ext>
            </a:extLst>
          </p:cNvPr>
          <p:cNvSpPr/>
          <p:nvPr/>
        </p:nvSpPr>
        <p:spPr>
          <a:xfrm>
            <a:off x="2639959" y="5245625"/>
            <a:ext cx="6046839" cy="962095"/>
          </a:xfrm>
          <a:prstGeom prst="wedgeRoundRectCallout">
            <a:avLst>
              <a:gd name="adj1" fmla="val -53645"/>
              <a:gd name="adj2" fmla="val 87803"/>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Δώστε τη δήλωση και τον ορισμό της συνάρτησης </a:t>
            </a:r>
            <a:r>
              <a:rPr lang="en-GB" sz="2800" b="1" dirty="0" err="1">
                <a:latin typeface="Courier New" panose="02070309020205020404" pitchFamily="49" charset="0"/>
                <a:cs typeface="Courier New" panose="02070309020205020404" pitchFamily="49" charset="0"/>
              </a:rPr>
              <a:t>printYearTemps</a:t>
            </a:r>
            <a:endParaRPr lang="en-GB" sz="28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0726100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par>
                          <p:cTn id="38" fill="hold">
                            <p:stCondLst>
                              <p:cond delay="0"/>
                            </p:stCondLst>
                            <p:childTnLst>
                              <p:par>
                                <p:cTn id="39" presetID="10"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2" grpId="0" animBg="1"/>
      <p:bldP spid="13" grpId="0" animBg="1"/>
      <p:bldP spid="15" grpId="0" animBg="1"/>
      <p:bldP spid="16" grpId="0"/>
      <p:bldP spid="17" grpId="0" animBg="1"/>
      <p:bldP spid="18" grpId="0"/>
      <p:bldP spid="20"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71A84-AB2F-4599-126C-B67C93944B0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0ECA1C6-8530-269F-425D-3D6638F50D15}"/>
              </a:ext>
            </a:extLst>
          </p:cNvPr>
          <p:cNvSpPr>
            <a:spLocks noGrp="1"/>
          </p:cNvSpPr>
          <p:nvPr>
            <p:ph type="title"/>
          </p:nvPr>
        </p:nvSpPr>
        <p:spPr>
          <a:xfrm>
            <a:off x="0" y="0"/>
            <a:ext cx="12191999" cy="719331"/>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 Οργάνωση πληροφορίας </a:t>
            </a:r>
            <a:r>
              <a:rPr lang="en-US" sz="4000" b="1" dirty="0">
                <a:solidFill>
                  <a:srgbClr val="F9853D"/>
                </a:solidFill>
                <a:latin typeface="Bahnschrift" panose="020B0502040204020203" pitchFamily="34" charset="0"/>
              </a:rPr>
              <a:t>3</a:t>
            </a:r>
            <a:r>
              <a:rPr lang="el-GR" sz="4000" b="1" dirty="0">
                <a:solidFill>
                  <a:srgbClr val="F9853D"/>
                </a:solidFill>
                <a:latin typeface="Bahnschrift" panose="020B0502040204020203" pitchFamily="34" charset="0"/>
              </a:rPr>
              <a:t>/3</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2F75777A-F143-19F4-89DB-EA1A6D788D1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945E73A9-E5D0-C8B3-CAF3-7522BCA56484}"/>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2A071FD8-6607-0B42-63E4-DEF2DE8DE0CF}"/>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A0F5177-A399-5D4E-A5B0-343118E7EFB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23AD026-0455-5C69-7FA0-135926DE57E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26</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ACD0C10D-313E-9565-211F-BBA31F419638}"/>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7" name="TextBox 6">
            <a:extLst>
              <a:ext uri="{FF2B5EF4-FFF2-40B4-BE49-F238E27FC236}">
                <a16:creationId xmlns:a16="http://schemas.microsoft.com/office/drawing/2014/main" id="{4CE85E49-AA0F-AB95-F33D-E0C5273CA813}"/>
              </a:ext>
            </a:extLst>
          </p:cNvPr>
          <p:cNvSpPr txBox="1"/>
          <p:nvPr/>
        </p:nvSpPr>
        <p:spPr>
          <a:xfrm>
            <a:off x="6523701" y="1977411"/>
            <a:ext cx="5668298" cy="646331"/>
          </a:xfrm>
          <a:prstGeom prst="rect">
            <a:avLst/>
          </a:prstGeom>
          <a:noFill/>
        </p:spPr>
        <p:txBody>
          <a:bodyPr wrap="square" rtlCol="0">
            <a:spAutoFit/>
          </a:bodyPr>
          <a:lstStyle/>
          <a:p>
            <a:r>
              <a:rPr lang="el-GR" sz="3600" b="1" dirty="0">
                <a:solidFill>
                  <a:schemeClr val="accent2">
                    <a:lumMod val="75000"/>
                  </a:schemeClr>
                </a:solidFill>
              </a:rPr>
              <a:t>Πίνακας τριών διαστάσεων</a:t>
            </a:r>
            <a:endParaRPr lang="en-GB" sz="3600" b="1" dirty="0">
              <a:solidFill>
                <a:schemeClr val="accent2">
                  <a:lumMod val="75000"/>
                </a:schemeClr>
              </a:solidFill>
            </a:endParaRPr>
          </a:p>
        </p:txBody>
      </p:sp>
      <p:sp>
        <p:nvSpPr>
          <p:cNvPr id="9" name="TextBox 8">
            <a:extLst>
              <a:ext uri="{FF2B5EF4-FFF2-40B4-BE49-F238E27FC236}">
                <a16:creationId xmlns:a16="http://schemas.microsoft.com/office/drawing/2014/main" id="{30D49010-04D9-EDF1-39B4-815B62233BAE}"/>
              </a:ext>
            </a:extLst>
          </p:cNvPr>
          <p:cNvSpPr txBox="1"/>
          <p:nvPr/>
        </p:nvSpPr>
        <p:spPr>
          <a:xfrm>
            <a:off x="191727" y="1734381"/>
            <a:ext cx="5456905"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temp2010[12][31];</a:t>
            </a:r>
          </a:p>
        </p:txBody>
      </p:sp>
      <p:sp>
        <p:nvSpPr>
          <p:cNvPr id="12" name="TextBox 11">
            <a:extLst>
              <a:ext uri="{FF2B5EF4-FFF2-40B4-BE49-F238E27FC236}">
                <a16:creationId xmlns:a16="http://schemas.microsoft.com/office/drawing/2014/main" id="{09B48ACF-79B0-F593-1E86-6586684E371F}"/>
              </a:ext>
            </a:extLst>
          </p:cNvPr>
          <p:cNvSpPr txBox="1"/>
          <p:nvPr/>
        </p:nvSpPr>
        <p:spPr>
          <a:xfrm>
            <a:off x="191728" y="2437265"/>
            <a:ext cx="5456904"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a:t>
            </a:r>
            <a:r>
              <a:rPr lang="el-GR" sz="2800" dirty="0">
                <a:latin typeface="Courier New" panose="02070309020205020404" pitchFamily="49" charset="0"/>
                <a:cs typeface="Courier New" panose="02070309020205020404" pitchFamily="49" charset="0"/>
              </a:rPr>
              <a:t>1</a:t>
            </a:r>
            <a:r>
              <a:rPr lang="en-US" sz="2800" dirty="0">
                <a:latin typeface="Courier New" panose="02070309020205020404" pitchFamily="49" charset="0"/>
                <a:cs typeface="Courier New" panose="02070309020205020404" pitchFamily="49" charset="0"/>
              </a:rPr>
              <a:t>[12][31];</a:t>
            </a:r>
          </a:p>
        </p:txBody>
      </p:sp>
      <p:sp>
        <p:nvSpPr>
          <p:cNvPr id="13" name="TextBox 12">
            <a:extLst>
              <a:ext uri="{FF2B5EF4-FFF2-40B4-BE49-F238E27FC236}">
                <a16:creationId xmlns:a16="http://schemas.microsoft.com/office/drawing/2014/main" id="{58983F2C-1AAB-1F89-5CAA-730E62E78AEC}"/>
              </a:ext>
            </a:extLst>
          </p:cNvPr>
          <p:cNvSpPr txBox="1"/>
          <p:nvPr/>
        </p:nvSpPr>
        <p:spPr>
          <a:xfrm>
            <a:off x="191727" y="3139333"/>
            <a:ext cx="5418891"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temp201</a:t>
            </a:r>
            <a:r>
              <a:rPr lang="el-GR" sz="2800" dirty="0">
                <a:latin typeface="Courier New" panose="02070309020205020404" pitchFamily="49" charset="0"/>
                <a:cs typeface="Courier New" panose="02070309020205020404" pitchFamily="49" charset="0"/>
              </a:rPr>
              <a:t>2</a:t>
            </a:r>
            <a:r>
              <a:rPr lang="en-US" sz="2800" dirty="0">
                <a:latin typeface="Courier New" panose="02070309020205020404" pitchFamily="49" charset="0"/>
                <a:cs typeface="Courier New" panose="02070309020205020404" pitchFamily="49" charset="0"/>
              </a:rPr>
              <a:t>[12][31];</a:t>
            </a:r>
          </a:p>
        </p:txBody>
      </p:sp>
      <p:sp>
        <p:nvSpPr>
          <p:cNvPr id="15" name="TextBox 14">
            <a:extLst>
              <a:ext uri="{FF2B5EF4-FFF2-40B4-BE49-F238E27FC236}">
                <a16:creationId xmlns:a16="http://schemas.microsoft.com/office/drawing/2014/main" id="{13409D67-9AAA-BD9A-094E-8DBA33DAB8AB}"/>
              </a:ext>
            </a:extLst>
          </p:cNvPr>
          <p:cNvSpPr txBox="1"/>
          <p:nvPr/>
        </p:nvSpPr>
        <p:spPr>
          <a:xfrm>
            <a:off x="191727" y="4491220"/>
            <a:ext cx="5392996" cy="523220"/>
          </a:xfrm>
          <a:prstGeom prst="rect">
            <a:avLst/>
          </a:prstGeom>
          <a:solidFill>
            <a:schemeClr val="accent1">
              <a:lumMod val="60000"/>
              <a:lumOff val="40000"/>
            </a:schemeClr>
          </a:solidFill>
        </p:spPr>
        <p:txBody>
          <a:bodyPr wrap="square" rtlCol="0">
            <a:spAutoFit/>
          </a:bodyPr>
          <a:lstStyle/>
          <a:p>
            <a:r>
              <a:rPr lang="en-US" sz="2800" dirty="0">
                <a:latin typeface="Courier New" panose="02070309020205020404" pitchFamily="49" charset="0"/>
                <a:cs typeface="Courier New" panose="02070309020205020404" pitchFamily="49" charset="0"/>
              </a:rPr>
              <a:t>float temp20</a:t>
            </a:r>
            <a:r>
              <a:rPr lang="el-GR" sz="2800" dirty="0">
                <a:latin typeface="Courier New" panose="02070309020205020404" pitchFamily="49" charset="0"/>
                <a:cs typeface="Courier New" panose="02070309020205020404" pitchFamily="49" charset="0"/>
              </a:rPr>
              <a:t>15</a:t>
            </a:r>
            <a:r>
              <a:rPr lang="en-US" sz="2800" dirty="0">
                <a:latin typeface="Courier New" panose="02070309020205020404" pitchFamily="49" charset="0"/>
                <a:cs typeface="Courier New" panose="02070309020205020404" pitchFamily="49" charset="0"/>
              </a:rPr>
              <a:t>[12][31];</a:t>
            </a:r>
          </a:p>
        </p:txBody>
      </p:sp>
      <p:sp>
        <p:nvSpPr>
          <p:cNvPr id="16" name="TextBox 15">
            <a:extLst>
              <a:ext uri="{FF2B5EF4-FFF2-40B4-BE49-F238E27FC236}">
                <a16:creationId xmlns:a16="http://schemas.microsoft.com/office/drawing/2014/main" id="{9ED0D322-37FC-D5F6-3179-C2CCE2728813}"/>
              </a:ext>
            </a:extLst>
          </p:cNvPr>
          <p:cNvSpPr txBox="1"/>
          <p:nvPr/>
        </p:nvSpPr>
        <p:spPr>
          <a:xfrm>
            <a:off x="191728" y="3784499"/>
            <a:ext cx="4689988" cy="584775"/>
          </a:xfrm>
          <a:prstGeom prst="rect">
            <a:avLst/>
          </a:prstGeom>
          <a:noFill/>
        </p:spPr>
        <p:txBody>
          <a:bodyPr wrap="square" rtlCol="0">
            <a:spAutoFit/>
          </a:bodyPr>
          <a:lstStyle/>
          <a:p>
            <a:r>
              <a:rPr lang="el-GR" sz="3200" dirty="0"/>
              <a:t>….</a:t>
            </a:r>
            <a:endParaRPr lang="en-GB" sz="3200" dirty="0"/>
          </a:p>
        </p:txBody>
      </p:sp>
      <p:sp>
        <p:nvSpPr>
          <p:cNvPr id="17" name="TextBox 16">
            <a:extLst>
              <a:ext uri="{FF2B5EF4-FFF2-40B4-BE49-F238E27FC236}">
                <a16:creationId xmlns:a16="http://schemas.microsoft.com/office/drawing/2014/main" id="{609CA176-67F1-05C0-BA22-99C73C2DA261}"/>
              </a:ext>
            </a:extLst>
          </p:cNvPr>
          <p:cNvSpPr txBox="1"/>
          <p:nvPr/>
        </p:nvSpPr>
        <p:spPr>
          <a:xfrm>
            <a:off x="6607278" y="2969834"/>
            <a:ext cx="5255342" cy="523220"/>
          </a:xfrm>
          <a:prstGeom prst="rect">
            <a:avLst/>
          </a:prstGeom>
          <a:solidFill>
            <a:schemeClr val="accent1">
              <a:lumMod val="60000"/>
              <a:lumOff val="40000"/>
            </a:schemeClr>
          </a:solidFill>
        </p:spPr>
        <p:txBody>
          <a:bodyPr wrap="square" rtlCol="0">
            <a:spAutoFit/>
          </a:bodyPr>
          <a:lstStyle/>
          <a:p>
            <a:r>
              <a:rPr lang="en-US" sz="2800" b="1" dirty="0">
                <a:latin typeface="Courier New" panose="02070309020205020404" pitchFamily="49" charset="0"/>
                <a:cs typeface="Courier New" panose="02070309020205020404" pitchFamily="49" charset="0"/>
              </a:rPr>
              <a:t>float temp</a:t>
            </a:r>
            <a:r>
              <a:rPr lang="el-GR" sz="2800" b="1" dirty="0">
                <a:latin typeface="Courier New" panose="02070309020205020404" pitchFamily="49" charset="0"/>
                <a:cs typeface="Courier New" panose="02070309020205020404" pitchFamily="49" charset="0"/>
              </a:rPr>
              <a:t>[6]</a:t>
            </a:r>
            <a:r>
              <a:rPr lang="en-US" sz="2800" b="1" dirty="0">
                <a:latin typeface="Courier New" panose="02070309020205020404" pitchFamily="49" charset="0"/>
                <a:cs typeface="Courier New" panose="02070309020205020404" pitchFamily="49" charset="0"/>
              </a:rPr>
              <a:t>[12][31];</a:t>
            </a:r>
            <a:endParaRPr lang="en-GB" sz="2800" b="1" dirty="0">
              <a:latin typeface="Courier New" panose="02070309020205020404" pitchFamily="49" charset="0"/>
              <a:cs typeface="Courier New" panose="02070309020205020404" pitchFamily="49" charset="0"/>
            </a:endParaRPr>
          </a:p>
        </p:txBody>
      </p:sp>
      <p:sp>
        <p:nvSpPr>
          <p:cNvPr id="20" name="Arrow: Right 19">
            <a:extLst>
              <a:ext uri="{FF2B5EF4-FFF2-40B4-BE49-F238E27FC236}">
                <a16:creationId xmlns:a16="http://schemas.microsoft.com/office/drawing/2014/main" id="{6526D59B-E285-C371-D19F-23343B9F5AB0}"/>
              </a:ext>
            </a:extLst>
          </p:cNvPr>
          <p:cNvSpPr/>
          <p:nvPr/>
        </p:nvSpPr>
        <p:spPr>
          <a:xfrm>
            <a:off x="5648632" y="2969834"/>
            <a:ext cx="899651" cy="523220"/>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4359A3D-0903-2857-8F19-932248DDFCBD}"/>
              </a:ext>
            </a:extLst>
          </p:cNvPr>
          <p:cNvSpPr txBox="1"/>
          <p:nvPr/>
        </p:nvSpPr>
        <p:spPr>
          <a:xfrm>
            <a:off x="103236" y="962164"/>
            <a:ext cx="5073446" cy="646331"/>
          </a:xfrm>
          <a:prstGeom prst="rect">
            <a:avLst/>
          </a:prstGeom>
          <a:noFill/>
        </p:spPr>
        <p:txBody>
          <a:bodyPr wrap="square" rtlCol="0">
            <a:spAutoFit/>
          </a:bodyPr>
          <a:lstStyle/>
          <a:p>
            <a:r>
              <a:rPr lang="el-GR" sz="3600" b="1" dirty="0">
                <a:solidFill>
                  <a:schemeClr val="accent2">
                    <a:lumMod val="75000"/>
                  </a:schemeClr>
                </a:solidFill>
              </a:rPr>
              <a:t>Πίνακες δύο διαστάσεων</a:t>
            </a:r>
            <a:endParaRPr lang="en-GB" sz="3600" b="1" dirty="0">
              <a:solidFill>
                <a:schemeClr val="accent2">
                  <a:lumMod val="75000"/>
                </a:schemeClr>
              </a:solidFill>
            </a:endParaRPr>
          </a:p>
        </p:txBody>
      </p:sp>
    </p:spTree>
    <p:extLst>
      <p:ext uri="{BB962C8B-B14F-4D97-AF65-F5344CB8AC3E}">
        <p14:creationId xmlns:p14="http://schemas.microsoft.com/office/powerpoint/2010/main" val="22632105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2" grpId="0" animBg="1"/>
      <p:bldP spid="13" grpId="0" animBg="1"/>
      <p:bldP spid="15" grpId="0" animBg="1"/>
      <p:bldP spid="16" grpId="0"/>
      <p:bldP spid="17" grpId="0" animBg="1"/>
      <p:bldP spid="20" grpId="0" animBg="1"/>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38B65-3A8C-A12F-C4D4-D262EC8780E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ED5C0EF-4BA7-3AB4-8D63-69439B751CBF}"/>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7.13 Ορισμός πλάνου αντιμετώπισης της πολυπλοκότητας</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13FD38DD-E60E-A195-C74A-E8A1A472392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69385DC0-A701-FE97-A6D3-60AFC2C6D357}"/>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AC01FFA2-60C9-34A9-252C-10DE9D412F35}"/>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72659611-F3EC-7D66-E5EF-4036DE12E0F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722FF2B-D11B-0400-C774-EA7E47A907A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27</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CF3572F5-F1AB-28D7-8505-CDC2F958BF7C}"/>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9318C280-7B3B-E376-3378-62FF5D8608B9}"/>
              </a:ext>
            </a:extLst>
          </p:cNvPr>
          <p:cNvSpPr/>
          <p:nvPr/>
        </p:nvSpPr>
        <p:spPr>
          <a:xfrm>
            <a:off x="4911213" y="2557612"/>
            <a:ext cx="6635135" cy="1946787"/>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Διαμορφώστε πρώτα ένα πλάνο σταδιακής ανάπτυξης, ορίζοντας συγκεκριμένες εκδόσεις του προγράμματος, οι οποίες θα σας επιτρέπουν να αντιμετωπίσετε την πολυπλοκότητα του εγχειρήματος.  </a:t>
            </a:r>
            <a:endParaRPr lang="en-GB" sz="2400" b="1" dirty="0">
              <a:solidFill>
                <a:schemeClr val="bg1"/>
              </a:solidFill>
              <a:highlight>
                <a:srgbClr val="FFFF00"/>
              </a:highlight>
            </a:endParaRPr>
          </a:p>
        </p:txBody>
      </p:sp>
      <p:pic>
        <p:nvPicPr>
          <p:cNvPr id="7" name="Picture 6">
            <a:extLst>
              <a:ext uri="{FF2B5EF4-FFF2-40B4-BE49-F238E27FC236}">
                <a16:creationId xmlns:a16="http://schemas.microsoft.com/office/drawing/2014/main" id="{DE52B0A9-806E-E403-3B1A-B7FB2D6AC9FD}"/>
              </a:ext>
            </a:extLst>
          </p:cNvPr>
          <p:cNvPicPr>
            <a:picLocks noChangeAspect="1"/>
          </p:cNvPicPr>
          <p:nvPr/>
        </p:nvPicPr>
        <p:blipFill>
          <a:blip r:embed="rId3"/>
          <a:stretch>
            <a:fillRect/>
          </a:stretch>
        </p:blipFill>
        <p:spPr>
          <a:xfrm>
            <a:off x="140669" y="2557612"/>
            <a:ext cx="4079639" cy="3003681"/>
          </a:xfrm>
          <a:prstGeom prst="rect">
            <a:avLst/>
          </a:prstGeom>
        </p:spPr>
      </p:pic>
      <p:sp>
        <p:nvSpPr>
          <p:cNvPr id="9" name="Content Placeholder 2">
            <a:extLst>
              <a:ext uri="{FF2B5EF4-FFF2-40B4-BE49-F238E27FC236}">
                <a16:creationId xmlns:a16="http://schemas.microsoft.com/office/drawing/2014/main" id="{0F13E11F-3765-8BA6-7F5E-7351B52B0245}"/>
              </a:ext>
            </a:extLst>
          </p:cNvPr>
          <p:cNvSpPr txBox="1">
            <a:spLocks/>
          </p:cNvSpPr>
          <p:nvPr/>
        </p:nvSpPr>
        <p:spPr bwMode="auto">
          <a:xfrm>
            <a:off x="-1" y="1028121"/>
            <a:ext cx="12191999" cy="1313599"/>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Σας ανατίθεται η ανάπτυξη ενός προγράμματος για τη διαχείριση των μέσων ημερήσιων θερμοκρασιών (ΜΗΘ) για τα έτη 2010-2024. </a:t>
            </a:r>
          </a:p>
          <a:p>
            <a:pPr marL="0" indent="0">
              <a:buClr>
                <a:srgbClr val="3333CC"/>
              </a:buClr>
              <a:buNone/>
              <a:defRPr/>
            </a:pPr>
            <a:r>
              <a:rPr lang="el-GR" sz="2000" kern="0" dirty="0">
                <a:solidFill>
                  <a:srgbClr val="000000"/>
                </a:solidFill>
                <a:latin typeface="Tahoma"/>
              </a:rPr>
              <a:t>Αναπτύξτε ένα πρόγραμμα (</a:t>
            </a:r>
            <a:r>
              <a:rPr lang="el-GR" sz="2000" kern="0" dirty="0" err="1">
                <a:solidFill>
                  <a:srgbClr val="000000"/>
                </a:solidFill>
                <a:latin typeface="Tahoma"/>
              </a:rPr>
              <a:t>TemperatureHandling</a:t>
            </a:r>
            <a:r>
              <a:rPr lang="el-GR" sz="2000" kern="0" dirty="0">
                <a:solidFill>
                  <a:srgbClr val="000000"/>
                </a:solidFill>
                <a:latin typeface="Tahoma"/>
              </a:rPr>
              <a:t>) που να ικανοποιεί βασικές απαιτήσεις προς τη κατεύθυνση αυτή. </a:t>
            </a:r>
            <a:endParaRPr lang="en-US" sz="1200" kern="0" dirty="0">
              <a:solidFill>
                <a:srgbClr val="000000"/>
              </a:solidFill>
              <a:latin typeface="Tahoma"/>
            </a:endParaRPr>
          </a:p>
        </p:txBody>
      </p:sp>
      <p:sp>
        <p:nvSpPr>
          <p:cNvPr id="4" name="TextBox 3">
            <a:extLst>
              <a:ext uri="{FF2B5EF4-FFF2-40B4-BE49-F238E27FC236}">
                <a16:creationId xmlns:a16="http://schemas.microsoft.com/office/drawing/2014/main" id="{890C9662-E0E1-3990-0221-B5EE2F561329}"/>
              </a:ext>
            </a:extLst>
          </p:cNvPr>
          <p:cNvSpPr txBox="1"/>
          <p:nvPr/>
        </p:nvSpPr>
        <p:spPr>
          <a:xfrm>
            <a:off x="4313268" y="5126239"/>
            <a:ext cx="7831023" cy="1200329"/>
          </a:xfrm>
          <a:prstGeom prst="rect">
            <a:avLst/>
          </a:prstGeom>
          <a:solidFill>
            <a:srgbClr val="92D050"/>
          </a:solidFill>
        </p:spPr>
        <p:txBody>
          <a:bodyPr wrap="square" rtlCol="0">
            <a:spAutoFit/>
          </a:bodyPr>
          <a:lstStyle/>
          <a:p>
            <a:r>
              <a:rPr lang="el-GR" sz="2400" dirty="0"/>
              <a:t>Θεωρήστε, στη φάση αυτή, πως το πρόγραμμα σας θα έχει τη λειτουργικότητα που ορίζεται από τις συναρτήσεις </a:t>
            </a:r>
            <a:r>
              <a:rPr lang="el-GR" sz="2400" b="1" dirty="0" err="1"/>
              <a:t>getYearTemps</a:t>
            </a:r>
            <a:r>
              <a:rPr lang="el-GR" sz="2400" dirty="0"/>
              <a:t>,  </a:t>
            </a:r>
            <a:r>
              <a:rPr lang="el-GR" sz="2400" b="1" dirty="0" err="1"/>
              <a:t>initializeTemps</a:t>
            </a:r>
            <a:r>
              <a:rPr lang="el-GR" sz="2400" dirty="0"/>
              <a:t> και </a:t>
            </a:r>
            <a:r>
              <a:rPr lang="el-GR" sz="2400" b="1" dirty="0" err="1"/>
              <a:t>printTemps</a:t>
            </a:r>
            <a:r>
              <a:rPr lang="el-GR" sz="2400" dirty="0"/>
              <a:t>. </a:t>
            </a:r>
            <a:endParaRPr lang="en-GB" sz="2400" dirty="0"/>
          </a:p>
        </p:txBody>
      </p:sp>
    </p:spTree>
    <p:extLst>
      <p:ext uri="{BB962C8B-B14F-4D97-AF65-F5344CB8AC3E}">
        <p14:creationId xmlns:p14="http://schemas.microsoft.com/office/powerpoint/2010/main" val="26948765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DA38-E162-D460-417C-9CBB3497EF3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DD49CF7-9ED7-1375-5431-A521ACC678C6}"/>
              </a:ext>
            </a:extLst>
          </p:cNvPr>
          <p:cNvSpPr>
            <a:spLocks noGrp="1"/>
          </p:cNvSpPr>
          <p:nvPr>
            <p:ph type="title"/>
          </p:nvPr>
        </p:nvSpPr>
        <p:spPr>
          <a:xfrm>
            <a:off x="0" y="0"/>
            <a:ext cx="12191999" cy="1209368"/>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a:t>
            </a:r>
            <a:br>
              <a:rPr lang="el-GR" sz="4000" b="1" dirty="0">
                <a:solidFill>
                  <a:srgbClr val="F9853D"/>
                </a:solidFill>
                <a:latin typeface="Bahnschrift" panose="020B0502040204020203" pitchFamily="34" charset="0"/>
              </a:rPr>
            </a:br>
            <a:r>
              <a:rPr lang="el-GR" sz="4000" b="1" dirty="0">
                <a:solidFill>
                  <a:srgbClr val="F9853D"/>
                </a:solidFill>
                <a:latin typeface="Bahnschrift" panose="020B0502040204020203" pitchFamily="34" charset="0"/>
              </a:rPr>
              <a:t>Πρόταση σταδιακής ανάπτυξης  1/2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43768FBE-1C7A-E630-1462-9963FAF89EA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050C387C-9249-D230-1049-704491353958}"/>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E51538A2-4B2B-0562-EDFB-C7712D1E1E60}"/>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2439215-E022-C029-F5C3-1C1FA803B07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B8F660D-F73A-F353-3906-BE91978DCAB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28</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56684813-7F19-E803-E413-A6AC3770FD1E}"/>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4" name="TextBox 3">
            <a:extLst>
              <a:ext uri="{FF2B5EF4-FFF2-40B4-BE49-F238E27FC236}">
                <a16:creationId xmlns:a16="http://schemas.microsoft.com/office/drawing/2014/main" id="{9E7562F1-B983-C9EF-61DD-4FAE53A3BFC1}"/>
              </a:ext>
            </a:extLst>
          </p:cNvPr>
          <p:cNvSpPr txBox="1"/>
          <p:nvPr/>
        </p:nvSpPr>
        <p:spPr>
          <a:xfrm>
            <a:off x="187777" y="1435473"/>
            <a:ext cx="11695471" cy="954107"/>
          </a:xfrm>
          <a:prstGeom prst="rect">
            <a:avLst/>
          </a:prstGeom>
          <a:solidFill>
            <a:srgbClr val="92D050"/>
          </a:solidFill>
        </p:spPr>
        <p:txBody>
          <a:bodyPr wrap="square" rtlCol="0">
            <a:spAutoFit/>
          </a:bodyPr>
          <a:lstStyle/>
          <a:p>
            <a:r>
              <a:rPr lang="en-US" sz="2800" b="1" i="1" dirty="0"/>
              <a:t>Version</a:t>
            </a:r>
            <a:r>
              <a:rPr lang="el-GR" sz="2800" b="1" i="1" dirty="0"/>
              <a:t>1 [1</a:t>
            </a:r>
            <a:r>
              <a:rPr lang="en-US" sz="2800" b="1" i="1" dirty="0"/>
              <a:t>Dim</a:t>
            </a:r>
            <a:r>
              <a:rPr lang="el-GR" sz="2800" b="1" i="1" dirty="0"/>
              <a:t>]</a:t>
            </a:r>
            <a:endParaRPr lang="en-GB" sz="2800" dirty="0"/>
          </a:p>
          <a:p>
            <a:r>
              <a:rPr lang="el-GR" sz="2800" dirty="0"/>
              <a:t>Αξιοποιεί πίνακα μιας διάστασης (ΜΗΘ ενός μήνα). </a:t>
            </a:r>
            <a:endParaRPr lang="en-GB" sz="2800" dirty="0"/>
          </a:p>
        </p:txBody>
      </p:sp>
      <p:sp>
        <p:nvSpPr>
          <p:cNvPr id="5" name="TextBox 4">
            <a:extLst>
              <a:ext uri="{FF2B5EF4-FFF2-40B4-BE49-F238E27FC236}">
                <a16:creationId xmlns:a16="http://schemas.microsoft.com/office/drawing/2014/main" id="{892F9BD7-5655-5176-5950-A1D6D8BE4A90}"/>
              </a:ext>
            </a:extLst>
          </p:cNvPr>
          <p:cNvSpPr txBox="1"/>
          <p:nvPr/>
        </p:nvSpPr>
        <p:spPr>
          <a:xfrm>
            <a:off x="179080" y="2615685"/>
            <a:ext cx="11695471" cy="3970318"/>
          </a:xfrm>
          <a:prstGeom prst="rect">
            <a:avLst/>
          </a:prstGeom>
          <a:solidFill>
            <a:srgbClr val="92D050"/>
          </a:solidFill>
        </p:spPr>
        <p:txBody>
          <a:bodyPr wrap="square" rtlCol="0">
            <a:spAutoFit/>
          </a:bodyPr>
          <a:lstStyle/>
          <a:p>
            <a:r>
              <a:rPr lang="el-GR" sz="2800" b="1" i="1" dirty="0"/>
              <a:t>Version2 [2Dim]</a:t>
            </a:r>
          </a:p>
          <a:p>
            <a:r>
              <a:rPr lang="el-GR" sz="2800" dirty="0"/>
              <a:t>Αξιοποιεί πίνακα δύο διαστάσεων (ΜΗΘ ενός έτους). </a:t>
            </a:r>
          </a:p>
          <a:p>
            <a:r>
              <a:rPr lang="el-GR" sz="2800" dirty="0"/>
              <a:t>Για τη διαμόρφωση της θα αξιοποιηθεί η 1η έκδοση. </a:t>
            </a:r>
          </a:p>
          <a:p>
            <a:r>
              <a:rPr lang="el-GR" sz="2800" dirty="0"/>
              <a:t>Είναι σκόπιμο να διαμορφώστε τις αρχικές τιμές που θα δώσετε στα στοιχεία του πίνακα, ώστε να σχετίζονται με τη θέση του στοιχείου στον πίνακα. Αυτό θα σας βοηθήσει στον έλεγχο του κώδικα σας κατά το διάστημα που θα  προσπαθείτε να εξοικειωθείτε με τη σημειογραφία των πολυδιάστατων πινάκων. </a:t>
            </a:r>
          </a:p>
          <a:p>
            <a:r>
              <a:rPr lang="el-GR" sz="2800" dirty="0"/>
              <a:t>Θα μπορούσατε, για παράδειγμα, να δίνετε τιμή της μορφής </a:t>
            </a:r>
            <a:r>
              <a:rPr lang="el-GR" sz="2800" dirty="0" err="1"/>
              <a:t>mmdd</a:t>
            </a:r>
            <a:r>
              <a:rPr lang="el-GR" sz="2800" dirty="0"/>
              <a:t>. </a:t>
            </a:r>
          </a:p>
        </p:txBody>
      </p:sp>
    </p:spTree>
    <p:extLst>
      <p:ext uri="{BB962C8B-B14F-4D97-AF65-F5344CB8AC3E}">
        <p14:creationId xmlns:p14="http://schemas.microsoft.com/office/powerpoint/2010/main" val="14330270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9B2E3-B770-4C3C-C1E8-8FC6C41DBC45}"/>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88A9040-6EDC-E8BE-9B44-A52A6233A4AD}"/>
              </a:ext>
            </a:extLst>
          </p:cNvPr>
          <p:cNvSpPr>
            <a:spLocks noGrp="1"/>
          </p:cNvSpPr>
          <p:nvPr>
            <p:ph type="title"/>
          </p:nvPr>
        </p:nvSpPr>
        <p:spPr>
          <a:xfrm>
            <a:off x="0" y="0"/>
            <a:ext cx="12191999" cy="1209368"/>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a:t>
            </a:r>
            <a:br>
              <a:rPr lang="el-GR" sz="4000" b="1" dirty="0">
                <a:solidFill>
                  <a:srgbClr val="F9853D"/>
                </a:solidFill>
                <a:latin typeface="Bahnschrift" panose="020B0502040204020203" pitchFamily="34" charset="0"/>
              </a:rPr>
            </a:br>
            <a:r>
              <a:rPr lang="el-GR" sz="4000" b="1" dirty="0">
                <a:solidFill>
                  <a:srgbClr val="F9853D"/>
                </a:solidFill>
                <a:latin typeface="Bahnschrift" panose="020B0502040204020203" pitchFamily="34" charset="0"/>
              </a:rPr>
              <a:t>Πρόταση σταδιακής ανάπτυξης  2/2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1F8CCA88-D655-78F4-97BA-BF517C337BD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B396CC43-EA60-A30A-7D63-FE1E566662E2}"/>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89B7C8EE-220D-F2AA-AF25-3BE10170D177}"/>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D3C45C5-F066-DC02-C8FC-5C63B13A7A8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95AD823-6158-C1BB-90A9-FE9FAF3EEE1C}"/>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29</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999F362D-D562-E29D-7E03-D2F0FF8AD25E}"/>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TextBox 4">
            <a:extLst>
              <a:ext uri="{FF2B5EF4-FFF2-40B4-BE49-F238E27FC236}">
                <a16:creationId xmlns:a16="http://schemas.microsoft.com/office/drawing/2014/main" id="{5725B03D-A669-73C6-1D4D-601566D0E24D}"/>
              </a:ext>
            </a:extLst>
          </p:cNvPr>
          <p:cNvSpPr txBox="1"/>
          <p:nvPr/>
        </p:nvSpPr>
        <p:spPr>
          <a:xfrm>
            <a:off x="140669" y="1274859"/>
            <a:ext cx="11910662" cy="5324535"/>
          </a:xfrm>
          <a:prstGeom prst="rect">
            <a:avLst/>
          </a:prstGeom>
          <a:solidFill>
            <a:srgbClr val="92D050"/>
          </a:solidFill>
        </p:spPr>
        <p:txBody>
          <a:bodyPr wrap="square" rtlCol="0">
            <a:spAutoFit/>
          </a:bodyPr>
          <a:lstStyle/>
          <a:p>
            <a:r>
              <a:rPr lang="el-GR" sz="2800" b="1" i="1" dirty="0"/>
              <a:t>Version3 [3Dim]</a:t>
            </a:r>
          </a:p>
          <a:p>
            <a:r>
              <a:rPr lang="el-GR" sz="2800" dirty="0"/>
              <a:t>Αξιοποιεί  πίνακα τριών διαστάσεων (ΜΗΘ μιας ακολουθίας ετών).  </a:t>
            </a:r>
          </a:p>
          <a:p>
            <a:r>
              <a:rPr lang="el-GR" sz="2800" dirty="0"/>
              <a:t>Διαμορφώστε τις αρχικές τιμές που θα δώσετε στα στοιχεία του πίνακα  έτσι ώστε να σχετίζονται με τη θέση του στοιχείου στον πίνακα (π.χ. </a:t>
            </a:r>
            <a:r>
              <a:rPr lang="el-GR" sz="2800" dirty="0" err="1"/>
              <a:t>yymmdd</a:t>
            </a:r>
            <a:r>
              <a:rPr lang="el-GR" sz="2800" dirty="0"/>
              <a:t>). Είναι σκόπιμο να διαμορφώσετε τον κώδικα σας έτσι ώστε να σας διευκολύνει στην απόδοση τιμής με άλλο τρόπο. </a:t>
            </a:r>
          </a:p>
          <a:p>
            <a:r>
              <a:rPr lang="el-GR" sz="2800" dirty="0"/>
              <a:t>Για παράδειγμα αυτός μπορεί να είναι:</a:t>
            </a:r>
          </a:p>
          <a:p>
            <a:pPr marL="457200" indent="-457200">
              <a:buFont typeface="Arial" panose="020B0604020202020204" pitchFamily="34" charset="0"/>
              <a:buChar char="•"/>
            </a:pPr>
            <a:r>
              <a:rPr lang="el-GR" sz="2400" dirty="0"/>
              <a:t>η ΜΗΘ ως επιστρεφόμενη τιμή μιας συνάρτηση που θα έχει πρόσβαση σε μια ακολουθία θερμοκρασιών της συγκεκριμένης ημέρας, </a:t>
            </a:r>
          </a:p>
          <a:p>
            <a:pPr marL="457200" indent="-457200">
              <a:buFont typeface="Arial" panose="020B0604020202020204" pitchFamily="34" charset="0"/>
              <a:buChar char="•"/>
            </a:pPr>
            <a:r>
              <a:rPr lang="el-GR" sz="2400" dirty="0"/>
              <a:t>η ΜΗΘ ως επιστρεφόμενη τιμή μιας συνάρτηση που θα τη διαβάζει από ένα αρχείο, στο οποίο είναι αποθηκευμένες οι ΜΗΘ,</a:t>
            </a:r>
          </a:p>
          <a:p>
            <a:pPr marL="457200" indent="-457200">
              <a:buFont typeface="Arial" panose="020B0604020202020204" pitchFamily="34" charset="0"/>
              <a:buChar char="•"/>
            </a:pPr>
            <a:r>
              <a:rPr lang="el-GR" sz="2400" dirty="0"/>
              <a:t>η ΜΗΘ που θα δέχεται το πρόγραμμα σας από ένα άλλο πρόγραμμα που παράγει τιμές με βάση ένα μοντέλο πρόγνωσης ΜΗΘ.</a:t>
            </a:r>
          </a:p>
        </p:txBody>
      </p:sp>
    </p:spTree>
    <p:extLst>
      <p:ext uri="{BB962C8B-B14F-4D97-AF65-F5344CB8AC3E}">
        <p14:creationId xmlns:p14="http://schemas.microsoft.com/office/powerpoint/2010/main" val="62998200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1481F-DC6E-1B7F-8BEA-7D6AADFB806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BF2C74A-6D2E-3BD7-FB78-62114E3A3DD0}"/>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r>
              <a:rPr lang="en-US" b="1" dirty="0">
                <a:solidFill>
                  <a:srgbClr val="F9853D"/>
                </a:solidFill>
                <a:latin typeface="Bahnschrift" panose="020B0502040204020203" pitchFamily="34" charset="0"/>
              </a:rPr>
              <a:t> V1</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7.14 Ανάπτυξη πηγαίου κώδικα – </a:t>
            </a:r>
            <a:r>
              <a:rPr lang="en-US" sz="3100" b="1" dirty="0">
                <a:solidFill>
                  <a:srgbClr val="F9853D"/>
                </a:solidFill>
                <a:latin typeface="Bahnschrift" panose="020B0502040204020203" pitchFamily="34" charset="0"/>
              </a:rPr>
              <a:t>V1</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87B67485-0960-E25D-BB85-B5268A2A646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19DCC2E5-31A7-9FF7-CA07-8FA32E9623F3}"/>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EFC17E98-E76C-EE28-B00B-D08544837A6F}"/>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4932FCD9-9EF0-1E4F-55FA-43E3B9C4BBB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EAD70FB-B007-BAF3-8304-60113E01217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30</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73279CAF-935C-00D5-10CF-091ED1C255A9}"/>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993924F3-9486-0915-DCAB-AD41489BA946}"/>
              </a:ext>
            </a:extLst>
          </p:cNvPr>
          <p:cNvSpPr/>
          <p:nvPr/>
        </p:nvSpPr>
        <p:spPr>
          <a:xfrm>
            <a:off x="4911211" y="2432793"/>
            <a:ext cx="6635135" cy="996207"/>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Χρησιμοποιείστε πίνακα μιας διάστασης για την αποθήκευση των ΜΗΘ ενός μήνα. </a:t>
            </a:r>
          </a:p>
        </p:txBody>
      </p:sp>
      <p:pic>
        <p:nvPicPr>
          <p:cNvPr id="7" name="Picture 6">
            <a:extLst>
              <a:ext uri="{FF2B5EF4-FFF2-40B4-BE49-F238E27FC236}">
                <a16:creationId xmlns:a16="http://schemas.microsoft.com/office/drawing/2014/main" id="{29C8F807-3505-674B-F379-12FEDE87F63A}"/>
              </a:ext>
            </a:extLst>
          </p:cNvPr>
          <p:cNvPicPr>
            <a:picLocks noChangeAspect="1"/>
          </p:cNvPicPr>
          <p:nvPr/>
        </p:nvPicPr>
        <p:blipFill>
          <a:blip r:embed="rId3"/>
          <a:stretch>
            <a:fillRect/>
          </a:stretch>
        </p:blipFill>
        <p:spPr>
          <a:xfrm>
            <a:off x="140669" y="2557612"/>
            <a:ext cx="4298421" cy="3164762"/>
          </a:xfrm>
          <a:prstGeom prst="rect">
            <a:avLst/>
          </a:prstGeom>
        </p:spPr>
      </p:pic>
      <p:sp>
        <p:nvSpPr>
          <p:cNvPr id="9" name="Content Placeholder 2">
            <a:extLst>
              <a:ext uri="{FF2B5EF4-FFF2-40B4-BE49-F238E27FC236}">
                <a16:creationId xmlns:a16="http://schemas.microsoft.com/office/drawing/2014/main" id="{0BE795A2-D9D9-6FF9-71BC-0528AE1724B2}"/>
              </a:ext>
            </a:extLst>
          </p:cNvPr>
          <p:cNvSpPr txBox="1">
            <a:spLocks/>
          </p:cNvSpPr>
          <p:nvPr/>
        </p:nvSpPr>
        <p:spPr bwMode="auto">
          <a:xfrm>
            <a:off x="-1" y="1028121"/>
            <a:ext cx="12191999" cy="898287"/>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kern="0" dirty="0">
                <a:solidFill>
                  <a:srgbClr val="000000"/>
                </a:solidFill>
                <a:latin typeface="Tahoma"/>
              </a:rPr>
              <a:t>Version1 [1Dim]</a:t>
            </a:r>
          </a:p>
          <a:p>
            <a:pPr marL="0" indent="0">
              <a:buClr>
                <a:srgbClr val="3333CC"/>
              </a:buClr>
              <a:buNone/>
              <a:defRPr/>
            </a:pPr>
            <a:r>
              <a:rPr lang="el-GR" sz="2000" kern="0" dirty="0">
                <a:solidFill>
                  <a:srgbClr val="000000"/>
                </a:solidFill>
                <a:latin typeface="Tahoma"/>
              </a:rPr>
              <a:t>Αξιοποιεί πίνακα μιας διάστασης (ΜΗΘ ενός μήνα). </a:t>
            </a:r>
          </a:p>
        </p:txBody>
      </p:sp>
      <p:sp>
        <p:nvSpPr>
          <p:cNvPr id="4" name="TextBox 3">
            <a:extLst>
              <a:ext uri="{FF2B5EF4-FFF2-40B4-BE49-F238E27FC236}">
                <a16:creationId xmlns:a16="http://schemas.microsoft.com/office/drawing/2014/main" id="{3D75844E-5F1C-5183-A09A-62B69C0C0FB8}"/>
              </a:ext>
            </a:extLst>
          </p:cNvPr>
          <p:cNvSpPr txBox="1"/>
          <p:nvPr/>
        </p:nvSpPr>
        <p:spPr>
          <a:xfrm>
            <a:off x="4543633" y="4212021"/>
            <a:ext cx="7615473" cy="1938992"/>
          </a:xfrm>
          <a:prstGeom prst="rect">
            <a:avLst/>
          </a:prstGeom>
          <a:solidFill>
            <a:srgbClr val="92D050"/>
          </a:solidFill>
        </p:spPr>
        <p:txBody>
          <a:bodyPr wrap="square" rtlCol="0">
            <a:spAutoFit/>
          </a:bodyPr>
          <a:lstStyle/>
          <a:p>
            <a:r>
              <a:rPr lang="el-GR" sz="2400" dirty="0"/>
              <a:t>Υλοποιείστε τις συναρτήσεις: </a:t>
            </a:r>
          </a:p>
          <a:p>
            <a:r>
              <a:rPr lang="el-GR" sz="2400" dirty="0"/>
              <a:t>α) απόδοσης τιμών στα στοιχεία του πίνακα από τη βασική είσοδο (</a:t>
            </a:r>
            <a:r>
              <a:rPr lang="el-GR" sz="2400" b="1" dirty="0" err="1"/>
              <a:t>getMonthTemps</a:t>
            </a:r>
            <a:r>
              <a:rPr lang="el-GR" sz="2400" dirty="0"/>
              <a:t>), και, </a:t>
            </a:r>
          </a:p>
          <a:p>
            <a:r>
              <a:rPr lang="el-GR" sz="2400" dirty="0"/>
              <a:t>β)  εμφάνισης των τιμών των στοιχείων του (</a:t>
            </a:r>
            <a:r>
              <a:rPr lang="el-GR" sz="2400" b="1" dirty="0" err="1"/>
              <a:t>printMonthTemps</a:t>
            </a:r>
            <a:r>
              <a:rPr lang="el-GR" sz="2400" dirty="0"/>
              <a:t>). </a:t>
            </a:r>
          </a:p>
        </p:txBody>
      </p:sp>
    </p:spTree>
    <p:extLst>
      <p:ext uri="{BB962C8B-B14F-4D97-AF65-F5344CB8AC3E}">
        <p14:creationId xmlns:p14="http://schemas.microsoft.com/office/powerpoint/2010/main" val="22806205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3C951-C263-FA66-71E0-174A187BDC5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B88B80A-A5DE-9F62-1687-9F3220EBF23F}"/>
              </a:ext>
            </a:extLst>
          </p:cNvPr>
          <p:cNvSpPr>
            <a:spLocks noGrp="1"/>
          </p:cNvSpPr>
          <p:nvPr>
            <p:ph type="title"/>
          </p:nvPr>
        </p:nvSpPr>
        <p:spPr>
          <a:xfrm>
            <a:off x="0" y="0"/>
            <a:ext cx="12191999" cy="908050"/>
          </a:xfrm>
          <a:solidFill>
            <a:srgbClr val="FDCBAD"/>
          </a:solidFill>
        </p:spPr>
        <p:txBody>
          <a:bodyPr>
            <a:normAutofit/>
          </a:bodyPr>
          <a:lstStyle/>
          <a:p>
            <a:r>
              <a:rPr lang="en-US" sz="4000" b="1" dirty="0" err="1">
                <a:solidFill>
                  <a:srgbClr val="F9853D"/>
                </a:solidFill>
                <a:latin typeface="Bahnschrift" panose="020B0502040204020203" pitchFamily="34" charset="0"/>
              </a:rPr>
              <a:t>TemperatureHandling</a:t>
            </a:r>
            <a:r>
              <a:rPr lang="el-GR" sz="4000" b="1" dirty="0">
                <a:solidFill>
                  <a:srgbClr val="F9853D"/>
                </a:solidFill>
                <a:latin typeface="Bahnschrift" panose="020B0502040204020203" pitchFamily="34" charset="0"/>
              </a:rPr>
              <a:t> - </a:t>
            </a:r>
            <a:r>
              <a:rPr lang="en-GB" sz="4000" b="1" dirty="0" err="1">
                <a:solidFill>
                  <a:srgbClr val="F9853D"/>
                </a:solidFill>
                <a:latin typeface="Bahnschrift" panose="020B0502040204020203" pitchFamily="34" charset="0"/>
              </a:rPr>
              <a:t>initializeMonthTemps</a:t>
            </a:r>
            <a:r>
              <a:rPr lang="en-GB" sz="4000" b="1" dirty="0">
                <a:solidFill>
                  <a:srgbClr val="F9853D"/>
                </a:solidFill>
                <a:latin typeface="Bahnschrift" panose="020B0502040204020203" pitchFamily="34" charset="0"/>
              </a:rPr>
              <a:t> </a:t>
            </a:r>
          </a:p>
        </p:txBody>
      </p:sp>
      <p:sp>
        <p:nvSpPr>
          <p:cNvPr id="3" name="Rectangle 2">
            <a:extLst>
              <a:ext uri="{FF2B5EF4-FFF2-40B4-BE49-F238E27FC236}">
                <a16:creationId xmlns:a16="http://schemas.microsoft.com/office/drawing/2014/main" id="{481CBC55-B39B-7181-E1FF-356A1DAB4A5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D7C23883-4A4F-8415-DFB1-E53EDC6EA47C}"/>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99C86D43-89C7-0BCA-14C1-71C2FD4F04BF}"/>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4147303B-0C5F-8AE5-D29B-AF8CACB3EA1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D848D000-E7F2-8901-751D-4A15A3E2D07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31</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23C3E6F7-CD32-B0ED-0683-04D9ADE648F4}"/>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TextBox 4">
            <a:extLst>
              <a:ext uri="{FF2B5EF4-FFF2-40B4-BE49-F238E27FC236}">
                <a16:creationId xmlns:a16="http://schemas.microsoft.com/office/drawing/2014/main" id="{4825204D-EC61-0446-B83F-451A904D90A7}"/>
              </a:ext>
            </a:extLst>
          </p:cNvPr>
          <p:cNvSpPr txBox="1"/>
          <p:nvPr/>
        </p:nvSpPr>
        <p:spPr>
          <a:xfrm>
            <a:off x="140669" y="4106550"/>
            <a:ext cx="11910662" cy="2246769"/>
          </a:xfrm>
          <a:prstGeom prst="rect">
            <a:avLst/>
          </a:prstGeom>
          <a:solidFill>
            <a:srgbClr val="92D050"/>
          </a:solidFill>
        </p:spPr>
        <p:txBody>
          <a:bodyPr wrap="square" rtlCol="0">
            <a:spAutoFit/>
          </a:bodyPr>
          <a:lstStyle/>
          <a:p>
            <a:r>
              <a:rPr lang="el-GR" sz="2800" dirty="0"/>
              <a:t>Η διαδικασία ανάπτυξης του προγράμματος απαιτεί δοκιμές. </a:t>
            </a:r>
          </a:p>
          <a:p>
            <a:r>
              <a:rPr lang="el-GR" sz="2800" dirty="0"/>
              <a:t>Για να αποφύγουμε τη </a:t>
            </a:r>
            <a:r>
              <a:rPr lang="el-GR" sz="2800" b="1" dirty="0"/>
              <a:t>χρονοβόρα διαδικασία της εισόδου τιμών από τη βασική είσοδο</a:t>
            </a:r>
            <a:r>
              <a:rPr lang="el-GR" sz="2800" dirty="0"/>
              <a:t>, κάθε φορά που εκτελούμε το πρόγραμμα για να ελέγξουμε τον κώδικα, ορίζουμε τη συνάρτηση </a:t>
            </a:r>
            <a:r>
              <a:rPr lang="el-GR" sz="2800" dirty="0" err="1">
                <a:latin typeface="Courier New" panose="02070309020205020404" pitchFamily="49" charset="0"/>
                <a:cs typeface="Courier New" panose="02070309020205020404" pitchFamily="49" charset="0"/>
              </a:rPr>
              <a:t>initializeMonthTemps</a:t>
            </a:r>
            <a:r>
              <a:rPr lang="el-GR" sz="2800" dirty="0"/>
              <a:t> για να αναθέσουμε το έργο αυτό στη </a:t>
            </a:r>
            <a:r>
              <a:rPr lang="el-GR" sz="2800" dirty="0" err="1"/>
              <a:t>Mηχανή</a:t>
            </a:r>
            <a:r>
              <a:rPr lang="el-GR" sz="2800" dirty="0"/>
              <a:t>. </a:t>
            </a:r>
            <a:endParaRPr lang="el-GR" sz="2400" dirty="0"/>
          </a:p>
        </p:txBody>
      </p:sp>
      <p:pic>
        <p:nvPicPr>
          <p:cNvPr id="4" name="Picture 3">
            <a:extLst>
              <a:ext uri="{FF2B5EF4-FFF2-40B4-BE49-F238E27FC236}">
                <a16:creationId xmlns:a16="http://schemas.microsoft.com/office/drawing/2014/main" id="{FA4AC55A-BE49-5CCC-1BE7-60046B17E40F}"/>
              </a:ext>
            </a:extLst>
          </p:cNvPr>
          <p:cNvPicPr>
            <a:picLocks noChangeAspect="1"/>
          </p:cNvPicPr>
          <p:nvPr/>
        </p:nvPicPr>
        <p:blipFill>
          <a:blip r:embed="rId3"/>
          <a:stretch>
            <a:fillRect/>
          </a:stretch>
        </p:blipFill>
        <p:spPr>
          <a:xfrm>
            <a:off x="140669" y="1049325"/>
            <a:ext cx="3361728" cy="2472303"/>
          </a:xfrm>
          <a:prstGeom prst="rect">
            <a:avLst/>
          </a:prstGeom>
        </p:spPr>
      </p:pic>
      <p:sp>
        <p:nvSpPr>
          <p:cNvPr id="7" name="Speech Bubble: Rectangle with Corners Rounded 6">
            <a:extLst>
              <a:ext uri="{FF2B5EF4-FFF2-40B4-BE49-F238E27FC236}">
                <a16:creationId xmlns:a16="http://schemas.microsoft.com/office/drawing/2014/main" id="{3939184C-47FF-EA83-2035-551D5436C10C}"/>
              </a:ext>
            </a:extLst>
          </p:cNvPr>
          <p:cNvSpPr/>
          <p:nvPr/>
        </p:nvSpPr>
        <p:spPr>
          <a:xfrm>
            <a:off x="4866966" y="1642952"/>
            <a:ext cx="6635135" cy="1447425"/>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Αντικαταστήστε  την </a:t>
            </a:r>
            <a:r>
              <a:rPr lang="el-GR" sz="2400" b="1" dirty="0" err="1"/>
              <a:t>getMonthTemps</a:t>
            </a:r>
            <a:r>
              <a:rPr lang="el-GR" sz="2400" b="1" dirty="0"/>
              <a:t> με μια συνάρτηση με όνομα </a:t>
            </a:r>
            <a:r>
              <a:rPr lang="el-GR" sz="2400" b="1" dirty="0" err="1">
                <a:latin typeface="Courier New" panose="02070309020205020404" pitchFamily="49" charset="0"/>
                <a:cs typeface="Courier New" panose="02070309020205020404" pitchFamily="49" charset="0"/>
              </a:rPr>
              <a:t>initializeMonthTemps</a:t>
            </a:r>
            <a:endParaRPr lang="el-GR" sz="2400" b="1" dirty="0">
              <a:solidFill>
                <a:schemeClr val="bg1"/>
              </a:solidFill>
            </a:endParaRPr>
          </a:p>
        </p:txBody>
      </p:sp>
    </p:spTree>
    <p:extLst>
      <p:ext uri="{BB962C8B-B14F-4D97-AF65-F5344CB8AC3E}">
        <p14:creationId xmlns:p14="http://schemas.microsoft.com/office/powerpoint/2010/main" val="10563673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DF5D9-60FB-D1A9-42FF-DF0B40624AD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4DE3150-DA31-FB29-3C50-AE8764ED5823}"/>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r>
              <a:rPr lang="en-US" b="1" dirty="0">
                <a:solidFill>
                  <a:srgbClr val="F9853D"/>
                </a:solidFill>
                <a:latin typeface="Bahnschrift" panose="020B0502040204020203" pitchFamily="34" charset="0"/>
              </a:rPr>
              <a:t> V2</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7.14 Ανάπτυξη πηγαίου κώδικα </a:t>
            </a:r>
            <a:r>
              <a:rPr lang="en-US" sz="3100" b="1" dirty="0">
                <a:solidFill>
                  <a:srgbClr val="F9853D"/>
                </a:solidFill>
                <a:latin typeface="Bahnschrift" panose="020B0502040204020203" pitchFamily="34" charset="0"/>
              </a:rPr>
              <a:t>– V2</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DC91C13F-195C-4F86-90C3-7610DC083D7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FF287748-6E5D-6BE4-3A2B-58C8099D46F0}"/>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CCD675D0-FE30-43CB-65C6-212C96D66BA7}"/>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35F533D0-54EF-C73B-A275-ADC017AD44F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D3F9FE7-8412-730F-5FB4-4EBBA023C34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32</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BEBF4A18-0730-5FBD-EFBA-98849A746CD1}"/>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A6C5C081-98DC-F3FC-D50F-AEF00FC90798}"/>
              </a:ext>
            </a:extLst>
          </p:cNvPr>
          <p:cNvSpPr/>
          <p:nvPr/>
        </p:nvSpPr>
        <p:spPr>
          <a:xfrm>
            <a:off x="4911210" y="2340116"/>
            <a:ext cx="6635135" cy="742298"/>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Χρησιμοποιείστε πίνακα δύο διαστάσεων για την αποθήκευση των ΜΗΘ ενός έτους. </a:t>
            </a:r>
          </a:p>
        </p:txBody>
      </p:sp>
      <p:pic>
        <p:nvPicPr>
          <p:cNvPr id="7" name="Picture 6">
            <a:extLst>
              <a:ext uri="{FF2B5EF4-FFF2-40B4-BE49-F238E27FC236}">
                <a16:creationId xmlns:a16="http://schemas.microsoft.com/office/drawing/2014/main" id="{8528EC39-65A7-1BBF-C117-A62DADC0C4D4}"/>
              </a:ext>
            </a:extLst>
          </p:cNvPr>
          <p:cNvPicPr>
            <a:picLocks noChangeAspect="1"/>
          </p:cNvPicPr>
          <p:nvPr/>
        </p:nvPicPr>
        <p:blipFill>
          <a:blip r:embed="rId3"/>
          <a:stretch>
            <a:fillRect/>
          </a:stretch>
        </p:blipFill>
        <p:spPr>
          <a:xfrm>
            <a:off x="184915" y="2340116"/>
            <a:ext cx="3310454" cy="2437360"/>
          </a:xfrm>
          <a:prstGeom prst="rect">
            <a:avLst/>
          </a:prstGeom>
        </p:spPr>
      </p:pic>
      <p:sp>
        <p:nvSpPr>
          <p:cNvPr id="9" name="Content Placeholder 2">
            <a:extLst>
              <a:ext uri="{FF2B5EF4-FFF2-40B4-BE49-F238E27FC236}">
                <a16:creationId xmlns:a16="http://schemas.microsoft.com/office/drawing/2014/main" id="{555702C6-BC93-EA57-AF8E-67421491ECBE}"/>
              </a:ext>
            </a:extLst>
          </p:cNvPr>
          <p:cNvSpPr txBox="1">
            <a:spLocks/>
          </p:cNvSpPr>
          <p:nvPr/>
        </p:nvSpPr>
        <p:spPr bwMode="auto">
          <a:xfrm>
            <a:off x="-1" y="1028121"/>
            <a:ext cx="12191999" cy="1243131"/>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kern="0" dirty="0">
                <a:solidFill>
                  <a:srgbClr val="000000"/>
                </a:solidFill>
                <a:latin typeface="Tahoma"/>
              </a:rPr>
              <a:t>Version2 [2Dim]</a:t>
            </a:r>
          </a:p>
          <a:p>
            <a:pPr marL="0" indent="0">
              <a:buClr>
                <a:srgbClr val="3333CC"/>
              </a:buClr>
              <a:buNone/>
              <a:defRPr/>
            </a:pPr>
            <a:r>
              <a:rPr lang="el-GR" sz="2000" kern="0" dirty="0">
                <a:solidFill>
                  <a:srgbClr val="000000"/>
                </a:solidFill>
                <a:latin typeface="Tahoma"/>
              </a:rPr>
              <a:t>Αξιοποιεί πίνακα δύο διαστάσεων (ΜΗΘ ενός έτους). </a:t>
            </a:r>
          </a:p>
          <a:p>
            <a:pPr marL="0" indent="0">
              <a:buClr>
                <a:srgbClr val="3333CC"/>
              </a:buClr>
              <a:buNone/>
              <a:defRPr/>
            </a:pPr>
            <a:r>
              <a:rPr lang="el-GR" sz="2000" kern="0" dirty="0">
                <a:solidFill>
                  <a:srgbClr val="000000"/>
                </a:solidFill>
                <a:latin typeface="Tahoma"/>
              </a:rPr>
              <a:t>Για τη διαμόρφωση της θα αξιοποιηθεί η 1η έκδοση. </a:t>
            </a:r>
          </a:p>
        </p:txBody>
      </p:sp>
      <p:sp>
        <p:nvSpPr>
          <p:cNvPr id="4" name="TextBox 3">
            <a:extLst>
              <a:ext uri="{FF2B5EF4-FFF2-40B4-BE49-F238E27FC236}">
                <a16:creationId xmlns:a16="http://schemas.microsoft.com/office/drawing/2014/main" id="{8F970FDC-00D5-8683-1141-25D4CC322A8E}"/>
              </a:ext>
            </a:extLst>
          </p:cNvPr>
          <p:cNvSpPr txBox="1"/>
          <p:nvPr/>
        </p:nvSpPr>
        <p:spPr>
          <a:xfrm>
            <a:off x="3613355" y="3290478"/>
            <a:ext cx="8530933" cy="1569660"/>
          </a:xfrm>
          <a:prstGeom prst="rect">
            <a:avLst/>
          </a:prstGeom>
          <a:solidFill>
            <a:srgbClr val="92D050"/>
          </a:solidFill>
        </p:spPr>
        <p:txBody>
          <a:bodyPr wrap="square" rtlCol="0">
            <a:spAutoFit/>
          </a:bodyPr>
          <a:lstStyle/>
          <a:p>
            <a:r>
              <a:rPr lang="el-GR" sz="2400" dirty="0"/>
              <a:t>Υλοποιείστε τις συναρτήσεις: </a:t>
            </a:r>
          </a:p>
          <a:p>
            <a:r>
              <a:rPr lang="el-GR" sz="2400" dirty="0"/>
              <a:t>α) απόδοσης τιμών στα στοιχεία του πίνακα από τη βασική είσοδο (</a:t>
            </a:r>
            <a:r>
              <a:rPr lang="el-GR" sz="2400" b="1" dirty="0" err="1"/>
              <a:t>get</a:t>
            </a:r>
            <a:r>
              <a:rPr lang="en-US" sz="2400" b="1" dirty="0"/>
              <a:t>Year</a:t>
            </a:r>
            <a:r>
              <a:rPr lang="el-GR" sz="2400" b="1" dirty="0" err="1"/>
              <a:t>Temps</a:t>
            </a:r>
            <a:r>
              <a:rPr lang="el-GR" sz="2400" dirty="0"/>
              <a:t>), και, </a:t>
            </a:r>
          </a:p>
          <a:p>
            <a:r>
              <a:rPr lang="el-GR" sz="2400" dirty="0"/>
              <a:t>β)  εμφάνισης των τιμών των στοιχείων του (</a:t>
            </a:r>
            <a:r>
              <a:rPr lang="el-GR" sz="2400" b="1" dirty="0" err="1"/>
              <a:t>print</a:t>
            </a:r>
            <a:r>
              <a:rPr lang="en-US" sz="2400" b="1" dirty="0"/>
              <a:t>Year</a:t>
            </a:r>
            <a:r>
              <a:rPr lang="el-GR" sz="2400" b="1" dirty="0" err="1"/>
              <a:t>Temps</a:t>
            </a:r>
            <a:r>
              <a:rPr lang="el-GR" sz="2400" dirty="0"/>
              <a:t>). </a:t>
            </a:r>
          </a:p>
        </p:txBody>
      </p:sp>
      <p:sp>
        <p:nvSpPr>
          <p:cNvPr id="12" name="Speech Bubble: Rectangle with Corners Rounded 11">
            <a:extLst>
              <a:ext uri="{FF2B5EF4-FFF2-40B4-BE49-F238E27FC236}">
                <a16:creationId xmlns:a16="http://schemas.microsoft.com/office/drawing/2014/main" id="{96391422-3448-FC58-3667-5CF652D71257}"/>
              </a:ext>
            </a:extLst>
          </p:cNvPr>
          <p:cNvSpPr/>
          <p:nvPr/>
        </p:nvSpPr>
        <p:spPr>
          <a:xfrm>
            <a:off x="6820050" y="5031404"/>
            <a:ext cx="5102944" cy="1067273"/>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Στην δήλωση των συναρτήσεων δοκιμάστε τη σημειογραφία του πίνακα αλλά και αυτή του δείκτη. </a:t>
            </a:r>
          </a:p>
        </p:txBody>
      </p:sp>
      <p:sp>
        <p:nvSpPr>
          <p:cNvPr id="13" name="Speech Bubble: Rectangle with Corners Rounded 12">
            <a:extLst>
              <a:ext uri="{FF2B5EF4-FFF2-40B4-BE49-F238E27FC236}">
                <a16:creationId xmlns:a16="http://schemas.microsoft.com/office/drawing/2014/main" id="{938C9A3B-8C3B-C8F4-C89E-194F94720CC4}"/>
              </a:ext>
            </a:extLst>
          </p:cNvPr>
          <p:cNvSpPr/>
          <p:nvPr/>
        </p:nvSpPr>
        <p:spPr>
          <a:xfrm>
            <a:off x="627366" y="5093725"/>
            <a:ext cx="5102944" cy="1067273"/>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Αντικαταστήστε  την </a:t>
            </a:r>
            <a:r>
              <a:rPr lang="el-GR" sz="2400" b="1" dirty="0" err="1"/>
              <a:t>get</a:t>
            </a:r>
            <a:r>
              <a:rPr lang="en-US" sz="2400" b="1" dirty="0"/>
              <a:t>Year</a:t>
            </a:r>
            <a:r>
              <a:rPr lang="el-GR" sz="2400" b="1" dirty="0" err="1"/>
              <a:t>Temps</a:t>
            </a:r>
            <a:r>
              <a:rPr lang="el-GR" sz="2400" b="1" dirty="0"/>
              <a:t> με μια συνάρτηση με όνομα </a:t>
            </a:r>
            <a:r>
              <a:rPr lang="el-GR" sz="2400" b="1" dirty="0" err="1">
                <a:latin typeface="Courier New" panose="02070309020205020404" pitchFamily="49" charset="0"/>
                <a:cs typeface="Courier New" panose="02070309020205020404" pitchFamily="49" charset="0"/>
              </a:rPr>
              <a:t>initialize</a:t>
            </a:r>
            <a:r>
              <a:rPr lang="en-US" sz="2400" b="1" dirty="0">
                <a:latin typeface="Courier New" panose="02070309020205020404" pitchFamily="49" charset="0"/>
                <a:cs typeface="Courier New" panose="02070309020205020404" pitchFamily="49" charset="0"/>
              </a:rPr>
              <a:t>Year</a:t>
            </a:r>
            <a:r>
              <a:rPr lang="el-GR" sz="2400" b="1" dirty="0" err="1">
                <a:latin typeface="Courier New" panose="02070309020205020404" pitchFamily="49" charset="0"/>
                <a:cs typeface="Courier New" panose="02070309020205020404" pitchFamily="49" charset="0"/>
              </a:rPr>
              <a:t>Temps</a:t>
            </a:r>
            <a:endParaRPr lang="el-GR" sz="2400" b="1" dirty="0">
              <a:solidFill>
                <a:schemeClr val="bg1"/>
              </a:solidFill>
            </a:endParaRPr>
          </a:p>
        </p:txBody>
      </p:sp>
    </p:spTree>
    <p:extLst>
      <p:ext uri="{BB962C8B-B14F-4D97-AF65-F5344CB8AC3E}">
        <p14:creationId xmlns:p14="http://schemas.microsoft.com/office/powerpoint/2010/main" val="343365419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3567B-5737-DAFE-DF29-7F108443C33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E89B3FE4-711D-A88B-C0C9-794B13DC180A}"/>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r>
              <a:rPr lang="en-US" b="1" dirty="0">
                <a:solidFill>
                  <a:srgbClr val="F9853D"/>
                </a:solidFill>
                <a:latin typeface="Bahnschrift" panose="020B0502040204020203" pitchFamily="34" charset="0"/>
              </a:rPr>
              <a:t> V3</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7.14 Ανάπτυξη πηγαίου κώδικα </a:t>
            </a:r>
            <a:r>
              <a:rPr lang="en-US" sz="3100" b="1" dirty="0">
                <a:solidFill>
                  <a:srgbClr val="F9853D"/>
                </a:solidFill>
                <a:latin typeface="Bahnschrift" panose="020B0502040204020203" pitchFamily="34" charset="0"/>
              </a:rPr>
              <a:t>– V3</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D212AFA1-BB21-467A-5142-BD0DD3BE34A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F6ECD15D-0E29-8B79-9036-085800E2B286}"/>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32884AFF-B0B4-998C-E8D6-4B677F5738B5}"/>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F91AB0C7-ED07-3DA2-A0EA-EA5A126FE2D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655F05E-6247-078B-A825-23AA519E2DE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33</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CE25C9BC-558D-CA6D-D209-00A1384596A9}"/>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sp>
        <p:nvSpPr>
          <p:cNvPr id="5" name="Speech Bubble: Rectangle with Corners Rounded 4">
            <a:extLst>
              <a:ext uri="{FF2B5EF4-FFF2-40B4-BE49-F238E27FC236}">
                <a16:creationId xmlns:a16="http://schemas.microsoft.com/office/drawing/2014/main" id="{A92C3255-99E7-61A4-FFA9-AFF714D1CBC1}"/>
              </a:ext>
            </a:extLst>
          </p:cNvPr>
          <p:cNvSpPr/>
          <p:nvPr/>
        </p:nvSpPr>
        <p:spPr>
          <a:xfrm>
            <a:off x="4911210" y="2500362"/>
            <a:ext cx="6635135" cy="742298"/>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Χρησιμοποιείστε πίνακα τριών διαστάσεων για την αποθήκευση των ΜΗΘ. </a:t>
            </a:r>
          </a:p>
        </p:txBody>
      </p:sp>
      <p:pic>
        <p:nvPicPr>
          <p:cNvPr id="7" name="Picture 6">
            <a:extLst>
              <a:ext uri="{FF2B5EF4-FFF2-40B4-BE49-F238E27FC236}">
                <a16:creationId xmlns:a16="http://schemas.microsoft.com/office/drawing/2014/main" id="{63C11CD8-8FE3-D2D7-72F6-977E5C2D6EFA}"/>
              </a:ext>
            </a:extLst>
          </p:cNvPr>
          <p:cNvPicPr>
            <a:picLocks noChangeAspect="1"/>
          </p:cNvPicPr>
          <p:nvPr/>
        </p:nvPicPr>
        <p:blipFill>
          <a:blip r:embed="rId3"/>
          <a:stretch>
            <a:fillRect/>
          </a:stretch>
        </p:blipFill>
        <p:spPr>
          <a:xfrm>
            <a:off x="140669" y="2575035"/>
            <a:ext cx="3310454" cy="2437360"/>
          </a:xfrm>
          <a:prstGeom prst="rect">
            <a:avLst/>
          </a:prstGeom>
        </p:spPr>
      </p:pic>
      <p:sp>
        <p:nvSpPr>
          <p:cNvPr id="9" name="Content Placeholder 2">
            <a:extLst>
              <a:ext uri="{FF2B5EF4-FFF2-40B4-BE49-F238E27FC236}">
                <a16:creationId xmlns:a16="http://schemas.microsoft.com/office/drawing/2014/main" id="{BC440600-8637-C38A-3870-7848347B671B}"/>
              </a:ext>
            </a:extLst>
          </p:cNvPr>
          <p:cNvSpPr txBox="1">
            <a:spLocks/>
          </p:cNvSpPr>
          <p:nvPr/>
        </p:nvSpPr>
        <p:spPr bwMode="auto">
          <a:xfrm>
            <a:off x="-1" y="1028121"/>
            <a:ext cx="12191999" cy="1355984"/>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kern="0" dirty="0">
                <a:solidFill>
                  <a:srgbClr val="000000"/>
                </a:solidFill>
                <a:latin typeface="Tahoma"/>
              </a:rPr>
              <a:t>Version2 [2Dim]</a:t>
            </a:r>
          </a:p>
          <a:p>
            <a:pPr marL="0" indent="0">
              <a:buClr>
                <a:srgbClr val="3333CC"/>
              </a:buClr>
              <a:buNone/>
              <a:defRPr/>
            </a:pPr>
            <a:r>
              <a:rPr lang="el-GR" sz="2000" kern="0" dirty="0">
                <a:solidFill>
                  <a:srgbClr val="000000"/>
                </a:solidFill>
                <a:latin typeface="Tahoma"/>
              </a:rPr>
              <a:t>Αξιοποιεί  πίνακα τριών διαστάσεων (ΜΗΘ μιας ακολουθίας ετών).  Διαμορφώστε τις αρχικές τιμές που θα δώσετε στα στοιχεία του πίνακα  έτσι ώστε να σχετίζονται με τη θέση του στοιχείου στον πίνακα (π.χ. </a:t>
            </a:r>
            <a:r>
              <a:rPr lang="el-GR" sz="2000" kern="0" dirty="0" err="1">
                <a:solidFill>
                  <a:srgbClr val="000000"/>
                </a:solidFill>
                <a:latin typeface="Tahoma"/>
              </a:rPr>
              <a:t>yymmdd</a:t>
            </a:r>
            <a:r>
              <a:rPr lang="el-GR" sz="2000" kern="0" dirty="0">
                <a:solidFill>
                  <a:srgbClr val="000000"/>
                </a:solidFill>
                <a:latin typeface="Tahoma"/>
              </a:rPr>
              <a:t>). </a:t>
            </a:r>
          </a:p>
        </p:txBody>
      </p:sp>
      <p:sp>
        <p:nvSpPr>
          <p:cNvPr id="4" name="TextBox 3">
            <a:extLst>
              <a:ext uri="{FF2B5EF4-FFF2-40B4-BE49-F238E27FC236}">
                <a16:creationId xmlns:a16="http://schemas.microsoft.com/office/drawing/2014/main" id="{11D080F7-828B-F46B-C21F-36F2FC7CDD47}"/>
              </a:ext>
            </a:extLst>
          </p:cNvPr>
          <p:cNvSpPr txBox="1"/>
          <p:nvPr/>
        </p:nvSpPr>
        <p:spPr>
          <a:xfrm>
            <a:off x="3520398" y="3407808"/>
            <a:ext cx="8530933" cy="1569660"/>
          </a:xfrm>
          <a:prstGeom prst="rect">
            <a:avLst/>
          </a:prstGeom>
          <a:solidFill>
            <a:srgbClr val="92D050"/>
          </a:solidFill>
        </p:spPr>
        <p:txBody>
          <a:bodyPr wrap="square" rtlCol="0">
            <a:spAutoFit/>
          </a:bodyPr>
          <a:lstStyle/>
          <a:p>
            <a:r>
              <a:rPr lang="el-GR" sz="2400" dirty="0"/>
              <a:t>Υλοποιείστε τις συναρτήσεις: </a:t>
            </a:r>
          </a:p>
          <a:p>
            <a:r>
              <a:rPr lang="el-GR" sz="2400" dirty="0"/>
              <a:t>α) απόδοσης τιμών στα στοιχεία του πίνακα από τη βασική είσοδο (</a:t>
            </a:r>
            <a:r>
              <a:rPr lang="el-GR" sz="2400" b="1" dirty="0" err="1"/>
              <a:t>getTemps</a:t>
            </a:r>
            <a:r>
              <a:rPr lang="el-GR" sz="2400" dirty="0"/>
              <a:t>), και, </a:t>
            </a:r>
          </a:p>
          <a:p>
            <a:r>
              <a:rPr lang="el-GR" sz="2400" dirty="0"/>
              <a:t>β)  εμφάνισης των τιμών των στοιχείων του (</a:t>
            </a:r>
            <a:r>
              <a:rPr lang="el-GR" sz="2400" b="1" dirty="0" err="1"/>
              <a:t>printTemps</a:t>
            </a:r>
            <a:r>
              <a:rPr lang="el-GR" sz="2400" dirty="0"/>
              <a:t>). </a:t>
            </a:r>
          </a:p>
        </p:txBody>
      </p:sp>
      <p:sp>
        <p:nvSpPr>
          <p:cNvPr id="12" name="Speech Bubble: Rectangle with Corners Rounded 11">
            <a:extLst>
              <a:ext uri="{FF2B5EF4-FFF2-40B4-BE49-F238E27FC236}">
                <a16:creationId xmlns:a16="http://schemas.microsoft.com/office/drawing/2014/main" id="{71824D37-E267-04E8-3E25-7C785D0C53DC}"/>
              </a:ext>
            </a:extLst>
          </p:cNvPr>
          <p:cNvSpPr/>
          <p:nvPr/>
        </p:nvSpPr>
        <p:spPr>
          <a:xfrm>
            <a:off x="6820050" y="5031404"/>
            <a:ext cx="5102944" cy="1067273"/>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Στην δήλωση των συναρτήσεων δοκιμάστε τη σημειογραφία του πίνακα αλλά και αυτή του δείκτη. </a:t>
            </a:r>
          </a:p>
        </p:txBody>
      </p:sp>
      <p:sp>
        <p:nvSpPr>
          <p:cNvPr id="13" name="Speech Bubble: Rectangle with Corners Rounded 12">
            <a:extLst>
              <a:ext uri="{FF2B5EF4-FFF2-40B4-BE49-F238E27FC236}">
                <a16:creationId xmlns:a16="http://schemas.microsoft.com/office/drawing/2014/main" id="{3310F59B-BDDA-594F-7EF8-DE56375EB7FB}"/>
              </a:ext>
            </a:extLst>
          </p:cNvPr>
          <p:cNvSpPr/>
          <p:nvPr/>
        </p:nvSpPr>
        <p:spPr>
          <a:xfrm>
            <a:off x="627366" y="5093725"/>
            <a:ext cx="5102944" cy="1067273"/>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Αντικαταστήστε  την </a:t>
            </a:r>
            <a:r>
              <a:rPr lang="el-GR" sz="2400" b="1" dirty="0" err="1"/>
              <a:t>getTemps</a:t>
            </a:r>
            <a:r>
              <a:rPr lang="el-GR" sz="2400" b="1" dirty="0"/>
              <a:t> με μια συνάρτηση με όνομα </a:t>
            </a:r>
            <a:r>
              <a:rPr lang="el-GR" sz="2400" b="1" dirty="0" err="1">
                <a:latin typeface="Courier New" panose="02070309020205020404" pitchFamily="49" charset="0"/>
                <a:cs typeface="Courier New" panose="02070309020205020404" pitchFamily="49" charset="0"/>
              </a:rPr>
              <a:t>initializeTemps</a:t>
            </a:r>
            <a:endParaRPr lang="el-GR" sz="2400" b="1" dirty="0">
              <a:solidFill>
                <a:schemeClr val="bg1"/>
              </a:solidFill>
            </a:endParaRPr>
          </a:p>
        </p:txBody>
      </p:sp>
    </p:spTree>
    <p:extLst>
      <p:ext uri="{BB962C8B-B14F-4D97-AF65-F5344CB8AC3E}">
        <p14:creationId xmlns:p14="http://schemas.microsoft.com/office/powerpoint/2010/main" val="406588373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D1D45-A372-B45A-0BE5-7A8A8D9607A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747DC39-3B01-9097-C2E6-8B6494F2D8E6}"/>
              </a:ext>
            </a:extLst>
          </p:cNvPr>
          <p:cNvSpPr>
            <a:spLocks noGrp="1"/>
          </p:cNvSpPr>
          <p:nvPr>
            <p:ph type="title"/>
          </p:nvPr>
        </p:nvSpPr>
        <p:spPr>
          <a:xfrm>
            <a:off x="0" y="0"/>
            <a:ext cx="12191999" cy="908050"/>
          </a:xfr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n-US" b="1" dirty="0" err="1">
                <a:solidFill>
                  <a:srgbClr val="F9853D"/>
                </a:solidFill>
                <a:latin typeface="Bahnschrift" panose="020B0502040204020203" pitchFamily="34" charset="0"/>
              </a:rPr>
              <a:t>TemperatureHandling</a:t>
            </a:r>
            <a:r>
              <a:rPr lang="en-US" b="1" dirty="0">
                <a:solidFill>
                  <a:srgbClr val="F9853D"/>
                </a:solidFill>
                <a:latin typeface="Bahnschrift" panose="020B0502040204020203" pitchFamily="34" charset="0"/>
              </a:rPr>
              <a:t> V</a:t>
            </a:r>
            <a:r>
              <a:rPr lang="el-GR" b="1" dirty="0">
                <a:solidFill>
                  <a:srgbClr val="F9853D"/>
                </a:solidFill>
                <a:latin typeface="Bahnschrift" panose="020B0502040204020203" pitchFamily="34" charset="0"/>
              </a:rPr>
              <a:t>4  (</a:t>
            </a:r>
            <a:r>
              <a:rPr lang="en-US" b="1" dirty="0">
                <a:solidFill>
                  <a:srgbClr val="FF0000"/>
                </a:solidFill>
                <a:latin typeface="Bahnschrift" panose="020B0502040204020203" pitchFamily="34" charset="0"/>
              </a:rPr>
              <a:t>rand</a:t>
            </a:r>
            <a:r>
              <a:rPr lang="en-US" b="1" dirty="0">
                <a:solidFill>
                  <a:srgbClr val="F9853D"/>
                </a:solidFill>
                <a:latin typeface="Bahnschrift" panose="020B0502040204020203" pitchFamily="34" charset="0"/>
              </a:rPr>
              <a:t>)</a:t>
            </a:r>
            <a:br>
              <a:rPr lang="el-GR" b="1" dirty="0">
                <a:solidFill>
                  <a:srgbClr val="F9853D"/>
                </a:solidFill>
                <a:latin typeface="Bahnschrift" panose="020B0502040204020203" pitchFamily="34" charset="0"/>
              </a:rPr>
            </a:br>
            <a:r>
              <a:rPr lang="el-GR" sz="3600" b="1" dirty="0">
                <a:solidFill>
                  <a:srgbClr val="F9853D"/>
                </a:solidFill>
                <a:latin typeface="Bahnschrift" panose="020B0502040204020203" pitchFamily="34" charset="0"/>
              </a:rPr>
              <a:t>(</a:t>
            </a:r>
            <a:r>
              <a:rPr lang="el-GR" sz="3100" b="1" dirty="0">
                <a:solidFill>
                  <a:srgbClr val="F9853D"/>
                </a:solidFill>
                <a:latin typeface="Bahnschrift" panose="020B0502040204020203" pitchFamily="34" charset="0"/>
              </a:rPr>
              <a:t>Δράση 7.15 Απόδοση αληθοφανών τιμών ΜΗΘ</a:t>
            </a:r>
            <a:r>
              <a:rPr lang="el-GR" sz="3600" b="1" dirty="0">
                <a:solidFill>
                  <a:srgbClr val="F9853D"/>
                </a:solidFill>
                <a:latin typeface="Bahnschrift" panose="020B0502040204020203" pitchFamily="34" charset="0"/>
              </a:rPr>
              <a:t>)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3561B71C-7208-E26E-4903-817D7B22EE1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4" name="Group 13">
            <a:extLst>
              <a:ext uri="{FF2B5EF4-FFF2-40B4-BE49-F238E27FC236}">
                <a16:creationId xmlns:a16="http://schemas.microsoft.com/office/drawing/2014/main" id="{BF5498FB-C6E0-134C-368E-9D6F43895D06}"/>
              </a:ext>
            </a:extLst>
          </p:cNvPr>
          <p:cNvGrpSpPr/>
          <p:nvPr/>
        </p:nvGrpSpPr>
        <p:grpSpPr>
          <a:xfrm>
            <a:off x="-1" y="6559909"/>
            <a:ext cx="12192001" cy="296742"/>
            <a:chOff x="-1" y="6559909"/>
            <a:chExt cx="12192001" cy="296742"/>
          </a:xfrm>
        </p:grpSpPr>
        <p:sp>
          <p:nvSpPr>
            <p:cNvPr id="10" name="Rectangle 14">
              <a:extLst>
                <a:ext uri="{FF2B5EF4-FFF2-40B4-BE49-F238E27FC236}">
                  <a16:creationId xmlns:a16="http://schemas.microsoft.com/office/drawing/2014/main" id="{CCC2A52B-AD7C-F70A-77A2-D71D65B7D79A}"/>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519E2DB-1E30-169D-485B-43DDF7257EC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56584F8-D97B-A914-DD9A-7B9D82A1331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34</a:t>
              </a:fld>
              <a:endParaRPr lang="en-US" sz="1200" dirty="0">
                <a:latin typeface="Bahnschrift Light" panose="020B0502040204020203" pitchFamily="34" charset="0"/>
                <a:cs typeface="Arial" pitchFamily="34" charset="0"/>
              </a:endParaRPr>
            </a:p>
          </p:txBody>
        </p:sp>
      </p:grpSp>
      <p:sp>
        <p:nvSpPr>
          <p:cNvPr id="6" name="Θέση υποσέλιδου 4">
            <a:extLst>
              <a:ext uri="{FF2B5EF4-FFF2-40B4-BE49-F238E27FC236}">
                <a16:creationId xmlns:a16="http://schemas.microsoft.com/office/drawing/2014/main" id="{6D09E995-4A42-ABD1-2B80-1472A41969A8}"/>
              </a:ext>
            </a:extLst>
          </p:cNvPr>
          <p:cNvSpPr txBox="1">
            <a:spLocks/>
          </p:cNvSpPr>
          <p:nvPr/>
        </p:nvSpPr>
        <p:spPr>
          <a:xfrm>
            <a:off x="3719657" y="6633765"/>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Algorithm</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Abstraction</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Pointer Arithmetic</a:t>
            </a:r>
          </a:p>
          <a:p>
            <a:endParaRPr lang="el-GR" sz="1100" dirty="0">
              <a:solidFill>
                <a:schemeClr val="tx1"/>
              </a:solidFill>
              <a:latin typeface="Bahnschrift" panose="020B0502040204020203" pitchFamily="34" charset="0"/>
            </a:endParaRPr>
          </a:p>
        </p:txBody>
      </p:sp>
      <p:pic>
        <p:nvPicPr>
          <p:cNvPr id="7" name="Picture 6">
            <a:extLst>
              <a:ext uri="{FF2B5EF4-FFF2-40B4-BE49-F238E27FC236}">
                <a16:creationId xmlns:a16="http://schemas.microsoft.com/office/drawing/2014/main" id="{2BFF5CB4-C29F-2C43-E9BD-61DF613D362C}"/>
              </a:ext>
            </a:extLst>
          </p:cNvPr>
          <p:cNvPicPr>
            <a:picLocks noChangeAspect="1"/>
          </p:cNvPicPr>
          <p:nvPr/>
        </p:nvPicPr>
        <p:blipFill>
          <a:blip r:embed="rId3"/>
          <a:stretch>
            <a:fillRect/>
          </a:stretch>
        </p:blipFill>
        <p:spPr>
          <a:xfrm>
            <a:off x="140668" y="3313354"/>
            <a:ext cx="4205757" cy="3096537"/>
          </a:xfrm>
          <a:prstGeom prst="rect">
            <a:avLst/>
          </a:prstGeom>
        </p:spPr>
      </p:pic>
      <p:sp>
        <p:nvSpPr>
          <p:cNvPr id="9" name="Content Placeholder 2">
            <a:extLst>
              <a:ext uri="{FF2B5EF4-FFF2-40B4-BE49-F238E27FC236}">
                <a16:creationId xmlns:a16="http://schemas.microsoft.com/office/drawing/2014/main" id="{01B61047-E739-6B7A-F743-BA0E3633BA51}"/>
              </a:ext>
            </a:extLst>
          </p:cNvPr>
          <p:cNvSpPr txBox="1">
            <a:spLocks/>
          </p:cNvSpPr>
          <p:nvPr/>
        </p:nvSpPr>
        <p:spPr bwMode="auto">
          <a:xfrm>
            <a:off x="1" y="1045303"/>
            <a:ext cx="12191999" cy="2080962"/>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400" b="1" kern="0" dirty="0">
                <a:solidFill>
                  <a:srgbClr val="000000"/>
                </a:solidFill>
                <a:latin typeface="Tahoma"/>
              </a:rPr>
              <a:t>Δράση 7.15 Απόδοση αληθοφανών τιμών ΜΗΘ</a:t>
            </a:r>
          </a:p>
          <a:p>
            <a:pPr marL="0" indent="0">
              <a:buClr>
                <a:srgbClr val="3333CC"/>
              </a:buClr>
              <a:buNone/>
              <a:defRPr/>
            </a:pPr>
            <a:r>
              <a:rPr lang="el-GR" sz="2400" kern="0" dirty="0">
                <a:solidFill>
                  <a:srgbClr val="000000"/>
                </a:solidFill>
                <a:latin typeface="Tahoma"/>
              </a:rPr>
              <a:t>Όταν θα έχετε  εξοικειωθεί με τη σημειογραφία των πολυδιάστατων πινάκων και θα είστε σίγουροι πως ο κώδικας σας αναφέρεται στο στοιχείο του πίνακα που εσείς θέλετε, προχωρήστε στην ανάπτυξη μιας επόμενης έκδοσης στην οποία θα αποδίδετε τιμές στις ΜΗΘ που είναι αληθοφανείς. </a:t>
            </a:r>
            <a:endParaRPr lang="en-US" sz="2400" kern="0" dirty="0">
              <a:solidFill>
                <a:srgbClr val="000000"/>
              </a:solidFill>
              <a:latin typeface="Tahoma"/>
            </a:endParaRPr>
          </a:p>
        </p:txBody>
      </p:sp>
      <p:sp>
        <p:nvSpPr>
          <p:cNvPr id="12" name="Speech Bubble: Rectangle with Corners Rounded 11">
            <a:extLst>
              <a:ext uri="{FF2B5EF4-FFF2-40B4-BE49-F238E27FC236}">
                <a16:creationId xmlns:a16="http://schemas.microsoft.com/office/drawing/2014/main" id="{F3AD48FE-69B2-A459-363E-FA7BDC802A95}"/>
              </a:ext>
            </a:extLst>
          </p:cNvPr>
          <p:cNvSpPr/>
          <p:nvPr/>
        </p:nvSpPr>
        <p:spPr>
          <a:xfrm>
            <a:off x="5483099" y="3313354"/>
            <a:ext cx="5102944" cy="926603"/>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Αξιοποιήστε τη συνάρτηση τυχαίων αριθμών </a:t>
            </a:r>
            <a:r>
              <a:rPr lang="el-GR" sz="2800" b="1" dirty="0" err="1">
                <a:solidFill>
                  <a:srgbClr val="FF0000"/>
                </a:solidFill>
              </a:rPr>
              <a:t>rand</a:t>
            </a:r>
            <a:r>
              <a:rPr lang="el-GR" sz="2800" b="1" dirty="0">
                <a:solidFill>
                  <a:schemeClr val="bg1"/>
                </a:solidFill>
              </a:rPr>
              <a:t>. </a:t>
            </a:r>
          </a:p>
        </p:txBody>
      </p:sp>
      <p:sp>
        <p:nvSpPr>
          <p:cNvPr id="13" name="Speech Bubble: Rectangle with Corners Rounded 12">
            <a:extLst>
              <a:ext uri="{FF2B5EF4-FFF2-40B4-BE49-F238E27FC236}">
                <a16:creationId xmlns:a16="http://schemas.microsoft.com/office/drawing/2014/main" id="{B361CF78-4EA3-C128-77AF-C2D155862E9D}"/>
              </a:ext>
            </a:extLst>
          </p:cNvPr>
          <p:cNvSpPr/>
          <p:nvPr/>
        </p:nvSpPr>
        <p:spPr>
          <a:xfrm>
            <a:off x="4961041" y="4401196"/>
            <a:ext cx="6147060" cy="1855978"/>
          </a:xfrm>
          <a:prstGeom prst="wedgeRoundRectCallout">
            <a:avLst>
              <a:gd name="adj1" fmla="val -58747"/>
              <a:gd name="adj2" fmla="val 6228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Σε επόμενη φάση λάβετε υπόψη σας και τον μήνα για τη διαμόρφωση της τιμής της ΜΗΘ. </a:t>
            </a:r>
          </a:p>
          <a:p>
            <a:pPr algn="ctr"/>
            <a:r>
              <a:rPr lang="el-GR" sz="2400" b="1" dirty="0">
                <a:solidFill>
                  <a:schemeClr val="bg1"/>
                </a:solidFill>
              </a:rPr>
              <a:t>Επιχειρήστε το είναι μια πολύ ενδιαφέρουσα άσκηση. </a:t>
            </a:r>
          </a:p>
        </p:txBody>
      </p:sp>
    </p:spTree>
    <p:extLst>
      <p:ext uri="{BB962C8B-B14F-4D97-AF65-F5344CB8AC3E}">
        <p14:creationId xmlns:p14="http://schemas.microsoft.com/office/powerpoint/2010/main" val="30886226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21314</TotalTime>
  <Words>2888</Words>
  <Application>Microsoft Office PowerPoint</Application>
  <PresentationFormat>Widescreen</PresentationFormat>
  <Paragraphs>379</Paragraphs>
  <Slides>34</Slides>
  <Notes>34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34</vt:i4>
      </vt:variant>
    </vt:vector>
  </HeadingPairs>
  <TitlesOfParts>
    <vt:vector size="45" baseType="lpstr">
      <vt:lpstr>Arial</vt:lpstr>
      <vt:lpstr>Bahnschrift</vt:lpstr>
      <vt:lpstr>Bahnschrift Light</vt:lpstr>
      <vt:lpstr>Calibri</vt:lpstr>
      <vt:lpstr>Calibri Light</vt:lpstr>
      <vt:lpstr>Courier New</vt:lpstr>
      <vt:lpstr>Tahoma</vt:lpstr>
      <vt:lpstr>Times New Roman</vt:lpstr>
      <vt:lpstr>Wingdings</vt:lpstr>
      <vt:lpstr>Προσαρμοσμένη σχεδίαση</vt:lpstr>
      <vt:lpstr>Θέμα του Office</vt:lpstr>
      <vt:lpstr>PowerPoint Presentation</vt:lpstr>
      <vt:lpstr>Στόχος Ενότητας </vt:lpstr>
      <vt:lpstr>Η ενότητα </vt:lpstr>
      <vt:lpstr>Οργάνωση Διάλεξης</vt:lpstr>
      <vt:lpstr>Δραστηριότητα 7.3  - MinAndMax</vt:lpstr>
      <vt:lpstr>Hands-on MinAndMax  (Δράση 7-8 Πρώτα βήματα της διαδικασίας ανάπτυξης) </vt:lpstr>
      <vt:lpstr>MinAndMax (Δράση 7-8 Πρώτα βήματα της διαδικασίας ανάπτυξης) </vt:lpstr>
      <vt:lpstr>MinAndMax - Λεκτική Περιγραφή </vt:lpstr>
      <vt:lpstr>MinAndMax – Source Code V1</vt:lpstr>
      <vt:lpstr>MinAndMax – Source Code V2</vt:lpstr>
      <vt:lpstr>MinAndMax – Source Code V3</vt:lpstr>
      <vt:lpstr>MinAndMax – Αριθμητική Δεικτών (pointer arithmetic)</vt:lpstr>
      <vt:lpstr>MinAndMax – Source Code V4</vt:lpstr>
      <vt:lpstr>MinAndMax – Source Code V5</vt:lpstr>
      <vt:lpstr>updateMinAndMax – 1η προσπάθεια</vt:lpstr>
      <vt:lpstr>updateMinAndMax – 2η προσπάθεια</vt:lpstr>
      <vt:lpstr>Τεχνικές για το πέρασμα ορισμάτων</vt:lpstr>
      <vt:lpstr>Οργάνωση Διάλεξης</vt:lpstr>
      <vt:lpstr>Δραστηριότητα 7.4  - TemperatureHandling</vt:lpstr>
      <vt:lpstr>Hands-on TemperatureHandling (Δράση 7.11 Βασική λειτουργικότητα προγράμματος) </vt:lpstr>
      <vt:lpstr>TemperatureHandling - Βασική λειτουργικότητα 1/2 </vt:lpstr>
      <vt:lpstr>TemperatureHandling - Βασική λειτουργικότητα 2/2 </vt:lpstr>
      <vt:lpstr>Hands-on TemperatureHandling (Δράση 7.12 Οργάνωση πληροφορίας) </vt:lpstr>
      <vt:lpstr>TemperatureHandling - Οργάνωση πληροφορίας 1/3</vt:lpstr>
      <vt:lpstr>TemperatureHandling - Οργάνωση πληροφορίας 2/3</vt:lpstr>
      <vt:lpstr>TemperatureHandling - Οργάνωση πληροφορίας 3/3</vt:lpstr>
      <vt:lpstr>Hands-on TemperatureHandling (Δράση 7.13 Ορισμός πλάνου αντιμετώπισης της πολυπλοκότητας) </vt:lpstr>
      <vt:lpstr>TemperatureHandling  Πρόταση σταδιακής ανάπτυξης  1/2 </vt:lpstr>
      <vt:lpstr>TemperatureHandling  Πρόταση σταδιακής ανάπτυξης  2/2 </vt:lpstr>
      <vt:lpstr>Hands-on TemperatureHandling V1 (Δράση 7.14 Ανάπτυξη πηγαίου κώδικα – V1) </vt:lpstr>
      <vt:lpstr>TemperatureHandling - initializeMonthTemps </vt:lpstr>
      <vt:lpstr>Hands-on TemperatureHandling V2 (Δράση 7.14 Ανάπτυξη πηγαίου κώδικα – V2) </vt:lpstr>
      <vt:lpstr>Hands-on TemperatureHandling V3 (Δράση 7.14 Ανάπτυξη πηγαίου κώδικα – V3) </vt:lpstr>
      <vt:lpstr>Hands-on TemperatureHandling V4  (rand) (Δράση 7.15 Απόδοση αληθοφανών τιμών ΜΗΘ)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OOP-Introduction</dc:title>
  <dc:creator>Kleanthis Thramboulidis</dc:creator>
  <cp:lastModifiedBy>Kleanthis Thramboulidis</cp:lastModifiedBy>
  <cp:revision>96</cp:revision>
  <cp:lastPrinted>2023-02-24T15:57:04Z</cp:lastPrinted>
  <dcterms:created xsi:type="dcterms:W3CDTF">2020-03-13T12:21:17Z</dcterms:created>
  <dcterms:modified xsi:type="dcterms:W3CDTF">2025-10-14T19:28:34Z</dcterms:modified>
</cp:coreProperties>
</file>