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3"/>
  </p:notesMasterIdLst>
  <p:sldIdLst>
    <p:sldId id="262" r:id="rId3"/>
    <p:sldId id="818" r:id="rId4"/>
    <p:sldId id="822" r:id="rId5"/>
    <p:sldId id="826" r:id="rId6"/>
    <p:sldId id="823" r:id="rId7"/>
    <p:sldId id="825" r:id="rId8"/>
    <p:sldId id="824" r:id="rId9"/>
    <p:sldId id="828" r:id="rId10"/>
    <p:sldId id="827" r:id="rId11"/>
    <p:sldId id="829" r:id="rId12"/>
    <p:sldId id="830" r:id="rId13"/>
    <p:sldId id="831" r:id="rId14"/>
    <p:sldId id="832" r:id="rId15"/>
    <p:sldId id="833" r:id="rId16"/>
    <p:sldId id="834" r:id="rId17"/>
    <p:sldId id="836" r:id="rId18"/>
    <p:sldId id="837" r:id="rId19"/>
    <p:sldId id="839" r:id="rId20"/>
    <p:sldId id="835" r:id="rId21"/>
    <p:sldId id="838" r:id="rId2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58" autoAdjust="0"/>
    <p:restoredTop sz="93969" autoAdjust="0"/>
  </p:normalViewPr>
  <p:slideViewPr>
    <p:cSldViewPr snapToGrid="0">
      <p:cViewPr varScale="1">
        <p:scale>
          <a:sx n="67" d="100"/>
          <a:sy n="67" d="100"/>
        </p:scale>
        <p:origin x="47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E02B-7508-585E-4F49-009EAA43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B95EB3-1D7B-031E-2AA8-257488295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DB813BF-C23F-3E4D-900A-75A69D377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DD72C6-8023-8803-518A-C93D5F36A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21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DE23-4703-0D09-F7FD-B53EBCD3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4EA007E-0955-EB39-593C-63135B7B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035F853-1C3C-9864-FAB8-3F5825FB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EDBCB8F-1A44-2FD8-5F19-EF2AA7A2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7403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E055-C2B5-6815-C835-471180E1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C16CA5F-2671-316E-5A2B-DD4DCB0C0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A9F1218-B28E-285B-5CBE-00137E807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7276CAD-76D6-C3E4-3672-CAC6D21C6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9703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4010-604E-A9C4-08FF-6E8F43E3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18FE744-AF5F-2E73-FE34-DCBCE45D4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0A26F44-E2F0-0922-09ED-136D46DBF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B5A2B3D-D097-919C-65C8-DEBDF474B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6430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901C-8FB9-D266-510B-42ECCEEFB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3A9A391-08D6-91F7-567A-714F9C3E8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74F34D5-D057-272C-1666-8C5D9B655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D467CC2-CB42-454C-4BDE-EB9FBFAA5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2446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A386-40F8-6A1E-A51F-023F0E3F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E278985-7F4D-2B81-C56E-2B776D3D5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281B127-8818-29AF-A5B7-823F4D29C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2EA2DAA-7328-446B-A035-0879C9430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7252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594B-D2EE-30F5-C675-25DAC648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5A40484-7C3F-4BA4-EBF3-B533DD3BB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411BBA0-AE56-E9B0-282F-C28905769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543C4AC-2ED2-8994-8B0B-766154BB2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59675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F978-7FF5-C084-2509-880B6B48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BE7765E-A423-7EF3-ADB1-DD815E58A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0DABDFE-94FC-305F-5D52-3406AA29B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D408BA5-09C4-64A9-EEA0-9D8875496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77965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DA376-CA9A-0AE4-1A2C-E5BB68AB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20B150D-BE69-2A8C-FFA7-2017F468B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EAA0141-FD62-7D77-0F16-5700362AF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3C59571-A32A-FB2E-ACB5-972BF125C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04483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F3FB-C6BC-A34E-5898-360FDE49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70A0FBB-B1BF-34A3-E6CC-02994672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E4D9A7F-FA6D-997F-4512-43AFC794C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521E355-2E82-5699-C024-1E0494D12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9474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46D0-5747-C611-BA34-80B25193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5D919AF-10E6-B7DC-1C81-9921ADAA7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9B5BAA2-E4AC-CF0D-2154-FD085E929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4F89B6A-F321-2573-90F1-D25517EB4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33061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23C33-066F-3289-F391-EEBED171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FB8B0B0-3579-E990-950D-C8119AB58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57E3CB1-70E9-0583-9E35-A01D65335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49F6CA7-3768-AF96-43C4-BDE2455C6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70944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3B48F-9F1C-D311-8AB2-81BC638D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75D6B83-0202-ABD3-5906-538EA90D6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47AA593-6AEF-B2BC-5A1C-B17C4C27C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75130D5-82D3-24F3-C960-A8B28B42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30942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CF0F7-AC64-8931-0D60-6AABB13C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F31EF30-46E5-7F26-AFEA-AF607728E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9EB014A-B3D5-AF18-AA76-442B7E4A9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8C4EE36-9C37-DE4A-9B10-773AA573E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0135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2572-A0ED-2AE4-F76A-3B6172E8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20D4BBF-B263-2C50-6ADB-2EB63CCB5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3C100D8-8279-9732-3596-F67CD6A8C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5D0F1BC-8C31-9190-F16D-A6C1DC62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36934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A1BB-4267-D3B9-5511-45B46F57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241903B-0C52-0E3E-97CB-D41935B6F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58677D6-41AF-CBCD-2F6B-882FF8B00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4BCB1DB-0E8A-6A4D-F6F3-3EC748A78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5087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70EBE-07EB-7C99-5475-1D3B3516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EC342EF-1B31-3DC9-D755-D012D90AF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AEF6269-1497-C5AF-E1A5-402811D14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CA53A43-9F00-C5D9-FC46-0A240BA14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4666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37D9-B79B-A92E-CD3C-40D89F57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BDF5EA7-98D7-39D1-FDD6-F5950B6E3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622DA97-7E69-7124-097C-855FC767E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7945D99-F7E9-9CCD-273A-1415D4FA1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10449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84F3-3E2B-367B-945D-A87F54D0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609B4E0-7DF6-3396-6492-A72B84062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F4985BE-0A3A-CAA5-95E3-806446A6A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67218F5-C1A8-D835-D801-A2EDD4137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9394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i2art-of-programming/ho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codeblocks.org/docs/main_codeblocks_en.html" TargetMode="External"/><Relationship Id="rId4" Type="http://schemas.openxmlformats.org/officeDocument/2006/relationships/hyperlink" Target="https://www.codeblocks.or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ramboulidisKleanthis/IntroToTheArtOfProgramming/blob/2e4a107b5d93a9320cfdf9eb1dcf6df7a856236e/docs/DevCppAndGoogleDrive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6"/>
            <a:ext cx="8865031" cy="7204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Διαδικασία Ανάπτυξης Προγράμματος </a:t>
            </a:r>
            <a:endParaRPr lang="en-US" sz="4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A335B1-B2F8-DE68-2B3E-33AC0102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48" y="2413718"/>
            <a:ext cx="7455918" cy="4253847"/>
          </a:xfrm>
          <a:prstGeom prst="rect">
            <a:avLst/>
          </a:prstGeom>
        </p:spPr>
      </p:pic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637466" y="2926575"/>
            <a:ext cx="3492286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Program Development Process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61097E-8006-0541-12B4-E6497C7F9161}"/>
              </a:ext>
            </a:extLst>
          </p:cNvPr>
          <p:cNvSpPr txBox="1"/>
          <p:nvPr/>
        </p:nvSpPr>
        <p:spPr>
          <a:xfrm flipH="1">
            <a:off x="4543997" y="2169872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479ED-386A-B6D6-E791-099FEBECB9C5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5"/>
              </a:rPr>
              <a:t>Μια Εισαγωγή στην Τέχνη του Προγραμματισμού</a:t>
            </a:r>
            <a:endParaRPr lang="en-GB" dirty="0"/>
          </a:p>
        </p:txBody>
      </p:sp>
      <p:sp>
        <p:nvSpPr>
          <p:cNvPr id="5" name="Υπότιτλος 2">
            <a:extLst>
              <a:ext uri="{FF2B5EF4-FFF2-40B4-BE49-F238E27FC236}">
                <a16:creationId xmlns:a16="http://schemas.microsoft.com/office/drawing/2014/main" id="{1955AEC2-B614-6B9C-1DF8-BFE884496DC9}"/>
              </a:ext>
            </a:extLst>
          </p:cNvPr>
          <p:cNvSpPr txBox="1">
            <a:spLocks/>
          </p:cNvSpPr>
          <p:nvPr/>
        </p:nvSpPr>
        <p:spPr>
          <a:xfrm>
            <a:off x="-16239" y="-1461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35E-13B9-9C1B-C13D-3FFB3D5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28A9634-4676-80EF-67E2-A6D4D1470B1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B1C13C6-17D1-7C66-983F-D7B6E57C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Ενότητας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F0DD3F0-F993-07FA-CF3E-EC2B3B0D151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05CF8-C118-C650-A095-0EE349F5B94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22D7C49-9DEB-8E6A-F5E3-97DFE5BE0160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6A2B-F56B-26DB-A6D1-1ECEEB4E2B4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9FF6B5-F658-AC49-6620-E2471A1FEB4F}"/>
              </a:ext>
            </a:extLst>
          </p:cNvPr>
          <p:cNvSpPr txBox="1">
            <a:spLocks/>
          </p:cNvSpPr>
          <p:nvPr/>
        </p:nvSpPr>
        <p:spPr bwMode="auto">
          <a:xfrm>
            <a:off x="267816" y="947536"/>
            <a:ext cx="11092442" cy="2481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Clr>
                <a:srgbClr val="3333CC"/>
              </a:buClr>
              <a:buNone/>
              <a:defRPr/>
            </a:pPr>
            <a:r>
              <a:rPr lang="el-GR" kern="0" dirty="0">
                <a:solidFill>
                  <a:srgbClr val="000000"/>
                </a:solidFill>
                <a:latin typeface="Tahoma"/>
              </a:rPr>
              <a:t>Η ενότητα αποσκοπεί στην εξοικείωση με :</a:t>
            </a:r>
          </a:p>
          <a:p>
            <a:pPr>
              <a:buClr>
                <a:srgbClr val="3333CC"/>
              </a:buClr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τα βασικά στάδια της ανάπτυξης ενός προγράμματος, και</a:t>
            </a:r>
          </a:p>
          <a:p>
            <a:pPr lvl="0">
              <a:buClr>
                <a:srgbClr val="3333CC"/>
              </a:buClr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ένα Περιβάλλον Ανάπτυξης Εφαρμογών (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Integrated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Development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Environment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- IDE) για τη δημιουργία και εκτέλεση απλών προγραμμάτων σε γλώσσα C.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111B06-1E70-E8F2-34FB-B4873DAA7401}"/>
              </a:ext>
            </a:extLst>
          </p:cNvPr>
          <p:cNvSpPr txBox="1">
            <a:spLocks/>
          </p:cNvSpPr>
          <p:nvPr/>
        </p:nvSpPr>
        <p:spPr bwMode="auto">
          <a:xfrm>
            <a:off x="0" y="3777340"/>
            <a:ext cx="12191999" cy="248146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εισαγάγει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βασικές έννοιες όπως: προστακτικός προγραμματισμός, πρόγραμμα, πηγαίος και εκτελέσιμος κώδικας (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source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and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executable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code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).</a:t>
            </a:r>
          </a:p>
          <a:p>
            <a:pPr>
              <a:buClr>
                <a:srgbClr val="3333CC"/>
              </a:buClr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προτείνει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καλές πρακτικές οργάνωσης του αποθηκευτικού χώρου για την αποτελεσματική διαχείριση των Δραστηριοτήτων.</a:t>
            </a:r>
          </a:p>
          <a:p>
            <a:pPr>
              <a:buClr>
                <a:srgbClr val="3333CC"/>
              </a:buClr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καθοδηγεί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βήμα προς βήμα, στην ανάπτυξη ενός απλού προγράμματος σε C, χρησιμοποιώντας ως IDE το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CodeBlocks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</a:t>
            </a:r>
          </a:p>
          <a:p>
            <a:pPr>
              <a:buClr>
                <a:srgbClr val="3333CC"/>
              </a:buClr>
              <a:defRPr/>
            </a:pPr>
            <a:endParaRPr lang="el-GR" sz="24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710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2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28CF-E681-26C9-8D97-B3BCE1DF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18EF5EC-6240-08EF-09DC-3401690F5A6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11F938E-4720-BC45-BB9B-C3E2B87F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3-1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HelloWorld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CBA5E8F-CA46-4D89-4467-369B19EA55D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C4CF8-BA63-2A51-3CA2-CBDC54C9842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5A59BBD-EE30-4031-90D4-367C7219B324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C3B9D-3E44-1536-B2C1-AA08E650683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DE8881-1F28-FAD6-ECCC-15C2C20030EE}"/>
              </a:ext>
            </a:extLst>
          </p:cNvPr>
          <p:cNvSpPr txBox="1">
            <a:spLocks/>
          </p:cNvSpPr>
          <p:nvPr/>
        </p:nvSpPr>
        <p:spPr bwMode="auto">
          <a:xfrm>
            <a:off x="1" y="1005665"/>
            <a:ext cx="12191999" cy="29580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εμφάνισης στην οθόνη της φράσης «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Hello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World!».</a:t>
            </a: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i="1" kern="0" dirty="0">
                <a:solidFill>
                  <a:srgbClr val="000000"/>
                </a:solidFill>
                <a:latin typeface="Tahoma"/>
              </a:rPr>
              <a:t>Εναλλακτικά η Δραστηριότητα μπορεί να </a:t>
            </a:r>
            <a:r>
              <a:rPr lang="el-GR" sz="2400" i="1" kern="0" dirty="0" err="1">
                <a:solidFill>
                  <a:srgbClr val="000000"/>
                </a:solidFill>
                <a:latin typeface="Tahoma"/>
              </a:rPr>
              <a:t>περιγραφεί</a:t>
            </a:r>
            <a:r>
              <a:rPr lang="el-GR" sz="2400" i="1" kern="0" dirty="0">
                <a:solidFill>
                  <a:srgbClr val="000000"/>
                </a:solidFill>
                <a:latin typeface="Tahoma"/>
              </a:rPr>
              <a:t> όπως παρακάτω: </a:t>
            </a: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Αναπτύξτε ένα πρόγραμμα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με βάση το οποίο η Μηχανή θα εμφανίζει στην οθόνη τη φράση «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Hello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World!».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8C8E0-C453-C3C6-2726-C2B687E7F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56" y="4250094"/>
            <a:ext cx="7262875" cy="184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7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B87B-2002-8C42-BE6C-6587376E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EDB64C6-D1D8-27EA-CB01-0D779487C09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2DF3B3B-E15E-4577-181F-0CE9B995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To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πρόγραμμα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HelloWorld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6CBE143-138F-9C75-BE90-728FE691796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7EC93-7003-8A7B-9B8E-1159F086F4B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DEE665F-79FF-272E-34A7-9DE2D8ABAA57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BD94F-81AE-F3CF-F902-9A40B65F73B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CD21AB-5AE6-2727-E8CB-D7A92FDB4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5" y="758817"/>
            <a:ext cx="7598993" cy="5463139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00A2288-D09B-9AD7-D0A6-9E8B1FC77427}"/>
              </a:ext>
            </a:extLst>
          </p:cNvPr>
          <p:cNvSpPr/>
          <p:nvPr/>
        </p:nvSpPr>
        <p:spPr bwMode="auto">
          <a:xfrm>
            <a:off x="8346999" y="2036470"/>
            <a:ext cx="3289547" cy="3629543"/>
          </a:xfrm>
          <a:prstGeom prst="wedgeRoundRectCallout">
            <a:avLst>
              <a:gd name="adj1" fmla="val -65714"/>
              <a:gd name="adj2" fmla="val 66027"/>
              <a:gd name="adj3" fmla="val 16667"/>
            </a:avLst>
          </a:prstGeom>
          <a:solidFill>
            <a:srgbClr val="FFFF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sz="2400" dirty="0"/>
              <a:t>Ένα πολύ απλό παράδειγμα για: </a:t>
            </a: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l-GR" sz="2400" dirty="0"/>
              <a:t>να δείξουμε τα βασικά βήματα της διαδικασίας ανάπτυξης και </a:t>
            </a: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l-GR" sz="2400" dirty="0"/>
              <a:t>να</a:t>
            </a:r>
            <a:r>
              <a:rPr lang="en-US" sz="2400" dirty="0"/>
              <a:t> </a:t>
            </a:r>
            <a:r>
              <a:rPr lang="el-GR" sz="2400" dirty="0"/>
              <a:t>ελέγξουμε την εγκατάσταση του </a:t>
            </a:r>
            <a:r>
              <a:rPr lang="en-US" sz="2400" dirty="0"/>
              <a:t>IDE</a:t>
            </a:r>
            <a:r>
              <a:rPr lang="el-GR" sz="2400" dirty="0"/>
              <a:t>.</a:t>
            </a:r>
            <a:endParaRPr kumimoji="0" lang="en-GB" sz="2400" b="0" i="0" u="none" strike="noStrike" cap="none" normalizeH="0" baseline="0" dirty="0">
              <a:ln>
                <a:noFill/>
              </a:ln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07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E94D-F380-B6C6-3519-C1604CAA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532535F2-2843-103E-3490-4E4C239C9BD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D425543-32C7-9B31-2126-73915BDD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Βήματα Διαδικασίας Ανάπτυξης Προγράμματος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9A71A5C-F007-E85E-12D2-35CFFE25252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4AB5A-B92C-4FD1-58BF-EA9C729AE23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AFD9751-1E5E-C8E6-D0DE-4CB45E507B32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463B7-9EC0-A401-7030-7F6B8B7EA52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932D12-058A-BD6F-9ED1-810B3400A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90017"/>
              </p:ext>
            </p:extLst>
          </p:nvPr>
        </p:nvGraphicFramePr>
        <p:xfrm>
          <a:off x="479015" y="1425518"/>
          <a:ext cx="1670628" cy="4828325"/>
        </p:xfrm>
        <a:graphic>
          <a:graphicData uri="http://schemas.openxmlformats.org/drawingml/2006/table">
            <a:tbl>
              <a:tblPr firstRow="1" bandRow="1"/>
              <a:tblGrid>
                <a:gridCol w="1670628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600" dirty="0"/>
                        <a:t>Βήμα 1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2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11641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3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1224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4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1159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5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F6EA23-9057-DF39-23DA-ABC3D694C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882171"/>
              </p:ext>
            </p:extLst>
          </p:nvPr>
        </p:nvGraphicFramePr>
        <p:xfrm>
          <a:off x="2170003" y="1425518"/>
          <a:ext cx="9341640" cy="4846320"/>
        </p:xfrm>
        <a:graphic>
          <a:graphicData uri="http://schemas.openxmlformats.org/drawingml/2006/table">
            <a:tbl>
              <a:tblPr firstRow="1" bandRow="1"/>
              <a:tblGrid>
                <a:gridCol w="9341640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600" dirty="0"/>
                        <a:t>Γραφική αναπαράσταση διεργασίας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Λεκτική Περιγραφή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Μετατροπή Λεκτικής περιγραφής σε πηγαίο κώδικα. Δημιουργία </a:t>
                      </a:r>
                      <a:r>
                        <a:rPr lang="el-GR" sz="3600" dirty="0" err="1"/>
                        <a:t>project</a:t>
                      </a:r>
                      <a:endParaRPr lang="el-GR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Μετασχηματισμός πηγαίου κώδικα σε εκτελέσιμο (</a:t>
                      </a:r>
                      <a:r>
                        <a:rPr lang="el-GR" sz="3600" dirty="0" err="1"/>
                        <a:t>Build</a:t>
                      </a:r>
                      <a:r>
                        <a:rPr lang="el-GR" sz="3600" dirty="0"/>
                        <a:t>)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Εκτέλεση προγράμματος (</a:t>
                      </a:r>
                      <a:r>
                        <a:rPr lang="en-US" sz="3600" dirty="0"/>
                        <a:t>Run)</a:t>
                      </a:r>
                      <a:r>
                        <a:rPr lang="el-GR" sz="3600" dirty="0"/>
                        <a:t>, έλεγχος και διορθώσεις αν απαιτούνται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72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4502-B3D2-092B-8D96-121147E5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379BA6-BCA5-AC53-9F26-62D412CECF2D}"/>
              </a:ext>
            </a:extLst>
          </p:cNvPr>
          <p:cNvSpPr/>
          <p:nvPr/>
        </p:nvSpPr>
        <p:spPr>
          <a:xfrm>
            <a:off x="-1" y="4069861"/>
            <a:ext cx="12192001" cy="13698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895F5C30-5433-6D0E-7961-3A3F29C52552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EC3B37-D2C9-6B35-B55B-B4C0DEBD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Δημιουργία Λεκτικής Περιγραφής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A0F8B3A-8CA7-18A0-1511-B8022CBA348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71F34-0E1E-FBA4-BFD6-6C59606EC981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E582424-E831-6231-B807-23A49E0C1B89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285BC-89B7-27CD-05AB-EA378D6DE73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71628C0-8D7A-530C-E62D-FC0565A1A89A}"/>
              </a:ext>
            </a:extLst>
          </p:cNvPr>
          <p:cNvSpPr txBox="1">
            <a:spLocks/>
          </p:cNvSpPr>
          <p:nvPr/>
        </p:nvSpPr>
        <p:spPr bwMode="auto">
          <a:xfrm>
            <a:off x="1" y="1005665"/>
            <a:ext cx="12191999" cy="291319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Δημιουργούμε μια </a:t>
            </a: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ακολουθία προτάσεων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, σε </a:t>
            </a: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προστακτική μορφή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, οι οποίες προσδιορίζουν τις ενέργειες που πρέπει να κάνει μια οντότητα, πιθανόν άνθρωπος, και </a:t>
            </a: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τη σειρά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με την οποία πρέπει να τις εκτελέσει για να φέρει σε πέρας το έργο</a:t>
            </a:r>
            <a:r>
              <a:rPr lang="en-US" sz="2800" kern="0" dirty="0">
                <a:solidFill>
                  <a:srgbClr val="000000"/>
                </a:solidFill>
                <a:latin typeface="Tahoma"/>
              </a:rPr>
              <a:t>.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</a:t>
            </a:r>
            <a:endParaRPr lang="en-US" sz="28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28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Δεν απαιτούνται γνώσεις προγραμματισμού υπολογιστών.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9A859C-C557-EDFF-02E8-8C519CC57380}"/>
              </a:ext>
            </a:extLst>
          </p:cNvPr>
          <p:cNvSpPr txBox="1">
            <a:spLocks noChangeArrowheads="1"/>
          </p:cNvSpPr>
          <p:nvPr/>
        </p:nvSpPr>
        <p:spPr>
          <a:xfrm>
            <a:off x="140669" y="4703811"/>
            <a:ext cx="11910662" cy="7359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altLang="el-GR" sz="3600" b="1" dirty="0"/>
              <a:t>Εμφάνισε</a:t>
            </a:r>
            <a:r>
              <a:rPr lang="el-GR" altLang="el-GR" sz="3600" dirty="0"/>
              <a:t> στην οθόνη την έκφραση </a:t>
            </a:r>
            <a:r>
              <a:rPr lang="en-GB" altLang="el-GR" sz="3600" dirty="0">
                <a:solidFill>
                  <a:srgbClr val="0033CC"/>
                </a:solidFill>
                <a:latin typeface="Times New Roman" panose="02020603050405020304" pitchFamily="18" charset="0"/>
              </a:rPr>
              <a:t>HelloWorld</a:t>
            </a:r>
            <a:endParaRPr lang="el-GR" altLang="el-GR" sz="360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DCF86-BE18-F8C1-C3ED-E5EC8C1516AD}"/>
              </a:ext>
            </a:extLst>
          </p:cNvPr>
          <p:cNvSpPr txBox="1"/>
          <p:nvPr/>
        </p:nvSpPr>
        <p:spPr>
          <a:xfrm>
            <a:off x="0" y="405747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el-GR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Λεκτική περιγραφή για το </a:t>
            </a:r>
            <a:r>
              <a:rPr lang="en-US" altLang="el-GR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HelloWorld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6B59DC27-6F2B-294C-FFA2-E00BEE7071F7}"/>
              </a:ext>
            </a:extLst>
          </p:cNvPr>
          <p:cNvSpPr/>
          <p:nvPr/>
        </p:nvSpPr>
        <p:spPr bwMode="auto">
          <a:xfrm>
            <a:off x="2673697" y="5590741"/>
            <a:ext cx="7629631" cy="948076"/>
          </a:xfrm>
          <a:prstGeom prst="borderCallout2">
            <a:avLst>
              <a:gd name="adj1" fmla="val 48078"/>
              <a:gd name="adj2" fmla="val 78"/>
              <a:gd name="adj3" fmla="val 8583"/>
              <a:gd name="adj4" fmla="val -6435"/>
              <a:gd name="adj5" fmla="val -27299"/>
              <a:gd name="adj6" fmla="val -7771"/>
            </a:avLst>
          </a:prstGeom>
          <a:solidFill>
            <a:srgbClr val="FFFF00"/>
          </a:solidFill>
          <a:ln w="57150" cap="flat" cmpd="sng" algn="ctr">
            <a:solidFill>
              <a:srgbClr val="FFFF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Προστακτική!</a:t>
            </a:r>
            <a:b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</a:b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Περιγράφει ενέργεια που πρέπει να εκτελεστεί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11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  <p:bldP spid="4" grpId="0" build="p"/>
      <p:bldP spid="7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900C-0339-6BBF-78A6-5FE75BEE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1A425D4-A9BA-F8AE-645C-7664B075884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899B5DD-E6CE-8CCD-342E-1CE0B544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Alex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και η αφαιρετικότητα στις διεργασίες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5767C17-2687-39A8-8123-E18C6AF47E3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479A0-413C-0C9B-9524-E01C29925E9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9520C3D-58E0-6BE8-1FA0-539CA2362BBA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6031B-D99F-893B-CF6C-6B58782A11A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8473AA-CBCC-A732-315E-5DA186E3B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42" y="893395"/>
            <a:ext cx="5102980" cy="54529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BBD644-84A2-CC41-DF2F-796B24C67EB7}"/>
              </a:ext>
            </a:extLst>
          </p:cNvPr>
          <p:cNvSpPr txBox="1"/>
          <p:nvPr/>
        </p:nvSpPr>
        <p:spPr>
          <a:xfrm>
            <a:off x="6849835" y="1517960"/>
            <a:ext cx="4702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Θα γράψεις στο τετράδιο ….</a:t>
            </a:r>
            <a:endParaRPr lang="en-GB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186D58-10A9-3863-5202-955091BD3DD3}"/>
              </a:ext>
            </a:extLst>
          </p:cNvPr>
          <p:cNvSpPr/>
          <p:nvPr/>
        </p:nvSpPr>
        <p:spPr>
          <a:xfrm>
            <a:off x="6849835" y="2773179"/>
            <a:ext cx="4702629" cy="32391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Πάρε το τετράδιο σου.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Άνοιξε το σε μια άδεια σελίδα.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Πάρε το μολύβι σου.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Γράψε 500 φορές τη φράση «Δεν θα πετάω αεροπλανάκια στην τάξη» Αν χρειαστεί άλλαξε σελίδα </a:t>
            </a:r>
            <a:endParaRPr lang="en-GB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72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1D66-503B-F835-0444-1BBABEB22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4DA6085-64E2-6C75-BF57-4B9A4F1CCAF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2471B39-A03A-CB1D-FFAF-C22D4A9D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Μετατροπή Λεκτικής περιγραφής σε Πηγαίο Κώδικα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7AE7427-5167-76D3-16C8-ED4A0D0741A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03FEFB-41BA-5D2A-88B6-BDDF3B1F258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5567CE4-CFAB-457E-46EB-F2001C8EF293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D3563-661A-C4E6-2152-78DC4C36264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E13A0B7-3911-849C-45F8-F471749BB11E}"/>
              </a:ext>
            </a:extLst>
          </p:cNvPr>
          <p:cNvSpPr txBox="1">
            <a:spLocks/>
          </p:cNvSpPr>
          <p:nvPr/>
        </p:nvSpPr>
        <p:spPr bwMode="auto">
          <a:xfrm>
            <a:off x="1" y="2419848"/>
            <a:ext cx="12191999" cy="21268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διεργασία της εμφάνισης πληροφορίας στην οθόνη έχει ήδη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περιγραφεί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από τους δημιουργούς της γλώσσας και εμείς μπορούμε να αναφερθούμε σε αυτή με την λέξη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printf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Η λέξη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printf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είναι το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όνομα μιας συνάρτησης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της πρότυπης βιβλιοθήκης της C (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standard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 C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library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) την οποία ο κατασκευαστής της γλώσσας δημιούργησε για να χρησιμοποιούμε εμείς κάθε φορά που θέλουμε να εμφανίζουμε κάτι στην οθόνη της Μηχανής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18E178-9CDA-3D10-2C88-297578C96E3E}"/>
              </a:ext>
            </a:extLst>
          </p:cNvPr>
          <p:cNvGrpSpPr/>
          <p:nvPr/>
        </p:nvGrpSpPr>
        <p:grpSpPr>
          <a:xfrm>
            <a:off x="0" y="880269"/>
            <a:ext cx="12192001" cy="1369876"/>
            <a:chOff x="0" y="4069861"/>
            <a:chExt cx="12192001" cy="13698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8EA44E-2B67-F9B7-D5D1-D20F840B8DF3}"/>
                </a:ext>
              </a:extLst>
            </p:cNvPr>
            <p:cNvSpPr/>
            <p:nvPr/>
          </p:nvSpPr>
          <p:spPr>
            <a:xfrm>
              <a:off x="0" y="4069861"/>
              <a:ext cx="12192001" cy="13698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DE6B96-D949-9367-8FCC-1894D0A5539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0669" y="4703811"/>
              <a:ext cx="11910662" cy="735926"/>
            </a:xfrm>
            <a:prstGeom prst="rect">
              <a:avLst/>
            </a:prstGeom>
            <a:solidFill>
              <a:srgbClr val="00B0F0"/>
            </a:solidFill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l-GR" altLang="el-GR" sz="3600" b="1" dirty="0"/>
                <a:t>Εμφάνισε</a:t>
              </a:r>
              <a:r>
                <a:rPr lang="el-GR" altLang="el-GR" sz="3600" dirty="0"/>
                <a:t> στην οθόνη την έκφραση </a:t>
              </a:r>
              <a:r>
                <a:rPr lang="en-GB" altLang="el-GR" sz="36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HelloWorld</a:t>
              </a:r>
              <a:endParaRPr lang="el-GR" altLang="el-GR" sz="36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37D02E-9D2B-6045-E2F1-F86D2655B6AC}"/>
                </a:ext>
              </a:extLst>
            </p:cNvPr>
            <p:cNvSpPr txBox="1"/>
            <p:nvPr/>
          </p:nvSpPr>
          <p:spPr>
            <a:xfrm>
              <a:off x="0" y="4105680"/>
              <a:ext cx="1219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l-GR" altLang="el-GR" sz="3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Λεκτική περιγραφή για το </a:t>
              </a:r>
              <a:r>
                <a:rPr lang="en-US" altLang="el-GR" sz="36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HelloWorld</a:t>
              </a:r>
              <a:endParaRPr lang="en-GB" sz="3600" dirty="0">
                <a:solidFill>
                  <a:srgbClr val="C00000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E174D33-8D89-D415-A3A9-7A470074444B}"/>
              </a:ext>
            </a:extLst>
          </p:cNvPr>
          <p:cNvSpPr/>
          <p:nvPr/>
        </p:nvSpPr>
        <p:spPr>
          <a:xfrm>
            <a:off x="1" y="4825390"/>
            <a:ext cx="12192001" cy="13698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2D75678-9313-AAB1-7684-53507FFA8A84}"/>
              </a:ext>
            </a:extLst>
          </p:cNvPr>
          <p:cNvSpPr txBox="1">
            <a:spLocks noChangeArrowheads="1"/>
          </p:cNvSpPr>
          <p:nvPr/>
        </p:nvSpPr>
        <p:spPr>
          <a:xfrm>
            <a:off x="140668" y="5436276"/>
            <a:ext cx="11910662" cy="7359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l-GR" sz="3600" b="1" dirty="0" err="1">
                <a:latin typeface="Times New Roman" panose="02020603050405020304" pitchFamily="18" charset="0"/>
              </a:rPr>
              <a:t>printf</a:t>
            </a:r>
            <a:r>
              <a:rPr lang="en-US" altLang="el-GR" sz="3600" b="1" dirty="0">
                <a:latin typeface="Times New Roman" panose="02020603050405020304" pitchFamily="18" charset="0"/>
              </a:rPr>
              <a:t>(“HelloWorld”)</a:t>
            </a:r>
            <a:endParaRPr lang="el-GR" altLang="el-GR" sz="3600" b="1" dirty="0">
              <a:latin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9BD32-C0EA-AD39-2FCC-9BF832F26926}"/>
              </a:ext>
            </a:extLst>
          </p:cNvPr>
          <p:cNvSpPr txBox="1"/>
          <p:nvPr/>
        </p:nvSpPr>
        <p:spPr>
          <a:xfrm>
            <a:off x="0" y="482660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el-GR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Πηγαίος Κώδικας για το </a:t>
            </a:r>
            <a:r>
              <a:rPr lang="en-US" altLang="el-GR" sz="3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HelloWorld</a:t>
            </a:r>
            <a:endParaRPr lang="en-GB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31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  <p:bldP spid="14" grpId="0" build="p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71E3-17E8-161B-0775-41A9F5F35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FF370F3-A8FB-6492-4FB3-C006EA72E095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9DF205D-5DDD-AD68-13B9-A3B9BB9B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Περιβάλλον Ανάπτυξης Εφαρμογών (IDE)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20FBB1E-281C-FC3B-2F04-0D41C55BAB5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74E96-F2FB-115F-5458-1468D5C7F44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7C7BC07-2050-DC52-6806-7757E738FAAD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CEE2A-E3A0-6707-B541-730226269A4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F0039E9-AC2E-ABBF-7B79-A7C08EAA988D}"/>
              </a:ext>
            </a:extLst>
          </p:cNvPr>
          <p:cNvSpPr txBox="1">
            <a:spLocks/>
          </p:cNvSpPr>
          <p:nvPr/>
        </p:nvSpPr>
        <p:spPr bwMode="auto">
          <a:xfrm>
            <a:off x="1" y="808190"/>
            <a:ext cx="12191999" cy="16084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είναι μια εφαρμογή λογισμικού που συνδυάζει, κάτω από μια γραφική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διεπαφή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, ένα σύνολο από εργαλεία με στόχο τη διευκόλυνση του έργου της ανάπτυξης, προγραμμάτων στην αρχή και στη συνέχεια εφαρμογών λογισμικού (Software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Applications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</a:t>
            </a:r>
            <a:endParaRPr lang="el-GR" sz="2000" kern="0" dirty="0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A1747F8-3522-3EB9-C4B3-DE01DA703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617035"/>
            <a:ext cx="8830907" cy="37819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1B620C-0873-5355-A820-61B3E8535846}"/>
              </a:ext>
            </a:extLst>
          </p:cNvPr>
          <p:cNvSpPr txBox="1"/>
          <p:nvPr/>
        </p:nvSpPr>
        <p:spPr>
          <a:xfrm>
            <a:off x="7584140" y="3059197"/>
            <a:ext cx="3837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hlinkClick r:id="rId4"/>
              </a:rPr>
              <a:t>https://www.codeblocks.org/</a:t>
            </a:r>
            <a:endParaRPr lang="el-GR" sz="2000" dirty="0"/>
          </a:p>
          <a:p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259A68-61CA-651A-2BF0-EFF2E3538965}"/>
              </a:ext>
            </a:extLst>
          </p:cNvPr>
          <p:cNvSpPr txBox="1"/>
          <p:nvPr/>
        </p:nvSpPr>
        <p:spPr>
          <a:xfrm>
            <a:off x="7369351" y="5775078"/>
            <a:ext cx="3976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/>
              </a:rPr>
              <a:t>https://www.codeblocks.org/docs/main_codeblocks_en.html</a:t>
            </a:r>
            <a:endParaRPr lang="el-G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607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9B85-5B15-740B-8380-C8DA9FE3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EF969E3-4F01-4377-FCB0-FD59B45ED31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E260BD7-5DAB-AA0E-A634-8A9D0445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Δημιουργία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project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(1/2)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7BAC63D-D799-9FC9-D24D-939966B87BC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4002D-A7D1-1A54-CC03-3CAD38CFA61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FD6A846-5690-0D19-8E91-84691C328409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1793A8-2FFD-8339-F2A8-C50FDFD89B4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3EECD7D-1C71-E4E2-9602-96173339DF75}"/>
              </a:ext>
            </a:extLst>
          </p:cNvPr>
          <p:cNvSpPr txBox="1">
            <a:spLocks/>
          </p:cNvSpPr>
          <p:nvPr/>
        </p:nvSpPr>
        <p:spPr bwMode="auto">
          <a:xfrm>
            <a:off x="1" y="808190"/>
            <a:ext cx="12191999" cy="17553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Clr>
                <a:srgbClr val="3333CC"/>
              </a:buClr>
              <a:buSzPct val="120000"/>
              <a:buAutoNum type="arabicPeriod"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Επιλέξτε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File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-&gt;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New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-&gt;Project </a:t>
            </a:r>
            <a:endParaRPr lang="en-US" sz="2400" b="1" kern="0" dirty="0">
              <a:solidFill>
                <a:srgbClr val="000000"/>
              </a:solidFill>
              <a:latin typeface="Tahoma"/>
            </a:endParaRPr>
          </a:p>
          <a:p>
            <a:pPr marL="457200" indent="-457200">
              <a:buClr>
                <a:srgbClr val="3333CC"/>
              </a:buClr>
              <a:buSzPct val="120000"/>
              <a:buAutoNum type="arabicPeriod"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στο παράθυρο που θα εμφανισθεί επιλέξτε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Console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application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και πατήστε το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Go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πάνω δεξιά. </a:t>
            </a:r>
            <a:endParaRPr lang="en-US" sz="2400" kern="0" dirty="0">
              <a:solidFill>
                <a:srgbClr val="000000"/>
              </a:solidFill>
              <a:latin typeface="Tahoma"/>
            </a:endParaRPr>
          </a:p>
          <a:p>
            <a:pPr marL="457200" indent="-457200">
              <a:buClr>
                <a:srgbClr val="3333CC"/>
              </a:buClr>
              <a:buSzPct val="120000"/>
              <a:buAutoNum type="arabicPeriod"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Επιλέξτε ως γλώσσα την 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C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και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Next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  <a:endParaRPr lang="el-GR" sz="2000" kern="0" dirty="0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7767B-FFC1-C378-ECB3-2A850AB4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2445"/>
            <a:ext cx="8352828" cy="367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7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429E-0FE8-2D66-F919-D9029BDB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C4F555-E3B0-56D8-B7B1-31FA983BB3C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B2A6536C-4B6E-27DE-79A3-863872EF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Δημιουργία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project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(2/2)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2C23B0A-01D4-8694-C3C2-732D10DFD39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1476A-EBB3-6287-5F13-BC3C312DA03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EAD8A54-EA4B-26CD-5738-58B9EB4B06EE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7E1140-47EB-DE7A-AFC1-EA3D808AC62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72EBDF7-90AD-C9D1-2FD3-FE445E0794D4}"/>
              </a:ext>
            </a:extLst>
          </p:cNvPr>
          <p:cNvSpPr txBox="1">
            <a:spLocks/>
          </p:cNvSpPr>
          <p:nvPr/>
        </p:nvSpPr>
        <p:spPr bwMode="auto">
          <a:xfrm>
            <a:off x="1" y="808190"/>
            <a:ext cx="12191999" cy="17553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 startAt="4"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Στο παράθυρο που θα εμφανισθεί, δώστε ως όνομα του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project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το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HelloWorld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 startAt="4"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επιλέξετε τον κατάλογο στον οποίο το IDE θα αποθηκεύει τα αρχεία που θα δημιουργούνται κατά τη διάρκεια ανάπτυξης του προγράμματος. Δημιουργήστε έναν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κατάλογο με όνομα I2P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, για παράδειγμα, και επιλέξτε τον. </a:t>
            </a:r>
          </a:p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 startAt="4"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Επιλέξτε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Next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και στο παράθυρο που θα εμφανισθεί επιλέξτε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Finish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7DA0F7-A01A-852F-B812-BB5FA6B9D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603072"/>
            <a:ext cx="6850437" cy="381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4F275-047E-724A-CA44-2D6821C9D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B273872-A7C2-4588-456F-3E6BBC1DD845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8B55AB4-66C9-3F07-3D43-36216252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Συγγραφή Πηγαίου Κώδικα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64DF804-DF5D-2CFD-FBE6-117D6F907F4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FB11F-767D-7927-0CE3-E9480D5DE8C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C9E18CA-945F-38DB-7BCB-18F3EF0C3611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9D180F-7BB2-D441-71DD-9C9E6B58001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5E0E66-2EF8-856B-5133-7D9DBB7776F4}"/>
              </a:ext>
            </a:extLst>
          </p:cNvPr>
          <p:cNvSpPr txBox="1">
            <a:spLocks/>
          </p:cNvSpPr>
          <p:nvPr/>
        </p:nvSpPr>
        <p:spPr bwMode="auto">
          <a:xfrm>
            <a:off x="1" y="808190"/>
            <a:ext cx="12191999" cy="17553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Στο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project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που μόλις δημιουργήσατε :</a:t>
            </a:r>
          </a:p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ανοίξτε τον κατάλογο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Sources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και θα δείτε ένα αρχείο με όνομα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main.c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.  </a:t>
            </a:r>
          </a:p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/>
              <a:defRPr/>
            </a:pP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Διπλό κλικ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πάνω στο αρχείο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main.c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και θα δείτε στην κεντρική οθόνη του IDE τον πηγαίο κώδικα, που το IDE δημιούργησε αυτόματα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83296-0E5A-DFD1-BE4B-C9AA0F75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652445"/>
            <a:ext cx="7483878" cy="37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4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B7FF-65DB-A8E1-0BC1-04A5BB7A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B27532F-70C1-0E00-BA0A-48D9ADAA720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DBE64D4-7365-4666-B843-41E6E5C35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 κατάλογος του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project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HelloWorld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DA3EF93-F23E-B724-0704-2A71956E3CF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0FF46A-6304-8356-05A3-D07B2603AE3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9AC737C-29F8-142B-631A-2206E50DC3FB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1126B-B1DB-7DD4-30B3-05EBC9925EB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F9AAE7-535E-8B7E-6493-D82DF1C5B83B}"/>
              </a:ext>
            </a:extLst>
          </p:cNvPr>
          <p:cNvSpPr txBox="1">
            <a:spLocks/>
          </p:cNvSpPr>
          <p:nvPr/>
        </p:nvSpPr>
        <p:spPr bwMode="auto">
          <a:xfrm>
            <a:off x="1" y="808190"/>
            <a:ext cx="12191999" cy="203297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περιέχει δύο αρχεία:</a:t>
            </a:r>
          </a:p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το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main.c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που περιέχει τον πηγαίο κώδικα του προγράμματος σας, και </a:t>
            </a:r>
          </a:p>
          <a:p>
            <a:pPr marL="457200" indent="-457200">
              <a:buClr>
                <a:srgbClr val="3333CC"/>
              </a:buClr>
              <a:buSzPct val="120000"/>
              <a:buFont typeface="+mj-lt"/>
              <a:buAutoNum type="arabicPeriod"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το </a:t>
            </a:r>
            <a:r>
              <a:rPr lang="el-GR" sz="2000" b="1" kern="0" dirty="0" err="1">
                <a:solidFill>
                  <a:srgbClr val="000000"/>
                </a:solidFill>
                <a:latin typeface="Tahoma"/>
              </a:rPr>
              <a:t>HelloWorld.cbp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που περιέχει πληροφορίες για το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project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To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αρχείο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main.c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διαμορφώνετε εσείς, ανάλογα με το πρόγραμμα σας.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Το αρχείο .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cbp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ενημερώνεται αυτόματα από το IDE. Εσείς δεν ασχολείστε με αυτό.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689F9-07D4-D99A-675B-8F53DE992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33" y="2812542"/>
            <a:ext cx="10527331" cy="36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5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B524-49A4-13EE-9E76-BD83F12D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88E5F7A-7AC3-0380-0614-ECFF9623D36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3BD9492-8339-B7F9-D5BC-0156088B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Δημιουργία Εκτελέσιμου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4D2C474-F3E6-C00C-F6AE-37B714AFF9D3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816E9-B903-655C-8541-305343591AF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9B5ECB8-7E62-9A68-6B51-FD9DF3FCD8DD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5C2E53-BDF6-091D-B3EF-F3EC533BE0E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CC210-EC1C-1A91-7EC5-D5077F226F64}"/>
              </a:ext>
            </a:extLst>
          </p:cNvPr>
          <p:cNvSpPr txBox="1">
            <a:spLocks/>
          </p:cNvSpPr>
          <p:nvPr/>
        </p:nvSpPr>
        <p:spPr bwMode="auto">
          <a:xfrm>
            <a:off x="1" y="808189"/>
            <a:ext cx="12191999" cy="229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Ανοίξτε από το λειτουργικό σας σύστημα τον κατάλογο του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project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Θα δείτε πως έχουν δημιουργηθεί δύο κατάλογοι ο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bin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και ο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obj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Στον κατάλογο 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bin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\</a:t>
            </a:r>
            <a:r>
              <a:rPr lang="el-GR" sz="2400" b="1" kern="0" dirty="0" err="1">
                <a:solidFill>
                  <a:srgbClr val="000000"/>
                </a:solidFill>
                <a:latin typeface="Tahoma"/>
              </a:rPr>
              <a:t>Release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θα βρείτε το αρχείο 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HelloWorld.exe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Το HelloWorld.exe είναι το πρόγραμμα σας σε μορφή κατανοητή από τη Μηχανή, δηλαδή σε </a:t>
            </a: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γλώσσα μηχανής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5EE25-1A5A-A750-599F-73FA7E8F0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51" y="3429000"/>
            <a:ext cx="11112697" cy="292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4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B7DE-F957-FC1B-1FFD-76406C20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1C752AD-E95D-B18E-1306-1BD030F1A96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87D21D6-DC82-9C8A-1A4A-35B52173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Εκτέλεση του προγράμματος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HelloWorld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9A3FE1C-85CC-9F57-1256-D9D7C2CA4A7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057B0-ACB8-48DC-CA0C-B894A96EF3B1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F2C8EB8-2E73-1077-31BF-E07138DA5196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F83923-3FD3-1015-549E-BD5219C8171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D51CD70-A548-5FF3-2A66-84566AEB4DB6}"/>
              </a:ext>
            </a:extLst>
          </p:cNvPr>
          <p:cNvSpPr txBox="1">
            <a:spLocks/>
          </p:cNvSpPr>
          <p:nvPr/>
        </p:nvSpPr>
        <p:spPr bwMode="auto">
          <a:xfrm>
            <a:off x="1" y="808190"/>
            <a:ext cx="12191999" cy="9879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Το πρόγραμμα μας είναι έτοιμο για εκτέλεση.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Επιλέξτε το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project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και από το κυρίως μενού </a:t>
            </a:r>
            <a:r>
              <a:rPr lang="el-GR" sz="2800" b="1" kern="0" dirty="0" err="1">
                <a:solidFill>
                  <a:srgbClr val="000000"/>
                </a:solidFill>
                <a:latin typeface="Tahoma"/>
              </a:rPr>
              <a:t>Build</a:t>
            </a: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-&gt;</a:t>
            </a:r>
            <a:r>
              <a:rPr lang="el-GR" sz="2800" b="1" kern="0" dirty="0" err="1">
                <a:solidFill>
                  <a:srgbClr val="000000"/>
                </a:solidFill>
                <a:latin typeface="Tahoma"/>
              </a:rPr>
              <a:t>Run</a:t>
            </a: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ή Ctrl-F10. </a:t>
            </a:r>
          </a:p>
          <a:p>
            <a:pPr marL="0" indent="0">
              <a:buClr>
                <a:srgbClr val="3333CC"/>
              </a:buClr>
              <a:buSzPct val="120000"/>
              <a:buNone/>
              <a:defRPr/>
            </a:pPr>
            <a:endParaRPr lang="el-GR" kern="0" dirty="0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E4D76-CF51-330F-300C-6D58C43D9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26" y="2431795"/>
            <a:ext cx="11825025" cy="214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FA957-3E23-78B2-63DC-39AB37E7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E26BD4A-D83A-87BF-D9E9-96CE7B968A3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4760720-8904-1541-8708-185DE45C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45029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Διαχείριση προγραμμάτων - Αξιοποίηση του Νέφους 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Cloud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C499E64-EFBE-1E6D-9622-EA65CDFC9F8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FDC52-3DEE-281C-D677-BDD83660442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0AC6840-B75A-A0ED-C34E-7C91829E72E4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E5EF52-6E4A-5E52-9605-6BA70BFF0B1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150D3B-FDE8-A695-0D66-929AC1895686}"/>
              </a:ext>
            </a:extLst>
          </p:cNvPr>
          <p:cNvSpPr txBox="1">
            <a:spLocks/>
          </p:cNvSpPr>
          <p:nvPr/>
        </p:nvSpPr>
        <p:spPr bwMode="auto">
          <a:xfrm>
            <a:off x="1" y="1281718"/>
            <a:ext cx="12191999" cy="180438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είναι σημαντικό να οργανώσετε σωστά τον αποθηκευτικό σας χώρο, ώστε να έχετε όλα σας τα 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project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 εύκολα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προσβάσιμα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 </a:t>
            </a:r>
          </a:p>
          <a:p>
            <a:pPr>
              <a:buClr>
                <a:srgbClr val="3333CC"/>
              </a:buClr>
              <a:buSzPct val="120000"/>
              <a:buFont typeface="Wingdings" panose="05000000000000000000" pitchFamily="2" charset="2"/>
              <a:buChar char="§"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Μια καλή επιλογή είναι να χρησιμοποιήσετε ως αποθηκευτικό χώρο το νέφος (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cloud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 για να έχετε όλα τα πλεονεκτήματα που η επιλογή αυτή σας δίνει.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76BD8-7427-25B3-876F-0A7726D01BDF}"/>
              </a:ext>
            </a:extLst>
          </p:cNvPr>
          <p:cNvSpPr txBox="1"/>
          <p:nvPr/>
        </p:nvSpPr>
        <p:spPr>
          <a:xfrm>
            <a:off x="140669" y="5877958"/>
            <a:ext cx="1166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https://github.com/ThramboulidisKleanthis/IntroToTheArtOfProgramming/blob/2e4a107b5d93a9320cfdf9eb1dcf6df7a856236e/docs/DevCppAndGoogleDrive.pdf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6AC0B-FE8C-02DD-4077-EB029D465943}"/>
              </a:ext>
            </a:extLst>
          </p:cNvPr>
          <p:cNvSpPr txBox="1"/>
          <p:nvPr/>
        </p:nvSpPr>
        <p:spPr>
          <a:xfrm>
            <a:off x="140669" y="3592286"/>
            <a:ext cx="117791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Google Drive - </a:t>
            </a:r>
            <a:r>
              <a:rPr lang="el-GR" sz="2400" b="1" dirty="0"/>
              <a:t>Οδηγίες αξιοποίησης από το </a:t>
            </a:r>
            <a:r>
              <a:rPr lang="el-GR" sz="2400" b="1" dirty="0" err="1"/>
              <a:t>DevCpp</a:t>
            </a:r>
            <a:r>
              <a:rPr lang="el-GR" sz="2400" b="1" dirty="0"/>
              <a:t> </a:t>
            </a:r>
            <a:endParaRPr lang="en-US" sz="2400" dirty="0"/>
          </a:p>
          <a:p>
            <a:r>
              <a:rPr lang="el-GR" sz="2400" dirty="0"/>
              <a:t>Για την αποθήκευση των προγραμμάτων που θα δημιουργείτε με το IDE σας (π.χ. </a:t>
            </a:r>
            <a:r>
              <a:rPr lang="el-GR" sz="2400" dirty="0" err="1"/>
              <a:t>DevC</a:t>
            </a:r>
            <a:r>
              <a:rPr lang="el-GR" sz="2400" dirty="0"/>
              <a:t>++) στο ΥΚ σας μπορείτε να αξιοποιήσετε το </a:t>
            </a:r>
            <a:r>
              <a:rPr lang="el-GR" sz="2400" dirty="0" err="1"/>
              <a:t>Google</a:t>
            </a:r>
            <a:r>
              <a:rPr lang="el-GR" sz="2400" dirty="0"/>
              <a:t> </a:t>
            </a:r>
            <a:r>
              <a:rPr lang="el-GR" sz="2400" dirty="0" err="1"/>
              <a:t>Drive</a:t>
            </a:r>
            <a:r>
              <a:rPr lang="el-GR" sz="2400" dirty="0"/>
              <a:t> με την προϋπόθεση ότι έχετε </a:t>
            </a:r>
            <a:r>
              <a:rPr lang="el-GR" sz="2400" dirty="0" err="1"/>
              <a:t>Google</a:t>
            </a:r>
            <a:r>
              <a:rPr lang="el-GR" sz="2400" dirty="0"/>
              <a:t> </a:t>
            </a:r>
            <a:r>
              <a:rPr lang="el-GR" sz="2400" dirty="0" err="1"/>
              <a:t>Account</a:t>
            </a:r>
            <a:r>
              <a:rPr lang="el-GR" sz="2400" dirty="0"/>
              <a:t>. Αυτό θα σας επιτρέψει να έχετε τα προγράμματα σας διαθέσιμα σε όλη τη διάρκεια του εξαμήνου, σε οποιοδήποτε χώρο επιλέξετε να δουλεύετε. Εναλλακτικά μπορείτε να χρησιμοποιήσετε οποιοδήποτε άλλο </a:t>
            </a:r>
            <a:r>
              <a:rPr lang="el-GR" sz="2400" dirty="0" err="1"/>
              <a:t>file-hosting</a:t>
            </a:r>
            <a:r>
              <a:rPr lang="el-GR" sz="2400" dirty="0"/>
              <a:t>/</a:t>
            </a:r>
            <a:r>
              <a:rPr lang="el-GR" sz="2400" dirty="0" err="1"/>
              <a:t>cloud-storage</a:t>
            </a:r>
            <a:r>
              <a:rPr lang="el-GR" sz="2400" dirty="0"/>
              <a:t> </a:t>
            </a:r>
            <a:r>
              <a:rPr lang="el-GR" sz="2400" dirty="0" err="1"/>
              <a:t>service</a:t>
            </a:r>
            <a:r>
              <a:rPr lang="el-GR" sz="2400" dirty="0"/>
              <a:t>. </a:t>
            </a:r>
            <a:r>
              <a:rPr lang="en-US" sz="2400" dirty="0"/>
              <a:t>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20976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6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9B6D-4DBE-7F35-376D-B6CDC073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4C80561-8663-A9C5-A283-2E19EEF7477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45396B3-D285-1A4E-5873-6B7B095C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45432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Διαχείριση προγραμμάτων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του αποθηκευτικού χώρου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CDDE353-EBCD-04C4-1816-655E3904444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D9116-A107-6E88-4177-379C1E55759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AEA4A90-9E03-341A-7497-E927678DA00E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A397F-701B-105D-EAE1-93F2AE2EC4D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AB4926-712C-DC9E-A750-7FC4DF1E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30"/>
            <a:ext cx="8430367" cy="448303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6C54544-2DF2-C2B4-357C-4B31D99D4B5A}"/>
              </a:ext>
            </a:extLst>
          </p:cNvPr>
          <p:cNvGrpSpPr/>
          <p:nvPr/>
        </p:nvGrpSpPr>
        <p:grpSpPr>
          <a:xfrm>
            <a:off x="2876593" y="3530028"/>
            <a:ext cx="9014505" cy="2732187"/>
            <a:chOff x="2876593" y="3530028"/>
            <a:chExt cx="9014505" cy="273218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0DE93E-4CC3-111A-F04B-A227E0BD1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2113" y="5482621"/>
              <a:ext cx="7678985" cy="779594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70C3198-2D55-6D87-228A-3997AF886694}"/>
                </a:ext>
              </a:extLst>
            </p:cNvPr>
            <p:cNvCxnSpPr>
              <a:cxnSpLocks/>
            </p:cNvCxnSpPr>
            <p:nvPr/>
          </p:nvCxnSpPr>
          <p:spPr>
            <a:xfrm>
              <a:off x="2876593" y="3530028"/>
              <a:ext cx="2061167" cy="21660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8E0320B-A6BE-ADBB-B9C5-784FFB4F9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876" y="1145433"/>
            <a:ext cx="7299123" cy="15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3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8D8F-32F7-E6D0-52E5-84386E31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ABAFF71-1CDC-CCB1-4E00-8493A72B90F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65E47F9-F1EB-C46C-B669-B00BD0AED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79883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του αποθηκευτικού χώρου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8E9A871-9D81-5CB3-0137-BEEFFA10CB0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A58D0-94CE-355B-4166-701C80F24F6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163D9CE-BEEF-227F-AF90-D0A6EDF80B26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0A24E5-EDC1-1A26-EAA7-D4FA8B6A7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9" y="859837"/>
            <a:ext cx="12031879" cy="200997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Ενιαίος αποθηκευτικός χώρος στο νέφος (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r>
              <a:rPr kumimoji="0" lang="en-GB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Ενδεικτικό όνομα Ευρετηρίου: </a:t>
            </a:r>
            <a:r>
              <a:rPr kumimoji="0" lang="en-GB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I2P-LabExersices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Κάθε άσκηση θα έχει το δικό της 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κατάλογο (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directory</a:t>
            </a: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)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</a:p>
          <a:p>
            <a:pPr marL="457200" lvl="1" indent="0" eaLnBrk="1" hangingPunct="1">
              <a:buClr>
                <a:srgbClr val="FF0000"/>
              </a:buClr>
              <a:buNone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π.χ. Κατάλογος 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HelloWorld,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lang="el-GR" altLang="el-GR" sz="2000" kern="0" dirty="0">
                <a:solidFill>
                  <a:srgbClr val="000000"/>
                </a:solidFill>
                <a:latin typeface="Tahoma"/>
              </a:rPr>
              <a:t>Κατάλογος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Add2Numbers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4D0C25-3FC6-4481-3A20-1B1CA7E6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63" y="3049763"/>
            <a:ext cx="8296964" cy="322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8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B248-52FB-D0B1-2439-A300B431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0EF99C9-BC6A-6352-14FD-CA6656AFC93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AB8C7F9-70ED-9492-D4D9-29F1DD4D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HelloWorld :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πηγαίος κώδικας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3F5741D-222D-6713-13B5-928E48A5EFA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3320C-E8B8-9EB0-C3F5-EFBBE0690C5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5795E79-2244-8996-AA23-04EE3106E51B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E0C1A-25D2-4A81-B25C-AFE727EA7F7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62C22E-78DA-D4AB-1C67-06FD6C720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15" y="895338"/>
            <a:ext cx="8802129" cy="29675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2122A9-BE4C-D080-74A5-7AB0B10748E4}"/>
              </a:ext>
            </a:extLst>
          </p:cNvPr>
          <p:cNvSpPr/>
          <p:nvPr/>
        </p:nvSpPr>
        <p:spPr bwMode="auto">
          <a:xfrm>
            <a:off x="0" y="4254563"/>
            <a:ext cx="12192000" cy="114178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message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: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όνομα μεταβλητής τύπου αλφαριθμητικού.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Μεταβλητές τύπου αλφαριθμητικού ορίζονται στην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ως πίνακες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χαρακτήρων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char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–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Τύπος Δεδομένων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30E2E4-5061-9F6F-9918-69F415450CE5}"/>
              </a:ext>
            </a:extLst>
          </p:cNvPr>
          <p:cNvGrpSpPr/>
          <p:nvPr/>
        </p:nvGrpSpPr>
        <p:grpSpPr>
          <a:xfrm>
            <a:off x="748071" y="2473377"/>
            <a:ext cx="8064896" cy="3910523"/>
            <a:chOff x="748071" y="2473377"/>
            <a:chExt cx="8064896" cy="3910523"/>
          </a:xfrm>
        </p:grpSpPr>
        <p:sp>
          <p:nvSpPr>
            <p:cNvPr id="12" name="Callout: Line 11">
              <a:extLst>
                <a:ext uri="{FF2B5EF4-FFF2-40B4-BE49-F238E27FC236}">
                  <a16:creationId xmlns:a16="http://schemas.microsoft.com/office/drawing/2014/main" id="{554C8074-319A-108C-63B3-17F27505435E}"/>
                </a:ext>
              </a:extLst>
            </p:cNvPr>
            <p:cNvSpPr/>
            <p:nvPr/>
          </p:nvSpPr>
          <p:spPr bwMode="auto">
            <a:xfrm>
              <a:off x="748071" y="5787996"/>
              <a:ext cx="8064896" cy="595904"/>
            </a:xfrm>
            <a:prstGeom prst="borderCallout1">
              <a:avLst>
                <a:gd name="adj1" fmla="val 505"/>
                <a:gd name="adj2" fmla="val 51199"/>
                <a:gd name="adj3" fmla="val -553390"/>
                <a:gd name="adj4" fmla="val 37276"/>
              </a:avLst>
            </a:prstGeom>
            <a:solidFill>
              <a:schemeClr val="accent1">
                <a:lumMod val="75000"/>
              </a:schemeClr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Η πρόταση αποδίδει αρχική τιμή στην μεταβλητή </a:t>
              </a: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</a:rPr>
                <a:t>message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D86164-0180-31AD-3C25-234CE01C13EC}"/>
                </a:ext>
              </a:extLst>
            </p:cNvPr>
            <p:cNvCxnSpPr/>
            <p:nvPr/>
          </p:nvCxnSpPr>
          <p:spPr>
            <a:xfrm>
              <a:off x="3282846" y="2473377"/>
              <a:ext cx="3507698" cy="0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723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3953-130C-7194-A847-2C090BAA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17E1C58-8D96-E48B-E5AE-20C3658C081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566ABC9-7B2A-DCB6-F655-5830EB2A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D5C63E3-1345-8492-505C-D81D82444A1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6272F-81D9-7310-3740-691511534EF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BD6FA05-7C7E-64DB-B065-EEEC8D1AB234}"/>
              </a:ext>
            </a:extLst>
          </p:cNvPr>
          <p:cNvSpPr txBox="1">
            <a:spLocks/>
          </p:cNvSpPr>
          <p:nvPr/>
        </p:nvSpPr>
        <p:spPr>
          <a:xfrm>
            <a:off x="4121971" y="659939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Διαδικασία Ανάπτυξης Προγράμματος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8B9AE-961D-0171-25AF-8ABA810DCFA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864EE1E-240A-D15C-A2B1-5D0FC973A711}"/>
              </a:ext>
            </a:extLst>
          </p:cNvPr>
          <p:cNvSpPr/>
          <p:nvPr/>
        </p:nvSpPr>
        <p:spPr>
          <a:xfrm>
            <a:off x="6203273" y="1056093"/>
            <a:ext cx="5633357" cy="2677885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Εκτελέστε την Δραστηριότητα 1 αναπτύσσοντας τις δύο εκδόσεις του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HelloWorld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αξιοποιώντας ως αποθηκευτικό χώρο το νέφος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(cloud)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F46A4-D437-FAE9-FC4C-85B265EAD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69" y="1751864"/>
            <a:ext cx="4812974" cy="3543607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B2D266F-FEF4-F3A6-6EEF-D00F144AD70E}"/>
              </a:ext>
            </a:extLst>
          </p:cNvPr>
          <p:cNvSpPr/>
          <p:nvPr/>
        </p:nvSpPr>
        <p:spPr>
          <a:xfrm>
            <a:off x="6095999" y="5208358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Εξοικειωθείτε με το </a:t>
            </a:r>
            <a:r>
              <a:rPr lang="en-US" sz="24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CodeBlocks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ή όποιο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IDE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έχετε επιλέξει. 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7683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6796</TotalTime>
  <Words>1374</Words>
  <Application>Microsoft Office PowerPoint</Application>
  <PresentationFormat>Widescreen</PresentationFormat>
  <Paragraphs>181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Wingdings</vt:lpstr>
      <vt:lpstr>Προσαρμοσμένη σχεδίαση</vt:lpstr>
      <vt:lpstr>Θέμα του Office</vt:lpstr>
      <vt:lpstr>PowerPoint Presentation</vt:lpstr>
      <vt:lpstr>Στόχος Ενότητας </vt:lpstr>
      <vt:lpstr>Δραστηριότητα 3-1   HelloWorld</vt:lpstr>
      <vt:lpstr>To πρόγραμμα HelloWorld</vt:lpstr>
      <vt:lpstr>Βήματα Διαδικασίας Ανάπτυξης Προγράμματος</vt:lpstr>
      <vt:lpstr>Δημιουργία Λεκτικής Περιγραφής</vt:lpstr>
      <vt:lpstr>Ο Alex και η αφαιρετικότητα στις διεργασίες</vt:lpstr>
      <vt:lpstr>Μετατροπή Λεκτικής περιγραφής σε Πηγαίο Κώδικα</vt:lpstr>
      <vt:lpstr>Περιβάλλον Ανάπτυξης Εφαρμογών (IDE)</vt:lpstr>
      <vt:lpstr>Δημιουργία project (1/2)</vt:lpstr>
      <vt:lpstr>Δημιουργία project (2/2)</vt:lpstr>
      <vt:lpstr>Συγγραφή Πηγαίου Κώδικα</vt:lpstr>
      <vt:lpstr>Ο κατάλογος του project HelloWorld</vt:lpstr>
      <vt:lpstr>Δημιουργία Εκτελέσιμου</vt:lpstr>
      <vt:lpstr>Εκτέλεση του προγράμματος HelloWorld </vt:lpstr>
      <vt:lpstr>Διαχείριση προγραμμάτων - Αξιοποίηση του Νέφους (Cloud)</vt:lpstr>
      <vt:lpstr>Διαχείριση προγραμμάτων - Οργάνωση του αποθηκευτικού χώρου</vt:lpstr>
      <vt:lpstr>Οργάνωση του αποθηκευτικού χώρου</vt:lpstr>
      <vt:lpstr>HelloWorld : πηγαίος κώδικας V2</vt:lpstr>
      <vt:lpstr>Hands-on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OOP-Introduction</dc:title>
  <dc:creator>Kleanthis Thramboulidis</dc:creator>
  <cp:lastModifiedBy>Kleanthis Thramboulidis</cp:lastModifiedBy>
  <cp:revision>55</cp:revision>
  <cp:lastPrinted>2023-02-24T15:57:04Z</cp:lastPrinted>
  <dcterms:created xsi:type="dcterms:W3CDTF">2020-03-13T12:21:17Z</dcterms:created>
  <dcterms:modified xsi:type="dcterms:W3CDTF">2025-10-14T19:26:09Z</dcterms:modified>
</cp:coreProperties>
</file>