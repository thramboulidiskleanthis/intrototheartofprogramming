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92" r:id="rId2"/>
  </p:sldMasterIdLst>
  <p:notesMasterIdLst>
    <p:notesMasterId r:id="rId35"/>
  </p:notesMasterIdLst>
  <p:sldIdLst>
    <p:sldId id="262" r:id="rId3"/>
    <p:sldId id="863" r:id="rId4"/>
    <p:sldId id="911" r:id="rId5"/>
    <p:sldId id="877" r:id="rId6"/>
    <p:sldId id="878" r:id="rId7"/>
    <p:sldId id="879" r:id="rId8"/>
    <p:sldId id="881" r:id="rId9"/>
    <p:sldId id="880" r:id="rId10"/>
    <p:sldId id="948" r:id="rId11"/>
    <p:sldId id="882" r:id="rId12"/>
    <p:sldId id="883" r:id="rId13"/>
    <p:sldId id="885" r:id="rId14"/>
    <p:sldId id="884" r:id="rId15"/>
    <p:sldId id="949" r:id="rId16"/>
    <p:sldId id="886" r:id="rId17"/>
    <p:sldId id="887" r:id="rId18"/>
    <p:sldId id="889" r:id="rId19"/>
    <p:sldId id="950" r:id="rId20"/>
    <p:sldId id="888" r:id="rId21"/>
    <p:sldId id="890" r:id="rId22"/>
    <p:sldId id="892" r:id="rId23"/>
    <p:sldId id="938" r:id="rId24"/>
    <p:sldId id="891" r:id="rId25"/>
    <p:sldId id="939" r:id="rId26"/>
    <p:sldId id="951" r:id="rId27"/>
    <p:sldId id="940" r:id="rId28"/>
    <p:sldId id="952" r:id="rId29"/>
    <p:sldId id="945" r:id="rId30"/>
    <p:sldId id="953" r:id="rId31"/>
    <p:sldId id="941" r:id="rId32"/>
    <p:sldId id="947" r:id="rId33"/>
    <p:sldId id="946" r:id="rId34"/>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CDBB"/>
    <a:srgbClr val="60D69E"/>
    <a:srgbClr val="869391"/>
    <a:srgbClr val="F9853D"/>
    <a:srgbClr val="FDCBAD"/>
    <a:srgbClr val="FBAD7D"/>
    <a:srgbClr val="61649B"/>
    <a:srgbClr val="E49252"/>
    <a:srgbClr val="FFFFFF"/>
    <a:srgbClr val="2E35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458" autoAdjust="0"/>
    <p:restoredTop sz="93969" autoAdjust="0"/>
  </p:normalViewPr>
  <p:slideViewPr>
    <p:cSldViewPr snapToGrid="0">
      <p:cViewPr varScale="1">
        <p:scale>
          <a:sx n="67" d="100"/>
          <a:sy n="67" d="100"/>
        </p:scale>
        <p:origin x="474" y="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20127-9FC1-4D44-BFF2-2F77E5433948}" type="datetimeFigureOut">
              <a:rPr lang="el-GR" smtClean="0"/>
              <a:t>14/10/2025</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9646-4F35-49C2-BD28-89287C170EC3}" type="slidenum">
              <a:rPr lang="el-GR" smtClean="0"/>
              <a:t>‹#›</a:t>
            </a:fld>
            <a:endParaRPr lang="el-GR"/>
          </a:p>
        </p:txBody>
      </p:sp>
    </p:spTree>
    <p:extLst>
      <p:ext uri="{BB962C8B-B14F-4D97-AF65-F5344CB8AC3E}">
        <p14:creationId xmlns:p14="http://schemas.microsoft.com/office/powerpoint/2010/main" val="54866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Θέση αριθμού διαφάνειας 3"/>
          <p:cNvSpPr>
            <a:spLocks noGrp="1"/>
          </p:cNvSpPr>
          <p:nvPr>
            <p:ph type="sldNum" sz="quarter" idx="10"/>
          </p:nvPr>
        </p:nvSpPr>
        <p:spPr/>
        <p:txBody>
          <a:bodyPr/>
          <a:lstStyle/>
          <a:p>
            <a:fld id="{C9D89646-4F35-49C2-BD28-89287C170EC3}" type="slidenum">
              <a:rPr lang="el-GR" smtClean="0"/>
              <a:t>1</a:t>
            </a:fld>
            <a:endParaRPr lang="el-GR"/>
          </a:p>
        </p:txBody>
      </p:sp>
    </p:spTree>
    <p:extLst>
      <p:ext uri="{BB962C8B-B14F-4D97-AF65-F5344CB8AC3E}">
        <p14:creationId xmlns:p14="http://schemas.microsoft.com/office/powerpoint/2010/main" val="33897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9F0BD-B2F6-7173-0A90-F3759982F62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605A4E5-9970-D612-5BC9-C5E22454B71A}"/>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6C44163-B45D-8678-422C-1527C00E9CB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EC24D62-00DA-876A-7CF8-B1A93BCF41F7}"/>
              </a:ext>
            </a:extLst>
          </p:cNvPr>
          <p:cNvSpPr>
            <a:spLocks noGrp="1"/>
          </p:cNvSpPr>
          <p:nvPr>
            <p:ph type="sldNum" sz="quarter" idx="5"/>
          </p:nvPr>
        </p:nvSpPr>
        <p:spPr/>
        <p:txBody>
          <a:bodyPr/>
          <a:lstStyle/>
          <a:p>
            <a:fld id="{C9D89646-4F35-49C2-BD28-89287C170EC3}" type="slidenum">
              <a:rPr lang="el-GR" smtClean="0"/>
              <a:t>2</a:t>
            </a:fld>
            <a:endParaRPr lang="el-GR"/>
          </a:p>
        </p:txBody>
      </p:sp>
    </p:spTree>
    <p:extLst>
      <p:ext uri="{BB962C8B-B14F-4D97-AF65-F5344CB8AC3E}">
        <p14:creationId xmlns:p14="http://schemas.microsoft.com/office/powerpoint/2010/main" val="3837397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7C587-13AD-0AC3-F832-2B41FDA71FC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9C51617-DBCB-002E-028B-D92668ACA27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8A7D6180-706D-9B7B-F2F9-F0AF2D5F263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7FB4202-9F8F-3E2F-0448-41544215AC25}"/>
              </a:ext>
            </a:extLst>
          </p:cNvPr>
          <p:cNvSpPr>
            <a:spLocks noGrp="1"/>
          </p:cNvSpPr>
          <p:nvPr>
            <p:ph type="sldNum" sz="quarter" idx="5"/>
          </p:nvPr>
        </p:nvSpPr>
        <p:spPr/>
        <p:txBody>
          <a:bodyPr/>
          <a:lstStyle/>
          <a:p>
            <a:fld id="{C9D89646-4F35-49C2-BD28-89287C170EC3}" type="slidenum">
              <a:rPr lang="el-GR" smtClean="0"/>
              <a:t>3</a:t>
            </a:fld>
            <a:endParaRPr lang="el-GR"/>
          </a:p>
        </p:txBody>
      </p:sp>
    </p:spTree>
    <p:extLst>
      <p:ext uri="{BB962C8B-B14F-4D97-AF65-F5344CB8AC3E}">
        <p14:creationId xmlns:p14="http://schemas.microsoft.com/office/powerpoint/2010/main" val="3698483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4A51E-EC1D-261E-F442-34195BE1716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1F6F105-AAEC-B356-9EB1-FF684AF2BA1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871710C-504C-5FB0-9473-C81D23E55FA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F18AA0A4-77C4-6522-CE1A-9FE83ECB016A}"/>
              </a:ext>
            </a:extLst>
          </p:cNvPr>
          <p:cNvSpPr>
            <a:spLocks noGrp="1"/>
          </p:cNvSpPr>
          <p:nvPr>
            <p:ph type="sldNum" sz="quarter" idx="5"/>
          </p:nvPr>
        </p:nvSpPr>
        <p:spPr/>
        <p:txBody>
          <a:bodyPr/>
          <a:lstStyle/>
          <a:p>
            <a:fld id="{C9D89646-4F35-49C2-BD28-89287C170EC3}" type="slidenum">
              <a:rPr lang="el-GR" smtClean="0"/>
              <a:t>4</a:t>
            </a:fld>
            <a:endParaRPr lang="el-GR"/>
          </a:p>
        </p:txBody>
      </p:sp>
    </p:spTree>
    <p:extLst>
      <p:ext uri="{BB962C8B-B14F-4D97-AF65-F5344CB8AC3E}">
        <p14:creationId xmlns:p14="http://schemas.microsoft.com/office/powerpoint/2010/main" val="1079963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A5E9F-86DC-65F4-F71F-2E88E11E10AD}"/>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F527242-967A-39F4-017F-8D26F400220E}"/>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495B607-74E7-3B60-12B5-9C861408156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0493D4C0-4709-F1DA-198B-3658D5553FA8}"/>
              </a:ext>
            </a:extLst>
          </p:cNvPr>
          <p:cNvSpPr>
            <a:spLocks noGrp="1"/>
          </p:cNvSpPr>
          <p:nvPr>
            <p:ph type="sldNum" sz="quarter" idx="5"/>
          </p:nvPr>
        </p:nvSpPr>
        <p:spPr/>
        <p:txBody>
          <a:bodyPr/>
          <a:lstStyle/>
          <a:p>
            <a:fld id="{C9D89646-4F35-49C2-BD28-89287C170EC3}" type="slidenum">
              <a:rPr lang="el-GR" smtClean="0"/>
              <a:t>5</a:t>
            </a:fld>
            <a:endParaRPr lang="el-GR"/>
          </a:p>
        </p:txBody>
      </p:sp>
    </p:spTree>
    <p:extLst>
      <p:ext uri="{BB962C8B-B14F-4D97-AF65-F5344CB8AC3E}">
        <p14:creationId xmlns:p14="http://schemas.microsoft.com/office/powerpoint/2010/main" val="1490714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C51E0-7F29-F77E-9136-F106D78B9A4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45BF00E-5342-C614-6B62-D143ABBA65B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4F98917F-7246-D1C3-DA80-76E3D18C89F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7F714844-7EF9-71AC-A7AA-3CE9F47A9EC9}"/>
              </a:ext>
            </a:extLst>
          </p:cNvPr>
          <p:cNvSpPr>
            <a:spLocks noGrp="1"/>
          </p:cNvSpPr>
          <p:nvPr>
            <p:ph type="sldNum" sz="quarter" idx="5"/>
          </p:nvPr>
        </p:nvSpPr>
        <p:spPr/>
        <p:txBody>
          <a:bodyPr/>
          <a:lstStyle/>
          <a:p>
            <a:fld id="{C9D89646-4F35-49C2-BD28-89287C170EC3}" type="slidenum">
              <a:rPr lang="el-GR" smtClean="0"/>
              <a:t>6</a:t>
            </a:fld>
            <a:endParaRPr lang="el-GR"/>
          </a:p>
        </p:txBody>
      </p:sp>
    </p:spTree>
    <p:extLst>
      <p:ext uri="{BB962C8B-B14F-4D97-AF65-F5344CB8AC3E}">
        <p14:creationId xmlns:p14="http://schemas.microsoft.com/office/powerpoint/2010/main" val="1411556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1FA7A-C3AD-4B93-D126-EE1E76AAE6A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6DEF07F-38EB-E8C7-782A-C1D8127F593C}"/>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E6EBEE4-DD74-B2B4-B85D-6B7425D198A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E6E32FE-C906-D944-0DFF-C890CBDE9D53}"/>
              </a:ext>
            </a:extLst>
          </p:cNvPr>
          <p:cNvSpPr>
            <a:spLocks noGrp="1"/>
          </p:cNvSpPr>
          <p:nvPr>
            <p:ph type="sldNum" sz="quarter" idx="5"/>
          </p:nvPr>
        </p:nvSpPr>
        <p:spPr/>
        <p:txBody>
          <a:bodyPr/>
          <a:lstStyle/>
          <a:p>
            <a:fld id="{C9D89646-4F35-49C2-BD28-89287C170EC3}" type="slidenum">
              <a:rPr lang="el-GR" smtClean="0"/>
              <a:t>7</a:t>
            </a:fld>
            <a:endParaRPr lang="el-GR"/>
          </a:p>
        </p:txBody>
      </p:sp>
    </p:spTree>
    <p:extLst>
      <p:ext uri="{BB962C8B-B14F-4D97-AF65-F5344CB8AC3E}">
        <p14:creationId xmlns:p14="http://schemas.microsoft.com/office/powerpoint/2010/main" val="4229688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2B6C0-40AD-7EAC-8831-CC7C3AE9BBB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6E8E310-39CA-A0D6-0243-5B9896A97AEA}"/>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5E460D8A-E9F2-F3B6-0DE8-DF82A90536A4}"/>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F2553424-ABC4-8941-CF5B-1193D4304ABB}"/>
              </a:ext>
            </a:extLst>
          </p:cNvPr>
          <p:cNvSpPr>
            <a:spLocks noGrp="1"/>
          </p:cNvSpPr>
          <p:nvPr>
            <p:ph type="sldNum" sz="quarter" idx="5"/>
          </p:nvPr>
        </p:nvSpPr>
        <p:spPr/>
        <p:txBody>
          <a:bodyPr/>
          <a:lstStyle/>
          <a:p>
            <a:fld id="{C9D89646-4F35-49C2-BD28-89287C170EC3}" type="slidenum">
              <a:rPr lang="el-GR" smtClean="0"/>
              <a:t>8</a:t>
            </a:fld>
            <a:endParaRPr lang="el-GR"/>
          </a:p>
        </p:txBody>
      </p:sp>
    </p:spTree>
    <p:extLst>
      <p:ext uri="{BB962C8B-B14F-4D97-AF65-F5344CB8AC3E}">
        <p14:creationId xmlns:p14="http://schemas.microsoft.com/office/powerpoint/2010/main" val="3651469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C46F5-34BB-284B-A0EC-3D9198B530CE}"/>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BFF7034-E166-A34C-C911-80A474E052B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A37C5CC-681F-7076-252F-C7005E63A65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4C6269F2-A94D-C49E-0D0E-70B85D57B98D}"/>
              </a:ext>
            </a:extLst>
          </p:cNvPr>
          <p:cNvSpPr>
            <a:spLocks noGrp="1"/>
          </p:cNvSpPr>
          <p:nvPr>
            <p:ph type="sldNum" sz="quarter" idx="5"/>
          </p:nvPr>
        </p:nvSpPr>
        <p:spPr/>
        <p:txBody>
          <a:bodyPr/>
          <a:lstStyle/>
          <a:p>
            <a:fld id="{C9D89646-4F35-49C2-BD28-89287C170EC3}" type="slidenum">
              <a:rPr lang="el-GR" smtClean="0"/>
              <a:t>9</a:t>
            </a:fld>
            <a:endParaRPr lang="el-GR"/>
          </a:p>
        </p:txBody>
      </p:sp>
    </p:spTree>
    <p:extLst>
      <p:ext uri="{BB962C8B-B14F-4D97-AF65-F5344CB8AC3E}">
        <p14:creationId xmlns:p14="http://schemas.microsoft.com/office/powerpoint/2010/main" val="2919700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13EBA-CEC3-60FC-9665-37E761057F7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3778600-3F80-C395-7410-77D76E4C31F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44D79B4F-DA37-24BA-3A31-B07C10EB28F0}"/>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C3E4F5B-3BA1-070D-9240-7BE0289DCB90}"/>
              </a:ext>
            </a:extLst>
          </p:cNvPr>
          <p:cNvSpPr>
            <a:spLocks noGrp="1"/>
          </p:cNvSpPr>
          <p:nvPr>
            <p:ph type="sldNum" sz="quarter" idx="5"/>
          </p:nvPr>
        </p:nvSpPr>
        <p:spPr/>
        <p:txBody>
          <a:bodyPr/>
          <a:lstStyle/>
          <a:p>
            <a:fld id="{C9D89646-4F35-49C2-BD28-89287C170EC3}" type="slidenum">
              <a:rPr lang="el-GR" smtClean="0"/>
              <a:t>10</a:t>
            </a:fld>
            <a:endParaRPr lang="el-GR"/>
          </a:p>
        </p:txBody>
      </p:sp>
    </p:spTree>
    <p:extLst>
      <p:ext uri="{BB962C8B-B14F-4D97-AF65-F5344CB8AC3E}">
        <p14:creationId xmlns:p14="http://schemas.microsoft.com/office/powerpoint/2010/main" val="734681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93496-74DB-8083-03D0-713D6706D58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01B357B-F3AA-F559-67EE-F29C9356104D}"/>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98FDA1B-EB2E-A357-DA58-9DBB1A7ACDD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20F56E8-64D1-0BA7-61AF-611D7642A0BE}"/>
              </a:ext>
            </a:extLst>
          </p:cNvPr>
          <p:cNvSpPr>
            <a:spLocks noGrp="1"/>
          </p:cNvSpPr>
          <p:nvPr>
            <p:ph type="sldNum" sz="quarter" idx="5"/>
          </p:nvPr>
        </p:nvSpPr>
        <p:spPr/>
        <p:txBody>
          <a:bodyPr/>
          <a:lstStyle/>
          <a:p>
            <a:fld id="{C9D89646-4F35-49C2-BD28-89287C170EC3}" type="slidenum">
              <a:rPr lang="el-GR" smtClean="0"/>
              <a:t>11</a:t>
            </a:fld>
            <a:endParaRPr lang="el-GR"/>
          </a:p>
        </p:txBody>
      </p:sp>
    </p:spTree>
    <p:extLst>
      <p:ext uri="{BB962C8B-B14F-4D97-AF65-F5344CB8AC3E}">
        <p14:creationId xmlns:p14="http://schemas.microsoft.com/office/powerpoint/2010/main" val="2962897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60A3D-EE82-12C6-21F9-D1591F9F0C2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577C2D56-0FC6-9C20-CE19-FC53CD06F658}"/>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C5C90E2-53C5-BE93-A7E6-35CFF19938E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0A97DE2-FB31-E628-D8A7-62BB9BC1B9B5}"/>
              </a:ext>
            </a:extLst>
          </p:cNvPr>
          <p:cNvSpPr>
            <a:spLocks noGrp="1"/>
          </p:cNvSpPr>
          <p:nvPr>
            <p:ph type="sldNum" sz="quarter" idx="5"/>
          </p:nvPr>
        </p:nvSpPr>
        <p:spPr/>
        <p:txBody>
          <a:bodyPr/>
          <a:lstStyle/>
          <a:p>
            <a:fld id="{C9D89646-4F35-49C2-BD28-89287C170EC3}" type="slidenum">
              <a:rPr lang="el-GR" smtClean="0"/>
              <a:t>12</a:t>
            </a:fld>
            <a:endParaRPr lang="el-GR"/>
          </a:p>
        </p:txBody>
      </p:sp>
    </p:spTree>
    <p:extLst>
      <p:ext uri="{BB962C8B-B14F-4D97-AF65-F5344CB8AC3E}">
        <p14:creationId xmlns:p14="http://schemas.microsoft.com/office/powerpoint/2010/main" val="649871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68D3B-5695-27A4-4CC9-0FC87D2CBC83}"/>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716AE73-ABBA-E866-BDEE-C636040F259C}"/>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920F6F42-92C7-B590-C567-1E7A9FE906C8}"/>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3384C2D-C82E-B762-1A2E-8BCFA00212A8}"/>
              </a:ext>
            </a:extLst>
          </p:cNvPr>
          <p:cNvSpPr>
            <a:spLocks noGrp="1"/>
          </p:cNvSpPr>
          <p:nvPr>
            <p:ph type="sldNum" sz="quarter" idx="5"/>
          </p:nvPr>
        </p:nvSpPr>
        <p:spPr/>
        <p:txBody>
          <a:bodyPr/>
          <a:lstStyle/>
          <a:p>
            <a:fld id="{C9D89646-4F35-49C2-BD28-89287C170EC3}" type="slidenum">
              <a:rPr lang="el-GR" smtClean="0"/>
              <a:t>13</a:t>
            </a:fld>
            <a:endParaRPr lang="el-GR"/>
          </a:p>
        </p:txBody>
      </p:sp>
    </p:spTree>
    <p:extLst>
      <p:ext uri="{BB962C8B-B14F-4D97-AF65-F5344CB8AC3E}">
        <p14:creationId xmlns:p14="http://schemas.microsoft.com/office/powerpoint/2010/main" val="1075428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E1DE9-8B4F-CBA7-3939-8A159C37D4D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367B365E-E845-DC2E-17BD-BA8F5C1F69F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49A7832-1CA7-E644-65E3-A2EBDE6D0085}"/>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2733B65-0418-DB18-1DA8-8829410FC7C7}"/>
              </a:ext>
            </a:extLst>
          </p:cNvPr>
          <p:cNvSpPr>
            <a:spLocks noGrp="1"/>
          </p:cNvSpPr>
          <p:nvPr>
            <p:ph type="sldNum" sz="quarter" idx="5"/>
          </p:nvPr>
        </p:nvSpPr>
        <p:spPr/>
        <p:txBody>
          <a:bodyPr/>
          <a:lstStyle/>
          <a:p>
            <a:fld id="{C9D89646-4F35-49C2-BD28-89287C170EC3}" type="slidenum">
              <a:rPr lang="el-GR" smtClean="0"/>
              <a:t>14</a:t>
            </a:fld>
            <a:endParaRPr lang="el-GR"/>
          </a:p>
        </p:txBody>
      </p:sp>
    </p:spTree>
    <p:extLst>
      <p:ext uri="{BB962C8B-B14F-4D97-AF65-F5344CB8AC3E}">
        <p14:creationId xmlns:p14="http://schemas.microsoft.com/office/powerpoint/2010/main" val="889492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49245-6C27-5155-B985-4DD231C5824D}"/>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A93EAE5-DEB6-65A4-9A73-DFEC01A0492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E21D9DC-8E54-7464-C8AF-5C6418FCD26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D482C135-47EB-8484-F528-DAD7CA1179D1}"/>
              </a:ext>
            </a:extLst>
          </p:cNvPr>
          <p:cNvSpPr>
            <a:spLocks noGrp="1"/>
          </p:cNvSpPr>
          <p:nvPr>
            <p:ph type="sldNum" sz="quarter" idx="5"/>
          </p:nvPr>
        </p:nvSpPr>
        <p:spPr/>
        <p:txBody>
          <a:bodyPr/>
          <a:lstStyle/>
          <a:p>
            <a:fld id="{C9D89646-4F35-49C2-BD28-89287C170EC3}" type="slidenum">
              <a:rPr lang="el-GR" smtClean="0"/>
              <a:t>15</a:t>
            </a:fld>
            <a:endParaRPr lang="el-GR"/>
          </a:p>
        </p:txBody>
      </p:sp>
    </p:spTree>
    <p:extLst>
      <p:ext uri="{BB962C8B-B14F-4D97-AF65-F5344CB8AC3E}">
        <p14:creationId xmlns:p14="http://schemas.microsoft.com/office/powerpoint/2010/main" val="802856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1E013-4258-A63E-4F38-9C18F4EB7AC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3ED351E-7C6D-3730-CDC7-8C21697BECD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04AC87C-DF72-179B-7A86-CAC903CFDF4A}"/>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AE9C3133-4B9A-DA4B-6B7F-EED8F8BB1BE9}"/>
              </a:ext>
            </a:extLst>
          </p:cNvPr>
          <p:cNvSpPr>
            <a:spLocks noGrp="1"/>
          </p:cNvSpPr>
          <p:nvPr>
            <p:ph type="sldNum" sz="quarter" idx="5"/>
          </p:nvPr>
        </p:nvSpPr>
        <p:spPr/>
        <p:txBody>
          <a:bodyPr/>
          <a:lstStyle/>
          <a:p>
            <a:fld id="{C9D89646-4F35-49C2-BD28-89287C170EC3}" type="slidenum">
              <a:rPr lang="el-GR" smtClean="0"/>
              <a:t>16</a:t>
            </a:fld>
            <a:endParaRPr lang="el-GR"/>
          </a:p>
        </p:txBody>
      </p:sp>
    </p:spTree>
    <p:extLst>
      <p:ext uri="{BB962C8B-B14F-4D97-AF65-F5344CB8AC3E}">
        <p14:creationId xmlns:p14="http://schemas.microsoft.com/office/powerpoint/2010/main" val="9240287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3E060-F049-2B3B-888C-CE0F8E74C01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F2FFCB7-B4C3-BDEE-6944-8D7EAAB1156A}"/>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5AEE427-0973-716E-6BC2-B4831A91523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A66872F-1132-C243-00A1-90633DB73AC7}"/>
              </a:ext>
            </a:extLst>
          </p:cNvPr>
          <p:cNvSpPr>
            <a:spLocks noGrp="1"/>
          </p:cNvSpPr>
          <p:nvPr>
            <p:ph type="sldNum" sz="quarter" idx="5"/>
          </p:nvPr>
        </p:nvSpPr>
        <p:spPr/>
        <p:txBody>
          <a:bodyPr/>
          <a:lstStyle/>
          <a:p>
            <a:fld id="{C9D89646-4F35-49C2-BD28-89287C170EC3}" type="slidenum">
              <a:rPr lang="el-GR" smtClean="0"/>
              <a:t>17</a:t>
            </a:fld>
            <a:endParaRPr lang="el-GR"/>
          </a:p>
        </p:txBody>
      </p:sp>
    </p:spTree>
    <p:extLst>
      <p:ext uri="{BB962C8B-B14F-4D97-AF65-F5344CB8AC3E}">
        <p14:creationId xmlns:p14="http://schemas.microsoft.com/office/powerpoint/2010/main" val="3495343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1A0C-904F-B154-AA19-6583C578C00D}"/>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8504B1CF-8B40-FFF5-30A0-EE6BC26AEF11}"/>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BE8859B-D15F-5FAC-8CCE-EC26B6B050AB}"/>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E0D3AB1-57F2-CCBF-3C12-36123A26F36A}"/>
              </a:ext>
            </a:extLst>
          </p:cNvPr>
          <p:cNvSpPr>
            <a:spLocks noGrp="1"/>
          </p:cNvSpPr>
          <p:nvPr>
            <p:ph type="sldNum" sz="quarter" idx="5"/>
          </p:nvPr>
        </p:nvSpPr>
        <p:spPr/>
        <p:txBody>
          <a:bodyPr/>
          <a:lstStyle/>
          <a:p>
            <a:fld id="{C9D89646-4F35-49C2-BD28-89287C170EC3}" type="slidenum">
              <a:rPr lang="el-GR" smtClean="0"/>
              <a:t>18</a:t>
            </a:fld>
            <a:endParaRPr lang="el-GR"/>
          </a:p>
        </p:txBody>
      </p:sp>
    </p:spTree>
    <p:extLst>
      <p:ext uri="{BB962C8B-B14F-4D97-AF65-F5344CB8AC3E}">
        <p14:creationId xmlns:p14="http://schemas.microsoft.com/office/powerpoint/2010/main" val="40324900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5B814-D045-9F54-6E2B-4C225D7C3A1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CBFCFC0-2EAE-25EC-C276-00F5E38C0D7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3A73BFC-9532-C541-F434-660112B9529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B6BF543-0C73-169F-CA72-DB42E5BBE202}"/>
              </a:ext>
            </a:extLst>
          </p:cNvPr>
          <p:cNvSpPr>
            <a:spLocks noGrp="1"/>
          </p:cNvSpPr>
          <p:nvPr>
            <p:ph type="sldNum" sz="quarter" idx="5"/>
          </p:nvPr>
        </p:nvSpPr>
        <p:spPr/>
        <p:txBody>
          <a:bodyPr/>
          <a:lstStyle/>
          <a:p>
            <a:fld id="{C9D89646-4F35-49C2-BD28-89287C170EC3}" type="slidenum">
              <a:rPr lang="el-GR" smtClean="0"/>
              <a:t>19</a:t>
            </a:fld>
            <a:endParaRPr lang="el-GR"/>
          </a:p>
        </p:txBody>
      </p:sp>
    </p:spTree>
    <p:extLst>
      <p:ext uri="{BB962C8B-B14F-4D97-AF65-F5344CB8AC3E}">
        <p14:creationId xmlns:p14="http://schemas.microsoft.com/office/powerpoint/2010/main" val="23568366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D3A11-F491-9827-525A-23E08AC7E3B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D02C646-488A-00A6-2691-0F0DE9D53AD5}"/>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F49115B-1D9B-ED58-4403-92428D2B4440}"/>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70CE2D4-1B91-409D-5C3F-B727F495608C}"/>
              </a:ext>
            </a:extLst>
          </p:cNvPr>
          <p:cNvSpPr>
            <a:spLocks noGrp="1"/>
          </p:cNvSpPr>
          <p:nvPr>
            <p:ph type="sldNum" sz="quarter" idx="5"/>
          </p:nvPr>
        </p:nvSpPr>
        <p:spPr/>
        <p:txBody>
          <a:bodyPr/>
          <a:lstStyle/>
          <a:p>
            <a:fld id="{C9D89646-4F35-49C2-BD28-89287C170EC3}" type="slidenum">
              <a:rPr lang="el-GR" smtClean="0"/>
              <a:t>20</a:t>
            </a:fld>
            <a:endParaRPr lang="el-GR"/>
          </a:p>
        </p:txBody>
      </p:sp>
    </p:spTree>
    <p:extLst>
      <p:ext uri="{BB962C8B-B14F-4D97-AF65-F5344CB8AC3E}">
        <p14:creationId xmlns:p14="http://schemas.microsoft.com/office/powerpoint/2010/main" val="37366356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642E3-0D89-8690-6E29-0F4BC15EACB2}"/>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8A2D2C7-B667-E54A-C29B-0CF3731BE76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8109EE04-47C5-27C3-D3D1-C2BBD26A9A50}"/>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77EBE4CD-0FA4-910F-3BD9-874C31E99510}"/>
              </a:ext>
            </a:extLst>
          </p:cNvPr>
          <p:cNvSpPr>
            <a:spLocks noGrp="1"/>
          </p:cNvSpPr>
          <p:nvPr>
            <p:ph type="sldNum" sz="quarter" idx="5"/>
          </p:nvPr>
        </p:nvSpPr>
        <p:spPr/>
        <p:txBody>
          <a:bodyPr/>
          <a:lstStyle/>
          <a:p>
            <a:fld id="{C9D89646-4F35-49C2-BD28-89287C170EC3}" type="slidenum">
              <a:rPr lang="el-GR" smtClean="0"/>
              <a:t>21</a:t>
            </a:fld>
            <a:endParaRPr lang="el-GR"/>
          </a:p>
        </p:txBody>
      </p:sp>
    </p:spTree>
    <p:extLst>
      <p:ext uri="{BB962C8B-B14F-4D97-AF65-F5344CB8AC3E}">
        <p14:creationId xmlns:p14="http://schemas.microsoft.com/office/powerpoint/2010/main" val="38347815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EC30D-E0EF-09E2-8C75-972DD4934C7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809FE4A-17E9-401B-BF24-967B19113C5E}"/>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6365E86-6D91-6710-33E9-FFF53FD52318}"/>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72AC66E-2485-FFB1-8542-9F18BC4A6C4D}"/>
              </a:ext>
            </a:extLst>
          </p:cNvPr>
          <p:cNvSpPr>
            <a:spLocks noGrp="1"/>
          </p:cNvSpPr>
          <p:nvPr>
            <p:ph type="sldNum" sz="quarter" idx="5"/>
          </p:nvPr>
        </p:nvSpPr>
        <p:spPr/>
        <p:txBody>
          <a:bodyPr/>
          <a:lstStyle/>
          <a:p>
            <a:fld id="{C9D89646-4F35-49C2-BD28-89287C170EC3}" type="slidenum">
              <a:rPr lang="el-GR" smtClean="0"/>
              <a:t>22</a:t>
            </a:fld>
            <a:endParaRPr lang="el-GR"/>
          </a:p>
        </p:txBody>
      </p:sp>
    </p:spTree>
    <p:extLst>
      <p:ext uri="{BB962C8B-B14F-4D97-AF65-F5344CB8AC3E}">
        <p14:creationId xmlns:p14="http://schemas.microsoft.com/office/powerpoint/2010/main" val="24872334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0203A-E429-0932-31AF-ED44EFB17CBC}"/>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F388DED-2C7A-C671-7046-AC45B9587C2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CF3B63EB-0929-B96D-F3CC-F0558932559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ACDE10DB-F69D-3A01-9FA8-D59A65945C05}"/>
              </a:ext>
            </a:extLst>
          </p:cNvPr>
          <p:cNvSpPr>
            <a:spLocks noGrp="1"/>
          </p:cNvSpPr>
          <p:nvPr>
            <p:ph type="sldNum" sz="quarter" idx="5"/>
          </p:nvPr>
        </p:nvSpPr>
        <p:spPr/>
        <p:txBody>
          <a:bodyPr/>
          <a:lstStyle/>
          <a:p>
            <a:fld id="{C9D89646-4F35-49C2-BD28-89287C170EC3}" type="slidenum">
              <a:rPr lang="el-GR" smtClean="0"/>
              <a:t>23</a:t>
            </a:fld>
            <a:endParaRPr lang="el-GR"/>
          </a:p>
        </p:txBody>
      </p:sp>
    </p:spTree>
    <p:extLst>
      <p:ext uri="{BB962C8B-B14F-4D97-AF65-F5344CB8AC3E}">
        <p14:creationId xmlns:p14="http://schemas.microsoft.com/office/powerpoint/2010/main" val="16925786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3391F-EAF0-5E8E-7B63-6EDFCD39EFE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5F19B54-0881-1DB0-FFC6-B01AA7522B1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CDDDE5ED-EA65-D1C0-4B33-ED8C56F764E3}"/>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786B50A2-356F-A0FD-EDC9-5E0D5BF3254E}"/>
              </a:ext>
            </a:extLst>
          </p:cNvPr>
          <p:cNvSpPr>
            <a:spLocks noGrp="1"/>
          </p:cNvSpPr>
          <p:nvPr>
            <p:ph type="sldNum" sz="quarter" idx="5"/>
          </p:nvPr>
        </p:nvSpPr>
        <p:spPr/>
        <p:txBody>
          <a:bodyPr/>
          <a:lstStyle/>
          <a:p>
            <a:fld id="{C9D89646-4F35-49C2-BD28-89287C170EC3}" type="slidenum">
              <a:rPr lang="el-GR" smtClean="0"/>
              <a:t>24</a:t>
            </a:fld>
            <a:endParaRPr lang="el-GR"/>
          </a:p>
        </p:txBody>
      </p:sp>
    </p:spTree>
    <p:extLst>
      <p:ext uri="{BB962C8B-B14F-4D97-AF65-F5344CB8AC3E}">
        <p14:creationId xmlns:p14="http://schemas.microsoft.com/office/powerpoint/2010/main" val="34059157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93BB7-5E43-61C6-E32D-B151F9E119D8}"/>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052D539-2FFF-DBC0-9308-23E63DD0A1DA}"/>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EBFA15B-DD6E-EC8B-B866-6339AE5BAFF5}"/>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A44BEF49-3901-C8D2-23F9-D7F71203883D}"/>
              </a:ext>
            </a:extLst>
          </p:cNvPr>
          <p:cNvSpPr>
            <a:spLocks noGrp="1"/>
          </p:cNvSpPr>
          <p:nvPr>
            <p:ph type="sldNum" sz="quarter" idx="5"/>
          </p:nvPr>
        </p:nvSpPr>
        <p:spPr/>
        <p:txBody>
          <a:bodyPr/>
          <a:lstStyle/>
          <a:p>
            <a:fld id="{C9D89646-4F35-49C2-BD28-89287C170EC3}" type="slidenum">
              <a:rPr lang="el-GR" smtClean="0"/>
              <a:t>25</a:t>
            </a:fld>
            <a:endParaRPr lang="el-GR"/>
          </a:p>
        </p:txBody>
      </p:sp>
    </p:spTree>
    <p:extLst>
      <p:ext uri="{BB962C8B-B14F-4D97-AF65-F5344CB8AC3E}">
        <p14:creationId xmlns:p14="http://schemas.microsoft.com/office/powerpoint/2010/main" val="39673713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6628A-08AB-A35A-3B8C-06DBE8D0A03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0816680-860F-1343-15E6-6A53BE8C4B4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747A18F-6A28-1398-DFB7-43350705E92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134970A-A86D-F259-DAAE-A24CED5D3BC4}"/>
              </a:ext>
            </a:extLst>
          </p:cNvPr>
          <p:cNvSpPr>
            <a:spLocks noGrp="1"/>
          </p:cNvSpPr>
          <p:nvPr>
            <p:ph type="sldNum" sz="quarter" idx="5"/>
          </p:nvPr>
        </p:nvSpPr>
        <p:spPr/>
        <p:txBody>
          <a:bodyPr/>
          <a:lstStyle/>
          <a:p>
            <a:fld id="{C9D89646-4F35-49C2-BD28-89287C170EC3}" type="slidenum">
              <a:rPr lang="el-GR" smtClean="0"/>
              <a:t>26</a:t>
            </a:fld>
            <a:endParaRPr lang="el-GR"/>
          </a:p>
        </p:txBody>
      </p:sp>
    </p:spTree>
    <p:extLst>
      <p:ext uri="{BB962C8B-B14F-4D97-AF65-F5344CB8AC3E}">
        <p14:creationId xmlns:p14="http://schemas.microsoft.com/office/powerpoint/2010/main" val="7291988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B9076-E772-4E45-E7CD-AD64050C5BE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41E1790-2376-7796-94B4-D8BF55581C6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EDCC98B-21E1-9DEF-1C10-1D0D9A7E537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B5092C74-D61A-369C-DE4A-8A49C0E6F339}"/>
              </a:ext>
            </a:extLst>
          </p:cNvPr>
          <p:cNvSpPr>
            <a:spLocks noGrp="1"/>
          </p:cNvSpPr>
          <p:nvPr>
            <p:ph type="sldNum" sz="quarter" idx="5"/>
          </p:nvPr>
        </p:nvSpPr>
        <p:spPr/>
        <p:txBody>
          <a:bodyPr/>
          <a:lstStyle/>
          <a:p>
            <a:fld id="{C9D89646-4F35-49C2-BD28-89287C170EC3}" type="slidenum">
              <a:rPr lang="el-GR" smtClean="0"/>
              <a:t>27</a:t>
            </a:fld>
            <a:endParaRPr lang="el-GR"/>
          </a:p>
        </p:txBody>
      </p:sp>
    </p:spTree>
    <p:extLst>
      <p:ext uri="{BB962C8B-B14F-4D97-AF65-F5344CB8AC3E}">
        <p14:creationId xmlns:p14="http://schemas.microsoft.com/office/powerpoint/2010/main" val="41452789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3AF97-EE0A-B3A2-ACD1-516B78960EB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5FBED8A-5BD2-E119-0825-8EE6FABF168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D589DF12-4599-F5C9-F51C-83DB9D214E7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2FAAF45-F13D-422D-2264-2E33A9C59C33}"/>
              </a:ext>
            </a:extLst>
          </p:cNvPr>
          <p:cNvSpPr>
            <a:spLocks noGrp="1"/>
          </p:cNvSpPr>
          <p:nvPr>
            <p:ph type="sldNum" sz="quarter" idx="5"/>
          </p:nvPr>
        </p:nvSpPr>
        <p:spPr/>
        <p:txBody>
          <a:bodyPr/>
          <a:lstStyle/>
          <a:p>
            <a:fld id="{C9D89646-4F35-49C2-BD28-89287C170EC3}" type="slidenum">
              <a:rPr lang="el-GR" smtClean="0"/>
              <a:t>28</a:t>
            </a:fld>
            <a:endParaRPr lang="el-GR"/>
          </a:p>
        </p:txBody>
      </p:sp>
    </p:spTree>
    <p:extLst>
      <p:ext uri="{BB962C8B-B14F-4D97-AF65-F5344CB8AC3E}">
        <p14:creationId xmlns:p14="http://schemas.microsoft.com/office/powerpoint/2010/main" val="10044326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7FFC7-4BB0-507D-62CB-6008B11F8E8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B89146E-02D3-8CA6-2E37-D8BCC3AE65D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C445B34-E503-50D5-F7F4-101A6F326767}"/>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BEF63D5-CC96-E7FC-3038-BB3DBD0ACC90}"/>
              </a:ext>
            </a:extLst>
          </p:cNvPr>
          <p:cNvSpPr>
            <a:spLocks noGrp="1"/>
          </p:cNvSpPr>
          <p:nvPr>
            <p:ph type="sldNum" sz="quarter" idx="5"/>
          </p:nvPr>
        </p:nvSpPr>
        <p:spPr/>
        <p:txBody>
          <a:bodyPr/>
          <a:lstStyle/>
          <a:p>
            <a:fld id="{C9D89646-4F35-49C2-BD28-89287C170EC3}" type="slidenum">
              <a:rPr lang="el-GR" smtClean="0"/>
              <a:t>29</a:t>
            </a:fld>
            <a:endParaRPr lang="el-GR"/>
          </a:p>
        </p:txBody>
      </p:sp>
    </p:spTree>
    <p:extLst>
      <p:ext uri="{BB962C8B-B14F-4D97-AF65-F5344CB8AC3E}">
        <p14:creationId xmlns:p14="http://schemas.microsoft.com/office/powerpoint/2010/main" val="37840173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56C31-8A10-70F3-FA72-A5BBB0722DD2}"/>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03DA9C3-F2E2-6668-7BC1-E6F03D8C883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09C81B3-895F-CD50-9641-3CD113E1ECC3}"/>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2163BE6-0856-A49F-4A1B-6480A5B41FB7}"/>
              </a:ext>
            </a:extLst>
          </p:cNvPr>
          <p:cNvSpPr>
            <a:spLocks noGrp="1"/>
          </p:cNvSpPr>
          <p:nvPr>
            <p:ph type="sldNum" sz="quarter" idx="5"/>
          </p:nvPr>
        </p:nvSpPr>
        <p:spPr/>
        <p:txBody>
          <a:bodyPr/>
          <a:lstStyle/>
          <a:p>
            <a:fld id="{C9D89646-4F35-49C2-BD28-89287C170EC3}" type="slidenum">
              <a:rPr lang="el-GR" smtClean="0"/>
              <a:t>30</a:t>
            </a:fld>
            <a:endParaRPr lang="el-GR"/>
          </a:p>
        </p:txBody>
      </p:sp>
    </p:spTree>
    <p:extLst>
      <p:ext uri="{BB962C8B-B14F-4D97-AF65-F5344CB8AC3E}">
        <p14:creationId xmlns:p14="http://schemas.microsoft.com/office/powerpoint/2010/main" val="3044484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6DACD-46D5-9FB1-23DC-DF5230ECCFE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CD60205-525F-476E-8247-7717779FA01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1822B37D-EC33-AD52-DF5E-F52D70CD4B6A}"/>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9BA4318-5473-3F0B-926D-ADF2C9ED96F9}"/>
              </a:ext>
            </a:extLst>
          </p:cNvPr>
          <p:cNvSpPr>
            <a:spLocks noGrp="1"/>
          </p:cNvSpPr>
          <p:nvPr>
            <p:ph type="sldNum" sz="quarter" idx="5"/>
          </p:nvPr>
        </p:nvSpPr>
        <p:spPr/>
        <p:txBody>
          <a:bodyPr/>
          <a:lstStyle/>
          <a:p>
            <a:fld id="{C9D89646-4F35-49C2-BD28-89287C170EC3}" type="slidenum">
              <a:rPr lang="el-GR" smtClean="0"/>
              <a:t>31</a:t>
            </a:fld>
            <a:endParaRPr lang="el-GR"/>
          </a:p>
        </p:txBody>
      </p:sp>
    </p:spTree>
    <p:extLst>
      <p:ext uri="{BB962C8B-B14F-4D97-AF65-F5344CB8AC3E}">
        <p14:creationId xmlns:p14="http://schemas.microsoft.com/office/powerpoint/2010/main" val="18098351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25401-EBED-E8FA-1683-9B0AC6BE166D}"/>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A7F9B0F-D09E-95C6-B652-517F70C69B8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C3661946-AEFA-1A97-E2A9-6FE9293C1C6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A0887789-59A0-FD46-6758-680A582CC26D}"/>
              </a:ext>
            </a:extLst>
          </p:cNvPr>
          <p:cNvSpPr>
            <a:spLocks noGrp="1"/>
          </p:cNvSpPr>
          <p:nvPr>
            <p:ph type="sldNum" sz="quarter" idx="5"/>
          </p:nvPr>
        </p:nvSpPr>
        <p:spPr/>
        <p:txBody>
          <a:bodyPr/>
          <a:lstStyle/>
          <a:p>
            <a:fld id="{C9D89646-4F35-49C2-BD28-89287C170EC3}" type="slidenum">
              <a:rPr lang="el-GR" smtClean="0"/>
              <a:t>32</a:t>
            </a:fld>
            <a:endParaRPr lang="el-GR"/>
          </a:p>
        </p:txBody>
      </p:sp>
    </p:spTree>
    <p:extLst>
      <p:ext uri="{BB962C8B-B14F-4D97-AF65-F5344CB8AC3E}">
        <p14:creationId xmlns:p14="http://schemas.microsoft.com/office/powerpoint/2010/main" val="696085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20F0C6-20AC-41EB-97A9-F4D49B814E72}"/>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E32E3D7A-E6B7-4F3B-A3A4-432551739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5913F9FC-9EB9-4B41-B003-FC4C036B10AF}"/>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3FB8E113-6156-4872-81CC-442E8373B36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6173B9A-A0EA-47D7-8D18-B6E2BD95D9D4}"/>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9922711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FF7B4CC-9312-4102-9C7A-DD5776C36EC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9207E59-B014-409F-8E39-F07CF6FA4572}"/>
              </a:ext>
            </a:extLst>
          </p:cNvPr>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D28C698E-FDE3-406F-AEF7-58C354D6FB0E}"/>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1DBB6EE0-1F7E-4C3D-8524-627F4FAB7F0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115A0C17-4537-4F4D-B727-1C89BF11BF9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202150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AD7298-5AF8-4835-97EB-C16ED6D23C12}"/>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D2EC4FE-ACD0-4F71-A34B-36ED9050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Επεξεργασία στυλ υποδείγματος κειμένου</a:t>
            </a:r>
          </a:p>
        </p:txBody>
      </p:sp>
      <p:sp>
        <p:nvSpPr>
          <p:cNvPr id="4" name="Θέση ημερομηνίας 3">
            <a:extLst>
              <a:ext uri="{FF2B5EF4-FFF2-40B4-BE49-F238E27FC236}">
                <a16:creationId xmlns:a16="http://schemas.microsoft.com/office/drawing/2014/main" id="{0525369C-E8DA-4A41-A021-C2AFFA6BA4A0}"/>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09E6631D-4B2B-42B6-B88C-990FA7605C6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4B4A319-5C9B-46DF-96B8-F30BC39F7913}"/>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417744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86A31-D5EC-46FA-A235-F151422FA94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52F68FD-8072-4020-B6C4-C8DEF5ACC9D2}"/>
              </a:ext>
            </a:extLst>
          </p:cNvPr>
          <p:cNvSpPr>
            <a:spLocks noGrp="1"/>
          </p:cNvSpPr>
          <p:nvPr>
            <p:ph sz="half" idx="1"/>
          </p:nvPr>
        </p:nvSpPr>
        <p:spPr>
          <a:xfrm>
            <a:off x="838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a:extLst>
              <a:ext uri="{FF2B5EF4-FFF2-40B4-BE49-F238E27FC236}">
                <a16:creationId xmlns:a16="http://schemas.microsoft.com/office/drawing/2014/main" id="{CB43AF00-F0E0-4F57-8814-5AB4B0C031DB}"/>
              </a:ext>
            </a:extLst>
          </p:cNvPr>
          <p:cNvSpPr>
            <a:spLocks noGrp="1"/>
          </p:cNvSpPr>
          <p:nvPr>
            <p:ph sz="half" idx="2"/>
          </p:nvPr>
        </p:nvSpPr>
        <p:spPr>
          <a:xfrm>
            <a:off x="6172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a:extLst>
              <a:ext uri="{FF2B5EF4-FFF2-40B4-BE49-F238E27FC236}">
                <a16:creationId xmlns:a16="http://schemas.microsoft.com/office/drawing/2014/main" id="{89D9695B-1677-4255-A36B-ADA53963E256}"/>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32F05351-67C2-46C6-A91C-414650F2CC4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D2959A3-E6A4-4BB0-BE95-F23CF5F5668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98740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1550276-9848-4578-8364-691220AD21E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11C9CFA5-81EF-4418-9CE2-C9EB8CE5F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4" name="Θέση περιεχομένου 3">
            <a:extLst>
              <a:ext uri="{FF2B5EF4-FFF2-40B4-BE49-F238E27FC236}">
                <a16:creationId xmlns:a16="http://schemas.microsoft.com/office/drawing/2014/main" id="{8144BA92-B3F1-426D-9721-D505666C5228}"/>
              </a:ext>
            </a:extLst>
          </p:cNvPr>
          <p:cNvSpPr>
            <a:spLocks noGrp="1"/>
          </p:cNvSpPr>
          <p:nvPr>
            <p:ph sz="half" idx="2"/>
          </p:nvPr>
        </p:nvSpPr>
        <p:spPr>
          <a:xfrm>
            <a:off x="839788" y="2505075"/>
            <a:ext cx="5157787"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a:extLst>
              <a:ext uri="{FF2B5EF4-FFF2-40B4-BE49-F238E27FC236}">
                <a16:creationId xmlns:a16="http://schemas.microsoft.com/office/drawing/2014/main" id="{34964523-2FE6-420B-BF7F-3ED590658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6" name="Θέση περιεχομένου 5">
            <a:extLst>
              <a:ext uri="{FF2B5EF4-FFF2-40B4-BE49-F238E27FC236}">
                <a16:creationId xmlns:a16="http://schemas.microsoft.com/office/drawing/2014/main" id="{4EE8D821-AC0B-4F1C-AC1B-68CAEA6E8CA5}"/>
              </a:ext>
            </a:extLst>
          </p:cNvPr>
          <p:cNvSpPr>
            <a:spLocks noGrp="1"/>
          </p:cNvSpPr>
          <p:nvPr>
            <p:ph sz="quarter" idx="4"/>
          </p:nvPr>
        </p:nvSpPr>
        <p:spPr>
          <a:xfrm>
            <a:off x="6172200" y="2505075"/>
            <a:ext cx="518318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a:extLst>
              <a:ext uri="{FF2B5EF4-FFF2-40B4-BE49-F238E27FC236}">
                <a16:creationId xmlns:a16="http://schemas.microsoft.com/office/drawing/2014/main" id="{0836FDB2-AE28-437A-B450-FC5FA097063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8" name="Θέση υποσέλιδου 7">
            <a:extLst>
              <a:ext uri="{FF2B5EF4-FFF2-40B4-BE49-F238E27FC236}">
                <a16:creationId xmlns:a16="http://schemas.microsoft.com/office/drawing/2014/main" id="{3CC56F37-5360-4ED6-9EFB-B4959D6A052A}"/>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8423FDBB-6E0A-4AD0-AD73-FB22040EE5F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1885239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BE337C-659B-44A0-815E-1CE7F2FDBE9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9D7B6A3-3626-4AD7-97D4-F6210A23721E}"/>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4" name="Θέση υποσέλιδου 3">
            <a:extLst>
              <a:ext uri="{FF2B5EF4-FFF2-40B4-BE49-F238E27FC236}">
                <a16:creationId xmlns:a16="http://schemas.microsoft.com/office/drawing/2014/main" id="{D50B290B-CDC6-4F07-927A-EB7F796E2DA3}"/>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AD0E512-8E7A-4A77-8496-D36864CFC6EE}"/>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24460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5F803E6-97F1-4D9B-A18A-566A4A16D1A4}"/>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3" name="Θέση υποσέλιδου 2">
            <a:extLst>
              <a:ext uri="{FF2B5EF4-FFF2-40B4-BE49-F238E27FC236}">
                <a16:creationId xmlns:a16="http://schemas.microsoft.com/office/drawing/2014/main" id="{D16003C0-6EB6-4C9B-A531-7B4E3CE4C6EF}"/>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EA301AA-05AA-466A-BB11-E4CEB6F9F9F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706581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AAEFBB-DCF4-46CF-9FC6-8D65BCEB99F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FACB05B-E524-44F7-BF66-694B0E33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a:extLst>
              <a:ext uri="{FF2B5EF4-FFF2-40B4-BE49-F238E27FC236}">
                <a16:creationId xmlns:a16="http://schemas.microsoft.com/office/drawing/2014/main" id="{5473C60C-80C9-4542-852E-B22F6BA60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5209058B-2FCA-4D37-A928-B77A09F7831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2F8D9052-7B1B-4DEA-BE59-76E1CA20603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F7BFCBB-BB2D-41CB-8EF4-1D6154D0585F}"/>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464404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A72A12-B4CE-41C0-824E-4DB22C0C50F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331ABF6-AF41-4DA6-82BC-340BA6382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4AD854A-F202-4241-AFA5-8F8D5175F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D2D25601-E5C6-4DAA-A438-750D7B0C439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C1A411BF-7CE1-4136-85D0-CEA759EB38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D64BFB-00A3-49A7-B9AF-C93C938A5D40}"/>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06863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CBF383B-9D9C-4567-A73F-3964FF66D08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42568873-5978-4A13-BA12-F77F173EB2AE}"/>
              </a:ext>
            </a:extLst>
          </p:cNvPr>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788EFFCE-A34B-4F95-B3D5-603927E16998}"/>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1BE576DF-BE6C-4DE7-BDD8-60E8F026DE8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323CB-AAB1-4C9E-AE28-C6179CB9C31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996564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176F3CB-2A60-46CD-8CF9-DD053E08C84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2F4BEC8-6DEB-41E5-B12D-18B14C6B0A04}"/>
              </a:ext>
            </a:extLst>
          </p:cNvPr>
          <p:cNvSpPr>
            <a:spLocks noGrp="1"/>
          </p:cNvSpPr>
          <p:nvPr>
            <p:ph type="body" orient="vert" idx="1"/>
          </p:nvPr>
        </p:nvSpPr>
        <p:spPr>
          <a:xfrm>
            <a:off x="838200"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CC7DD041-7F64-4984-A13C-EE7907028650}"/>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6502BD5F-24B7-4FDD-BD59-39295F5737B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E0B5687-7B67-47CF-995B-36EF0D417F4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97139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242166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10095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525868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41437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C858F2E9-5724-40D7-A084-8A9A9CED4F62}" type="datetimeFigureOut">
              <a:rPr lang="el-GR" smtClean="0"/>
              <a:t>14/10/2025</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2613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C858F2E9-5724-40D7-A084-8A9A9CED4F62}" type="datetimeFigureOut">
              <a:rPr lang="el-GR" smtClean="0"/>
              <a:t>14/10/2025</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127422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77C47DEE-5753-44EA-A073-053903F4D65C}" type="datetimeFigureOut">
              <a:rPr lang="el-GR" smtClean="0"/>
              <a:t>14/10/2025</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52939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40765693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57923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7289043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3270199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92F1800-E376-4EAC-8DCE-EF767BC9F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3EDA18A-E08C-433A-8864-CE510E638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F5AF37D2-402E-4529-9EEC-414BB35C5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3CF16FB6-3B9A-47F7-BC11-0CD0D4478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A057F2B-A2D8-4FC1-B53F-4487A3875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177764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14/10/2025</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254368278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hyperlink" Target="https://sites.google.com/view/i2art-of-programming/hom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image" Target="../media/image4.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7.emf"/><Relationship Id="rId5" Type="http://schemas.openxmlformats.org/officeDocument/2006/relationships/oleObject" Target="../embeddings/oleObject2.bin"/><Relationship Id="rId4" Type="http://schemas.openxmlformats.org/officeDocument/2006/relationships/image" Target="../media/image6.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Υπότιτλος 2">
            <a:extLst>
              <a:ext uri="{FF2B5EF4-FFF2-40B4-BE49-F238E27FC236}">
                <a16:creationId xmlns:a16="http://schemas.microsoft.com/office/drawing/2014/main" id="{1FEF44B4-5484-7F60-BA37-96313DC3B896}"/>
              </a:ext>
            </a:extLst>
          </p:cNvPr>
          <p:cNvSpPr txBox="1">
            <a:spLocks/>
          </p:cNvSpPr>
          <p:nvPr/>
        </p:nvSpPr>
        <p:spPr>
          <a:xfrm>
            <a:off x="16237" y="1648086"/>
            <a:ext cx="9349436" cy="720408"/>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spcBef>
                <a:spcPct val="0"/>
              </a:spcBef>
              <a:spcAft>
                <a:spcPts val="600"/>
              </a:spcAft>
            </a:pPr>
            <a:r>
              <a:rPr lang="el-GR" sz="4000" b="1" dirty="0">
                <a:solidFill>
                  <a:srgbClr val="60D69E"/>
                </a:solidFill>
                <a:latin typeface="Bahnschrift" panose="020B0502040204020203" pitchFamily="34" charset="0"/>
              </a:rPr>
              <a:t>Μεταβλητές, Σταθερές, Τύποι Δεδομένων</a:t>
            </a:r>
            <a:endParaRPr lang="en-US" sz="4000" b="1" dirty="0">
              <a:solidFill>
                <a:srgbClr val="60D69E"/>
              </a:solidFill>
              <a:latin typeface="Bahnschrift" panose="020B0502040204020203" pitchFamily="34" charset="0"/>
            </a:endParaRPr>
          </a:p>
        </p:txBody>
      </p:sp>
      <p:sp>
        <p:nvSpPr>
          <p:cNvPr id="18" name="Υπότιτλος 2">
            <a:extLst>
              <a:ext uri="{FF2B5EF4-FFF2-40B4-BE49-F238E27FC236}">
                <a16:creationId xmlns:a16="http://schemas.microsoft.com/office/drawing/2014/main" id="{1CC770C9-EFCA-6DAF-8AF4-65DBC6C0060B}"/>
              </a:ext>
            </a:extLst>
          </p:cNvPr>
          <p:cNvSpPr txBox="1">
            <a:spLocks/>
          </p:cNvSpPr>
          <p:nvPr/>
        </p:nvSpPr>
        <p:spPr>
          <a:xfrm>
            <a:off x="7420598" y="2904201"/>
            <a:ext cx="3861807" cy="3644015"/>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n-US" sz="4000" b="1" dirty="0">
                <a:solidFill>
                  <a:srgbClr val="C00000"/>
                </a:solidFill>
                <a:latin typeface="Bahnschrift" panose="020B0502040204020203" pitchFamily="34" charset="0"/>
              </a:rPr>
              <a:t>Variables,</a:t>
            </a:r>
          </a:p>
          <a:p>
            <a:pPr algn="l">
              <a:lnSpc>
                <a:spcPct val="100000"/>
              </a:lnSpc>
              <a:spcBef>
                <a:spcPct val="0"/>
              </a:spcBef>
              <a:spcAft>
                <a:spcPts val="600"/>
              </a:spcAft>
            </a:pPr>
            <a:r>
              <a:rPr lang="en-US" sz="4000" b="1" dirty="0">
                <a:solidFill>
                  <a:srgbClr val="C00000"/>
                </a:solidFill>
                <a:latin typeface="Bahnschrift" panose="020B0502040204020203" pitchFamily="34" charset="0"/>
              </a:rPr>
              <a:t>Constants,</a:t>
            </a:r>
          </a:p>
          <a:p>
            <a:pPr algn="l">
              <a:lnSpc>
                <a:spcPct val="100000"/>
              </a:lnSpc>
              <a:spcBef>
                <a:spcPct val="0"/>
              </a:spcBef>
              <a:spcAft>
                <a:spcPts val="600"/>
              </a:spcAft>
            </a:pPr>
            <a:r>
              <a:rPr lang="en-US" sz="4000" b="1" dirty="0">
                <a:solidFill>
                  <a:srgbClr val="C00000"/>
                </a:solidFill>
                <a:latin typeface="Bahnschrift" panose="020B0502040204020203" pitchFamily="34" charset="0"/>
              </a:rPr>
              <a:t>Data Types</a:t>
            </a:r>
          </a:p>
        </p:txBody>
      </p:sp>
      <p:pic>
        <p:nvPicPr>
          <p:cNvPr id="20" name="Picture 19">
            <a:extLst>
              <a:ext uri="{FF2B5EF4-FFF2-40B4-BE49-F238E27FC236}">
                <a16:creationId xmlns:a16="http://schemas.microsoft.com/office/drawing/2014/main" id="{F8104CF0-71DB-277D-FF43-3A47565FC2FF}"/>
              </a:ext>
            </a:extLst>
          </p:cNvPr>
          <p:cNvPicPr>
            <a:picLocks noChangeAspect="1"/>
          </p:cNvPicPr>
          <p:nvPr/>
        </p:nvPicPr>
        <p:blipFill>
          <a:blip r:embed="rId3"/>
          <a:stretch>
            <a:fillRect/>
          </a:stretch>
        </p:blipFill>
        <p:spPr>
          <a:xfrm>
            <a:off x="9565650" y="27543"/>
            <a:ext cx="2610113" cy="3728733"/>
          </a:xfrm>
          <a:prstGeom prst="rect">
            <a:avLst/>
          </a:prstGeom>
        </p:spPr>
      </p:pic>
      <p:sp>
        <p:nvSpPr>
          <p:cNvPr id="2" name="TextBox 1">
            <a:extLst>
              <a:ext uri="{FF2B5EF4-FFF2-40B4-BE49-F238E27FC236}">
                <a16:creationId xmlns:a16="http://schemas.microsoft.com/office/drawing/2014/main" id="{9910FCBF-8AC6-46A5-056C-85D13B08BCAB}"/>
              </a:ext>
            </a:extLst>
          </p:cNvPr>
          <p:cNvSpPr txBox="1"/>
          <p:nvPr/>
        </p:nvSpPr>
        <p:spPr>
          <a:xfrm>
            <a:off x="9565650" y="3746541"/>
            <a:ext cx="2610113" cy="923330"/>
          </a:xfrm>
          <a:prstGeom prst="rect">
            <a:avLst/>
          </a:prstGeom>
          <a:noFill/>
        </p:spPr>
        <p:txBody>
          <a:bodyPr wrap="square" rtlCol="0">
            <a:spAutoFit/>
          </a:bodyPr>
          <a:lstStyle/>
          <a:p>
            <a:r>
              <a:rPr lang="el-GR" dirty="0"/>
              <a:t>Πηγή: </a:t>
            </a:r>
            <a:r>
              <a:rPr lang="el-GR" dirty="0">
                <a:hlinkClick r:id="rId4"/>
              </a:rPr>
              <a:t>Μια Εισαγωγή στην Τέχνη του Προγραμματισμού</a:t>
            </a:r>
            <a:endParaRPr lang="en-GB" dirty="0"/>
          </a:p>
        </p:txBody>
      </p:sp>
      <p:sp>
        <p:nvSpPr>
          <p:cNvPr id="3" name="TextBox 2">
            <a:extLst>
              <a:ext uri="{FF2B5EF4-FFF2-40B4-BE49-F238E27FC236}">
                <a16:creationId xmlns:a16="http://schemas.microsoft.com/office/drawing/2014/main" id="{59EEF582-4679-7423-F10A-4DB576B750C2}"/>
              </a:ext>
            </a:extLst>
          </p:cNvPr>
          <p:cNvSpPr txBox="1"/>
          <p:nvPr/>
        </p:nvSpPr>
        <p:spPr>
          <a:xfrm flipH="1">
            <a:off x="4543997" y="2368494"/>
            <a:ext cx="5370738" cy="369332"/>
          </a:xfrm>
          <a:prstGeom prst="rect">
            <a:avLst/>
          </a:prstGeom>
          <a:noFill/>
        </p:spPr>
        <p:txBody>
          <a:bodyPr wrap="square" rtlCol="0">
            <a:spAutoFit/>
          </a:bodyPr>
          <a:lstStyle/>
          <a:p>
            <a:r>
              <a:rPr lang="en-GB" dirty="0"/>
              <a:t>https://sites.google.com/view/i2art-of-programming</a:t>
            </a:r>
          </a:p>
        </p:txBody>
      </p:sp>
      <p:pic>
        <p:nvPicPr>
          <p:cNvPr id="6" name="Picture 5">
            <a:extLst>
              <a:ext uri="{FF2B5EF4-FFF2-40B4-BE49-F238E27FC236}">
                <a16:creationId xmlns:a16="http://schemas.microsoft.com/office/drawing/2014/main" id="{0970B3E1-6C3F-30CE-FDBD-F96C20D40FA3}"/>
              </a:ext>
            </a:extLst>
          </p:cNvPr>
          <p:cNvPicPr>
            <a:picLocks noChangeAspect="1"/>
          </p:cNvPicPr>
          <p:nvPr/>
        </p:nvPicPr>
        <p:blipFill>
          <a:blip r:embed="rId5"/>
          <a:stretch>
            <a:fillRect/>
          </a:stretch>
        </p:blipFill>
        <p:spPr>
          <a:xfrm>
            <a:off x="16237" y="2825164"/>
            <a:ext cx="7414963" cy="3984425"/>
          </a:xfrm>
          <a:prstGeom prst="rect">
            <a:avLst/>
          </a:prstGeom>
        </p:spPr>
      </p:pic>
      <p:sp>
        <p:nvSpPr>
          <p:cNvPr id="5" name="Υπότιτλος 2">
            <a:extLst>
              <a:ext uri="{FF2B5EF4-FFF2-40B4-BE49-F238E27FC236}">
                <a16:creationId xmlns:a16="http://schemas.microsoft.com/office/drawing/2014/main" id="{30933C82-AAD8-B9F2-932E-0A1652EE6C86}"/>
              </a:ext>
            </a:extLst>
          </p:cNvPr>
          <p:cNvSpPr txBox="1">
            <a:spLocks/>
          </p:cNvSpPr>
          <p:nvPr/>
        </p:nvSpPr>
        <p:spPr>
          <a:xfrm>
            <a:off x="-16239" y="-1461"/>
            <a:ext cx="12192002" cy="1639614"/>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pPr>
            <a:r>
              <a:rPr lang="el-GR" sz="4800" b="1" dirty="0">
                <a:latin typeface="Bahnschrift" panose="020B0502040204020203" pitchFamily="34" charset="0"/>
              </a:rPr>
              <a:t>Εισαγωγή στην Τέχνη του</a:t>
            </a:r>
          </a:p>
          <a:p>
            <a:pPr algn="l">
              <a:lnSpc>
                <a:spcPct val="100000"/>
              </a:lnSpc>
              <a:spcBef>
                <a:spcPct val="0"/>
              </a:spcBef>
            </a:pPr>
            <a:r>
              <a:rPr lang="el-GR" sz="4800" b="1" dirty="0">
                <a:latin typeface="Bahnschrift" panose="020B0502040204020203" pitchFamily="34" charset="0"/>
              </a:rPr>
              <a:t>Προγραμματισμού (με τη </a:t>
            </a:r>
            <a:r>
              <a:rPr lang="en-US" sz="4800" b="1" dirty="0">
                <a:latin typeface="Bahnschrift" panose="020B0502040204020203" pitchFamily="34" charset="0"/>
              </a:rPr>
              <a:t>C</a:t>
            </a:r>
            <a:r>
              <a:rPr lang="el-GR" sz="4800" b="1" dirty="0">
                <a:latin typeface="Bahnschrift" panose="020B0502040204020203" pitchFamily="34" charset="0"/>
              </a:rPr>
              <a:t>)</a:t>
            </a:r>
            <a:endParaRPr lang="en-US" sz="3200" b="1" dirty="0">
              <a:latin typeface="Bahnschrift" panose="020B0502040204020203" pitchFamily="34" charset="0"/>
            </a:endParaRPr>
          </a:p>
        </p:txBody>
      </p:sp>
    </p:spTree>
    <p:extLst>
      <p:ext uri="{BB962C8B-B14F-4D97-AF65-F5344CB8AC3E}">
        <p14:creationId xmlns:p14="http://schemas.microsoft.com/office/powerpoint/2010/main" val="30732527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54FF9-ED3F-7049-779D-AAB02ED3038A}"/>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84B57042-E7FB-B8F8-C665-3F5BA5EE1A67}"/>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Στόχος Ενότητας </a:t>
            </a:r>
          </a:p>
        </p:txBody>
      </p:sp>
      <p:grpSp>
        <p:nvGrpSpPr>
          <p:cNvPr id="4" name="Group 3">
            <a:extLst>
              <a:ext uri="{FF2B5EF4-FFF2-40B4-BE49-F238E27FC236}">
                <a16:creationId xmlns:a16="http://schemas.microsoft.com/office/drawing/2014/main" id="{FACBDE8D-C81C-93B5-BE96-126730A4C680}"/>
              </a:ext>
            </a:extLst>
          </p:cNvPr>
          <p:cNvGrpSpPr/>
          <p:nvPr/>
        </p:nvGrpSpPr>
        <p:grpSpPr>
          <a:xfrm>
            <a:off x="-1" y="6559908"/>
            <a:ext cx="12192001" cy="298092"/>
            <a:chOff x="-1" y="6559908"/>
            <a:chExt cx="12192001" cy="298092"/>
          </a:xfrm>
        </p:grpSpPr>
        <p:sp>
          <p:nvSpPr>
            <p:cNvPr id="10" name="Rectangle 14">
              <a:extLst>
                <a:ext uri="{FF2B5EF4-FFF2-40B4-BE49-F238E27FC236}">
                  <a16:creationId xmlns:a16="http://schemas.microsoft.com/office/drawing/2014/main" id="{FD21FF85-2E78-EA18-F4F5-83D5FC57DB15}"/>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9D7C596E-E3F3-1764-905B-D608B1E6E52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0C2830D9-7A6D-AE68-A7E8-E457A5431C6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22437081-5C9E-B355-7897-F18C7686ED67}"/>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832F5833-815B-E2A9-A53F-95AEE8F8D150}"/>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F9991C40-0240-84EB-9153-93973D59F9D2}"/>
              </a:ext>
            </a:extLst>
          </p:cNvPr>
          <p:cNvSpPr txBox="1">
            <a:spLocks/>
          </p:cNvSpPr>
          <p:nvPr/>
        </p:nvSpPr>
        <p:spPr bwMode="auto">
          <a:xfrm>
            <a:off x="-1" y="861413"/>
            <a:ext cx="12191999" cy="4624987"/>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800" kern="0" dirty="0">
                <a:solidFill>
                  <a:srgbClr val="000000"/>
                </a:solidFill>
                <a:latin typeface="Tahoma"/>
              </a:rPr>
              <a:t>Η ενότητα </a:t>
            </a:r>
            <a:r>
              <a:rPr lang="el-GR" sz="2800" b="1" kern="0" dirty="0">
                <a:solidFill>
                  <a:srgbClr val="000000"/>
                </a:solidFill>
                <a:latin typeface="Tahoma"/>
              </a:rPr>
              <a:t>εισάγει τις θεμελιώδεις έννοιες</a:t>
            </a:r>
            <a:r>
              <a:rPr lang="el-GR" sz="2800" kern="0" dirty="0">
                <a:solidFill>
                  <a:srgbClr val="000000"/>
                </a:solidFill>
                <a:latin typeface="Tahoma"/>
              </a:rPr>
              <a:t> των μεταβλητών, των σταθερών και των τύπων δεδομένων στον προγραμματισμό υπολογιστών, με έμφαση στη γλώσσα C. </a:t>
            </a:r>
          </a:p>
          <a:p>
            <a:pPr>
              <a:buClr>
                <a:srgbClr val="3333CC"/>
              </a:buClr>
              <a:defRPr/>
            </a:pPr>
            <a:r>
              <a:rPr lang="el-GR" sz="2800" kern="0" dirty="0">
                <a:solidFill>
                  <a:srgbClr val="000000"/>
                </a:solidFill>
                <a:latin typeface="Tahoma"/>
              </a:rPr>
              <a:t>Οι γλώσσες προγραμματισμού χρησιμοποιούν τις έννοιες της </a:t>
            </a:r>
            <a:r>
              <a:rPr lang="el-GR" sz="2800" b="1" kern="0" dirty="0">
                <a:solidFill>
                  <a:srgbClr val="000000"/>
                </a:solidFill>
                <a:latin typeface="Tahoma"/>
              </a:rPr>
              <a:t>μεταβλητής</a:t>
            </a:r>
            <a:r>
              <a:rPr lang="el-GR" sz="2800" kern="0" dirty="0">
                <a:solidFill>
                  <a:srgbClr val="000000"/>
                </a:solidFill>
                <a:latin typeface="Tahoma"/>
              </a:rPr>
              <a:t> και της </a:t>
            </a:r>
            <a:r>
              <a:rPr lang="el-GR" sz="2800" b="1" kern="0" dirty="0" err="1">
                <a:solidFill>
                  <a:srgbClr val="000000"/>
                </a:solidFill>
                <a:latin typeface="Tahoma"/>
              </a:rPr>
              <a:t>σταθεράς</a:t>
            </a:r>
            <a:r>
              <a:rPr lang="el-GR" sz="2800" kern="0" dirty="0">
                <a:solidFill>
                  <a:srgbClr val="000000"/>
                </a:solidFill>
                <a:latin typeface="Tahoma"/>
              </a:rPr>
              <a:t> για να επιτρέψουν στον προγραμματιστή να αναφερθεί στα δεδομένα του προβλήματος του ώστε να τα επεξεργαστεί κατάλληλα. </a:t>
            </a:r>
          </a:p>
          <a:p>
            <a:pPr>
              <a:buClr>
                <a:srgbClr val="3333CC"/>
              </a:buClr>
              <a:defRPr/>
            </a:pPr>
            <a:r>
              <a:rPr lang="el-GR" sz="2800" kern="0" dirty="0">
                <a:solidFill>
                  <a:srgbClr val="000000"/>
                </a:solidFill>
                <a:latin typeface="Tahoma"/>
              </a:rPr>
              <a:t>Οι διάφορες μορφές που μπορεί να έχουν τα δεδομένα αυτά, καθιστούν απαραίτητη την ταξινόμηση των σε κατηγορίες για την καλύτερη οργάνωση και διαχείριση τους. Οι </a:t>
            </a:r>
            <a:r>
              <a:rPr lang="el-GR" sz="2800" b="1" kern="0" dirty="0">
                <a:solidFill>
                  <a:srgbClr val="000000"/>
                </a:solidFill>
                <a:latin typeface="Tahoma"/>
              </a:rPr>
              <a:t>τύποι δεδομένων </a:t>
            </a:r>
            <a:r>
              <a:rPr lang="el-GR" sz="2800" kern="0" dirty="0">
                <a:solidFill>
                  <a:srgbClr val="000000"/>
                </a:solidFill>
                <a:latin typeface="Tahoma"/>
              </a:rPr>
              <a:t>βοηθούν προς την κατεύθυνση αυτή. </a:t>
            </a:r>
          </a:p>
        </p:txBody>
      </p:sp>
    </p:spTree>
    <p:extLst>
      <p:ext uri="{BB962C8B-B14F-4D97-AF65-F5344CB8AC3E}">
        <p14:creationId xmlns:p14="http://schemas.microsoft.com/office/powerpoint/2010/main" val="31041568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Effect transition="in" filter="fade">
                                      <p:cBhvr>
                                        <p:cTn id="13" dur="500"/>
                                        <p:tgtEl>
                                          <p:spTgt spid="12">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xEl>
                                              <p:pRg st="2" end="2"/>
                                            </p:txEl>
                                          </p:spTgt>
                                        </p:tgtEl>
                                        <p:attrNameLst>
                                          <p:attrName>style.visibility</p:attrName>
                                        </p:attrNameLst>
                                      </p:cBhvr>
                                      <p:to>
                                        <p:strVal val="visible"/>
                                      </p:to>
                                    </p:set>
                                    <p:animEffect transition="in" filter="fade">
                                      <p:cBhvr>
                                        <p:cTn id="16"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2A465-FD08-1A1D-B033-573F566380C0}"/>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158983A4-8924-9752-3540-744FE8E54A51}"/>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DDC3CDDB-9460-7CC9-9108-943C37EC7441}"/>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07F9E7D2-68EA-62C0-B24F-A283A12102E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298A300D-ECEF-45F7-2ADB-74244DD7439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DD2FC85B-3A97-DCAF-8357-30E3D5C05CB8}"/>
              </a:ext>
            </a:extLst>
          </p:cNvPr>
          <p:cNvSpPr txBox="1">
            <a:spLocks/>
          </p:cNvSpPr>
          <p:nvPr/>
        </p:nvSpPr>
        <p:spPr>
          <a:xfrm>
            <a:off x="4149680" y="6670790"/>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Control flow</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Arrays</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Type conversions</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B871775F-640D-BCCF-612D-91C87341055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8FB239DB-63A9-5E03-D2DF-29A6E9914E15}"/>
              </a:ext>
            </a:extLst>
          </p:cNvPr>
          <p:cNvSpPr txBox="1">
            <a:spLocks noChangeArrowheads="1"/>
          </p:cNvSpPr>
          <p:nvPr/>
        </p:nvSpPr>
        <p:spPr bwMode="auto">
          <a:xfrm>
            <a:off x="492449" y="914699"/>
            <a:ext cx="11207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80000"/>
              </a:lnSpc>
            </a:pPr>
            <a:r>
              <a:rPr lang="el-GR" altLang="el-GR" b="1" dirty="0">
                <a:solidFill>
                  <a:srgbClr val="C00000"/>
                </a:solidFill>
                <a:latin typeface="Bahnschrift" panose="020B0502040204020203" pitchFamily="34" charset="0"/>
              </a:rPr>
              <a:t>Μεταβλητή</a:t>
            </a:r>
          </a:p>
          <a:p>
            <a:pPr lvl="1" eaLnBrk="1" hangingPunct="1">
              <a:lnSpc>
                <a:spcPct val="80000"/>
              </a:lnSpc>
            </a:pPr>
            <a:r>
              <a:rPr lang="el-GR" altLang="el-GR" kern="0" dirty="0">
                <a:latin typeface="Times New Roman" panose="02020603050405020304" pitchFamily="18" charset="0"/>
              </a:rPr>
              <a:t>Ορισμός</a:t>
            </a:r>
          </a:p>
          <a:p>
            <a:pPr lvl="1" eaLnBrk="1" hangingPunct="1">
              <a:lnSpc>
                <a:spcPct val="80000"/>
              </a:lnSpc>
            </a:pPr>
            <a:r>
              <a:rPr lang="el-GR" altLang="el-GR" kern="0" dirty="0">
                <a:latin typeface="Times New Roman" panose="02020603050405020304" pitchFamily="18" charset="0"/>
              </a:rPr>
              <a:t>Δήλωση – Κανόνες Δήλωσης (στην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l-GR" altLang="el-GR" b="1" dirty="0">
                <a:solidFill>
                  <a:srgbClr val="F9853D"/>
                </a:solidFill>
                <a:latin typeface="Bahnschrift" panose="020B0502040204020203" pitchFamily="34" charset="0"/>
              </a:rPr>
              <a:t>Τύποι Δεδομένων</a:t>
            </a:r>
          </a:p>
          <a:p>
            <a:pPr lvl="1" eaLnBrk="1" hangingPunct="1">
              <a:lnSpc>
                <a:spcPct val="80000"/>
              </a:lnSpc>
            </a:pPr>
            <a:r>
              <a:rPr lang="el-GR" altLang="el-GR" kern="0" dirty="0">
                <a:latin typeface="Times New Roman" panose="02020603050405020304" pitchFamily="18" charset="0"/>
              </a:rPr>
              <a:t>Τύποι δεδομένων στη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ακεραίου (</a:t>
            </a:r>
            <a:r>
              <a:rPr lang="en-US" altLang="el-GR" b="1" dirty="0">
                <a:solidFill>
                  <a:srgbClr val="F9853D"/>
                </a:solidFill>
                <a:latin typeface="Bahnschrift" panose="020B0502040204020203" pitchFamily="34" charset="0"/>
              </a:rPr>
              <a:t>int</a:t>
            </a:r>
            <a:r>
              <a:rPr lang="el-GR" altLang="el-GR" b="1" dirty="0">
                <a:solidFill>
                  <a:srgbClr val="F9853D"/>
                </a:solidFill>
                <a:latin typeface="Bahnschrift" panose="020B0502040204020203" pitchFamily="34" charset="0"/>
              </a:rPr>
              <a:t>)</a:t>
            </a:r>
            <a:endParaRPr lang="en-US" altLang="el-GR" b="1" dirty="0">
              <a:solidFill>
                <a:srgbClr val="F9853D"/>
              </a:solidFill>
              <a:latin typeface="Bahnschrift" panose="020B0502040204020203" pitchFamily="34"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χαρακτήρα</a:t>
            </a:r>
          </a:p>
          <a:p>
            <a:pPr eaLnBrk="1" hangingPunct="1">
              <a:lnSpc>
                <a:spcPct val="80000"/>
              </a:lnSpc>
            </a:pPr>
            <a:r>
              <a:rPr lang="el-GR" altLang="el-GR" b="1" dirty="0">
                <a:solidFill>
                  <a:srgbClr val="F9853D"/>
                </a:solidFill>
                <a:latin typeface="Bahnschrift" panose="020B0502040204020203" pitchFamily="34" charset="0"/>
              </a:rPr>
              <a:t>Οι τύποι αριθμού κινητής υποδιαστολής </a:t>
            </a:r>
          </a:p>
          <a:p>
            <a:pPr lvl="1" eaLnBrk="1" hangingPunct="1">
              <a:lnSpc>
                <a:spcPct val="80000"/>
              </a:lnSpc>
            </a:pPr>
            <a:r>
              <a:rPr lang="en-US" altLang="el-GR" kern="0" dirty="0">
                <a:latin typeface="Times New Roman" panose="02020603050405020304" pitchFamily="18" charset="0"/>
              </a:rPr>
              <a:t>float</a:t>
            </a:r>
            <a:r>
              <a:rPr lang="el-GR" altLang="el-GR" kern="0" dirty="0">
                <a:latin typeface="Times New Roman" panose="02020603050405020304" pitchFamily="18" charset="0"/>
              </a:rPr>
              <a:t> - </a:t>
            </a:r>
            <a:r>
              <a:rPr lang="en-US" altLang="el-GR" kern="0" dirty="0">
                <a:latin typeface="Times New Roman" panose="02020603050405020304" pitchFamily="18" charset="0"/>
              </a:rPr>
              <a:t>double</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της Συμβολοσειράς</a:t>
            </a:r>
          </a:p>
          <a:p>
            <a:pPr eaLnBrk="1" hangingPunct="1">
              <a:lnSpc>
                <a:spcPct val="80000"/>
              </a:lnSpc>
            </a:pPr>
            <a:r>
              <a:rPr lang="el-GR" altLang="el-GR" b="1" dirty="0">
                <a:solidFill>
                  <a:srgbClr val="F9853D"/>
                </a:solidFill>
                <a:latin typeface="Bahnschrift" panose="020B0502040204020203" pitchFamily="34" charset="0"/>
              </a:rPr>
              <a:t>Σταθερές</a:t>
            </a:r>
          </a:p>
          <a:p>
            <a:pPr lvl="1" eaLnBrk="1" hangingPunct="1">
              <a:lnSpc>
                <a:spcPct val="80000"/>
              </a:lnSpc>
            </a:pPr>
            <a:r>
              <a:rPr lang="el-GR" altLang="el-GR" kern="0" dirty="0">
                <a:latin typeface="Times New Roman" panose="02020603050405020304" pitchFamily="18" charset="0"/>
              </a:rPr>
              <a:t>Σταθερά απαρίθμησης  (</a:t>
            </a:r>
            <a:r>
              <a:rPr lang="en-GB" altLang="el-GR" kern="0" dirty="0" err="1">
                <a:latin typeface="Times New Roman" panose="02020603050405020304" pitchFamily="18" charset="0"/>
              </a:rPr>
              <a:t>enum</a:t>
            </a:r>
            <a:r>
              <a:rPr lang="en-GB" altLang="el-GR" kern="0" dirty="0">
                <a:latin typeface="Times New Roman" panose="02020603050405020304" pitchFamily="18" charset="0"/>
              </a:rPr>
              <a:t>)</a:t>
            </a:r>
            <a:endParaRPr lang="el-GR" altLang="el-GR" kern="0" dirty="0">
              <a:latin typeface="Times New Roman" panose="02020603050405020304" pitchFamily="18" charset="0"/>
            </a:endParaRPr>
          </a:p>
        </p:txBody>
      </p:sp>
    </p:spTree>
    <p:extLst>
      <p:ext uri="{BB962C8B-B14F-4D97-AF65-F5344CB8AC3E}">
        <p14:creationId xmlns:p14="http://schemas.microsoft.com/office/powerpoint/2010/main" val="13620822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3DBA5-74F3-BDB0-322C-313C0DF87215}"/>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DE059D52-00F8-5860-A9AF-4DD018DF8710}"/>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Μεταβλητή Ορισμός 	1/2</a:t>
            </a:r>
          </a:p>
        </p:txBody>
      </p:sp>
      <p:grpSp>
        <p:nvGrpSpPr>
          <p:cNvPr id="4" name="Group 3">
            <a:extLst>
              <a:ext uri="{FF2B5EF4-FFF2-40B4-BE49-F238E27FC236}">
                <a16:creationId xmlns:a16="http://schemas.microsoft.com/office/drawing/2014/main" id="{BF2EA4C2-3C5E-16D6-8EF7-774B5C0385C3}"/>
              </a:ext>
            </a:extLst>
          </p:cNvPr>
          <p:cNvGrpSpPr/>
          <p:nvPr/>
        </p:nvGrpSpPr>
        <p:grpSpPr>
          <a:xfrm>
            <a:off x="-1" y="6559908"/>
            <a:ext cx="12192001" cy="298092"/>
            <a:chOff x="-1" y="6559908"/>
            <a:chExt cx="12192001" cy="298092"/>
          </a:xfrm>
        </p:grpSpPr>
        <p:sp>
          <p:nvSpPr>
            <p:cNvPr id="10" name="Rectangle 14">
              <a:extLst>
                <a:ext uri="{FF2B5EF4-FFF2-40B4-BE49-F238E27FC236}">
                  <a16:creationId xmlns:a16="http://schemas.microsoft.com/office/drawing/2014/main" id="{CEA6A8CE-D290-D5FD-D20D-0D04FF76E3AE}"/>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1BC4D355-D272-ECF5-DD21-1613CC080C2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87AF50EA-3BE0-58E4-84BF-3C29CD51B20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4</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EEF895D3-841F-4353-0D8E-F7749B665777}"/>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3E166092-8812-42EE-DA78-9359CF08E779}"/>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66AB8FA4-9DA1-2BFF-2352-85B230CBD0AB}"/>
              </a:ext>
            </a:extLst>
          </p:cNvPr>
          <p:cNvSpPr txBox="1">
            <a:spLocks noChangeArrowheads="1"/>
          </p:cNvSpPr>
          <p:nvPr/>
        </p:nvSpPr>
        <p:spPr bwMode="auto">
          <a:xfrm>
            <a:off x="175365" y="2583608"/>
            <a:ext cx="11110585" cy="2722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1"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Συμβολικό όνομα</a:t>
            </a:r>
            <a:r>
              <a:rPr kumimoji="0" lang="el-GR" altLang="el-GR" sz="28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p>
          <a:p>
            <a:pPr lvl="1" indent="-342900">
              <a:lnSpc>
                <a:spcPct val="90000"/>
              </a:lnSpc>
              <a:buClr>
                <a:srgbClr val="3333CC"/>
              </a:buClr>
              <a:buSzPct val="60000"/>
            </a:pPr>
            <a:r>
              <a:rPr kumimoji="0" lang="el-GR" altLang="el-GR" sz="24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που δίνει λύση στο πρόβλημα της αναφοράς σε πληροφορία της κύριας μνήμης του υπολογιστή.</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Το </a:t>
            </a:r>
            <a:r>
              <a:rPr kumimoji="0" lang="el-GR" altLang="el-GR" sz="2800" b="1"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όνομα της μεταβλητής</a:t>
            </a:r>
            <a:r>
              <a:rPr kumimoji="0" lang="el-GR" altLang="el-GR" sz="28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μας επιτρέπει να αναφερόμαστε </a:t>
            </a:r>
          </a:p>
          <a:p>
            <a:pPr lvl="1" indent="-342900">
              <a:lnSpc>
                <a:spcPct val="90000"/>
              </a:lnSpc>
              <a:buClr>
                <a:srgbClr val="3333CC"/>
              </a:buClr>
              <a:buSzPct val="60000"/>
            </a:pPr>
            <a:r>
              <a:rPr kumimoji="0" lang="el-GR" altLang="el-GR" sz="2000" b="0"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στη τιμή</a:t>
            </a:r>
            <a:r>
              <a:rPr kumimoji="0" lang="el-GR" altLang="el-GR" sz="20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χωρίς να είναι απαραίτητο να γνωρίζουμε την ακριβή διεύθυνση της μνήμης που αυτή είναι αποθηκευμένη, </a:t>
            </a:r>
          </a:p>
          <a:p>
            <a:pPr lvl="1" indent="-342900">
              <a:lnSpc>
                <a:spcPct val="90000"/>
              </a:lnSpc>
              <a:buClr>
                <a:srgbClr val="3333CC"/>
              </a:buClr>
              <a:buSzPct val="60000"/>
            </a:pPr>
            <a:r>
              <a:rPr kumimoji="0" lang="el-GR" altLang="el-GR" sz="2400" b="0"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στην θέση της μνήμης</a:t>
            </a:r>
            <a:r>
              <a:rPr kumimoji="0" lang="el-GR" altLang="el-GR" sz="24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για να τροποποιήσουμε την τρέχουσα-τιμή της.</a:t>
            </a:r>
            <a:r>
              <a:rPr kumimoji="0" lang="en-GB" altLang="el-GR" sz="24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p>
        </p:txBody>
      </p:sp>
      <p:sp>
        <p:nvSpPr>
          <p:cNvPr id="7" name="Rectangle 4">
            <a:extLst>
              <a:ext uri="{FF2B5EF4-FFF2-40B4-BE49-F238E27FC236}">
                <a16:creationId xmlns:a16="http://schemas.microsoft.com/office/drawing/2014/main" id="{539034B6-AF39-4158-386D-044C1F336055}"/>
              </a:ext>
            </a:extLst>
          </p:cNvPr>
          <p:cNvSpPr>
            <a:spLocks noChangeArrowheads="1"/>
          </p:cNvSpPr>
          <p:nvPr/>
        </p:nvSpPr>
        <p:spPr bwMode="auto">
          <a:xfrm>
            <a:off x="2240669" y="5568950"/>
            <a:ext cx="5119103" cy="381000"/>
          </a:xfrm>
          <a:prstGeom prst="rect">
            <a:avLst/>
          </a:prstGeom>
          <a:solidFill>
            <a:schemeClr val="accent3"/>
          </a:solidFill>
          <a:ln w="9525">
            <a:solidFill>
              <a:schemeClr val="bg1"/>
            </a:solid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800" b="0" i="0" u="none" strike="noStrike" kern="0" cap="none" spc="0" normalizeH="0" baseline="0" noProof="0" dirty="0">
                <a:ln>
                  <a:noFill/>
                </a:ln>
                <a:solidFill>
                  <a:srgbClr val="000000"/>
                </a:solidFill>
                <a:effectLst/>
                <a:uLnTx/>
                <a:uFillTx/>
                <a:latin typeface="Arial" panose="020B0604020202020204" pitchFamily="34" charset="0"/>
              </a:rPr>
              <a:t>count = count + 1</a:t>
            </a:r>
            <a:endParaRPr kumimoji="0" lang="en-GB" altLang="el-GR" sz="2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9" name="TextBox 8">
            <a:extLst>
              <a:ext uri="{FF2B5EF4-FFF2-40B4-BE49-F238E27FC236}">
                <a16:creationId xmlns:a16="http://schemas.microsoft.com/office/drawing/2014/main" id="{34016DB2-CBBF-54FF-A257-D86C03CF2289}"/>
              </a:ext>
            </a:extLst>
          </p:cNvPr>
          <p:cNvSpPr txBox="1"/>
          <p:nvPr/>
        </p:nvSpPr>
        <p:spPr>
          <a:xfrm>
            <a:off x="175365" y="908050"/>
            <a:ext cx="11786991" cy="1569660"/>
          </a:xfrm>
          <a:prstGeom prst="rect">
            <a:avLst/>
          </a:prstGeom>
          <a:solidFill>
            <a:srgbClr val="92D050"/>
          </a:solidFill>
        </p:spPr>
        <p:txBody>
          <a:bodyPr wrap="square" rtlCol="0">
            <a:spAutoFit/>
          </a:bodyPr>
          <a:lstStyle/>
          <a:p>
            <a:r>
              <a:rPr lang="el-GR" sz="2400" dirty="0"/>
              <a:t>Η έννοια της μεταβλητής ήταν αυτή που έδωσε λύση στο πρόβλημα της αναφοράς σε πληροφορία της κύριας μνήμης του υπολογιστή. Οι γλώσσες προγραμματισμού υποστηρίζουν την πρόσβαση στα δεδομένα με τη χρήση συμβολικών ονομάτων, τα οποία καλούνται μεταβλητές.</a:t>
            </a:r>
            <a:endParaRPr lang="en-GB" sz="2400" dirty="0"/>
          </a:p>
        </p:txBody>
      </p:sp>
    </p:spTree>
    <p:extLst>
      <p:ext uri="{BB962C8B-B14F-4D97-AF65-F5344CB8AC3E}">
        <p14:creationId xmlns:p14="http://schemas.microsoft.com/office/powerpoint/2010/main" val="128147564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0B41A-9218-B86E-E00F-554CF61376BE}"/>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4C5BBB34-B85F-6B15-167E-37FCE2CA16B0}"/>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Μεταβλητή Ορισμός 	2/2</a:t>
            </a:r>
          </a:p>
        </p:txBody>
      </p:sp>
      <p:grpSp>
        <p:nvGrpSpPr>
          <p:cNvPr id="4" name="Group 3">
            <a:extLst>
              <a:ext uri="{FF2B5EF4-FFF2-40B4-BE49-F238E27FC236}">
                <a16:creationId xmlns:a16="http://schemas.microsoft.com/office/drawing/2014/main" id="{8E5A5380-1111-D8F4-A085-814E1F0431DA}"/>
              </a:ext>
            </a:extLst>
          </p:cNvPr>
          <p:cNvGrpSpPr/>
          <p:nvPr/>
        </p:nvGrpSpPr>
        <p:grpSpPr>
          <a:xfrm>
            <a:off x="-1" y="6559908"/>
            <a:ext cx="12192001" cy="298092"/>
            <a:chOff x="-1" y="6559908"/>
            <a:chExt cx="12192001" cy="298092"/>
          </a:xfrm>
        </p:grpSpPr>
        <p:sp>
          <p:nvSpPr>
            <p:cNvPr id="10" name="Rectangle 14">
              <a:extLst>
                <a:ext uri="{FF2B5EF4-FFF2-40B4-BE49-F238E27FC236}">
                  <a16:creationId xmlns:a16="http://schemas.microsoft.com/office/drawing/2014/main" id="{543AC199-CF28-41B2-C094-4FE211C54DB4}"/>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FDF394E1-6DDA-5D2D-C17B-F9098D640B3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E3AD4711-9DC9-C83D-993A-0181A4DB8DEC}"/>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5</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9B5391FA-2874-FC9D-6FAB-CBB113F85430}"/>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A757F359-26AD-8785-8FC6-716BF8971813}"/>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Rectangle 3">
            <a:extLst>
              <a:ext uri="{FF2B5EF4-FFF2-40B4-BE49-F238E27FC236}">
                <a16:creationId xmlns:a16="http://schemas.microsoft.com/office/drawing/2014/main" id="{B353C8D6-7EDC-DF36-116B-08FFAF851179}"/>
              </a:ext>
            </a:extLst>
          </p:cNvPr>
          <p:cNvSpPr txBox="1">
            <a:spLocks noChangeArrowheads="1"/>
          </p:cNvSpPr>
          <p:nvPr/>
        </p:nvSpPr>
        <p:spPr>
          <a:xfrm>
            <a:off x="52199" y="1119132"/>
            <a:ext cx="472762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70C0"/>
              </a:buClr>
              <a:buFont typeface="Wingdings" panose="05000000000000000000" pitchFamily="2" charset="2"/>
              <a:buChar char="§"/>
            </a:pPr>
            <a:r>
              <a:rPr lang="el-GR" altLang="el-GR" sz="3600" dirty="0">
                <a:latin typeface="Times New Roman" panose="02020603050405020304" pitchFamily="18" charset="0"/>
              </a:rPr>
              <a:t>είναι </a:t>
            </a:r>
            <a:r>
              <a:rPr lang="en-US" altLang="el-GR" sz="3600" dirty="0">
                <a:latin typeface="Times New Roman" panose="02020603050405020304" pitchFamily="18" charset="0"/>
              </a:rPr>
              <a:t>(</a:t>
            </a:r>
            <a:r>
              <a:rPr lang="el-GR" altLang="el-GR" sz="3600" dirty="0">
                <a:latin typeface="Times New Roman" panose="02020603050405020304" pitchFamily="18" charset="0"/>
              </a:rPr>
              <a:t>σύμφωνα με τον </a:t>
            </a:r>
            <a:r>
              <a:rPr lang="en-US" altLang="el-GR" sz="3600" dirty="0">
                <a:latin typeface="Times New Roman" panose="02020603050405020304" pitchFamily="18" charset="0"/>
              </a:rPr>
              <a:t>Horowitz) </a:t>
            </a:r>
            <a:r>
              <a:rPr lang="el-GR" altLang="el-GR" sz="3600" dirty="0">
                <a:latin typeface="Times New Roman" panose="02020603050405020304" pitchFamily="18" charset="0"/>
              </a:rPr>
              <a:t>μια τετράδα που αποτελείται από </a:t>
            </a:r>
          </a:p>
          <a:p>
            <a:pPr lvl="1">
              <a:buClr>
                <a:srgbClr val="0070C0"/>
              </a:buClr>
              <a:buFont typeface="Wingdings" panose="05000000000000000000" pitchFamily="2" charset="2"/>
              <a:buChar char="§"/>
            </a:pPr>
            <a:r>
              <a:rPr lang="el-GR" altLang="el-GR" sz="3200" dirty="0">
                <a:solidFill>
                  <a:srgbClr val="C00000"/>
                </a:solidFill>
                <a:latin typeface="Times New Roman" panose="02020603050405020304" pitchFamily="18" charset="0"/>
              </a:rPr>
              <a:t>ένα όνομα</a:t>
            </a:r>
          </a:p>
          <a:p>
            <a:pPr lvl="1">
              <a:buClr>
                <a:srgbClr val="0070C0"/>
              </a:buClr>
              <a:buFont typeface="Wingdings" panose="05000000000000000000" pitchFamily="2" charset="2"/>
              <a:buChar char="§"/>
            </a:pPr>
            <a:r>
              <a:rPr lang="el-GR" altLang="el-GR" sz="3200" dirty="0">
                <a:solidFill>
                  <a:srgbClr val="C00000"/>
                </a:solidFill>
                <a:latin typeface="Times New Roman" panose="02020603050405020304" pitchFamily="18" charset="0"/>
              </a:rPr>
              <a:t>ένα σύνολο ιδιοτήτων</a:t>
            </a:r>
          </a:p>
          <a:p>
            <a:pPr lvl="1">
              <a:buClr>
                <a:srgbClr val="0070C0"/>
              </a:buClr>
              <a:buFont typeface="Wingdings" panose="05000000000000000000" pitchFamily="2" charset="2"/>
              <a:buChar char="§"/>
            </a:pPr>
            <a:r>
              <a:rPr lang="el-GR" altLang="el-GR" sz="3200" dirty="0">
                <a:solidFill>
                  <a:srgbClr val="C00000"/>
                </a:solidFill>
                <a:latin typeface="Times New Roman" panose="02020603050405020304" pitchFamily="18" charset="0"/>
              </a:rPr>
              <a:t>μία αναφορά και</a:t>
            </a:r>
          </a:p>
          <a:p>
            <a:pPr lvl="1">
              <a:buClr>
                <a:srgbClr val="0070C0"/>
              </a:buClr>
              <a:buFont typeface="Wingdings" panose="05000000000000000000" pitchFamily="2" charset="2"/>
              <a:buChar char="§"/>
            </a:pPr>
            <a:r>
              <a:rPr lang="el-GR" altLang="el-GR" sz="3200" dirty="0">
                <a:solidFill>
                  <a:srgbClr val="C00000"/>
                </a:solidFill>
                <a:latin typeface="Times New Roman" panose="02020603050405020304" pitchFamily="18" charset="0"/>
              </a:rPr>
              <a:t>μία τιμή.</a:t>
            </a:r>
          </a:p>
        </p:txBody>
      </p:sp>
      <p:sp>
        <p:nvSpPr>
          <p:cNvPr id="13" name="Rectangle 3">
            <a:extLst>
              <a:ext uri="{FF2B5EF4-FFF2-40B4-BE49-F238E27FC236}">
                <a16:creationId xmlns:a16="http://schemas.microsoft.com/office/drawing/2014/main" id="{44025EDF-9DB6-E93B-A7D0-397B7445ECD0}"/>
              </a:ext>
            </a:extLst>
          </p:cNvPr>
          <p:cNvSpPr txBox="1">
            <a:spLocks noChangeArrowheads="1"/>
          </p:cNvSpPr>
          <p:nvPr/>
        </p:nvSpPr>
        <p:spPr>
          <a:xfrm>
            <a:off x="5472545" y="1371600"/>
            <a:ext cx="6578786" cy="41148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70C0"/>
              </a:buClr>
              <a:buFont typeface="Wingdings" panose="05000000000000000000" pitchFamily="2" charset="2"/>
              <a:buChar char="§"/>
            </a:pPr>
            <a:r>
              <a:rPr lang="el-GR" altLang="el-GR" sz="3200" dirty="0">
                <a:solidFill>
                  <a:srgbClr val="C00000"/>
                </a:solidFill>
                <a:latin typeface="Tahoma" panose="020B0604030504040204" pitchFamily="34" charset="0"/>
                <a:ea typeface="Tahoma" panose="020B0604030504040204" pitchFamily="34" charset="0"/>
                <a:cs typeface="Tahoma" panose="020B0604030504040204" pitchFamily="34" charset="0"/>
              </a:rPr>
              <a:t>οι </a:t>
            </a:r>
            <a:r>
              <a:rPr lang="el-GR" altLang="el-GR" sz="3200" b="1" dirty="0">
                <a:solidFill>
                  <a:srgbClr val="C00000"/>
                </a:solidFill>
                <a:latin typeface="Tahoma" panose="020B0604030504040204" pitchFamily="34" charset="0"/>
                <a:ea typeface="Tahoma" panose="020B0604030504040204" pitchFamily="34" charset="0"/>
                <a:cs typeface="Tahoma" panose="020B0604030504040204" pitchFamily="34" charset="0"/>
              </a:rPr>
              <a:t>ιδιότητες</a:t>
            </a:r>
          </a:p>
          <a:p>
            <a:pPr lvl="1">
              <a:buClr>
                <a:srgbClr val="0070C0"/>
              </a:buClr>
              <a:buFont typeface="Wingdings" panose="05000000000000000000" pitchFamily="2" charset="2"/>
              <a:buChar char="§"/>
            </a:pPr>
            <a:r>
              <a:rPr lang="el-GR" altLang="el-GR" dirty="0">
                <a:latin typeface="Tahoma" panose="020B0604030504040204" pitchFamily="34" charset="0"/>
                <a:ea typeface="Tahoma" panose="020B0604030504040204" pitchFamily="34" charset="0"/>
                <a:cs typeface="Tahoma" panose="020B0604030504040204" pitchFamily="34" charset="0"/>
              </a:rPr>
              <a:t>συνήθως εκφράζουν το είδος των τιμών που μπορεί να πάρει</a:t>
            </a:r>
          </a:p>
          <a:p>
            <a:pPr lvl="1">
              <a:buClr>
                <a:srgbClr val="0070C0"/>
              </a:buClr>
              <a:buFont typeface="Wingdings" panose="05000000000000000000" pitchFamily="2" charset="2"/>
              <a:buChar char="§"/>
            </a:pPr>
            <a:r>
              <a:rPr lang="el-GR" altLang="el-GR" dirty="0">
                <a:latin typeface="Tahoma" panose="020B0604030504040204" pitchFamily="34" charset="0"/>
                <a:ea typeface="Tahoma" panose="020B0604030504040204" pitchFamily="34" charset="0"/>
                <a:cs typeface="Tahoma" panose="020B0604030504040204" pitchFamily="34" charset="0"/>
              </a:rPr>
              <a:t>ορίζονται </a:t>
            </a:r>
          </a:p>
          <a:p>
            <a:pPr lvl="2">
              <a:buClr>
                <a:srgbClr val="0070C0"/>
              </a:buClr>
              <a:buFont typeface="Wingdings" panose="05000000000000000000" pitchFamily="2" charset="2"/>
              <a:buChar char="§"/>
            </a:pPr>
            <a:r>
              <a:rPr lang="el-GR" altLang="el-GR" dirty="0">
                <a:latin typeface="Tahoma" panose="020B0604030504040204" pitchFamily="34" charset="0"/>
                <a:ea typeface="Tahoma" panose="020B0604030504040204" pitchFamily="34" charset="0"/>
                <a:cs typeface="Tahoma" panose="020B0604030504040204" pitchFamily="34" charset="0"/>
              </a:rPr>
              <a:t>στη διάρκεια της μεταγλώττισης και δεν μεταβάλλονται (π.χ. C) ή</a:t>
            </a:r>
          </a:p>
          <a:p>
            <a:pPr lvl="2">
              <a:buClr>
                <a:srgbClr val="0070C0"/>
              </a:buClr>
              <a:buFont typeface="Wingdings" panose="05000000000000000000" pitchFamily="2" charset="2"/>
              <a:buChar char="§"/>
            </a:pPr>
            <a:r>
              <a:rPr lang="el-GR" altLang="el-GR" dirty="0">
                <a:latin typeface="Tahoma" panose="020B0604030504040204" pitchFamily="34" charset="0"/>
                <a:ea typeface="Tahoma" panose="020B0604030504040204" pitchFamily="34" charset="0"/>
                <a:cs typeface="Tahoma" panose="020B0604030504040204" pitchFamily="34" charset="0"/>
              </a:rPr>
              <a:t>στο χρόνο εκτέλεσης και μεταβάλλονται</a:t>
            </a:r>
          </a:p>
          <a:p>
            <a:pPr>
              <a:lnSpc>
                <a:spcPct val="100000"/>
              </a:lnSpc>
              <a:buClr>
                <a:srgbClr val="0070C0"/>
              </a:buClr>
              <a:buFont typeface="Wingdings" panose="05000000000000000000" pitchFamily="2" charset="2"/>
              <a:buChar char="§"/>
            </a:pPr>
            <a:r>
              <a:rPr lang="el-GR" altLang="el-GR" sz="3200" b="1" dirty="0">
                <a:solidFill>
                  <a:srgbClr val="C00000"/>
                </a:solidFill>
                <a:latin typeface="Tahoma" panose="020B0604030504040204" pitchFamily="34" charset="0"/>
                <a:ea typeface="Tahoma" panose="020B0604030504040204" pitchFamily="34" charset="0"/>
                <a:cs typeface="Tahoma" panose="020B0604030504040204" pitchFamily="34" charset="0"/>
              </a:rPr>
              <a:t>η αναφορά</a:t>
            </a:r>
          </a:p>
          <a:p>
            <a:pPr lvl="1">
              <a:buClr>
                <a:srgbClr val="0070C0"/>
              </a:buClr>
              <a:buFont typeface="Wingdings" panose="05000000000000000000" pitchFamily="2" charset="2"/>
              <a:buChar char="§"/>
            </a:pPr>
            <a:r>
              <a:rPr lang="el-GR" altLang="el-GR" dirty="0">
                <a:latin typeface="Tahoma" panose="020B0604030504040204" pitchFamily="34" charset="0"/>
                <a:ea typeface="Tahoma" panose="020B0604030504040204" pitchFamily="34" charset="0"/>
                <a:cs typeface="Tahoma" panose="020B0604030504040204" pitchFamily="34" charset="0"/>
              </a:rPr>
              <a:t>προσδιορίζει μια περιοχή αποθήκευσης που είναι μικρότερη ή μεγαλύτερη από μία θέση μνήμης </a:t>
            </a:r>
          </a:p>
          <a:p>
            <a:pPr>
              <a:buClr>
                <a:srgbClr val="0070C0"/>
              </a:buClr>
              <a:buFont typeface="Wingdings" panose="05000000000000000000" pitchFamily="2" charset="2"/>
              <a:buChar char="§"/>
            </a:pPr>
            <a:endParaRPr lang="el-GR" altLang="el-GR" dirty="0">
              <a:latin typeface="Times New Roman" panose="02020603050405020304" pitchFamily="18" charset="0"/>
            </a:endParaRPr>
          </a:p>
        </p:txBody>
      </p:sp>
    </p:spTree>
    <p:extLst>
      <p:ext uri="{BB962C8B-B14F-4D97-AF65-F5344CB8AC3E}">
        <p14:creationId xmlns:p14="http://schemas.microsoft.com/office/powerpoint/2010/main" val="350066840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A6A6D-D854-993A-6898-6F5D62DAF7C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AAE1302B-AC65-A55B-B9F0-A38DD7BCBCB6}"/>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Δήλωση μεταβλητής στη C 	</a:t>
            </a:r>
            <a:r>
              <a:rPr lang="en-US"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1/2</a:t>
            </a:r>
          </a:p>
        </p:txBody>
      </p:sp>
      <p:grpSp>
        <p:nvGrpSpPr>
          <p:cNvPr id="4" name="Group 3">
            <a:extLst>
              <a:ext uri="{FF2B5EF4-FFF2-40B4-BE49-F238E27FC236}">
                <a16:creationId xmlns:a16="http://schemas.microsoft.com/office/drawing/2014/main" id="{15399E53-4EBF-0007-3927-CC44CFB5504A}"/>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4842CC27-C4CA-F8EF-1C30-CDA3DA82FDA0}"/>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B3570C12-5FDA-4D11-F387-ECCD538731A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ACD596BA-BCD4-BD1B-31D9-A032882AE51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6</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4BB43BDE-F145-4F0C-980F-4E1F8E6046A0}"/>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24AC783C-760F-E6F9-DEDB-1D202C59EC2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7" name="Content Placeholder 2">
            <a:extLst>
              <a:ext uri="{FF2B5EF4-FFF2-40B4-BE49-F238E27FC236}">
                <a16:creationId xmlns:a16="http://schemas.microsoft.com/office/drawing/2014/main" id="{E4B0BF65-1ECD-D4AE-A124-6D10E4C7E055}"/>
              </a:ext>
            </a:extLst>
          </p:cNvPr>
          <p:cNvSpPr txBox="1">
            <a:spLocks/>
          </p:cNvSpPr>
          <p:nvPr/>
        </p:nvSpPr>
        <p:spPr bwMode="auto">
          <a:xfrm>
            <a:off x="-1" y="1879612"/>
            <a:ext cx="12191999" cy="4311468"/>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800" b="1" kern="0" dirty="0">
                <a:solidFill>
                  <a:srgbClr val="000000"/>
                </a:solidFill>
                <a:latin typeface="Tahoma"/>
              </a:rPr>
              <a:t>προσδιορίζει</a:t>
            </a:r>
            <a:r>
              <a:rPr lang="el-GR" sz="2800" kern="0" dirty="0">
                <a:solidFill>
                  <a:srgbClr val="000000"/>
                </a:solidFill>
                <a:latin typeface="Tahoma"/>
              </a:rPr>
              <a:t> (στη διάρκεια μεταγλώττισης) τις ιδιότητες της μεταβλητής </a:t>
            </a:r>
          </a:p>
          <a:p>
            <a:pPr lvl="1">
              <a:buClr>
                <a:srgbClr val="3333CC"/>
              </a:buClr>
              <a:defRPr/>
            </a:pPr>
            <a:r>
              <a:rPr lang="el-GR" sz="2400" kern="0" dirty="0">
                <a:solidFill>
                  <a:srgbClr val="000000"/>
                </a:solidFill>
                <a:latin typeface="Tahoma"/>
              </a:rPr>
              <a:t>τύπο δεδομένων</a:t>
            </a:r>
          </a:p>
          <a:p>
            <a:pPr lvl="1">
              <a:buClr>
                <a:srgbClr val="3333CC"/>
              </a:buClr>
              <a:defRPr/>
            </a:pPr>
            <a:r>
              <a:rPr lang="el-GR" sz="2400" kern="0" dirty="0">
                <a:solidFill>
                  <a:srgbClr val="000000"/>
                </a:solidFill>
                <a:latin typeface="Tahoma"/>
              </a:rPr>
              <a:t>απαγόρευση αλλαγής τιμής στο χρόνο εκτέλεσης (</a:t>
            </a:r>
            <a:r>
              <a:rPr lang="el-GR" sz="2400" kern="0" dirty="0" err="1">
                <a:solidFill>
                  <a:srgbClr val="000000"/>
                </a:solidFill>
                <a:latin typeface="Tahoma"/>
              </a:rPr>
              <a:t>const</a:t>
            </a:r>
            <a:r>
              <a:rPr lang="el-GR" sz="2400" kern="0" dirty="0">
                <a:solidFill>
                  <a:srgbClr val="000000"/>
                </a:solidFill>
                <a:latin typeface="Tahoma"/>
              </a:rPr>
              <a:t>)</a:t>
            </a:r>
          </a:p>
          <a:p>
            <a:pPr>
              <a:buClr>
                <a:srgbClr val="3333CC"/>
              </a:buClr>
              <a:defRPr/>
            </a:pPr>
            <a:r>
              <a:rPr lang="el-GR" sz="2800" b="1" kern="0" dirty="0">
                <a:solidFill>
                  <a:srgbClr val="000000"/>
                </a:solidFill>
                <a:latin typeface="Tahoma"/>
              </a:rPr>
              <a:t>παραχωρεί</a:t>
            </a:r>
            <a:r>
              <a:rPr lang="el-GR" sz="2800" kern="0" dirty="0">
                <a:solidFill>
                  <a:srgbClr val="000000"/>
                </a:solidFill>
                <a:latin typeface="Tahoma"/>
              </a:rPr>
              <a:t> ένα συμβολικό όνομα </a:t>
            </a:r>
          </a:p>
          <a:p>
            <a:pPr lvl="1">
              <a:buClr>
                <a:srgbClr val="3333CC"/>
              </a:buClr>
              <a:defRPr/>
            </a:pPr>
            <a:r>
              <a:rPr lang="el-GR" sz="2400" kern="0" dirty="0">
                <a:solidFill>
                  <a:srgbClr val="000000"/>
                </a:solidFill>
                <a:latin typeface="Tahoma"/>
              </a:rPr>
              <a:t>σε θέση μνήμης που θα δεσμευτεί στη διάρκεια εκτέλεσης</a:t>
            </a:r>
          </a:p>
          <a:p>
            <a:pPr>
              <a:buClr>
                <a:srgbClr val="3333CC"/>
              </a:buClr>
              <a:defRPr/>
            </a:pPr>
            <a:r>
              <a:rPr lang="el-GR" sz="2800" b="1" kern="0" dirty="0">
                <a:solidFill>
                  <a:srgbClr val="000000"/>
                </a:solidFill>
                <a:latin typeface="Tahoma"/>
              </a:rPr>
              <a:t>ενημερώνει</a:t>
            </a:r>
            <a:r>
              <a:rPr lang="el-GR" sz="2800" kern="0" dirty="0">
                <a:solidFill>
                  <a:srgbClr val="000000"/>
                </a:solidFill>
                <a:latin typeface="Tahoma"/>
              </a:rPr>
              <a:t> τον </a:t>
            </a:r>
            <a:r>
              <a:rPr lang="el-GR" sz="2800" kern="0" dirty="0" err="1">
                <a:solidFill>
                  <a:srgbClr val="000000"/>
                </a:solidFill>
                <a:latin typeface="Tahoma"/>
              </a:rPr>
              <a:t>compiler</a:t>
            </a:r>
            <a:r>
              <a:rPr lang="el-GR" sz="2800" kern="0" dirty="0">
                <a:solidFill>
                  <a:srgbClr val="000000"/>
                </a:solidFill>
                <a:latin typeface="Tahoma"/>
              </a:rPr>
              <a:t> για </a:t>
            </a:r>
          </a:p>
          <a:p>
            <a:pPr lvl="1">
              <a:buClr>
                <a:srgbClr val="3333CC"/>
              </a:buClr>
              <a:defRPr/>
            </a:pPr>
            <a:r>
              <a:rPr lang="el-GR" sz="2400" kern="0" dirty="0">
                <a:solidFill>
                  <a:srgbClr val="000000"/>
                </a:solidFill>
                <a:latin typeface="Tahoma"/>
              </a:rPr>
              <a:t>πόσα </a:t>
            </a:r>
            <a:r>
              <a:rPr lang="el-GR" sz="2400" kern="0" dirty="0" err="1">
                <a:solidFill>
                  <a:srgbClr val="000000"/>
                </a:solidFill>
                <a:latin typeface="Tahoma"/>
              </a:rPr>
              <a:t>bytes</a:t>
            </a:r>
            <a:r>
              <a:rPr lang="el-GR" sz="2400" kern="0" dirty="0">
                <a:solidFill>
                  <a:srgbClr val="000000"/>
                </a:solidFill>
                <a:latin typeface="Tahoma"/>
              </a:rPr>
              <a:t> πρέπει να δεσμευθούν στη διάρκεια εκτέλεσης για την αποθήκευση της τιμής της </a:t>
            </a:r>
          </a:p>
          <a:p>
            <a:pPr lvl="1">
              <a:buClr>
                <a:srgbClr val="3333CC"/>
              </a:buClr>
              <a:defRPr/>
            </a:pPr>
            <a:r>
              <a:rPr lang="el-GR" sz="2400" kern="0" dirty="0">
                <a:solidFill>
                  <a:srgbClr val="000000"/>
                </a:solidFill>
                <a:latin typeface="Tahoma"/>
              </a:rPr>
              <a:t>πως αυτά τα </a:t>
            </a:r>
            <a:r>
              <a:rPr lang="el-GR" sz="2400" kern="0" dirty="0" err="1">
                <a:solidFill>
                  <a:srgbClr val="000000"/>
                </a:solidFill>
                <a:latin typeface="Tahoma"/>
              </a:rPr>
              <a:t>bytes</a:t>
            </a:r>
            <a:r>
              <a:rPr lang="el-GR" sz="2400" kern="0" dirty="0">
                <a:solidFill>
                  <a:srgbClr val="000000"/>
                </a:solidFill>
                <a:latin typeface="Tahoma"/>
              </a:rPr>
              <a:t> πρέπει να  ερμηνευθούν</a:t>
            </a:r>
          </a:p>
          <a:p>
            <a:pPr>
              <a:buClr>
                <a:srgbClr val="3333CC"/>
              </a:buClr>
              <a:defRPr/>
            </a:pPr>
            <a:endParaRPr lang="el-GR" sz="2400" kern="0" dirty="0">
              <a:solidFill>
                <a:srgbClr val="000000"/>
              </a:solidFill>
              <a:latin typeface="Tahoma"/>
            </a:endParaRPr>
          </a:p>
        </p:txBody>
      </p:sp>
      <p:sp>
        <p:nvSpPr>
          <p:cNvPr id="9" name="TextBox 8">
            <a:extLst>
              <a:ext uri="{FF2B5EF4-FFF2-40B4-BE49-F238E27FC236}">
                <a16:creationId xmlns:a16="http://schemas.microsoft.com/office/drawing/2014/main" id="{62BF976F-0E33-AEB6-8DA3-EB15C9911C63}"/>
              </a:ext>
            </a:extLst>
          </p:cNvPr>
          <p:cNvSpPr txBox="1"/>
          <p:nvPr/>
        </p:nvSpPr>
        <p:spPr>
          <a:xfrm>
            <a:off x="4281054" y="850372"/>
            <a:ext cx="2355273" cy="707886"/>
          </a:xfrm>
          <a:prstGeom prst="rect">
            <a:avLst/>
          </a:prstGeom>
          <a:noFill/>
        </p:spPr>
        <p:txBody>
          <a:bodyPr wrap="square" rtlCol="0">
            <a:spAutoFit/>
          </a:bodyPr>
          <a:lstStyle/>
          <a:p>
            <a:r>
              <a:rPr lang="en-US" sz="4000" b="1" dirty="0"/>
              <a:t>int num;</a:t>
            </a:r>
            <a:endParaRPr lang="en-GB" sz="4000" b="1" dirty="0"/>
          </a:p>
        </p:txBody>
      </p:sp>
    </p:spTree>
    <p:extLst>
      <p:ext uri="{BB962C8B-B14F-4D97-AF65-F5344CB8AC3E}">
        <p14:creationId xmlns:p14="http://schemas.microsoft.com/office/powerpoint/2010/main" val="29499592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500"/>
                                        <p:tgtEl>
                                          <p:spTgt spid="7">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50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500"/>
                                        <p:tgtEl>
                                          <p:spTgt spid="7">
                                            <p:txEl>
                                              <p:pRg st="3" end="3"/>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animEffect transition="in" filter="fade">
                                      <p:cBhvr>
                                        <p:cTn id="26" dur="500"/>
                                        <p:tgtEl>
                                          <p:spTgt spid="7">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Effect transition="in" filter="fade">
                                      <p:cBhvr>
                                        <p:cTn id="31" dur="500"/>
                                        <p:tgtEl>
                                          <p:spTgt spid="7">
                                            <p:txEl>
                                              <p:pRg st="5" end="5"/>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xEl>
                                              <p:pRg st="6" end="6"/>
                                            </p:txEl>
                                          </p:spTgt>
                                        </p:tgtEl>
                                        <p:attrNameLst>
                                          <p:attrName>style.visibility</p:attrName>
                                        </p:attrNameLst>
                                      </p:cBhvr>
                                      <p:to>
                                        <p:strVal val="visible"/>
                                      </p:to>
                                    </p:set>
                                    <p:animEffect transition="in" filter="fade">
                                      <p:cBhvr>
                                        <p:cTn id="34" dur="500"/>
                                        <p:tgtEl>
                                          <p:spTgt spid="7">
                                            <p:txEl>
                                              <p:pRg st="6" end="6"/>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fade">
                                      <p:cBhvr>
                                        <p:cTn id="37"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67860-642F-02BC-FA55-B02602622D2A}"/>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014E3096-94D3-0844-32CE-CFE258CA632E}"/>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Δήλωση μεταβλητής στη C 	</a:t>
            </a:r>
            <a:r>
              <a:rPr lang="en-US" sz="4000" b="1" dirty="0">
                <a:solidFill>
                  <a:srgbClr val="F9853D"/>
                </a:solidFill>
                <a:latin typeface="Bahnschrift" panose="020B0502040204020203" pitchFamily="34" charset="0"/>
              </a:rPr>
              <a:t>	2</a:t>
            </a:r>
            <a:r>
              <a:rPr lang="el-GR" sz="4000" b="1" dirty="0">
                <a:solidFill>
                  <a:srgbClr val="F9853D"/>
                </a:solidFill>
                <a:latin typeface="Bahnschrift" panose="020B0502040204020203" pitchFamily="34" charset="0"/>
              </a:rPr>
              <a:t>/2</a:t>
            </a:r>
          </a:p>
        </p:txBody>
      </p:sp>
      <p:grpSp>
        <p:nvGrpSpPr>
          <p:cNvPr id="4" name="Group 3">
            <a:extLst>
              <a:ext uri="{FF2B5EF4-FFF2-40B4-BE49-F238E27FC236}">
                <a16:creationId xmlns:a16="http://schemas.microsoft.com/office/drawing/2014/main" id="{B0C423C0-0A41-05B9-D5B2-9571A3D5FAD4}"/>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AC78114A-74BF-2A17-18CF-11E0B2678932}"/>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BEF2A173-2A94-43F2-B286-EA00CE35B49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3B1E19B5-B095-9B96-1180-1DAC3D8C5C51}"/>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7</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6C382305-8A8E-97AF-678C-55439C5C5925}"/>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22A6E8D8-470A-9F51-0B7B-6D31DC7E4FE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7" name="Content Placeholder 2">
            <a:extLst>
              <a:ext uri="{FF2B5EF4-FFF2-40B4-BE49-F238E27FC236}">
                <a16:creationId xmlns:a16="http://schemas.microsoft.com/office/drawing/2014/main" id="{4BAB948D-25E6-897C-92A5-7FE101C49F95}"/>
              </a:ext>
            </a:extLst>
          </p:cNvPr>
          <p:cNvSpPr txBox="1">
            <a:spLocks/>
          </p:cNvSpPr>
          <p:nvPr/>
        </p:nvSpPr>
        <p:spPr bwMode="auto">
          <a:xfrm>
            <a:off x="1" y="1117612"/>
            <a:ext cx="12191999" cy="4618170"/>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800" kern="0" dirty="0">
                <a:solidFill>
                  <a:srgbClr val="000000"/>
                </a:solidFill>
                <a:latin typeface="Tahoma"/>
              </a:rPr>
              <a:t>κάθε μεταβλητή </a:t>
            </a:r>
            <a:r>
              <a:rPr lang="el-GR" sz="2800" b="1" kern="0" dirty="0">
                <a:solidFill>
                  <a:srgbClr val="000000"/>
                </a:solidFill>
                <a:latin typeface="Tahoma"/>
              </a:rPr>
              <a:t>πρέπει να δηλωθεί πριν χρησιμοποιηθεί</a:t>
            </a:r>
            <a:endParaRPr lang="en-US" sz="2800" b="1" kern="0" dirty="0">
              <a:solidFill>
                <a:srgbClr val="000000"/>
              </a:solidFill>
              <a:latin typeface="Tahoma"/>
            </a:endParaRPr>
          </a:p>
          <a:p>
            <a:pPr marL="0" indent="0">
              <a:buClr>
                <a:srgbClr val="3333CC"/>
              </a:buClr>
              <a:buNone/>
              <a:defRPr/>
            </a:pPr>
            <a:endParaRPr lang="el-GR" sz="2800" kern="0" dirty="0">
              <a:solidFill>
                <a:srgbClr val="000000"/>
              </a:solidFill>
              <a:latin typeface="Tahoma"/>
            </a:endParaRPr>
          </a:p>
          <a:p>
            <a:pPr>
              <a:buClr>
                <a:srgbClr val="3333CC"/>
              </a:buClr>
              <a:defRPr/>
            </a:pPr>
            <a:r>
              <a:rPr lang="el-GR" sz="2800" kern="0" dirty="0">
                <a:solidFill>
                  <a:srgbClr val="000000"/>
                </a:solidFill>
                <a:latin typeface="Tahoma"/>
              </a:rPr>
              <a:t>Παραδείγματα δηλώσεων	</a:t>
            </a:r>
          </a:p>
          <a:p>
            <a:pPr marL="400050" lvl="1" indent="0">
              <a:buClr>
                <a:srgbClr val="3333CC"/>
              </a:buClr>
              <a:buNone/>
              <a:defRPr/>
            </a:pPr>
            <a:r>
              <a:rPr lang="el-GR" sz="2000" b="1" kern="0" dirty="0" err="1">
                <a:solidFill>
                  <a:srgbClr val="000000"/>
                </a:solidFill>
                <a:latin typeface="Tahoma"/>
              </a:rPr>
              <a:t>int</a:t>
            </a:r>
            <a:r>
              <a:rPr lang="el-GR" sz="2000" b="1" kern="0" dirty="0">
                <a:solidFill>
                  <a:srgbClr val="000000"/>
                </a:solidFill>
                <a:latin typeface="Tahoma"/>
              </a:rPr>
              <a:t> num1;</a:t>
            </a:r>
            <a:r>
              <a:rPr lang="el-GR" sz="2000" kern="0" dirty="0">
                <a:solidFill>
                  <a:srgbClr val="000000"/>
                </a:solidFill>
                <a:latin typeface="Tahoma"/>
              </a:rPr>
              <a:t>	// δηλώνει ακέραια μεταβλητή</a:t>
            </a:r>
          </a:p>
          <a:p>
            <a:pPr marL="400050" lvl="1" indent="0">
              <a:buClr>
                <a:srgbClr val="3333CC"/>
              </a:buClr>
              <a:buNone/>
              <a:defRPr/>
            </a:pPr>
            <a:r>
              <a:rPr lang="el-GR" sz="2000" b="1" kern="0" dirty="0" err="1">
                <a:solidFill>
                  <a:srgbClr val="000000"/>
                </a:solidFill>
                <a:latin typeface="Tahoma"/>
              </a:rPr>
              <a:t>double</a:t>
            </a:r>
            <a:r>
              <a:rPr lang="el-GR" sz="2000" b="1" kern="0" dirty="0">
                <a:solidFill>
                  <a:srgbClr val="000000"/>
                </a:solidFill>
                <a:latin typeface="Tahoma"/>
              </a:rPr>
              <a:t> </a:t>
            </a:r>
            <a:r>
              <a:rPr lang="el-GR" sz="2000" b="1" kern="0" dirty="0" err="1">
                <a:solidFill>
                  <a:srgbClr val="000000"/>
                </a:solidFill>
                <a:latin typeface="Tahoma"/>
              </a:rPr>
              <a:t>result</a:t>
            </a:r>
            <a:r>
              <a:rPr lang="el-GR" sz="2000" b="1" kern="0" dirty="0">
                <a:solidFill>
                  <a:srgbClr val="000000"/>
                </a:solidFill>
                <a:latin typeface="Tahoma"/>
              </a:rPr>
              <a:t>;</a:t>
            </a:r>
            <a:r>
              <a:rPr lang="el-GR" sz="2000" kern="0" dirty="0">
                <a:solidFill>
                  <a:srgbClr val="000000"/>
                </a:solidFill>
                <a:latin typeface="Tahoma"/>
              </a:rPr>
              <a:t> // δηλώνει μεταβλητή κινητής υποδιαστολής διπλής 	ακρίβειας</a:t>
            </a:r>
          </a:p>
          <a:p>
            <a:pPr marL="400050" lvl="1" indent="0">
              <a:buClr>
                <a:srgbClr val="3333CC"/>
              </a:buClr>
              <a:buNone/>
              <a:defRPr/>
            </a:pPr>
            <a:r>
              <a:rPr lang="el-GR" sz="2000" b="1" kern="0" dirty="0" err="1">
                <a:solidFill>
                  <a:srgbClr val="000000"/>
                </a:solidFill>
                <a:latin typeface="Tahoma"/>
              </a:rPr>
              <a:t>const</a:t>
            </a:r>
            <a:r>
              <a:rPr lang="el-GR" sz="2000" b="1" kern="0" dirty="0">
                <a:solidFill>
                  <a:srgbClr val="000000"/>
                </a:solidFill>
                <a:latin typeface="Tahoma"/>
              </a:rPr>
              <a:t> </a:t>
            </a:r>
            <a:r>
              <a:rPr lang="el-GR" sz="2000" b="1" kern="0" dirty="0" err="1">
                <a:solidFill>
                  <a:srgbClr val="000000"/>
                </a:solidFill>
                <a:latin typeface="Tahoma"/>
              </a:rPr>
              <a:t>double</a:t>
            </a:r>
            <a:r>
              <a:rPr lang="el-GR" sz="2000" b="1" kern="0" dirty="0">
                <a:solidFill>
                  <a:srgbClr val="000000"/>
                </a:solidFill>
                <a:latin typeface="Tahoma"/>
              </a:rPr>
              <a:t> </a:t>
            </a:r>
            <a:r>
              <a:rPr lang="el-GR" sz="2000" b="1" kern="0" dirty="0" err="1">
                <a:solidFill>
                  <a:srgbClr val="000000"/>
                </a:solidFill>
                <a:latin typeface="Tahoma"/>
              </a:rPr>
              <a:t>pi</a:t>
            </a:r>
            <a:r>
              <a:rPr lang="el-GR" sz="2000" b="1" kern="0" dirty="0">
                <a:solidFill>
                  <a:srgbClr val="000000"/>
                </a:solidFill>
                <a:latin typeface="Tahoma"/>
              </a:rPr>
              <a:t> = 3.1416; </a:t>
            </a:r>
            <a:r>
              <a:rPr lang="el-GR" sz="2000" kern="0" dirty="0">
                <a:solidFill>
                  <a:srgbClr val="000000"/>
                </a:solidFill>
                <a:latin typeface="Tahoma"/>
              </a:rPr>
              <a:t>// όπως η </a:t>
            </a:r>
            <a:r>
              <a:rPr lang="el-GR" sz="2000" kern="0" dirty="0" err="1">
                <a:solidFill>
                  <a:srgbClr val="000000"/>
                </a:solidFill>
                <a:latin typeface="Tahoma"/>
              </a:rPr>
              <a:t>result</a:t>
            </a:r>
            <a:r>
              <a:rPr lang="el-GR" sz="2000" kern="0" dirty="0">
                <a:solidFill>
                  <a:srgbClr val="000000"/>
                </a:solidFill>
                <a:latin typeface="Tahoma"/>
              </a:rPr>
              <a:t> παραπάνω αλλά σταθερά</a:t>
            </a:r>
          </a:p>
          <a:p>
            <a:pPr>
              <a:buClr>
                <a:srgbClr val="3333CC"/>
              </a:buClr>
              <a:defRPr/>
            </a:pPr>
            <a:endParaRPr lang="en-US" sz="2800" kern="0" dirty="0">
              <a:solidFill>
                <a:srgbClr val="000000"/>
              </a:solidFill>
              <a:latin typeface="Tahoma"/>
            </a:endParaRPr>
          </a:p>
          <a:p>
            <a:pPr>
              <a:buClr>
                <a:srgbClr val="3333CC"/>
              </a:buClr>
              <a:defRPr/>
            </a:pPr>
            <a:r>
              <a:rPr lang="el-GR" sz="2800" kern="0" dirty="0">
                <a:solidFill>
                  <a:srgbClr val="000000"/>
                </a:solidFill>
                <a:latin typeface="Tahoma"/>
              </a:rPr>
              <a:t>δήλωση με ανάθεση αρχικής τιμής</a:t>
            </a:r>
          </a:p>
          <a:p>
            <a:pPr marL="400050" lvl="1" indent="0">
              <a:buClr>
                <a:srgbClr val="3333CC"/>
              </a:buClr>
              <a:buNone/>
              <a:defRPr/>
            </a:pPr>
            <a:r>
              <a:rPr lang="el-GR" sz="2000" b="1" kern="0" dirty="0" err="1">
                <a:solidFill>
                  <a:srgbClr val="000000"/>
                </a:solidFill>
                <a:latin typeface="Tahoma"/>
              </a:rPr>
              <a:t>int</a:t>
            </a:r>
            <a:r>
              <a:rPr lang="el-GR" sz="2000" b="1" kern="0" dirty="0">
                <a:solidFill>
                  <a:srgbClr val="000000"/>
                </a:solidFill>
                <a:latin typeface="Tahoma"/>
              </a:rPr>
              <a:t> num1 = 12;</a:t>
            </a:r>
          </a:p>
          <a:p>
            <a:pPr marL="400050" lvl="1" indent="0">
              <a:buClr>
                <a:srgbClr val="3333CC"/>
              </a:buClr>
              <a:buNone/>
              <a:defRPr/>
            </a:pPr>
            <a:r>
              <a:rPr lang="el-GR" sz="2000" b="1" kern="0" dirty="0" err="1">
                <a:solidFill>
                  <a:srgbClr val="000000"/>
                </a:solidFill>
                <a:latin typeface="Tahoma"/>
              </a:rPr>
              <a:t>double</a:t>
            </a:r>
            <a:r>
              <a:rPr lang="el-GR" sz="2000" b="1" kern="0" dirty="0">
                <a:solidFill>
                  <a:srgbClr val="000000"/>
                </a:solidFill>
                <a:latin typeface="Tahoma"/>
              </a:rPr>
              <a:t> </a:t>
            </a:r>
            <a:r>
              <a:rPr lang="el-GR" sz="2000" b="1" kern="0" dirty="0" err="1">
                <a:solidFill>
                  <a:srgbClr val="000000"/>
                </a:solidFill>
                <a:latin typeface="Tahoma"/>
              </a:rPr>
              <a:t>temp</a:t>
            </a:r>
            <a:r>
              <a:rPr lang="el-GR" sz="2000" b="1" kern="0" dirty="0">
                <a:solidFill>
                  <a:srgbClr val="000000"/>
                </a:solidFill>
                <a:latin typeface="Tahoma"/>
              </a:rPr>
              <a:t> = 24.35;</a:t>
            </a:r>
          </a:p>
          <a:p>
            <a:pPr>
              <a:buClr>
                <a:srgbClr val="3333CC"/>
              </a:buClr>
              <a:defRPr/>
            </a:pPr>
            <a:endParaRPr lang="el-GR" sz="2400" kern="0" dirty="0">
              <a:solidFill>
                <a:srgbClr val="000000"/>
              </a:solidFill>
              <a:latin typeface="Tahoma"/>
            </a:endParaRPr>
          </a:p>
        </p:txBody>
      </p:sp>
    </p:spTree>
    <p:extLst>
      <p:ext uri="{BB962C8B-B14F-4D97-AF65-F5344CB8AC3E}">
        <p14:creationId xmlns:p14="http://schemas.microsoft.com/office/powerpoint/2010/main" val="4251284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500"/>
                                        <p:tgtEl>
                                          <p:spTgt spid="7">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fade">
                                      <p:cBhvr>
                                        <p:cTn id="23" dur="500"/>
                                        <p:tgtEl>
                                          <p:spTgt spid="7">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fade">
                                      <p:cBhvr>
                                        <p:cTn id="26" dur="500"/>
                                        <p:tgtEl>
                                          <p:spTgt spid="7">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animEffect transition="in" filter="fade">
                                      <p:cBhvr>
                                        <p:cTn id="31" dur="500"/>
                                        <p:tgtEl>
                                          <p:spTgt spid="7">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xEl>
                                              <p:pRg st="8" end="8"/>
                                            </p:txEl>
                                          </p:spTgt>
                                        </p:tgtEl>
                                        <p:attrNameLst>
                                          <p:attrName>style.visibility</p:attrName>
                                        </p:attrNameLst>
                                      </p:cBhvr>
                                      <p:to>
                                        <p:strVal val="visible"/>
                                      </p:to>
                                    </p:set>
                                    <p:animEffect transition="in" filter="fade">
                                      <p:cBhvr>
                                        <p:cTn id="34" dur="500"/>
                                        <p:tgtEl>
                                          <p:spTgt spid="7">
                                            <p:txEl>
                                              <p:pRg st="8" end="8"/>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
                                            <p:txEl>
                                              <p:pRg st="9" end="9"/>
                                            </p:txEl>
                                          </p:spTgt>
                                        </p:tgtEl>
                                        <p:attrNameLst>
                                          <p:attrName>style.visibility</p:attrName>
                                        </p:attrNameLst>
                                      </p:cBhvr>
                                      <p:to>
                                        <p:strVal val="visible"/>
                                      </p:to>
                                    </p:set>
                                    <p:animEffect transition="in" filter="fade">
                                      <p:cBhvr>
                                        <p:cTn id="37"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F0816-AF88-FA42-6DD0-57F8A6D6796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5924B94F-D22A-3D86-61BD-1C8D30878D34}"/>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Κανόνες δήλωσης μεταβλητών</a:t>
            </a:r>
          </a:p>
        </p:txBody>
      </p:sp>
      <p:grpSp>
        <p:nvGrpSpPr>
          <p:cNvPr id="4" name="Group 3">
            <a:extLst>
              <a:ext uri="{FF2B5EF4-FFF2-40B4-BE49-F238E27FC236}">
                <a16:creationId xmlns:a16="http://schemas.microsoft.com/office/drawing/2014/main" id="{25CE2984-16A5-AC4D-8E46-1701A2F35417}"/>
              </a:ext>
            </a:extLst>
          </p:cNvPr>
          <p:cNvGrpSpPr/>
          <p:nvPr/>
        </p:nvGrpSpPr>
        <p:grpSpPr>
          <a:xfrm>
            <a:off x="-1" y="6559908"/>
            <a:ext cx="12192001" cy="298092"/>
            <a:chOff x="-1" y="6559908"/>
            <a:chExt cx="12192001" cy="298092"/>
          </a:xfrm>
        </p:grpSpPr>
        <p:sp>
          <p:nvSpPr>
            <p:cNvPr id="10" name="Rectangle 14">
              <a:extLst>
                <a:ext uri="{FF2B5EF4-FFF2-40B4-BE49-F238E27FC236}">
                  <a16:creationId xmlns:a16="http://schemas.microsoft.com/office/drawing/2014/main" id="{88E4354A-B10B-6906-5207-7EADDF483242}"/>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E3F3EF0F-7FF3-CCC4-455A-C0C49CFAD4F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B7437E39-39FA-035E-EF43-A0DC86DDD8E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8</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68C3558E-EAEB-CF99-1930-E81359FEF4DF}"/>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B9F05B36-B17C-EEB8-2234-7EA14098CFF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3" name="Rectangle 3">
            <a:extLst>
              <a:ext uri="{FF2B5EF4-FFF2-40B4-BE49-F238E27FC236}">
                <a16:creationId xmlns:a16="http://schemas.microsoft.com/office/drawing/2014/main" id="{FA5E1F95-F376-0933-DDB7-AEBB2B10280E}"/>
              </a:ext>
            </a:extLst>
          </p:cNvPr>
          <p:cNvSpPr txBox="1">
            <a:spLocks noChangeArrowheads="1"/>
          </p:cNvSpPr>
          <p:nvPr/>
        </p:nvSpPr>
        <p:spPr bwMode="auto">
          <a:xfrm>
            <a:off x="540327" y="1169406"/>
            <a:ext cx="996199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mn-cs"/>
              </a:rPr>
              <a:t>μέχρι 31 χαρακτήρες </a:t>
            </a:r>
            <a:r>
              <a:rPr kumimoji="0" lang="el-GR" altLang="el-G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(ANSI C)</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lower</a:t>
            </a:r>
            <a:r>
              <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case</a:t>
            </a:r>
            <a:r>
              <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upper</a:t>
            </a:r>
            <a:r>
              <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case</a:t>
            </a:r>
            <a:r>
              <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digits</a:t>
            </a:r>
            <a:r>
              <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underscore</a:t>
            </a:r>
            <a:endPar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πρώτος χαρακτήρας </a:t>
            </a:r>
            <a:r>
              <a:rPr kumimoji="0" lang="el-GR" altLang="el-GR"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letter</a:t>
            </a:r>
            <a:r>
              <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or</a:t>
            </a:r>
            <a:r>
              <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underscore</a:t>
            </a:r>
            <a:endPar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mn-cs"/>
              </a:rPr>
              <a:t>δήλωσε κάθε μεταβλητή πριν τη χρήση της</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αποφεύγονται δύσκολα στην ανεύρεση λάθη</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βάλε όλες τις μεταβλητές σε μια θέση</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χρησιμοποίησε εκφραστικά ονόματα</a:t>
            </a:r>
            <a:r>
              <a:rPr kumimoji="0" lang="en-GB" altLang="el-GR" sz="2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(readability)</a:t>
            </a:r>
            <a:endParaRPr kumimoji="0" lang="el-GR" altLang="el-GR" sz="2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Προτίμησε τις τοπικές (</a:t>
            </a:r>
            <a:r>
              <a:rPr kumimoji="0" lang="en-GB" altLang="el-GR" sz="2800" b="1" i="0" u="none" strike="noStrike" kern="1200" cap="none" spc="0" normalizeH="0" baseline="0" noProof="0" dirty="0">
                <a:ln>
                  <a:noFill/>
                </a:ln>
                <a:solidFill>
                  <a:srgbClr val="00B050"/>
                </a:solidFill>
                <a:effectLst/>
                <a:uLnTx/>
                <a:uFillTx/>
                <a:latin typeface="Times New Roman" panose="02020603050405020304" pitchFamily="18" charset="0"/>
                <a:ea typeface="+mn-ea"/>
                <a:cs typeface="+mn-cs"/>
              </a:rPr>
              <a:t>local</a:t>
            </a:r>
            <a:r>
              <a:rPr kumimoji="0" lang="el-GR" altLang="el-G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αντί για τις γενικές μεταβλητές</a:t>
            </a:r>
            <a:r>
              <a:rPr kumimoji="0" lang="en-GB" altLang="el-G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2800" b="1" i="0" u="none" strike="noStrike" kern="1200" cap="none" spc="0" normalizeH="0" baseline="0" noProof="0" dirty="0">
                <a:ln>
                  <a:noFill/>
                </a:ln>
                <a:solidFill>
                  <a:srgbClr val="C51FA5"/>
                </a:solidFill>
                <a:effectLst/>
                <a:uLnTx/>
                <a:uFillTx/>
                <a:latin typeface="Times New Roman" panose="02020603050405020304" pitchFamily="18" charset="0"/>
                <a:ea typeface="+mn-ea"/>
                <a:cs typeface="+mn-cs"/>
              </a:rPr>
              <a:t>global</a:t>
            </a:r>
            <a:r>
              <a:rPr kumimoji="0" lang="en-GB" altLang="el-G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r>
              <a:rPr kumimoji="0" lang="el-GR" altLang="el-G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εκτός και αν υπάρχει λόγος για αυτό.</a:t>
            </a:r>
          </a:p>
        </p:txBody>
      </p:sp>
      <p:sp>
        <p:nvSpPr>
          <p:cNvPr id="14" name="Callout: Line 13">
            <a:extLst>
              <a:ext uri="{FF2B5EF4-FFF2-40B4-BE49-F238E27FC236}">
                <a16:creationId xmlns:a16="http://schemas.microsoft.com/office/drawing/2014/main" id="{8BDA648F-E388-9ED9-206F-A1B00C237D34}"/>
              </a:ext>
            </a:extLst>
          </p:cNvPr>
          <p:cNvSpPr/>
          <p:nvPr/>
        </p:nvSpPr>
        <p:spPr bwMode="auto">
          <a:xfrm>
            <a:off x="540327" y="5688594"/>
            <a:ext cx="3676318" cy="646331"/>
          </a:xfrm>
          <a:prstGeom prst="borderCallout1">
            <a:avLst>
              <a:gd name="adj1" fmla="val 1376"/>
              <a:gd name="adj2" fmla="val 44995"/>
              <a:gd name="adj3" fmla="val -31458"/>
              <a:gd name="adj4" fmla="val 37616"/>
            </a:avLst>
          </a:prstGeom>
          <a:solidFill>
            <a:schemeClr val="accent1"/>
          </a:solidFill>
          <a:ln w="38100" cap="flat" cmpd="sng" algn="ctr">
            <a:solidFill>
              <a:schemeClr val="accent1">
                <a:lumMod val="50000"/>
              </a:schemeClr>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pPr>
            <a:r>
              <a:rPr lang="el-GR" kern="0" dirty="0">
                <a:solidFill>
                  <a:schemeClr val="bg1"/>
                </a:solidFill>
                <a:latin typeface="Tahoma" panose="020B0604030504040204" pitchFamily="34" charset="0"/>
              </a:rPr>
              <a:t>Μεταβλητή που ορίζεται έξω από συνάρτηση </a:t>
            </a:r>
            <a:r>
              <a:rPr lang="el-GR" kern="0" dirty="0" err="1">
                <a:solidFill>
                  <a:schemeClr val="bg1"/>
                </a:solidFill>
                <a:latin typeface="Tahoma" panose="020B0604030504040204" pitchFamily="34" charset="0"/>
              </a:rPr>
              <a:t>συνάρτηση</a:t>
            </a:r>
            <a:endParaRPr lang="en-GB" kern="0" dirty="0">
              <a:solidFill>
                <a:schemeClr val="bg1"/>
              </a:solidFill>
              <a:latin typeface="Tahoma" panose="020B0604030504040204" pitchFamily="34" charset="0"/>
            </a:endParaRPr>
          </a:p>
        </p:txBody>
      </p:sp>
      <p:sp>
        <p:nvSpPr>
          <p:cNvPr id="15" name="Callout: Line 14">
            <a:extLst>
              <a:ext uri="{FF2B5EF4-FFF2-40B4-BE49-F238E27FC236}">
                <a16:creationId xmlns:a16="http://schemas.microsoft.com/office/drawing/2014/main" id="{D48537A2-9FB3-6FD9-13E0-7229F5034418}"/>
              </a:ext>
            </a:extLst>
          </p:cNvPr>
          <p:cNvSpPr/>
          <p:nvPr/>
        </p:nvSpPr>
        <p:spPr bwMode="auto">
          <a:xfrm>
            <a:off x="5521324" y="5610155"/>
            <a:ext cx="3676318" cy="646331"/>
          </a:xfrm>
          <a:prstGeom prst="borderCallout1">
            <a:avLst>
              <a:gd name="adj1" fmla="val 1376"/>
              <a:gd name="adj2" fmla="val 49894"/>
              <a:gd name="adj3" fmla="val -95991"/>
              <a:gd name="adj4" fmla="val -22636"/>
            </a:avLst>
          </a:prstGeom>
          <a:solidFill>
            <a:schemeClr val="accent1"/>
          </a:solidFill>
          <a:ln w="38100" cap="flat" cmpd="sng" algn="ctr">
            <a:solidFill>
              <a:schemeClr val="accent1">
                <a:lumMod val="50000"/>
              </a:schemeClr>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800" b="0" i="0" u="none" strike="noStrike" kern="0" cap="none" spc="0" normalizeH="0" baseline="0" noProof="0" dirty="0">
                <a:ln>
                  <a:noFill/>
                </a:ln>
                <a:solidFill>
                  <a:schemeClr val="bg1"/>
                </a:solidFill>
                <a:effectLst/>
                <a:uLnTx/>
                <a:uFillTx/>
                <a:latin typeface="Tahoma" panose="020B0604030504040204" pitchFamily="34" charset="0"/>
              </a:rPr>
              <a:t>Μεταβλητή που ορίζεται μέσα στο σώμα συνάρτησης</a:t>
            </a:r>
            <a:endParaRPr kumimoji="0" lang="en-GB" sz="1800" b="0" i="0" u="none" strike="noStrike" kern="0" cap="none" spc="0" normalizeH="0" baseline="0" noProof="0" dirty="0">
              <a:ln>
                <a:noFill/>
              </a:ln>
              <a:solidFill>
                <a:schemeClr val="bg1"/>
              </a:solidFill>
              <a:effectLst/>
              <a:uLnTx/>
              <a:uFillTx/>
              <a:latin typeface="Tahoma" panose="020B0604030504040204" pitchFamily="34" charset="0"/>
            </a:endParaRPr>
          </a:p>
        </p:txBody>
      </p:sp>
    </p:spTree>
    <p:extLst>
      <p:ext uri="{BB962C8B-B14F-4D97-AF65-F5344CB8AC3E}">
        <p14:creationId xmlns:p14="http://schemas.microsoft.com/office/powerpoint/2010/main" val="20255875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62EF1-6424-AD7D-9E44-350C1FD78946}"/>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F405F3ED-2615-CC1C-716F-6958D7270115}"/>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CA88BC73-50BF-DE76-8D8E-F20DDDDD4AAA}"/>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0BF431FD-D3A7-F4AB-4DB2-8169A6C112F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299B510E-D19C-CA1F-B7AB-7D8003AB6460}"/>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9</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EB548A75-E921-39D4-0BDE-E2A40863AF03}"/>
              </a:ext>
            </a:extLst>
          </p:cNvPr>
          <p:cNvSpPr txBox="1">
            <a:spLocks/>
          </p:cNvSpPr>
          <p:nvPr/>
        </p:nvSpPr>
        <p:spPr>
          <a:xfrm>
            <a:off x="4149680" y="6670790"/>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Control flow</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Arrays</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Type conversions</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FB34D269-C5F6-5B72-1735-489A6850FF5C}"/>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0883621B-6A42-26D9-0B33-E486C59847F2}"/>
              </a:ext>
            </a:extLst>
          </p:cNvPr>
          <p:cNvSpPr txBox="1">
            <a:spLocks noChangeArrowheads="1"/>
          </p:cNvSpPr>
          <p:nvPr/>
        </p:nvSpPr>
        <p:spPr bwMode="auto">
          <a:xfrm>
            <a:off x="492449" y="914699"/>
            <a:ext cx="11207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80000"/>
              </a:lnSpc>
            </a:pPr>
            <a:r>
              <a:rPr lang="el-GR" altLang="el-GR" b="1" dirty="0">
                <a:solidFill>
                  <a:srgbClr val="F9853D"/>
                </a:solidFill>
                <a:latin typeface="Bahnschrift" panose="020B0502040204020203" pitchFamily="34" charset="0"/>
              </a:rPr>
              <a:t>Μεταβλητή</a:t>
            </a:r>
          </a:p>
          <a:p>
            <a:pPr lvl="1" eaLnBrk="1" hangingPunct="1">
              <a:lnSpc>
                <a:spcPct val="80000"/>
              </a:lnSpc>
            </a:pPr>
            <a:r>
              <a:rPr lang="el-GR" altLang="el-GR" kern="0" dirty="0">
                <a:latin typeface="Times New Roman" panose="02020603050405020304" pitchFamily="18" charset="0"/>
              </a:rPr>
              <a:t>Ορισμός</a:t>
            </a:r>
          </a:p>
          <a:p>
            <a:pPr lvl="1" eaLnBrk="1" hangingPunct="1">
              <a:lnSpc>
                <a:spcPct val="80000"/>
              </a:lnSpc>
            </a:pPr>
            <a:r>
              <a:rPr lang="el-GR" altLang="el-GR" kern="0" dirty="0">
                <a:latin typeface="Times New Roman" panose="02020603050405020304" pitchFamily="18" charset="0"/>
              </a:rPr>
              <a:t>Δήλωση – Κανόνες Δήλωσης (στην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l-GR" altLang="el-GR" b="1" dirty="0">
                <a:solidFill>
                  <a:srgbClr val="C00000"/>
                </a:solidFill>
                <a:latin typeface="Bahnschrift" panose="020B0502040204020203" pitchFamily="34" charset="0"/>
              </a:rPr>
              <a:t>Τύποι Δεδομένων</a:t>
            </a:r>
          </a:p>
          <a:p>
            <a:pPr lvl="1" eaLnBrk="1" hangingPunct="1">
              <a:lnSpc>
                <a:spcPct val="80000"/>
              </a:lnSpc>
            </a:pPr>
            <a:r>
              <a:rPr lang="el-GR" altLang="el-GR" kern="0" dirty="0">
                <a:latin typeface="Times New Roman" panose="02020603050405020304" pitchFamily="18" charset="0"/>
              </a:rPr>
              <a:t>Τύποι δεδομένων στη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ακεραίου (</a:t>
            </a:r>
            <a:r>
              <a:rPr lang="en-US" altLang="el-GR" b="1" dirty="0">
                <a:solidFill>
                  <a:srgbClr val="F9853D"/>
                </a:solidFill>
                <a:latin typeface="Bahnschrift" panose="020B0502040204020203" pitchFamily="34" charset="0"/>
              </a:rPr>
              <a:t>int</a:t>
            </a:r>
            <a:r>
              <a:rPr lang="el-GR" altLang="el-GR" b="1" dirty="0">
                <a:solidFill>
                  <a:srgbClr val="F9853D"/>
                </a:solidFill>
                <a:latin typeface="Bahnschrift" panose="020B0502040204020203" pitchFamily="34" charset="0"/>
              </a:rPr>
              <a:t>)</a:t>
            </a:r>
            <a:endParaRPr lang="en-US" altLang="el-GR" b="1" dirty="0">
              <a:solidFill>
                <a:srgbClr val="F9853D"/>
              </a:solidFill>
              <a:latin typeface="Bahnschrift" panose="020B0502040204020203" pitchFamily="34"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χαρακτήρα</a:t>
            </a:r>
          </a:p>
          <a:p>
            <a:pPr eaLnBrk="1" hangingPunct="1">
              <a:lnSpc>
                <a:spcPct val="80000"/>
              </a:lnSpc>
            </a:pPr>
            <a:r>
              <a:rPr lang="el-GR" altLang="el-GR" b="1" dirty="0">
                <a:solidFill>
                  <a:srgbClr val="F9853D"/>
                </a:solidFill>
                <a:latin typeface="Bahnschrift" panose="020B0502040204020203" pitchFamily="34" charset="0"/>
              </a:rPr>
              <a:t>Οι τύποι αριθμού κινητής υποδιαστολής </a:t>
            </a:r>
          </a:p>
          <a:p>
            <a:pPr lvl="1" eaLnBrk="1" hangingPunct="1">
              <a:lnSpc>
                <a:spcPct val="80000"/>
              </a:lnSpc>
            </a:pPr>
            <a:r>
              <a:rPr lang="en-US" altLang="el-GR" kern="0" dirty="0">
                <a:latin typeface="Times New Roman" panose="02020603050405020304" pitchFamily="18" charset="0"/>
              </a:rPr>
              <a:t>float</a:t>
            </a:r>
            <a:r>
              <a:rPr lang="el-GR" altLang="el-GR" kern="0" dirty="0">
                <a:latin typeface="Times New Roman" panose="02020603050405020304" pitchFamily="18" charset="0"/>
              </a:rPr>
              <a:t> - </a:t>
            </a:r>
            <a:r>
              <a:rPr lang="en-US" altLang="el-GR" kern="0" dirty="0">
                <a:latin typeface="Times New Roman" panose="02020603050405020304" pitchFamily="18" charset="0"/>
              </a:rPr>
              <a:t>double</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της Συμβολοσειράς</a:t>
            </a:r>
          </a:p>
          <a:p>
            <a:pPr eaLnBrk="1" hangingPunct="1">
              <a:lnSpc>
                <a:spcPct val="80000"/>
              </a:lnSpc>
            </a:pPr>
            <a:r>
              <a:rPr lang="el-GR" altLang="el-GR" b="1" dirty="0">
                <a:solidFill>
                  <a:srgbClr val="F9853D"/>
                </a:solidFill>
                <a:latin typeface="Bahnschrift" panose="020B0502040204020203" pitchFamily="34" charset="0"/>
              </a:rPr>
              <a:t>Σταθερές</a:t>
            </a:r>
          </a:p>
          <a:p>
            <a:pPr lvl="1" eaLnBrk="1" hangingPunct="1">
              <a:lnSpc>
                <a:spcPct val="80000"/>
              </a:lnSpc>
            </a:pPr>
            <a:r>
              <a:rPr lang="el-GR" altLang="el-GR" kern="0" dirty="0">
                <a:latin typeface="Times New Roman" panose="02020603050405020304" pitchFamily="18" charset="0"/>
              </a:rPr>
              <a:t>Σταθερά απαρίθμησης  (</a:t>
            </a:r>
            <a:r>
              <a:rPr lang="en-GB" altLang="el-GR" kern="0" dirty="0" err="1">
                <a:latin typeface="Times New Roman" panose="02020603050405020304" pitchFamily="18" charset="0"/>
              </a:rPr>
              <a:t>enum</a:t>
            </a:r>
            <a:r>
              <a:rPr lang="en-GB" altLang="el-GR" kern="0" dirty="0">
                <a:latin typeface="Times New Roman" panose="02020603050405020304" pitchFamily="18" charset="0"/>
              </a:rPr>
              <a:t>)</a:t>
            </a:r>
            <a:endParaRPr lang="el-GR" altLang="el-GR" kern="0" dirty="0">
              <a:latin typeface="Times New Roman" panose="02020603050405020304" pitchFamily="18" charset="0"/>
            </a:endParaRPr>
          </a:p>
        </p:txBody>
      </p:sp>
    </p:spTree>
    <p:extLst>
      <p:ext uri="{BB962C8B-B14F-4D97-AF65-F5344CB8AC3E}">
        <p14:creationId xmlns:p14="http://schemas.microsoft.com/office/powerpoint/2010/main" val="15554959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0E5E5-BE73-01FF-8415-05C16BAEF9D9}"/>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BD380B73-F59C-E871-8084-A81B44F9FC8F}"/>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Τύποι Δεδομένων</a:t>
            </a:r>
          </a:p>
        </p:txBody>
      </p:sp>
      <p:grpSp>
        <p:nvGrpSpPr>
          <p:cNvPr id="4" name="Group 3">
            <a:extLst>
              <a:ext uri="{FF2B5EF4-FFF2-40B4-BE49-F238E27FC236}">
                <a16:creationId xmlns:a16="http://schemas.microsoft.com/office/drawing/2014/main" id="{E9DD1D76-25EF-08BA-F717-6C03B3ACE7A7}"/>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0527EE16-DB63-7EF1-F2E6-A9C36B1EDA75}"/>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5F0B380A-3EB2-5B62-898A-F684191373D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8D84116E-60F9-5179-3F18-975DA7CDC7C9}"/>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10</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776B8027-6CAA-8EE4-753C-C5139C08CA60}"/>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B3CAF5C8-022A-841D-B9B9-45F1EE9FA5B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AED3862F-7B43-65BC-BAAD-F37ACBAAD442}"/>
              </a:ext>
            </a:extLst>
          </p:cNvPr>
          <p:cNvSpPr txBox="1">
            <a:spLocks noChangeArrowheads="1"/>
          </p:cNvSpPr>
          <p:nvPr/>
        </p:nvSpPr>
        <p:spPr bwMode="auto">
          <a:xfrm>
            <a:off x="167693" y="916384"/>
            <a:ext cx="5431245" cy="4635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Ένας τύπος δεδομένων </a:t>
            </a:r>
            <a:r>
              <a:rPr kumimoji="0" lang="el-GR" altLang="el-GR" sz="2800" b="0"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προσδιορίζει</a:t>
            </a:r>
            <a:r>
              <a:rPr kumimoji="0" lang="el-GR" altLang="el-GR" sz="28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p>
          <a:p>
            <a:pPr marL="742950" marR="0" lvl="1" indent="-285750" algn="just"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4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ένα σύνολο από αντικείμενα με κοινά χαρακτηριστικά τα οποία συνήθως εκφράζονται από ένα σύνολο πράξεων πάνω στα αντικείμενα</a:t>
            </a:r>
            <a:r>
              <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endParaRPr kumimoji="0" lang="el-GR" altLang="el-GR" sz="2400" b="0" i="0" u="none" strike="noStrike" kern="1200" cap="none" spc="0" normalizeH="0" baseline="0" noProof="0" dirty="0">
              <a:ln>
                <a:noFill/>
              </a:ln>
              <a:solidFill>
                <a:srgbClr val="000000"/>
              </a:solidFill>
              <a:effectLst/>
              <a:uLnTx/>
              <a:uFillTx/>
              <a:latin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GB" altLang="el-G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pic>
        <p:nvPicPr>
          <p:cNvPr id="9" name="Picture 4">
            <a:extLst>
              <a:ext uri="{FF2B5EF4-FFF2-40B4-BE49-F238E27FC236}">
                <a16:creationId xmlns:a16="http://schemas.microsoft.com/office/drawing/2014/main" id="{846422F7-0612-D76E-AE6B-19B69D0A9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93" y="4934349"/>
            <a:ext cx="1208077" cy="10318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5">
            <a:extLst>
              <a:ext uri="{FF2B5EF4-FFF2-40B4-BE49-F238E27FC236}">
                <a16:creationId xmlns:a16="http://schemas.microsoft.com/office/drawing/2014/main" id="{98070A78-1877-30BE-BD26-66A1F52532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9895" y="3794227"/>
            <a:ext cx="1244032"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7">
            <a:extLst>
              <a:ext uri="{FF2B5EF4-FFF2-40B4-BE49-F238E27FC236}">
                <a16:creationId xmlns:a16="http://schemas.microsoft.com/office/drawing/2014/main" id="{F6E888A1-EE2B-86C2-3E6B-72A7258A5C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3833" y="4642864"/>
            <a:ext cx="1898407" cy="158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3">
            <a:extLst>
              <a:ext uri="{FF2B5EF4-FFF2-40B4-BE49-F238E27FC236}">
                <a16:creationId xmlns:a16="http://schemas.microsoft.com/office/drawing/2014/main" id="{852033FE-7CAE-B370-813D-9D91FF266A41}"/>
              </a:ext>
            </a:extLst>
          </p:cNvPr>
          <p:cNvSpPr txBox="1">
            <a:spLocks noChangeArrowheads="1"/>
          </p:cNvSpPr>
          <p:nvPr/>
        </p:nvSpPr>
        <p:spPr bwMode="auto">
          <a:xfrm>
            <a:off x="6593063" y="1735795"/>
            <a:ext cx="5598936"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70C0"/>
              </a:buClr>
            </a:pPr>
            <a:r>
              <a:rPr lang="el-GR" altLang="el-GR" b="1" dirty="0">
                <a:latin typeface="Tahoma" panose="020B0604030504040204" pitchFamily="34" charset="0"/>
                <a:ea typeface="Tahoma" panose="020B0604030504040204" pitchFamily="34" charset="0"/>
                <a:cs typeface="Tahoma" panose="020B0604030504040204" pitchFamily="34" charset="0"/>
              </a:rPr>
              <a:t>Αριθμοί</a:t>
            </a:r>
            <a:endParaRPr lang="el-GR" altLang="el-GR" dirty="0">
              <a:latin typeface="Tahoma" panose="020B0604030504040204" pitchFamily="34" charset="0"/>
              <a:ea typeface="Tahoma" panose="020B0604030504040204" pitchFamily="34" charset="0"/>
              <a:cs typeface="Tahoma" panose="020B0604030504040204" pitchFamily="34" charset="0"/>
            </a:endParaRPr>
          </a:p>
          <a:p>
            <a:pPr lvl="1">
              <a:buClr>
                <a:srgbClr val="0070C0"/>
              </a:buClr>
            </a:pPr>
            <a:r>
              <a:rPr lang="el-GR" altLang="el-GR" dirty="0">
                <a:latin typeface="Tahoma" panose="020B0604030504040204" pitchFamily="34" charset="0"/>
                <a:ea typeface="Tahoma" panose="020B0604030504040204" pitchFamily="34" charset="0"/>
                <a:cs typeface="Tahoma" panose="020B0604030504040204" pitchFamily="34" charset="0"/>
              </a:rPr>
              <a:t>βασίζονται στην υλοποίηση της αριθμητικής της μηχανής</a:t>
            </a:r>
          </a:p>
          <a:p>
            <a:pPr>
              <a:buClr>
                <a:srgbClr val="0070C0"/>
              </a:buClr>
            </a:pPr>
            <a:r>
              <a:rPr lang="en-GB" altLang="el-GR" b="1" dirty="0" err="1">
                <a:latin typeface="Tahoma" panose="020B0604030504040204" pitchFamily="34" charset="0"/>
                <a:ea typeface="Tahoma" panose="020B0604030504040204" pitchFamily="34" charset="0"/>
                <a:cs typeface="Tahoma" panose="020B0604030504040204" pitchFamily="34" charset="0"/>
              </a:rPr>
              <a:t>Bollean</a:t>
            </a:r>
            <a:endParaRPr lang="en-GB" altLang="el-GR" dirty="0">
              <a:latin typeface="Tahoma" panose="020B0604030504040204" pitchFamily="34" charset="0"/>
              <a:ea typeface="Tahoma" panose="020B0604030504040204" pitchFamily="34" charset="0"/>
              <a:cs typeface="Tahoma" panose="020B0604030504040204" pitchFamily="34" charset="0"/>
            </a:endParaRPr>
          </a:p>
          <a:p>
            <a:pPr lvl="1">
              <a:buClr>
                <a:srgbClr val="0070C0"/>
              </a:buClr>
            </a:pPr>
            <a:r>
              <a:rPr lang="en-GB" altLang="el-GR" dirty="0" err="1">
                <a:latin typeface="Tahoma" panose="020B0604030504040204" pitchFamily="34" charset="0"/>
                <a:ea typeface="Tahoma" panose="020B0604030504040204" pitchFamily="34" charset="0"/>
                <a:cs typeface="Tahoma" panose="020B0604030504040204" pitchFamily="34" charset="0"/>
              </a:rPr>
              <a:t>με</a:t>
            </a:r>
            <a:r>
              <a:rPr lang="en-GB" altLang="el-GR" dirty="0">
                <a:latin typeface="Tahoma" panose="020B0604030504040204" pitchFamily="34" charset="0"/>
                <a:ea typeface="Tahoma" panose="020B0604030504040204" pitchFamily="34" charset="0"/>
                <a:cs typeface="Tahoma" panose="020B0604030504040204" pitchFamily="34" charset="0"/>
              </a:rPr>
              <a:t> </a:t>
            </a:r>
            <a:r>
              <a:rPr lang="en-GB" altLang="el-GR" dirty="0" err="1">
                <a:latin typeface="Tahoma" panose="020B0604030504040204" pitchFamily="34" charset="0"/>
                <a:ea typeface="Tahoma" panose="020B0604030504040204" pitchFamily="34" charset="0"/>
                <a:cs typeface="Tahoma" panose="020B0604030504040204" pitchFamily="34" charset="0"/>
              </a:rPr>
              <a:t>τιμές</a:t>
            </a:r>
            <a:r>
              <a:rPr lang="en-GB" altLang="el-GR" dirty="0">
                <a:latin typeface="Tahoma" panose="020B0604030504040204" pitchFamily="34" charset="0"/>
                <a:ea typeface="Tahoma" panose="020B0604030504040204" pitchFamily="34" charset="0"/>
                <a:cs typeface="Tahoma" panose="020B0604030504040204" pitchFamily="34" charset="0"/>
              </a:rPr>
              <a:t> true, false</a:t>
            </a:r>
          </a:p>
          <a:p>
            <a:pPr>
              <a:buClr>
                <a:srgbClr val="0070C0"/>
              </a:buClr>
            </a:pPr>
            <a:r>
              <a:rPr lang="en-GB" altLang="el-GR" b="1" dirty="0">
                <a:latin typeface="Tahoma" panose="020B0604030504040204" pitchFamily="34" charset="0"/>
                <a:ea typeface="Tahoma" panose="020B0604030504040204" pitchFamily="34" charset="0"/>
                <a:cs typeface="Tahoma" panose="020B0604030504040204" pitchFamily="34" charset="0"/>
              </a:rPr>
              <a:t>Χαρα</a:t>
            </a:r>
            <a:r>
              <a:rPr lang="en-GB" altLang="el-GR" b="1" dirty="0" err="1">
                <a:latin typeface="Tahoma" panose="020B0604030504040204" pitchFamily="34" charset="0"/>
                <a:ea typeface="Tahoma" panose="020B0604030504040204" pitchFamily="34" charset="0"/>
                <a:cs typeface="Tahoma" panose="020B0604030504040204" pitchFamily="34" charset="0"/>
              </a:rPr>
              <a:t>κτήρ</a:t>
            </a:r>
            <a:r>
              <a:rPr lang="en-GB" altLang="el-GR" b="1" dirty="0">
                <a:latin typeface="Tahoma" panose="020B0604030504040204" pitchFamily="34" charset="0"/>
                <a:ea typeface="Tahoma" panose="020B0604030504040204" pitchFamily="34" charset="0"/>
                <a:cs typeface="Tahoma" panose="020B0604030504040204" pitchFamily="34" charset="0"/>
              </a:rPr>
              <a:t>ας</a:t>
            </a:r>
            <a:r>
              <a:rPr lang="en-GB" altLang="el-GR" dirty="0">
                <a:latin typeface="Tahoma" panose="020B0604030504040204" pitchFamily="34" charset="0"/>
                <a:ea typeface="Tahoma" panose="020B0604030504040204" pitchFamily="34" charset="0"/>
                <a:cs typeface="Tahoma" panose="020B0604030504040204" pitchFamily="34" charset="0"/>
              </a:rPr>
              <a:t> </a:t>
            </a:r>
          </a:p>
          <a:p>
            <a:pPr>
              <a:buClr>
                <a:srgbClr val="0070C0"/>
              </a:buClr>
            </a:pPr>
            <a:r>
              <a:rPr lang="en-GB" altLang="el-GR" b="1" dirty="0" err="1">
                <a:latin typeface="Tahoma" panose="020B0604030504040204" pitchFamily="34" charset="0"/>
                <a:ea typeface="Tahoma" panose="020B0604030504040204" pitchFamily="34" charset="0"/>
                <a:cs typeface="Tahoma" panose="020B0604030504040204" pitchFamily="34" charset="0"/>
              </a:rPr>
              <a:t>Αλφ</a:t>
            </a:r>
            <a:r>
              <a:rPr lang="en-GB" altLang="el-GR" b="1" dirty="0">
                <a:latin typeface="Tahoma" panose="020B0604030504040204" pitchFamily="34" charset="0"/>
                <a:ea typeface="Tahoma" panose="020B0604030504040204" pitchFamily="34" charset="0"/>
                <a:cs typeface="Tahoma" panose="020B0604030504040204" pitchFamily="34" charset="0"/>
              </a:rPr>
              <a:t>αριθμητικό</a:t>
            </a:r>
            <a:r>
              <a:rPr lang="en-GB" altLang="el-GR" dirty="0">
                <a:latin typeface="Tahoma" panose="020B0604030504040204" pitchFamily="34" charset="0"/>
                <a:ea typeface="Tahoma" panose="020B0604030504040204" pitchFamily="34" charset="0"/>
                <a:cs typeface="Tahoma" panose="020B0604030504040204" pitchFamily="34" charset="0"/>
              </a:rPr>
              <a:t> (String)</a:t>
            </a:r>
          </a:p>
        </p:txBody>
      </p:sp>
      <p:sp>
        <p:nvSpPr>
          <p:cNvPr id="15" name="TextBox 14">
            <a:extLst>
              <a:ext uri="{FF2B5EF4-FFF2-40B4-BE49-F238E27FC236}">
                <a16:creationId xmlns:a16="http://schemas.microsoft.com/office/drawing/2014/main" id="{F63C6663-9D9C-17E4-9E0C-798F36180497}"/>
              </a:ext>
            </a:extLst>
          </p:cNvPr>
          <p:cNvSpPr txBox="1"/>
          <p:nvPr/>
        </p:nvSpPr>
        <p:spPr>
          <a:xfrm>
            <a:off x="6593063" y="916384"/>
            <a:ext cx="5431244" cy="584775"/>
          </a:xfrm>
          <a:prstGeom prst="rect">
            <a:avLst/>
          </a:prstGeom>
          <a:noFill/>
        </p:spPr>
        <p:txBody>
          <a:bodyPr wrap="square" rtlCol="0">
            <a:spAutoFit/>
          </a:bodyPr>
          <a:lstStyle/>
          <a:p>
            <a:r>
              <a:rPr lang="el-GR" sz="3200" b="1" dirty="0">
                <a:solidFill>
                  <a:srgbClr val="F9853D"/>
                </a:solidFill>
                <a:latin typeface="Bahnschrift" panose="020B0502040204020203" pitchFamily="34" charset="0"/>
              </a:rPr>
              <a:t>Βασικοί τύποι δεδομένων</a:t>
            </a:r>
            <a:endParaRPr lang="en-GB" sz="3200" dirty="0"/>
          </a:p>
        </p:txBody>
      </p:sp>
    </p:spTree>
    <p:extLst>
      <p:ext uri="{BB962C8B-B14F-4D97-AF65-F5344CB8AC3E}">
        <p14:creationId xmlns:p14="http://schemas.microsoft.com/office/powerpoint/2010/main" val="214621207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F602C-14CB-DC79-F836-C8CFF3DBDB0D}"/>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55A6CB3-87F6-54E0-ED4A-3E25AAADC62B}"/>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Τύποι δεδομένων</a:t>
            </a:r>
          </a:p>
        </p:txBody>
      </p:sp>
      <p:grpSp>
        <p:nvGrpSpPr>
          <p:cNvPr id="4" name="Group 3">
            <a:extLst>
              <a:ext uri="{FF2B5EF4-FFF2-40B4-BE49-F238E27FC236}">
                <a16:creationId xmlns:a16="http://schemas.microsoft.com/office/drawing/2014/main" id="{284A79B9-0437-7581-B226-8C16E1AA3062}"/>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3CAC0EF8-5163-4F3F-32BF-A5803ED4D571}"/>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9F02F15E-135B-4A2F-5F30-474C8E65C788}"/>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A202355D-69B4-92E5-479C-7E2527B353EA}"/>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11</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2F3E7D18-9D5B-0A8D-070A-AFEEB825F335}"/>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D7E1B3D5-B21C-2362-510C-E763F7A6D94E}"/>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7" name="Rectangle 3">
            <a:extLst>
              <a:ext uri="{FF2B5EF4-FFF2-40B4-BE49-F238E27FC236}">
                <a16:creationId xmlns:a16="http://schemas.microsoft.com/office/drawing/2014/main" id="{187CDD16-CC14-C195-77F9-0A0E0C5BA876}"/>
              </a:ext>
            </a:extLst>
          </p:cNvPr>
          <p:cNvSpPr txBox="1">
            <a:spLocks noChangeArrowheads="1"/>
          </p:cNvSpPr>
          <p:nvPr/>
        </p:nvSpPr>
        <p:spPr bwMode="auto">
          <a:xfrm>
            <a:off x="140668" y="947536"/>
            <a:ext cx="11805526" cy="3108270"/>
          </a:xfrm>
          <a:prstGeom prst="rect">
            <a:avLst/>
          </a:prstGeom>
          <a:solidFill>
            <a:srgbClr val="92D050"/>
          </a:solidFill>
          <a:ln>
            <a:noFill/>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base" latinLnBrk="0" hangingPunct="1">
              <a:lnSpc>
                <a:spcPct val="100000"/>
              </a:lnSpc>
              <a:spcBef>
                <a:spcPct val="20000"/>
              </a:spcBef>
              <a:spcAft>
                <a:spcPct val="0"/>
              </a:spcAft>
              <a:buClr>
                <a:srgbClr val="3333CC"/>
              </a:buClr>
              <a:buSzPct val="60000"/>
              <a:buNone/>
              <a:tabLst/>
              <a:defRPr/>
            </a:pPr>
            <a:r>
              <a:rPr kumimoji="0" lang="el-GR" altLang="el-GR" sz="3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Οι σύγχρονες προστακτικές γλώσσες</a:t>
            </a:r>
          </a:p>
          <a:p>
            <a:pPr indent="-285750" algn="just">
              <a:buClr>
                <a:srgbClr val="FF0000"/>
              </a:buClr>
              <a:buSzPct val="55000"/>
              <a:defRPr/>
            </a:pPr>
            <a:r>
              <a:rPr kumimoji="0" lang="el-GR" altLang="el-GR" sz="2800" b="0"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rPr>
              <a:t>περιλαμβάνουν</a:t>
            </a:r>
            <a:r>
              <a:rPr kumimoji="0" lang="el-GR" altLang="el-GR" sz="28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ορισμένους </a:t>
            </a:r>
            <a:r>
              <a:rPr kumimoji="0" lang="el-GR" altLang="el-GR" sz="2800" b="1"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ενσωματωμένους τύπους</a:t>
            </a:r>
            <a:r>
              <a:rPr kumimoji="0" lang="el-GR" altLang="el-GR" sz="28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p>
          <a:p>
            <a:pPr marL="1143000" marR="0" lvl="2" indent="-228600" algn="just"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n-US" altLang="el-GR" sz="2000" b="1"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int, char, float, double …</a:t>
            </a:r>
            <a:endParaRPr kumimoji="0" lang="el-GR" altLang="el-GR" sz="2000" b="1"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indent="-285750" algn="just">
              <a:buClr>
                <a:srgbClr val="FF0000"/>
              </a:buClr>
              <a:buSzPct val="55000"/>
              <a:defRPr/>
            </a:pPr>
            <a:r>
              <a:rPr kumimoji="0" lang="el-GR" altLang="el-GR" sz="2800" b="0"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rPr>
              <a:t>προσφέρουν</a:t>
            </a:r>
            <a:r>
              <a:rPr kumimoji="0" lang="el-GR" altLang="el-GR" sz="28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ένα </a:t>
            </a:r>
            <a:r>
              <a:rPr kumimoji="0" lang="el-GR" altLang="el-GR" sz="2800" b="1"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μηχανισμό για τον ορισμό νέων τύπων</a:t>
            </a:r>
            <a:endParaRPr kumimoji="0" lang="en-US" altLang="el-GR" sz="2800" b="1"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1143000" marR="0" lvl="2" indent="-228600" algn="just"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n-US" altLang="el-GR" sz="20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struct </a:t>
            </a:r>
            <a:r>
              <a:rPr kumimoji="0" lang="el-GR" altLang="el-GR" sz="20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altLang="el-GR" sz="20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student { … };</a:t>
            </a:r>
          </a:p>
          <a:p>
            <a:pPr marL="1143000" marR="0" lvl="2" indent="-228600" algn="just"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n-US" altLang="el-GR" sz="20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struct rectangle { … };</a:t>
            </a:r>
            <a:endParaRPr kumimoji="0" lang="el-GR" altLang="el-GR" sz="20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GB" altLang="el-G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9" name="Rectangle 3">
            <a:extLst>
              <a:ext uri="{FF2B5EF4-FFF2-40B4-BE49-F238E27FC236}">
                <a16:creationId xmlns:a16="http://schemas.microsoft.com/office/drawing/2014/main" id="{16555FA9-CFBA-16DA-F927-31E5832E6CBB}"/>
              </a:ext>
            </a:extLst>
          </p:cNvPr>
          <p:cNvSpPr txBox="1">
            <a:spLocks noChangeArrowheads="1"/>
          </p:cNvSpPr>
          <p:nvPr/>
        </p:nvSpPr>
        <p:spPr bwMode="auto">
          <a:xfrm>
            <a:off x="140668" y="4276557"/>
            <a:ext cx="10527332" cy="2142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rgbClr val="3333CC"/>
              </a:buClr>
            </a:pPr>
            <a:r>
              <a:rPr lang="el-GR" altLang="el-GR" dirty="0">
                <a:solidFill>
                  <a:srgbClr val="000000"/>
                </a:solidFill>
                <a:latin typeface="Times New Roman" panose="02020603050405020304" pitchFamily="18" charset="0"/>
                <a:cs typeface="Times New Roman" panose="02020603050405020304" pitchFamily="18" charset="0"/>
              </a:rPr>
              <a:t>Η δυνατότητα ορισμού νέων τύπων αυξάνει</a:t>
            </a:r>
            <a:r>
              <a:rPr lang="el-GR" altLang="el-GR" dirty="0">
                <a:solidFill>
                  <a:srgbClr val="000000"/>
                </a:solidFill>
                <a:latin typeface="Times New Roman" panose="02020603050405020304" pitchFamily="18" charset="0"/>
              </a:rPr>
              <a:t>:</a:t>
            </a:r>
            <a:r>
              <a:rPr lang="el-GR" altLang="el-GR" dirty="0">
                <a:solidFill>
                  <a:srgbClr val="000000"/>
                </a:solidFill>
                <a:latin typeface="Times New Roman" panose="02020603050405020304" pitchFamily="18" charset="0"/>
                <a:cs typeface="Times New Roman" panose="02020603050405020304" pitchFamily="18" charset="0"/>
              </a:rPr>
              <a:t> </a:t>
            </a:r>
            <a:endParaRPr lang="el-GR" altLang="el-GR" dirty="0">
              <a:solidFill>
                <a:srgbClr val="000000"/>
              </a:solidFill>
              <a:latin typeface="Times New Roman" panose="02020603050405020304" pitchFamily="18" charset="0"/>
            </a:endParaRPr>
          </a:p>
          <a:p>
            <a:pPr lvl="1" algn="just">
              <a:buClr>
                <a:srgbClr val="FF0000"/>
              </a:buClr>
            </a:pPr>
            <a:r>
              <a:rPr lang="el-GR" altLang="el-GR" dirty="0">
                <a:solidFill>
                  <a:srgbClr val="000000"/>
                </a:solidFill>
                <a:latin typeface="Times New Roman" panose="02020603050405020304" pitchFamily="18" charset="0"/>
                <a:cs typeface="Times New Roman" panose="02020603050405020304" pitchFamily="18" charset="0"/>
              </a:rPr>
              <a:t>όχι μόνο την </a:t>
            </a:r>
            <a:r>
              <a:rPr lang="el-GR" altLang="el-GR" sz="3200" b="1" dirty="0">
                <a:solidFill>
                  <a:srgbClr val="C00000"/>
                </a:solidFill>
                <a:latin typeface="Times New Roman" panose="02020603050405020304" pitchFamily="18" charset="0"/>
                <a:cs typeface="Times New Roman" panose="02020603050405020304" pitchFamily="18" charset="0"/>
              </a:rPr>
              <a:t>αναγνωσιμότητα</a:t>
            </a:r>
            <a:r>
              <a:rPr lang="el-GR" altLang="el-GR" dirty="0">
                <a:solidFill>
                  <a:srgbClr val="000000"/>
                </a:solidFill>
                <a:latin typeface="Times New Roman" panose="02020603050405020304" pitchFamily="18" charset="0"/>
                <a:cs typeface="Times New Roman" panose="02020603050405020304" pitchFamily="18" charset="0"/>
              </a:rPr>
              <a:t> του προγράμματος, αλλά και</a:t>
            </a:r>
            <a:endParaRPr lang="el-GR" altLang="el-GR" dirty="0">
              <a:solidFill>
                <a:srgbClr val="000000"/>
              </a:solidFill>
              <a:latin typeface="Times New Roman" panose="02020603050405020304" pitchFamily="18" charset="0"/>
            </a:endParaRPr>
          </a:p>
          <a:p>
            <a:pPr lvl="1" algn="just">
              <a:buClr>
                <a:srgbClr val="FF0000"/>
              </a:buClr>
            </a:pPr>
            <a:r>
              <a:rPr lang="el-GR" altLang="el-GR" dirty="0">
                <a:solidFill>
                  <a:srgbClr val="000000"/>
                </a:solidFill>
                <a:latin typeface="Times New Roman" panose="02020603050405020304" pitchFamily="18" charset="0"/>
                <a:cs typeface="Times New Roman" panose="02020603050405020304" pitchFamily="18" charset="0"/>
              </a:rPr>
              <a:t> την </a:t>
            </a:r>
            <a:r>
              <a:rPr lang="el-GR" altLang="el-GR" sz="3200" b="1" dirty="0">
                <a:solidFill>
                  <a:srgbClr val="C00000"/>
                </a:solidFill>
                <a:latin typeface="Times New Roman" panose="02020603050405020304" pitchFamily="18" charset="0"/>
                <a:cs typeface="Times New Roman" panose="02020603050405020304" pitchFamily="18" charset="0"/>
              </a:rPr>
              <a:t>αξιοπιστία</a:t>
            </a:r>
            <a:r>
              <a:rPr lang="el-GR" altLang="el-GR" dirty="0">
                <a:solidFill>
                  <a:srgbClr val="000000"/>
                </a:solidFill>
                <a:latin typeface="Times New Roman" panose="02020603050405020304" pitchFamily="18" charset="0"/>
                <a:cs typeface="Times New Roman" panose="02020603050405020304" pitchFamily="18" charset="0"/>
              </a:rPr>
              <a:t> του. </a:t>
            </a:r>
            <a:endParaRPr lang="en-AU" altLang="el-GR" dirty="0">
              <a:solidFill>
                <a:srgbClr val="000000"/>
              </a:solidFill>
              <a:latin typeface="Times New Roman" panose="02020603050405020304" pitchFamily="18" charset="0"/>
              <a:cs typeface="Times New Roman" panose="02020603050405020304" pitchFamily="18" charset="0"/>
            </a:endParaRPr>
          </a:p>
          <a:p>
            <a:pPr>
              <a:buClr>
                <a:srgbClr val="3333CC"/>
              </a:buClr>
            </a:pPr>
            <a:endParaRPr lang="en-GB" altLang="el-GR"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95198956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C3049-244F-BF27-E38D-7A3DD03E8FCF}"/>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991CF0F-33B5-CAAB-5D5D-27FC1853C3C3}"/>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Τύποι δεδομένων στη </a:t>
            </a:r>
            <a:r>
              <a:rPr lang="en-GB" sz="4000" b="1" dirty="0">
                <a:solidFill>
                  <a:srgbClr val="F9853D"/>
                </a:solidFill>
                <a:latin typeface="Bahnschrift" panose="020B0502040204020203" pitchFamily="34" charset="0"/>
              </a:rPr>
              <a:t>C</a:t>
            </a:r>
            <a:endParaRPr lang="el-GR" sz="4000" b="1" dirty="0">
              <a:solidFill>
                <a:srgbClr val="F9853D"/>
              </a:solidFill>
              <a:latin typeface="Bahnschrift" panose="020B0502040204020203" pitchFamily="34" charset="0"/>
            </a:endParaRPr>
          </a:p>
        </p:txBody>
      </p:sp>
      <p:grpSp>
        <p:nvGrpSpPr>
          <p:cNvPr id="4" name="Group 3">
            <a:extLst>
              <a:ext uri="{FF2B5EF4-FFF2-40B4-BE49-F238E27FC236}">
                <a16:creationId xmlns:a16="http://schemas.microsoft.com/office/drawing/2014/main" id="{70E34652-2E79-1C1E-48C3-FB874AB34D4E}"/>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064389E5-9A75-ECA3-E8AF-94DE9E779D7A}"/>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0A60264C-18BA-251C-A6F4-9D4014B343A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4C4BCF15-8324-0CCA-B74B-2B09C0F56E3E}"/>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12</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D09C52C6-1EFA-9A32-B9EA-BA6CB621E679}"/>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BC14562E-62B9-10F1-790A-0FB3C0FEE82D}"/>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4168F099-4C0A-7868-A25D-5C48BA99E215}"/>
              </a:ext>
            </a:extLst>
          </p:cNvPr>
          <p:cNvSpPr txBox="1">
            <a:spLocks noChangeArrowheads="1"/>
          </p:cNvSpPr>
          <p:nvPr/>
        </p:nvSpPr>
        <p:spPr bwMode="auto">
          <a:xfrm>
            <a:off x="956187" y="947536"/>
            <a:ext cx="7772400" cy="4479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Clr>
                <a:srgbClr val="0070C0"/>
              </a:buClr>
            </a:pP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βασικοί</a:t>
            </a:r>
          </a:p>
          <a:p>
            <a:pPr lvl="1">
              <a:lnSpc>
                <a:spcPct val="90000"/>
              </a:lnSpc>
              <a:buClr>
                <a:srgbClr val="0070C0"/>
              </a:buClr>
            </a:pPr>
            <a:r>
              <a:rPr kumimoji="0" lang="el-GR" altLang="el-GR" b="1"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mn-cs"/>
              </a:rPr>
              <a:t>char</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(χαρακτήρας)</a:t>
            </a:r>
          </a:p>
          <a:p>
            <a:pPr lvl="1">
              <a:lnSpc>
                <a:spcPct val="90000"/>
              </a:lnSpc>
              <a:buClr>
                <a:srgbClr val="0070C0"/>
              </a:buClr>
            </a:pPr>
            <a:r>
              <a:rPr kumimoji="0" lang="el-GR" altLang="el-GR" b="1"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mn-cs"/>
              </a:rPr>
              <a:t>int</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(ακέραιος)</a:t>
            </a:r>
          </a:p>
          <a:p>
            <a:pPr lvl="1">
              <a:lnSpc>
                <a:spcPct val="90000"/>
              </a:lnSpc>
              <a:buClr>
                <a:srgbClr val="0070C0"/>
              </a:buClr>
            </a:pPr>
            <a:r>
              <a:rPr kumimoji="0" lang="el-GR" altLang="el-GR" b="1"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mn-cs"/>
              </a:rPr>
              <a:t>float</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(κινητής υποδιαστολής απλής ακρίβειας)</a:t>
            </a:r>
          </a:p>
          <a:p>
            <a:pPr lvl="1">
              <a:lnSpc>
                <a:spcPct val="90000"/>
              </a:lnSpc>
              <a:buClr>
                <a:srgbClr val="0070C0"/>
              </a:buClr>
            </a:pPr>
            <a:r>
              <a:rPr kumimoji="0" lang="el-GR" altLang="el-GR" b="1"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mn-cs"/>
              </a:rPr>
              <a:t>double</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(κινητής υποδιαστολής διπλής ακρίβειας) </a:t>
            </a:r>
          </a:p>
          <a:p>
            <a:pPr>
              <a:lnSpc>
                <a:spcPct val="90000"/>
              </a:lnSpc>
              <a:buClr>
                <a:srgbClr val="0070C0"/>
              </a:buClr>
            </a:pPr>
            <a:r>
              <a:rPr kumimoji="0" lang="el-GR" altLang="el-GR"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πίνακας</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array) </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mn-cs"/>
              </a:rPr>
              <a:t>[ ]</a:t>
            </a:r>
          </a:p>
          <a:p>
            <a:pPr>
              <a:lnSpc>
                <a:spcPct val="90000"/>
              </a:lnSpc>
              <a:buClr>
                <a:srgbClr val="0070C0"/>
              </a:buClr>
            </a:pPr>
            <a:r>
              <a:rPr kumimoji="0" lang="el-GR" altLang="el-GR"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δομή</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b="1"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mn-cs"/>
              </a:rPr>
              <a:t>struct</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 </a:t>
            </a:r>
            <a:r>
              <a:rPr kumimoji="0" lang="el-GR" altLang="el-GR"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ένωση</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mn-cs"/>
              </a:rPr>
              <a:t>union</a:t>
            </a:r>
            <a:endParaRPr kumimoji="0" lang="el-GR" altLang="el-GR" i="0" u="none" strike="noStrike" kern="1200" cap="none" spc="0" normalizeH="0" baseline="0" noProof="0" dirty="0">
              <a:ln>
                <a:noFill/>
              </a:ln>
              <a:solidFill>
                <a:srgbClr val="C00000"/>
              </a:solidFill>
              <a:effectLst/>
              <a:uLnTx/>
              <a:uFillTx/>
              <a:latin typeface="Times New Roman" panose="02020603050405020304" pitchFamily="18" charset="0"/>
              <a:ea typeface="+mn-ea"/>
              <a:cs typeface="+mn-cs"/>
            </a:endParaRPr>
          </a:p>
          <a:p>
            <a:pPr>
              <a:lnSpc>
                <a:spcPct val="90000"/>
              </a:lnSpc>
              <a:buClr>
                <a:srgbClr val="0070C0"/>
              </a:buClr>
            </a:pPr>
            <a:r>
              <a:rPr kumimoji="0" lang="el-GR" altLang="el-GR"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δείκτης  </a:t>
            </a:r>
            <a:r>
              <a:rPr kumimoji="0" lang="el-GR" altLang="el-GR"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mn-cs"/>
              </a:rPr>
              <a:t>*</a:t>
            </a:r>
          </a:p>
          <a:p>
            <a:pPr>
              <a:lnSpc>
                <a:spcPct val="90000"/>
              </a:lnSpc>
              <a:buClr>
                <a:srgbClr val="0070C0"/>
              </a:buClr>
            </a:pPr>
            <a:r>
              <a:rPr kumimoji="0" lang="el-GR" altLang="el-GR" b="1"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απαριθμητικός</a:t>
            </a:r>
            <a:r>
              <a:rPr kumimoji="0" lang="el-GR" altLang="el-GR"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τύπος</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b="1"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mn-cs"/>
              </a:rPr>
              <a:t>enum</a:t>
            </a:r>
            <a:endParaRPr kumimoji="0" lang="el-GR" altLang="el-GR"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mn-cs"/>
            </a:endParaRPr>
          </a:p>
          <a:p>
            <a:pPr>
              <a:lnSpc>
                <a:spcPct val="90000"/>
              </a:lnSpc>
              <a:buClr>
                <a:srgbClr val="0070C0"/>
              </a:buClr>
            </a:pPr>
            <a:endPar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45203238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8DD49-EF65-4D14-C1D3-D4B62C9E004B}"/>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4D7FF377-1259-482A-CCF5-FA4FFD686BA9}"/>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Μονάδες μνήμης</a:t>
            </a:r>
          </a:p>
        </p:txBody>
      </p:sp>
      <p:grpSp>
        <p:nvGrpSpPr>
          <p:cNvPr id="4" name="Group 3">
            <a:extLst>
              <a:ext uri="{FF2B5EF4-FFF2-40B4-BE49-F238E27FC236}">
                <a16:creationId xmlns:a16="http://schemas.microsoft.com/office/drawing/2014/main" id="{6F9200D2-170E-99B9-E93B-85FED67285C4}"/>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5C8DDFAD-E23E-F65F-EE8B-B7A9B56A5C41}"/>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9F6BEA5A-31BC-B6EE-D923-0809AA33E451}"/>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EAE17E82-127B-7F00-460F-19167ABBFCAF}"/>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13</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264379EF-C810-D530-E0B9-B2B8D8794230}"/>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B3C2EF5F-B9F7-1244-BA0D-3EEB5C41A727}"/>
              </a:ext>
            </a:extLst>
          </p:cNvPr>
          <p:cNvSpPr txBox="1">
            <a:spLocks noChangeArrowheads="1"/>
          </p:cNvSpPr>
          <p:nvPr/>
        </p:nvSpPr>
        <p:spPr>
          <a:xfrm>
            <a:off x="491613"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E3E24480-8F1E-6C2A-4F99-C3923BD9F3F5}"/>
              </a:ext>
            </a:extLst>
          </p:cNvPr>
          <p:cNvSpPr txBox="1">
            <a:spLocks noChangeArrowheads="1"/>
          </p:cNvSpPr>
          <p:nvPr/>
        </p:nvSpPr>
        <p:spPr>
          <a:xfrm>
            <a:off x="988142" y="1327355"/>
            <a:ext cx="9674942" cy="448825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70C0"/>
              </a:buClr>
              <a:buFont typeface="Wingdings" panose="05000000000000000000" pitchFamily="2" charset="2"/>
              <a:buChar char="§"/>
            </a:pPr>
            <a:r>
              <a:rPr lang="el-GR" altLang="el-GR" sz="3500" b="1" dirty="0" err="1">
                <a:solidFill>
                  <a:srgbClr val="C00000"/>
                </a:solidFill>
                <a:latin typeface="Times New Roman" panose="02020603050405020304" pitchFamily="18" charset="0"/>
              </a:rPr>
              <a:t>Bit</a:t>
            </a:r>
            <a:endParaRPr lang="el-GR" altLang="el-GR" sz="3500" b="1" dirty="0">
              <a:solidFill>
                <a:srgbClr val="C00000"/>
              </a:solidFill>
              <a:latin typeface="Times New Roman" panose="02020603050405020304" pitchFamily="18" charset="0"/>
            </a:endParaRPr>
          </a:p>
          <a:p>
            <a:pPr lvl="1">
              <a:lnSpc>
                <a:spcPct val="80000"/>
              </a:lnSpc>
              <a:spcBef>
                <a:spcPct val="0"/>
              </a:spcBef>
              <a:buClr>
                <a:srgbClr val="0070C0"/>
              </a:buClr>
              <a:buFont typeface="Wingdings" panose="05000000000000000000" pitchFamily="2" charset="2"/>
              <a:buChar char="§"/>
            </a:pPr>
            <a:r>
              <a:rPr lang="el-GR" altLang="el-GR" sz="3000" dirty="0">
                <a:latin typeface="Times New Roman" panose="02020603050405020304" pitchFamily="18" charset="0"/>
              </a:rPr>
              <a:t>αποτελεί το βασικό δομικό στοιχείο της μνήμης του υπολογιστή.</a:t>
            </a:r>
          </a:p>
          <a:p>
            <a:pPr lvl="1">
              <a:lnSpc>
                <a:spcPct val="80000"/>
              </a:lnSpc>
              <a:spcBef>
                <a:spcPct val="0"/>
              </a:spcBef>
              <a:buClr>
                <a:srgbClr val="0070C0"/>
              </a:buClr>
              <a:buFont typeface="Wingdings" panose="05000000000000000000" pitchFamily="2" charset="2"/>
              <a:buChar char="§"/>
            </a:pPr>
            <a:r>
              <a:rPr lang="el-GR" altLang="el-GR" sz="3000" dirty="0">
                <a:latin typeface="Times New Roman" panose="02020603050405020304" pitchFamily="18" charset="0"/>
              </a:rPr>
              <a:t>μπορεί να έχει μια εκ των δύο τιμών: 0 ή 1</a:t>
            </a:r>
          </a:p>
          <a:p>
            <a:pPr>
              <a:buClr>
                <a:srgbClr val="0070C0"/>
              </a:buClr>
              <a:buFont typeface="Wingdings" panose="05000000000000000000" pitchFamily="2" charset="2"/>
              <a:buChar char="§"/>
            </a:pPr>
            <a:r>
              <a:rPr lang="el-GR" altLang="el-GR" sz="3500" b="1" dirty="0" err="1">
                <a:solidFill>
                  <a:srgbClr val="C00000"/>
                </a:solidFill>
                <a:latin typeface="Times New Roman" panose="02020603050405020304" pitchFamily="18" charset="0"/>
              </a:rPr>
              <a:t>Byte</a:t>
            </a:r>
            <a:r>
              <a:rPr lang="el-GR" altLang="el-GR" sz="3500" dirty="0">
                <a:latin typeface="Times New Roman" panose="02020603050405020304" pitchFamily="18" charset="0"/>
              </a:rPr>
              <a:t>				</a:t>
            </a:r>
            <a:r>
              <a:rPr lang="el-GR" altLang="el-GR" sz="3500" dirty="0">
                <a:solidFill>
                  <a:srgbClr val="C00000"/>
                </a:solidFill>
                <a:latin typeface="Times New Roman" panose="02020603050405020304" pitchFamily="18" charset="0"/>
              </a:rPr>
              <a:t>ANSI </a:t>
            </a:r>
            <a:r>
              <a:rPr lang="el-GR" altLang="el-GR" sz="3500" dirty="0" err="1">
                <a:solidFill>
                  <a:srgbClr val="C00000"/>
                </a:solidFill>
                <a:latin typeface="Times New Roman" panose="02020603050405020304" pitchFamily="18" charset="0"/>
              </a:rPr>
              <a:t>requirement</a:t>
            </a:r>
            <a:endParaRPr lang="el-GR" altLang="el-GR" sz="3500" dirty="0">
              <a:solidFill>
                <a:srgbClr val="C00000"/>
              </a:solidFill>
              <a:latin typeface="Times New Roman" panose="02020603050405020304" pitchFamily="18" charset="0"/>
            </a:endParaRPr>
          </a:p>
          <a:p>
            <a:pPr lvl="1">
              <a:lnSpc>
                <a:spcPct val="80000"/>
              </a:lnSpc>
              <a:spcBef>
                <a:spcPct val="0"/>
              </a:spcBef>
              <a:buClr>
                <a:srgbClr val="0070C0"/>
              </a:buClr>
              <a:buFont typeface="Wingdings" panose="05000000000000000000" pitchFamily="2" charset="2"/>
              <a:buChar char="§"/>
            </a:pPr>
            <a:r>
              <a:rPr lang="el-GR" altLang="el-GR" sz="3000" dirty="0">
                <a:latin typeface="Times New Roman" panose="02020603050405020304" pitchFamily="18" charset="0"/>
              </a:rPr>
              <a:t>αποτελεί τη συνηθισμένη μονάδα αποθήκευσης. </a:t>
            </a:r>
          </a:p>
          <a:p>
            <a:pPr lvl="1">
              <a:lnSpc>
                <a:spcPct val="80000"/>
              </a:lnSpc>
              <a:spcBef>
                <a:spcPct val="0"/>
              </a:spcBef>
              <a:buClr>
                <a:srgbClr val="0070C0"/>
              </a:buClr>
              <a:buFont typeface="Wingdings" panose="05000000000000000000" pitchFamily="2" charset="2"/>
              <a:buChar char="§"/>
            </a:pPr>
            <a:r>
              <a:rPr lang="el-GR" altLang="el-GR" sz="3000" dirty="0">
                <a:latin typeface="Times New Roman" panose="02020603050405020304" pitchFamily="18" charset="0"/>
              </a:rPr>
              <a:t>αποτελείται από 8bits</a:t>
            </a:r>
          </a:p>
          <a:p>
            <a:pPr>
              <a:buClr>
                <a:srgbClr val="0070C0"/>
              </a:buClr>
              <a:buFont typeface="Wingdings" panose="05000000000000000000" pitchFamily="2" charset="2"/>
              <a:buChar char="§"/>
            </a:pPr>
            <a:r>
              <a:rPr lang="el-GR" altLang="el-GR" sz="3500" b="1" dirty="0">
                <a:solidFill>
                  <a:srgbClr val="C00000"/>
                </a:solidFill>
                <a:latin typeface="Times New Roman" panose="02020603050405020304" pitchFamily="18" charset="0"/>
              </a:rPr>
              <a:t>Word</a:t>
            </a:r>
          </a:p>
          <a:p>
            <a:pPr lvl="1">
              <a:lnSpc>
                <a:spcPct val="80000"/>
              </a:lnSpc>
              <a:buClr>
                <a:srgbClr val="0070C0"/>
              </a:buClr>
              <a:buFont typeface="Wingdings" panose="05000000000000000000" pitchFamily="2" charset="2"/>
              <a:buChar char="§"/>
            </a:pPr>
            <a:r>
              <a:rPr lang="el-GR" altLang="el-GR" sz="3000" dirty="0">
                <a:latin typeface="Times New Roman" panose="02020603050405020304" pitchFamily="18" charset="0"/>
              </a:rPr>
              <a:t>αποτελεί την πληροφορία που μπορεί να διακινηθεί (Ι/Ο) σε ένα κύκλο μηχανής.</a:t>
            </a:r>
          </a:p>
          <a:p>
            <a:pPr lvl="1">
              <a:lnSpc>
                <a:spcPct val="80000"/>
              </a:lnSpc>
              <a:buClr>
                <a:srgbClr val="0070C0"/>
              </a:buClr>
              <a:buFont typeface="Wingdings" panose="05000000000000000000" pitchFamily="2" charset="2"/>
              <a:buChar char="§"/>
            </a:pPr>
            <a:r>
              <a:rPr lang="el-GR" altLang="el-GR" sz="3000" dirty="0">
                <a:latin typeface="Times New Roman" panose="02020603050405020304" pitchFamily="18" charset="0"/>
              </a:rPr>
              <a:t>ταυτίζεται με το μέγεθος του </a:t>
            </a:r>
            <a:r>
              <a:rPr lang="el-GR" altLang="el-GR" sz="3000" dirty="0" err="1">
                <a:latin typeface="Times New Roman" panose="02020603050405020304" pitchFamily="18" charset="0"/>
              </a:rPr>
              <a:t>data</a:t>
            </a:r>
            <a:r>
              <a:rPr lang="el-GR" altLang="el-GR" sz="3000" dirty="0">
                <a:latin typeface="Times New Roman" panose="02020603050405020304" pitchFamily="18" charset="0"/>
              </a:rPr>
              <a:t> </a:t>
            </a:r>
            <a:r>
              <a:rPr lang="el-GR" altLang="el-GR" sz="3000" dirty="0" err="1">
                <a:latin typeface="Times New Roman" panose="02020603050405020304" pitchFamily="18" charset="0"/>
              </a:rPr>
              <a:t>bus</a:t>
            </a:r>
            <a:r>
              <a:rPr lang="el-GR" altLang="el-GR" sz="3000" dirty="0">
                <a:latin typeface="Times New Roman" panose="02020603050405020304" pitchFamily="18" charset="0"/>
              </a:rPr>
              <a:t> του επεξεργαστή</a:t>
            </a:r>
          </a:p>
          <a:p>
            <a:pPr lvl="1">
              <a:lnSpc>
                <a:spcPct val="80000"/>
              </a:lnSpc>
              <a:buClr>
                <a:srgbClr val="0070C0"/>
              </a:buClr>
              <a:buFont typeface="Wingdings" panose="05000000000000000000" pitchFamily="2" charset="2"/>
              <a:buChar char="§"/>
            </a:pPr>
            <a:r>
              <a:rPr lang="el-GR" altLang="el-GR" sz="3000" dirty="0">
                <a:latin typeface="Times New Roman" panose="02020603050405020304" pitchFamily="18" charset="0"/>
              </a:rPr>
              <a:t>8-bit, 16-bit, 32-bit, 64-bit </a:t>
            </a:r>
            <a:r>
              <a:rPr lang="el-GR" altLang="el-GR" sz="3000" dirty="0" err="1">
                <a:latin typeface="Times New Roman" panose="02020603050405020304" pitchFamily="18" charset="0"/>
              </a:rPr>
              <a:t>microcomputers</a:t>
            </a:r>
            <a:r>
              <a:rPr lang="el-GR" altLang="el-GR" sz="3000" dirty="0">
                <a:latin typeface="Times New Roman" panose="02020603050405020304" pitchFamily="18" charset="0"/>
              </a:rPr>
              <a:t>. </a:t>
            </a:r>
          </a:p>
          <a:p>
            <a:pPr>
              <a:buClr>
                <a:srgbClr val="0070C0"/>
              </a:buClr>
              <a:buFont typeface="Wingdings" panose="05000000000000000000" pitchFamily="2" charset="2"/>
              <a:buChar char="§"/>
            </a:pPr>
            <a:endParaRPr lang="el-GR" altLang="el-GR" sz="3200" dirty="0">
              <a:latin typeface="Times New Roman" panose="02020603050405020304" pitchFamily="18" charset="0"/>
            </a:endParaRPr>
          </a:p>
        </p:txBody>
      </p:sp>
      <p:sp>
        <p:nvSpPr>
          <p:cNvPr id="9" name="Rectangle 4">
            <a:extLst>
              <a:ext uri="{FF2B5EF4-FFF2-40B4-BE49-F238E27FC236}">
                <a16:creationId xmlns:a16="http://schemas.microsoft.com/office/drawing/2014/main" id="{FF3845E9-47BF-CCBF-BA2A-717141502078}"/>
              </a:ext>
            </a:extLst>
          </p:cNvPr>
          <p:cNvSpPr>
            <a:spLocks noChangeArrowheads="1"/>
          </p:cNvSpPr>
          <p:nvPr/>
        </p:nvSpPr>
        <p:spPr bwMode="auto">
          <a:xfrm>
            <a:off x="2679700" y="1341577"/>
            <a:ext cx="558800" cy="292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0</a:t>
            </a:r>
          </a:p>
        </p:txBody>
      </p:sp>
      <p:grpSp>
        <p:nvGrpSpPr>
          <p:cNvPr id="13" name="Group 7">
            <a:extLst>
              <a:ext uri="{FF2B5EF4-FFF2-40B4-BE49-F238E27FC236}">
                <a16:creationId xmlns:a16="http://schemas.microsoft.com/office/drawing/2014/main" id="{38FC358E-2CBF-48B1-6A3F-FA8A72A2E002}"/>
              </a:ext>
            </a:extLst>
          </p:cNvPr>
          <p:cNvGrpSpPr>
            <a:grpSpLocks/>
          </p:cNvGrpSpPr>
          <p:nvPr/>
        </p:nvGrpSpPr>
        <p:grpSpPr bwMode="auto">
          <a:xfrm>
            <a:off x="2679700" y="2794248"/>
            <a:ext cx="2425700" cy="292100"/>
            <a:chOff x="1204" y="1828"/>
            <a:chExt cx="1528" cy="184"/>
          </a:xfrm>
        </p:grpSpPr>
        <p:sp>
          <p:nvSpPr>
            <p:cNvPr id="14" name="Rectangle 8">
              <a:extLst>
                <a:ext uri="{FF2B5EF4-FFF2-40B4-BE49-F238E27FC236}">
                  <a16:creationId xmlns:a16="http://schemas.microsoft.com/office/drawing/2014/main" id="{73491FFB-6ADD-08D6-91FB-A2E758B0574B}"/>
                </a:ext>
              </a:extLst>
            </p:cNvPr>
            <p:cNvSpPr>
              <a:spLocks noChangeArrowheads="1"/>
            </p:cNvSpPr>
            <p:nvPr/>
          </p:nvSpPr>
          <p:spPr bwMode="auto">
            <a:xfrm>
              <a:off x="1204" y="1828"/>
              <a:ext cx="232"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0</a:t>
              </a:r>
            </a:p>
          </p:txBody>
        </p:sp>
        <p:sp>
          <p:nvSpPr>
            <p:cNvPr id="15" name="Rectangle 9">
              <a:extLst>
                <a:ext uri="{FF2B5EF4-FFF2-40B4-BE49-F238E27FC236}">
                  <a16:creationId xmlns:a16="http://schemas.microsoft.com/office/drawing/2014/main" id="{5EFA98D9-7996-BFCB-8A41-09899B66015A}"/>
                </a:ext>
              </a:extLst>
            </p:cNvPr>
            <p:cNvSpPr>
              <a:spLocks noChangeArrowheads="1"/>
            </p:cNvSpPr>
            <p:nvPr/>
          </p:nvSpPr>
          <p:spPr bwMode="auto">
            <a:xfrm>
              <a:off x="1396" y="1828"/>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16" name="Rectangle 10">
              <a:extLst>
                <a:ext uri="{FF2B5EF4-FFF2-40B4-BE49-F238E27FC236}">
                  <a16:creationId xmlns:a16="http://schemas.microsoft.com/office/drawing/2014/main" id="{39154637-9847-7440-F748-435EBB253585}"/>
                </a:ext>
              </a:extLst>
            </p:cNvPr>
            <p:cNvSpPr>
              <a:spLocks noChangeArrowheads="1"/>
            </p:cNvSpPr>
            <p:nvPr/>
          </p:nvSpPr>
          <p:spPr bwMode="auto">
            <a:xfrm>
              <a:off x="1588" y="1828"/>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0</a:t>
              </a:r>
            </a:p>
          </p:txBody>
        </p:sp>
        <p:sp>
          <p:nvSpPr>
            <p:cNvPr id="17" name="Rectangle 11">
              <a:extLst>
                <a:ext uri="{FF2B5EF4-FFF2-40B4-BE49-F238E27FC236}">
                  <a16:creationId xmlns:a16="http://schemas.microsoft.com/office/drawing/2014/main" id="{9A6584D2-AF8D-4589-2EC1-ABA43DFE6F63}"/>
                </a:ext>
              </a:extLst>
            </p:cNvPr>
            <p:cNvSpPr>
              <a:spLocks noChangeArrowheads="1"/>
            </p:cNvSpPr>
            <p:nvPr/>
          </p:nvSpPr>
          <p:spPr bwMode="auto">
            <a:xfrm>
              <a:off x="1780" y="1828"/>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dirty="0">
                  <a:solidFill>
                    <a:srgbClr val="000000"/>
                  </a:solidFill>
                  <a:latin typeface="Times New Roman" panose="02020603050405020304" pitchFamily="18" charset="0"/>
                </a:rPr>
                <a:t>1</a:t>
              </a:r>
            </a:p>
          </p:txBody>
        </p:sp>
        <p:sp>
          <p:nvSpPr>
            <p:cNvPr id="18" name="Rectangle 12">
              <a:extLst>
                <a:ext uri="{FF2B5EF4-FFF2-40B4-BE49-F238E27FC236}">
                  <a16:creationId xmlns:a16="http://schemas.microsoft.com/office/drawing/2014/main" id="{A9242723-701C-0698-68F6-E85D52E2D83A}"/>
                </a:ext>
              </a:extLst>
            </p:cNvPr>
            <p:cNvSpPr>
              <a:spLocks noChangeArrowheads="1"/>
            </p:cNvSpPr>
            <p:nvPr/>
          </p:nvSpPr>
          <p:spPr bwMode="auto">
            <a:xfrm>
              <a:off x="1972" y="1828"/>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19" name="Rectangle 13">
              <a:extLst>
                <a:ext uri="{FF2B5EF4-FFF2-40B4-BE49-F238E27FC236}">
                  <a16:creationId xmlns:a16="http://schemas.microsoft.com/office/drawing/2014/main" id="{3D9814EB-BEEA-9849-D7C2-FF50B1AB9209}"/>
                </a:ext>
              </a:extLst>
            </p:cNvPr>
            <p:cNvSpPr>
              <a:spLocks noChangeArrowheads="1"/>
            </p:cNvSpPr>
            <p:nvPr/>
          </p:nvSpPr>
          <p:spPr bwMode="auto">
            <a:xfrm>
              <a:off x="2164" y="1828"/>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0</a:t>
              </a:r>
            </a:p>
          </p:txBody>
        </p:sp>
        <p:sp>
          <p:nvSpPr>
            <p:cNvPr id="20" name="Rectangle 14">
              <a:extLst>
                <a:ext uri="{FF2B5EF4-FFF2-40B4-BE49-F238E27FC236}">
                  <a16:creationId xmlns:a16="http://schemas.microsoft.com/office/drawing/2014/main" id="{9EED3B0E-D636-1FF1-6C1C-2040DB79F830}"/>
                </a:ext>
              </a:extLst>
            </p:cNvPr>
            <p:cNvSpPr>
              <a:spLocks noChangeArrowheads="1"/>
            </p:cNvSpPr>
            <p:nvPr/>
          </p:nvSpPr>
          <p:spPr bwMode="auto">
            <a:xfrm>
              <a:off x="2356" y="1828"/>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21" name="Rectangle 15">
              <a:extLst>
                <a:ext uri="{FF2B5EF4-FFF2-40B4-BE49-F238E27FC236}">
                  <a16:creationId xmlns:a16="http://schemas.microsoft.com/office/drawing/2014/main" id="{673FDFA1-D0F7-21EA-4B97-F5999A393BE5}"/>
                </a:ext>
              </a:extLst>
            </p:cNvPr>
            <p:cNvSpPr>
              <a:spLocks noChangeArrowheads="1"/>
            </p:cNvSpPr>
            <p:nvPr/>
          </p:nvSpPr>
          <p:spPr bwMode="auto">
            <a:xfrm>
              <a:off x="2548" y="1828"/>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grpSp>
      <p:grpSp>
        <p:nvGrpSpPr>
          <p:cNvPr id="22" name="Group 16">
            <a:extLst>
              <a:ext uri="{FF2B5EF4-FFF2-40B4-BE49-F238E27FC236}">
                <a16:creationId xmlns:a16="http://schemas.microsoft.com/office/drawing/2014/main" id="{8A96B8A5-49EE-1F2B-453E-0BB9FC5AB4D2}"/>
              </a:ext>
            </a:extLst>
          </p:cNvPr>
          <p:cNvGrpSpPr>
            <a:grpSpLocks/>
          </p:cNvGrpSpPr>
          <p:nvPr/>
        </p:nvGrpSpPr>
        <p:grpSpPr bwMode="auto">
          <a:xfrm>
            <a:off x="2634021" y="3854644"/>
            <a:ext cx="4940300" cy="292100"/>
            <a:chOff x="1300" y="2596"/>
            <a:chExt cx="3112" cy="184"/>
          </a:xfrm>
        </p:grpSpPr>
        <p:sp>
          <p:nvSpPr>
            <p:cNvPr id="23" name="Rectangle 17">
              <a:extLst>
                <a:ext uri="{FF2B5EF4-FFF2-40B4-BE49-F238E27FC236}">
                  <a16:creationId xmlns:a16="http://schemas.microsoft.com/office/drawing/2014/main" id="{7EF575BF-6BF6-8077-7B5B-92741EF7B748}"/>
                </a:ext>
              </a:extLst>
            </p:cNvPr>
            <p:cNvSpPr>
              <a:spLocks noChangeArrowheads="1"/>
            </p:cNvSpPr>
            <p:nvPr/>
          </p:nvSpPr>
          <p:spPr bwMode="auto">
            <a:xfrm>
              <a:off x="1300" y="2596"/>
              <a:ext cx="232"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0</a:t>
              </a:r>
            </a:p>
          </p:txBody>
        </p:sp>
        <p:sp>
          <p:nvSpPr>
            <p:cNvPr id="24" name="Rectangle 18">
              <a:extLst>
                <a:ext uri="{FF2B5EF4-FFF2-40B4-BE49-F238E27FC236}">
                  <a16:creationId xmlns:a16="http://schemas.microsoft.com/office/drawing/2014/main" id="{15B1C1E5-C383-88AE-866E-136F178ED0E9}"/>
                </a:ext>
              </a:extLst>
            </p:cNvPr>
            <p:cNvSpPr>
              <a:spLocks noChangeArrowheads="1"/>
            </p:cNvSpPr>
            <p:nvPr/>
          </p:nvSpPr>
          <p:spPr bwMode="auto">
            <a:xfrm>
              <a:off x="1492"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25" name="Rectangle 19">
              <a:extLst>
                <a:ext uri="{FF2B5EF4-FFF2-40B4-BE49-F238E27FC236}">
                  <a16:creationId xmlns:a16="http://schemas.microsoft.com/office/drawing/2014/main" id="{588E8382-43CE-8818-4F49-3767650FE2CA}"/>
                </a:ext>
              </a:extLst>
            </p:cNvPr>
            <p:cNvSpPr>
              <a:spLocks noChangeArrowheads="1"/>
            </p:cNvSpPr>
            <p:nvPr/>
          </p:nvSpPr>
          <p:spPr bwMode="auto">
            <a:xfrm>
              <a:off x="1684"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0</a:t>
              </a:r>
            </a:p>
          </p:txBody>
        </p:sp>
        <p:sp>
          <p:nvSpPr>
            <p:cNvPr id="26" name="Rectangle 20">
              <a:extLst>
                <a:ext uri="{FF2B5EF4-FFF2-40B4-BE49-F238E27FC236}">
                  <a16:creationId xmlns:a16="http://schemas.microsoft.com/office/drawing/2014/main" id="{F810990E-BF59-1E04-62AC-E54DB658367B}"/>
                </a:ext>
              </a:extLst>
            </p:cNvPr>
            <p:cNvSpPr>
              <a:spLocks noChangeArrowheads="1"/>
            </p:cNvSpPr>
            <p:nvPr/>
          </p:nvSpPr>
          <p:spPr bwMode="auto">
            <a:xfrm>
              <a:off x="1876"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27" name="Rectangle 21">
              <a:extLst>
                <a:ext uri="{FF2B5EF4-FFF2-40B4-BE49-F238E27FC236}">
                  <a16:creationId xmlns:a16="http://schemas.microsoft.com/office/drawing/2014/main" id="{0C663755-EE02-3091-BC75-049C33FC9771}"/>
                </a:ext>
              </a:extLst>
            </p:cNvPr>
            <p:cNvSpPr>
              <a:spLocks noChangeArrowheads="1"/>
            </p:cNvSpPr>
            <p:nvPr/>
          </p:nvSpPr>
          <p:spPr bwMode="auto">
            <a:xfrm>
              <a:off x="2068"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28" name="Rectangle 22">
              <a:extLst>
                <a:ext uri="{FF2B5EF4-FFF2-40B4-BE49-F238E27FC236}">
                  <a16:creationId xmlns:a16="http://schemas.microsoft.com/office/drawing/2014/main" id="{6C18EDC0-0B0A-AA1F-66CD-68C12F23EF15}"/>
                </a:ext>
              </a:extLst>
            </p:cNvPr>
            <p:cNvSpPr>
              <a:spLocks noChangeArrowheads="1"/>
            </p:cNvSpPr>
            <p:nvPr/>
          </p:nvSpPr>
          <p:spPr bwMode="auto">
            <a:xfrm>
              <a:off x="2260"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dirty="0">
                  <a:solidFill>
                    <a:srgbClr val="000000"/>
                  </a:solidFill>
                  <a:latin typeface="Times New Roman" panose="02020603050405020304" pitchFamily="18" charset="0"/>
                </a:rPr>
                <a:t>0</a:t>
              </a:r>
            </a:p>
          </p:txBody>
        </p:sp>
        <p:sp>
          <p:nvSpPr>
            <p:cNvPr id="29" name="Rectangle 23">
              <a:extLst>
                <a:ext uri="{FF2B5EF4-FFF2-40B4-BE49-F238E27FC236}">
                  <a16:creationId xmlns:a16="http://schemas.microsoft.com/office/drawing/2014/main" id="{F126ECAD-9CB2-B8A8-DD82-27DF427C69B7}"/>
                </a:ext>
              </a:extLst>
            </p:cNvPr>
            <p:cNvSpPr>
              <a:spLocks noChangeArrowheads="1"/>
            </p:cNvSpPr>
            <p:nvPr/>
          </p:nvSpPr>
          <p:spPr bwMode="auto">
            <a:xfrm>
              <a:off x="2452"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30" name="Rectangle 24">
              <a:extLst>
                <a:ext uri="{FF2B5EF4-FFF2-40B4-BE49-F238E27FC236}">
                  <a16:creationId xmlns:a16="http://schemas.microsoft.com/office/drawing/2014/main" id="{2A97A71F-497F-B129-FE8E-68EE089D67AE}"/>
                </a:ext>
              </a:extLst>
            </p:cNvPr>
            <p:cNvSpPr>
              <a:spLocks noChangeArrowheads="1"/>
            </p:cNvSpPr>
            <p:nvPr/>
          </p:nvSpPr>
          <p:spPr bwMode="auto">
            <a:xfrm>
              <a:off x="2644"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31" name="Rectangle 25">
              <a:extLst>
                <a:ext uri="{FF2B5EF4-FFF2-40B4-BE49-F238E27FC236}">
                  <a16:creationId xmlns:a16="http://schemas.microsoft.com/office/drawing/2014/main" id="{8D89B811-7F1D-CDCC-A6B3-4B036C70C2FC}"/>
                </a:ext>
              </a:extLst>
            </p:cNvPr>
            <p:cNvSpPr>
              <a:spLocks noChangeArrowheads="1"/>
            </p:cNvSpPr>
            <p:nvPr/>
          </p:nvSpPr>
          <p:spPr bwMode="auto">
            <a:xfrm>
              <a:off x="2884" y="2596"/>
              <a:ext cx="232"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32" name="Rectangle 26">
              <a:extLst>
                <a:ext uri="{FF2B5EF4-FFF2-40B4-BE49-F238E27FC236}">
                  <a16:creationId xmlns:a16="http://schemas.microsoft.com/office/drawing/2014/main" id="{A518F6B2-C4D7-913D-AFA4-75F863D02FDD}"/>
                </a:ext>
              </a:extLst>
            </p:cNvPr>
            <p:cNvSpPr>
              <a:spLocks noChangeArrowheads="1"/>
            </p:cNvSpPr>
            <p:nvPr/>
          </p:nvSpPr>
          <p:spPr bwMode="auto">
            <a:xfrm>
              <a:off x="3076"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33" name="Rectangle 27">
              <a:extLst>
                <a:ext uri="{FF2B5EF4-FFF2-40B4-BE49-F238E27FC236}">
                  <a16:creationId xmlns:a16="http://schemas.microsoft.com/office/drawing/2014/main" id="{EA942A1C-0459-A180-3399-BCF4A01F8AF7}"/>
                </a:ext>
              </a:extLst>
            </p:cNvPr>
            <p:cNvSpPr>
              <a:spLocks noChangeArrowheads="1"/>
            </p:cNvSpPr>
            <p:nvPr/>
          </p:nvSpPr>
          <p:spPr bwMode="auto">
            <a:xfrm>
              <a:off x="3268"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0</a:t>
              </a:r>
            </a:p>
          </p:txBody>
        </p:sp>
        <p:sp>
          <p:nvSpPr>
            <p:cNvPr id="34" name="Rectangle 28">
              <a:extLst>
                <a:ext uri="{FF2B5EF4-FFF2-40B4-BE49-F238E27FC236}">
                  <a16:creationId xmlns:a16="http://schemas.microsoft.com/office/drawing/2014/main" id="{8D21B44F-0353-A95C-28C8-3ED4CA841485}"/>
                </a:ext>
              </a:extLst>
            </p:cNvPr>
            <p:cNvSpPr>
              <a:spLocks noChangeArrowheads="1"/>
            </p:cNvSpPr>
            <p:nvPr/>
          </p:nvSpPr>
          <p:spPr bwMode="auto">
            <a:xfrm>
              <a:off x="3460"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35" name="Rectangle 29">
              <a:extLst>
                <a:ext uri="{FF2B5EF4-FFF2-40B4-BE49-F238E27FC236}">
                  <a16:creationId xmlns:a16="http://schemas.microsoft.com/office/drawing/2014/main" id="{5EF472C4-C32C-9710-AFCF-EBCBAECF7924}"/>
                </a:ext>
              </a:extLst>
            </p:cNvPr>
            <p:cNvSpPr>
              <a:spLocks noChangeArrowheads="1"/>
            </p:cNvSpPr>
            <p:nvPr/>
          </p:nvSpPr>
          <p:spPr bwMode="auto">
            <a:xfrm>
              <a:off x="3652"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36" name="Rectangle 30">
              <a:extLst>
                <a:ext uri="{FF2B5EF4-FFF2-40B4-BE49-F238E27FC236}">
                  <a16:creationId xmlns:a16="http://schemas.microsoft.com/office/drawing/2014/main" id="{ED033025-EB74-77B5-1DF2-FDBDAA463FEB}"/>
                </a:ext>
              </a:extLst>
            </p:cNvPr>
            <p:cNvSpPr>
              <a:spLocks noChangeArrowheads="1"/>
            </p:cNvSpPr>
            <p:nvPr/>
          </p:nvSpPr>
          <p:spPr bwMode="auto">
            <a:xfrm>
              <a:off x="3844"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0</a:t>
              </a:r>
            </a:p>
          </p:txBody>
        </p:sp>
        <p:sp>
          <p:nvSpPr>
            <p:cNvPr id="37" name="Rectangle 31">
              <a:extLst>
                <a:ext uri="{FF2B5EF4-FFF2-40B4-BE49-F238E27FC236}">
                  <a16:creationId xmlns:a16="http://schemas.microsoft.com/office/drawing/2014/main" id="{9EBB6A1F-CD74-6A68-F95C-201FDD159ACE}"/>
                </a:ext>
              </a:extLst>
            </p:cNvPr>
            <p:cNvSpPr>
              <a:spLocks noChangeArrowheads="1"/>
            </p:cNvSpPr>
            <p:nvPr/>
          </p:nvSpPr>
          <p:spPr bwMode="auto">
            <a:xfrm>
              <a:off x="4036"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1</a:t>
              </a:r>
            </a:p>
          </p:txBody>
        </p:sp>
        <p:sp>
          <p:nvSpPr>
            <p:cNvPr id="38" name="Rectangle 32">
              <a:extLst>
                <a:ext uri="{FF2B5EF4-FFF2-40B4-BE49-F238E27FC236}">
                  <a16:creationId xmlns:a16="http://schemas.microsoft.com/office/drawing/2014/main" id="{F72C1D7D-E218-1E97-2D10-3C004222405D}"/>
                </a:ext>
              </a:extLst>
            </p:cNvPr>
            <p:cNvSpPr>
              <a:spLocks noChangeArrowheads="1"/>
            </p:cNvSpPr>
            <p:nvPr/>
          </p:nvSpPr>
          <p:spPr bwMode="auto">
            <a:xfrm>
              <a:off x="4228" y="2596"/>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eaLnBrk="0" fontAlgn="base" hangingPunct="0">
                <a:spcBef>
                  <a:spcPct val="0"/>
                </a:spcBef>
                <a:spcAft>
                  <a:spcPct val="0"/>
                </a:spcAft>
              </a:pPr>
              <a:r>
                <a:rPr lang="en-GB" altLang="el-GR" sz="2400">
                  <a:solidFill>
                    <a:srgbClr val="000000"/>
                  </a:solidFill>
                  <a:latin typeface="Times New Roman" panose="02020603050405020304" pitchFamily="18" charset="0"/>
                </a:rPr>
                <a:t>0</a:t>
              </a:r>
            </a:p>
          </p:txBody>
        </p:sp>
      </p:grpSp>
    </p:spTree>
    <p:extLst>
      <p:ext uri="{BB962C8B-B14F-4D97-AF65-F5344CB8AC3E}">
        <p14:creationId xmlns:p14="http://schemas.microsoft.com/office/powerpoint/2010/main" val="297696675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C041D-7447-1A86-9DB3-FE8CE70C21D6}"/>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06816E6B-62DD-8A3D-5079-078CFBCB8E22}"/>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D3963CEA-5ED5-E567-4798-40AE9797B631}"/>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255A1960-DAD9-1ADA-29CD-2AD8DF9DDE6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A9D0ED2E-74A5-8FA6-7A6F-64C3238E92C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14</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8043C1FB-A8FF-6B44-36CB-85A3CAA0BD03}"/>
              </a:ext>
            </a:extLst>
          </p:cNvPr>
          <p:cNvSpPr txBox="1">
            <a:spLocks/>
          </p:cNvSpPr>
          <p:nvPr/>
        </p:nvSpPr>
        <p:spPr>
          <a:xfrm>
            <a:off x="4149680" y="6670790"/>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Control flow</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Arrays</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Type conversions</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0B4ADAD0-CC57-3D23-54F8-C6EA84C6DFF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4177B3CB-6237-0318-176A-5508DC5A1B6E}"/>
              </a:ext>
            </a:extLst>
          </p:cNvPr>
          <p:cNvSpPr txBox="1">
            <a:spLocks noChangeArrowheads="1"/>
          </p:cNvSpPr>
          <p:nvPr/>
        </p:nvSpPr>
        <p:spPr bwMode="auto">
          <a:xfrm>
            <a:off x="492449" y="914699"/>
            <a:ext cx="11207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80000"/>
              </a:lnSpc>
            </a:pPr>
            <a:r>
              <a:rPr lang="el-GR" altLang="el-GR" b="1" dirty="0">
                <a:solidFill>
                  <a:srgbClr val="F9853D"/>
                </a:solidFill>
                <a:latin typeface="Bahnschrift" panose="020B0502040204020203" pitchFamily="34" charset="0"/>
              </a:rPr>
              <a:t>Μεταβλητή</a:t>
            </a:r>
          </a:p>
          <a:p>
            <a:pPr lvl="1" eaLnBrk="1" hangingPunct="1">
              <a:lnSpc>
                <a:spcPct val="80000"/>
              </a:lnSpc>
            </a:pPr>
            <a:r>
              <a:rPr lang="el-GR" altLang="el-GR" kern="0" dirty="0">
                <a:latin typeface="Times New Roman" panose="02020603050405020304" pitchFamily="18" charset="0"/>
              </a:rPr>
              <a:t>Ορισμός</a:t>
            </a:r>
          </a:p>
          <a:p>
            <a:pPr lvl="1" eaLnBrk="1" hangingPunct="1">
              <a:lnSpc>
                <a:spcPct val="80000"/>
              </a:lnSpc>
            </a:pPr>
            <a:r>
              <a:rPr lang="el-GR" altLang="el-GR" kern="0" dirty="0">
                <a:latin typeface="Times New Roman" panose="02020603050405020304" pitchFamily="18" charset="0"/>
              </a:rPr>
              <a:t>Δήλωση – Κανόνες Δήλωσης (στην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l-GR" altLang="el-GR" b="1" dirty="0">
                <a:solidFill>
                  <a:srgbClr val="F9853D"/>
                </a:solidFill>
                <a:latin typeface="Bahnschrift" panose="020B0502040204020203" pitchFamily="34" charset="0"/>
              </a:rPr>
              <a:t>Τύποι Δεδομένων</a:t>
            </a:r>
          </a:p>
          <a:p>
            <a:pPr lvl="1" eaLnBrk="1" hangingPunct="1">
              <a:lnSpc>
                <a:spcPct val="80000"/>
              </a:lnSpc>
            </a:pPr>
            <a:r>
              <a:rPr lang="el-GR" altLang="el-GR" kern="0" dirty="0">
                <a:latin typeface="Times New Roman" panose="02020603050405020304" pitchFamily="18" charset="0"/>
              </a:rPr>
              <a:t>Τύποι δεδομένων στη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n-US" altLang="el-GR" b="1" dirty="0">
                <a:solidFill>
                  <a:srgbClr val="C00000"/>
                </a:solidFill>
                <a:latin typeface="Bahnschrift" panose="020B0502040204020203" pitchFamily="34" charset="0"/>
              </a:rPr>
              <a:t>O </a:t>
            </a:r>
            <a:r>
              <a:rPr lang="el-GR" altLang="el-GR" b="1" dirty="0">
                <a:solidFill>
                  <a:srgbClr val="C00000"/>
                </a:solidFill>
                <a:latin typeface="Bahnschrift" panose="020B0502040204020203" pitchFamily="34" charset="0"/>
              </a:rPr>
              <a:t>τύπος του ακεραίου (</a:t>
            </a:r>
            <a:r>
              <a:rPr lang="en-US" altLang="el-GR" b="1" dirty="0">
                <a:solidFill>
                  <a:srgbClr val="C00000"/>
                </a:solidFill>
                <a:latin typeface="Bahnschrift" panose="020B0502040204020203" pitchFamily="34" charset="0"/>
              </a:rPr>
              <a:t>int</a:t>
            </a:r>
            <a:r>
              <a:rPr lang="el-GR" altLang="el-GR" b="1" dirty="0">
                <a:solidFill>
                  <a:srgbClr val="C00000"/>
                </a:solidFill>
                <a:latin typeface="Bahnschrift" panose="020B0502040204020203" pitchFamily="34" charset="0"/>
              </a:rPr>
              <a:t>)</a:t>
            </a:r>
            <a:endParaRPr lang="en-US" altLang="el-GR" b="1" dirty="0">
              <a:solidFill>
                <a:srgbClr val="C00000"/>
              </a:solidFill>
              <a:latin typeface="Bahnschrift" panose="020B0502040204020203" pitchFamily="34"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χαρακτήρα</a:t>
            </a:r>
          </a:p>
          <a:p>
            <a:pPr eaLnBrk="1" hangingPunct="1">
              <a:lnSpc>
                <a:spcPct val="80000"/>
              </a:lnSpc>
            </a:pPr>
            <a:r>
              <a:rPr lang="el-GR" altLang="el-GR" b="1" dirty="0">
                <a:solidFill>
                  <a:srgbClr val="F9853D"/>
                </a:solidFill>
                <a:latin typeface="Bahnschrift" panose="020B0502040204020203" pitchFamily="34" charset="0"/>
              </a:rPr>
              <a:t>Οι τύποι αριθμού κινητής υποδιαστολής </a:t>
            </a:r>
          </a:p>
          <a:p>
            <a:pPr lvl="1" eaLnBrk="1" hangingPunct="1">
              <a:lnSpc>
                <a:spcPct val="80000"/>
              </a:lnSpc>
            </a:pPr>
            <a:r>
              <a:rPr lang="en-US" altLang="el-GR" kern="0" dirty="0">
                <a:latin typeface="Times New Roman" panose="02020603050405020304" pitchFamily="18" charset="0"/>
              </a:rPr>
              <a:t>float</a:t>
            </a:r>
            <a:r>
              <a:rPr lang="el-GR" altLang="el-GR" kern="0" dirty="0">
                <a:latin typeface="Times New Roman" panose="02020603050405020304" pitchFamily="18" charset="0"/>
              </a:rPr>
              <a:t> - </a:t>
            </a:r>
            <a:r>
              <a:rPr lang="en-US" altLang="el-GR" kern="0" dirty="0">
                <a:latin typeface="Times New Roman" panose="02020603050405020304" pitchFamily="18" charset="0"/>
              </a:rPr>
              <a:t>double</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της Συμβολοσειράς</a:t>
            </a:r>
          </a:p>
          <a:p>
            <a:pPr eaLnBrk="1" hangingPunct="1">
              <a:lnSpc>
                <a:spcPct val="80000"/>
              </a:lnSpc>
            </a:pPr>
            <a:r>
              <a:rPr lang="el-GR" altLang="el-GR" b="1" dirty="0">
                <a:solidFill>
                  <a:srgbClr val="F9853D"/>
                </a:solidFill>
                <a:latin typeface="Bahnschrift" panose="020B0502040204020203" pitchFamily="34" charset="0"/>
              </a:rPr>
              <a:t>Σταθερές</a:t>
            </a:r>
          </a:p>
          <a:p>
            <a:pPr lvl="1" eaLnBrk="1" hangingPunct="1">
              <a:lnSpc>
                <a:spcPct val="80000"/>
              </a:lnSpc>
            </a:pPr>
            <a:r>
              <a:rPr lang="el-GR" altLang="el-GR" kern="0" dirty="0">
                <a:latin typeface="Times New Roman" panose="02020603050405020304" pitchFamily="18" charset="0"/>
              </a:rPr>
              <a:t>Σταθερά απαρίθμησης  (</a:t>
            </a:r>
            <a:r>
              <a:rPr lang="en-GB" altLang="el-GR" kern="0" dirty="0" err="1">
                <a:latin typeface="Times New Roman" panose="02020603050405020304" pitchFamily="18" charset="0"/>
              </a:rPr>
              <a:t>enum</a:t>
            </a:r>
            <a:r>
              <a:rPr lang="en-GB" altLang="el-GR" kern="0" dirty="0">
                <a:latin typeface="Times New Roman" panose="02020603050405020304" pitchFamily="18" charset="0"/>
              </a:rPr>
              <a:t>)</a:t>
            </a:r>
            <a:endParaRPr lang="el-GR" altLang="el-GR" kern="0" dirty="0">
              <a:latin typeface="Times New Roman" panose="02020603050405020304" pitchFamily="18" charset="0"/>
            </a:endParaRPr>
          </a:p>
        </p:txBody>
      </p:sp>
    </p:spTree>
    <p:extLst>
      <p:ext uri="{BB962C8B-B14F-4D97-AF65-F5344CB8AC3E}">
        <p14:creationId xmlns:p14="http://schemas.microsoft.com/office/powerpoint/2010/main" val="254096122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2871E-E471-0ADC-C03D-383C037F1B82}"/>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30024143-E1EF-A375-0F38-4F0D4D9E27C1}"/>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Ακέραιοι (</a:t>
            </a:r>
            <a:r>
              <a:rPr lang="en-GB" sz="4000" b="1" dirty="0">
                <a:solidFill>
                  <a:srgbClr val="F9853D"/>
                </a:solidFill>
                <a:latin typeface="Bahnschrift" panose="020B0502040204020203" pitchFamily="34" charset="0"/>
              </a:rPr>
              <a:t>Integers) - </a:t>
            </a:r>
            <a:r>
              <a:rPr lang="en-US" sz="4000" b="1" dirty="0">
                <a:solidFill>
                  <a:srgbClr val="F9853D"/>
                </a:solidFill>
                <a:latin typeface="Bahnschrift" panose="020B0502040204020203" pitchFamily="34" charset="0"/>
              </a:rPr>
              <a:t>int</a:t>
            </a:r>
            <a:endParaRPr lang="el-GR" sz="4000" b="1" dirty="0">
              <a:solidFill>
                <a:srgbClr val="F9853D"/>
              </a:solidFill>
              <a:latin typeface="Bahnschrift" panose="020B0502040204020203" pitchFamily="34" charset="0"/>
            </a:endParaRPr>
          </a:p>
        </p:txBody>
      </p:sp>
      <p:grpSp>
        <p:nvGrpSpPr>
          <p:cNvPr id="4" name="Group 3">
            <a:extLst>
              <a:ext uri="{FF2B5EF4-FFF2-40B4-BE49-F238E27FC236}">
                <a16:creationId xmlns:a16="http://schemas.microsoft.com/office/drawing/2014/main" id="{E05DA80B-FD4E-11EE-383E-CE5FF71E6184}"/>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0342D561-5256-E41C-EAB2-33F934BFB09F}"/>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F45E47CB-FBFC-6886-D10A-74773A073BC8}"/>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38B9AF02-FB6E-F3E6-1F93-2BC159765684}"/>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15</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26AEACDE-31DE-7721-2CB4-F0D15F0ECF34}"/>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6BEED907-B3E6-A46F-53F5-B6098D003E53}"/>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9EB8443F-4F2B-AEBC-F8AC-28E85EB1ED8F}"/>
              </a:ext>
            </a:extLst>
          </p:cNvPr>
          <p:cNvSpPr txBox="1">
            <a:spLocks noChangeArrowheads="1"/>
          </p:cNvSpPr>
          <p:nvPr/>
        </p:nvSpPr>
        <p:spPr bwMode="auto">
          <a:xfrm>
            <a:off x="849839" y="1154523"/>
            <a:ext cx="856895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rgbClr val="0070C0"/>
              </a:buClr>
              <a:buSzPct val="60000"/>
              <a:buFont typeface="Wingdings" panose="05000000000000000000" pitchFamily="2" charset="2"/>
              <a:buChar char="n"/>
              <a:tabLst/>
              <a:defRPr/>
            </a:pP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ANSI requirements</a:t>
            </a:r>
          </a:p>
          <a:p>
            <a:pPr marL="742950" marR="0" lvl="1" indent="-285750" algn="l" defTabSz="914400" rtl="0" eaLnBrk="1" fontAlgn="base" latinLnBrk="0" hangingPunct="1">
              <a:lnSpc>
                <a:spcPct val="100000"/>
              </a:lnSpc>
              <a:spcBef>
                <a:spcPct val="20000"/>
              </a:spcBef>
              <a:spcAft>
                <a:spcPct val="0"/>
              </a:spcAft>
              <a:buClr>
                <a:srgbClr val="0070C0"/>
              </a:buClr>
              <a:buSzPct val="55000"/>
              <a:buFont typeface="Wingdings" panose="05000000000000000000" pitchFamily="2" charset="2"/>
              <a:buChar char="n"/>
              <a:tabLst/>
              <a:defRPr/>
            </a:pPr>
            <a:r>
              <a:rPr kumimoji="0" lang="el-GR"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πρέπει να είναι τουλάχιστο 16 bits</a:t>
            </a:r>
          </a:p>
          <a:p>
            <a:pPr marL="742950" marR="0" lvl="1" indent="-285750" algn="l" defTabSz="914400" rtl="0" eaLnBrk="1" fontAlgn="base" latinLnBrk="0" hangingPunct="1">
              <a:lnSpc>
                <a:spcPct val="100000"/>
              </a:lnSpc>
              <a:spcBef>
                <a:spcPct val="20000"/>
              </a:spcBef>
              <a:spcAft>
                <a:spcPct val="0"/>
              </a:spcAft>
              <a:buClr>
                <a:srgbClr val="0070C0"/>
              </a:buClr>
              <a:buSzPct val="55000"/>
              <a:buFont typeface="Wingdings" panose="05000000000000000000" pitchFamily="2" charset="2"/>
              <a:buChar char="n"/>
              <a:tabLst/>
              <a:defRPr/>
            </a:pPr>
            <a:r>
              <a:rPr kumimoji="0" lang="el-GR"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πρέπει να είναι στο μέγεθος της λέξης</a:t>
            </a: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(word) </a:t>
            </a:r>
            <a:r>
              <a:rPr kumimoji="0" lang="el-GR"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του υπολογιστή</a:t>
            </a:r>
            <a:endPar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0070C0"/>
              </a:buClr>
              <a:buSzPct val="60000"/>
              <a:buFont typeface="Wingdings" panose="05000000000000000000" pitchFamily="2" charset="2"/>
              <a:buChar char="n"/>
              <a:tabLst/>
              <a:defRPr/>
            </a:pP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short int </a:t>
            </a:r>
            <a:r>
              <a:rPr kumimoji="0" lang="en-US" altLang="el-GR"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&lt;=&gt;</a:t>
            </a:r>
            <a:r>
              <a:rPr kumimoji="0" lang="en-US"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short     </a:t>
            </a:r>
            <a:r>
              <a:rPr kumimoji="0" lang="en-GB" altLang="el-GR" b="0" i="0" u="none" strike="noStrike" kern="1200" cap="none" spc="0" normalizeH="0" baseline="0" noProof="0">
                <a:ln>
                  <a:noFill/>
                </a:ln>
                <a:solidFill>
                  <a:srgbClr val="3333CC"/>
                </a:solidFill>
                <a:effectLst/>
                <a:uLnTx/>
                <a:uFillTx/>
                <a:latin typeface="Times New Roman" panose="02020603050405020304" pitchFamily="18" charset="0"/>
                <a:ea typeface="+mn-ea"/>
                <a:cs typeface="+mn-cs"/>
              </a:rPr>
              <a:t>από -32.767 έως 32.767</a:t>
            </a:r>
            <a:endPar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0070C0"/>
              </a:buClr>
              <a:buSzPct val="60000"/>
              <a:buFont typeface="Wingdings" panose="05000000000000000000" pitchFamily="2" charset="2"/>
              <a:buChar char="n"/>
              <a:tabLst/>
              <a:defRPr/>
            </a:pP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long int </a:t>
            </a:r>
            <a:r>
              <a:rPr kumimoji="0" lang="en-US" altLang="el-GR"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&lt;=&gt;</a:t>
            </a:r>
            <a:r>
              <a:rPr kumimoji="0" lang="en-US"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long</a:t>
            </a:r>
          </a:p>
          <a:p>
            <a:pPr marL="342900" marR="0" lvl="0" indent="-342900" algn="l" defTabSz="914400" rtl="0" eaLnBrk="1" fontAlgn="base" latinLnBrk="0" hangingPunct="1">
              <a:lnSpc>
                <a:spcPct val="100000"/>
              </a:lnSpc>
              <a:spcBef>
                <a:spcPct val="20000"/>
              </a:spcBef>
              <a:spcAft>
                <a:spcPct val="0"/>
              </a:spcAft>
              <a:buClr>
                <a:srgbClr val="0070C0"/>
              </a:buClr>
              <a:buSzPct val="60000"/>
              <a:buFont typeface="Wingdings" panose="05000000000000000000" pitchFamily="2" charset="2"/>
              <a:buChar char="n"/>
              <a:tabLst/>
              <a:defRPr/>
            </a:pP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unsigned int</a:t>
            </a:r>
          </a:p>
          <a:p>
            <a:pPr marL="742950" marR="0" lvl="1" indent="-285750" algn="l" defTabSz="914400" rtl="0" eaLnBrk="1" fontAlgn="base" latinLnBrk="0" hangingPunct="1">
              <a:lnSpc>
                <a:spcPct val="100000"/>
              </a:lnSpc>
              <a:spcBef>
                <a:spcPct val="20000"/>
              </a:spcBef>
              <a:spcAft>
                <a:spcPct val="0"/>
              </a:spcAft>
              <a:buClr>
                <a:srgbClr val="0070C0"/>
              </a:buClr>
              <a:buSzPct val="55000"/>
              <a:buFont typeface="Wingdings" panose="05000000000000000000" pitchFamily="2" charset="2"/>
              <a:buChar char="n"/>
              <a:tabLst/>
              <a:defRPr/>
            </a:pP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unsigned short int   0 - 65.535</a:t>
            </a:r>
          </a:p>
          <a:p>
            <a:pPr marL="342900" marR="0" lvl="0" indent="-342900" algn="l" defTabSz="914400" rtl="0" eaLnBrk="1" fontAlgn="base" latinLnBrk="0" hangingPunct="1">
              <a:lnSpc>
                <a:spcPct val="100000"/>
              </a:lnSpc>
              <a:spcBef>
                <a:spcPct val="20000"/>
              </a:spcBef>
              <a:spcAft>
                <a:spcPct val="0"/>
              </a:spcAft>
              <a:buClr>
                <a:srgbClr val="0070C0"/>
              </a:buClr>
              <a:buSzPct val="60000"/>
              <a:buFont typeface="Wingdings" panose="05000000000000000000" pitchFamily="2" charset="2"/>
              <a:buChar char="n"/>
              <a:tabLst/>
              <a:defRPr/>
            </a:pP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signed int </a:t>
            </a:r>
            <a:r>
              <a:rPr kumimoji="0" lang="en-US" altLang="el-GR"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&lt;=&gt;</a:t>
            </a: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int	</a:t>
            </a:r>
            <a:r>
              <a:rPr kumimoji="0" lang="en-GB" altLang="el-GR" b="0" i="0" u="none" strike="noStrike" kern="1200" cap="none" spc="0" normalizeH="0" baseline="0" noProof="0">
                <a:ln>
                  <a:noFill/>
                </a:ln>
                <a:solidFill>
                  <a:srgbClr val="3333CC"/>
                </a:solidFill>
                <a:effectLst/>
                <a:uLnTx/>
                <a:uFillTx/>
                <a:latin typeface="Times New Roman" panose="02020603050405020304" pitchFamily="18" charset="0"/>
                <a:ea typeface="+mn-ea"/>
                <a:cs typeface="+mn-cs"/>
              </a:rPr>
              <a:t>(</a:t>
            </a:r>
            <a:r>
              <a:rPr kumimoji="0" lang="en-GB" altLang="el-GR" b="0" i="0" u="none" strike="noStrike" kern="1200" cap="none" spc="0" normalizeH="0" baseline="0" noProof="0">
                <a:ln>
                  <a:noFill/>
                </a:ln>
                <a:solidFill>
                  <a:srgbClr val="FF0000"/>
                </a:solidFill>
                <a:effectLst/>
                <a:uLnTx/>
                <a:uFillTx/>
                <a:latin typeface="Times New Roman" panose="02020603050405020304" pitchFamily="18" charset="0"/>
                <a:ea typeface="+mn-ea"/>
                <a:cs typeface="+mn-cs"/>
              </a:rPr>
              <a:t>signed is default</a:t>
            </a:r>
            <a:r>
              <a:rPr kumimoji="0" lang="en-GB" altLang="el-GR" b="0" i="0" u="none" strike="noStrike" kern="1200" cap="none" spc="0" normalizeH="0" baseline="0" noProof="0">
                <a:ln>
                  <a:noFill/>
                </a:ln>
                <a:solidFill>
                  <a:srgbClr val="3333CC"/>
                </a:solidFill>
                <a:effectLst/>
                <a:uLnTx/>
                <a:uFillTx/>
                <a:latin typeface="Times New Roman" panose="02020603050405020304" pitchFamily="18" charset="0"/>
                <a:ea typeface="+mn-ea"/>
                <a:cs typeface="+mn-cs"/>
              </a:rPr>
              <a:t>)</a:t>
            </a:r>
          </a:p>
          <a:p>
            <a:pPr marL="342900" marR="0" lvl="0" indent="-342900" algn="l" defTabSz="914400" rtl="0" eaLnBrk="1" fontAlgn="base" latinLnBrk="0" hangingPunct="1">
              <a:lnSpc>
                <a:spcPct val="100000"/>
              </a:lnSpc>
              <a:spcBef>
                <a:spcPct val="20000"/>
              </a:spcBef>
              <a:spcAft>
                <a:spcPct val="0"/>
              </a:spcAft>
              <a:buClr>
                <a:srgbClr val="0070C0"/>
              </a:buClr>
              <a:buSzPct val="60000"/>
              <a:buFont typeface="Wingdings" panose="05000000000000000000" pitchFamily="2" charset="2"/>
              <a:buChar char="n"/>
              <a:tabLst/>
              <a:defRPr/>
            </a:pPr>
            <a:endPar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33126363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blinds(horizontal)">
                                      <p:cBhvr>
                                        <p:cTn id="18" dur="500"/>
                                        <p:tgtEl>
                                          <p:spTgt spid="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blinds(horizontal)">
                                      <p:cBhvr>
                                        <p:cTn id="23" dur="500"/>
                                        <p:tgtEl>
                                          <p:spTgt spid="6">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blinds(horizontal)">
                                      <p:cBhvr>
                                        <p:cTn id="28" dur="500"/>
                                        <p:tgtEl>
                                          <p:spTgt spid="6">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blinds(horizontal)">
                                      <p:cBhvr>
                                        <p:cTn id="31" dur="500"/>
                                        <p:tgtEl>
                                          <p:spTgt spid="6">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blinds(horizontal)">
                                      <p:cBhvr>
                                        <p:cTn id="36"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57BCE-EA47-7D97-4070-DE2E3FDEDDAB}"/>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4B8928EC-D1D1-34AC-2B51-87CC85DFEAA0}"/>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Εκτύπωση ακεραίων </a:t>
            </a:r>
            <a:r>
              <a:rPr lang="en-US"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1/2</a:t>
            </a:r>
          </a:p>
        </p:txBody>
      </p:sp>
      <p:grpSp>
        <p:nvGrpSpPr>
          <p:cNvPr id="4" name="Group 3">
            <a:extLst>
              <a:ext uri="{FF2B5EF4-FFF2-40B4-BE49-F238E27FC236}">
                <a16:creationId xmlns:a16="http://schemas.microsoft.com/office/drawing/2014/main" id="{B81DB644-5148-7445-3D65-C88C81B0E2A7}"/>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AACA203E-0885-E219-DAE8-49D8096B8A6A}"/>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1E6FDA6A-16AA-FF36-F7A4-EAEC6A908541}"/>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28E53CCF-29C2-2740-CCE9-7944398F8D29}"/>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16</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F1EA2E7B-D3DD-5969-21FE-752E70DEB167}"/>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92E33A88-3BC4-F6E9-85A0-1CC8CB76986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9A5DDA41-7AFF-3FF4-7B23-B72413713DC2}"/>
              </a:ext>
            </a:extLst>
          </p:cNvPr>
          <p:cNvSpPr txBox="1">
            <a:spLocks noChangeArrowheads="1"/>
          </p:cNvSpPr>
          <p:nvPr/>
        </p:nvSpPr>
        <p:spPr bwMode="auto">
          <a:xfrm>
            <a:off x="324465" y="869127"/>
            <a:ext cx="9840407" cy="1225144"/>
          </a:xfrm>
          <a:prstGeom prst="rect">
            <a:avLst/>
          </a:prstGeom>
          <a:solidFill>
            <a:schemeClr val="accent3">
              <a:lumMod val="60000"/>
              <a:lumOff val="40000"/>
            </a:schemeClr>
          </a:solidFill>
          <a:ln>
            <a:noFill/>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6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2800" b="1" i="1"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int ten = 10;</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GB" altLang="el-GR" sz="2800" b="1" i="1"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GB" altLang="el-GR" sz="2800" b="1" i="1"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printf</a:t>
            </a:r>
            <a:r>
              <a:rPr kumimoji="0" lang="en-GB" altLang="el-GR" sz="2800" b="1" i="1"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t>
            </a:r>
            <a:r>
              <a:rPr kumimoji="0" lang="en-GB" altLang="el-GR" sz="2800" b="1" i="1" u="none" strike="noStrike" kern="1200" cap="none" spc="0" normalizeH="0" baseline="0" noProof="0" dirty="0">
                <a:ln>
                  <a:noFill/>
                </a:ln>
                <a:solidFill>
                  <a:srgbClr val="800000"/>
                </a:solidFill>
                <a:effectLst/>
                <a:uLnTx/>
                <a:uFillTx/>
                <a:latin typeface="Courier New" panose="02070309020205020404" pitchFamily="49" charset="0"/>
                <a:ea typeface="+mn-ea"/>
                <a:cs typeface="+mn-cs"/>
              </a:rPr>
              <a:t>d</a:t>
            </a:r>
            <a:r>
              <a:rPr kumimoji="0" lang="en-GB" altLang="el-GR" sz="2800" b="1" i="1"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minus %d is %d\</a:t>
            </a:r>
            <a:r>
              <a:rPr kumimoji="0" lang="en-US" altLang="el-GR" sz="2800" b="1" i="1"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n</a:t>
            </a:r>
            <a:r>
              <a:rPr kumimoji="0" lang="en-GB" altLang="el-GR" sz="2800" b="1" i="1"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”,ten,2,ten-2);</a:t>
            </a:r>
            <a:endParaRPr kumimoji="0" lang="en-US" altLang="el-GR" sz="2800" b="1" i="1"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6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US" altLang="el-GR"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rPr>
              <a:t>10</a:t>
            </a:r>
            <a:r>
              <a:rPr kumimoji="0" lang="en-GB" altLang="el-GR"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rPr>
              <a:t> minus </a:t>
            </a:r>
            <a:r>
              <a:rPr kumimoji="0" lang="en-US" altLang="el-GR"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rPr>
              <a:t>2</a:t>
            </a:r>
            <a:r>
              <a:rPr kumimoji="0" lang="en-GB" altLang="el-GR"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rPr>
              <a:t> is </a:t>
            </a:r>
            <a:r>
              <a:rPr kumimoji="0" lang="en-US" altLang="el-GR"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rPr>
              <a:t>8</a:t>
            </a:r>
            <a:endParaRPr kumimoji="0" lang="en-GB" altLang="el-GR"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endParaRPr>
          </a:p>
        </p:txBody>
      </p:sp>
      <p:sp>
        <p:nvSpPr>
          <p:cNvPr id="7" name="Rectangle 3">
            <a:extLst>
              <a:ext uri="{FF2B5EF4-FFF2-40B4-BE49-F238E27FC236}">
                <a16:creationId xmlns:a16="http://schemas.microsoft.com/office/drawing/2014/main" id="{6C485D57-9FF8-390A-27FB-15B98234E9F0}"/>
              </a:ext>
            </a:extLst>
          </p:cNvPr>
          <p:cNvSpPr txBox="1">
            <a:spLocks noChangeArrowheads="1"/>
          </p:cNvSpPr>
          <p:nvPr/>
        </p:nvSpPr>
        <p:spPr bwMode="auto">
          <a:xfrm>
            <a:off x="183796" y="2827023"/>
            <a:ext cx="11867536" cy="1332022"/>
          </a:xfrm>
          <a:prstGeom prst="rect">
            <a:avLst/>
          </a:prstGeom>
          <a:solidFill>
            <a:srgbClr val="92D050"/>
          </a:solidFill>
          <a:ln>
            <a:noFill/>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6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36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mn-cs"/>
              </a:rPr>
              <a:t>Δεκαδικοί, </a:t>
            </a:r>
            <a:r>
              <a:rPr kumimoji="0" lang="en-GB" altLang="el-GR" sz="3600" b="1"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mn-cs"/>
              </a:rPr>
              <a:t>Οκτ</a:t>
            </a:r>
            <a:r>
              <a:rPr kumimoji="0" lang="en-GB" altLang="el-GR" sz="36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mn-cs"/>
              </a:rPr>
              <a:t>αδικοί, </a:t>
            </a:r>
            <a:r>
              <a:rPr kumimoji="0" lang="el-GR" altLang="el-GR" sz="36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mn-cs"/>
              </a:rPr>
              <a:t>Δ</a:t>
            </a:r>
            <a:r>
              <a:rPr kumimoji="0" lang="en-GB" altLang="el-GR" sz="3600" b="1"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mn-cs"/>
              </a:rPr>
              <a:t>εκ</a:t>
            </a:r>
            <a:r>
              <a:rPr kumimoji="0" lang="en-GB" altLang="el-GR" sz="36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mn-cs"/>
              </a:rPr>
              <a:t>αεξαδικοί</a:t>
            </a:r>
          </a:p>
          <a:p>
            <a:pPr marL="457200" marR="0" lvl="1" indent="0" algn="l" defTabSz="914400" rtl="0" eaLnBrk="1" fontAlgn="base" latinLnBrk="0" hangingPunct="1">
              <a:lnSpc>
                <a:spcPct val="100000"/>
              </a:lnSpc>
              <a:spcBef>
                <a:spcPct val="20000"/>
              </a:spcBef>
              <a:spcAft>
                <a:spcPct val="0"/>
              </a:spcAft>
              <a:buClr>
                <a:srgbClr val="FF0000"/>
              </a:buClr>
              <a:buSzPct val="55000"/>
              <a:buNone/>
              <a:tabLst/>
              <a:defRPr/>
            </a:pPr>
            <a:r>
              <a:rPr kumimoji="0" lang="el-GR" altLang="el-G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Προσδιοριστές </a:t>
            </a:r>
            <a:r>
              <a:rPr kumimoji="0" lang="en-US" altLang="el-G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r>
              <a:rPr kumimoji="0" lang="en-US" altLang="el-GR"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d</a:t>
            </a:r>
            <a:r>
              <a:rPr kumimoji="0" lang="en-US" altLang="el-G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r>
              <a:rPr kumimoji="0" lang="en-GB" altLang="el-G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%ο</a:t>
            </a:r>
            <a:r>
              <a:rPr kumimoji="0" lang="en-GB" altLang="el-G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r>
              <a:rPr kumimoji="0" lang="en-US" altLang="el-GR"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x</a:t>
            </a:r>
            <a:endParaRPr kumimoji="0" lang="en-GB" altLang="el-GR"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9" name="Rectangle 3">
            <a:extLst>
              <a:ext uri="{FF2B5EF4-FFF2-40B4-BE49-F238E27FC236}">
                <a16:creationId xmlns:a16="http://schemas.microsoft.com/office/drawing/2014/main" id="{2417982C-058D-A1B9-B721-A421D6A5EC99}"/>
              </a:ext>
            </a:extLst>
          </p:cNvPr>
          <p:cNvSpPr txBox="1">
            <a:spLocks noChangeArrowheads="1"/>
          </p:cNvSpPr>
          <p:nvPr/>
        </p:nvSpPr>
        <p:spPr bwMode="auto">
          <a:xfrm>
            <a:off x="183796" y="4315025"/>
            <a:ext cx="11824408" cy="1176042"/>
          </a:xfrm>
          <a:prstGeom prst="rect">
            <a:avLst/>
          </a:prstGeom>
          <a:solidFill>
            <a:schemeClr val="accent3">
              <a:lumMod val="60000"/>
              <a:lumOff val="40000"/>
            </a:schemeClr>
          </a:solidFill>
          <a:ln>
            <a:noFill/>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6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int </a:t>
            </a:r>
            <a:r>
              <a:rPr kumimoji="0" lang="en-GB" altLang="el-GR" b="1"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num</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 100;</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None/>
              <a:tabLst/>
              <a:defRPr/>
            </a:pPr>
            <a:r>
              <a:rPr kumimoji="0" lang="en-GB" altLang="el-GR" b="1"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printf</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(“dec=%</a:t>
            </a:r>
            <a:r>
              <a:rPr kumimoji="0" lang="en-GB" altLang="el-GR" b="1" i="0" u="none" strike="noStrike" kern="1200" cap="none" spc="0" normalizeH="0" baseline="0" noProof="0" dirty="0">
                <a:ln>
                  <a:noFill/>
                </a:ln>
                <a:solidFill>
                  <a:srgbClr val="800000"/>
                </a:solidFill>
                <a:effectLst/>
                <a:uLnTx/>
                <a:uFillTx/>
                <a:latin typeface="Courier New" panose="02070309020205020404" pitchFamily="49" charset="0"/>
                <a:ea typeface="+mn-ea"/>
                <a:cs typeface="+mn-cs"/>
              </a:rPr>
              <a:t>d</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octal=%</a:t>
            </a:r>
            <a:r>
              <a:rPr kumimoji="0" lang="en-GB" altLang="el-GR" b="1" i="0" u="none" strike="noStrike" kern="1200" cap="none" spc="0" normalizeH="0" baseline="0" noProof="0" dirty="0" err="1">
                <a:ln>
                  <a:noFill/>
                </a:ln>
                <a:solidFill>
                  <a:srgbClr val="800000"/>
                </a:solidFill>
                <a:effectLst/>
                <a:uLnTx/>
                <a:uFillTx/>
                <a:latin typeface="Courier New" panose="02070309020205020404" pitchFamily="49" charset="0"/>
                <a:ea typeface="+mn-ea"/>
                <a:cs typeface="+mn-cs"/>
              </a:rPr>
              <a:t>o</a:t>
            </a:r>
            <a:r>
              <a:rPr kumimoji="0" lang="en-GB" altLang="el-GR" b="1"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;,hex</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t>
            </a:r>
            <a:r>
              <a:rPr kumimoji="0" lang="en-GB" altLang="el-GR" b="1" i="0" u="none" strike="noStrike" kern="1200" cap="none" spc="0" normalizeH="0" baseline="0" noProof="0" dirty="0">
                <a:ln>
                  <a:noFill/>
                </a:ln>
                <a:solidFill>
                  <a:srgbClr val="800000"/>
                </a:solidFill>
                <a:effectLst/>
                <a:uLnTx/>
                <a:uFillTx/>
                <a:latin typeface="Courier New" panose="02070309020205020404" pitchFamily="49" charset="0"/>
                <a:ea typeface="+mn-ea"/>
                <a:cs typeface="+mn-cs"/>
              </a:rPr>
              <a:t>x</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\n”,</a:t>
            </a:r>
            <a:r>
              <a:rPr kumimoji="0" lang="en-GB" altLang="el-GR" b="1"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num</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GB" altLang="el-GR" b="1"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num,num</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t>
            </a:r>
          </a:p>
        </p:txBody>
      </p:sp>
      <p:sp>
        <p:nvSpPr>
          <p:cNvPr id="12" name="Rectangle 3">
            <a:extLst>
              <a:ext uri="{FF2B5EF4-FFF2-40B4-BE49-F238E27FC236}">
                <a16:creationId xmlns:a16="http://schemas.microsoft.com/office/drawing/2014/main" id="{82215200-8A3B-8960-B9F0-F84D55F3A266}"/>
              </a:ext>
            </a:extLst>
          </p:cNvPr>
          <p:cNvSpPr txBox="1">
            <a:spLocks noChangeArrowheads="1"/>
          </p:cNvSpPr>
          <p:nvPr/>
        </p:nvSpPr>
        <p:spPr bwMode="auto">
          <a:xfrm>
            <a:off x="183796" y="5647048"/>
            <a:ext cx="11683739" cy="619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6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3200" b="0" i="1" u="none" strike="noStrike" kern="1200" cap="none" spc="0" normalizeH="0" baseline="0" noProof="0" dirty="0">
                <a:ln>
                  <a:noFill/>
                </a:ln>
                <a:solidFill>
                  <a:srgbClr val="3333CC"/>
                </a:solidFill>
                <a:effectLst/>
                <a:uLnTx/>
                <a:uFillTx/>
                <a:latin typeface="Times New Roman" panose="02020603050405020304" pitchFamily="18" charset="0"/>
                <a:ea typeface="+mn-ea"/>
                <a:cs typeface="+mn-cs"/>
              </a:rPr>
              <a:t>	</a:t>
            </a:r>
            <a:r>
              <a:rPr lang="en-GB" altLang="el-GR" sz="3600" b="1" dirty="0">
                <a:solidFill>
                  <a:srgbClr val="002060"/>
                </a:solidFill>
                <a:latin typeface="Times New Roman" panose="02020603050405020304" pitchFamily="18" charset="0"/>
              </a:rPr>
              <a:t>dec=100; octal =144; hex=64</a:t>
            </a:r>
          </a:p>
        </p:txBody>
      </p:sp>
    </p:spTree>
    <p:extLst>
      <p:ext uri="{BB962C8B-B14F-4D97-AF65-F5344CB8AC3E}">
        <p14:creationId xmlns:p14="http://schemas.microsoft.com/office/powerpoint/2010/main" val="36553840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5E6EE-A5A9-BC60-5E60-3D4431058D4B}"/>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DF2829B7-6B5D-EB51-69E9-4A1A2F92E0BC}"/>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Εκτύπωση ακεραίων </a:t>
            </a:r>
            <a:r>
              <a:rPr lang="en-US" sz="4000" b="1" dirty="0">
                <a:solidFill>
                  <a:srgbClr val="F9853D"/>
                </a:solidFill>
                <a:latin typeface="Bahnschrift" panose="020B0502040204020203" pitchFamily="34" charset="0"/>
              </a:rPr>
              <a:t>		2</a:t>
            </a:r>
            <a:r>
              <a:rPr lang="el-GR" sz="4000" b="1" dirty="0">
                <a:solidFill>
                  <a:srgbClr val="F9853D"/>
                </a:solidFill>
                <a:latin typeface="Bahnschrift" panose="020B0502040204020203" pitchFamily="34" charset="0"/>
              </a:rPr>
              <a:t>/2</a:t>
            </a:r>
          </a:p>
        </p:txBody>
      </p:sp>
      <p:grpSp>
        <p:nvGrpSpPr>
          <p:cNvPr id="4" name="Group 3">
            <a:extLst>
              <a:ext uri="{FF2B5EF4-FFF2-40B4-BE49-F238E27FC236}">
                <a16:creationId xmlns:a16="http://schemas.microsoft.com/office/drawing/2014/main" id="{CB93B744-FFCA-4DF9-CDA1-F6886F6F7328}"/>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4BA69311-ADC7-38C3-336F-AA0FE4C8E8AC}"/>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DA575F99-D989-DA7B-4CD9-4443C8DE5121}"/>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60613A42-4552-CC8C-AD51-13DAE1376631}"/>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17</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2072C43A-25A4-D3CF-A81A-84D458AE8D67}"/>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BEB01D3F-2EF5-4773-5C32-957E6053BBB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9" name="Rectangle 3">
            <a:extLst>
              <a:ext uri="{FF2B5EF4-FFF2-40B4-BE49-F238E27FC236}">
                <a16:creationId xmlns:a16="http://schemas.microsoft.com/office/drawing/2014/main" id="{CEF9C57B-2395-C55D-7EF5-D080412ACF14}"/>
              </a:ext>
            </a:extLst>
          </p:cNvPr>
          <p:cNvSpPr txBox="1">
            <a:spLocks noChangeArrowheads="1"/>
          </p:cNvSpPr>
          <p:nvPr/>
        </p:nvSpPr>
        <p:spPr bwMode="auto">
          <a:xfrm>
            <a:off x="1015181" y="758817"/>
            <a:ext cx="572483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GB" altLang="el-GR" sz="3600" b="0" i="0" u="none" strike="noStrike" kern="1200" cap="none" spc="0" normalizeH="0" baseline="0" noProof="0" dirty="0">
                <a:ln>
                  <a:noFill/>
                </a:ln>
                <a:solidFill>
                  <a:srgbClr val="3333CC"/>
                </a:solidFill>
                <a:effectLst/>
                <a:uLnTx/>
                <a:uFillTx/>
                <a:latin typeface="Tahoma"/>
                <a:ea typeface="+mn-ea"/>
                <a:cs typeface="+mn-cs"/>
              </a:rPr>
              <a:t>long, short, unsigned</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GB" altLang="el-GR" sz="3200" b="0" i="0" u="none" strike="noStrike" kern="1200" cap="none" spc="0" normalizeH="0" baseline="0" noProof="0" dirty="0">
                <a:ln>
                  <a:noFill/>
                </a:ln>
                <a:solidFill>
                  <a:srgbClr val="000000"/>
                </a:solidFill>
                <a:effectLst/>
                <a:uLnTx/>
                <a:uFillTx/>
                <a:latin typeface="Tahoma"/>
                <a:ea typeface="+mn-ea"/>
                <a:cs typeface="+mn-cs"/>
              </a:rPr>
              <a:t>%u</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GB" altLang="el-GR" sz="3200" b="0" i="0" u="none" strike="noStrike" kern="1200" cap="none" spc="0" normalizeH="0" baseline="0" noProof="0" dirty="0">
                <a:ln>
                  <a:noFill/>
                </a:ln>
                <a:solidFill>
                  <a:srgbClr val="000000"/>
                </a:solidFill>
                <a:effectLst/>
                <a:uLnTx/>
                <a:uFillTx/>
                <a:latin typeface="Tahoma"/>
                <a:ea typeface="+mn-ea"/>
                <a:cs typeface="+mn-cs"/>
              </a:rPr>
              <a:t>%</a:t>
            </a:r>
            <a:r>
              <a:rPr kumimoji="0" lang="en-GB" altLang="el-GR" sz="3200" b="0" i="0" u="none" strike="noStrike" kern="1200" cap="none" spc="0" normalizeH="0" baseline="0" noProof="0" dirty="0" err="1">
                <a:ln>
                  <a:noFill/>
                </a:ln>
                <a:solidFill>
                  <a:srgbClr val="000000"/>
                </a:solidFill>
                <a:effectLst/>
                <a:uLnTx/>
                <a:uFillTx/>
                <a:latin typeface="Tahoma"/>
                <a:ea typeface="+mn-ea"/>
                <a:cs typeface="+mn-cs"/>
              </a:rPr>
              <a:t>ld</a:t>
            </a:r>
            <a:r>
              <a:rPr kumimoji="0" lang="en-GB" altLang="el-GR" sz="3200" b="0" i="0" u="none" strike="noStrike" kern="1200" cap="none" spc="0" normalizeH="0" baseline="0" noProof="0" dirty="0">
                <a:ln>
                  <a:noFill/>
                </a:ln>
                <a:solidFill>
                  <a:srgbClr val="000000"/>
                </a:solidFill>
                <a:effectLst/>
                <a:uLnTx/>
                <a:uFillTx/>
                <a:latin typeface="Tahoma"/>
                <a:ea typeface="+mn-ea"/>
                <a:cs typeface="+mn-cs"/>
              </a:rPr>
              <a:t>, %</a:t>
            </a:r>
            <a:r>
              <a:rPr kumimoji="0" lang="en-GB" altLang="el-GR" sz="3200" b="0" i="0" u="none" strike="noStrike" kern="1200" cap="none" spc="0" normalizeH="0" baseline="0" noProof="0" dirty="0" err="1">
                <a:ln>
                  <a:noFill/>
                </a:ln>
                <a:solidFill>
                  <a:srgbClr val="000000"/>
                </a:solidFill>
                <a:effectLst/>
                <a:uLnTx/>
                <a:uFillTx/>
                <a:latin typeface="Tahoma"/>
                <a:ea typeface="+mn-ea"/>
                <a:cs typeface="+mn-cs"/>
              </a:rPr>
              <a:t>lu</a:t>
            </a:r>
            <a:r>
              <a:rPr kumimoji="0" lang="en-GB" altLang="el-GR" sz="3200" b="0" i="0" u="none" strike="noStrike" kern="1200" cap="none" spc="0" normalizeH="0" baseline="0" noProof="0" dirty="0">
                <a:ln>
                  <a:noFill/>
                </a:ln>
                <a:solidFill>
                  <a:srgbClr val="000000"/>
                </a:solidFill>
                <a:effectLst/>
                <a:uLnTx/>
                <a:uFillTx/>
                <a:latin typeface="Tahoma"/>
                <a:ea typeface="+mn-ea"/>
                <a:cs typeface="+mn-cs"/>
              </a:rPr>
              <a:t>	l -&gt; long</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GB" altLang="el-GR" sz="3200" b="0" i="0" u="none" strike="noStrike" kern="1200" cap="none" spc="0" normalizeH="0" baseline="0" noProof="0" dirty="0">
                <a:ln>
                  <a:noFill/>
                </a:ln>
                <a:solidFill>
                  <a:srgbClr val="000000"/>
                </a:solidFill>
                <a:effectLst/>
                <a:uLnTx/>
                <a:uFillTx/>
                <a:latin typeface="Tahoma"/>
                <a:ea typeface="+mn-ea"/>
                <a:cs typeface="+mn-cs"/>
              </a:rPr>
              <a:t>%lx</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GB" altLang="el-GR" sz="3200" b="0" i="0" u="none" strike="noStrike" kern="1200" cap="none" spc="0" normalizeH="0" baseline="0" noProof="0" dirty="0">
                <a:ln>
                  <a:noFill/>
                </a:ln>
                <a:solidFill>
                  <a:srgbClr val="000000"/>
                </a:solidFill>
                <a:effectLst/>
                <a:uLnTx/>
                <a:uFillTx/>
                <a:latin typeface="Tahoma"/>
                <a:ea typeface="+mn-ea"/>
                <a:cs typeface="+mn-cs"/>
              </a:rPr>
              <a:t>%lo</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GB" altLang="el-GR" sz="3200" b="0" i="0" u="none" strike="noStrike" kern="1200" cap="none" spc="0" normalizeH="0" baseline="0" noProof="0" dirty="0">
                <a:ln>
                  <a:noFill/>
                </a:ln>
                <a:solidFill>
                  <a:srgbClr val="000000"/>
                </a:solidFill>
                <a:effectLst/>
                <a:uLnTx/>
                <a:uFillTx/>
                <a:latin typeface="Tahoma"/>
                <a:ea typeface="+mn-ea"/>
                <a:cs typeface="+mn-cs"/>
              </a:rPr>
              <a:t>%</a:t>
            </a:r>
            <a:r>
              <a:rPr kumimoji="0" lang="en-GB" altLang="el-GR" sz="3200" b="0" i="0" u="none" strike="noStrike" kern="1200" cap="none" spc="0" normalizeH="0" baseline="0" noProof="0" dirty="0" err="1">
                <a:ln>
                  <a:noFill/>
                </a:ln>
                <a:solidFill>
                  <a:srgbClr val="000000"/>
                </a:solidFill>
                <a:effectLst/>
                <a:uLnTx/>
                <a:uFillTx/>
                <a:latin typeface="Tahoma"/>
                <a:ea typeface="+mn-ea"/>
                <a:cs typeface="+mn-cs"/>
              </a:rPr>
              <a:t>hd</a:t>
            </a:r>
            <a:r>
              <a:rPr kumimoji="0" lang="en-GB" altLang="el-GR" sz="3200" b="0" i="0" u="none" strike="noStrike" kern="1200" cap="none" spc="0" normalizeH="0" baseline="0" noProof="0" dirty="0">
                <a:ln>
                  <a:noFill/>
                </a:ln>
                <a:solidFill>
                  <a:srgbClr val="000000"/>
                </a:solidFill>
                <a:effectLst/>
                <a:uLnTx/>
                <a:uFillTx/>
                <a:latin typeface="Tahoma"/>
                <a:ea typeface="+mn-ea"/>
                <a:cs typeface="+mn-cs"/>
              </a:rPr>
              <a:t>, %hu	h -&gt; short</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GB" altLang="el-GR" sz="3200" b="0" i="0" u="none" strike="noStrike" kern="1200" cap="none" spc="0" normalizeH="0" baseline="0" noProof="0" dirty="0">
                <a:ln>
                  <a:noFill/>
                </a:ln>
                <a:solidFill>
                  <a:srgbClr val="000000"/>
                </a:solidFill>
                <a:effectLst/>
                <a:uLnTx/>
                <a:uFillTx/>
                <a:latin typeface="Tahoma"/>
                <a:ea typeface="+mn-ea"/>
                <a:cs typeface="+mn-cs"/>
              </a:rPr>
              <a:t>%</a:t>
            </a:r>
            <a:r>
              <a:rPr kumimoji="0" lang="en-GB" altLang="el-GR" sz="3200" b="0" i="0" u="none" strike="noStrike" kern="1200" cap="none" spc="0" normalizeH="0" baseline="0" noProof="0" dirty="0" err="1">
                <a:ln>
                  <a:noFill/>
                </a:ln>
                <a:solidFill>
                  <a:srgbClr val="000000"/>
                </a:solidFill>
                <a:effectLst/>
                <a:uLnTx/>
                <a:uFillTx/>
                <a:latin typeface="Tahoma"/>
                <a:ea typeface="+mn-ea"/>
                <a:cs typeface="+mn-cs"/>
              </a:rPr>
              <a:t>ho</a:t>
            </a:r>
            <a:endParaRPr kumimoji="0" lang="en-GB" altLang="el-GR" sz="3200" b="0" i="0" u="none" strike="noStrike" kern="1200" cap="none" spc="0" normalizeH="0" baseline="0" noProof="0" dirty="0">
              <a:ln>
                <a:noFill/>
              </a:ln>
              <a:solidFill>
                <a:srgbClr val="00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GB" altLang="el-GR" sz="3200" b="0" i="0" u="none" strike="noStrike" kern="1200" cap="none" spc="0" normalizeH="0" baseline="0" noProof="0" dirty="0">
                <a:ln>
                  <a:noFill/>
                </a:ln>
                <a:solidFill>
                  <a:srgbClr val="000000"/>
                </a:solidFill>
                <a:effectLst/>
                <a:uLnTx/>
                <a:uFillTx/>
                <a:latin typeface="Tahoma"/>
                <a:ea typeface="+mn-ea"/>
                <a:cs typeface="+mn-cs"/>
              </a:rPr>
              <a:t>%</a:t>
            </a:r>
            <a:r>
              <a:rPr kumimoji="0" lang="en-GB" altLang="el-GR" sz="3200" b="0" i="0" u="none" strike="noStrike" kern="1200" cap="none" spc="0" normalizeH="0" baseline="0" noProof="0" dirty="0" err="1">
                <a:ln>
                  <a:noFill/>
                </a:ln>
                <a:solidFill>
                  <a:srgbClr val="000000"/>
                </a:solidFill>
                <a:effectLst/>
                <a:uLnTx/>
                <a:uFillTx/>
                <a:latin typeface="Tahoma"/>
                <a:ea typeface="+mn-ea"/>
                <a:cs typeface="+mn-cs"/>
              </a:rPr>
              <a:t>hx</a:t>
            </a:r>
            <a:endParaRPr kumimoji="0" lang="en-GB" altLang="el-GR" sz="3200" b="0" i="0" u="none" strike="noStrike" kern="1200" cap="none" spc="0" normalizeH="0" baseline="0" noProof="0" dirty="0">
              <a:ln>
                <a:noFill/>
              </a:ln>
              <a:solidFill>
                <a:srgbClr val="000000"/>
              </a:solidFill>
              <a:effectLst/>
              <a:uLnTx/>
              <a:uFillTx/>
              <a:latin typeface="Times New Roman Greek"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l-GR" altLang="el-GR" sz="3600" b="1" i="0" u="none" strike="noStrike" kern="1200" cap="none" spc="0" normalizeH="0" baseline="0" noProof="0" dirty="0">
              <a:ln>
                <a:noFill/>
              </a:ln>
              <a:solidFill>
                <a:srgbClr val="FF0000"/>
              </a:solidFill>
              <a:effectLst/>
              <a:uLnTx/>
              <a:uFillTx/>
              <a:latin typeface="Tahoma"/>
              <a:ea typeface="+mn-ea"/>
              <a:cs typeface="+mn-cs"/>
            </a:endParaRPr>
          </a:p>
        </p:txBody>
      </p:sp>
      <p:sp>
        <p:nvSpPr>
          <p:cNvPr id="12" name="Speech Bubble: Rectangle with Corners Rounded 11">
            <a:extLst>
              <a:ext uri="{FF2B5EF4-FFF2-40B4-BE49-F238E27FC236}">
                <a16:creationId xmlns:a16="http://schemas.microsoft.com/office/drawing/2014/main" id="{56CB13CE-854F-4465-0D00-E02758E7EA46}"/>
              </a:ext>
            </a:extLst>
          </p:cNvPr>
          <p:cNvSpPr/>
          <p:nvPr/>
        </p:nvSpPr>
        <p:spPr>
          <a:xfrm>
            <a:off x="7757652" y="1934184"/>
            <a:ext cx="3819832" cy="2566220"/>
          </a:xfrm>
          <a:prstGeom prst="wedgeRoundRectCallout">
            <a:avLst>
              <a:gd name="adj1" fmla="val -62146"/>
              <a:gd name="adj2" fmla="val 68822"/>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algn="ctr" eaLnBrk="0" fontAlgn="base" hangingPunct="0">
              <a:spcBef>
                <a:spcPct val="50000"/>
              </a:spcBef>
              <a:spcAft>
                <a:spcPct val="0"/>
              </a:spcAft>
              <a:defRPr/>
            </a:pPr>
            <a:r>
              <a:rPr lang="el-GR" altLang="el-GR" sz="2800" b="1" dirty="0">
                <a:solidFill>
                  <a:schemeClr val="bg1"/>
                </a:solidFill>
                <a:latin typeface="Times New Roman" panose="02020603050405020304" pitchFamily="18" charset="0"/>
              </a:rPr>
              <a:t>χρησιμοποιώντας λάθος σύμβολο έχουμε απρόβλεπτα αποτελέσματα</a:t>
            </a:r>
            <a:endParaRPr lang="el-GR" altLang="el-GR" sz="2800" b="1" dirty="0">
              <a:solidFill>
                <a:schemeClr val="bg1"/>
              </a:solidFill>
              <a:latin typeface="Times New Roman Greek" panose="02020603050405020304" pitchFamily="18" charset="0"/>
            </a:endParaRPr>
          </a:p>
        </p:txBody>
      </p:sp>
    </p:spTree>
    <p:extLst>
      <p:ext uri="{BB962C8B-B14F-4D97-AF65-F5344CB8AC3E}">
        <p14:creationId xmlns:p14="http://schemas.microsoft.com/office/powerpoint/2010/main" val="29921844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1C532-3E34-7F71-AF48-E826C7B97B8C}"/>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283E5E1A-A8A5-3117-CDA1-9A4EB398FD46}"/>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823D39FE-BFF9-FB5D-C12E-BCE554457280}"/>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F3CB337-04DB-F504-18D7-7CBF58A4E25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FFFFDD56-E6BB-6C2F-2BF2-44FFC7E5A7B0}"/>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18</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D5DC2EAC-7340-23DE-C004-7792490E7402}"/>
              </a:ext>
            </a:extLst>
          </p:cNvPr>
          <p:cNvSpPr txBox="1">
            <a:spLocks/>
          </p:cNvSpPr>
          <p:nvPr/>
        </p:nvSpPr>
        <p:spPr>
          <a:xfrm>
            <a:off x="4149680" y="6670790"/>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Control flow</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Arrays</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Type conversions</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068A2FA2-991B-4D03-008E-AAA7199B5D27}"/>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0DA34A08-2A17-40D4-1741-7A788A1BB6F4}"/>
              </a:ext>
            </a:extLst>
          </p:cNvPr>
          <p:cNvSpPr txBox="1">
            <a:spLocks noChangeArrowheads="1"/>
          </p:cNvSpPr>
          <p:nvPr/>
        </p:nvSpPr>
        <p:spPr bwMode="auto">
          <a:xfrm>
            <a:off x="492449" y="914699"/>
            <a:ext cx="11207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80000"/>
              </a:lnSpc>
            </a:pPr>
            <a:r>
              <a:rPr lang="el-GR" altLang="el-GR" b="1" dirty="0">
                <a:solidFill>
                  <a:srgbClr val="F9853D"/>
                </a:solidFill>
                <a:latin typeface="Bahnschrift" panose="020B0502040204020203" pitchFamily="34" charset="0"/>
              </a:rPr>
              <a:t>Μεταβλητή</a:t>
            </a:r>
          </a:p>
          <a:p>
            <a:pPr lvl="1" eaLnBrk="1" hangingPunct="1">
              <a:lnSpc>
                <a:spcPct val="80000"/>
              </a:lnSpc>
            </a:pPr>
            <a:r>
              <a:rPr lang="el-GR" altLang="el-GR" kern="0" dirty="0">
                <a:latin typeface="Times New Roman" panose="02020603050405020304" pitchFamily="18" charset="0"/>
              </a:rPr>
              <a:t>Ορισμός</a:t>
            </a:r>
          </a:p>
          <a:p>
            <a:pPr lvl="1" eaLnBrk="1" hangingPunct="1">
              <a:lnSpc>
                <a:spcPct val="80000"/>
              </a:lnSpc>
            </a:pPr>
            <a:r>
              <a:rPr lang="el-GR" altLang="el-GR" kern="0" dirty="0">
                <a:latin typeface="Times New Roman" panose="02020603050405020304" pitchFamily="18" charset="0"/>
              </a:rPr>
              <a:t>Δήλωση – Κανόνες Δήλωσης (στην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l-GR" altLang="el-GR" b="1" dirty="0">
                <a:solidFill>
                  <a:srgbClr val="F9853D"/>
                </a:solidFill>
                <a:latin typeface="Bahnschrift" panose="020B0502040204020203" pitchFamily="34" charset="0"/>
              </a:rPr>
              <a:t>Τύποι Δεδομένων</a:t>
            </a:r>
          </a:p>
          <a:p>
            <a:pPr lvl="1" eaLnBrk="1" hangingPunct="1">
              <a:lnSpc>
                <a:spcPct val="80000"/>
              </a:lnSpc>
            </a:pPr>
            <a:r>
              <a:rPr lang="el-GR" altLang="el-GR" kern="0" dirty="0">
                <a:latin typeface="Times New Roman" panose="02020603050405020304" pitchFamily="18" charset="0"/>
              </a:rPr>
              <a:t>Τύποι δεδομένων στη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ακεραίου (</a:t>
            </a:r>
            <a:r>
              <a:rPr lang="en-US" altLang="el-GR" b="1" dirty="0">
                <a:solidFill>
                  <a:srgbClr val="F9853D"/>
                </a:solidFill>
                <a:latin typeface="Bahnschrift" panose="020B0502040204020203" pitchFamily="34" charset="0"/>
              </a:rPr>
              <a:t>int</a:t>
            </a:r>
            <a:r>
              <a:rPr lang="el-GR" altLang="el-GR" b="1" dirty="0">
                <a:solidFill>
                  <a:srgbClr val="F9853D"/>
                </a:solidFill>
                <a:latin typeface="Bahnschrift" panose="020B0502040204020203" pitchFamily="34" charset="0"/>
              </a:rPr>
              <a:t>)</a:t>
            </a:r>
            <a:endParaRPr lang="en-US" altLang="el-GR" b="1" dirty="0">
              <a:solidFill>
                <a:srgbClr val="F9853D"/>
              </a:solidFill>
              <a:latin typeface="Bahnschrift" panose="020B0502040204020203" pitchFamily="34" charset="0"/>
            </a:endParaRPr>
          </a:p>
          <a:p>
            <a:pPr eaLnBrk="1" hangingPunct="1">
              <a:lnSpc>
                <a:spcPct val="80000"/>
              </a:lnSpc>
            </a:pPr>
            <a:r>
              <a:rPr lang="en-US" altLang="el-GR" b="1" dirty="0">
                <a:solidFill>
                  <a:srgbClr val="C00000"/>
                </a:solidFill>
                <a:latin typeface="Bahnschrift" panose="020B0502040204020203" pitchFamily="34" charset="0"/>
              </a:rPr>
              <a:t>O </a:t>
            </a:r>
            <a:r>
              <a:rPr lang="el-GR" altLang="el-GR" b="1" dirty="0">
                <a:solidFill>
                  <a:srgbClr val="C00000"/>
                </a:solidFill>
                <a:latin typeface="Bahnschrift" panose="020B0502040204020203" pitchFamily="34" charset="0"/>
              </a:rPr>
              <a:t>τύπος του χαρακτήρα</a:t>
            </a:r>
          </a:p>
          <a:p>
            <a:pPr eaLnBrk="1" hangingPunct="1">
              <a:lnSpc>
                <a:spcPct val="80000"/>
              </a:lnSpc>
            </a:pPr>
            <a:r>
              <a:rPr lang="el-GR" altLang="el-GR" b="1" dirty="0">
                <a:solidFill>
                  <a:srgbClr val="F9853D"/>
                </a:solidFill>
                <a:latin typeface="Bahnschrift" panose="020B0502040204020203" pitchFamily="34" charset="0"/>
              </a:rPr>
              <a:t>Οι τύποι αριθμού κινητής υποδιαστολής </a:t>
            </a:r>
          </a:p>
          <a:p>
            <a:pPr lvl="1" eaLnBrk="1" hangingPunct="1">
              <a:lnSpc>
                <a:spcPct val="80000"/>
              </a:lnSpc>
            </a:pPr>
            <a:r>
              <a:rPr lang="en-US" altLang="el-GR" kern="0" dirty="0">
                <a:latin typeface="Times New Roman" panose="02020603050405020304" pitchFamily="18" charset="0"/>
              </a:rPr>
              <a:t>float</a:t>
            </a:r>
            <a:r>
              <a:rPr lang="el-GR" altLang="el-GR" kern="0" dirty="0">
                <a:latin typeface="Times New Roman" panose="02020603050405020304" pitchFamily="18" charset="0"/>
              </a:rPr>
              <a:t> - </a:t>
            </a:r>
            <a:r>
              <a:rPr lang="en-US" altLang="el-GR" kern="0" dirty="0">
                <a:latin typeface="Times New Roman" panose="02020603050405020304" pitchFamily="18" charset="0"/>
              </a:rPr>
              <a:t>double</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της Συμβολοσειράς</a:t>
            </a:r>
          </a:p>
          <a:p>
            <a:pPr eaLnBrk="1" hangingPunct="1">
              <a:lnSpc>
                <a:spcPct val="80000"/>
              </a:lnSpc>
            </a:pPr>
            <a:r>
              <a:rPr lang="el-GR" altLang="el-GR" b="1" dirty="0">
                <a:solidFill>
                  <a:srgbClr val="F9853D"/>
                </a:solidFill>
                <a:latin typeface="Bahnschrift" panose="020B0502040204020203" pitchFamily="34" charset="0"/>
              </a:rPr>
              <a:t>Σταθερές</a:t>
            </a:r>
          </a:p>
          <a:p>
            <a:pPr lvl="1" eaLnBrk="1" hangingPunct="1">
              <a:lnSpc>
                <a:spcPct val="80000"/>
              </a:lnSpc>
            </a:pPr>
            <a:r>
              <a:rPr lang="el-GR" altLang="el-GR" kern="0" dirty="0">
                <a:latin typeface="Times New Roman" panose="02020603050405020304" pitchFamily="18" charset="0"/>
              </a:rPr>
              <a:t>Σταθερά απαρίθμησης  (</a:t>
            </a:r>
            <a:r>
              <a:rPr lang="en-GB" altLang="el-GR" kern="0" dirty="0" err="1">
                <a:latin typeface="Times New Roman" panose="02020603050405020304" pitchFamily="18" charset="0"/>
              </a:rPr>
              <a:t>enum</a:t>
            </a:r>
            <a:r>
              <a:rPr lang="en-GB" altLang="el-GR" kern="0" dirty="0">
                <a:latin typeface="Times New Roman" panose="02020603050405020304" pitchFamily="18" charset="0"/>
              </a:rPr>
              <a:t>)</a:t>
            </a:r>
            <a:endParaRPr lang="el-GR" altLang="el-GR" kern="0" dirty="0">
              <a:latin typeface="Times New Roman" panose="02020603050405020304" pitchFamily="18" charset="0"/>
            </a:endParaRPr>
          </a:p>
        </p:txBody>
      </p:sp>
    </p:spTree>
    <p:extLst>
      <p:ext uri="{BB962C8B-B14F-4D97-AF65-F5344CB8AC3E}">
        <p14:creationId xmlns:p14="http://schemas.microsoft.com/office/powerpoint/2010/main" val="6872292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0FD77-A690-AC9B-DF78-FE6FCB4A588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1744F29A-8690-0E20-EFD9-419810A9B997}"/>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Χαρακτήρας - </a:t>
            </a:r>
            <a:r>
              <a:rPr lang="en-GB" sz="4000" b="1" dirty="0">
                <a:solidFill>
                  <a:srgbClr val="F9853D"/>
                </a:solidFill>
                <a:latin typeface="Bahnschrift" panose="020B0502040204020203" pitchFamily="34" charset="0"/>
              </a:rPr>
              <a:t>char 		1/3</a:t>
            </a:r>
            <a:endParaRPr lang="el-GR" sz="4000" b="1" dirty="0">
              <a:solidFill>
                <a:srgbClr val="F9853D"/>
              </a:solidFill>
              <a:latin typeface="Bahnschrift" panose="020B0502040204020203" pitchFamily="34" charset="0"/>
            </a:endParaRPr>
          </a:p>
        </p:txBody>
      </p:sp>
      <p:grpSp>
        <p:nvGrpSpPr>
          <p:cNvPr id="4" name="Group 3">
            <a:extLst>
              <a:ext uri="{FF2B5EF4-FFF2-40B4-BE49-F238E27FC236}">
                <a16:creationId xmlns:a16="http://schemas.microsoft.com/office/drawing/2014/main" id="{F237FDEE-788C-0F33-9364-B4BCF8F7E192}"/>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E6D9B10D-D384-D6A8-4BDB-8E6F4B4C8891}"/>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1D085D2D-A561-A7FB-9284-51FDC78EBEE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EF5B9A13-1964-160B-C83B-46B86B17A17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19</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1419F597-3F08-EEBD-1E06-A7AD206178AA}"/>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39B04A8D-9E73-69D8-7687-54F14D252E2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7" name="Rectangle 3">
            <a:extLst>
              <a:ext uri="{FF2B5EF4-FFF2-40B4-BE49-F238E27FC236}">
                <a16:creationId xmlns:a16="http://schemas.microsoft.com/office/drawing/2014/main" id="{2033E7AE-5371-F013-FE79-096BDF99D4BB}"/>
              </a:ext>
            </a:extLst>
          </p:cNvPr>
          <p:cNvSpPr txBox="1">
            <a:spLocks noChangeArrowheads="1"/>
          </p:cNvSpPr>
          <p:nvPr/>
        </p:nvSpPr>
        <p:spPr bwMode="auto">
          <a:xfrm>
            <a:off x="544467" y="1045442"/>
            <a:ext cx="8393055" cy="316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5000"/>
              </a:spcBef>
              <a:spcAft>
                <a:spcPct val="0"/>
              </a:spcAft>
              <a:buClr>
                <a:srgbClr val="3333CC"/>
              </a:buClr>
              <a:buSzPct val="60000"/>
              <a:buFont typeface="Wingdings" panose="05000000000000000000" pitchFamily="2" charset="2"/>
              <a:buChar char="n"/>
              <a:tabLst/>
              <a:defRPr/>
            </a:pPr>
            <a:r>
              <a:rPr kumimoji="0" lang="el-GR"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κάθε χαρακτήρας έχει ένα μοναδικό αριθμητικό κωδικό</a:t>
            </a:r>
          </a:p>
          <a:p>
            <a:pPr marL="342900" marR="0" lvl="0" indent="-342900" algn="l" defTabSz="914400" rtl="0" eaLnBrk="1" fontAlgn="base" latinLnBrk="0" hangingPunct="1">
              <a:lnSpc>
                <a:spcPct val="95000"/>
              </a:lnSpc>
              <a:spcBef>
                <a:spcPct val="0"/>
              </a:spcBef>
              <a:spcAft>
                <a:spcPct val="0"/>
              </a:spcAft>
              <a:buClr>
                <a:srgbClr val="3333CC"/>
              </a:buClr>
              <a:buSzPct val="60000"/>
              <a:buFont typeface="Wingdings" panose="05000000000000000000" pitchFamily="2" charset="2"/>
              <a:buChar char="n"/>
              <a:tabLst/>
              <a:defRPr/>
            </a:pPr>
            <a:r>
              <a:rPr kumimoji="0" lang="en-GB" altLang="el-GR" sz="3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ΑSCII</a:t>
            </a:r>
            <a:r>
              <a:rPr kumimoji="0" lang="en-GB"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code </a:t>
            </a:r>
          </a:p>
          <a:p>
            <a:pPr marL="742950" marR="0" lvl="1" indent="-285750" algn="l" defTabSz="914400" rtl="0" eaLnBrk="1" fontAlgn="base" latinLnBrk="0" hangingPunct="1">
              <a:lnSpc>
                <a:spcPct val="95000"/>
              </a:lnSpc>
              <a:spcBef>
                <a:spcPct val="0"/>
              </a:spcBef>
              <a:spcAft>
                <a:spcPct val="0"/>
              </a:spcAft>
              <a:buClr>
                <a:srgbClr val="FF0000"/>
              </a:buClr>
              <a:buSzPct val="55000"/>
              <a:buFont typeface="Wingdings" panose="05000000000000000000" pitchFamily="2" charset="2"/>
              <a:buNone/>
              <a:tabLst/>
              <a:defRPr/>
            </a:pPr>
            <a:r>
              <a:rPr kumimoji="0" lang="en-GB" altLang="el-GR"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mn-cs"/>
              </a:rPr>
              <a:t>American Standard Code for Information Interchange</a:t>
            </a:r>
            <a:endParaRPr kumimoji="0" lang="en-GB" altLang="el-G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95000"/>
              </a:lnSpc>
              <a:spcBef>
                <a:spcPct val="0"/>
              </a:spcBef>
              <a:spcAft>
                <a:spcPct val="0"/>
              </a:spcAft>
              <a:buClr>
                <a:srgbClr val="3333CC"/>
              </a:buClr>
              <a:buSzPct val="60000"/>
              <a:buFont typeface="Wingdings" panose="05000000000000000000" pitchFamily="2" charset="2"/>
              <a:buChar char="n"/>
              <a:tabLst/>
              <a:defRPr/>
            </a:pPr>
            <a:r>
              <a:rPr kumimoji="0" lang="en-GB" altLang="el-GR" sz="3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EBCDIC</a:t>
            </a:r>
            <a:r>
              <a:rPr kumimoji="0" lang="en-GB"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code  </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(ΙΒΜ large computers)</a:t>
            </a:r>
            <a:endParaRPr kumimoji="0" lang="en-GB"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95000"/>
              </a:lnSpc>
              <a:spcBef>
                <a:spcPct val="0"/>
              </a:spcBef>
              <a:spcAft>
                <a:spcPct val="0"/>
              </a:spcAft>
              <a:buClr>
                <a:srgbClr val="FF0000"/>
              </a:buClr>
              <a:buSzPct val="55000"/>
              <a:buFont typeface="Wingdings" panose="05000000000000000000" pitchFamily="2" charset="2"/>
              <a:buNone/>
              <a:tabLst/>
              <a:defRPr/>
            </a:pPr>
            <a:r>
              <a:rPr kumimoji="0" lang="en-GB" altLang="el-GR"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mn-cs"/>
              </a:rPr>
              <a:t>Extended Binary-Coded Decimal Interchange Code</a:t>
            </a:r>
          </a:p>
          <a:p>
            <a:pPr marL="342900" marR="0" lvl="0" indent="-342900" algn="l" defTabSz="914400" rtl="0" eaLnBrk="1" fontAlgn="base" latinLnBrk="0" hangingPunct="1">
              <a:lnSpc>
                <a:spcPct val="95000"/>
              </a:lnSpc>
              <a:spcBef>
                <a:spcPct val="0"/>
              </a:spcBef>
              <a:spcAft>
                <a:spcPct val="0"/>
              </a:spcAft>
              <a:buClr>
                <a:srgbClr val="3333CC"/>
              </a:buClr>
              <a:buSzPct val="60000"/>
              <a:buFont typeface="Wingdings" panose="05000000000000000000" pitchFamily="2" charset="2"/>
              <a:buChar char="n"/>
              <a:tabLst/>
              <a:defRPr/>
            </a:pPr>
            <a:r>
              <a:rPr kumimoji="0" lang="en-GB"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char </a:t>
            </a:r>
            <a:r>
              <a:rPr kumimoji="0" lang="en-GB" altLang="el-GR" sz="36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ch</a:t>
            </a:r>
            <a:r>
              <a:rPr kumimoji="0" lang="en-GB"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 ‘A’; 	char </a:t>
            </a:r>
            <a:r>
              <a:rPr kumimoji="0" lang="en-GB" altLang="el-GR" sz="36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ch</a:t>
            </a:r>
            <a:r>
              <a:rPr kumimoji="0" lang="en-GB"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 65;</a:t>
            </a:r>
          </a:p>
        </p:txBody>
      </p:sp>
      <p:sp>
        <p:nvSpPr>
          <p:cNvPr id="9" name="Speech Bubble: Rectangle with Corners Rounded 8">
            <a:extLst>
              <a:ext uri="{FF2B5EF4-FFF2-40B4-BE49-F238E27FC236}">
                <a16:creationId xmlns:a16="http://schemas.microsoft.com/office/drawing/2014/main" id="{62E934E3-8A80-27D7-E2D7-8A83BA997834}"/>
              </a:ext>
            </a:extLst>
          </p:cNvPr>
          <p:cNvSpPr/>
          <p:nvPr/>
        </p:nvSpPr>
        <p:spPr bwMode="auto">
          <a:xfrm>
            <a:off x="9614739" y="1053094"/>
            <a:ext cx="2032794" cy="2760345"/>
          </a:xfrm>
          <a:prstGeom prst="wedgeRoundRectCallout">
            <a:avLst>
              <a:gd name="adj1" fmla="val 32830"/>
              <a:gd name="adj2" fmla="val 96095"/>
              <a:gd name="adj3" fmla="val 16667"/>
            </a:avLst>
          </a:prstGeom>
          <a:solidFill>
            <a:srgbClr val="FFFF00"/>
          </a:solidFill>
          <a:ln w="9525" cap="flat" cmpd="sng" algn="ctr">
            <a:solidFill>
              <a:schemeClr val="bg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1800" b="0" i="0" u="none" strike="noStrike" kern="0" cap="none" spc="0" normalizeH="0" baseline="0" noProof="0" dirty="0">
                <a:ln>
                  <a:noFill/>
                </a:ln>
                <a:solidFill>
                  <a:srgbClr val="000000"/>
                </a:solidFill>
                <a:effectLst/>
                <a:uLnTx/>
                <a:uFillTx/>
                <a:latin typeface="Tahoma" panose="020B0604030504040204" pitchFamily="34" charset="0"/>
              </a:rPr>
              <a:t>Γράψτε ένα πρόγραμμα για την εμφάνιση των χαρακτήρων </a:t>
            </a:r>
            <a:r>
              <a:rPr kumimoji="0" lang="en-GB" sz="1800" b="0" i="0" u="none" strike="noStrike" kern="0" cap="none" spc="0" normalizeH="0" baseline="0" noProof="0" dirty="0">
                <a:ln>
                  <a:noFill/>
                </a:ln>
                <a:solidFill>
                  <a:srgbClr val="000000"/>
                </a:solidFill>
                <a:effectLst/>
                <a:uLnTx/>
                <a:uFillTx/>
                <a:latin typeface="Tahoma" panose="020B0604030504040204" pitchFamily="34" charset="0"/>
              </a:rPr>
              <a:t>a-z </a:t>
            </a:r>
            <a:r>
              <a:rPr kumimoji="0" lang="el-GR" sz="1800" b="0" i="0" u="none" strike="noStrike" kern="0" cap="none" spc="0" normalizeH="0" baseline="0" noProof="0" dirty="0">
                <a:ln>
                  <a:noFill/>
                </a:ln>
                <a:solidFill>
                  <a:srgbClr val="000000"/>
                </a:solidFill>
                <a:effectLst/>
                <a:uLnTx/>
                <a:uFillTx/>
                <a:latin typeface="Tahoma" panose="020B0604030504040204" pitchFamily="34" charset="0"/>
              </a:rPr>
              <a:t>και των αντίστοιχων </a:t>
            </a:r>
            <a:r>
              <a:rPr kumimoji="0" lang="en-GB" sz="1800" b="0" i="0" u="none" strike="noStrike" kern="0" cap="none" spc="0" normalizeH="0" baseline="0" noProof="0" dirty="0">
                <a:ln>
                  <a:noFill/>
                </a:ln>
                <a:solidFill>
                  <a:srgbClr val="000000"/>
                </a:solidFill>
                <a:effectLst/>
                <a:uLnTx/>
                <a:uFillTx/>
                <a:latin typeface="Tahoma" panose="020B0604030504040204" pitchFamily="34" charset="0"/>
              </a:rPr>
              <a:t>ascii </a:t>
            </a:r>
            <a:r>
              <a:rPr kumimoji="0" lang="el-GR" sz="1800" b="0" i="0" u="none" strike="noStrike" kern="0" cap="none" spc="0" normalizeH="0" baseline="0" noProof="0" dirty="0">
                <a:ln>
                  <a:noFill/>
                </a:ln>
                <a:solidFill>
                  <a:srgbClr val="000000"/>
                </a:solidFill>
                <a:effectLst/>
                <a:uLnTx/>
                <a:uFillTx/>
                <a:latin typeface="Tahoma" panose="020B0604030504040204" pitchFamily="34" charset="0"/>
              </a:rPr>
              <a:t>κωδικών τους</a:t>
            </a:r>
            <a:endParaRPr kumimoji="0" lang="en-GB"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12" name="TextBox 11">
            <a:extLst>
              <a:ext uri="{FF2B5EF4-FFF2-40B4-BE49-F238E27FC236}">
                <a16:creationId xmlns:a16="http://schemas.microsoft.com/office/drawing/2014/main" id="{D4E6729F-D52E-2B58-C718-103B923AF845}"/>
              </a:ext>
            </a:extLst>
          </p:cNvPr>
          <p:cNvSpPr txBox="1"/>
          <p:nvPr/>
        </p:nvSpPr>
        <p:spPr>
          <a:xfrm>
            <a:off x="382235" y="4816379"/>
            <a:ext cx="11265297" cy="1557349"/>
          </a:xfrm>
          <a:prstGeom prst="rect">
            <a:avLst/>
          </a:prstGeom>
          <a:solidFill>
            <a:schemeClr val="accent3">
              <a:lumMod val="60000"/>
              <a:lumOff val="40000"/>
            </a:schemeClr>
          </a:solidFill>
          <a:ln w="76200">
            <a:solidFill>
              <a:schemeClr val="bg1"/>
            </a:solidFill>
          </a:ln>
        </p:spPr>
        <p:txBody>
          <a:bodyPr wrap="square" rtlCol="0">
            <a:spAutoFit/>
          </a:bodyPr>
          <a:lstStyle/>
          <a:p>
            <a:pPr marL="0" lvl="1" fontAlgn="base">
              <a:lnSpc>
                <a:spcPct val="80000"/>
              </a:lnSpc>
              <a:spcBef>
                <a:spcPct val="5000"/>
              </a:spcBef>
              <a:spcAft>
                <a:spcPct val="0"/>
              </a:spcAft>
              <a:buClr>
                <a:srgbClr val="FF0000"/>
              </a:buClr>
              <a:buSzPct val="55000"/>
              <a:defRPr/>
            </a:pPr>
            <a:r>
              <a:rPr lang="en-GB" altLang="el-GR" sz="2800" kern="0" dirty="0">
                <a:solidFill>
                  <a:srgbClr val="000000"/>
                </a:solidFill>
                <a:latin typeface="Courier New" panose="02070309020205020404" pitchFamily="49" charset="0"/>
              </a:rPr>
              <a:t>char </a:t>
            </a:r>
            <a:r>
              <a:rPr lang="en-GB" altLang="el-GR" sz="2800" kern="0" dirty="0" err="1">
                <a:solidFill>
                  <a:srgbClr val="000000"/>
                </a:solidFill>
                <a:latin typeface="Courier New" panose="02070309020205020404" pitchFamily="49" charset="0"/>
              </a:rPr>
              <a:t>ch</a:t>
            </a:r>
            <a:r>
              <a:rPr lang="en-GB" altLang="el-GR" sz="2800" kern="0" dirty="0">
                <a:solidFill>
                  <a:srgbClr val="000000"/>
                </a:solidFill>
                <a:latin typeface="Courier New" panose="02070309020205020404" pitchFamily="49" charset="0"/>
              </a:rPr>
              <a:t>;</a:t>
            </a:r>
          </a:p>
          <a:p>
            <a:pPr marL="0" lvl="1" fontAlgn="base">
              <a:lnSpc>
                <a:spcPct val="80000"/>
              </a:lnSpc>
              <a:spcBef>
                <a:spcPct val="5000"/>
              </a:spcBef>
              <a:spcAft>
                <a:spcPct val="0"/>
              </a:spcAft>
              <a:buClr>
                <a:srgbClr val="FF0000"/>
              </a:buClr>
              <a:buSzPct val="55000"/>
              <a:defRPr/>
            </a:pPr>
            <a:r>
              <a:rPr lang="en-GB" altLang="el-GR" sz="2800" kern="0" dirty="0" err="1">
                <a:solidFill>
                  <a:srgbClr val="000000"/>
                </a:solidFill>
                <a:latin typeface="Courier New" panose="02070309020205020404" pitchFamily="49" charset="0"/>
              </a:rPr>
              <a:t>printf</a:t>
            </a:r>
            <a:r>
              <a:rPr lang="en-GB" altLang="el-GR" sz="2800" kern="0" dirty="0">
                <a:solidFill>
                  <a:srgbClr val="000000"/>
                </a:solidFill>
                <a:latin typeface="Courier New" panose="02070309020205020404" pitchFamily="49" charset="0"/>
              </a:rPr>
              <a:t>(“Enter a character:”)</a:t>
            </a:r>
          </a:p>
          <a:p>
            <a:pPr marL="0" lvl="1" fontAlgn="base">
              <a:lnSpc>
                <a:spcPct val="80000"/>
              </a:lnSpc>
              <a:spcBef>
                <a:spcPct val="5000"/>
              </a:spcBef>
              <a:spcAft>
                <a:spcPct val="0"/>
              </a:spcAft>
              <a:buClr>
                <a:srgbClr val="FF0000"/>
              </a:buClr>
              <a:buSzPct val="55000"/>
              <a:defRPr/>
            </a:pPr>
            <a:r>
              <a:rPr lang="en-GB" altLang="el-GR" sz="2800" kern="0" dirty="0" err="1">
                <a:solidFill>
                  <a:srgbClr val="000000"/>
                </a:solidFill>
                <a:latin typeface="Courier New" panose="02070309020205020404" pitchFamily="49" charset="0"/>
              </a:rPr>
              <a:t>scnaf</a:t>
            </a:r>
            <a:r>
              <a:rPr lang="en-GB" altLang="el-GR" sz="2800" kern="0" dirty="0">
                <a:solidFill>
                  <a:srgbClr val="000000"/>
                </a:solidFill>
                <a:latin typeface="Courier New" panose="02070309020205020404" pitchFamily="49" charset="0"/>
              </a:rPr>
              <a:t>(“%</a:t>
            </a:r>
            <a:r>
              <a:rPr lang="en-GB" altLang="el-GR" sz="2800" b="1" kern="0" dirty="0">
                <a:solidFill>
                  <a:srgbClr val="800000"/>
                </a:solidFill>
                <a:latin typeface="Courier New" panose="02070309020205020404" pitchFamily="49" charset="0"/>
              </a:rPr>
              <a:t>c</a:t>
            </a:r>
            <a:r>
              <a:rPr lang="en-GB" altLang="el-GR" sz="2800" kern="0" dirty="0">
                <a:solidFill>
                  <a:srgbClr val="000000"/>
                </a:solidFill>
                <a:latin typeface="Courier New" panose="02070309020205020404" pitchFamily="49" charset="0"/>
              </a:rPr>
              <a:t>”,&amp;</a:t>
            </a:r>
            <a:r>
              <a:rPr lang="en-GB" altLang="el-GR" sz="2800" kern="0" dirty="0" err="1">
                <a:solidFill>
                  <a:srgbClr val="000000"/>
                </a:solidFill>
                <a:latin typeface="Courier New" panose="02070309020205020404" pitchFamily="49" charset="0"/>
              </a:rPr>
              <a:t>ch</a:t>
            </a:r>
            <a:r>
              <a:rPr lang="en-GB" altLang="el-GR" sz="2800" kern="0" dirty="0">
                <a:solidFill>
                  <a:srgbClr val="000000"/>
                </a:solidFill>
                <a:latin typeface="Courier New" panose="02070309020205020404" pitchFamily="49" charset="0"/>
              </a:rPr>
              <a:t>);</a:t>
            </a:r>
          </a:p>
          <a:p>
            <a:pPr marL="0" lvl="1" fontAlgn="base">
              <a:lnSpc>
                <a:spcPct val="80000"/>
              </a:lnSpc>
              <a:spcBef>
                <a:spcPct val="5000"/>
              </a:spcBef>
              <a:spcAft>
                <a:spcPct val="0"/>
              </a:spcAft>
              <a:buClr>
                <a:srgbClr val="FF0000"/>
              </a:buClr>
              <a:buSzPct val="55000"/>
              <a:defRPr/>
            </a:pPr>
            <a:r>
              <a:rPr lang="en-GB" altLang="el-GR" sz="2800" kern="0" dirty="0" err="1">
                <a:solidFill>
                  <a:srgbClr val="000000"/>
                </a:solidFill>
                <a:latin typeface="Courier New" panose="02070309020205020404" pitchFamily="49" charset="0"/>
              </a:rPr>
              <a:t>printf</a:t>
            </a:r>
            <a:r>
              <a:rPr lang="en-GB" altLang="el-GR" sz="2800" kern="0" dirty="0">
                <a:solidFill>
                  <a:srgbClr val="000000"/>
                </a:solidFill>
                <a:latin typeface="Courier New" panose="02070309020205020404" pitchFamily="49" charset="0"/>
              </a:rPr>
              <a:t>(“Its numeric code value is : %d\n”,</a:t>
            </a:r>
            <a:r>
              <a:rPr lang="en-GB" altLang="el-GR" sz="2800" kern="0" dirty="0" err="1">
                <a:solidFill>
                  <a:srgbClr val="000000"/>
                </a:solidFill>
                <a:latin typeface="Courier New" panose="02070309020205020404" pitchFamily="49" charset="0"/>
              </a:rPr>
              <a:t>ch</a:t>
            </a:r>
            <a:r>
              <a:rPr lang="en-GB" altLang="el-GR" sz="2800" kern="0" dirty="0">
                <a:solidFill>
                  <a:srgbClr val="000000"/>
                </a:solidFill>
                <a:latin typeface="Courier New" panose="02070309020205020404" pitchFamily="49" charset="0"/>
              </a:rPr>
              <a:t>)</a:t>
            </a:r>
            <a:endParaRPr lang="en-GB" altLang="el-GR" sz="2400" kern="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11504882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220F0-CDB0-3D72-D50B-24D3E070B16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5C0611BC-1FDC-4C46-5F33-7B3BE92DB4D0}"/>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Χαρακτήρας - </a:t>
            </a:r>
            <a:r>
              <a:rPr lang="en-GB" sz="4000" b="1" dirty="0">
                <a:solidFill>
                  <a:srgbClr val="F9853D"/>
                </a:solidFill>
                <a:latin typeface="Bahnschrift" panose="020B0502040204020203" pitchFamily="34" charset="0"/>
              </a:rPr>
              <a:t>char 			2/3</a:t>
            </a:r>
            <a:endParaRPr lang="el-GR" sz="4000" b="1" dirty="0">
              <a:solidFill>
                <a:srgbClr val="F9853D"/>
              </a:solidFill>
              <a:latin typeface="Bahnschrift" panose="020B0502040204020203" pitchFamily="34" charset="0"/>
            </a:endParaRPr>
          </a:p>
        </p:txBody>
      </p:sp>
      <p:grpSp>
        <p:nvGrpSpPr>
          <p:cNvPr id="4" name="Group 3">
            <a:extLst>
              <a:ext uri="{FF2B5EF4-FFF2-40B4-BE49-F238E27FC236}">
                <a16:creationId xmlns:a16="http://schemas.microsoft.com/office/drawing/2014/main" id="{6432FF26-0B94-92D9-7BCF-182A3B0CF038}"/>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28909E4C-8FE2-9D4B-2C8D-47707C8F2CBE}"/>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B50D7FDB-9373-C6F6-B705-3F93348AF3A6}"/>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31A88C1B-DF31-58FD-5995-3C28232EABD8}"/>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20</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0C6C910E-15A6-7901-2E62-4A7519A766C5}"/>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E4F50133-34CC-F771-30B3-869614386CE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06C0C619-CA09-B039-0189-8941C5B1D63F}"/>
              </a:ext>
            </a:extLst>
          </p:cNvPr>
          <p:cNvSpPr txBox="1">
            <a:spLocks noChangeArrowheads="1"/>
          </p:cNvSpPr>
          <p:nvPr/>
        </p:nvSpPr>
        <p:spPr bwMode="auto">
          <a:xfrm>
            <a:off x="442963" y="1803400"/>
            <a:ext cx="8361824" cy="4387680"/>
          </a:xfrm>
          <a:prstGeom prst="rect">
            <a:avLst/>
          </a:prstGeom>
          <a:solidFill>
            <a:schemeClr val="accent3">
              <a:lumMod val="40000"/>
              <a:lumOff val="60000"/>
            </a:schemeClr>
          </a:solidFill>
          <a:ln>
            <a:noFill/>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5000"/>
              </a:lnSpc>
              <a:spcBef>
                <a:spcPct val="20000"/>
              </a:spcBef>
              <a:spcAft>
                <a:spcPct val="0"/>
              </a:spcAft>
              <a:buClr>
                <a:srgbClr val="3333CC"/>
              </a:buClr>
              <a:buSzPct val="60000"/>
              <a:buFont typeface="Wingdings" panose="05000000000000000000" pitchFamily="2" charset="2"/>
              <a:buNone/>
              <a:tabLst/>
              <a:defRPr/>
            </a:pPr>
            <a:r>
              <a:rPr kumimoji="0" lang="en-GB" altLang="el-GR" b="1"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char </a:t>
            </a:r>
            <a:r>
              <a:rPr kumimoji="0" lang="en-GB" altLang="el-GR" b="1" i="0" u="none" strike="noStrike" kern="1200" cap="none" spc="0" normalizeH="0" baseline="0" noProof="0" dirty="0" err="1">
                <a:ln>
                  <a:noFill/>
                </a:ln>
                <a:solidFill>
                  <a:srgbClr val="FF0000"/>
                </a:solidFill>
                <a:effectLst/>
                <a:uLnTx/>
                <a:uFillTx/>
                <a:latin typeface="Courier New" panose="02070309020205020404" pitchFamily="49" charset="0"/>
                <a:ea typeface="+mn-ea"/>
                <a:cs typeface="+mn-cs"/>
              </a:rPr>
              <a:t>ch</a:t>
            </a:r>
            <a:r>
              <a:rPr kumimoji="0" lang="en-GB" altLang="el-GR" b="1"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 = ‘A’</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t>
            </a:r>
            <a:r>
              <a:rPr kumimoji="0" lang="en-GB"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GB"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GB" altLang="el-GR" sz="28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o.k</a:t>
            </a:r>
            <a:r>
              <a:rPr kumimoji="0" lang="en-GB"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l-GR"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914400" rtl="0" eaLnBrk="1" fontAlgn="base" latinLnBrk="0" hangingPunct="1">
              <a:lnSpc>
                <a:spcPct val="85000"/>
              </a:lnSpc>
              <a:spcBef>
                <a:spcPct val="20000"/>
              </a:spcBef>
              <a:spcAft>
                <a:spcPct val="0"/>
              </a:spcAft>
              <a:buClr>
                <a:srgbClr val="3333CC"/>
              </a:buClr>
              <a:buSzPct val="60000"/>
              <a:buFont typeface="Wingdings" panose="05000000000000000000" pitchFamily="2" charset="2"/>
              <a:buNone/>
              <a:tabLst/>
              <a:defRPr/>
            </a:pPr>
            <a:endParaRPr kumimoji="0" lang="en-GB"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914400" rtl="0" eaLnBrk="1" fontAlgn="base" latinLnBrk="0" hangingPunct="1">
              <a:lnSpc>
                <a:spcPct val="85000"/>
              </a:lnSpc>
              <a:spcBef>
                <a:spcPct val="20000"/>
              </a:spcBef>
              <a:spcAft>
                <a:spcPct val="0"/>
              </a:spcAft>
              <a:buClr>
                <a:srgbClr val="3333CC"/>
              </a:buClr>
              <a:buSzPct val="60000"/>
              <a:buFont typeface="Wingdings" panose="05000000000000000000" pitchFamily="2" charset="2"/>
              <a:buNone/>
              <a:tabLst/>
              <a:defRPr/>
            </a:pPr>
            <a:r>
              <a:rPr kumimoji="0" lang="en-GB" altLang="el-GR" b="1"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ch</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 “A”;</a:t>
            </a:r>
            <a:r>
              <a:rPr kumimoji="0" lang="en-GB"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l-GR"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 </a:t>
            </a:r>
            <a:r>
              <a:rPr kumimoji="0" lang="el-GR" altLang="el-GR" sz="2800" b="1"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λάθος</a:t>
            </a:r>
            <a:r>
              <a:rPr kumimoji="0" lang="el-GR"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GB"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914400" rtl="0" eaLnBrk="1" fontAlgn="base" latinLnBrk="0" hangingPunct="1">
              <a:lnSpc>
                <a:spcPct val="85000"/>
              </a:lnSpc>
              <a:spcBef>
                <a:spcPct val="20000"/>
              </a:spcBef>
              <a:spcAft>
                <a:spcPct val="0"/>
              </a:spcAft>
              <a:buClr>
                <a:srgbClr val="3333CC"/>
              </a:buClr>
              <a:buSzPct val="60000"/>
              <a:buFont typeface="Wingdings" panose="05000000000000000000" pitchFamily="2" charset="2"/>
              <a:buNone/>
              <a:tabLst/>
              <a:defRPr/>
            </a:pPr>
            <a:endParaRPr kumimoji="0" lang="el-GR"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914400" rtl="0" eaLnBrk="1" fontAlgn="base" latinLnBrk="0" hangingPunct="1">
              <a:lnSpc>
                <a:spcPct val="85000"/>
              </a:lnSpc>
              <a:spcBef>
                <a:spcPct val="20000"/>
              </a:spcBef>
              <a:spcAft>
                <a:spcPct val="0"/>
              </a:spcAft>
              <a:buClr>
                <a:srgbClr val="3333CC"/>
              </a:buClr>
              <a:buSzPct val="60000"/>
              <a:buFont typeface="Wingdings" panose="05000000000000000000" pitchFamily="2" charset="2"/>
              <a:buNone/>
              <a:tabLst/>
              <a:defRPr/>
            </a:pPr>
            <a:r>
              <a:rPr kumimoji="0" lang="en-GB" altLang="el-GR" b="1"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ch</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 ‘\65’;	</a:t>
            </a:r>
            <a:r>
              <a:rPr kumimoji="0" lang="en-GB"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Not portable */</a:t>
            </a:r>
          </a:p>
          <a:p>
            <a:pPr marL="342900" marR="0" lvl="0" indent="-342900" algn="l" defTabSz="914400" rtl="0" eaLnBrk="1" fontAlgn="base" latinLnBrk="0" hangingPunct="1">
              <a:lnSpc>
                <a:spcPct val="85000"/>
              </a:lnSpc>
              <a:spcBef>
                <a:spcPct val="20000"/>
              </a:spcBef>
              <a:spcAft>
                <a:spcPct val="0"/>
              </a:spcAft>
              <a:buClr>
                <a:srgbClr val="3333CC"/>
              </a:buClr>
              <a:buSzPct val="60000"/>
              <a:buFont typeface="Wingdings" panose="05000000000000000000" pitchFamily="2" charset="2"/>
              <a:buNone/>
              <a:tabLst/>
              <a:defRPr/>
            </a:pPr>
            <a:endParaRPr kumimoji="0" lang="el-GR"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914400" rtl="0" eaLnBrk="1" fontAlgn="base" latinLnBrk="0" hangingPunct="1">
              <a:lnSpc>
                <a:spcPct val="85000"/>
              </a:lnSpc>
              <a:spcBef>
                <a:spcPct val="20000"/>
              </a:spcBef>
              <a:spcAft>
                <a:spcPct val="0"/>
              </a:spcAft>
              <a:buClr>
                <a:srgbClr val="3333CC"/>
              </a:buClr>
              <a:buSzPct val="60000"/>
              <a:buFont typeface="Wingdings" panose="05000000000000000000" pitchFamily="2" charset="2"/>
              <a:buNone/>
              <a:tabLst/>
              <a:defRPr/>
            </a:pPr>
            <a:r>
              <a:rPr kumimoji="0" lang="en-GB" altLang="el-GR" b="1"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ch</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 65;</a:t>
            </a:r>
            <a:r>
              <a:rPr kumimoji="0" lang="en-GB"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 Not portable */</a:t>
            </a:r>
          </a:p>
          <a:p>
            <a:pPr marL="342900" marR="0" lvl="0" indent="-342900" algn="l" defTabSz="914400" rtl="0" eaLnBrk="1" fontAlgn="base" latinLnBrk="0" hangingPunct="1">
              <a:lnSpc>
                <a:spcPct val="85000"/>
              </a:lnSpc>
              <a:spcBef>
                <a:spcPct val="20000"/>
              </a:spcBef>
              <a:spcAft>
                <a:spcPct val="0"/>
              </a:spcAft>
              <a:buClr>
                <a:srgbClr val="3333CC"/>
              </a:buClr>
              <a:buSzPct val="60000"/>
              <a:buFont typeface="Wingdings" panose="05000000000000000000" pitchFamily="2" charset="2"/>
              <a:buNone/>
              <a:tabLst/>
              <a:defRPr/>
            </a:pPr>
            <a:endParaRPr kumimoji="0" lang="el-GR"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914400" rtl="0" eaLnBrk="1" fontAlgn="base" latinLnBrk="0" hangingPunct="1">
              <a:lnSpc>
                <a:spcPct val="85000"/>
              </a:lnSpc>
              <a:spcBef>
                <a:spcPct val="20000"/>
              </a:spcBef>
              <a:spcAft>
                <a:spcPct val="0"/>
              </a:spcAft>
              <a:buClr>
                <a:srgbClr val="3333CC"/>
              </a:buClr>
              <a:buSzPct val="60000"/>
              <a:buFont typeface="Wingdings" panose="05000000000000000000" pitchFamily="2" charset="2"/>
              <a:buNone/>
              <a:tabLst/>
              <a:defRPr/>
            </a:pPr>
            <a:r>
              <a:rPr kumimoji="0" lang="en-GB" altLang="el-GR" b="1"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ch</a:t>
            </a:r>
            <a:r>
              <a:rPr kumimoji="0" lang="en-GB" altLang="el-GR"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 A;	</a:t>
            </a:r>
            <a:r>
              <a:rPr kumimoji="0" lang="en-GB"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η Α </a:t>
            </a:r>
            <a:r>
              <a:rPr kumimoji="0" lang="el-GR"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θεωρείται μεταβλητή</a:t>
            </a:r>
            <a:r>
              <a:rPr kumimoji="0" lang="en-GB"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n-GB" altLang="el-GR" sz="2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
        <p:nvSpPr>
          <p:cNvPr id="7" name="Rectangle 4">
            <a:extLst>
              <a:ext uri="{FF2B5EF4-FFF2-40B4-BE49-F238E27FC236}">
                <a16:creationId xmlns:a16="http://schemas.microsoft.com/office/drawing/2014/main" id="{A479FC5E-4D34-2CC0-86ED-FBDEF6CB1713}"/>
              </a:ext>
            </a:extLst>
          </p:cNvPr>
          <p:cNvSpPr>
            <a:spLocks noChangeArrowheads="1"/>
          </p:cNvSpPr>
          <p:nvPr/>
        </p:nvSpPr>
        <p:spPr bwMode="auto">
          <a:xfrm>
            <a:off x="9856737" y="1968499"/>
            <a:ext cx="1892300" cy="2500261"/>
          </a:xfrm>
          <a:prstGeom prst="rect">
            <a:avLst/>
          </a:prstGeom>
          <a:solidFill>
            <a:srgbClr val="92D050"/>
          </a:solidFill>
          <a:ln w="12700">
            <a:solidFill>
              <a:schemeClr val="bg1"/>
            </a:solidFill>
            <a:miter lim="800000"/>
            <a:headEnd/>
            <a:tailEnd/>
          </a:ln>
          <a:effectLst/>
        </p:spPr>
        <p:txBody>
          <a:bodyPr wrap="none" anchor="ct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GB" altLang="el-GR" sz="2800" b="0" i="0" u="none" strike="noStrike" kern="0" cap="none" spc="0" normalizeH="0" baseline="0" noProof="0">
                <a:ln>
                  <a:noFill/>
                </a:ln>
                <a:solidFill>
                  <a:srgbClr val="000000"/>
                </a:solidFill>
                <a:effectLst/>
                <a:uLnTx/>
                <a:uFillTx/>
                <a:latin typeface="HellasTimes" charset="0"/>
              </a:rPr>
              <a:t>ASCII codes</a:t>
            </a:r>
          </a:p>
          <a:p>
            <a:pPr marL="0" marR="0" lvl="0" indent="0" algn="ctr" defTabSz="914400" eaLnBrk="0" fontAlgn="base" latinLnBrk="0" hangingPunct="0">
              <a:lnSpc>
                <a:spcPct val="80000"/>
              </a:lnSpc>
              <a:spcBef>
                <a:spcPct val="20000"/>
              </a:spcBef>
              <a:spcAft>
                <a:spcPct val="0"/>
              </a:spcAft>
              <a:buClrTx/>
              <a:buSzTx/>
              <a:buFontTx/>
              <a:buNone/>
              <a:tabLst/>
              <a:defRPr/>
            </a:pPr>
            <a:r>
              <a:rPr kumimoji="0" lang="en-GB" altLang="el-GR" sz="2800" b="0" i="0" u="none" strike="noStrike" kern="0" cap="none" spc="0" normalizeH="0" baseline="0" noProof="0">
                <a:ln>
                  <a:noFill/>
                </a:ln>
                <a:solidFill>
                  <a:srgbClr val="000000"/>
                </a:solidFill>
                <a:effectLst/>
                <a:uLnTx/>
                <a:uFillTx/>
                <a:latin typeface="HellasTimes" charset="0"/>
              </a:rPr>
              <a:t>A -&gt; 65</a:t>
            </a:r>
          </a:p>
          <a:p>
            <a:pPr marL="0" marR="0" lvl="0" indent="0" algn="ctr" defTabSz="914400" eaLnBrk="0" fontAlgn="base" latinLnBrk="0" hangingPunct="0">
              <a:lnSpc>
                <a:spcPct val="80000"/>
              </a:lnSpc>
              <a:spcBef>
                <a:spcPct val="20000"/>
              </a:spcBef>
              <a:spcAft>
                <a:spcPct val="0"/>
              </a:spcAft>
              <a:buClrTx/>
              <a:buSzTx/>
              <a:buFontTx/>
              <a:buNone/>
              <a:tabLst/>
              <a:defRPr/>
            </a:pPr>
            <a:r>
              <a:rPr kumimoji="0" lang="en-GB" altLang="el-GR" sz="2800" b="0" i="0" u="none" strike="noStrike" kern="0" cap="none" spc="0" normalizeH="0" baseline="0" noProof="0">
                <a:ln>
                  <a:noFill/>
                </a:ln>
                <a:solidFill>
                  <a:srgbClr val="000000"/>
                </a:solidFill>
                <a:effectLst/>
                <a:uLnTx/>
                <a:uFillTx/>
                <a:latin typeface="HellasTimes" charset="0"/>
              </a:rPr>
              <a:t>Z -&gt; 90</a:t>
            </a:r>
          </a:p>
          <a:p>
            <a:pPr marL="0" marR="0" lvl="0" indent="0" algn="ctr" defTabSz="914400" eaLnBrk="0" fontAlgn="base" latinLnBrk="0" hangingPunct="0">
              <a:lnSpc>
                <a:spcPct val="80000"/>
              </a:lnSpc>
              <a:spcBef>
                <a:spcPct val="20000"/>
              </a:spcBef>
              <a:spcAft>
                <a:spcPct val="0"/>
              </a:spcAft>
              <a:buClrTx/>
              <a:buSzTx/>
              <a:buFontTx/>
              <a:buNone/>
              <a:tabLst/>
              <a:defRPr/>
            </a:pPr>
            <a:r>
              <a:rPr kumimoji="0" lang="en-GB" altLang="el-GR" sz="2800" b="0" i="0" u="none" strike="noStrike" kern="0" cap="none" spc="0" normalizeH="0" baseline="0" noProof="0">
                <a:ln>
                  <a:noFill/>
                </a:ln>
                <a:solidFill>
                  <a:srgbClr val="000000"/>
                </a:solidFill>
                <a:effectLst/>
                <a:uLnTx/>
                <a:uFillTx/>
                <a:latin typeface="HellasTimes" charset="0"/>
              </a:rPr>
              <a:t>a -&gt; 97</a:t>
            </a:r>
          </a:p>
          <a:p>
            <a:pPr marL="0" marR="0" lvl="0" indent="0" algn="ctr" defTabSz="914400" eaLnBrk="0" fontAlgn="base" latinLnBrk="0" hangingPunct="0">
              <a:lnSpc>
                <a:spcPct val="80000"/>
              </a:lnSpc>
              <a:spcBef>
                <a:spcPct val="20000"/>
              </a:spcBef>
              <a:spcAft>
                <a:spcPct val="0"/>
              </a:spcAft>
              <a:buClrTx/>
              <a:buSzTx/>
              <a:buFontTx/>
              <a:buNone/>
              <a:tabLst/>
              <a:defRPr/>
            </a:pPr>
            <a:r>
              <a:rPr kumimoji="0" lang="en-GB" altLang="el-GR" sz="2800" b="0" i="0" u="none" strike="noStrike" kern="0" cap="none" spc="0" normalizeH="0" baseline="0" noProof="0">
                <a:ln>
                  <a:noFill/>
                </a:ln>
                <a:solidFill>
                  <a:srgbClr val="000000"/>
                </a:solidFill>
                <a:effectLst/>
                <a:uLnTx/>
                <a:uFillTx/>
                <a:latin typeface="HellasTimes" charset="0"/>
              </a:rPr>
              <a:t>z -&gt; 122</a:t>
            </a:r>
            <a:endParaRPr kumimoji="0" lang="en-GB" altLang="el-GR" sz="2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TextBox 8">
            <a:extLst>
              <a:ext uri="{FF2B5EF4-FFF2-40B4-BE49-F238E27FC236}">
                <a16:creationId xmlns:a16="http://schemas.microsoft.com/office/drawing/2014/main" id="{2540260D-5600-A189-BB0F-DEBA11A925AF}"/>
              </a:ext>
            </a:extLst>
          </p:cNvPr>
          <p:cNvSpPr txBox="1"/>
          <p:nvPr/>
        </p:nvSpPr>
        <p:spPr>
          <a:xfrm>
            <a:off x="222015" y="893301"/>
            <a:ext cx="7403690" cy="584775"/>
          </a:xfrm>
          <a:prstGeom prst="rect">
            <a:avLst/>
          </a:prstGeom>
          <a:noFill/>
        </p:spPr>
        <p:txBody>
          <a:bodyPr wrap="square" rtlCol="0">
            <a:spAutoFit/>
          </a:bodyPr>
          <a:lstStyle/>
          <a:p>
            <a:r>
              <a:rPr lang="el-GR" sz="3200" b="1" dirty="0">
                <a:solidFill>
                  <a:srgbClr val="F9853D"/>
                </a:solidFill>
                <a:latin typeface="Bahnschrift" panose="020B0502040204020203" pitchFamily="34" charset="0"/>
                <a:ea typeface="+mj-ea"/>
                <a:cs typeface="+mj-cs"/>
              </a:rPr>
              <a:t>Δήλωση μεταβλητής χαρακτήρα</a:t>
            </a:r>
            <a:endParaRPr lang="en-GB" sz="3200" b="1" dirty="0">
              <a:solidFill>
                <a:srgbClr val="F9853D"/>
              </a:solidFill>
              <a:latin typeface="Bahnschrift" panose="020B0502040204020203" pitchFamily="34" charset="0"/>
              <a:ea typeface="+mj-ea"/>
              <a:cs typeface="+mj-cs"/>
            </a:endParaRPr>
          </a:p>
        </p:txBody>
      </p:sp>
    </p:spTree>
    <p:extLst>
      <p:ext uri="{BB962C8B-B14F-4D97-AF65-F5344CB8AC3E}">
        <p14:creationId xmlns:p14="http://schemas.microsoft.com/office/powerpoint/2010/main" val="201853527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 calcmode="lin" valueType="num">
                                      <p:cBhvr additive="base">
                                        <p:cTn id="25" dur="500" fill="hold"/>
                                        <p:tgtEl>
                                          <p:spTgt spid="6">
                                            <p:txEl>
                                              <p:pRg st="6" end="6"/>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anim calcmode="lin" valueType="num">
                                      <p:cBhvr additive="base">
                                        <p:cTn id="31" dur="500" fill="hold"/>
                                        <p:tgtEl>
                                          <p:spTgt spid="6">
                                            <p:txEl>
                                              <p:pRg st="8" end="8"/>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0-#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7" grpId="0" uiExpand="1"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16536-BF3A-D9FA-D5B1-53B2E35721A6}"/>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467DEB81-B297-93E0-1C02-60396B0EFD37}"/>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Χαρακτήρας - </a:t>
            </a:r>
            <a:r>
              <a:rPr lang="en-GB" sz="4000" b="1" dirty="0">
                <a:solidFill>
                  <a:srgbClr val="F9853D"/>
                </a:solidFill>
                <a:latin typeface="Bahnschrift" panose="020B0502040204020203" pitchFamily="34" charset="0"/>
              </a:rPr>
              <a:t>char 			3/3</a:t>
            </a:r>
            <a:endParaRPr lang="el-GR" sz="4000" b="1" dirty="0">
              <a:solidFill>
                <a:srgbClr val="F9853D"/>
              </a:solidFill>
              <a:latin typeface="Bahnschrift" panose="020B0502040204020203" pitchFamily="34" charset="0"/>
            </a:endParaRPr>
          </a:p>
        </p:txBody>
      </p:sp>
      <p:grpSp>
        <p:nvGrpSpPr>
          <p:cNvPr id="4" name="Group 3">
            <a:extLst>
              <a:ext uri="{FF2B5EF4-FFF2-40B4-BE49-F238E27FC236}">
                <a16:creationId xmlns:a16="http://schemas.microsoft.com/office/drawing/2014/main" id="{3EE80A02-D470-3DBD-1047-072E4DCD6196}"/>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06119B73-3DF1-BCBA-5E32-443171167B18}"/>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93BFEB4F-448D-024A-3087-61FE7AAA848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F527F06A-48D9-1519-E46D-BF67B63EC878}"/>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21</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68B09FF0-251E-3F21-4A5E-C50A86F1D9F6}"/>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E3576A81-DAAB-461D-4335-D199EEE81206}"/>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pSp>
        <p:nvGrpSpPr>
          <p:cNvPr id="25" name="Group 24">
            <a:extLst>
              <a:ext uri="{FF2B5EF4-FFF2-40B4-BE49-F238E27FC236}">
                <a16:creationId xmlns:a16="http://schemas.microsoft.com/office/drawing/2014/main" id="{92C3A5B8-4426-BA47-2F10-F61DDC8DA026}"/>
              </a:ext>
            </a:extLst>
          </p:cNvPr>
          <p:cNvGrpSpPr/>
          <p:nvPr/>
        </p:nvGrpSpPr>
        <p:grpSpPr>
          <a:xfrm>
            <a:off x="205453" y="3840690"/>
            <a:ext cx="9738193" cy="2379886"/>
            <a:chOff x="205453" y="3840690"/>
            <a:chExt cx="9738193" cy="2379886"/>
          </a:xfrm>
        </p:grpSpPr>
        <p:sp>
          <p:nvSpPr>
            <p:cNvPr id="12" name="Rectangle 3">
              <a:extLst>
                <a:ext uri="{FF2B5EF4-FFF2-40B4-BE49-F238E27FC236}">
                  <a16:creationId xmlns:a16="http://schemas.microsoft.com/office/drawing/2014/main" id="{3F622968-2002-A097-CFDF-D826B643C672}"/>
                </a:ext>
              </a:extLst>
            </p:cNvPr>
            <p:cNvSpPr txBox="1">
              <a:spLocks noChangeArrowheads="1"/>
            </p:cNvSpPr>
            <p:nvPr/>
          </p:nvSpPr>
          <p:spPr bwMode="auto">
            <a:xfrm>
              <a:off x="205453" y="3840690"/>
              <a:ext cx="9738193" cy="908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l-GR" altLang="el-GR" sz="2800" b="1" dirty="0">
                  <a:solidFill>
                    <a:srgbClr val="F9853D"/>
                  </a:solidFill>
                  <a:latin typeface="Bahnschrift" panose="020B0502040204020203" pitchFamily="34" charset="0"/>
                  <a:ea typeface="+mj-ea"/>
                  <a:cs typeface="+mj-cs"/>
                </a:rPr>
                <a:t>Οι χαρακτήρες αντιμετωπίζονται ως μικροί αριθμοί</a:t>
              </a:r>
              <a:endParaRPr lang="en-GB" altLang="el-GR" sz="2800" b="1" dirty="0">
                <a:solidFill>
                  <a:srgbClr val="F9853D"/>
                </a:solidFill>
                <a:latin typeface="Bahnschrift" panose="020B0502040204020203" pitchFamily="34" charset="0"/>
                <a:ea typeface="+mj-ea"/>
                <a:cs typeface="+mj-cs"/>
              </a:endParaRPr>
            </a:p>
            <a:p>
              <a:pPr>
                <a:buFont typeface="Wingdings" panose="05000000000000000000" pitchFamily="2" charset="2"/>
                <a:buNone/>
              </a:pPr>
              <a:r>
                <a:rPr lang="el-GR" altLang="el-GR" dirty="0">
                  <a:latin typeface="Times New Roman" panose="02020603050405020304" pitchFamily="18" charset="0"/>
                </a:rPr>
                <a:t>		</a:t>
              </a:r>
              <a:r>
                <a:rPr lang="en-GB" altLang="el-GR" dirty="0">
                  <a:latin typeface="Times New Roman" panose="02020603050405020304" pitchFamily="18" charset="0"/>
                </a:rPr>
                <a:t>	</a:t>
              </a:r>
            </a:p>
          </p:txBody>
        </p:sp>
        <p:sp>
          <p:nvSpPr>
            <p:cNvPr id="13" name="TextBox 12">
              <a:extLst>
                <a:ext uri="{FF2B5EF4-FFF2-40B4-BE49-F238E27FC236}">
                  <a16:creationId xmlns:a16="http://schemas.microsoft.com/office/drawing/2014/main" id="{FF9ED002-A041-6511-E1E7-C22A4832257F}"/>
                </a:ext>
              </a:extLst>
            </p:cNvPr>
            <p:cNvSpPr txBox="1"/>
            <p:nvPr/>
          </p:nvSpPr>
          <p:spPr>
            <a:xfrm>
              <a:off x="693174" y="4453939"/>
              <a:ext cx="7905135" cy="1766637"/>
            </a:xfrm>
            <a:prstGeom prst="rect">
              <a:avLst/>
            </a:prstGeom>
            <a:solidFill>
              <a:schemeClr val="accent3">
                <a:lumMod val="40000"/>
                <a:lumOff val="60000"/>
              </a:schemeClr>
            </a:solidFill>
          </p:spPr>
          <p:txBody>
            <a:bodyPr wrap="square" rtlCol="0">
              <a:spAutoFit/>
            </a:bodyPr>
            <a:lstStyle/>
            <a:p>
              <a:pPr lvl="0" fontAlgn="base">
                <a:spcBef>
                  <a:spcPct val="20000"/>
                </a:spcBef>
                <a:spcAft>
                  <a:spcPct val="0"/>
                </a:spcAft>
                <a:buClr>
                  <a:srgbClr val="3333CC"/>
                </a:buClr>
                <a:buSzPct val="60000"/>
                <a:defRPr/>
              </a:pPr>
              <a:r>
                <a:rPr lang="en-GB" altLang="el-GR" sz="3200" b="1" kern="0" dirty="0">
                  <a:solidFill>
                    <a:srgbClr val="000000"/>
                  </a:solidFill>
                  <a:latin typeface="Courier New" panose="02070309020205020404" pitchFamily="49" charset="0"/>
                </a:rPr>
                <a:t>int j;</a:t>
              </a:r>
            </a:p>
            <a:p>
              <a:pPr lvl="0" fontAlgn="base">
                <a:spcBef>
                  <a:spcPct val="20000"/>
                </a:spcBef>
                <a:spcAft>
                  <a:spcPct val="0"/>
                </a:spcAft>
                <a:buClr>
                  <a:srgbClr val="3333CC"/>
                </a:buClr>
                <a:buSzPct val="60000"/>
                <a:defRPr/>
              </a:pPr>
              <a:r>
                <a:rPr lang="en-GB" altLang="el-GR" sz="3200" b="1" kern="0" dirty="0">
                  <a:solidFill>
                    <a:srgbClr val="000000"/>
                  </a:solidFill>
                  <a:latin typeface="Courier New" panose="02070309020205020404" pitchFamily="49" charset="0"/>
                </a:rPr>
                <a:t>j = ‘A’ + ‘B’;</a:t>
              </a:r>
            </a:p>
            <a:p>
              <a:pPr lvl="0" fontAlgn="base">
                <a:spcBef>
                  <a:spcPct val="20000"/>
                </a:spcBef>
                <a:spcAft>
                  <a:spcPct val="0"/>
                </a:spcAft>
                <a:buClr>
                  <a:srgbClr val="3333CC"/>
                </a:buClr>
                <a:buSzPct val="60000"/>
                <a:defRPr/>
              </a:pPr>
              <a:r>
                <a:rPr lang="en-GB" altLang="el-GR" sz="3200" b="1" kern="0" dirty="0" err="1">
                  <a:solidFill>
                    <a:srgbClr val="000000"/>
                  </a:solidFill>
                  <a:latin typeface="Courier New" panose="02070309020205020404" pitchFamily="49" charset="0"/>
                </a:rPr>
                <a:t>printf</a:t>
              </a:r>
              <a:r>
                <a:rPr lang="en-GB" altLang="el-GR" sz="3200" b="1" kern="0" dirty="0">
                  <a:solidFill>
                    <a:srgbClr val="000000"/>
                  </a:solidFill>
                  <a:latin typeface="Courier New" panose="02070309020205020404" pitchFamily="49" charset="0"/>
                </a:rPr>
                <a:t>(“%</a:t>
              </a:r>
              <a:r>
                <a:rPr lang="en-GB" altLang="el-GR" sz="3200" b="1" kern="0" dirty="0">
                  <a:solidFill>
                    <a:srgbClr val="800000"/>
                  </a:solidFill>
                  <a:latin typeface="Courier New" panose="02070309020205020404" pitchFamily="49" charset="0"/>
                </a:rPr>
                <a:t>c</a:t>
              </a:r>
              <a:r>
                <a:rPr lang="en-GB" altLang="el-GR" sz="3200" b="1" kern="0" dirty="0">
                  <a:solidFill>
                    <a:srgbClr val="000000"/>
                  </a:solidFill>
                  <a:latin typeface="Courier New" panose="02070309020205020404" pitchFamily="49" charset="0"/>
                </a:rPr>
                <a:t>\</a:t>
              </a:r>
              <a:r>
                <a:rPr lang="en-GB" altLang="el-GR" sz="3200" b="1" kern="0" dirty="0" err="1">
                  <a:solidFill>
                    <a:srgbClr val="000000"/>
                  </a:solidFill>
                  <a:latin typeface="Courier New" panose="02070309020205020404" pitchFamily="49" charset="0"/>
                </a:rPr>
                <a:t>n”,j</a:t>
              </a:r>
              <a:r>
                <a:rPr lang="en-GB" altLang="el-GR" sz="3200" b="1" kern="0" dirty="0">
                  <a:solidFill>
                    <a:srgbClr val="000000"/>
                  </a:solidFill>
                  <a:latin typeface="Courier New" panose="02070309020205020404" pitchFamily="49" charset="0"/>
                </a:rPr>
                <a:t>);</a:t>
              </a:r>
              <a:endParaRPr lang="en-GB" dirty="0"/>
            </a:p>
          </p:txBody>
        </p:sp>
      </p:grpSp>
      <p:grpSp>
        <p:nvGrpSpPr>
          <p:cNvPr id="23" name="Group 22">
            <a:extLst>
              <a:ext uri="{FF2B5EF4-FFF2-40B4-BE49-F238E27FC236}">
                <a16:creationId xmlns:a16="http://schemas.microsoft.com/office/drawing/2014/main" id="{468FF218-DE5E-BBDC-66D2-86C71573A6FF}"/>
              </a:ext>
            </a:extLst>
          </p:cNvPr>
          <p:cNvGrpSpPr/>
          <p:nvPr/>
        </p:nvGrpSpPr>
        <p:grpSpPr>
          <a:xfrm>
            <a:off x="283686" y="901250"/>
            <a:ext cx="7550859" cy="1211109"/>
            <a:chOff x="283686" y="901250"/>
            <a:chExt cx="7550859" cy="1211109"/>
          </a:xfrm>
        </p:grpSpPr>
        <p:sp>
          <p:nvSpPr>
            <p:cNvPr id="15" name="TextBox 14">
              <a:extLst>
                <a:ext uri="{FF2B5EF4-FFF2-40B4-BE49-F238E27FC236}">
                  <a16:creationId xmlns:a16="http://schemas.microsoft.com/office/drawing/2014/main" id="{7CA23901-441E-0B4E-7D4F-7604E6610D42}"/>
                </a:ext>
              </a:extLst>
            </p:cNvPr>
            <p:cNvSpPr txBox="1"/>
            <p:nvPr/>
          </p:nvSpPr>
          <p:spPr>
            <a:xfrm>
              <a:off x="283686" y="901250"/>
              <a:ext cx="6223818" cy="523220"/>
            </a:xfrm>
            <a:prstGeom prst="rect">
              <a:avLst/>
            </a:prstGeom>
            <a:noFill/>
          </p:spPr>
          <p:txBody>
            <a:bodyPr wrap="square">
              <a:spAutoFit/>
            </a:bodyPr>
            <a:lstStyle/>
            <a:p>
              <a:r>
                <a:rPr lang="el-GR" sz="2800" b="1" dirty="0">
                  <a:solidFill>
                    <a:srgbClr val="F9853D"/>
                  </a:solidFill>
                  <a:latin typeface="Bahnschrift" panose="020B0502040204020203" pitchFamily="34" charset="0"/>
                  <a:ea typeface="+mj-ea"/>
                  <a:cs typeface="+mj-cs"/>
                </a:rPr>
                <a:t>Εκτύπωση  μεταβλητής χαρακτήρα</a:t>
              </a:r>
              <a:endParaRPr lang="en-GB" sz="2800" dirty="0"/>
            </a:p>
          </p:txBody>
        </p:sp>
        <p:sp>
          <p:nvSpPr>
            <p:cNvPr id="16" name="TextBox 15">
              <a:extLst>
                <a:ext uri="{FF2B5EF4-FFF2-40B4-BE49-F238E27FC236}">
                  <a16:creationId xmlns:a16="http://schemas.microsoft.com/office/drawing/2014/main" id="{06600BC2-0109-6319-0E47-BD44AF1B7295}"/>
                </a:ext>
              </a:extLst>
            </p:cNvPr>
            <p:cNvSpPr txBox="1"/>
            <p:nvPr/>
          </p:nvSpPr>
          <p:spPr>
            <a:xfrm>
              <a:off x="492526" y="1527584"/>
              <a:ext cx="7342019" cy="584775"/>
            </a:xfrm>
            <a:prstGeom prst="rect">
              <a:avLst/>
            </a:prstGeom>
            <a:solidFill>
              <a:schemeClr val="accent3">
                <a:lumMod val="40000"/>
                <a:lumOff val="60000"/>
              </a:schemeClr>
            </a:solidFill>
          </p:spPr>
          <p:txBody>
            <a:bodyPr wrap="square" rtlCol="0">
              <a:spAutoFit/>
            </a:bodyPr>
            <a:lstStyle/>
            <a:p>
              <a:r>
                <a:rPr lang="en-US" sz="3200" dirty="0" err="1"/>
                <a:t>printf</a:t>
              </a:r>
              <a:r>
                <a:rPr lang="en-US" sz="3200" dirty="0"/>
                <a:t>(“character is %c\n”, choice);</a:t>
              </a:r>
              <a:endParaRPr lang="en-GB" sz="3200" dirty="0"/>
            </a:p>
          </p:txBody>
        </p:sp>
      </p:grpSp>
      <p:grpSp>
        <p:nvGrpSpPr>
          <p:cNvPr id="24" name="Group 23">
            <a:extLst>
              <a:ext uri="{FF2B5EF4-FFF2-40B4-BE49-F238E27FC236}">
                <a16:creationId xmlns:a16="http://schemas.microsoft.com/office/drawing/2014/main" id="{6066E468-6297-2776-6538-66FDE45077CA}"/>
              </a:ext>
            </a:extLst>
          </p:cNvPr>
          <p:cNvGrpSpPr/>
          <p:nvPr/>
        </p:nvGrpSpPr>
        <p:grpSpPr>
          <a:xfrm>
            <a:off x="283686" y="2376194"/>
            <a:ext cx="7500228" cy="1136469"/>
            <a:chOff x="283686" y="2376194"/>
            <a:chExt cx="7500228" cy="1136469"/>
          </a:xfrm>
        </p:grpSpPr>
        <p:sp>
          <p:nvSpPr>
            <p:cNvPr id="20" name="TextBox 19">
              <a:extLst>
                <a:ext uri="{FF2B5EF4-FFF2-40B4-BE49-F238E27FC236}">
                  <a16:creationId xmlns:a16="http://schemas.microsoft.com/office/drawing/2014/main" id="{3EA49CEB-4949-111A-5D49-CFF3CA90D567}"/>
                </a:ext>
              </a:extLst>
            </p:cNvPr>
            <p:cNvSpPr txBox="1"/>
            <p:nvPr/>
          </p:nvSpPr>
          <p:spPr>
            <a:xfrm>
              <a:off x="283686" y="2376194"/>
              <a:ext cx="7500228" cy="523220"/>
            </a:xfrm>
            <a:prstGeom prst="rect">
              <a:avLst/>
            </a:prstGeom>
            <a:noFill/>
          </p:spPr>
          <p:txBody>
            <a:bodyPr wrap="square">
              <a:spAutoFit/>
            </a:bodyPr>
            <a:lstStyle/>
            <a:p>
              <a:pPr algn="just">
                <a:buNone/>
              </a:pPr>
              <a:r>
                <a:rPr lang="el-GR" sz="2800" b="1" dirty="0">
                  <a:solidFill>
                    <a:srgbClr val="F9853D"/>
                  </a:solidFill>
                  <a:latin typeface="Bahnschrift" panose="020B0502040204020203" pitchFamily="34" charset="0"/>
                  <a:ea typeface="+mj-ea"/>
                  <a:cs typeface="+mj-cs"/>
                </a:rPr>
                <a:t>Απόδοση τιμής από την βασική είσοδο</a:t>
              </a:r>
              <a:endParaRPr lang="en-GB" sz="2800" b="1" dirty="0">
                <a:solidFill>
                  <a:srgbClr val="F9853D"/>
                </a:solidFill>
                <a:latin typeface="Bahnschrift" panose="020B0502040204020203" pitchFamily="34" charset="0"/>
                <a:ea typeface="+mj-ea"/>
                <a:cs typeface="+mj-cs"/>
              </a:endParaRPr>
            </a:p>
          </p:txBody>
        </p:sp>
        <p:sp>
          <p:nvSpPr>
            <p:cNvPr id="22" name="TextBox 21">
              <a:extLst>
                <a:ext uri="{FF2B5EF4-FFF2-40B4-BE49-F238E27FC236}">
                  <a16:creationId xmlns:a16="http://schemas.microsoft.com/office/drawing/2014/main" id="{E263E30D-CB7C-CDCF-7CCD-69F7A4260120}"/>
                </a:ext>
              </a:extLst>
            </p:cNvPr>
            <p:cNvSpPr txBox="1"/>
            <p:nvPr/>
          </p:nvSpPr>
          <p:spPr>
            <a:xfrm>
              <a:off x="283686" y="2927888"/>
              <a:ext cx="6223818" cy="584775"/>
            </a:xfrm>
            <a:prstGeom prst="rect">
              <a:avLst/>
            </a:prstGeom>
            <a:solidFill>
              <a:schemeClr val="accent3">
                <a:lumMod val="40000"/>
                <a:lumOff val="60000"/>
              </a:schemeClr>
            </a:solidFill>
          </p:spPr>
          <p:txBody>
            <a:bodyPr wrap="square">
              <a:spAutoFit/>
            </a:bodyPr>
            <a:lstStyle/>
            <a:p>
              <a:pPr indent="183515" algn="just">
                <a:spcBef>
                  <a:spcPts val="600"/>
                </a:spcBef>
                <a:spcAft>
                  <a:spcPts val="600"/>
                </a:spcAft>
                <a:buNone/>
              </a:pPr>
              <a:r>
                <a:rPr lang="en-US" sz="3200" dirty="0" err="1"/>
                <a:t>scanf</a:t>
              </a:r>
              <a:r>
                <a:rPr lang="el-GR" sz="3200" dirty="0"/>
                <a:t>(“%</a:t>
              </a:r>
              <a:r>
                <a:rPr lang="en-US" sz="3200" dirty="0"/>
                <a:t>c</a:t>
              </a:r>
              <a:r>
                <a:rPr lang="el-GR" sz="3200" dirty="0"/>
                <a:t>”,&amp;</a:t>
              </a:r>
              <a:r>
                <a:rPr lang="en-US" sz="3200" dirty="0" err="1"/>
                <a:t>ch</a:t>
              </a:r>
              <a:r>
                <a:rPr lang="el-GR" sz="3200" dirty="0"/>
                <a:t>);</a:t>
              </a:r>
              <a:endParaRPr lang="en-GB" sz="3200" dirty="0"/>
            </a:p>
          </p:txBody>
        </p:sp>
      </p:grpSp>
    </p:spTree>
    <p:extLst>
      <p:ext uri="{BB962C8B-B14F-4D97-AF65-F5344CB8AC3E}">
        <p14:creationId xmlns:p14="http://schemas.microsoft.com/office/powerpoint/2010/main" val="161907998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82AF9-67C9-EE66-4E46-5EB9F0A26DF8}"/>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17B1EB83-5EEA-7634-7EC0-BC2D6A1956A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Αποθήκευση-Ανάκληση χαρακτήρα</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795C7564-E91B-F464-8E0A-88EE29207E6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aphicFrame>
        <p:nvGraphicFramePr>
          <p:cNvPr id="4" name="Object 4">
            <a:extLst>
              <a:ext uri="{FF2B5EF4-FFF2-40B4-BE49-F238E27FC236}">
                <a16:creationId xmlns:a16="http://schemas.microsoft.com/office/drawing/2014/main" id="{04B5D113-6BBA-256C-CE7F-B160E6A9EFD2}"/>
              </a:ext>
            </a:extLst>
          </p:cNvPr>
          <p:cNvGraphicFramePr>
            <a:graphicFrameLocks noChangeAspect="1"/>
          </p:cNvGraphicFramePr>
          <p:nvPr/>
        </p:nvGraphicFramePr>
        <p:xfrm>
          <a:off x="5053157" y="2354274"/>
          <a:ext cx="4271963" cy="552450"/>
        </p:xfrm>
        <a:graphic>
          <a:graphicData uri="http://schemas.openxmlformats.org/presentationml/2006/ole">
            <mc:AlternateContent xmlns:mc="http://schemas.openxmlformats.org/markup-compatibility/2006">
              <mc:Choice xmlns:v="urn:schemas-microsoft-com:vml" Requires="v">
                <p:oleObj name="Worksheet" r:id="rId3" imgW="1990954" imgH="257556" progId="Excel.Sheet.8">
                  <p:embed/>
                </p:oleObj>
              </mc:Choice>
              <mc:Fallback>
                <p:oleObj name="Worksheet" r:id="rId3" imgW="1990954" imgH="257556" progId="Excel.Sheet.8">
                  <p:embed/>
                  <p:pic>
                    <p:nvPicPr>
                      <p:cNvPr id="4" name="Object 4">
                        <a:extLst>
                          <a:ext uri="{FF2B5EF4-FFF2-40B4-BE49-F238E27FC236}">
                            <a16:creationId xmlns:a16="http://schemas.microsoft.com/office/drawing/2014/main" id="{04B5D113-6BBA-256C-CE7F-B160E6A9EF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3157" y="2354274"/>
                        <a:ext cx="4271963"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5">
            <a:extLst>
              <a:ext uri="{FF2B5EF4-FFF2-40B4-BE49-F238E27FC236}">
                <a16:creationId xmlns:a16="http://schemas.microsoft.com/office/drawing/2014/main" id="{BA283E82-AB72-08C1-F0D9-773A55A67D6D}"/>
              </a:ext>
            </a:extLst>
          </p:cNvPr>
          <p:cNvGraphicFramePr>
            <a:graphicFrameLocks noChangeAspect="1"/>
          </p:cNvGraphicFramePr>
          <p:nvPr/>
        </p:nvGraphicFramePr>
        <p:xfrm>
          <a:off x="5053157" y="2354274"/>
          <a:ext cx="4267200" cy="533400"/>
        </p:xfrm>
        <a:graphic>
          <a:graphicData uri="http://schemas.openxmlformats.org/presentationml/2006/ole">
            <mc:AlternateContent xmlns:mc="http://schemas.openxmlformats.org/markup-compatibility/2006">
              <mc:Choice xmlns:v="urn:schemas-microsoft-com:vml" Requires="v">
                <p:oleObj name="Worksheet" r:id="rId5" imgW="1990954" imgH="238354" progId="Excel.Sheet.8">
                  <p:embed/>
                </p:oleObj>
              </mc:Choice>
              <mc:Fallback>
                <p:oleObj name="Worksheet" r:id="rId5" imgW="1990954" imgH="238354" progId="Excel.Sheet.8">
                  <p:embed/>
                  <p:pic>
                    <p:nvPicPr>
                      <p:cNvPr id="6" name="Object 5">
                        <a:extLst>
                          <a:ext uri="{FF2B5EF4-FFF2-40B4-BE49-F238E27FC236}">
                            <a16:creationId xmlns:a16="http://schemas.microsoft.com/office/drawing/2014/main" id="{BA283E82-AB72-08C1-F0D9-773A55A67D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53157" y="2354274"/>
                        <a:ext cx="426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6">
            <a:extLst>
              <a:ext uri="{FF2B5EF4-FFF2-40B4-BE49-F238E27FC236}">
                <a16:creationId xmlns:a16="http://schemas.microsoft.com/office/drawing/2014/main" id="{5BD95D0C-111F-08D6-B593-44A781FC6C33}"/>
              </a:ext>
            </a:extLst>
          </p:cNvPr>
          <p:cNvSpPr txBox="1">
            <a:spLocks noChangeArrowheads="1"/>
          </p:cNvSpPr>
          <p:nvPr/>
        </p:nvSpPr>
        <p:spPr bwMode="auto">
          <a:xfrm>
            <a:off x="1624157" y="3116274"/>
            <a:ext cx="1827213" cy="457200"/>
          </a:xfrm>
          <a:prstGeom prst="rect">
            <a:avLst/>
          </a:prstGeom>
          <a:solidFill>
            <a:schemeClr val="accent3">
              <a:lumMod val="40000"/>
              <a:lumOff val="60000"/>
            </a:schemeClr>
          </a:solidFill>
          <a:ln>
            <a:noFill/>
          </a:ln>
          <a:effectLst/>
        </p:spPr>
        <p:txBody>
          <a:bodyPr wrap="none">
            <a:spAutoFit/>
          </a:bodyPr>
          <a:lstStyle>
            <a:defPPr>
              <a:defRPr lang="el-GR"/>
            </a:defPPr>
            <a:lvl1pPr fontAlgn="base">
              <a:spcBef>
                <a:spcPct val="0"/>
              </a:spcBef>
              <a:spcAft>
                <a:spcPct val="0"/>
              </a:spcAft>
              <a:defRPr sz="2400" b="1">
                <a:latin typeface="Courier New" panose="02070309020205020404" pitchFamily="49" charset="0"/>
              </a:defRPr>
            </a:lvl1pPr>
          </a:lstStyle>
          <a:p>
            <a:r>
              <a:rPr lang="en-US" altLang="el-GR"/>
              <a:t>ch = ‘A’;</a:t>
            </a:r>
            <a:endParaRPr lang="en-GB" altLang="el-GR"/>
          </a:p>
        </p:txBody>
      </p:sp>
      <p:sp>
        <p:nvSpPr>
          <p:cNvPr id="9" name="Freeform 9">
            <a:extLst>
              <a:ext uri="{FF2B5EF4-FFF2-40B4-BE49-F238E27FC236}">
                <a16:creationId xmlns:a16="http://schemas.microsoft.com/office/drawing/2014/main" id="{CAC62104-23DC-909C-FCDA-9986D37E8A13}"/>
              </a:ext>
            </a:extLst>
          </p:cNvPr>
          <p:cNvSpPr>
            <a:spLocks/>
          </p:cNvSpPr>
          <p:nvPr/>
        </p:nvSpPr>
        <p:spPr bwMode="auto">
          <a:xfrm>
            <a:off x="3376757" y="2735274"/>
            <a:ext cx="1524000" cy="609600"/>
          </a:xfrm>
          <a:custGeom>
            <a:avLst/>
            <a:gdLst>
              <a:gd name="T0" fmla="*/ 32 w 1280"/>
              <a:gd name="T1" fmla="*/ 384 h 424"/>
              <a:gd name="T2" fmla="*/ 80 w 1280"/>
              <a:gd name="T3" fmla="*/ 384 h 424"/>
              <a:gd name="T4" fmla="*/ 512 w 1280"/>
              <a:gd name="T5" fmla="*/ 144 h 424"/>
              <a:gd name="T6" fmla="*/ 1280 w 1280"/>
              <a:gd name="T7" fmla="*/ 0 h 424"/>
            </a:gdLst>
            <a:ahLst/>
            <a:cxnLst>
              <a:cxn ang="0">
                <a:pos x="T0" y="T1"/>
              </a:cxn>
              <a:cxn ang="0">
                <a:pos x="T2" y="T3"/>
              </a:cxn>
              <a:cxn ang="0">
                <a:pos x="T4" y="T5"/>
              </a:cxn>
              <a:cxn ang="0">
                <a:pos x="T6" y="T7"/>
              </a:cxn>
            </a:cxnLst>
            <a:rect l="0" t="0" r="r" b="b"/>
            <a:pathLst>
              <a:path w="1280" h="424">
                <a:moveTo>
                  <a:pt x="32" y="384"/>
                </a:moveTo>
                <a:cubicBezTo>
                  <a:pt x="16" y="404"/>
                  <a:pt x="0" y="424"/>
                  <a:pt x="80" y="384"/>
                </a:cubicBezTo>
                <a:cubicBezTo>
                  <a:pt x="160" y="344"/>
                  <a:pt x="312" y="208"/>
                  <a:pt x="512" y="144"/>
                </a:cubicBezTo>
                <a:cubicBezTo>
                  <a:pt x="712" y="80"/>
                  <a:pt x="1152" y="24"/>
                  <a:pt x="1280" y="0"/>
                </a:cubicBezTo>
              </a:path>
            </a:pathLst>
          </a:custGeom>
          <a:noFill/>
          <a:ln w="38100" cap="flat" cmpd="sng">
            <a:solidFill>
              <a:srgbClr val="FF0000"/>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Freeform 10">
            <a:extLst>
              <a:ext uri="{FF2B5EF4-FFF2-40B4-BE49-F238E27FC236}">
                <a16:creationId xmlns:a16="http://schemas.microsoft.com/office/drawing/2014/main" id="{1BC565D1-45BB-D56D-51B5-C96FF0856188}"/>
              </a:ext>
            </a:extLst>
          </p:cNvPr>
          <p:cNvSpPr>
            <a:spLocks/>
          </p:cNvSpPr>
          <p:nvPr/>
        </p:nvSpPr>
        <p:spPr bwMode="auto">
          <a:xfrm>
            <a:off x="4824557" y="2963874"/>
            <a:ext cx="3962400" cy="1562100"/>
          </a:xfrm>
          <a:custGeom>
            <a:avLst/>
            <a:gdLst>
              <a:gd name="T0" fmla="*/ 0 w 2496"/>
              <a:gd name="T1" fmla="*/ 984 h 984"/>
              <a:gd name="T2" fmla="*/ 432 w 2496"/>
              <a:gd name="T3" fmla="*/ 600 h 984"/>
              <a:gd name="T4" fmla="*/ 1392 w 2496"/>
              <a:gd name="T5" fmla="*/ 24 h 984"/>
              <a:gd name="T6" fmla="*/ 2496 w 2496"/>
              <a:gd name="T7" fmla="*/ 744 h 984"/>
            </a:gdLst>
            <a:ahLst/>
            <a:cxnLst>
              <a:cxn ang="0">
                <a:pos x="T0" y="T1"/>
              </a:cxn>
              <a:cxn ang="0">
                <a:pos x="T2" y="T3"/>
              </a:cxn>
              <a:cxn ang="0">
                <a:pos x="T4" y="T5"/>
              </a:cxn>
              <a:cxn ang="0">
                <a:pos x="T6" y="T7"/>
              </a:cxn>
            </a:cxnLst>
            <a:rect l="0" t="0" r="r" b="b"/>
            <a:pathLst>
              <a:path w="2496" h="984">
                <a:moveTo>
                  <a:pt x="0" y="984"/>
                </a:moveTo>
                <a:cubicBezTo>
                  <a:pt x="100" y="872"/>
                  <a:pt x="200" y="760"/>
                  <a:pt x="432" y="600"/>
                </a:cubicBezTo>
                <a:cubicBezTo>
                  <a:pt x="664" y="440"/>
                  <a:pt x="1048" y="0"/>
                  <a:pt x="1392" y="24"/>
                </a:cubicBezTo>
                <a:cubicBezTo>
                  <a:pt x="1736" y="48"/>
                  <a:pt x="2116" y="396"/>
                  <a:pt x="2496" y="744"/>
                </a:cubicBezTo>
              </a:path>
            </a:pathLst>
          </a:custGeom>
          <a:noFill/>
          <a:ln w="38100" cap="flat" cmpd="sng">
            <a:solidFill>
              <a:srgbClr val="FF0000"/>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Text Box 11">
            <a:extLst>
              <a:ext uri="{FF2B5EF4-FFF2-40B4-BE49-F238E27FC236}">
                <a16:creationId xmlns:a16="http://schemas.microsoft.com/office/drawing/2014/main" id="{2917862D-30CD-DD57-5931-930C2E77634D}"/>
              </a:ext>
            </a:extLst>
          </p:cNvPr>
          <p:cNvSpPr txBox="1">
            <a:spLocks noChangeArrowheads="1"/>
          </p:cNvSpPr>
          <p:nvPr/>
        </p:nvSpPr>
        <p:spPr bwMode="auto">
          <a:xfrm>
            <a:off x="8786957" y="4106874"/>
            <a:ext cx="4270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l-GR" sz="2800" b="1">
                <a:solidFill>
                  <a:srgbClr val="00E4A8"/>
                </a:solidFill>
                <a:latin typeface="Tahoma" panose="020B0604030504040204" pitchFamily="34" charset="0"/>
              </a:rPr>
              <a:t>A</a:t>
            </a:r>
            <a:endParaRPr lang="en-GB" altLang="el-GR" sz="2800" b="1">
              <a:solidFill>
                <a:srgbClr val="00E4A8"/>
              </a:solidFill>
              <a:latin typeface="Tahoma" panose="020B0604030504040204" pitchFamily="34" charset="0"/>
            </a:endParaRPr>
          </a:p>
        </p:txBody>
      </p:sp>
      <p:sp>
        <p:nvSpPr>
          <p:cNvPr id="14" name="Text Box 12">
            <a:extLst>
              <a:ext uri="{FF2B5EF4-FFF2-40B4-BE49-F238E27FC236}">
                <a16:creationId xmlns:a16="http://schemas.microsoft.com/office/drawing/2014/main" id="{EFDAC590-A2F8-EFBF-C5A2-0B8BEEA8C832}"/>
              </a:ext>
            </a:extLst>
          </p:cNvPr>
          <p:cNvSpPr txBox="1">
            <a:spLocks noChangeArrowheads="1"/>
          </p:cNvSpPr>
          <p:nvPr/>
        </p:nvSpPr>
        <p:spPr bwMode="auto">
          <a:xfrm>
            <a:off x="8863157" y="4792674"/>
            <a:ext cx="638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el-GR" sz="2800" b="1">
                <a:solidFill>
                  <a:srgbClr val="00E4A8"/>
                </a:solidFill>
                <a:latin typeface="Tahoma" panose="020B0604030504040204" pitchFamily="34" charset="0"/>
              </a:rPr>
              <a:t>65</a:t>
            </a:r>
            <a:endParaRPr lang="en-GB" altLang="el-GR" sz="2800" b="1">
              <a:solidFill>
                <a:srgbClr val="00E4A8"/>
              </a:solidFill>
              <a:latin typeface="Tahoma" panose="020B0604030504040204" pitchFamily="34" charset="0"/>
            </a:endParaRPr>
          </a:p>
        </p:txBody>
      </p:sp>
      <p:sp>
        <p:nvSpPr>
          <p:cNvPr id="15" name="Freeform 13">
            <a:extLst>
              <a:ext uri="{FF2B5EF4-FFF2-40B4-BE49-F238E27FC236}">
                <a16:creationId xmlns:a16="http://schemas.microsoft.com/office/drawing/2014/main" id="{C538C87E-0B68-BBA4-422F-29843B33B1A4}"/>
              </a:ext>
            </a:extLst>
          </p:cNvPr>
          <p:cNvSpPr>
            <a:spLocks/>
          </p:cNvSpPr>
          <p:nvPr/>
        </p:nvSpPr>
        <p:spPr bwMode="auto">
          <a:xfrm>
            <a:off x="4672157" y="2900374"/>
            <a:ext cx="4191000" cy="2273300"/>
          </a:xfrm>
          <a:custGeom>
            <a:avLst/>
            <a:gdLst>
              <a:gd name="T0" fmla="*/ 0 w 2640"/>
              <a:gd name="T1" fmla="*/ 1432 h 1432"/>
              <a:gd name="T2" fmla="*/ 672 w 2640"/>
              <a:gd name="T3" fmla="*/ 712 h 1432"/>
              <a:gd name="T4" fmla="*/ 1872 w 2640"/>
              <a:gd name="T5" fmla="*/ 88 h 1432"/>
              <a:gd name="T6" fmla="*/ 2640 w 2640"/>
              <a:gd name="T7" fmla="*/ 1240 h 1432"/>
            </a:gdLst>
            <a:ahLst/>
            <a:cxnLst>
              <a:cxn ang="0">
                <a:pos x="T0" y="T1"/>
              </a:cxn>
              <a:cxn ang="0">
                <a:pos x="T2" y="T3"/>
              </a:cxn>
              <a:cxn ang="0">
                <a:pos x="T4" y="T5"/>
              </a:cxn>
              <a:cxn ang="0">
                <a:pos x="T6" y="T7"/>
              </a:cxn>
            </a:cxnLst>
            <a:rect l="0" t="0" r="r" b="b"/>
            <a:pathLst>
              <a:path w="2640" h="1432">
                <a:moveTo>
                  <a:pt x="0" y="1432"/>
                </a:moveTo>
                <a:cubicBezTo>
                  <a:pt x="180" y="1184"/>
                  <a:pt x="360" y="936"/>
                  <a:pt x="672" y="712"/>
                </a:cubicBezTo>
                <a:cubicBezTo>
                  <a:pt x="984" y="488"/>
                  <a:pt x="1544" y="0"/>
                  <a:pt x="1872" y="88"/>
                </a:cubicBezTo>
                <a:cubicBezTo>
                  <a:pt x="2200" y="176"/>
                  <a:pt x="2420" y="708"/>
                  <a:pt x="2640" y="1240"/>
                </a:cubicBezTo>
              </a:path>
            </a:pathLst>
          </a:custGeom>
          <a:noFill/>
          <a:ln w="38100" cap="flat" cmpd="sng">
            <a:solidFill>
              <a:srgbClr val="FF0000"/>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6" name="Text Box 14">
            <a:extLst>
              <a:ext uri="{FF2B5EF4-FFF2-40B4-BE49-F238E27FC236}">
                <a16:creationId xmlns:a16="http://schemas.microsoft.com/office/drawing/2014/main" id="{0E2A38F8-09CC-C9AD-53DF-8C2A5A7E6ECC}"/>
              </a:ext>
            </a:extLst>
          </p:cNvPr>
          <p:cNvSpPr txBox="1">
            <a:spLocks noChangeArrowheads="1"/>
          </p:cNvSpPr>
          <p:nvPr/>
        </p:nvSpPr>
        <p:spPr bwMode="auto">
          <a:xfrm>
            <a:off x="1624157" y="2354274"/>
            <a:ext cx="1659429" cy="461665"/>
          </a:xfrm>
          <a:prstGeom prst="rect">
            <a:avLst/>
          </a:prstGeom>
          <a:solidFill>
            <a:schemeClr val="accent3">
              <a:lumMod val="40000"/>
              <a:lumOff val="60000"/>
            </a:schemeClr>
          </a:solidFill>
          <a:ln>
            <a:noFill/>
          </a:ln>
          <a:effectLst/>
        </p:spPr>
        <p:txBody>
          <a:bodyPr wrap="none">
            <a:spAutoFit/>
          </a:bodyPr>
          <a:lstStyle/>
          <a:p>
            <a:pPr fontAlgn="base">
              <a:spcBef>
                <a:spcPct val="0"/>
              </a:spcBef>
              <a:spcAft>
                <a:spcPct val="0"/>
              </a:spcAft>
            </a:pPr>
            <a:r>
              <a:rPr lang="en-US" altLang="el-GR" sz="2400" b="1" dirty="0">
                <a:latin typeface="Courier New" panose="02070309020205020404" pitchFamily="49" charset="0"/>
              </a:rPr>
              <a:t>char </a:t>
            </a:r>
            <a:r>
              <a:rPr lang="en-US" altLang="el-GR" sz="2400" b="1" dirty="0" err="1">
                <a:latin typeface="Courier New" panose="02070309020205020404" pitchFamily="49" charset="0"/>
              </a:rPr>
              <a:t>ch</a:t>
            </a:r>
            <a:r>
              <a:rPr lang="en-US" altLang="el-GR" sz="2400" b="1" dirty="0">
                <a:latin typeface="Courier New" panose="02070309020205020404" pitchFamily="49" charset="0"/>
              </a:rPr>
              <a:t>;</a:t>
            </a:r>
          </a:p>
        </p:txBody>
      </p:sp>
      <p:sp>
        <p:nvSpPr>
          <p:cNvPr id="17" name="Text Box 15">
            <a:extLst>
              <a:ext uri="{FF2B5EF4-FFF2-40B4-BE49-F238E27FC236}">
                <a16:creationId xmlns:a16="http://schemas.microsoft.com/office/drawing/2014/main" id="{DBD8A9CB-75A7-1C31-8021-B7D7A34067BC}"/>
              </a:ext>
            </a:extLst>
          </p:cNvPr>
          <p:cNvSpPr txBox="1">
            <a:spLocks noChangeArrowheads="1"/>
          </p:cNvSpPr>
          <p:nvPr/>
        </p:nvSpPr>
        <p:spPr bwMode="auto">
          <a:xfrm>
            <a:off x="1624157" y="4945074"/>
            <a:ext cx="3105150" cy="457200"/>
          </a:xfrm>
          <a:prstGeom prst="rect">
            <a:avLst/>
          </a:prstGeom>
          <a:solidFill>
            <a:schemeClr val="accent3">
              <a:lumMod val="40000"/>
              <a:lumOff val="60000"/>
            </a:schemeClr>
          </a:solidFill>
          <a:ln>
            <a:noFill/>
          </a:ln>
          <a:effectLst/>
        </p:spPr>
        <p:txBody>
          <a:bodyPr wrap="none">
            <a:spAutoFit/>
          </a:bodyPr>
          <a:lstStyle/>
          <a:p>
            <a:pPr fontAlgn="base">
              <a:spcBef>
                <a:spcPct val="0"/>
              </a:spcBef>
              <a:spcAft>
                <a:spcPct val="0"/>
              </a:spcAft>
            </a:pPr>
            <a:r>
              <a:rPr lang="en-US" altLang="el-GR" sz="2400" b="1" dirty="0">
                <a:latin typeface="Courier New" panose="02070309020205020404" pitchFamily="49" charset="0"/>
              </a:rPr>
              <a:t>printf(“%d”,</a:t>
            </a:r>
            <a:r>
              <a:rPr lang="en-US" altLang="el-GR" sz="2400" b="1" dirty="0" err="1">
                <a:latin typeface="Courier New" panose="02070309020205020404" pitchFamily="49" charset="0"/>
              </a:rPr>
              <a:t>ch</a:t>
            </a:r>
            <a:r>
              <a:rPr lang="en-US" altLang="el-GR" sz="2400" b="1" dirty="0">
                <a:latin typeface="Courier New" panose="02070309020205020404" pitchFamily="49" charset="0"/>
              </a:rPr>
              <a:t>);</a:t>
            </a:r>
            <a:endParaRPr lang="en-GB" altLang="el-GR" sz="2400" b="1" dirty="0">
              <a:latin typeface="Courier New" panose="02070309020205020404" pitchFamily="49" charset="0"/>
            </a:endParaRPr>
          </a:p>
        </p:txBody>
      </p:sp>
      <p:sp>
        <p:nvSpPr>
          <p:cNvPr id="18" name="Text Box 16">
            <a:extLst>
              <a:ext uri="{FF2B5EF4-FFF2-40B4-BE49-F238E27FC236}">
                <a16:creationId xmlns:a16="http://schemas.microsoft.com/office/drawing/2014/main" id="{216B0312-50F1-80F5-A6F9-EDE29C83A9E5}"/>
              </a:ext>
            </a:extLst>
          </p:cNvPr>
          <p:cNvSpPr txBox="1">
            <a:spLocks noChangeArrowheads="1"/>
          </p:cNvSpPr>
          <p:nvPr/>
        </p:nvSpPr>
        <p:spPr bwMode="auto">
          <a:xfrm>
            <a:off x="1624157" y="4335474"/>
            <a:ext cx="3105150" cy="457200"/>
          </a:xfrm>
          <a:prstGeom prst="rect">
            <a:avLst/>
          </a:prstGeom>
          <a:solidFill>
            <a:schemeClr val="accent3">
              <a:lumMod val="40000"/>
              <a:lumOff val="60000"/>
            </a:schemeClr>
          </a:solidFill>
          <a:ln>
            <a:noFill/>
          </a:ln>
          <a:effectLst/>
        </p:spPr>
        <p:txBody>
          <a:bodyPr wrap="none">
            <a:spAutoFit/>
          </a:bodyPr>
          <a:lstStyle>
            <a:defPPr>
              <a:defRPr lang="el-GR"/>
            </a:defPPr>
            <a:lvl1pPr fontAlgn="base">
              <a:spcBef>
                <a:spcPct val="0"/>
              </a:spcBef>
              <a:spcAft>
                <a:spcPct val="0"/>
              </a:spcAft>
              <a:defRPr sz="2400" b="1">
                <a:latin typeface="Courier New" panose="02070309020205020404" pitchFamily="49" charset="0"/>
              </a:defRPr>
            </a:lvl1pPr>
          </a:lstStyle>
          <a:p>
            <a:r>
              <a:rPr lang="en-US" altLang="el-GR" dirty="0"/>
              <a:t>printf(“%c”,</a:t>
            </a:r>
            <a:r>
              <a:rPr lang="en-US" altLang="el-GR" dirty="0" err="1"/>
              <a:t>ch</a:t>
            </a:r>
            <a:r>
              <a:rPr lang="en-US" altLang="el-GR" dirty="0"/>
              <a:t>);</a:t>
            </a:r>
            <a:endParaRPr lang="en-GB" altLang="el-GR" dirty="0"/>
          </a:p>
        </p:txBody>
      </p:sp>
      <p:sp>
        <p:nvSpPr>
          <p:cNvPr id="19" name="Callout: Line 18">
            <a:extLst>
              <a:ext uri="{FF2B5EF4-FFF2-40B4-BE49-F238E27FC236}">
                <a16:creationId xmlns:a16="http://schemas.microsoft.com/office/drawing/2014/main" id="{08D57D18-7725-9231-2831-C7ABAAEFC418}"/>
              </a:ext>
            </a:extLst>
          </p:cNvPr>
          <p:cNvSpPr/>
          <p:nvPr/>
        </p:nvSpPr>
        <p:spPr bwMode="auto">
          <a:xfrm>
            <a:off x="1524000" y="1047243"/>
            <a:ext cx="4191000" cy="454124"/>
          </a:xfrm>
          <a:prstGeom prst="borderCallout1">
            <a:avLst>
              <a:gd name="adj1" fmla="val 99564"/>
              <a:gd name="adj2" fmla="val 52787"/>
              <a:gd name="adj3" fmla="val 308203"/>
              <a:gd name="adj4" fmla="val 21586"/>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000" b="1" dirty="0">
                <a:solidFill>
                  <a:schemeClr val="lt1"/>
                </a:solidFill>
              </a:rPr>
              <a:t>Δεσμεύει χώρο για χαρακτήρα</a:t>
            </a:r>
            <a:endParaRPr lang="en-GB" sz="2000" b="1" dirty="0">
              <a:solidFill>
                <a:schemeClr val="lt1"/>
              </a:solidFill>
            </a:endParaRPr>
          </a:p>
        </p:txBody>
      </p:sp>
      <p:sp>
        <p:nvSpPr>
          <p:cNvPr id="20" name="Callout: Line 19">
            <a:extLst>
              <a:ext uri="{FF2B5EF4-FFF2-40B4-BE49-F238E27FC236}">
                <a16:creationId xmlns:a16="http://schemas.microsoft.com/office/drawing/2014/main" id="{EAD839C6-1D81-3179-F0BC-97185CB83E01}"/>
              </a:ext>
            </a:extLst>
          </p:cNvPr>
          <p:cNvSpPr/>
          <p:nvPr/>
        </p:nvSpPr>
        <p:spPr bwMode="auto">
          <a:xfrm>
            <a:off x="3840632" y="1822190"/>
            <a:ext cx="4191000" cy="454124"/>
          </a:xfrm>
          <a:prstGeom prst="borderCallout1">
            <a:avLst>
              <a:gd name="adj1" fmla="val 96466"/>
              <a:gd name="adj2" fmla="val 21906"/>
              <a:gd name="adj3" fmla="val 321844"/>
              <a:gd name="adj4" fmla="val -34894"/>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000" b="1" dirty="0">
                <a:solidFill>
                  <a:schemeClr val="lt1"/>
                </a:solidFill>
              </a:rPr>
              <a:t>Αποδίδει τιμή στην μεταβλητή</a:t>
            </a:r>
            <a:endParaRPr lang="en-GB" sz="2000" b="1" dirty="0">
              <a:solidFill>
                <a:schemeClr val="lt1"/>
              </a:solidFill>
            </a:endParaRPr>
          </a:p>
        </p:txBody>
      </p:sp>
      <p:sp>
        <p:nvSpPr>
          <p:cNvPr id="21" name="Callout: Line 20">
            <a:extLst>
              <a:ext uri="{FF2B5EF4-FFF2-40B4-BE49-F238E27FC236}">
                <a16:creationId xmlns:a16="http://schemas.microsoft.com/office/drawing/2014/main" id="{7CF30FC4-2BFF-F139-F345-111DB670B899}"/>
              </a:ext>
            </a:extLst>
          </p:cNvPr>
          <p:cNvSpPr/>
          <p:nvPr/>
        </p:nvSpPr>
        <p:spPr bwMode="auto">
          <a:xfrm>
            <a:off x="1355870" y="5536158"/>
            <a:ext cx="3373437" cy="707886"/>
          </a:xfrm>
          <a:prstGeom prst="borderCallout1">
            <a:avLst>
              <a:gd name="adj1" fmla="val 4631"/>
              <a:gd name="adj2" fmla="val 17626"/>
              <a:gd name="adj3" fmla="val -134156"/>
              <a:gd name="adj4" fmla="val 61001"/>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000" b="1" dirty="0">
                <a:solidFill>
                  <a:schemeClr val="lt1"/>
                </a:solidFill>
              </a:rPr>
              <a:t>Τυπώνει την τιμή της μεταβλητής ως χαρακτήρα</a:t>
            </a:r>
            <a:endParaRPr lang="en-GB" sz="2000" b="1" dirty="0">
              <a:solidFill>
                <a:schemeClr val="lt1"/>
              </a:solidFill>
            </a:endParaRPr>
          </a:p>
        </p:txBody>
      </p:sp>
      <p:sp>
        <p:nvSpPr>
          <p:cNvPr id="22" name="Callout: Line 21">
            <a:extLst>
              <a:ext uri="{FF2B5EF4-FFF2-40B4-BE49-F238E27FC236}">
                <a16:creationId xmlns:a16="http://schemas.microsoft.com/office/drawing/2014/main" id="{67EBC036-823F-9185-5673-5A7120550A76}"/>
              </a:ext>
            </a:extLst>
          </p:cNvPr>
          <p:cNvSpPr/>
          <p:nvPr/>
        </p:nvSpPr>
        <p:spPr bwMode="auto">
          <a:xfrm>
            <a:off x="6127895" y="5522352"/>
            <a:ext cx="3677287" cy="707886"/>
          </a:xfrm>
          <a:prstGeom prst="borderCallout1">
            <a:avLst>
              <a:gd name="adj1" fmla="val 39379"/>
              <a:gd name="adj2" fmla="val 982"/>
              <a:gd name="adj3" fmla="val -37357"/>
              <a:gd name="adj4" fmla="val -45995"/>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000" b="1" dirty="0">
                <a:solidFill>
                  <a:schemeClr val="lt1"/>
                </a:solidFill>
              </a:rPr>
              <a:t>Τυπώνει την τιμή της μεταβλητής ως ακέραιο</a:t>
            </a:r>
            <a:endParaRPr lang="en-GB" sz="2000" b="1" dirty="0">
              <a:solidFill>
                <a:schemeClr val="lt1"/>
              </a:solidFill>
            </a:endParaRPr>
          </a:p>
        </p:txBody>
      </p:sp>
      <p:grpSp>
        <p:nvGrpSpPr>
          <p:cNvPr id="23" name="Group 22">
            <a:extLst>
              <a:ext uri="{FF2B5EF4-FFF2-40B4-BE49-F238E27FC236}">
                <a16:creationId xmlns:a16="http://schemas.microsoft.com/office/drawing/2014/main" id="{EDF7334C-7DE5-53A1-44BB-CAC4148AF71C}"/>
              </a:ext>
            </a:extLst>
          </p:cNvPr>
          <p:cNvGrpSpPr/>
          <p:nvPr/>
        </p:nvGrpSpPr>
        <p:grpSpPr>
          <a:xfrm>
            <a:off x="-1" y="6559909"/>
            <a:ext cx="12192001" cy="327218"/>
            <a:chOff x="-1" y="6559909"/>
            <a:chExt cx="12192001" cy="327218"/>
          </a:xfrm>
        </p:grpSpPr>
        <p:sp>
          <p:nvSpPr>
            <p:cNvPr id="24" name="Rectangle 14">
              <a:extLst>
                <a:ext uri="{FF2B5EF4-FFF2-40B4-BE49-F238E27FC236}">
                  <a16:creationId xmlns:a16="http://schemas.microsoft.com/office/drawing/2014/main" id="{84CC9E94-C5EE-E975-EE3A-47B068998261}"/>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Θέση υποσέλιδου 4">
              <a:extLst>
                <a:ext uri="{FF2B5EF4-FFF2-40B4-BE49-F238E27FC236}">
                  <a16:creationId xmlns:a16="http://schemas.microsoft.com/office/drawing/2014/main" id="{26F76A06-6EAC-086F-1BD9-700A1207F48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6" name="TextBox 25">
              <a:extLst>
                <a:ext uri="{FF2B5EF4-FFF2-40B4-BE49-F238E27FC236}">
                  <a16:creationId xmlns:a16="http://schemas.microsoft.com/office/drawing/2014/main" id="{6A9EF0F6-B73B-9DA8-EC65-59273EA405B4}"/>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22</a:t>
              </a:fld>
              <a:endParaRPr lang="en-US" sz="1200" dirty="0">
                <a:latin typeface="Bahnschrift Light" panose="020B0502040204020203" pitchFamily="34" charset="0"/>
                <a:cs typeface="Arial" pitchFamily="34" charset="0"/>
              </a:endParaRPr>
            </a:p>
          </p:txBody>
        </p:sp>
        <p:sp>
          <p:nvSpPr>
            <p:cNvPr id="27" name="Θέση υποσέλιδου 4">
              <a:extLst>
                <a:ext uri="{FF2B5EF4-FFF2-40B4-BE49-F238E27FC236}">
                  <a16:creationId xmlns:a16="http://schemas.microsoft.com/office/drawing/2014/main" id="{A787D19E-4ADC-8F59-EF70-1CA1EBB5841F}"/>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Von Neumann Architecture - Strings - Pointers</a:t>
              </a:r>
            </a:p>
          </p:txBody>
        </p:sp>
      </p:grpSp>
    </p:spTree>
    <p:extLst>
      <p:ext uri="{BB962C8B-B14F-4D97-AF65-F5344CB8AC3E}">
        <p14:creationId xmlns:p14="http://schemas.microsoft.com/office/powerpoint/2010/main" val="15686117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0-#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0-#ppt_w/2"/>
                                          </p:val>
                                        </p:tav>
                                        <p:tav tm="100000">
                                          <p:val>
                                            <p:strVal val="#ppt_x"/>
                                          </p:val>
                                        </p:tav>
                                      </p:tavLst>
                                    </p:anim>
                                    <p:anim calcmode="lin" valueType="num">
                                      <p:cBhvr additive="base">
                                        <p:cTn id="3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0-#ppt_w/2"/>
                                          </p:val>
                                        </p:tav>
                                        <p:tav tm="100000">
                                          <p:val>
                                            <p:strVal val="#ppt_x"/>
                                          </p:val>
                                        </p:tav>
                                      </p:tavLst>
                                    </p:anim>
                                    <p:anim calcmode="lin" valueType="num">
                                      <p:cBhvr additive="base">
                                        <p:cTn id="5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0-#ppt_w/2"/>
                                          </p:val>
                                        </p:tav>
                                        <p:tav tm="100000">
                                          <p:val>
                                            <p:strVal val="#ppt_x"/>
                                          </p:val>
                                        </p:tav>
                                      </p:tavLst>
                                    </p:anim>
                                    <p:anim calcmode="lin" valueType="num">
                                      <p:cBhvr additive="base">
                                        <p:cTn id="56"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0-#ppt_w/2"/>
                                          </p:val>
                                        </p:tav>
                                        <p:tav tm="100000">
                                          <p:val>
                                            <p:strVal val="#ppt_x"/>
                                          </p:val>
                                        </p:tav>
                                      </p:tavLst>
                                    </p:anim>
                                    <p:anim calcmode="lin" valueType="num">
                                      <p:cBhvr additive="base">
                                        <p:cTn id="6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0-#ppt_w/2"/>
                                          </p:val>
                                        </p:tav>
                                        <p:tav tm="100000">
                                          <p:val>
                                            <p:strVal val="#ppt_x"/>
                                          </p:val>
                                        </p:tav>
                                      </p:tavLst>
                                    </p:anim>
                                    <p:anim calcmode="lin" valueType="num">
                                      <p:cBhvr additive="base">
                                        <p:cTn id="6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13" grpId="0" autoUpdateAnimBg="0"/>
      <p:bldP spid="14" grpId="0" autoUpdateAnimBg="0"/>
      <p:bldP spid="16" grpId="0" animBg="1" autoUpdateAnimBg="0"/>
      <p:bldP spid="17" grpId="0" animBg="1" autoUpdateAnimBg="0"/>
      <p:bldP spid="18"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7AD6E-E14C-C34A-25AF-782E54972768}"/>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481F9B5D-D108-F405-27E8-F272E18BA620}"/>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Μη </a:t>
            </a:r>
            <a:r>
              <a:rPr lang="el-GR" sz="4000" b="1" dirty="0" err="1">
                <a:solidFill>
                  <a:srgbClr val="F9853D"/>
                </a:solidFill>
                <a:latin typeface="Bahnschrift" panose="020B0502040204020203" pitchFamily="34" charset="0"/>
              </a:rPr>
              <a:t>εκτυπούμενοι</a:t>
            </a:r>
            <a:r>
              <a:rPr lang="el-GR" sz="4000" b="1" dirty="0">
                <a:solidFill>
                  <a:srgbClr val="F9853D"/>
                </a:solidFill>
                <a:latin typeface="Bahnschrift" panose="020B0502040204020203" pitchFamily="34" charset="0"/>
              </a:rPr>
              <a:t> χαρακτήρες</a:t>
            </a:r>
          </a:p>
        </p:txBody>
      </p:sp>
      <p:grpSp>
        <p:nvGrpSpPr>
          <p:cNvPr id="4" name="Group 3">
            <a:extLst>
              <a:ext uri="{FF2B5EF4-FFF2-40B4-BE49-F238E27FC236}">
                <a16:creationId xmlns:a16="http://schemas.microsoft.com/office/drawing/2014/main" id="{C53331B0-9DAE-2A33-806E-2E1C3CC705DA}"/>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8A8A827D-14FD-7844-E400-5097B33B73A3}"/>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12AD339C-7002-BD4A-7239-C46B9CCB3C4C}"/>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180FDFB-D6C7-75A2-AD46-F8FF2C8CC338}"/>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23</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A07DCD1A-5FCD-5961-9889-BCE1D22E8828}"/>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E3D73472-8959-B31E-F484-F3C75FF23F50}"/>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Rectangle 4">
            <a:extLst>
              <a:ext uri="{FF2B5EF4-FFF2-40B4-BE49-F238E27FC236}">
                <a16:creationId xmlns:a16="http://schemas.microsoft.com/office/drawing/2014/main" id="{2B68A544-B699-95F1-4942-AB37402EA90C}"/>
              </a:ext>
            </a:extLst>
          </p:cNvPr>
          <p:cNvSpPr txBox="1">
            <a:spLocks noChangeArrowheads="1"/>
          </p:cNvSpPr>
          <p:nvPr/>
        </p:nvSpPr>
        <p:spPr bwMode="auto">
          <a:xfrm>
            <a:off x="420688" y="719331"/>
            <a:ext cx="4269299"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GB" altLang="el-GR"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\a</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alert</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GB" altLang="el-GR"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\b</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backspace</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GB" altLang="el-GR"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\f</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form feed</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GB" altLang="el-GR"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\n</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newline</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GB" altLang="el-GR"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\r</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carriage return</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GB" altLang="el-GR"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\t</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horizontal tab</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GB" altLang="el-GR"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\v</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vertical tab</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GB" altLang="el-GR"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backslash</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n-GB" altLang="el-GR"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single quote</a:t>
            </a:r>
            <a:endParaRPr kumimoji="0" lang="en-GB" altLang="el-GR" b="0" i="0" u="none" strike="noStrike" kern="1200" cap="none" spc="0" normalizeH="0" baseline="0" noProof="0" dirty="0">
              <a:ln>
                <a:noFill/>
              </a:ln>
              <a:solidFill>
                <a:srgbClr val="000000"/>
              </a:solidFill>
              <a:effectLst/>
              <a:uLnTx/>
              <a:uFillTx/>
              <a:latin typeface="Times New Roman Greek" panose="02020603050405020304" pitchFamily="18" charset="0"/>
              <a:ea typeface="+mn-ea"/>
              <a:cs typeface="+mn-cs"/>
            </a:endParaRPr>
          </a:p>
        </p:txBody>
      </p:sp>
      <p:sp>
        <p:nvSpPr>
          <p:cNvPr id="13" name="Rectangle 5">
            <a:extLst>
              <a:ext uri="{FF2B5EF4-FFF2-40B4-BE49-F238E27FC236}">
                <a16:creationId xmlns:a16="http://schemas.microsoft.com/office/drawing/2014/main" id="{60102793-BC41-0BB0-204E-CA73DFBC1A56}"/>
              </a:ext>
            </a:extLst>
          </p:cNvPr>
          <p:cNvSpPr>
            <a:spLocks noChangeArrowheads="1"/>
          </p:cNvSpPr>
          <p:nvPr/>
        </p:nvSpPr>
        <p:spPr bwMode="auto">
          <a:xfrm>
            <a:off x="5000500" y="1347969"/>
            <a:ext cx="54713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20000"/>
              </a:spcBef>
              <a:spcAft>
                <a:spcPct val="0"/>
              </a:spcAft>
              <a:buClr>
                <a:srgbClr val="000000"/>
              </a:buClr>
              <a:buSzPct val="75000"/>
            </a:pPr>
            <a:r>
              <a:rPr lang="en-GB" altLang="el-GR" sz="3200" b="1" dirty="0">
                <a:solidFill>
                  <a:srgbClr val="F9853D"/>
                </a:solidFill>
                <a:latin typeface="Bahnschrift" panose="020B0502040204020203" pitchFamily="34" charset="0"/>
                <a:ea typeface="+mj-ea"/>
                <a:cs typeface="+mj-cs"/>
              </a:rPr>
              <a:t>Escape character sequences</a:t>
            </a:r>
          </a:p>
        </p:txBody>
      </p:sp>
      <p:sp>
        <p:nvSpPr>
          <p:cNvPr id="15" name="TextBox 14">
            <a:extLst>
              <a:ext uri="{FF2B5EF4-FFF2-40B4-BE49-F238E27FC236}">
                <a16:creationId xmlns:a16="http://schemas.microsoft.com/office/drawing/2014/main" id="{A27F8DB3-1AF7-7E4A-1225-4DDDF03628E8}"/>
              </a:ext>
            </a:extLst>
          </p:cNvPr>
          <p:cNvSpPr txBox="1"/>
          <p:nvPr/>
        </p:nvSpPr>
        <p:spPr>
          <a:xfrm>
            <a:off x="978311" y="5281510"/>
            <a:ext cx="9689690" cy="458587"/>
          </a:xfrm>
          <a:prstGeom prst="rect">
            <a:avLst/>
          </a:prstGeom>
          <a:solidFill>
            <a:schemeClr val="accent3">
              <a:lumMod val="40000"/>
              <a:lumOff val="60000"/>
            </a:schemeClr>
          </a:solidFill>
          <a:ln w="57150">
            <a:solidFill>
              <a:schemeClr val="bg1"/>
            </a:solidFill>
          </a:ln>
        </p:spPr>
        <p:txBody>
          <a:bodyPr wrap="square">
            <a:spAutoFit/>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GB" altLang="el-GR" sz="2800" b="1" i="1"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printf</a:t>
            </a:r>
            <a:r>
              <a:rPr kumimoji="0" lang="en-GB" altLang="el-GR" sz="2800" b="1" i="1"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(“Write, \”a \\ is a backslash.\”\n”);</a:t>
            </a:r>
          </a:p>
        </p:txBody>
      </p:sp>
      <p:sp>
        <p:nvSpPr>
          <p:cNvPr id="6" name="TextBox 5">
            <a:extLst>
              <a:ext uri="{FF2B5EF4-FFF2-40B4-BE49-F238E27FC236}">
                <a16:creationId xmlns:a16="http://schemas.microsoft.com/office/drawing/2014/main" id="{56170BF2-257E-1A93-7B08-501475815E85}"/>
              </a:ext>
            </a:extLst>
          </p:cNvPr>
          <p:cNvSpPr txBox="1"/>
          <p:nvPr/>
        </p:nvSpPr>
        <p:spPr>
          <a:xfrm>
            <a:off x="1524000" y="5837130"/>
            <a:ext cx="9689690" cy="496161"/>
          </a:xfrm>
          <a:prstGeom prst="rect">
            <a:avLst/>
          </a:prstGeom>
          <a:solidFill>
            <a:schemeClr val="bg1"/>
          </a:solidFill>
          <a:ln w="57150">
            <a:solidFill>
              <a:schemeClr val="bg1"/>
            </a:solidFill>
          </a:ln>
        </p:spPr>
        <p:txBody>
          <a:bodyPr wrap="square">
            <a:spAutoFit/>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GB" altLang="el-GR" sz="3200" b="1" i="0" u="none" strike="noStrike" kern="1200" cap="none" spc="0" normalizeH="0" baseline="0" noProof="0" dirty="0">
                <a:ln>
                  <a:noFill/>
                </a:ln>
                <a:solidFill>
                  <a:schemeClr val="accent1">
                    <a:lumMod val="50000"/>
                  </a:schemeClr>
                </a:solidFill>
                <a:effectLst/>
                <a:uLnTx/>
                <a:uFillTx/>
                <a:latin typeface="HellasTimes" charset="0"/>
                <a:ea typeface="+mn-ea"/>
                <a:cs typeface="+mn-cs"/>
              </a:rPr>
              <a:t>Write, “a \ is a backslash.”</a:t>
            </a:r>
          </a:p>
        </p:txBody>
      </p:sp>
    </p:spTree>
    <p:extLst>
      <p:ext uri="{BB962C8B-B14F-4D97-AF65-F5344CB8AC3E}">
        <p14:creationId xmlns:p14="http://schemas.microsoft.com/office/powerpoint/2010/main" val="341587041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0-#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autoUpdateAnimBg="0"/>
      <p:bldP spid="13" grpId="0" autoUpdateAnimBg="0"/>
      <p:bldP spid="15" grpId="0" animBg="1"/>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C9449-4BD8-8C38-E257-B16E9A9BF5E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0D272F69-A7A5-E3CE-0F58-674A76DC39ED}"/>
              </a:ext>
            </a:extLst>
          </p:cNvPr>
          <p:cNvSpPr>
            <a:spLocks noGrp="1"/>
          </p:cNvSpPr>
          <p:nvPr>
            <p:ph type="title"/>
          </p:nvPr>
        </p:nvSpPr>
        <p:spPr>
          <a:xfrm>
            <a:off x="0" y="0"/>
            <a:ext cx="12191999" cy="719331"/>
          </a:xfrm>
          <a:solidFill>
            <a:srgbClr val="FDCBAD"/>
          </a:solidFill>
        </p:spPr>
        <p:txBody>
          <a:bodyPr>
            <a:normAutofit fontScale="90000"/>
          </a:bodyPr>
          <a:lstStyle/>
          <a:p>
            <a:r>
              <a:rPr lang="el-GR" sz="4000" b="1" dirty="0">
                <a:solidFill>
                  <a:srgbClr val="F9853D"/>
                </a:solidFill>
                <a:latin typeface="Bahnschrift" panose="020B0502040204020203" pitchFamily="34" charset="0"/>
              </a:rPr>
              <a:t>Πηγαίος κώδικας προγράμματος εισαγωγής χαρακτήρα</a:t>
            </a:r>
          </a:p>
        </p:txBody>
      </p:sp>
      <p:grpSp>
        <p:nvGrpSpPr>
          <p:cNvPr id="4" name="Group 3">
            <a:extLst>
              <a:ext uri="{FF2B5EF4-FFF2-40B4-BE49-F238E27FC236}">
                <a16:creationId xmlns:a16="http://schemas.microsoft.com/office/drawing/2014/main" id="{648C97C2-8C16-66CE-54FA-988B70C6E0A0}"/>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69CC0514-1522-8E55-6F8F-85950BD764C0}"/>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98B93D82-73C9-AF3A-A5FB-52525EAC86B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3819BC11-27B7-CA0B-1635-6D1841EAD361}"/>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24</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87791F3E-7FDD-F7E4-AC30-5D6AAF40FFD2}"/>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25CF13BC-35C0-4063-782D-6D84C0E604FB}"/>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6" name="Picture 5" descr="A screenshot of a computer code&#10;&#10;AI-generated content may be incorrect.">
            <a:extLst>
              <a:ext uri="{FF2B5EF4-FFF2-40B4-BE49-F238E27FC236}">
                <a16:creationId xmlns:a16="http://schemas.microsoft.com/office/drawing/2014/main" id="{0C268B3A-FCDE-B436-187A-DB4E3B7BEF73}"/>
              </a:ext>
            </a:extLst>
          </p:cNvPr>
          <p:cNvPicPr>
            <a:picLocks noChangeAspect="1"/>
          </p:cNvPicPr>
          <p:nvPr/>
        </p:nvPicPr>
        <p:blipFill>
          <a:blip r:embed="rId3"/>
          <a:stretch>
            <a:fillRect/>
          </a:stretch>
        </p:blipFill>
        <p:spPr>
          <a:xfrm>
            <a:off x="230843" y="947536"/>
            <a:ext cx="10848672" cy="4627354"/>
          </a:xfrm>
          <a:prstGeom prst="rect">
            <a:avLst/>
          </a:prstGeom>
        </p:spPr>
      </p:pic>
    </p:spTree>
    <p:extLst>
      <p:ext uri="{BB962C8B-B14F-4D97-AF65-F5344CB8AC3E}">
        <p14:creationId xmlns:p14="http://schemas.microsoft.com/office/powerpoint/2010/main" val="19563752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BFBBD-30C5-3C00-000E-7709D4782D6C}"/>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D5A8AD7A-09DC-90B2-A013-AE18AD29FE56}"/>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F7813C8D-65A4-5368-E187-3FC8F97B80C7}"/>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A25AA5C4-43A5-FD6B-10B4-FF59E5D23058}"/>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4B8BE6E0-6696-B167-DC73-2F803268891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25</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58EE12B4-08B1-9536-06D4-9148D53FF3A9}"/>
              </a:ext>
            </a:extLst>
          </p:cNvPr>
          <p:cNvSpPr txBox="1">
            <a:spLocks/>
          </p:cNvSpPr>
          <p:nvPr/>
        </p:nvSpPr>
        <p:spPr>
          <a:xfrm>
            <a:off x="4149680" y="6670790"/>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Control flow</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Arrays</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Type conversions</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3035D4F2-16F6-BFAE-51CF-6C6AEA7716EB}"/>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A213BF55-BAAF-CA27-3E4A-CFEBA69FB693}"/>
              </a:ext>
            </a:extLst>
          </p:cNvPr>
          <p:cNvSpPr txBox="1">
            <a:spLocks noChangeArrowheads="1"/>
          </p:cNvSpPr>
          <p:nvPr/>
        </p:nvSpPr>
        <p:spPr bwMode="auto">
          <a:xfrm>
            <a:off x="492449" y="914699"/>
            <a:ext cx="11207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80000"/>
              </a:lnSpc>
            </a:pPr>
            <a:r>
              <a:rPr lang="el-GR" altLang="el-GR" b="1" dirty="0">
                <a:solidFill>
                  <a:srgbClr val="F9853D"/>
                </a:solidFill>
                <a:latin typeface="Bahnschrift" panose="020B0502040204020203" pitchFamily="34" charset="0"/>
              </a:rPr>
              <a:t>Μεταβλητή</a:t>
            </a:r>
          </a:p>
          <a:p>
            <a:pPr lvl="1" eaLnBrk="1" hangingPunct="1">
              <a:lnSpc>
                <a:spcPct val="80000"/>
              </a:lnSpc>
            </a:pPr>
            <a:r>
              <a:rPr lang="el-GR" altLang="el-GR" kern="0" dirty="0">
                <a:latin typeface="Times New Roman" panose="02020603050405020304" pitchFamily="18" charset="0"/>
              </a:rPr>
              <a:t>Ορισμός</a:t>
            </a:r>
          </a:p>
          <a:p>
            <a:pPr lvl="1" eaLnBrk="1" hangingPunct="1">
              <a:lnSpc>
                <a:spcPct val="80000"/>
              </a:lnSpc>
            </a:pPr>
            <a:r>
              <a:rPr lang="el-GR" altLang="el-GR" kern="0" dirty="0">
                <a:latin typeface="Times New Roman" panose="02020603050405020304" pitchFamily="18" charset="0"/>
              </a:rPr>
              <a:t>Δήλωση – Κανόνες Δήλωσης (στην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l-GR" altLang="el-GR" b="1" dirty="0">
                <a:solidFill>
                  <a:srgbClr val="F9853D"/>
                </a:solidFill>
                <a:latin typeface="Bahnschrift" panose="020B0502040204020203" pitchFamily="34" charset="0"/>
              </a:rPr>
              <a:t>Τύποι Δεδομένων</a:t>
            </a:r>
          </a:p>
          <a:p>
            <a:pPr lvl="1" eaLnBrk="1" hangingPunct="1">
              <a:lnSpc>
                <a:spcPct val="80000"/>
              </a:lnSpc>
            </a:pPr>
            <a:r>
              <a:rPr lang="el-GR" altLang="el-GR" kern="0" dirty="0">
                <a:latin typeface="Times New Roman" panose="02020603050405020304" pitchFamily="18" charset="0"/>
              </a:rPr>
              <a:t>Τύποι δεδομένων στη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ακεραίου (</a:t>
            </a:r>
            <a:r>
              <a:rPr lang="en-US" altLang="el-GR" b="1" dirty="0">
                <a:solidFill>
                  <a:srgbClr val="F9853D"/>
                </a:solidFill>
                <a:latin typeface="Bahnschrift" panose="020B0502040204020203" pitchFamily="34" charset="0"/>
              </a:rPr>
              <a:t>int</a:t>
            </a:r>
            <a:r>
              <a:rPr lang="el-GR" altLang="el-GR" b="1" dirty="0">
                <a:solidFill>
                  <a:srgbClr val="F9853D"/>
                </a:solidFill>
                <a:latin typeface="Bahnschrift" panose="020B0502040204020203" pitchFamily="34" charset="0"/>
              </a:rPr>
              <a:t>)</a:t>
            </a:r>
            <a:endParaRPr lang="en-US" altLang="el-GR" b="1" dirty="0">
              <a:solidFill>
                <a:srgbClr val="F9853D"/>
              </a:solidFill>
              <a:latin typeface="Bahnschrift" panose="020B0502040204020203" pitchFamily="34"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χαρακτήρα</a:t>
            </a:r>
          </a:p>
          <a:p>
            <a:pPr eaLnBrk="1" hangingPunct="1">
              <a:lnSpc>
                <a:spcPct val="80000"/>
              </a:lnSpc>
            </a:pPr>
            <a:r>
              <a:rPr lang="el-GR" altLang="el-GR" b="1" dirty="0">
                <a:solidFill>
                  <a:srgbClr val="C00000"/>
                </a:solidFill>
                <a:latin typeface="Bahnschrift" panose="020B0502040204020203" pitchFamily="34" charset="0"/>
              </a:rPr>
              <a:t>Οι τύποι αριθμού κινητής υποδιαστολής </a:t>
            </a:r>
          </a:p>
          <a:p>
            <a:pPr lvl="1" eaLnBrk="1" hangingPunct="1">
              <a:lnSpc>
                <a:spcPct val="80000"/>
              </a:lnSpc>
            </a:pPr>
            <a:r>
              <a:rPr lang="en-US" altLang="el-GR" kern="0" dirty="0">
                <a:latin typeface="Times New Roman" panose="02020603050405020304" pitchFamily="18" charset="0"/>
              </a:rPr>
              <a:t>float</a:t>
            </a:r>
            <a:r>
              <a:rPr lang="el-GR" altLang="el-GR" kern="0" dirty="0">
                <a:latin typeface="Times New Roman" panose="02020603050405020304" pitchFamily="18" charset="0"/>
              </a:rPr>
              <a:t> - </a:t>
            </a:r>
            <a:r>
              <a:rPr lang="en-US" altLang="el-GR" kern="0" dirty="0">
                <a:latin typeface="Times New Roman" panose="02020603050405020304" pitchFamily="18" charset="0"/>
              </a:rPr>
              <a:t>double</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της Συμβολοσειράς</a:t>
            </a:r>
          </a:p>
          <a:p>
            <a:pPr eaLnBrk="1" hangingPunct="1">
              <a:lnSpc>
                <a:spcPct val="80000"/>
              </a:lnSpc>
            </a:pPr>
            <a:r>
              <a:rPr lang="el-GR" altLang="el-GR" b="1" dirty="0">
                <a:solidFill>
                  <a:srgbClr val="F9853D"/>
                </a:solidFill>
                <a:latin typeface="Bahnschrift" panose="020B0502040204020203" pitchFamily="34" charset="0"/>
              </a:rPr>
              <a:t>Σταθερές</a:t>
            </a:r>
          </a:p>
          <a:p>
            <a:pPr lvl="1" eaLnBrk="1" hangingPunct="1">
              <a:lnSpc>
                <a:spcPct val="80000"/>
              </a:lnSpc>
            </a:pPr>
            <a:r>
              <a:rPr lang="el-GR" altLang="el-GR" kern="0" dirty="0">
                <a:latin typeface="Times New Roman" panose="02020603050405020304" pitchFamily="18" charset="0"/>
              </a:rPr>
              <a:t>Σταθερά απαρίθμησης  (</a:t>
            </a:r>
            <a:r>
              <a:rPr lang="en-GB" altLang="el-GR" kern="0" dirty="0" err="1">
                <a:latin typeface="Times New Roman" panose="02020603050405020304" pitchFamily="18" charset="0"/>
              </a:rPr>
              <a:t>enum</a:t>
            </a:r>
            <a:r>
              <a:rPr lang="en-GB" altLang="el-GR" kern="0" dirty="0">
                <a:latin typeface="Times New Roman" panose="02020603050405020304" pitchFamily="18" charset="0"/>
              </a:rPr>
              <a:t>)</a:t>
            </a:r>
            <a:endParaRPr lang="el-GR" altLang="el-GR" kern="0" dirty="0">
              <a:latin typeface="Times New Roman" panose="02020603050405020304" pitchFamily="18" charset="0"/>
            </a:endParaRPr>
          </a:p>
        </p:txBody>
      </p:sp>
    </p:spTree>
    <p:extLst>
      <p:ext uri="{BB962C8B-B14F-4D97-AF65-F5344CB8AC3E}">
        <p14:creationId xmlns:p14="http://schemas.microsoft.com/office/powerpoint/2010/main" val="18828045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1DA77-2EFB-E590-A44E-908C2846DA2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53030D2E-3A98-38EF-EE7E-1CD1168CB848}"/>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Float - Double</a:t>
            </a:r>
            <a:endParaRPr lang="el-GR" sz="4000" b="1" dirty="0">
              <a:solidFill>
                <a:srgbClr val="F9853D"/>
              </a:solidFill>
              <a:latin typeface="Bahnschrift" panose="020B0502040204020203" pitchFamily="34" charset="0"/>
            </a:endParaRPr>
          </a:p>
        </p:txBody>
      </p:sp>
      <p:grpSp>
        <p:nvGrpSpPr>
          <p:cNvPr id="4" name="Group 3">
            <a:extLst>
              <a:ext uri="{FF2B5EF4-FFF2-40B4-BE49-F238E27FC236}">
                <a16:creationId xmlns:a16="http://schemas.microsoft.com/office/drawing/2014/main" id="{F428075F-ACEF-A0F8-BC6D-23A1D572391F}"/>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E70AF31B-9E0C-5A16-A025-66B55A07A503}"/>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4BE18A58-C27C-A6B7-EB58-1DCF2D3033B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D29509E1-AB2E-0890-73AB-4E5AE3BE6A0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26</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B878F55B-C7A8-183B-0643-04ED8A8FEE13}"/>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181BA83D-919A-6C7A-F695-5904F8B00FE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7" name="Rectangle 3">
            <a:extLst>
              <a:ext uri="{FF2B5EF4-FFF2-40B4-BE49-F238E27FC236}">
                <a16:creationId xmlns:a16="http://schemas.microsoft.com/office/drawing/2014/main" id="{F40AB520-5BB5-2E73-F3ED-EF0847ED01A3}"/>
              </a:ext>
            </a:extLst>
          </p:cNvPr>
          <p:cNvSpPr txBox="1">
            <a:spLocks noChangeArrowheads="1"/>
          </p:cNvSpPr>
          <p:nvPr/>
        </p:nvSpPr>
        <p:spPr bwMode="auto">
          <a:xfrm>
            <a:off x="560259" y="1194208"/>
            <a:ext cx="11149959" cy="2537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5000"/>
              </a:spcBef>
              <a:spcAft>
                <a:spcPct val="0"/>
              </a:spcAft>
              <a:buClr>
                <a:srgbClr val="3333CC"/>
              </a:buClr>
              <a:buSzPct val="60000"/>
              <a:buFont typeface="Wingdings" panose="05000000000000000000" pitchFamily="2" charset="2"/>
              <a:buNone/>
              <a:tabLst/>
              <a:defRPr/>
            </a:pPr>
            <a:r>
              <a:rPr kumimoji="0" lang="en-GB" altLang="el-GR"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float</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-&gt;	</a:t>
            </a:r>
            <a:r>
              <a:rPr kumimoji="0" lang="en-GB" altLang="el-GR"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32</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bits 	(</a:t>
            </a:r>
            <a:r>
              <a:rPr kumimoji="0" lang="en-GB" altLang="el-GR"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8</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γι</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α εκθέτη και πρόσημο)</a:t>
            </a:r>
          </a:p>
          <a:p>
            <a:pPr marL="342900" marR="0" lvl="0" indent="-342900" algn="l" defTabSz="914400" rtl="0" eaLnBrk="1" fontAlgn="base" latinLnBrk="0" hangingPunct="1">
              <a:lnSpc>
                <a:spcPct val="80000"/>
              </a:lnSpc>
              <a:spcBef>
                <a:spcPct val="5000"/>
              </a:spcBef>
              <a:spcAft>
                <a:spcPct val="0"/>
              </a:spcAft>
              <a:buClr>
                <a:srgbClr val="3333CC"/>
              </a:buClr>
              <a:buSzPct val="60000"/>
              <a:buFont typeface="Wingdings" panose="05000000000000000000" pitchFamily="2" charset="2"/>
              <a:buNone/>
              <a:tabLst/>
              <a:defRPr/>
            </a:pP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US"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r>
              <a:rPr kumimoji="0" lang="en-GB" altLang="el-GR"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24</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γι</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α βάση)</a:t>
            </a:r>
          </a:p>
          <a:p>
            <a:pPr marL="342900" marR="0" lvl="0" indent="-342900" algn="l" defTabSz="914400" rtl="0" eaLnBrk="1" fontAlgn="base" latinLnBrk="0" hangingPunct="1">
              <a:lnSpc>
                <a:spcPct val="80000"/>
              </a:lnSpc>
              <a:spcBef>
                <a:spcPct val="5000"/>
              </a:spcBef>
              <a:spcAft>
                <a:spcPct val="0"/>
              </a:spcAft>
              <a:buClr>
                <a:srgbClr val="3333CC"/>
              </a:buClr>
              <a:buSzPct val="60000"/>
              <a:buFont typeface="Wingdings" panose="05000000000000000000" pitchFamily="2" charset="2"/>
              <a:buNone/>
              <a:tabLst/>
              <a:defRPr/>
            </a:pPr>
            <a:endPar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80000"/>
              </a:lnSpc>
              <a:spcBef>
                <a:spcPct val="5000"/>
              </a:spcBef>
              <a:spcAft>
                <a:spcPct val="0"/>
              </a:spcAft>
              <a:buClr>
                <a:srgbClr val="3333CC"/>
              </a:buClr>
              <a:buSzPct val="60000"/>
              <a:buFont typeface="Wingdings" panose="05000000000000000000" pitchFamily="2" charset="2"/>
              <a:buNone/>
              <a:tabLst/>
              <a:defRPr/>
            </a:pPr>
            <a:r>
              <a:rPr kumimoji="0" lang="en-US" altLang="el-GR"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d</a:t>
            </a:r>
            <a:r>
              <a:rPr kumimoji="0" lang="en-GB" altLang="el-GR"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mn-cs"/>
              </a:rPr>
              <a:t>ouble</a:t>
            </a:r>
            <a:r>
              <a:rPr kumimoji="0" lang="el-GR"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-&gt;	</a:t>
            </a:r>
            <a:r>
              <a:rPr kumimoji="0" lang="en-GB" altLang="el-GR"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συνήθως</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64 bits </a:t>
            </a:r>
          </a:p>
          <a:p>
            <a:pPr lvl="0">
              <a:lnSpc>
                <a:spcPct val="80000"/>
              </a:lnSpc>
              <a:spcBef>
                <a:spcPct val="5000"/>
              </a:spcBef>
              <a:buClr>
                <a:srgbClr val="3333CC"/>
              </a:buClr>
              <a:buNone/>
              <a:defRPr/>
            </a:pP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28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mn-cs"/>
              </a:rPr>
              <a:t>μερικά συστήματα χρησιμοποιούν τα επιπλέον 32 </a:t>
            </a:r>
            <a:r>
              <a:rPr lang="el-GR" altLang="el-GR" sz="2800" dirty="0" err="1">
                <a:solidFill>
                  <a:srgbClr val="3333CC"/>
                </a:solidFill>
                <a:latin typeface="Times New Roman" panose="02020603050405020304" pitchFamily="18" charset="0"/>
              </a:rPr>
              <a:t>bits</a:t>
            </a:r>
            <a:r>
              <a:rPr lang="el-GR" altLang="el-GR" sz="2800" dirty="0">
                <a:solidFill>
                  <a:srgbClr val="3333CC"/>
                </a:solidFill>
                <a:latin typeface="Times New Roman" panose="02020603050405020304" pitchFamily="18" charset="0"/>
              </a:rPr>
              <a:t> για βάση </a:t>
            </a:r>
            <a:r>
              <a:rPr kumimoji="0" lang="el-GR" altLang="el-GR" sz="28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mn-cs"/>
              </a:rPr>
              <a:t>		αυξάνοντας την ακρίβεια</a:t>
            </a:r>
          </a:p>
        </p:txBody>
      </p:sp>
      <p:sp>
        <p:nvSpPr>
          <p:cNvPr id="13" name="TextBox 12">
            <a:extLst>
              <a:ext uri="{FF2B5EF4-FFF2-40B4-BE49-F238E27FC236}">
                <a16:creationId xmlns:a16="http://schemas.microsoft.com/office/drawing/2014/main" id="{188B608B-5D38-43CA-36D0-96F0A434E6A8}"/>
              </a:ext>
            </a:extLst>
          </p:cNvPr>
          <p:cNvSpPr txBox="1"/>
          <p:nvPr/>
        </p:nvSpPr>
        <p:spPr>
          <a:xfrm>
            <a:off x="4899032" y="5593693"/>
            <a:ext cx="6209070" cy="510909"/>
          </a:xfrm>
          <a:prstGeom prst="rect">
            <a:avLst/>
          </a:prstGeom>
          <a:solidFill>
            <a:schemeClr val="accent1">
              <a:lumMod val="40000"/>
              <a:lumOff val="60000"/>
            </a:schemeClr>
          </a:solidFill>
        </p:spPr>
        <p:txBody>
          <a:bodyPr wrap="square">
            <a:spAutoFit/>
          </a:bodyPr>
          <a:lstStyle/>
          <a:p>
            <a:pPr fontAlgn="base">
              <a:lnSpc>
                <a:spcPct val="80000"/>
              </a:lnSpc>
              <a:spcBef>
                <a:spcPct val="5000"/>
              </a:spcBef>
              <a:spcAft>
                <a:spcPct val="0"/>
              </a:spcAft>
              <a:buClr>
                <a:srgbClr val="3333CC"/>
              </a:buClr>
              <a:buSzPct val="60000"/>
            </a:pPr>
            <a:r>
              <a:rPr lang="en-GB" altLang="el-GR" sz="3200" b="1" dirty="0">
                <a:solidFill>
                  <a:srgbClr val="000000"/>
                </a:solidFill>
                <a:latin typeface="Courier New" panose="02070309020205020404" pitchFamily="49" charset="0"/>
              </a:rPr>
              <a:t>float plank = 6.63e-34;</a:t>
            </a:r>
          </a:p>
        </p:txBody>
      </p:sp>
      <p:sp>
        <p:nvSpPr>
          <p:cNvPr id="9" name="Rectangle 3">
            <a:extLst>
              <a:ext uri="{FF2B5EF4-FFF2-40B4-BE49-F238E27FC236}">
                <a16:creationId xmlns:a16="http://schemas.microsoft.com/office/drawing/2014/main" id="{6AE9584D-8029-454A-9A9C-A10E7CA8F4FD}"/>
              </a:ext>
            </a:extLst>
          </p:cNvPr>
          <p:cNvSpPr txBox="1">
            <a:spLocks noChangeArrowheads="1"/>
          </p:cNvSpPr>
          <p:nvPr/>
        </p:nvSpPr>
        <p:spPr bwMode="auto">
          <a:xfrm>
            <a:off x="186832" y="3799371"/>
            <a:ext cx="11149959" cy="125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5000"/>
              </a:spcBef>
              <a:spcAft>
                <a:spcPct val="0"/>
              </a:spcAft>
              <a:buClr>
                <a:srgbClr val="3333CC"/>
              </a:buClr>
              <a:buSzPct val="60000"/>
              <a:buFont typeface="Wingdings" panose="05000000000000000000" pitchFamily="2" charset="2"/>
              <a:buChar char="n"/>
              <a:tabLst/>
              <a:defRPr/>
            </a:pPr>
            <a:r>
              <a:rPr kumimoji="0" lang="en-GB" altLang="el-GR" b="1"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mn-cs"/>
              </a:rPr>
              <a:t>Εκτύ</a:t>
            </a:r>
            <a:r>
              <a:rPr kumimoji="0" lang="en-GB" altLang="el-GR"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πωση</a:t>
            </a:r>
            <a:endParaRPr kumimoji="0" lang="en-US" altLang="el-GR"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80000"/>
              </a:lnSpc>
              <a:spcBef>
                <a:spcPct val="5000"/>
              </a:spcBef>
              <a:spcAft>
                <a:spcPct val="0"/>
              </a:spcAft>
              <a:buClr>
                <a:srgbClr val="3333CC"/>
              </a:buClr>
              <a:buSzPct val="60000"/>
              <a:buFont typeface="Wingdings" panose="05000000000000000000" pitchFamily="2" charset="2"/>
              <a:buNone/>
              <a:tabLst/>
              <a:defRPr/>
            </a:pPr>
            <a:r>
              <a:rPr kumimoji="0" lang="en-US"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r>
              <a:rPr kumimoji="0" lang="en-GB" altLang="el-GR"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f</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mn-cs"/>
              </a:rPr>
              <a:t>γι</a:t>
            </a:r>
            <a:r>
              <a:rPr kumimoji="0" lang="en-GB" altLang="el-GR"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mn-cs"/>
              </a:rPr>
              <a:t>α δεκαδικό</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endParaRPr kumimoji="0" lang="en-US"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80000"/>
              </a:lnSpc>
              <a:spcBef>
                <a:spcPct val="5000"/>
              </a:spcBef>
              <a:spcAft>
                <a:spcPct val="0"/>
              </a:spcAft>
              <a:buClr>
                <a:srgbClr val="3333CC"/>
              </a:buClr>
              <a:buSzPct val="60000"/>
              <a:buFont typeface="Wingdings" panose="05000000000000000000" pitchFamily="2" charset="2"/>
              <a:buNone/>
              <a:tabLst/>
              <a:defRPr/>
            </a:pPr>
            <a:r>
              <a:rPr kumimoji="0" lang="en-US"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r>
              <a:rPr kumimoji="0" lang="en-GB" altLang="el-GR"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e </a:t>
            </a:r>
            <a:r>
              <a:rPr kumimoji="0" lang="en-GB" altLang="el-G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mn-cs"/>
              </a:rPr>
              <a:t>γι</a:t>
            </a:r>
            <a:r>
              <a:rPr kumimoji="0" lang="en-GB" altLang="el-GR"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mn-cs"/>
              </a:rPr>
              <a:t>α εκθετικό</a:t>
            </a:r>
          </a:p>
        </p:txBody>
      </p:sp>
    </p:spTree>
    <p:extLst>
      <p:ext uri="{BB962C8B-B14F-4D97-AF65-F5344CB8AC3E}">
        <p14:creationId xmlns:p14="http://schemas.microsoft.com/office/powerpoint/2010/main" val="114383885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autoUpdateAnimBg="0"/>
      <p:bldP spid="13" grpId="0" animBg="1"/>
      <p:bldP spid="9" grpId="0" uiExpand="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4FFA5-D795-9671-7B52-FDF56F3A347A}"/>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1BA5F7A0-E56A-A9CD-C0E1-8FE400FFD786}"/>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65CDA32F-9E52-5B44-6777-A58AF675C0A6}"/>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42A28D8-D0BE-0E47-C961-667BC8A554E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AC457E2B-3957-13FD-E015-46865970182C}"/>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27</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5A562FD2-4585-01DF-6754-57263073E258}"/>
              </a:ext>
            </a:extLst>
          </p:cNvPr>
          <p:cNvSpPr txBox="1">
            <a:spLocks/>
          </p:cNvSpPr>
          <p:nvPr/>
        </p:nvSpPr>
        <p:spPr>
          <a:xfrm>
            <a:off x="4149680" y="6670790"/>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Control flow</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Arrays</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Type conversions</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2C321C71-8DC3-40B3-5728-3FB3FEA8952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D7309225-98CE-4371-E219-A2BCEC4A8151}"/>
              </a:ext>
            </a:extLst>
          </p:cNvPr>
          <p:cNvSpPr txBox="1">
            <a:spLocks noChangeArrowheads="1"/>
          </p:cNvSpPr>
          <p:nvPr/>
        </p:nvSpPr>
        <p:spPr bwMode="auto">
          <a:xfrm>
            <a:off x="492449" y="914699"/>
            <a:ext cx="11207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80000"/>
              </a:lnSpc>
            </a:pPr>
            <a:r>
              <a:rPr lang="el-GR" altLang="el-GR" b="1" dirty="0">
                <a:solidFill>
                  <a:srgbClr val="F9853D"/>
                </a:solidFill>
                <a:latin typeface="Bahnschrift" panose="020B0502040204020203" pitchFamily="34" charset="0"/>
              </a:rPr>
              <a:t>Μεταβλητή</a:t>
            </a:r>
          </a:p>
          <a:p>
            <a:pPr lvl="1" eaLnBrk="1" hangingPunct="1">
              <a:lnSpc>
                <a:spcPct val="80000"/>
              </a:lnSpc>
            </a:pPr>
            <a:r>
              <a:rPr lang="el-GR" altLang="el-GR" kern="0" dirty="0">
                <a:latin typeface="Times New Roman" panose="02020603050405020304" pitchFamily="18" charset="0"/>
              </a:rPr>
              <a:t>Ορισμός</a:t>
            </a:r>
          </a:p>
          <a:p>
            <a:pPr lvl="1" eaLnBrk="1" hangingPunct="1">
              <a:lnSpc>
                <a:spcPct val="80000"/>
              </a:lnSpc>
            </a:pPr>
            <a:r>
              <a:rPr lang="el-GR" altLang="el-GR" kern="0" dirty="0">
                <a:latin typeface="Times New Roman" panose="02020603050405020304" pitchFamily="18" charset="0"/>
              </a:rPr>
              <a:t>Δήλωση – Κανόνες Δήλωσης (στην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l-GR" altLang="el-GR" b="1" dirty="0">
                <a:solidFill>
                  <a:srgbClr val="F9853D"/>
                </a:solidFill>
                <a:latin typeface="Bahnschrift" panose="020B0502040204020203" pitchFamily="34" charset="0"/>
              </a:rPr>
              <a:t>Τύποι Δεδομένων</a:t>
            </a:r>
          </a:p>
          <a:p>
            <a:pPr lvl="1" eaLnBrk="1" hangingPunct="1">
              <a:lnSpc>
                <a:spcPct val="80000"/>
              </a:lnSpc>
            </a:pPr>
            <a:r>
              <a:rPr lang="el-GR" altLang="el-GR" kern="0" dirty="0">
                <a:latin typeface="Times New Roman" panose="02020603050405020304" pitchFamily="18" charset="0"/>
              </a:rPr>
              <a:t>Τύποι δεδομένων στη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ακεραίου (</a:t>
            </a:r>
            <a:r>
              <a:rPr lang="en-US" altLang="el-GR" b="1" dirty="0">
                <a:solidFill>
                  <a:srgbClr val="F9853D"/>
                </a:solidFill>
                <a:latin typeface="Bahnschrift" panose="020B0502040204020203" pitchFamily="34" charset="0"/>
              </a:rPr>
              <a:t>int</a:t>
            </a:r>
            <a:r>
              <a:rPr lang="el-GR" altLang="el-GR" b="1" dirty="0">
                <a:solidFill>
                  <a:srgbClr val="F9853D"/>
                </a:solidFill>
                <a:latin typeface="Bahnschrift" panose="020B0502040204020203" pitchFamily="34" charset="0"/>
              </a:rPr>
              <a:t>)</a:t>
            </a:r>
            <a:endParaRPr lang="en-US" altLang="el-GR" b="1" dirty="0">
              <a:solidFill>
                <a:srgbClr val="F9853D"/>
              </a:solidFill>
              <a:latin typeface="Bahnschrift" panose="020B0502040204020203" pitchFamily="34"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χαρακτήρα</a:t>
            </a:r>
          </a:p>
          <a:p>
            <a:pPr eaLnBrk="1" hangingPunct="1">
              <a:lnSpc>
                <a:spcPct val="80000"/>
              </a:lnSpc>
            </a:pPr>
            <a:r>
              <a:rPr lang="el-GR" altLang="el-GR" b="1" dirty="0">
                <a:solidFill>
                  <a:srgbClr val="F9853D"/>
                </a:solidFill>
                <a:latin typeface="Bahnschrift" panose="020B0502040204020203" pitchFamily="34" charset="0"/>
              </a:rPr>
              <a:t>Οι τύποι αριθμού κινητής υποδιαστολής </a:t>
            </a:r>
          </a:p>
          <a:p>
            <a:pPr lvl="1" eaLnBrk="1" hangingPunct="1">
              <a:lnSpc>
                <a:spcPct val="80000"/>
              </a:lnSpc>
            </a:pPr>
            <a:r>
              <a:rPr lang="en-US" altLang="el-GR" kern="0" dirty="0">
                <a:latin typeface="Times New Roman" panose="02020603050405020304" pitchFamily="18" charset="0"/>
              </a:rPr>
              <a:t>float</a:t>
            </a:r>
            <a:r>
              <a:rPr lang="el-GR" altLang="el-GR" kern="0" dirty="0">
                <a:latin typeface="Times New Roman" panose="02020603050405020304" pitchFamily="18" charset="0"/>
              </a:rPr>
              <a:t> - </a:t>
            </a:r>
            <a:r>
              <a:rPr lang="en-US" altLang="el-GR" kern="0" dirty="0">
                <a:latin typeface="Times New Roman" panose="02020603050405020304" pitchFamily="18" charset="0"/>
              </a:rPr>
              <a:t>double</a:t>
            </a:r>
            <a:endParaRPr lang="el-GR" altLang="el-GR" kern="0" dirty="0">
              <a:latin typeface="Times New Roman" panose="02020603050405020304" pitchFamily="18" charset="0"/>
            </a:endParaRPr>
          </a:p>
          <a:p>
            <a:pPr eaLnBrk="1" hangingPunct="1">
              <a:lnSpc>
                <a:spcPct val="80000"/>
              </a:lnSpc>
            </a:pPr>
            <a:r>
              <a:rPr lang="en-US" altLang="el-GR" b="1" dirty="0">
                <a:solidFill>
                  <a:srgbClr val="C00000"/>
                </a:solidFill>
                <a:latin typeface="Bahnschrift" panose="020B0502040204020203" pitchFamily="34" charset="0"/>
              </a:rPr>
              <a:t>O </a:t>
            </a:r>
            <a:r>
              <a:rPr lang="el-GR" altLang="el-GR" b="1" dirty="0">
                <a:solidFill>
                  <a:srgbClr val="C00000"/>
                </a:solidFill>
                <a:latin typeface="Bahnschrift" panose="020B0502040204020203" pitchFamily="34" charset="0"/>
              </a:rPr>
              <a:t>τύπος της Συμβολοσειράς</a:t>
            </a:r>
          </a:p>
          <a:p>
            <a:pPr eaLnBrk="1" hangingPunct="1">
              <a:lnSpc>
                <a:spcPct val="80000"/>
              </a:lnSpc>
            </a:pPr>
            <a:r>
              <a:rPr lang="el-GR" altLang="el-GR" b="1" dirty="0">
                <a:solidFill>
                  <a:srgbClr val="F9853D"/>
                </a:solidFill>
                <a:latin typeface="Bahnschrift" panose="020B0502040204020203" pitchFamily="34" charset="0"/>
              </a:rPr>
              <a:t>Σταθερές</a:t>
            </a:r>
          </a:p>
          <a:p>
            <a:pPr lvl="1" eaLnBrk="1" hangingPunct="1">
              <a:lnSpc>
                <a:spcPct val="80000"/>
              </a:lnSpc>
            </a:pPr>
            <a:r>
              <a:rPr lang="el-GR" altLang="el-GR" kern="0" dirty="0">
                <a:latin typeface="Times New Roman" panose="02020603050405020304" pitchFamily="18" charset="0"/>
              </a:rPr>
              <a:t>Σταθερά απαρίθμησης  (</a:t>
            </a:r>
            <a:r>
              <a:rPr lang="en-GB" altLang="el-GR" kern="0" dirty="0" err="1">
                <a:latin typeface="Times New Roman" panose="02020603050405020304" pitchFamily="18" charset="0"/>
              </a:rPr>
              <a:t>enum</a:t>
            </a:r>
            <a:r>
              <a:rPr lang="en-GB" altLang="el-GR" kern="0" dirty="0">
                <a:latin typeface="Times New Roman" panose="02020603050405020304" pitchFamily="18" charset="0"/>
              </a:rPr>
              <a:t>)</a:t>
            </a:r>
            <a:endParaRPr lang="el-GR" altLang="el-GR" kern="0" dirty="0">
              <a:latin typeface="Times New Roman" panose="02020603050405020304" pitchFamily="18" charset="0"/>
            </a:endParaRPr>
          </a:p>
        </p:txBody>
      </p:sp>
    </p:spTree>
    <p:extLst>
      <p:ext uri="{BB962C8B-B14F-4D97-AF65-F5344CB8AC3E}">
        <p14:creationId xmlns:p14="http://schemas.microsoft.com/office/powerpoint/2010/main" val="138357004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81C56-5E33-C4BF-7B3F-91FB08DACD2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28D03DEE-B8D3-2565-523D-5A4C3CC29A48}"/>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Συμβολοσειρά (</a:t>
            </a:r>
            <a:r>
              <a:rPr lang="el-GR" sz="4000" b="1" dirty="0" err="1">
                <a:solidFill>
                  <a:srgbClr val="F9853D"/>
                </a:solidFill>
                <a:latin typeface="Bahnschrift" panose="020B0502040204020203" pitchFamily="34" charset="0"/>
              </a:rPr>
              <a:t>String</a:t>
            </a:r>
            <a:r>
              <a:rPr lang="el-GR" sz="4000" b="1" dirty="0">
                <a:solidFill>
                  <a:srgbClr val="F9853D"/>
                </a:solidFill>
                <a:latin typeface="Bahnschrift" panose="020B0502040204020203" pitchFamily="34" charset="0"/>
              </a:rPr>
              <a:t>) ως πίνακας χαρακτήρων</a:t>
            </a:r>
            <a:endParaRPr lang="en-GB" sz="4000" b="1" dirty="0">
              <a:solidFill>
                <a:srgbClr val="F9853D"/>
              </a:solidFill>
              <a:latin typeface="Bahnschrift" panose="020B0502040204020203" pitchFamily="34" charset="0"/>
            </a:endParaRPr>
          </a:p>
        </p:txBody>
      </p:sp>
      <p:sp>
        <p:nvSpPr>
          <p:cNvPr id="3" name="Rectangle 2">
            <a:extLst>
              <a:ext uri="{FF2B5EF4-FFF2-40B4-BE49-F238E27FC236}">
                <a16:creationId xmlns:a16="http://schemas.microsoft.com/office/drawing/2014/main" id="{8706C4EC-2D94-D576-4C5C-0CC4A89D9969}"/>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7" name="Speech Bubble: Rectangle with Corners Rounded 6">
            <a:extLst>
              <a:ext uri="{FF2B5EF4-FFF2-40B4-BE49-F238E27FC236}">
                <a16:creationId xmlns:a16="http://schemas.microsoft.com/office/drawing/2014/main" id="{0B005278-AB19-423D-FFB1-EFB1151CD1F1}"/>
              </a:ext>
            </a:extLst>
          </p:cNvPr>
          <p:cNvSpPr/>
          <p:nvPr/>
        </p:nvSpPr>
        <p:spPr bwMode="auto">
          <a:xfrm>
            <a:off x="8631002" y="5102313"/>
            <a:ext cx="3411557" cy="1268875"/>
          </a:xfrm>
          <a:prstGeom prst="wedgeRoundRectCallout">
            <a:avLst>
              <a:gd name="adj1" fmla="val -80469"/>
              <a:gd name="adj2" fmla="val 81854"/>
              <a:gd name="adj3" fmla="val 16667"/>
            </a:avLst>
          </a:prstGeom>
          <a:solidFill>
            <a:srgbClr val="FFCF01"/>
          </a:solidFill>
          <a:ln w="9525" cap="flat" cmpd="sng" algn="ctr">
            <a:solidFill>
              <a:srgbClr val="FFFFFF"/>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fontAlgn="base">
              <a:spcBef>
                <a:spcPct val="0"/>
              </a:spcBef>
              <a:spcAft>
                <a:spcPct val="0"/>
              </a:spcAft>
              <a:defRPr/>
            </a:pPr>
            <a:r>
              <a:rPr lang="el-GR" sz="2200" b="1" kern="0">
                <a:solidFill>
                  <a:schemeClr val="bg1"/>
                </a:solidFill>
                <a:latin typeface="Tahoma" panose="020B0604030504040204" pitchFamily="34" charset="0"/>
              </a:rPr>
              <a:t>Το </a:t>
            </a:r>
            <a:r>
              <a:rPr lang="en-GB" sz="2200" b="1" kern="0">
                <a:solidFill>
                  <a:schemeClr val="bg1"/>
                </a:solidFill>
                <a:latin typeface="Tahoma" panose="020B0604030504040204" pitchFamily="34" charset="0"/>
              </a:rPr>
              <a:t>name </a:t>
            </a:r>
            <a:r>
              <a:rPr lang="el-GR" sz="2200" b="1" kern="0">
                <a:solidFill>
                  <a:schemeClr val="bg1"/>
                </a:solidFill>
                <a:latin typeface="Tahoma" panose="020B0604030504040204" pitchFamily="34" charset="0"/>
              </a:rPr>
              <a:t>είναι η διεύθυνση στο πρώτο στοιχείο του πίνακα</a:t>
            </a:r>
            <a:endParaRPr lang="en-GB" sz="2200" b="1" kern="0" dirty="0">
              <a:solidFill>
                <a:schemeClr val="bg1"/>
              </a:solidFill>
              <a:latin typeface="Tahoma" panose="020B0604030504040204" pitchFamily="34" charset="0"/>
            </a:endParaRPr>
          </a:p>
        </p:txBody>
      </p:sp>
      <p:pic>
        <p:nvPicPr>
          <p:cNvPr id="12" name="Picture 11">
            <a:extLst>
              <a:ext uri="{FF2B5EF4-FFF2-40B4-BE49-F238E27FC236}">
                <a16:creationId xmlns:a16="http://schemas.microsoft.com/office/drawing/2014/main" id="{052FA313-E8EB-9AF8-D383-DC10F9F62C56}"/>
              </a:ext>
            </a:extLst>
          </p:cNvPr>
          <p:cNvPicPr>
            <a:picLocks noChangeAspect="1"/>
          </p:cNvPicPr>
          <p:nvPr/>
        </p:nvPicPr>
        <p:blipFill>
          <a:blip r:embed="rId3"/>
          <a:stretch>
            <a:fillRect/>
          </a:stretch>
        </p:blipFill>
        <p:spPr>
          <a:xfrm>
            <a:off x="5186464" y="2985695"/>
            <a:ext cx="3444538" cy="2674852"/>
          </a:xfrm>
          <a:prstGeom prst="rect">
            <a:avLst/>
          </a:prstGeom>
        </p:spPr>
      </p:pic>
      <p:sp>
        <p:nvSpPr>
          <p:cNvPr id="13" name="TextBox 12">
            <a:extLst>
              <a:ext uri="{FF2B5EF4-FFF2-40B4-BE49-F238E27FC236}">
                <a16:creationId xmlns:a16="http://schemas.microsoft.com/office/drawing/2014/main" id="{B385F579-B822-86C5-64DD-5669E8A204F0}"/>
              </a:ext>
            </a:extLst>
          </p:cNvPr>
          <p:cNvSpPr txBox="1"/>
          <p:nvPr/>
        </p:nvSpPr>
        <p:spPr>
          <a:xfrm>
            <a:off x="5683804" y="5411922"/>
            <a:ext cx="1080120" cy="461665"/>
          </a:xfrm>
          <a:prstGeom prst="rect">
            <a:avLst/>
          </a:prstGeom>
          <a:noFill/>
        </p:spPr>
        <p:txBody>
          <a:bodyPr wrap="square" rtlCol="0">
            <a:spAutoFit/>
          </a:bodyPr>
          <a:lstStyle/>
          <a:p>
            <a:pPr fontAlgn="base">
              <a:spcBef>
                <a:spcPct val="0"/>
              </a:spcBef>
              <a:spcAft>
                <a:spcPct val="0"/>
              </a:spcAft>
            </a:pPr>
            <a:r>
              <a:rPr lang="en-US" sz="2400" dirty="0">
                <a:solidFill>
                  <a:srgbClr val="000000"/>
                </a:solidFill>
                <a:latin typeface="Tahoma" panose="020B0604030504040204" pitchFamily="34" charset="0"/>
              </a:rPr>
              <a:t>….</a:t>
            </a:r>
            <a:endParaRPr lang="el-GR" sz="2400" dirty="0">
              <a:solidFill>
                <a:srgbClr val="000000"/>
              </a:solidFill>
              <a:latin typeface="Tahoma" panose="020B0604030504040204" pitchFamily="34" charset="0"/>
            </a:endParaRPr>
          </a:p>
        </p:txBody>
      </p:sp>
      <p:pic>
        <p:nvPicPr>
          <p:cNvPr id="14" name="Picture 13">
            <a:extLst>
              <a:ext uri="{FF2B5EF4-FFF2-40B4-BE49-F238E27FC236}">
                <a16:creationId xmlns:a16="http://schemas.microsoft.com/office/drawing/2014/main" id="{E49818B2-F01E-A7B4-C3D1-3F040E36A7EB}"/>
              </a:ext>
            </a:extLst>
          </p:cNvPr>
          <p:cNvPicPr>
            <a:picLocks noChangeAspect="1"/>
          </p:cNvPicPr>
          <p:nvPr/>
        </p:nvPicPr>
        <p:blipFill>
          <a:blip r:embed="rId4"/>
          <a:stretch>
            <a:fillRect/>
          </a:stretch>
        </p:blipFill>
        <p:spPr>
          <a:xfrm>
            <a:off x="5220992" y="5990156"/>
            <a:ext cx="3093988" cy="381033"/>
          </a:xfrm>
          <a:prstGeom prst="rect">
            <a:avLst/>
          </a:prstGeom>
        </p:spPr>
      </p:pic>
      <p:sp>
        <p:nvSpPr>
          <p:cNvPr id="15" name="TextBox 14">
            <a:extLst>
              <a:ext uri="{FF2B5EF4-FFF2-40B4-BE49-F238E27FC236}">
                <a16:creationId xmlns:a16="http://schemas.microsoft.com/office/drawing/2014/main" id="{25AB57BB-DE71-B6EC-04BE-6FF7DD35C243}"/>
              </a:ext>
            </a:extLst>
          </p:cNvPr>
          <p:cNvSpPr txBox="1"/>
          <p:nvPr/>
        </p:nvSpPr>
        <p:spPr>
          <a:xfrm>
            <a:off x="246987" y="1752254"/>
            <a:ext cx="8245130" cy="406265"/>
          </a:xfrm>
          <a:prstGeom prst="rect">
            <a:avLst/>
          </a:prstGeom>
          <a:solidFill>
            <a:srgbClr val="FFFF00"/>
          </a:solidFill>
        </p:spPr>
        <p:txBody>
          <a:bodyPr wrap="square" rtlCol="0">
            <a:spAutoFit/>
          </a:bodyPr>
          <a:lstStyle/>
          <a:p>
            <a:pPr fontAlgn="base">
              <a:lnSpc>
                <a:spcPct val="80000"/>
              </a:lnSpc>
              <a:spcBef>
                <a:spcPct val="50000"/>
              </a:spcBef>
              <a:spcAft>
                <a:spcPct val="0"/>
              </a:spcAft>
            </a:pPr>
            <a:r>
              <a:rPr lang="en-GB" altLang="el-GR" sz="2400" dirty="0">
                <a:solidFill>
                  <a:srgbClr val="000000"/>
                </a:solidFill>
                <a:latin typeface="Courier New" panose="02070309020205020404" pitchFamily="49" charset="0"/>
              </a:rPr>
              <a:t>char name[</a:t>
            </a:r>
            <a:r>
              <a:rPr lang="en-US" altLang="el-GR" sz="2400" dirty="0">
                <a:solidFill>
                  <a:srgbClr val="000000"/>
                </a:solidFill>
                <a:latin typeface="Courier New" panose="02070309020205020404" pitchFamily="49" charset="0"/>
              </a:rPr>
              <a:t>20</a:t>
            </a:r>
            <a:r>
              <a:rPr lang="en-GB" altLang="el-GR" sz="2400" dirty="0">
                <a:solidFill>
                  <a:srgbClr val="000000"/>
                </a:solidFill>
                <a:latin typeface="Courier New" panose="02070309020205020404" pitchFamily="49" charset="0"/>
              </a:rPr>
              <a:t>] =</a:t>
            </a:r>
            <a:r>
              <a:rPr lang="en-US" altLang="el-GR" sz="2400" dirty="0">
                <a:solidFill>
                  <a:srgbClr val="000000"/>
                </a:solidFill>
                <a:latin typeface="Courier New" panose="02070309020205020404" pitchFamily="49" charset="0"/>
              </a:rPr>
              <a:t> </a:t>
            </a:r>
            <a:r>
              <a:rPr lang="en-GB" altLang="el-GR" sz="2400" dirty="0">
                <a:solidFill>
                  <a:srgbClr val="000000"/>
                </a:solidFill>
                <a:latin typeface="Courier New" panose="02070309020205020404" pitchFamily="49" charset="0"/>
              </a:rPr>
              <a:t>{‘</a:t>
            </a:r>
            <a:r>
              <a:rPr lang="en-US" altLang="el-GR" sz="2400" dirty="0">
                <a:solidFill>
                  <a:srgbClr val="000000"/>
                </a:solidFill>
                <a:latin typeface="Courier New" panose="02070309020205020404" pitchFamily="49" charset="0"/>
              </a:rPr>
              <a:t>h</a:t>
            </a:r>
            <a:r>
              <a:rPr lang="en-GB" altLang="el-GR" sz="2400" dirty="0">
                <a:solidFill>
                  <a:srgbClr val="000000"/>
                </a:solidFill>
                <a:latin typeface="Courier New" panose="02070309020205020404" pitchFamily="49" charset="0"/>
              </a:rPr>
              <a:t>’,’</a:t>
            </a:r>
            <a:r>
              <a:rPr lang="en-US" altLang="el-GR" sz="2400" dirty="0">
                <a:solidFill>
                  <a:srgbClr val="000000"/>
                </a:solidFill>
                <a:latin typeface="Courier New" panose="02070309020205020404" pitchFamily="49" charset="0"/>
              </a:rPr>
              <a:t>e</a:t>
            </a:r>
            <a:r>
              <a:rPr lang="en-GB" altLang="el-GR" sz="2400" dirty="0">
                <a:solidFill>
                  <a:srgbClr val="000000"/>
                </a:solidFill>
                <a:latin typeface="Courier New" panose="02070309020205020404" pitchFamily="49" charset="0"/>
              </a:rPr>
              <a:t>’,’</a:t>
            </a:r>
            <a:r>
              <a:rPr lang="en-US" altLang="el-GR" sz="2400" dirty="0">
                <a:solidFill>
                  <a:srgbClr val="000000"/>
                </a:solidFill>
                <a:latin typeface="Courier New" panose="02070309020205020404" pitchFamily="49" charset="0"/>
              </a:rPr>
              <a:t>l</a:t>
            </a:r>
            <a:r>
              <a:rPr lang="en-GB" altLang="el-GR" sz="2400" dirty="0">
                <a:solidFill>
                  <a:srgbClr val="000000"/>
                </a:solidFill>
                <a:latin typeface="Courier New" panose="02070309020205020404" pitchFamily="49" charset="0"/>
              </a:rPr>
              <a:t>’</a:t>
            </a:r>
            <a:r>
              <a:rPr lang="en-US" altLang="el-GR" sz="2400" dirty="0">
                <a:solidFill>
                  <a:srgbClr val="000000"/>
                </a:solidFill>
                <a:latin typeface="Courier New" panose="02070309020205020404" pitchFamily="49" charset="0"/>
              </a:rPr>
              <a:t>,’l’</a:t>
            </a:r>
            <a:r>
              <a:rPr lang="en-GB" altLang="el-GR" sz="2400" dirty="0">
                <a:solidFill>
                  <a:srgbClr val="000000"/>
                </a:solidFill>
                <a:latin typeface="Courier New" panose="02070309020205020404" pitchFamily="49" charset="0"/>
              </a:rPr>
              <a:t>,’</a:t>
            </a:r>
            <a:r>
              <a:rPr lang="en-US" altLang="el-GR" sz="2400" dirty="0">
                <a:solidFill>
                  <a:srgbClr val="000000"/>
                </a:solidFill>
                <a:latin typeface="Courier New" panose="02070309020205020404" pitchFamily="49" charset="0"/>
              </a:rPr>
              <a:t>o</a:t>
            </a:r>
            <a:r>
              <a:rPr lang="en-GB" altLang="el-GR" sz="2400" dirty="0">
                <a:solidFill>
                  <a:srgbClr val="000000"/>
                </a:solidFill>
                <a:latin typeface="Courier New" panose="02070309020205020404" pitchFamily="49" charset="0"/>
              </a:rPr>
              <a:t>’,’\0’};</a:t>
            </a:r>
          </a:p>
        </p:txBody>
      </p:sp>
      <p:sp>
        <p:nvSpPr>
          <p:cNvPr id="16" name="TextBox 15">
            <a:extLst>
              <a:ext uri="{FF2B5EF4-FFF2-40B4-BE49-F238E27FC236}">
                <a16:creationId xmlns:a16="http://schemas.microsoft.com/office/drawing/2014/main" id="{8F8FEC8C-E056-A7B0-B597-6605CBF028D8}"/>
              </a:ext>
            </a:extLst>
          </p:cNvPr>
          <p:cNvSpPr txBox="1"/>
          <p:nvPr/>
        </p:nvSpPr>
        <p:spPr>
          <a:xfrm>
            <a:off x="1541257" y="2259105"/>
            <a:ext cx="7807695" cy="830997"/>
          </a:xfrm>
          <a:prstGeom prst="rect">
            <a:avLst/>
          </a:prstGeom>
          <a:noFill/>
        </p:spPr>
        <p:txBody>
          <a:bodyPr wrap="square" rtlCol="0">
            <a:spAutoFit/>
          </a:bodyPr>
          <a:lstStyle/>
          <a:p>
            <a:pPr fontAlgn="base">
              <a:spcBef>
                <a:spcPct val="0"/>
              </a:spcBef>
              <a:spcAft>
                <a:spcPct val="0"/>
              </a:spcAft>
            </a:pPr>
            <a:r>
              <a:rPr lang="en-GB" altLang="el-GR" sz="2400" dirty="0">
                <a:solidFill>
                  <a:srgbClr val="000000"/>
                </a:solidFill>
                <a:latin typeface="Courier New" panose="02070309020205020404" pitchFamily="49" charset="0"/>
              </a:rPr>
              <a:t>char </a:t>
            </a:r>
            <a:r>
              <a:rPr lang="en-US" altLang="el-GR" sz="2400" dirty="0">
                <a:solidFill>
                  <a:srgbClr val="000000"/>
                </a:solidFill>
                <a:latin typeface="Courier New" panose="02070309020205020404" pitchFamily="49" charset="0"/>
              </a:rPr>
              <a:t>name</a:t>
            </a:r>
            <a:r>
              <a:rPr lang="en-GB" altLang="el-GR" sz="2400" dirty="0">
                <a:solidFill>
                  <a:srgbClr val="000000"/>
                </a:solidFill>
                <a:latin typeface="Courier New" panose="02070309020205020404" pitchFamily="49" charset="0"/>
              </a:rPr>
              <a:t>[] =</a:t>
            </a:r>
            <a:r>
              <a:rPr lang="en-US" altLang="el-GR" sz="2400" dirty="0">
                <a:solidFill>
                  <a:srgbClr val="000000"/>
                </a:solidFill>
                <a:latin typeface="Courier New" panose="02070309020205020404" pitchFamily="49" charset="0"/>
              </a:rPr>
              <a:t> </a:t>
            </a:r>
            <a:r>
              <a:rPr lang="en-GB" altLang="el-GR" sz="2400" dirty="0">
                <a:solidFill>
                  <a:srgbClr val="000000"/>
                </a:solidFill>
                <a:latin typeface="Courier New" panose="02070309020205020404" pitchFamily="49" charset="0"/>
              </a:rPr>
              <a:t>{‘</a:t>
            </a:r>
            <a:r>
              <a:rPr lang="en-US" altLang="el-GR" sz="2400" dirty="0">
                <a:solidFill>
                  <a:srgbClr val="000000"/>
                </a:solidFill>
                <a:latin typeface="Courier New" panose="02070309020205020404" pitchFamily="49" charset="0"/>
              </a:rPr>
              <a:t>h</a:t>
            </a:r>
            <a:r>
              <a:rPr lang="en-GB" altLang="el-GR" sz="2400" dirty="0">
                <a:solidFill>
                  <a:srgbClr val="000000"/>
                </a:solidFill>
                <a:latin typeface="Courier New" panose="02070309020205020404" pitchFamily="49" charset="0"/>
              </a:rPr>
              <a:t>’,’</a:t>
            </a:r>
            <a:r>
              <a:rPr lang="en-US" altLang="el-GR" sz="2400" dirty="0">
                <a:solidFill>
                  <a:srgbClr val="000000"/>
                </a:solidFill>
                <a:latin typeface="Courier New" panose="02070309020205020404" pitchFamily="49" charset="0"/>
              </a:rPr>
              <a:t>e</a:t>
            </a:r>
            <a:r>
              <a:rPr lang="en-GB" altLang="el-GR" sz="2400" dirty="0">
                <a:solidFill>
                  <a:srgbClr val="000000"/>
                </a:solidFill>
                <a:latin typeface="Courier New" panose="02070309020205020404" pitchFamily="49" charset="0"/>
              </a:rPr>
              <a:t>’,’</a:t>
            </a:r>
            <a:r>
              <a:rPr lang="en-US" altLang="el-GR" sz="2400" dirty="0">
                <a:solidFill>
                  <a:srgbClr val="000000"/>
                </a:solidFill>
                <a:latin typeface="Courier New" panose="02070309020205020404" pitchFamily="49" charset="0"/>
              </a:rPr>
              <a:t>l</a:t>
            </a:r>
            <a:r>
              <a:rPr lang="en-GB" altLang="el-GR" sz="2400" dirty="0">
                <a:solidFill>
                  <a:srgbClr val="000000"/>
                </a:solidFill>
                <a:latin typeface="Courier New" panose="02070309020205020404" pitchFamily="49" charset="0"/>
              </a:rPr>
              <a:t>’</a:t>
            </a:r>
            <a:r>
              <a:rPr lang="en-US" altLang="el-GR" sz="2400" dirty="0">
                <a:solidFill>
                  <a:srgbClr val="000000"/>
                </a:solidFill>
                <a:latin typeface="Courier New" panose="02070309020205020404" pitchFamily="49" charset="0"/>
              </a:rPr>
              <a:t>,’l’</a:t>
            </a:r>
            <a:r>
              <a:rPr lang="en-GB" altLang="el-GR" sz="2400" dirty="0">
                <a:solidFill>
                  <a:srgbClr val="000000"/>
                </a:solidFill>
                <a:latin typeface="Courier New" panose="02070309020205020404" pitchFamily="49" charset="0"/>
              </a:rPr>
              <a:t>,’</a:t>
            </a:r>
            <a:r>
              <a:rPr lang="en-US" altLang="el-GR" sz="2400" dirty="0">
                <a:solidFill>
                  <a:srgbClr val="000000"/>
                </a:solidFill>
                <a:latin typeface="Courier New" panose="02070309020205020404" pitchFamily="49" charset="0"/>
              </a:rPr>
              <a:t>o</a:t>
            </a:r>
            <a:r>
              <a:rPr lang="en-GB" altLang="el-GR" sz="2400" dirty="0">
                <a:solidFill>
                  <a:srgbClr val="000000"/>
                </a:solidFill>
                <a:latin typeface="Courier New" panose="02070309020205020404" pitchFamily="49" charset="0"/>
              </a:rPr>
              <a:t>’,’\0’};</a:t>
            </a:r>
            <a:endParaRPr lang="el-GR" altLang="el-GR" sz="2400" dirty="0">
              <a:solidFill>
                <a:srgbClr val="000000"/>
              </a:solidFill>
              <a:latin typeface="Courier New" panose="02070309020205020404" pitchFamily="49" charset="0"/>
            </a:endParaRPr>
          </a:p>
          <a:p>
            <a:pPr fontAlgn="base">
              <a:spcBef>
                <a:spcPct val="0"/>
              </a:spcBef>
              <a:spcAft>
                <a:spcPct val="0"/>
              </a:spcAft>
            </a:pPr>
            <a:r>
              <a:rPr lang="en-GB" altLang="el-GR" sz="2400" b="1" dirty="0">
                <a:solidFill>
                  <a:srgbClr val="FF0000"/>
                </a:solidFill>
                <a:latin typeface="Courier New" panose="02070309020205020404" pitchFamily="49" charset="0"/>
              </a:rPr>
              <a:t>char </a:t>
            </a:r>
            <a:r>
              <a:rPr lang="en-US" altLang="el-GR" sz="2400" b="1" dirty="0">
                <a:solidFill>
                  <a:srgbClr val="FF0000"/>
                </a:solidFill>
                <a:latin typeface="Courier New" panose="02070309020205020404" pitchFamily="49" charset="0"/>
              </a:rPr>
              <a:t>name</a:t>
            </a:r>
            <a:r>
              <a:rPr lang="en-GB" altLang="el-GR" sz="2400" b="1" dirty="0">
                <a:solidFill>
                  <a:srgbClr val="FF0000"/>
                </a:solidFill>
                <a:latin typeface="Courier New" panose="02070309020205020404" pitchFamily="49" charset="0"/>
              </a:rPr>
              <a:t>[] = “</a:t>
            </a:r>
            <a:r>
              <a:rPr lang="en-US" altLang="el-GR" sz="2400" b="1" dirty="0">
                <a:solidFill>
                  <a:srgbClr val="FF0000"/>
                </a:solidFill>
                <a:latin typeface="Courier New" panose="02070309020205020404" pitchFamily="49" charset="0"/>
              </a:rPr>
              <a:t>hello</a:t>
            </a:r>
            <a:r>
              <a:rPr lang="en-GB" altLang="el-GR" sz="2400" b="1" dirty="0">
                <a:solidFill>
                  <a:srgbClr val="FF0000"/>
                </a:solidFill>
                <a:latin typeface="Courier New" panose="02070309020205020404" pitchFamily="49" charset="0"/>
              </a:rPr>
              <a:t>”;</a:t>
            </a:r>
            <a:endParaRPr lang="el-GR" sz="2400" dirty="0">
              <a:solidFill>
                <a:srgbClr val="000000"/>
              </a:solidFill>
              <a:latin typeface="Tahoma" panose="020B0604030504040204" pitchFamily="34" charset="0"/>
            </a:endParaRPr>
          </a:p>
        </p:txBody>
      </p:sp>
      <p:sp>
        <p:nvSpPr>
          <p:cNvPr id="19" name="AutoShape 7">
            <a:extLst>
              <a:ext uri="{FF2B5EF4-FFF2-40B4-BE49-F238E27FC236}">
                <a16:creationId xmlns:a16="http://schemas.microsoft.com/office/drawing/2014/main" id="{469853FD-2374-AEDE-72BD-A0A25FC07C1B}"/>
              </a:ext>
            </a:extLst>
          </p:cNvPr>
          <p:cNvSpPr>
            <a:spLocks noChangeArrowheads="1"/>
          </p:cNvSpPr>
          <p:nvPr/>
        </p:nvSpPr>
        <p:spPr bwMode="auto">
          <a:xfrm>
            <a:off x="8598021" y="1813401"/>
            <a:ext cx="1363192" cy="3455392"/>
          </a:xfrm>
          <a:prstGeom prst="curvedLeftArrow">
            <a:avLst>
              <a:gd name="adj1" fmla="val 19845"/>
              <a:gd name="adj2" fmla="val 83200"/>
              <a:gd name="adj3" fmla="val 33333"/>
            </a:avLst>
          </a:prstGeom>
          <a:solidFill>
            <a:srgbClr val="00E4A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0" name="TextBox 19">
            <a:extLst>
              <a:ext uri="{FF2B5EF4-FFF2-40B4-BE49-F238E27FC236}">
                <a16:creationId xmlns:a16="http://schemas.microsoft.com/office/drawing/2014/main" id="{9847D35F-6255-9099-5D8E-94FDFE64EAC9}"/>
              </a:ext>
            </a:extLst>
          </p:cNvPr>
          <p:cNvSpPr txBox="1"/>
          <p:nvPr/>
        </p:nvSpPr>
        <p:spPr>
          <a:xfrm>
            <a:off x="140669" y="908050"/>
            <a:ext cx="11901890" cy="707886"/>
          </a:xfrm>
          <a:prstGeom prst="rect">
            <a:avLst/>
          </a:prstGeom>
          <a:solidFill>
            <a:srgbClr val="92D050"/>
          </a:solidFill>
        </p:spPr>
        <p:txBody>
          <a:bodyPr wrap="square" rtlCol="0">
            <a:spAutoFit/>
          </a:bodyPr>
          <a:lstStyle/>
          <a:p>
            <a:pPr fontAlgn="base">
              <a:spcBef>
                <a:spcPct val="0"/>
              </a:spcBef>
              <a:spcAft>
                <a:spcPct val="0"/>
              </a:spcAft>
            </a:pPr>
            <a:r>
              <a:rPr lang="el-GR" sz="2000" dirty="0">
                <a:solidFill>
                  <a:srgbClr val="000000"/>
                </a:solidFill>
                <a:latin typeface="Tahoma" panose="020B0604030504040204" pitchFamily="34" charset="0"/>
              </a:rPr>
              <a:t>Για να θεωρηθεί ένας πίνακας χαρακτήρων συμβολοσειρά θα πρέπει μετά τον τελευταίο χαρακτήρα του να υπάρχει ο χαρακτήρας με </a:t>
            </a:r>
            <a:r>
              <a:rPr lang="el-GR" sz="2000" dirty="0" err="1">
                <a:solidFill>
                  <a:srgbClr val="000000"/>
                </a:solidFill>
                <a:latin typeface="Tahoma" panose="020B0604030504040204" pitchFamily="34" charset="0"/>
              </a:rPr>
              <a:t>ascii</a:t>
            </a:r>
            <a:r>
              <a:rPr lang="el-GR" sz="2000" dirty="0">
                <a:solidFill>
                  <a:srgbClr val="000000"/>
                </a:solidFill>
                <a:latin typeface="Tahoma" panose="020B0604030504040204" pitchFamily="34" charset="0"/>
              </a:rPr>
              <a:t> κωδικό 0, ο οποίος είναι γνωστός ως </a:t>
            </a:r>
            <a:r>
              <a:rPr lang="el-GR" sz="2000" b="1" dirty="0">
                <a:solidFill>
                  <a:srgbClr val="000000"/>
                </a:solidFill>
                <a:latin typeface="Tahoma" panose="020B0604030504040204" pitchFamily="34" charset="0"/>
              </a:rPr>
              <a:t>χαρακτήρας </a:t>
            </a:r>
            <a:r>
              <a:rPr lang="el-GR" sz="2000" b="1" dirty="0" err="1">
                <a:solidFill>
                  <a:srgbClr val="000000"/>
                </a:solidFill>
                <a:latin typeface="Tahoma" panose="020B0604030504040204" pitchFamily="34" charset="0"/>
              </a:rPr>
              <a:t>null</a:t>
            </a:r>
            <a:r>
              <a:rPr lang="el-GR" sz="2000" b="1" dirty="0">
                <a:solidFill>
                  <a:srgbClr val="000000"/>
                </a:solidFill>
                <a:latin typeface="Tahoma" panose="020B0604030504040204" pitchFamily="34" charset="0"/>
              </a:rPr>
              <a:t> </a:t>
            </a:r>
            <a:r>
              <a:rPr lang="el-GR" sz="2000" dirty="0">
                <a:solidFill>
                  <a:srgbClr val="000000"/>
                </a:solidFill>
                <a:latin typeface="Tahoma" panose="020B0604030504040204" pitchFamily="34" charset="0"/>
              </a:rPr>
              <a:t>(‘\0’)</a:t>
            </a:r>
            <a:r>
              <a:rPr lang="en-US" sz="2000" dirty="0">
                <a:solidFill>
                  <a:srgbClr val="000000"/>
                </a:solidFill>
                <a:latin typeface="Tahoma" panose="020B0604030504040204" pitchFamily="34" charset="0"/>
              </a:rPr>
              <a:t>.</a:t>
            </a:r>
            <a:endParaRPr lang="el-GR" sz="2000" dirty="0">
              <a:solidFill>
                <a:srgbClr val="000000"/>
              </a:solidFill>
              <a:latin typeface="Tahoma" panose="020B0604030504040204" pitchFamily="34" charset="0"/>
            </a:endParaRPr>
          </a:p>
        </p:txBody>
      </p:sp>
      <p:sp>
        <p:nvSpPr>
          <p:cNvPr id="23" name="Callout: Bent Line 22">
            <a:extLst>
              <a:ext uri="{FF2B5EF4-FFF2-40B4-BE49-F238E27FC236}">
                <a16:creationId xmlns:a16="http://schemas.microsoft.com/office/drawing/2014/main" id="{34CB29DB-EF71-21F8-DE13-E4CDEAE8CF60}"/>
              </a:ext>
            </a:extLst>
          </p:cNvPr>
          <p:cNvSpPr/>
          <p:nvPr/>
        </p:nvSpPr>
        <p:spPr>
          <a:xfrm>
            <a:off x="246986" y="4100199"/>
            <a:ext cx="3799616" cy="1849751"/>
          </a:xfrm>
          <a:prstGeom prst="borderCallout2">
            <a:avLst>
              <a:gd name="adj1" fmla="val 3950"/>
              <a:gd name="adj2" fmla="val 14328"/>
              <a:gd name="adj3" fmla="val -81966"/>
              <a:gd name="adj4" fmla="val 15735"/>
              <a:gd name="adj5" fmla="val -82358"/>
              <a:gd name="adj6" fmla="val 33195"/>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000" b="1" dirty="0"/>
              <a:t>Δεσμεύουν χώρο για τον αριθμό των </a:t>
            </a:r>
            <a:r>
              <a:rPr lang="el-GR" sz="2400" b="1" dirty="0"/>
              <a:t>χαρακτήρων</a:t>
            </a:r>
            <a:r>
              <a:rPr lang="el-GR" sz="2000" b="1" dirty="0"/>
              <a:t> συν ένα για τον χαρακτήρα ‘\0’. Στην περίπτωση μας 6 (5+1).</a:t>
            </a:r>
          </a:p>
        </p:txBody>
      </p:sp>
      <p:cxnSp>
        <p:nvCxnSpPr>
          <p:cNvPr id="25" name="Straight Connector 24">
            <a:extLst>
              <a:ext uri="{FF2B5EF4-FFF2-40B4-BE49-F238E27FC236}">
                <a16:creationId xmlns:a16="http://schemas.microsoft.com/office/drawing/2014/main" id="{8A22ECAD-B079-CA64-5707-012CD93BC6DB}"/>
              </a:ext>
            </a:extLst>
          </p:cNvPr>
          <p:cNvCxnSpPr/>
          <p:nvPr/>
        </p:nvCxnSpPr>
        <p:spPr>
          <a:xfrm>
            <a:off x="1524000" y="2259105"/>
            <a:ext cx="0" cy="707886"/>
          </a:xfrm>
          <a:prstGeom prst="line">
            <a:avLst/>
          </a:prstGeom>
          <a:ln w="571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767F0E40-20F9-3514-A3C1-713B2415774E}"/>
              </a:ext>
            </a:extLst>
          </p:cNvPr>
          <p:cNvGrpSpPr/>
          <p:nvPr/>
        </p:nvGrpSpPr>
        <p:grpSpPr>
          <a:xfrm>
            <a:off x="-1" y="6559909"/>
            <a:ext cx="12192001" cy="327218"/>
            <a:chOff x="-1" y="6559909"/>
            <a:chExt cx="12192001" cy="327218"/>
          </a:xfrm>
        </p:grpSpPr>
        <p:sp>
          <p:nvSpPr>
            <p:cNvPr id="27" name="Rectangle 14">
              <a:extLst>
                <a:ext uri="{FF2B5EF4-FFF2-40B4-BE49-F238E27FC236}">
                  <a16:creationId xmlns:a16="http://schemas.microsoft.com/office/drawing/2014/main" id="{6F84D4AD-F1A8-F932-C50F-5270D35C7EEF}"/>
                </a:ext>
              </a:extLst>
            </p:cNvPr>
            <p:cNvSpPr/>
            <p:nvPr/>
          </p:nvSpPr>
          <p:spPr>
            <a:xfrm>
              <a:off x="0" y="6579651"/>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8" name="Θέση υποσέλιδου 4">
              <a:extLst>
                <a:ext uri="{FF2B5EF4-FFF2-40B4-BE49-F238E27FC236}">
                  <a16:creationId xmlns:a16="http://schemas.microsoft.com/office/drawing/2014/main" id="{070B192C-5CC6-250D-7791-AD7B7B412330}"/>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9" name="TextBox 28">
              <a:extLst>
                <a:ext uri="{FF2B5EF4-FFF2-40B4-BE49-F238E27FC236}">
                  <a16:creationId xmlns:a16="http://schemas.microsoft.com/office/drawing/2014/main" id="{F3D26BCF-E9DD-3AE2-B087-0988149A54F7}"/>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28</a:t>
              </a:fld>
              <a:endParaRPr lang="en-US" sz="1200" dirty="0">
                <a:latin typeface="Bahnschrift Light" panose="020B0502040204020203" pitchFamily="34" charset="0"/>
                <a:cs typeface="Arial" pitchFamily="34" charset="0"/>
              </a:endParaRPr>
            </a:p>
          </p:txBody>
        </p:sp>
        <p:sp>
          <p:nvSpPr>
            <p:cNvPr id="30" name="Θέση υποσέλιδου 4">
              <a:extLst>
                <a:ext uri="{FF2B5EF4-FFF2-40B4-BE49-F238E27FC236}">
                  <a16:creationId xmlns:a16="http://schemas.microsoft.com/office/drawing/2014/main" id="{4E446842-4BDA-FC42-6894-47D4301DD8D0}"/>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Von Neumann Architecture - Strings - Pointers</a:t>
              </a:r>
            </a:p>
          </p:txBody>
        </p:sp>
      </p:grpSp>
    </p:spTree>
    <p:extLst>
      <p:ext uri="{BB962C8B-B14F-4D97-AF65-F5344CB8AC3E}">
        <p14:creationId xmlns:p14="http://schemas.microsoft.com/office/powerpoint/2010/main" val="14238207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heckerboard(across)">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4C15E-04AD-902A-EC8B-A43746FBE483}"/>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4D13A29E-2BE3-4236-F63C-CC5E8607D428}"/>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F2BC7DEC-906A-ACBA-248A-C2DB4403277C}"/>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FD855F5E-BB53-EC53-65FA-1255F140F0D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7DBBACA7-36BF-ADBF-5304-7A57E809BDCA}"/>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29</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734C1258-2BB1-E92C-0C60-09FE52F90550}"/>
              </a:ext>
            </a:extLst>
          </p:cNvPr>
          <p:cNvSpPr txBox="1">
            <a:spLocks/>
          </p:cNvSpPr>
          <p:nvPr/>
        </p:nvSpPr>
        <p:spPr>
          <a:xfrm>
            <a:off x="4149680" y="6670790"/>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Control flow</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Arrays</a:t>
            </a:r>
            <a:r>
              <a:rPr lang="el-GR" sz="1100" dirty="0">
                <a:solidFill>
                  <a:schemeClr val="tx1"/>
                </a:solidFill>
                <a:latin typeface="Bahnschrift" panose="020B0502040204020203" pitchFamily="34" charset="0"/>
              </a:rPr>
              <a:t> - </a:t>
            </a:r>
            <a:r>
              <a:rPr lang="en-US" sz="1100" dirty="0">
                <a:solidFill>
                  <a:schemeClr val="tx1"/>
                </a:solidFill>
                <a:latin typeface="Bahnschrift" panose="020B0502040204020203" pitchFamily="34" charset="0"/>
              </a:rPr>
              <a:t>Type conversions</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B2A534B1-7E0E-1281-5214-F82EB9418B6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B9C6C949-99FC-9873-E15A-7CE02278A93D}"/>
              </a:ext>
            </a:extLst>
          </p:cNvPr>
          <p:cNvSpPr txBox="1">
            <a:spLocks noChangeArrowheads="1"/>
          </p:cNvSpPr>
          <p:nvPr/>
        </p:nvSpPr>
        <p:spPr bwMode="auto">
          <a:xfrm>
            <a:off x="492449" y="914699"/>
            <a:ext cx="11207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lnSpc>
                <a:spcPct val="80000"/>
              </a:lnSpc>
            </a:pPr>
            <a:r>
              <a:rPr lang="el-GR" altLang="el-GR" b="1" dirty="0">
                <a:solidFill>
                  <a:srgbClr val="F9853D"/>
                </a:solidFill>
                <a:latin typeface="Bahnschrift" panose="020B0502040204020203" pitchFamily="34" charset="0"/>
              </a:rPr>
              <a:t>Μεταβλητή</a:t>
            </a:r>
          </a:p>
          <a:p>
            <a:pPr lvl="1" eaLnBrk="1" hangingPunct="1">
              <a:lnSpc>
                <a:spcPct val="80000"/>
              </a:lnSpc>
            </a:pPr>
            <a:r>
              <a:rPr lang="el-GR" altLang="el-GR" kern="0" dirty="0">
                <a:latin typeface="Times New Roman" panose="02020603050405020304" pitchFamily="18" charset="0"/>
              </a:rPr>
              <a:t>Ορισμός</a:t>
            </a:r>
          </a:p>
          <a:p>
            <a:pPr lvl="1" eaLnBrk="1" hangingPunct="1">
              <a:lnSpc>
                <a:spcPct val="80000"/>
              </a:lnSpc>
            </a:pPr>
            <a:r>
              <a:rPr lang="el-GR" altLang="el-GR" kern="0" dirty="0">
                <a:latin typeface="Times New Roman" panose="02020603050405020304" pitchFamily="18" charset="0"/>
              </a:rPr>
              <a:t>Δήλωση – Κανόνες Δήλωσης (στην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l-GR" altLang="el-GR" b="1" dirty="0">
                <a:solidFill>
                  <a:srgbClr val="F9853D"/>
                </a:solidFill>
                <a:latin typeface="Bahnschrift" panose="020B0502040204020203" pitchFamily="34" charset="0"/>
              </a:rPr>
              <a:t>Τύποι Δεδομένων</a:t>
            </a:r>
          </a:p>
          <a:p>
            <a:pPr lvl="1" eaLnBrk="1" hangingPunct="1">
              <a:lnSpc>
                <a:spcPct val="80000"/>
              </a:lnSpc>
            </a:pPr>
            <a:r>
              <a:rPr lang="el-GR" altLang="el-GR" kern="0" dirty="0">
                <a:latin typeface="Times New Roman" panose="02020603050405020304" pitchFamily="18" charset="0"/>
              </a:rPr>
              <a:t>Τύποι δεδομένων στη </a:t>
            </a:r>
            <a:r>
              <a:rPr lang="en-US" altLang="el-GR" kern="0" dirty="0">
                <a:latin typeface="Times New Roman" panose="02020603050405020304" pitchFamily="18" charset="0"/>
              </a:rPr>
              <a:t>C</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ακεραίου (</a:t>
            </a:r>
            <a:r>
              <a:rPr lang="en-US" altLang="el-GR" b="1" dirty="0">
                <a:solidFill>
                  <a:srgbClr val="F9853D"/>
                </a:solidFill>
                <a:latin typeface="Bahnschrift" panose="020B0502040204020203" pitchFamily="34" charset="0"/>
              </a:rPr>
              <a:t>int</a:t>
            </a:r>
            <a:r>
              <a:rPr lang="el-GR" altLang="el-GR" b="1" dirty="0">
                <a:solidFill>
                  <a:srgbClr val="F9853D"/>
                </a:solidFill>
                <a:latin typeface="Bahnschrift" panose="020B0502040204020203" pitchFamily="34" charset="0"/>
              </a:rPr>
              <a:t>)</a:t>
            </a:r>
            <a:endParaRPr lang="en-US" altLang="el-GR" b="1" dirty="0">
              <a:solidFill>
                <a:srgbClr val="F9853D"/>
              </a:solidFill>
              <a:latin typeface="Bahnschrift" panose="020B0502040204020203" pitchFamily="34"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του χαρακτήρα</a:t>
            </a:r>
          </a:p>
          <a:p>
            <a:pPr eaLnBrk="1" hangingPunct="1">
              <a:lnSpc>
                <a:spcPct val="80000"/>
              </a:lnSpc>
            </a:pPr>
            <a:r>
              <a:rPr lang="el-GR" altLang="el-GR" b="1" dirty="0">
                <a:solidFill>
                  <a:srgbClr val="F9853D"/>
                </a:solidFill>
                <a:latin typeface="Bahnschrift" panose="020B0502040204020203" pitchFamily="34" charset="0"/>
              </a:rPr>
              <a:t>Οι τύποι αριθμού κινητής υποδιαστολής </a:t>
            </a:r>
          </a:p>
          <a:p>
            <a:pPr lvl="1" eaLnBrk="1" hangingPunct="1">
              <a:lnSpc>
                <a:spcPct val="80000"/>
              </a:lnSpc>
            </a:pPr>
            <a:r>
              <a:rPr lang="en-US" altLang="el-GR" kern="0" dirty="0">
                <a:latin typeface="Times New Roman" panose="02020603050405020304" pitchFamily="18" charset="0"/>
              </a:rPr>
              <a:t>float</a:t>
            </a:r>
            <a:r>
              <a:rPr lang="el-GR" altLang="el-GR" kern="0" dirty="0">
                <a:latin typeface="Times New Roman" panose="02020603050405020304" pitchFamily="18" charset="0"/>
              </a:rPr>
              <a:t> - </a:t>
            </a:r>
            <a:r>
              <a:rPr lang="en-US" altLang="el-GR" kern="0" dirty="0">
                <a:latin typeface="Times New Roman" panose="02020603050405020304" pitchFamily="18" charset="0"/>
              </a:rPr>
              <a:t>double</a:t>
            </a:r>
            <a:endParaRPr lang="el-GR" altLang="el-GR" kern="0" dirty="0">
              <a:latin typeface="Times New Roman" panose="02020603050405020304" pitchFamily="18" charset="0"/>
            </a:endParaRPr>
          </a:p>
          <a:p>
            <a:pPr eaLnBrk="1" hangingPunct="1">
              <a:lnSpc>
                <a:spcPct val="80000"/>
              </a:lnSpc>
            </a:pPr>
            <a:r>
              <a:rPr lang="en-US" altLang="el-GR" b="1" dirty="0">
                <a:solidFill>
                  <a:srgbClr val="F9853D"/>
                </a:solidFill>
                <a:latin typeface="Bahnschrift" panose="020B0502040204020203" pitchFamily="34" charset="0"/>
              </a:rPr>
              <a:t>O </a:t>
            </a:r>
            <a:r>
              <a:rPr lang="el-GR" altLang="el-GR" b="1" dirty="0">
                <a:solidFill>
                  <a:srgbClr val="F9853D"/>
                </a:solidFill>
                <a:latin typeface="Bahnschrift" panose="020B0502040204020203" pitchFamily="34" charset="0"/>
              </a:rPr>
              <a:t>τύπος της Συμβολοσειράς</a:t>
            </a:r>
          </a:p>
          <a:p>
            <a:pPr eaLnBrk="1" hangingPunct="1">
              <a:lnSpc>
                <a:spcPct val="80000"/>
              </a:lnSpc>
            </a:pPr>
            <a:r>
              <a:rPr lang="el-GR" altLang="el-GR" b="1" dirty="0">
                <a:solidFill>
                  <a:srgbClr val="C00000"/>
                </a:solidFill>
                <a:latin typeface="Bahnschrift" panose="020B0502040204020203" pitchFamily="34" charset="0"/>
              </a:rPr>
              <a:t>Σταθερές</a:t>
            </a:r>
          </a:p>
          <a:p>
            <a:pPr lvl="1" eaLnBrk="1" hangingPunct="1">
              <a:lnSpc>
                <a:spcPct val="80000"/>
              </a:lnSpc>
            </a:pPr>
            <a:r>
              <a:rPr lang="el-GR" altLang="el-GR" kern="0" dirty="0">
                <a:latin typeface="Times New Roman" panose="02020603050405020304" pitchFamily="18" charset="0"/>
              </a:rPr>
              <a:t>Σταθερά απαρίθμησης  (</a:t>
            </a:r>
            <a:r>
              <a:rPr lang="en-GB" altLang="el-GR" kern="0" dirty="0" err="1">
                <a:latin typeface="Times New Roman" panose="02020603050405020304" pitchFamily="18" charset="0"/>
              </a:rPr>
              <a:t>enum</a:t>
            </a:r>
            <a:r>
              <a:rPr lang="en-GB" altLang="el-GR" kern="0" dirty="0">
                <a:latin typeface="Times New Roman" panose="02020603050405020304" pitchFamily="18" charset="0"/>
              </a:rPr>
              <a:t>)</a:t>
            </a:r>
            <a:endParaRPr lang="el-GR" altLang="el-GR" kern="0" dirty="0">
              <a:latin typeface="Times New Roman" panose="02020603050405020304" pitchFamily="18" charset="0"/>
            </a:endParaRPr>
          </a:p>
        </p:txBody>
      </p:sp>
    </p:spTree>
    <p:extLst>
      <p:ext uri="{BB962C8B-B14F-4D97-AF65-F5344CB8AC3E}">
        <p14:creationId xmlns:p14="http://schemas.microsoft.com/office/powerpoint/2010/main" val="1645441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2663D-5558-0658-BA10-0ABE1F932B81}"/>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1EECF77B-8834-6419-375F-DCF902F5DD12}"/>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Σταθερές (</a:t>
            </a:r>
            <a:r>
              <a:rPr lang="en-GB" sz="4000" b="1" dirty="0" err="1">
                <a:solidFill>
                  <a:srgbClr val="F9853D"/>
                </a:solidFill>
                <a:latin typeface="Bahnschrift" panose="020B0502040204020203" pitchFamily="34" charset="0"/>
              </a:rPr>
              <a:t>const</a:t>
            </a:r>
            <a:r>
              <a:rPr lang="en-GB" sz="4000" b="1" dirty="0">
                <a:solidFill>
                  <a:srgbClr val="F9853D"/>
                </a:solidFill>
                <a:latin typeface="Bahnschrift" panose="020B0502040204020203" pitchFamily="34" charset="0"/>
              </a:rPr>
              <a:t>) 		1/2</a:t>
            </a:r>
            <a:endParaRPr lang="el-GR" sz="4000" b="1" dirty="0">
              <a:solidFill>
                <a:srgbClr val="F9853D"/>
              </a:solidFill>
              <a:latin typeface="Bahnschrift" panose="020B0502040204020203" pitchFamily="34" charset="0"/>
            </a:endParaRPr>
          </a:p>
        </p:txBody>
      </p:sp>
      <p:grpSp>
        <p:nvGrpSpPr>
          <p:cNvPr id="4" name="Group 3">
            <a:extLst>
              <a:ext uri="{FF2B5EF4-FFF2-40B4-BE49-F238E27FC236}">
                <a16:creationId xmlns:a16="http://schemas.microsoft.com/office/drawing/2014/main" id="{0E932886-2D3D-A07B-0005-4296EFE620B5}"/>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87181171-30CF-3E9E-DDF0-18EE8A279D72}"/>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DD957187-2536-19F9-73A8-A13EB446D172}"/>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FAFBF658-04BB-63A6-7781-29F9A0AC2264}"/>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30</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0BB58401-70B7-C411-C353-04EA7FF58D11}"/>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579C29A7-02C8-367E-F336-202445E0D13D}"/>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564F3628-CFF5-4703-5418-F3C403F69EAE}"/>
              </a:ext>
            </a:extLst>
          </p:cNvPr>
          <p:cNvSpPr txBox="1">
            <a:spLocks noChangeArrowheads="1"/>
          </p:cNvSpPr>
          <p:nvPr/>
        </p:nvSpPr>
        <p:spPr bwMode="auto">
          <a:xfrm>
            <a:off x="576469" y="1125026"/>
            <a:ext cx="937869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70C0"/>
              </a:buClr>
              <a:buFont typeface="Wingdings" panose="05000000000000000000" pitchFamily="2" charset="2"/>
              <a:buChar char="Ø"/>
            </a:pPr>
            <a:endParaRPr lang="en-GB" altLang="el-GR" dirty="0">
              <a:latin typeface="Times New Roman" panose="02020603050405020304" pitchFamily="18" charset="0"/>
            </a:endParaRPr>
          </a:p>
        </p:txBody>
      </p:sp>
      <p:sp>
        <p:nvSpPr>
          <p:cNvPr id="7" name="Rectangle 3">
            <a:extLst>
              <a:ext uri="{FF2B5EF4-FFF2-40B4-BE49-F238E27FC236}">
                <a16:creationId xmlns:a16="http://schemas.microsoft.com/office/drawing/2014/main" id="{6E5339A3-4796-4A42-E7DA-FC6DB65C8795}"/>
              </a:ext>
            </a:extLst>
          </p:cNvPr>
          <p:cNvSpPr txBox="1">
            <a:spLocks noChangeArrowheads="1"/>
          </p:cNvSpPr>
          <p:nvPr/>
        </p:nvSpPr>
        <p:spPr bwMode="auto">
          <a:xfrm>
            <a:off x="399471" y="1383677"/>
            <a:ext cx="11393056" cy="4143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5000"/>
              </a:spcBef>
              <a:spcAft>
                <a:spcPct val="0"/>
              </a:spcAft>
              <a:buClr>
                <a:srgbClr val="0070C0"/>
              </a:buClr>
              <a:buSzPct val="60000"/>
              <a:buFont typeface="Wingdings" panose="05000000000000000000" pitchFamily="2" charset="2"/>
              <a:buChar char="n"/>
              <a:tabLst/>
              <a:defRPr/>
            </a:pPr>
            <a:r>
              <a:rPr lang="el-GR" altLang="el-GR" sz="4000" b="1" dirty="0" err="1">
                <a:solidFill>
                  <a:srgbClr val="000000"/>
                </a:solidFill>
                <a:latin typeface="Times New Roman" panose="02020603050405020304" pitchFamily="18" charset="0"/>
              </a:rPr>
              <a:t>int</a:t>
            </a:r>
            <a:r>
              <a:rPr lang="el-GR" altLang="el-GR" sz="4000" dirty="0">
                <a:solidFill>
                  <a:srgbClr val="000000"/>
                </a:solidFill>
                <a:latin typeface="Times New Roman" panose="02020603050405020304" pitchFamily="18" charset="0"/>
              </a:rPr>
              <a:t>	</a:t>
            </a:r>
          </a:p>
          <a:p>
            <a:pPr lvl="1">
              <a:lnSpc>
                <a:spcPct val="80000"/>
              </a:lnSpc>
              <a:spcBef>
                <a:spcPct val="5000"/>
              </a:spcBef>
              <a:buClr>
                <a:srgbClr val="0070C0"/>
              </a:buClr>
            </a:pPr>
            <a:r>
              <a:rPr lang="el-GR" altLang="el-GR" sz="3600" dirty="0">
                <a:solidFill>
                  <a:srgbClr val="000000"/>
                </a:solidFill>
                <a:latin typeface="Times New Roman" panose="02020603050405020304" pitchFamily="18" charset="0"/>
              </a:rPr>
              <a:t>245 αποθηκεύεται ως </a:t>
            </a:r>
            <a:r>
              <a:rPr lang="el-GR" altLang="el-GR" sz="3600" dirty="0" err="1">
                <a:solidFill>
                  <a:srgbClr val="000000"/>
                </a:solidFill>
                <a:latin typeface="Times New Roman" panose="02020603050405020304" pitchFamily="18" charset="0"/>
              </a:rPr>
              <a:t>int</a:t>
            </a:r>
            <a:endParaRPr lang="el-GR" altLang="el-GR" sz="3600" dirty="0">
              <a:solidFill>
                <a:srgbClr val="000000"/>
              </a:solidFill>
              <a:latin typeface="Times New Roman" panose="02020603050405020304" pitchFamily="18" charset="0"/>
            </a:endParaRPr>
          </a:p>
          <a:p>
            <a:pPr lvl="1">
              <a:lnSpc>
                <a:spcPct val="80000"/>
              </a:lnSpc>
              <a:spcBef>
                <a:spcPct val="5000"/>
              </a:spcBef>
              <a:buClr>
                <a:srgbClr val="0070C0"/>
              </a:buClr>
            </a:pPr>
            <a:r>
              <a:rPr lang="el-GR" altLang="el-GR" sz="3600" dirty="0">
                <a:solidFill>
                  <a:srgbClr val="000000"/>
                </a:solidFill>
                <a:latin typeface="Times New Roman" panose="02020603050405020304" pitchFamily="18" charset="0"/>
              </a:rPr>
              <a:t>100.000 αποθηκεύεται ως </a:t>
            </a:r>
            <a:r>
              <a:rPr lang="el-GR" altLang="el-GR" sz="3600" dirty="0" err="1">
                <a:solidFill>
                  <a:srgbClr val="000000"/>
                </a:solidFill>
                <a:latin typeface="Times New Roman" panose="02020603050405020304" pitchFamily="18" charset="0"/>
              </a:rPr>
              <a:t>long</a:t>
            </a:r>
            <a:endParaRPr lang="el-GR" altLang="el-GR" sz="3600" dirty="0">
              <a:solidFill>
                <a:srgbClr val="000000"/>
              </a:solidFill>
              <a:latin typeface="Times New Roman" panose="02020603050405020304" pitchFamily="18" charset="0"/>
            </a:endParaRPr>
          </a:p>
          <a:p>
            <a:pPr lvl="1">
              <a:lnSpc>
                <a:spcPct val="80000"/>
              </a:lnSpc>
              <a:spcBef>
                <a:spcPct val="5000"/>
              </a:spcBef>
              <a:buClr>
                <a:srgbClr val="0070C0"/>
              </a:buClr>
            </a:pPr>
            <a:r>
              <a:rPr lang="el-GR" altLang="el-GR" sz="3600" dirty="0">
                <a:solidFill>
                  <a:srgbClr val="000000"/>
                </a:solidFill>
                <a:latin typeface="Times New Roman" panose="02020603050405020304" pitchFamily="18" charset="0"/>
              </a:rPr>
              <a:t>για ελεγχόμενη αποθήκευση χρησιμοποιώ l ή L</a:t>
            </a:r>
          </a:p>
          <a:p>
            <a:pPr lvl="0">
              <a:lnSpc>
                <a:spcPct val="80000"/>
              </a:lnSpc>
              <a:spcBef>
                <a:spcPct val="5000"/>
              </a:spcBef>
              <a:buClr>
                <a:srgbClr val="0070C0"/>
              </a:buClr>
            </a:pPr>
            <a:r>
              <a:rPr lang="el-GR" altLang="el-GR" sz="4000" b="1" dirty="0">
                <a:solidFill>
                  <a:srgbClr val="000000"/>
                </a:solidFill>
                <a:latin typeface="Times New Roman" panose="02020603050405020304" pitchFamily="18" charset="0"/>
              </a:rPr>
              <a:t>Σταθερά συμβολοσειρά</a:t>
            </a:r>
          </a:p>
          <a:p>
            <a:pPr lvl="1">
              <a:lnSpc>
                <a:spcPct val="80000"/>
              </a:lnSpc>
              <a:spcBef>
                <a:spcPct val="5000"/>
              </a:spcBef>
              <a:buClr>
                <a:srgbClr val="0070C0"/>
              </a:buClr>
            </a:pPr>
            <a:r>
              <a:rPr lang="el-GR" altLang="el-GR" sz="3600" dirty="0">
                <a:solidFill>
                  <a:srgbClr val="000000"/>
                </a:solidFill>
                <a:latin typeface="Times New Roman" panose="02020603050405020304" pitchFamily="18" charset="0"/>
              </a:rPr>
              <a:t>ακολουθία από κανένα ή περισσότερους χαρακτήρες κλεισμένους σε διπλά εισαγωγικά. </a:t>
            </a:r>
          </a:p>
          <a:p>
            <a:pPr lvl="1">
              <a:lnSpc>
                <a:spcPct val="80000"/>
              </a:lnSpc>
              <a:spcBef>
                <a:spcPct val="5000"/>
              </a:spcBef>
              <a:buClr>
                <a:srgbClr val="0070C0"/>
              </a:buClr>
            </a:pPr>
            <a:r>
              <a:rPr lang="el-GR" altLang="el-GR" sz="3600" dirty="0">
                <a:solidFill>
                  <a:srgbClr val="000000"/>
                </a:solidFill>
                <a:latin typeface="Times New Roman" panose="02020603050405020304" pitchFamily="18" charset="0"/>
              </a:rPr>
              <a:t> “”		“ ”	“</a:t>
            </a:r>
            <a:r>
              <a:rPr lang="el-GR" altLang="el-GR" sz="3600" dirty="0" err="1">
                <a:solidFill>
                  <a:srgbClr val="000000"/>
                </a:solidFill>
                <a:latin typeface="Times New Roman" panose="02020603050405020304" pitchFamily="18" charset="0"/>
              </a:rPr>
              <a:t>Hello</a:t>
            </a:r>
            <a:r>
              <a:rPr lang="el-GR" altLang="el-GR" sz="3600" dirty="0">
                <a:solidFill>
                  <a:srgbClr val="000000"/>
                </a:solidFill>
                <a:latin typeface="Times New Roman" panose="02020603050405020304" pitchFamily="18" charset="0"/>
              </a:rPr>
              <a:t> </a:t>
            </a:r>
            <a:r>
              <a:rPr lang="el-GR" altLang="el-GR" sz="3600" dirty="0" err="1">
                <a:solidFill>
                  <a:srgbClr val="000000"/>
                </a:solidFill>
                <a:latin typeface="Times New Roman" panose="02020603050405020304" pitchFamily="18" charset="0"/>
              </a:rPr>
              <a:t>world</a:t>
            </a:r>
            <a:r>
              <a:rPr lang="el-GR" altLang="el-GR" sz="3600" dirty="0">
                <a:solidFill>
                  <a:srgbClr val="000000"/>
                </a:solidFill>
                <a:latin typeface="Times New Roman" panose="02020603050405020304" pitchFamily="18" charset="0"/>
              </a:rPr>
              <a:t>”</a:t>
            </a:r>
          </a:p>
          <a:p>
            <a:pPr marL="342900" marR="0" lvl="0" indent="-342900" algn="l" defTabSz="914400" rtl="0" eaLnBrk="1" fontAlgn="base" latinLnBrk="0" hangingPunct="1">
              <a:lnSpc>
                <a:spcPct val="80000"/>
              </a:lnSpc>
              <a:spcBef>
                <a:spcPct val="5000"/>
              </a:spcBef>
              <a:spcAft>
                <a:spcPct val="0"/>
              </a:spcAft>
              <a:buClr>
                <a:srgbClr val="0070C0"/>
              </a:buClr>
              <a:buSzPct val="60000"/>
              <a:buFont typeface="Wingdings" panose="05000000000000000000" pitchFamily="2" charset="2"/>
              <a:buChar char="n"/>
              <a:tabLst/>
              <a:defRPr/>
            </a:pPr>
            <a:endParaRPr kumimoji="0" lang="el-GR" altLang="el-GR" sz="4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80000"/>
              </a:lnSpc>
              <a:spcBef>
                <a:spcPct val="5000"/>
              </a:spcBef>
              <a:spcAft>
                <a:spcPct val="0"/>
              </a:spcAft>
              <a:buClr>
                <a:srgbClr val="3333CC"/>
              </a:buClr>
              <a:buSzPct val="60000"/>
              <a:buFont typeface="Wingdings" panose="05000000000000000000" pitchFamily="2" charset="2"/>
              <a:buNone/>
              <a:tabLst/>
              <a:defRPr/>
            </a:pPr>
            <a:endParaRPr kumimoji="0" lang="en-GB" altLang="el-GR" sz="4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58282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blinds(horizontal)">
                                      <p:cBhvr>
                                        <p:cTn id="10" dur="500"/>
                                        <p:tgtEl>
                                          <p:spTgt spid="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blinds(horizontal)">
                                      <p:cBhvr>
                                        <p:cTn id="13" dur="500"/>
                                        <p:tgtEl>
                                          <p:spTgt spid="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blinds(horizontal)">
                                      <p:cBhvr>
                                        <p:cTn id="16" dur="500"/>
                                        <p:tgtEl>
                                          <p:spTgt spid="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blinds(horizontal)">
                                      <p:cBhvr>
                                        <p:cTn id="21" dur="500"/>
                                        <p:tgtEl>
                                          <p:spTgt spid="7">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7">
                                            <p:txEl>
                                              <p:pRg st="5" end="5"/>
                                            </p:txEl>
                                          </p:spTgt>
                                        </p:tgtEl>
                                        <p:attrNameLst>
                                          <p:attrName>style.visibility</p:attrName>
                                        </p:attrNameLst>
                                      </p:cBhvr>
                                      <p:to>
                                        <p:strVal val="visible"/>
                                      </p:to>
                                    </p:set>
                                    <p:animEffect transition="in" filter="blinds(horizontal)">
                                      <p:cBhvr>
                                        <p:cTn id="24" dur="500"/>
                                        <p:tgtEl>
                                          <p:spTgt spid="7">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blinds(horizontal)">
                                      <p:cBhvr>
                                        <p:cTn id="2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F39B1-5C86-AD4B-AB40-27701D53CF75}"/>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227D5E96-23EB-5961-5256-7B29911C8B54}"/>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Σταθερές (</a:t>
            </a:r>
            <a:r>
              <a:rPr lang="en-GB" sz="4000" b="1" dirty="0" err="1">
                <a:solidFill>
                  <a:srgbClr val="F9853D"/>
                </a:solidFill>
                <a:latin typeface="Bahnschrift" panose="020B0502040204020203" pitchFamily="34" charset="0"/>
              </a:rPr>
              <a:t>const</a:t>
            </a:r>
            <a:r>
              <a:rPr lang="en-GB"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2</a:t>
            </a:r>
            <a:r>
              <a:rPr lang="en-GB" sz="4000" b="1" dirty="0">
                <a:solidFill>
                  <a:srgbClr val="F9853D"/>
                </a:solidFill>
                <a:latin typeface="Bahnschrift" panose="020B0502040204020203" pitchFamily="34" charset="0"/>
              </a:rPr>
              <a:t>/2</a:t>
            </a:r>
            <a:endParaRPr lang="el-GR" sz="4000" b="1" dirty="0">
              <a:solidFill>
                <a:srgbClr val="F9853D"/>
              </a:solidFill>
              <a:latin typeface="Bahnschrift" panose="020B0502040204020203" pitchFamily="34" charset="0"/>
            </a:endParaRPr>
          </a:p>
        </p:txBody>
      </p:sp>
      <p:grpSp>
        <p:nvGrpSpPr>
          <p:cNvPr id="4" name="Group 3">
            <a:extLst>
              <a:ext uri="{FF2B5EF4-FFF2-40B4-BE49-F238E27FC236}">
                <a16:creationId xmlns:a16="http://schemas.microsoft.com/office/drawing/2014/main" id="{3C7694AC-E1BA-D030-AE21-02350367D1C5}"/>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3E8B1839-6F4D-1349-6F2C-D128A734F7B3}"/>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043A735C-145B-568D-4C5B-BAA7023D07E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B3C32CC-4AD0-7EA2-0A94-E9FE6DEE239F}"/>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31</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9E311053-C0DE-4676-F95F-19E1000BFA2D}"/>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AC37CE5B-DD83-6F64-7C7B-39DE797C0C0A}"/>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7" name="Rectangle 3">
            <a:extLst>
              <a:ext uri="{FF2B5EF4-FFF2-40B4-BE49-F238E27FC236}">
                <a16:creationId xmlns:a16="http://schemas.microsoft.com/office/drawing/2014/main" id="{F0FD7B88-4832-AC1C-D81D-231A2D30C5E0}"/>
              </a:ext>
            </a:extLst>
          </p:cNvPr>
          <p:cNvSpPr txBox="1">
            <a:spLocks noChangeArrowheads="1"/>
          </p:cNvSpPr>
          <p:nvPr/>
        </p:nvSpPr>
        <p:spPr bwMode="auto">
          <a:xfrm>
            <a:off x="874456" y="1397805"/>
            <a:ext cx="9567401"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36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Οι compilers by default θεωρούν τις σταθερές κινητής υποδιαστολής, ως διπλής ακρίβειας (double)</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l-GR" altLang="el-GR" sz="36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r>
              <a:rPr kumimoji="0" lang="en-US" altLang="el-GR" sz="3600" b="1" i="0" u="none" strike="noStrike" kern="1200" cap="none" spc="0" normalizeH="0" baseline="0" noProof="0">
                <a:ln>
                  <a:noFill/>
                </a:ln>
                <a:solidFill>
                  <a:srgbClr val="FF0000"/>
                </a:solidFill>
                <a:effectLst/>
                <a:uLnTx/>
                <a:uFillTx/>
                <a:latin typeface="Times New Roman" panose="02020603050405020304" pitchFamily="18" charset="0"/>
                <a:ea typeface="+mn-ea"/>
                <a:cs typeface="+mn-cs"/>
              </a:rPr>
              <a:t>+</a:t>
            </a:r>
            <a:r>
              <a:rPr kumimoji="0" lang="el-GR" altLang="el-GR" sz="3600" b="1" i="0" u="none" strike="noStrike" kern="1200" cap="none" spc="0" normalizeH="0" baseline="0" noProof="0">
                <a:ln>
                  <a:noFill/>
                </a:ln>
                <a:solidFill>
                  <a:srgbClr val="FF0000"/>
                </a:solidFill>
                <a:effectLst/>
                <a:uLnTx/>
                <a:uFillTx/>
                <a:latin typeface="Times New Roman" panose="02020603050405020304" pitchFamily="18" charset="0"/>
                <a:ea typeface="+mn-ea"/>
                <a:cs typeface="+mn-cs"/>
              </a:rPr>
              <a:t> </a:t>
            </a:r>
            <a:r>
              <a:rPr kumimoji="0" lang="el-GR"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μεγαλύτερη ακρίβεια, </a:t>
            </a:r>
            <a:endParaRPr kumimoji="0" lang="en-US"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r>
              <a:rPr kumimoji="0" lang="en-US" altLang="el-GR" b="0" i="0" u="none" strike="noStrike" kern="1200" cap="none" spc="0" normalizeH="0" baseline="0" noProof="0">
                <a:ln>
                  <a:noFill/>
                </a:ln>
                <a:solidFill>
                  <a:srgbClr val="FF0000"/>
                </a:solidFill>
                <a:effectLst/>
                <a:uLnTx/>
                <a:uFillTx/>
                <a:latin typeface="Times New Roman" panose="02020603050405020304" pitchFamily="18" charset="0"/>
                <a:ea typeface="+mn-ea"/>
                <a:cs typeface="+mn-cs"/>
              </a:rPr>
              <a:t>-</a:t>
            </a:r>
            <a:r>
              <a:rPr kumimoji="0" lang="en-US"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r>
              <a:rPr kumimoji="0" lang="el-GR"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μείωση ταχύτητας εκτέλεσης</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b="0" i="0" u="none" strike="noStrike" kern="1200" cap="none" spc="0" normalizeH="0" baseline="0" noProof="0">
                <a:ln>
                  <a:noFill/>
                </a:ln>
                <a:solidFill>
                  <a:srgbClr val="FF0000"/>
                </a:solidFill>
                <a:effectLst/>
                <a:uLnTx/>
                <a:uFillTx/>
                <a:latin typeface="Times New Roman" panose="02020603050405020304" pitchFamily="18" charset="0"/>
                <a:ea typeface="+mn-ea"/>
                <a:cs typeface="+mn-cs"/>
              </a:rPr>
              <a:t>χρησιμοποίησε</a:t>
            </a:r>
            <a:r>
              <a:rPr kumimoji="0" lang="en-GB" altLang="el-GR" b="0" i="0" u="none" strike="noStrike" kern="1200" cap="none" spc="0" normalizeH="0" baseline="0" noProof="0">
                <a:ln>
                  <a:noFill/>
                </a:ln>
                <a:solidFill>
                  <a:srgbClr val="FF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endParaRPr kumimoji="0" lang="en-US"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9.11Ε9</a:t>
            </a:r>
            <a:r>
              <a:rPr kumimoji="0" lang="en-GB" altLang="el-GR" b="1" i="0" u="none" strike="noStrike" kern="1200" cap="none" spc="0" normalizeH="0" baseline="0" noProof="0">
                <a:ln>
                  <a:noFill/>
                </a:ln>
                <a:solidFill>
                  <a:srgbClr val="FF0000"/>
                </a:solidFill>
                <a:effectLst/>
                <a:uLnTx/>
                <a:uFillTx/>
                <a:latin typeface="Times New Roman" panose="02020603050405020304" pitchFamily="18" charset="0"/>
                <a:ea typeface="+mn-ea"/>
                <a:cs typeface="+mn-cs"/>
              </a:rPr>
              <a:t>F</a:t>
            </a: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για float      </a:t>
            </a:r>
            <a:endParaRPr kumimoji="0" lang="en-US"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- 4.32e4</a:t>
            </a:r>
            <a:r>
              <a:rPr kumimoji="0" lang="en-GB" altLang="el-GR" b="1" i="0" u="none" strike="noStrike" kern="1200" cap="none" spc="0" normalizeH="0" baseline="0" noProof="0">
                <a:ln>
                  <a:noFill/>
                </a:ln>
                <a:solidFill>
                  <a:srgbClr val="FF0000"/>
                </a:solidFill>
                <a:effectLst/>
                <a:uLnTx/>
                <a:uFillTx/>
                <a:latin typeface="Times New Roman" panose="02020603050405020304" pitchFamily="18" charset="0"/>
                <a:ea typeface="+mn-ea"/>
                <a:cs typeface="+mn-cs"/>
              </a:rPr>
              <a:t>L</a:t>
            </a:r>
            <a:r>
              <a:rPr kumimoji="0" lang="en-GB" altLang="el-GR"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για long double</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endParaRPr kumimoji="0" lang="en-GB"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89130674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linds(horizontal)">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blinds(horizontal)">
                                      <p:cBhvr>
                                        <p:cTn id="3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783EE-CECC-F386-675F-70209C11C494}"/>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E95B1954-314E-2A24-8C01-EB09BEFF9F42}"/>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Σταθερά απαρίθμησης </a:t>
            </a:r>
            <a:r>
              <a:rPr lang="en-US" sz="4000" b="1" dirty="0">
                <a:solidFill>
                  <a:srgbClr val="F9853D"/>
                </a:solidFill>
                <a:latin typeface="Bahnschrift" panose="020B0502040204020203" pitchFamily="34" charset="0"/>
              </a:rPr>
              <a:t> (</a:t>
            </a:r>
            <a:r>
              <a:rPr lang="en-GB" sz="4000" b="1" dirty="0" err="1">
                <a:solidFill>
                  <a:srgbClr val="F9853D"/>
                </a:solidFill>
                <a:latin typeface="Bahnschrift" panose="020B0502040204020203" pitchFamily="34" charset="0"/>
              </a:rPr>
              <a:t>enum</a:t>
            </a:r>
            <a:r>
              <a:rPr lang="en-GB" sz="4000" b="1" dirty="0">
                <a:solidFill>
                  <a:srgbClr val="F9853D"/>
                </a:solidFill>
                <a:latin typeface="Bahnschrift" panose="020B0502040204020203" pitchFamily="34" charset="0"/>
              </a:rPr>
              <a:t>)</a:t>
            </a:r>
            <a:endParaRPr lang="el-GR" sz="4000" b="1" dirty="0">
              <a:solidFill>
                <a:srgbClr val="F9853D"/>
              </a:solidFill>
              <a:latin typeface="Bahnschrift" panose="020B0502040204020203" pitchFamily="34" charset="0"/>
            </a:endParaRPr>
          </a:p>
        </p:txBody>
      </p:sp>
      <p:grpSp>
        <p:nvGrpSpPr>
          <p:cNvPr id="4" name="Group 3">
            <a:extLst>
              <a:ext uri="{FF2B5EF4-FFF2-40B4-BE49-F238E27FC236}">
                <a16:creationId xmlns:a16="http://schemas.microsoft.com/office/drawing/2014/main" id="{CA2F2920-EF84-556C-71C9-3A881C2A1108}"/>
              </a:ext>
            </a:extLst>
          </p:cNvPr>
          <p:cNvGrpSpPr/>
          <p:nvPr/>
        </p:nvGrpSpPr>
        <p:grpSpPr>
          <a:xfrm>
            <a:off x="0" y="6379799"/>
            <a:ext cx="12192001" cy="298092"/>
            <a:chOff x="-1" y="6559908"/>
            <a:chExt cx="12192001" cy="298092"/>
          </a:xfrm>
        </p:grpSpPr>
        <p:sp>
          <p:nvSpPr>
            <p:cNvPr id="10" name="Rectangle 14">
              <a:extLst>
                <a:ext uri="{FF2B5EF4-FFF2-40B4-BE49-F238E27FC236}">
                  <a16:creationId xmlns:a16="http://schemas.microsoft.com/office/drawing/2014/main" id="{52805E72-FBB2-B629-D4CE-2CB267060164}"/>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7C687265-E893-0C4B-A68B-931D34D0DC4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443C1D09-BE21-2BD9-5FF8-A78A8B42133A}"/>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32</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E2A33074-DEAF-B4D7-252D-8D6B3F0A117E}"/>
                </a:ext>
              </a:extLst>
            </p:cNvPr>
            <p:cNvSpPr txBox="1">
              <a:spLocks/>
            </p:cNvSpPr>
            <p:nvPr/>
          </p:nvSpPr>
          <p:spPr>
            <a:xfrm>
              <a:off x="4163535" y="659939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a:solidFill>
                    <a:schemeClr val="tx1"/>
                  </a:solidFill>
                  <a:latin typeface="Bahnschrift" panose="020B0502040204020203" pitchFamily="34" charset="0"/>
                </a:rPr>
                <a:t>Μεταβλητές, Σταθερές, Τύποι Δεδομένων</a:t>
              </a:r>
              <a:endParaRPr lang="el-GR" sz="1100"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89FE1D09-25DD-5C3F-C466-1A443F18E477}"/>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F3C873CB-54AD-0223-3A55-AB544DABB595}"/>
              </a:ext>
            </a:extLst>
          </p:cNvPr>
          <p:cNvSpPr txBox="1">
            <a:spLocks noChangeArrowheads="1"/>
          </p:cNvSpPr>
          <p:nvPr/>
        </p:nvSpPr>
        <p:spPr bwMode="auto">
          <a:xfrm>
            <a:off x="132736" y="835752"/>
            <a:ext cx="11918596" cy="2507201"/>
          </a:xfrm>
          <a:prstGeom prst="rect">
            <a:avLst/>
          </a:prstGeom>
          <a:solidFill>
            <a:srgbClr val="92D050"/>
          </a:solidFill>
          <a:ln>
            <a:noFill/>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5000"/>
              </a:spcBef>
              <a:spcAft>
                <a:spcPct val="0"/>
              </a:spcAft>
              <a:buClr>
                <a:srgbClr val="0070C0"/>
              </a:buClr>
              <a:buSzPct val="60000"/>
              <a:buFont typeface="Wingdings" panose="05000000000000000000" pitchFamily="2" charset="2"/>
              <a:buChar char="n"/>
              <a:tabLst/>
              <a:defRPr/>
            </a:pPr>
            <a:r>
              <a:rPr kumimoji="0" lang="el-GR" altLang="el-GR" sz="36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επιτρέπει</a:t>
            </a:r>
            <a:r>
              <a:rPr kumimoji="0" lang="el-GR"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p>
          <a:p>
            <a:pPr marL="742950" marR="0" lvl="1" indent="-285750" algn="l" defTabSz="914400" rtl="0" eaLnBrk="1" fontAlgn="base" latinLnBrk="0" hangingPunct="1">
              <a:lnSpc>
                <a:spcPct val="80000"/>
              </a:lnSpc>
              <a:spcBef>
                <a:spcPct val="5000"/>
              </a:spcBef>
              <a:spcAft>
                <a:spcPct val="0"/>
              </a:spcAft>
              <a:buClr>
                <a:srgbClr val="0070C0"/>
              </a:buClr>
              <a:buSzPct val="55000"/>
              <a:buFont typeface="Wingdings" panose="05000000000000000000" pitchFamily="2" charset="2"/>
              <a:buChar char="n"/>
              <a:tabLst/>
              <a:defRPr/>
            </a:pPr>
            <a:r>
              <a:rPr kumimoji="0" lang="el-GR" altLang="el-G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τη δήλωση συμβολικών ονομάτων για τη παράσταση ακέραιων σταθερών</a:t>
            </a:r>
            <a:endParaRPr kumimoji="0" lang="el-GR"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80000"/>
              </a:lnSpc>
              <a:spcBef>
                <a:spcPct val="5000"/>
              </a:spcBef>
              <a:spcAft>
                <a:spcPct val="0"/>
              </a:spcAft>
              <a:buClr>
                <a:srgbClr val="0070C0"/>
              </a:buClr>
              <a:buSzPct val="60000"/>
              <a:buFont typeface="Wingdings" panose="05000000000000000000" pitchFamily="2" charset="2"/>
              <a:buChar char="n"/>
              <a:tabLst/>
              <a:defRPr/>
            </a:pPr>
            <a:r>
              <a:rPr kumimoji="0" lang="el-GR" altLang="el-GR" sz="36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mn-cs"/>
              </a:rPr>
              <a:t>δημιουργεί</a:t>
            </a:r>
            <a:r>
              <a:rPr kumimoji="0" lang="el-GR"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t>
            </a:r>
          </a:p>
          <a:p>
            <a:pPr marL="742950" marR="0" lvl="1" indent="-285750" algn="l" defTabSz="914400" rtl="0" eaLnBrk="1" fontAlgn="base" latinLnBrk="0" hangingPunct="1">
              <a:lnSpc>
                <a:spcPct val="80000"/>
              </a:lnSpc>
              <a:spcBef>
                <a:spcPct val="5000"/>
              </a:spcBef>
              <a:spcAft>
                <a:spcPct val="0"/>
              </a:spcAft>
              <a:buClr>
                <a:srgbClr val="0070C0"/>
              </a:buClr>
              <a:buSzPct val="55000"/>
              <a:buFont typeface="Wingdings" panose="05000000000000000000" pitchFamily="2" charset="2"/>
              <a:buChar char="n"/>
              <a:tabLst/>
              <a:defRPr/>
            </a:pPr>
            <a:r>
              <a:rPr kumimoji="0" lang="el-GR" altLang="el-G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ένα </a:t>
            </a:r>
            <a:r>
              <a:rPr kumimoji="0" lang="el-GR" altLang="el-GR" sz="3200" b="1" i="0" u="none" strike="noStrike" kern="1200" cap="none" spc="0" normalizeH="0" baseline="0" noProof="0" dirty="0">
                <a:ln>
                  <a:noFill/>
                </a:ln>
                <a:solidFill>
                  <a:srgbClr val="800000"/>
                </a:solidFill>
                <a:effectLst/>
                <a:uLnTx/>
                <a:uFillTx/>
                <a:latin typeface="Times New Roman" panose="02020603050405020304" pitchFamily="18" charset="0"/>
                <a:ea typeface="+mn-ea"/>
                <a:cs typeface="+mn-cs"/>
              </a:rPr>
              <a:t>νέο τύπο</a:t>
            </a:r>
            <a:r>
              <a:rPr kumimoji="0" lang="el-GR" altLang="el-GR"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στον οποίο μπορείς να ορίσεις τις τιμές που μπορεί να πάρει μεταβλητή του τύπου αυτού.</a:t>
            </a:r>
          </a:p>
          <a:p>
            <a:pPr marL="342900" marR="0" lvl="0" indent="-342900" algn="l" defTabSz="914400" rtl="0" eaLnBrk="1" fontAlgn="base" latinLnBrk="0" hangingPunct="1">
              <a:lnSpc>
                <a:spcPct val="80000"/>
              </a:lnSpc>
              <a:spcBef>
                <a:spcPct val="5000"/>
              </a:spcBef>
              <a:spcAft>
                <a:spcPct val="0"/>
              </a:spcAft>
              <a:buClr>
                <a:srgbClr val="3333CC"/>
              </a:buClr>
              <a:buSzPct val="60000"/>
              <a:buFont typeface="Wingdings" panose="05000000000000000000" pitchFamily="2" charset="2"/>
              <a:buNone/>
              <a:tabLst/>
              <a:defRPr/>
            </a:pPr>
            <a:endParaRPr kumimoji="0" lang="en-GB" altLang="el-GR" sz="3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9" name="TextBox 8">
            <a:extLst>
              <a:ext uri="{FF2B5EF4-FFF2-40B4-BE49-F238E27FC236}">
                <a16:creationId xmlns:a16="http://schemas.microsoft.com/office/drawing/2014/main" id="{0F2A078A-5019-64CC-DE40-516DAC20BCE2}"/>
              </a:ext>
            </a:extLst>
          </p:cNvPr>
          <p:cNvSpPr txBox="1"/>
          <p:nvPr/>
        </p:nvSpPr>
        <p:spPr>
          <a:xfrm>
            <a:off x="1728587" y="3459374"/>
            <a:ext cx="7477433" cy="2862322"/>
          </a:xfrm>
          <a:prstGeom prst="rect">
            <a:avLst/>
          </a:prstGeom>
          <a:solidFill>
            <a:schemeClr val="accent3">
              <a:lumMod val="60000"/>
              <a:lumOff val="40000"/>
            </a:schemeClr>
          </a:solidFill>
          <a:ln w="57150">
            <a:solidFill>
              <a:schemeClr val="bg1"/>
            </a:solidFill>
          </a:ln>
        </p:spPr>
        <p:txBody>
          <a:bodyPr wrap="square" rtlCol="0">
            <a:spAutoFit/>
          </a:bodyPr>
          <a:lstStyle/>
          <a:p>
            <a:pPr marL="342900" lvl="0" indent="-342900" fontAlgn="base">
              <a:lnSpc>
                <a:spcPct val="80000"/>
              </a:lnSpc>
              <a:spcBef>
                <a:spcPct val="5000"/>
              </a:spcBef>
              <a:spcAft>
                <a:spcPct val="0"/>
              </a:spcAft>
              <a:buClr>
                <a:srgbClr val="3333CC"/>
              </a:buClr>
              <a:buSzPct val="60000"/>
              <a:defRPr/>
            </a:pPr>
            <a:r>
              <a:rPr lang="en-GB" altLang="el-GR" sz="2400" b="1" dirty="0" err="1">
                <a:solidFill>
                  <a:srgbClr val="FF0000"/>
                </a:solidFill>
                <a:latin typeface="Courier New" panose="02070309020205020404" pitchFamily="49" charset="0"/>
              </a:rPr>
              <a:t>enum</a:t>
            </a:r>
            <a:r>
              <a:rPr lang="en-GB" altLang="el-GR" sz="2400" b="1" dirty="0">
                <a:solidFill>
                  <a:srgbClr val="FF0000"/>
                </a:solidFill>
                <a:latin typeface="Courier New" panose="02070309020205020404" pitchFamily="49" charset="0"/>
              </a:rPr>
              <a:t> spectrum {</a:t>
            </a:r>
            <a:r>
              <a:rPr lang="en-GB" altLang="el-GR" sz="2400" b="1" dirty="0" err="1">
                <a:solidFill>
                  <a:srgbClr val="FF0000"/>
                </a:solidFill>
                <a:latin typeface="Courier New" panose="02070309020205020404" pitchFamily="49" charset="0"/>
              </a:rPr>
              <a:t>red,orange,green,blue</a:t>
            </a:r>
            <a:r>
              <a:rPr lang="en-GB" altLang="el-GR" sz="2400" b="1" dirty="0">
                <a:solidFill>
                  <a:srgbClr val="FF0000"/>
                </a:solidFill>
                <a:latin typeface="Courier New" panose="02070309020205020404" pitchFamily="49" charset="0"/>
              </a:rPr>
              <a:t>};</a:t>
            </a:r>
          </a:p>
          <a:p>
            <a:pPr marL="342900" lvl="0" indent="-342900" fontAlgn="base">
              <a:lnSpc>
                <a:spcPct val="80000"/>
              </a:lnSpc>
              <a:spcBef>
                <a:spcPct val="5000"/>
              </a:spcBef>
              <a:spcAft>
                <a:spcPct val="0"/>
              </a:spcAft>
              <a:buClr>
                <a:srgbClr val="3333CC"/>
              </a:buClr>
              <a:buSzPct val="60000"/>
              <a:defRPr/>
            </a:pPr>
            <a:r>
              <a:rPr lang="en-GB" altLang="el-GR" sz="2400" dirty="0" err="1">
                <a:solidFill>
                  <a:srgbClr val="000000"/>
                </a:solidFill>
                <a:latin typeface="Courier New" panose="02070309020205020404" pitchFamily="49" charset="0"/>
              </a:rPr>
              <a:t>enum</a:t>
            </a:r>
            <a:r>
              <a:rPr lang="en-GB" altLang="el-GR" sz="2400" dirty="0">
                <a:solidFill>
                  <a:srgbClr val="000000"/>
                </a:solidFill>
                <a:latin typeface="Courier New" panose="02070309020205020404" pitchFamily="49" charset="0"/>
              </a:rPr>
              <a:t> spectrum </a:t>
            </a:r>
            <a:r>
              <a:rPr lang="en-GB" altLang="el-GR" sz="2400" dirty="0" err="1">
                <a:solidFill>
                  <a:srgbClr val="000000"/>
                </a:solidFill>
                <a:latin typeface="Courier New" panose="02070309020205020404" pitchFamily="49" charset="0"/>
              </a:rPr>
              <a:t>color</a:t>
            </a:r>
            <a:r>
              <a:rPr lang="en-GB" altLang="el-GR" sz="2400" dirty="0">
                <a:solidFill>
                  <a:srgbClr val="000000"/>
                </a:solidFill>
                <a:latin typeface="Courier New" panose="02070309020205020404" pitchFamily="49" charset="0"/>
              </a:rPr>
              <a:t>;</a:t>
            </a:r>
          </a:p>
          <a:p>
            <a:pPr marL="342900" lvl="0" indent="-342900" fontAlgn="base">
              <a:lnSpc>
                <a:spcPct val="80000"/>
              </a:lnSpc>
              <a:spcBef>
                <a:spcPct val="5000"/>
              </a:spcBef>
              <a:spcAft>
                <a:spcPct val="0"/>
              </a:spcAft>
              <a:buClr>
                <a:srgbClr val="3333CC"/>
              </a:buClr>
              <a:buSzPct val="60000"/>
              <a:defRPr/>
            </a:pPr>
            <a:r>
              <a:rPr lang="en-GB" altLang="el-GR" sz="2400" dirty="0" err="1">
                <a:solidFill>
                  <a:srgbClr val="000000"/>
                </a:solidFill>
                <a:latin typeface="Courier New" panose="02070309020205020404" pitchFamily="49" charset="0"/>
              </a:rPr>
              <a:t>enum</a:t>
            </a:r>
            <a:r>
              <a:rPr lang="en-GB" altLang="el-GR" sz="2400" dirty="0">
                <a:solidFill>
                  <a:srgbClr val="000000"/>
                </a:solidFill>
                <a:latin typeface="Courier New" panose="02070309020205020404" pitchFamily="49" charset="0"/>
              </a:rPr>
              <a:t> {bright, medium, dark} intensity;</a:t>
            </a:r>
          </a:p>
          <a:p>
            <a:pPr marL="342900" lvl="0" indent="-342900" eaLnBrk="0" fontAlgn="base" hangingPunct="0">
              <a:spcBef>
                <a:spcPct val="0"/>
              </a:spcBef>
              <a:spcAft>
                <a:spcPct val="0"/>
              </a:spcAft>
              <a:defRPr/>
            </a:pPr>
            <a:endParaRPr lang="el-GR" altLang="el-GR" sz="2400" dirty="0">
              <a:solidFill>
                <a:srgbClr val="000000"/>
              </a:solidFill>
              <a:latin typeface="Courier New" panose="02070309020205020404" pitchFamily="49" charset="0"/>
            </a:endParaRPr>
          </a:p>
          <a:p>
            <a:pPr marL="342900" lvl="0" indent="-342900" eaLnBrk="0" fontAlgn="base" hangingPunct="0">
              <a:spcBef>
                <a:spcPct val="0"/>
              </a:spcBef>
              <a:spcAft>
                <a:spcPct val="0"/>
              </a:spcAft>
              <a:defRPr/>
            </a:pPr>
            <a:r>
              <a:rPr lang="en-GB" altLang="el-GR" sz="2400" dirty="0" err="1">
                <a:solidFill>
                  <a:srgbClr val="000000"/>
                </a:solidFill>
                <a:latin typeface="Courier New" panose="02070309020205020404" pitchFamily="49" charset="0"/>
              </a:rPr>
              <a:t>color</a:t>
            </a:r>
            <a:r>
              <a:rPr lang="en-GB" altLang="el-GR" sz="2400" dirty="0">
                <a:solidFill>
                  <a:srgbClr val="000000"/>
                </a:solidFill>
                <a:latin typeface="Courier New" panose="02070309020205020404" pitchFamily="49" charset="0"/>
              </a:rPr>
              <a:t> = blue;		/* OK */</a:t>
            </a:r>
          </a:p>
          <a:p>
            <a:pPr marL="342900" lvl="0" indent="-342900" eaLnBrk="0" fontAlgn="base" hangingPunct="0">
              <a:spcBef>
                <a:spcPct val="0"/>
              </a:spcBef>
              <a:spcAft>
                <a:spcPct val="0"/>
              </a:spcAft>
              <a:defRPr/>
            </a:pPr>
            <a:r>
              <a:rPr lang="en-GB" altLang="el-GR" sz="2400" dirty="0" err="1">
                <a:solidFill>
                  <a:srgbClr val="000000"/>
                </a:solidFill>
                <a:latin typeface="Courier New" panose="02070309020205020404" pitchFamily="49" charset="0"/>
              </a:rPr>
              <a:t>color</a:t>
            </a:r>
            <a:r>
              <a:rPr lang="en-GB" altLang="el-GR" sz="2400" dirty="0">
                <a:solidFill>
                  <a:srgbClr val="000000"/>
                </a:solidFill>
                <a:latin typeface="Courier New" panose="02070309020205020404" pitchFamily="49" charset="0"/>
              </a:rPr>
              <a:t> = bright;		/* type conflict */</a:t>
            </a:r>
          </a:p>
          <a:p>
            <a:pPr marL="342900" lvl="0" indent="-342900" eaLnBrk="0" fontAlgn="base" hangingPunct="0">
              <a:spcBef>
                <a:spcPct val="0"/>
              </a:spcBef>
              <a:spcAft>
                <a:spcPct val="0"/>
              </a:spcAft>
              <a:defRPr/>
            </a:pPr>
            <a:r>
              <a:rPr lang="en-GB" altLang="el-GR" sz="2400" dirty="0" err="1">
                <a:solidFill>
                  <a:srgbClr val="000000"/>
                </a:solidFill>
                <a:latin typeface="Courier New" panose="02070309020205020404" pitchFamily="49" charset="0"/>
              </a:rPr>
              <a:t>color</a:t>
            </a:r>
            <a:r>
              <a:rPr lang="en-GB" altLang="el-GR" sz="2400" dirty="0">
                <a:solidFill>
                  <a:srgbClr val="000000"/>
                </a:solidFill>
                <a:latin typeface="Courier New" panose="02070309020205020404" pitchFamily="49" charset="0"/>
              </a:rPr>
              <a:t> = 1;		</a:t>
            </a:r>
            <a:r>
              <a:rPr lang="el-GR" altLang="el-GR" sz="2400" dirty="0">
                <a:solidFill>
                  <a:srgbClr val="000000"/>
                </a:solidFill>
                <a:latin typeface="Courier New" panose="02070309020205020404" pitchFamily="49" charset="0"/>
              </a:rPr>
              <a:t>	</a:t>
            </a:r>
            <a:r>
              <a:rPr lang="en-GB" altLang="el-GR" sz="2400" dirty="0">
                <a:solidFill>
                  <a:srgbClr val="000000"/>
                </a:solidFill>
                <a:latin typeface="Courier New" panose="02070309020205020404" pitchFamily="49" charset="0"/>
              </a:rPr>
              <a:t>/* type conflict */</a:t>
            </a:r>
          </a:p>
          <a:p>
            <a:pPr marL="342900" lvl="0" indent="-342900" eaLnBrk="0" fontAlgn="base" hangingPunct="0">
              <a:spcBef>
                <a:spcPct val="0"/>
              </a:spcBef>
              <a:spcAft>
                <a:spcPct val="0"/>
              </a:spcAft>
              <a:defRPr/>
            </a:pPr>
            <a:r>
              <a:rPr lang="en-GB" altLang="el-GR" sz="2400" dirty="0" err="1">
                <a:solidFill>
                  <a:srgbClr val="000000"/>
                </a:solidFill>
                <a:latin typeface="Courier New" panose="02070309020205020404" pitchFamily="49" charset="0"/>
              </a:rPr>
              <a:t>color</a:t>
            </a:r>
            <a:r>
              <a:rPr lang="en-GB" altLang="el-GR" sz="2400" dirty="0">
                <a:solidFill>
                  <a:srgbClr val="000000"/>
                </a:solidFill>
                <a:latin typeface="Courier New" panose="02070309020205020404" pitchFamily="49" charset="0"/>
              </a:rPr>
              <a:t>=red + green;/*misleading usage*/</a:t>
            </a:r>
          </a:p>
        </p:txBody>
      </p:sp>
    </p:spTree>
    <p:extLst>
      <p:ext uri="{BB962C8B-B14F-4D97-AF65-F5344CB8AC3E}">
        <p14:creationId xmlns:p14="http://schemas.microsoft.com/office/powerpoint/2010/main" val="33378009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blinds(horizontal)">
                                      <p:cBhvr>
                                        <p:cTn id="7" dur="5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linds(horizontal)">
                                      <p:cBhvr>
                                        <p:cTn id="12" dur="500"/>
                                        <p:tgtEl>
                                          <p:spTgt spid="6">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blinds(horizontal)">
                                      <p:cBhvr>
                                        <p:cTn id="15" dur="5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blinds(horizontal)">
                                      <p:cBhvr>
                                        <p:cTn id="20" dur="500"/>
                                        <p:tgtEl>
                                          <p:spTgt spid="6">
                                            <p:txEl>
                                              <p:pRg st="2" end="2"/>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Effect transition="in" filter="blinds(horizontal)">
                                      <p:cBhvr>
                                        <p:cTn id="23" dur="500"/>
                                        <p:tgtEl>
                                          <p:spTgt spid="6">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9" grpId="0" animBg="1"/>
    </p:bldLst>
  </p:timing>
</p:sld>
</file>

<file path=ppt/theme/theme1.xml><?xml version="1.0" encoding="utf-8"?>
<a:theme xmlns:a="http://schemas.openxmlformats.org/drawingml/2006/main" name="Προσαρμοσμένη σχεδίαση">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10947</TotalTime>
  <Words>2624</Words>
  <Application>Microsoft Office PowerPoint</Application>
  <PresentationFormat>Widescreen</PresentationFormat>
  <Paragraphs>484</Paragraphs>
  <Slides>32</Slides>
  <Notes>32</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46" baseType="lpstr">
      <vt:lpstr>Arial</vt:lpstr>
      <vt:lpstr>Bahnschrift</vt:lpstr>
      <vt:lpstr>Bahnschrift Light</vt:lpstr>
      <vt:lpstr>Calibri</vt:lpstr>
      <vt:lpstr>Calibri Light</vt:lpstr>
      <vt:lpstr>Courier New</vt:lpstr>
      <vt:lpstr>HellasTimes</vt:lpstr>
      <vt:lpstr>Tahoma</vt:lpstr>
      <vt:lpstr>Times New Roman</vt:lpstr>
      <vt:lpstr>Times New Roman Greek</vt:lpstr>
      <vt:lpstr>Wingdings</vt:lpstr>
      <vt:lpstr>Προσαρμοσμένη σχεδίαση</vt:lpstr>
      <vt:lpstr>Θέμα του Office</vt:lpstr>
      <vt:lpstr>Worksheet</vt:lpstr>
      <vt:lpstr>PowerPoint Presentation</vt:lpstr>
      <vt:lpstr>Στόχος Ενότητας </vt:lpstr>
      <vt:lpstr>Οργάνωση Διάλεξης</vt:lpstr>
      <vt:lpstr>Μεταβλητή Ορισμός  1/2</vt:lpstr>
      <vt:lpstr>Μεταβλητή Ορισμός  2/2</vt:lpstr>
      <vt:lpstr>Δήλωση μεταβλητής στη C   1/2</vt:lpstr>
      <vt:lpstr>Δήλωση μεταβλητής στη C   2/2</vt:lpstr>
      <vt:lpstr>Κανόνες δήλωσης μεταβλητών</vt:lpstr>
      <vt:lpstr>Οργάνωση Διάλεξης</vt:lpstr>
      <vt:lpstr>Τύποι Δεδομένων</vt:lpstr>
      <vt:lpstr>Τύποι δεδομένων</vt:lpstr>
      <vt:lpstr>Τύποι δεδομένων στη C</vt:lpstr>
      <vt:lpstr>Μονάδες μνήμης</vt:lpstr>
      <vt:lpstr>Οργάνωση Διάλεξης</vt:lpstr>
      <vt:lpstr>Ακέραιοι (Integers) - int</vt:lpstr>
      <vt:lpstr>Εκτύπωση ακεραίων   1/2</vt:lpstr>
      <vt:lpstr>Εκτύπωση ακεραίων   2/2</vt:lpstr>
      <vt:lpstr>Οργάνωση Διάλεξης</vt:lpstr>
      <vt:lpstr>Χαρακτήρας - char   1/3</vt:lpstr>
      <vt:lpstr>Χαρακτήρας - char    2/3</vt:lpstr>
      <vt:lpstr>Χαρακτήρας - char    3/3</vt:lpstr>
      <vt:lpstr>Αποθήκευση-Ανάκληση χαρακτήρα</vt:lpstr>
      <vt:lpstr>Μη εκτυπούμενοι χαρακτήρες</vt:lpstr>
      <vt:lpstr>Πηγαίος κώδικας προγράμματος εισαγωγής χαρακτήρα</vt:lpstr>
      <vt:lpstr>Οργάνωση Διάλεξης</vt:lpstr>
      <vt:lpstr>Float - Double</vt:lpstr>
      <vt:lpstr>Οργάνωση Διάλεξης</vt:lpstr>
      <vt:lpstr>Συμβολοσειρά (String) ως πίνακας χαρακτήρων</vt:lpstr>
      <vt:lpstr>Οργάνωση Διάλεξης</vt:lpstr>
      <vt:lpstr>Σταθερές (const)   1/2</vt:lpstr>
      <vt:lpstr>Σταθερές (const)   2/2</vt:lpstr>
      <vt:lpstr>Σταθερά απαρίθμησης  (enum)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OOP-Introduction</dc:title>
  <dc:creator>Kleanthis Thramboulidis</dc:creator>
  <cp:lastModifiedBy>Kleanthis Thramboulidis</cp:lastModifiedBy>
  <cp:revision>65</cp:revision>
  <cp:lastPrinted>2023-02-24T15:57:04Z</cp:lastPrinted>
  <dcterms:created xsi:type="dcterms:W3CDTF">2020-03-13T12:21:17Z</dcterms:created>
  <dcterms:modified xsi:type="dcterms:W3CDTF">2025-10-14T19:29:00Z</dcterms:modified>
</cp:coreProperties>
</file>