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40"/>
  </p:notesMasterIdLst>
  <p:sldIdLst>
    <p:sldId id="262" r:id="rId3"/>
    <p:sldId id="818" r:id="rId4"/>
    <p:sldId id="911" r:id="rId5"/>
    <p:sldId id="929" r:id="rId6"/>
    <p:sldId id="930" r:id="rId7"/>
    <p:sldId id="931" r:id="rId8"/>
    <p:sldId id="957" r:id="rId9"/>
    <p:sldId id="822" r:id="rId10"/>
    <p:sldId id="932" r:id="rId11"/>
    <p:sldId id="933" r:id="rId12"/>
    <p:sldId id="938" r:id="rId13"/>
    <p:sldId id="934" r:id="rId14"/>
    <p:sldId id="928" r:id="rId15"/>
    <p:sldId id="936" r:id="rId16"/>
    <p:sldId id="939" r:id="rId17"/>
    <p:sldId id="958" r:id="rId18"/>
    <p:sldId id="935" r:id="rId19"/>
    <p:sldId id="940" r:id="rId20"/>
    <p:sldId id="942" r:id="rId21"/>
    <p:sldId id="943" r:id="rId22"/>
    <p:sldId id="959" r:id="rId23"/>
    <p:sldId id="926" r:id="rId24"/>
    <p:sldId id="941" r:id="rId25"/>
    <p:sldId id="945" r:id="rId26"/>
    <p:sldId id="944" r:id="rId27"/>
    <p:sldId id="947" r:id="rId28"/>
    <p:sldId id="949" r:id="rId29"/>
    <p:sldId id="950" r:id="rId30"/>
    <p:sldId id="948" r:id="rId31"/>
    <p:sldId id="951" r:id="rId32"/>
    <p:sldId id="946" r:id="rId33"/>
    <p:sldId id="953" r:id="rId34"/>
    <p:sldId id="960" r:id="rId35"/>
    <p:sldId id="927" r:id="rId36"/>
    <p:sldId id="954" r:id="rId37"/>
    <p:sldId id="955" r:id="rId38"/>
    <p:sldId id="956" r:id="rId39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58" autoAdjust="0"/>
    <p:restoredTop sz="93969" autoAdjust="0"/>
  </p:normalViewPr>
  <p:slideViewPr>
    <p:cSldViewPr snapToGrid="0">
      <p:cViewPr varScale="1">
        <p:scale>
          <a:sx n="67" d="100"/>
          <a:sy n="67" d="100"/>
        </p:scale>
        <p:origin x="47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5E02B-7508-585E-4F49-009EAA43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5B95EB3-1D7B-031E-2AA8-257488295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DB813BF-C23F-3E4D-900A-75A69D377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DDD72C6-8023-8803-518A-C93D5F36A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2106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7C587-13AD-0AC3-F832-2B41FDA7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9C51617-DBCB-002E-028B-D92668ACA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A7D6180-706D-9B7B-F2F9-F0AF2D5F2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7FB4202-9F8F-3E2F-0448-41544215A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98483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146F7-3B6D-41E3-E934-A6FA8C6EF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1D7B456-E04A-CCFC-7C58-34FD892EE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B01A5AF-02C1-D1C9-E33A-88ABD670C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24A8389-EC24-E245-7833-B358EEFBF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70734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5B273-23EE-87D9-C04B-DEB370BB3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FD68155-F723-4954-77D0-241AFF210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56F4216-AAE4-966C-54E9-D24CEF46C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2B5165C-09CB-D39A-A3F0-F6AB445B2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3066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A46B-C708-8CC4-AB7A-876A9963C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6810375-705F-16B7-AA96-43FACEDE5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8BD7BF5-CC12-4D2A-6858-696F5E0E1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13059E8-5C07-5A98-4584-A309E5757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48771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6088-C7DC-1E46-060C-C047E0EAC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DA7E2C5-69C8-40A1-E6CD-F6BFDA670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F1749BF-2DA2-1A26-8CBD-90F5D44AF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ED60A73-3F86-FF37-15FE-F4967EED2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67457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CDE23-4703-0D09-F7FD-B53EBCD3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4EA007E-0955-EB39-593C-63135B7BC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035F853-1C3C-9864-FAB8-3F5825FBF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EDBCB8F-1A44-2FD8-5F19-EF2AA7A25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27403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9C63-E00A-4159-8F9C-B48F12C02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EF6BE02-ADC1-FFFF-F40D-266814DA3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B128025-48A9-C896-CFB4-9E5494446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187556A-E4AE-9EB8-FBD1-4B27384F0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36141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46DE1-C791-CE5C-7505-9D860ABA8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D6335EA-06C7-2685-D9DE-5D344F0D0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79F8540-1DBE-8677-BD5E-155CE8179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2CC0000-AADA-9636-BC72-97629220E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11858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EC30D-E0EF-09E2-8C75-972DD4934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809FE4A-17E9-401B-BF24-967B19113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6365E86-6D91-6710-33E9-FFF53FD52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72AC66E-2485-FFB1-8542-9F18BC4A6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87233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96024-0FE8-A44E-3E0F-5E53460B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7B6A2E4-381D-D908-BAA9-2D0048B0A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9222872-CBFF-6AB6-3DA4-9FBC64BB7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4952E08-2C38-8F87-6DC3-DAF24A91D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32037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9EB7D-9FA3-DCEA-9683-B0167EBC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D7F20F2-4AEB-3296-FE89-127E66071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64AC9CA-6B33-9347-F2CC-2B7DF2141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B913DB3-3D43-2839-C9AA-254DFED6F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90308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1A944-1824-C7AE-1E3A-07B904E4C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7FC75AC-388A-9CC6-4851-4B2A05DC8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978AB4D-1B09-48FE-6F8E-291CF6466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48C3AEF-DF00-9A82-DA6E-9E15F376C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88290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71E3-8493-C4F1-4A7D-074E860F7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DF1F7B7-A901-5160-43AF-DEB4545FB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6291CB2-116B-ECF1-566A-5A86F09A2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BA32076-A485-F6F0-F0FF-04BEE46D7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44656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15E1E-15FF-3C64-9BA2-6EFA02EF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CF9D7EC-0F25-8113-79D9-912124578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082B4768-A963-4AB9-D7FB-CF6894609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D010E19-77DF-DACD-FBAF-C86130815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49675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7A4B8-7866-A9B7-E9D9-1418BD737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132BBB2-1AA8-5D49-447C-46137945E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475FF7F-9E00-940A-FECE-5F88F7915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FD345D4-3242-3146-9C23-4A0E014CB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85645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F0966-68EB-1148-2B9A-A103C9E28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6731399-50F6-1252-32D5-A1E8888A1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D0F38FA-5C32-12D6-41A6-91503FA89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A6400ED-CB97-18B5-AAC2-F11930AA9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727489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07BCA-7DD8-1840-783A-826DAB69A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63DD4AF-A7E4-87BA-CCE1-38B6CCF56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35BA09D-FFE2-6425-FE8C-6D6D6AEEC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AB1BA7C-E4F5-748F-5C25-B1737498B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046485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A1B89-6488-F73C-F953-E7DF4F80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605D8AE5-A5F7-0516-11A5-A9BE038CA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2054396-107B-79C2-3489-9FF1E04F7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C1EE105-1CDF-C8F4-0DF4-2C2FF6BA9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8354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7610-2C14-3977-85B2-EC38FCE6F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781F523-4419-874C-07DA-F69DF8377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5E60767-258C-8B9A-EE1A-159963F90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8EC3125-BD1E-D65B-B41B-FDEE6E3D5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033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B1905-1676-0552-CF9E-8CB08B451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52F8057-1B34-495A-F291-A610605D3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99FEA89-ABC1-40D6-A937-9ED802EAF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A313847-426C-16B6-9F13-81C64008D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34051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C299A-6A98-E478-557A-B33693C9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A34763A-5C98-50AE-4ACB-459FFD5AB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E473238-6B66-9574-C3B7-7D02EF26F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FFAFCC6-0A70-AD62-913B-A1017E401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64043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3AF97-EE0A-B3A2-ACD1-516B7896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65FBED8A-5BD2-E119-0825-8EE6FABF1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589DF12-4599-F5C9-F51C-83DB9D214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2FAAF45-F13D-422D-2264-2E33A9C59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044326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C8BAE-0694-A8FF-0D81-27376ECC3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984DB5B-36F4-B444-58B5-BC5FBE12A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D713184-7930-CD4D-5369-7ADBA84A7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85C39C0-D860-1E9D-A646-91F03FDBD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590407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691A1-DC55-9B96-BC44-83D879E8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302C311-A73B-A332-056B-24DBCC87D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68C9CA9-97CC-C484-A85D-B12BD05CE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7CDE519-698B-BE85-C37B-FF4A3326F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032480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FBC6D-2F42-D315-FCEE-EDECF101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9FBDD52-FC35-4F97-0E47-0ECAA9E06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138C363-9B01-BE53-2DCD-3DBDE0D57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25C647F-B56B-47D8-06B2-84D28CFA5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901248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49CF-0948-D4C5-630E-AAE1E0CA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FD736CE-530D-CF31-DE50-2E5C12EDE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2AC07DD-8BD5-6F0F-101B-3D449C696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FC9CE6E-1D89-17BA-5048-694FC1422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025743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AE187-6320-FB18-BB00-5DB72A1AB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20AD52E-120F-A155-5021-85B9A49FA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A2FFB16-FE5B-00A6-D8B4-05B34D57F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153CC4C-6DF8-EA08-B0CA-A57BC9A24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5389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65457-92CC-A032-3FC1-12180BAB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1C61643-D238-E170-66E7-827CBDC96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81EEC1F-D0FB-CB03-1642-09C559F9D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EFD34FD-7AFD-F478-FD04-B735344D2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42157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8D6AC-D074-406E-7CC4-93598E62B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3381865-9BEA-C972-CB6F-08B1E93D8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CED11C0-FEA5-7DC2-6D33-576C224DC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E5D7847-6CAC-7C50-5616-1D39B52A0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62366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96D19-20AB-BA24-3D43-0AA57EF6A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6A444F5-374D-056E-2D4B-1004C195C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06D7BA2-F536-5503-EA54-069B8D53B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DE8F9A4-EB32-9EE0-BF82-402450244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102246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42839-07AE-9CF8-D70C-EBCE0F3A9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5E27206-0348-03C2-5152-12C187EE8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3DCE1DB-F57B-2A76-F0E2-2C60DC1C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B977C76-941D-FD02-C1B0-D0E05D1C3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515631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3B1DB-7A69-9021-1280-861D4465C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F1C2446-D7CF-C66F-9B74-5FC5CC8C0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17D9369-D85C-471C-1041-6105A6F8A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40A9092-9E7F-D2FD-8331-29DFE5B33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832441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8D2B9-648D-7613-431E-F276AD6B2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06233B9-815D-5140-A5AD-8F389B01D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7D9F3CA-F1B6-5CF5-B054-CDBF0C6C4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8B8F801-FF66-F6AB-3ADC-0E6B4C028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110034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9822C-64D4-170B-60EE-1F9917FB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B622A7D-53E7-8B67-EE54-D1E1CC343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CFE9172-F3AA-E0FA-31A8-56C6D4252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CA85B43-0C14-8318-DA5C-F3D214CE2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31243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C7D5-5195-60E6-2507-4E89D757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D6C934F-5CCF-FD7F-7DED-3CC2C6114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E9F48E8-26A3-9A15-282F-CBBD85784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CBDEF8E-EF42-3BBD-BAE8-89FEC846F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01245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sites.google.com/view/i2art-of-programming/home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google.com/search?cs=0&amp;sca_esv=8482df87b229566e&amp;sxsrf=AE3TifPENiUwIAy-EaFJowqC3lmuDCO2Mw%3A1758526063634&amp;q=Arithmetic+Logic+Unit+%28ALU%29&amp;sa=X&amp;ved=2ahUKEwj5sbmK7OuPAxWP8gIHHXW8E-gQxccNegQIBRAB&amp;mstk=AUtExfBEZNsHJGrdZN3Uy5Yg9dpeb9Jgc-Eorqnn49s1A5fYXF5-IGnrfrdRNiS56IHvh-W2glsb_GFmBPu2GXpjSgZRN0sGAN5fTwzwwjGRjFAv38ROf8Uy3B5TkqlgIYdJH_jxi2CQUwBYBRHplRR7g_GwGKe6nM1Y_gGOVKEo4If8Hs5xMYRGi0yjXhvcIYyO6XjEfR1Q3NQeswzK0HKsynXvtRvlvV6YR7eZ3-ysE6hdtuVDSzGCxFwRbixDe17Oggc0tOEy_49yFa9txv8PBomBcYssyeQR0qkKW4EwUm265w&amp;csui=3" TargetMode="External"/><Relationship Id="rId4" Type="http://schemas.openxmlformats.org/officeDocument/2006/relationships/hyperlink" Target="https://www.google.com/search?cs=0&amp;sca_esv=8482df87b229566e&amp;sxsrf=AE3TifPENiUwIAy-EaFJowqC3lmuDCO2Mw%3A1758526063634&amp;q=stored+program+concept&amp;sa=X&amp;ved=2ahUKEwj5sbmK7OuPAxWP8gIHHXW8E-gQxccNegQIAxAC&amp;mstk=AUtExfBEZNsHJGrdZN3Uy5Yg9dpeb9Jgc-Eorqnn49s1A5fYXF5-IGnrfrdRNiS56IHvh-W2glsb_GFmBPu2GXpjSgZRN0sGAN5fTwzwwjGRjFAv38ROf8Uy3B5TkqlgIYdJH_jxi2CQUwBYBRHplRR7g_GwGKe6nM1Y_gGOVKEo4If8Hs5xMYRGi0yjXhvcIYyO6XjEfR1Q3NQeswzK0HKsynXvtRvlvV6YR7eZ3-ysE6hdtuVDSzGCxFwRbixDe17Oggc0tOEy_49yFa9txv8PBomBcYssyeQR0qkKW4EwUm265w&amp;csui=3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Instruction_set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en.wikipedia.org/wiki/Data_(computing)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en.wikipedia.org/wiki/Computer_memory" TargetMode="External"/><Relationship Id="rId5" Type="http://schemas.openxmlformats.org/officeDocument/2006/relationships/hyperlink" Target="https://en.wikipedia.org/wiki/Control_unit" TargetMode="External"/><Relationship Id="rId4" Type="http://schemas.openxmlformats.org/officeDocument/2006/relationships/hyperlink" Target="https://en.wikipedia.org/wiki/Arithmetic_logic_unit" TargetMode="External"/><Relationship Id="rId9" Type="http://schemas.openxmlformats.org/officeDocument/2006/relationships/hyperlink" Target="https://en.wikipedia.org/wiki/Input_and_outpu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ascii-code.com/ASCII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16237" y="1648085"/>
            <a:ext cx="8865031" cy="9463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Παίζοντας με Αλφαριθμητικά</a:t>
            </a:r>
            <a:endParaRPr lang="en-US" sz="16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7200" b="1" dirty="0">
                <a:solidFill>
                  <a:srgbClr val="60D69E"/>
                </a:solidFill>
                <a:latin typeface="Bahnschrift" panose="020B0502040204020203" pitchFamily="34" charset="0"/>
              </a:rPr>
              <a:t>Δομή της Μηχανής και Δείκτες</a:t>
            </a:r>
            <a:endParaRPr lang="en-US" sz="72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Υπότιτλος 2">
            <a:extLst>
              <a:ext uri="{FF2B5EF4-FFF2-40B4-BE49-F238E27FC236}">
                <a16:creationId xmlns:a16="http://schemas.microsoft.com/office/drawing/2014/main" id="{1CC770C9-EFCA-6DAF-8AF4-65DBC6C0060B}"/>
              </a:ext>
            </a:extLst>
          </p:cNvPr>
          <p:cNvSpPr txBox="1">
            <a:spLocks/>
          </p:cNvSpPr>
          <p:nvPr/>
        </p:nvSpPr>
        <p:spPr>
          <a:xfrm>
            <a:off x="7420598" y="2904201"/>
            <a:ext cx="4452747" cy="3644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Von Neumann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Architecture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Strings </a:t>
            </a:r>
            <a:r>
              <a:rPr lang="el-GR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- </a:t>
            </a: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Pointers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04CF0-71DB-277D-FF43-3A47565F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650" y="27543"/>
            <a:ext cx="2610113" cy="37287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5A376A-46A0-3388-39E8-B1633BDE9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7" y="2897806"/>
            <a:ext cx="7404361" cy="39601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645747-ED20-19B3-8190-54D45634BE1F}"/>
              </a:ext>
            </a:extLst>
          </p:cNvPr>
          <p:cNvSpPr txBox="1"/>
          <p:nvPr/>
        </p:nvSpPr>
        <p:spPr>
          <a:xfrm flipH="1">
            <a:off x="4554512" y="2416145"/>
            <a:ext cx="537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https://sites.google.com/view/i2art-of-programming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0368E-6ADC-C0B8-7EA7-E8B85F721C26}"/>
              </a:ext>
            </a:extLst>
          </p:cNvPr>
          <p:cNvSpPr txBox="1"/>
          <p:nvPr/>
        </p:nvSpPr>
        <p:spPr>
          <a:xfrm>
            <a:off x="9565650" y="3746541"/>
            <a:ext cx="2610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Πηγή: </a:t>
            </a:r>
            <a:r>
              <a:rPr lang="el-GR" dirty="0">
                <a:hlinkClick r:id="rId5"/>
              </a:rPr>
              <a:t>Μια Εισαγωγή στην Τέχνη του Προγραμματισμού</a:t>
            </a:r>
            <a:endParaRPr lang="en-GB" dirty="0"/>
          </a:p>
        </p:txBody>
      </p:sp>
      <p:sp>
        <p:nvSpPr>
          <p:cNvPr id="6" name="Υπότιτλος 2">
            <a:extLst>
              <a:ext uri="{FF2B5EF4-FFF2-40B4-BE49-F238E27FC236}">
                <a16:creationId xmlns:a16="http://schemas.microsoft.com/office/drawing/2014/main" id="{C6E35AA9-71A5-9AAC-563D-008C2491179D}"/>
              </a:ext>
            </a:extLst>
          </p:cNvPr>
          <p:cNvSpPr txBox="1">
            <a:spLocks/>
          </p:cNvSpPr>
          <p:nvPr/>
        </p:nvSpPr>
        <p:spPr>
          <a:xfrm>
            <a:off x="-16239" y="-1461"/>
            <a:ext cx="12192002" cy="16396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Εισαγωγή στην Τέχνη του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Προγραμματισμού (με τη </a:t>
            </a:r>
            <a:r>
              <a:rPr lang="en-US" sz="4800" b="1" dirty="0">
                <a:latin typeface="Bahnschrift" panose="020B0502040204020203" pitchFamily="34" charset="0"/>
              </a:rPr>
              <a:t>C</a:t>
            </a:r>
            <a:r>
              <a:rPr lang="el-GR" sz="4800" b="1" dirty="0">
                <a:latin typeface="Bahnschrift" panose="020B0502040204020203" pitchFamily="34" charset="0"/>
              </a:rPr>
              <a:t>)</a:t>
            </a:r>
            <a:endParaRPr lang="en-US" sz="32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635E-13B9-9C1B-C13D-3FFB3D54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28A9634-4676-80EF-67E2-A6D4D1470B18}"/>
              </a:ext>
            </a:extLst>
          </p:cNvPr>
          <p:cNvSpPr/>
          <p:nvPr/>
        </p:nvSpPr>
        <p:spPr>
          <a:xfrm>
            <a:off x="0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B1C13C6-17D1-7C66-983F-D7B6E57C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Στόχος Ενότητας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F0DD3F0-F993-07FA-CF3E-EC2B3B0D151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E05CF8-C118-C650-A095-0EE349F5B94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22D7C49-9DEB-8E6A-F5E3-97DFE5BE0160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Von Neumann Architecture - Strings - Pointers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116A2B-F56B-26DB-A6D1-1ECEEB4E2B4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A111B06-1E70-E8F2-34FB-B4873DAA7401}"/>
              </a:ext>
            </a:extLst>
          </p:cNvPr>
          <p:cNvSpPr txBox="1">
            <a:spLocks/>
          </p:cNvSpPr>
          <p:nvPr/>
        </p:nvSpPr>
        <p:spPr bwMode="auto">
          <a:xfrm>
            <a:off x="-1" y="1118156"/>
            <a:ext cx="12191999" cy="266957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  <a:defRPr/>
            </a:pPr>
            <a:r>
              <a:rPr lang="el-GR" sz="2400" b="1" kern="0" dirty="0">
                <a:solidFill>
                  <a:srgbClr val="000000"/>
                </a:solidFill>
                <a:latin typeface="Tahoma"/>
              </a:rPr>
              <a:t>Εισάγει</a:t>
            </a:r>
            <a:r>
              <a:rPr lang="en-US" sz="2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τη βασική έννοια της συμβολοσειράς (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string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)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που μας επιτρέπει να χρησιμοποιούμε τη Μηχανή για διαχείριση  (αποθήκευση και επεξεργασία) κειμένου.</a:t>
            </a:r>
          </a:p>
          <a:p>
            <a:pPr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Να δώσει τη δομή της Μηχανής για να κατανοήσουμε τη διαδικασία εκτέλεσης προγράμματος.</a:t>
            </a:r>
          </a:p>
          <a:p>
            <a:pPr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Εισάγει την έννοια του Δείκτη (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Pοinter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) για πρόσβαση στην μονάδα αποθήκευσης (memory u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n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it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) για πιο ευέλικτη διαχείριση συμβολοσειρών.</a:t>
            </a:r>
            <a:endParaRPr lang="en-US" sz="24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05B80-82D9-1195-C715-BE2289AA96E2}"/>
              </a:ext>
            </a:extLst>
          </p:cNvPr>
          <p:cNvSpPr txBox="1"/>
          <p:nvPr/>
        </p:nvSpPr>
        <p:spPr>
          <a:xfrm>
            <a:off x="492369" y="4389120"/>
            <a:ext cx="10874326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2400" kern="0" dirty="0">
                <a:solidFill>
                  <a:srgbClr val="000000"/>
                </a:solidFill>
                <a:latin typeface="Tahoma"/>
              </a:rPr>
              <a:t>Προχωράμε σε πιο βαθιά νερά για να δούμε τη σχέση της σημειογραφίας του Δείκτη με τη σημειογραφία του Πίνακα. </a:t>
            </a:r>
          </a:p>
          <a:p>
            <a:pPr algn="ctr"/>
            <a:r>
              <a:rPr lang="el-GR" sz="2400" kern="0" dirty="0">
                <a:solidFill>
                  <a:srgbClr val="000000"/>
                </a:solidFill>
                <a:latin typeface="Tahoma"/>
              </a:rPr>
              <a:t>Πίνακες και Δείκτες είναι από τα πιο ισχυρά στοιχεία της 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C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7100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2A465-FD08-1A1D-B033-573F5663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58983A4-8924-9752-3540-744FE8E54A51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DC3CDDB-9460-7CC9-9108-943C37EC7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07F9E7D2-68EA-62C0-B24F-A283A12102E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A300D-ECEF-45F7-2ADB-74244DD7439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71775F-640D-BCCF-612D-91C87341055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B239DB-63A9-5E03-D2DF-29A6E9914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8"/>
            <a:ext cx="11207100" cy="512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Η δομή της «Μηχανής» </a:t>
            </a:r>
            <a:endParaRPr lang="en-US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l-GR" sz="3200" kern="0" dirty="0">
                <a:latin typeface="Times New Roman" panose="02020603050405020304" pitchFamily="18" charset="0"/>
              </a:rPr>
              <a:t>Von Neumann Architecture, </a:t>
            </a:r>
            <a:r>
              <a:rPr lang="el-GR" altLang="el-GR" sz="3200" kern="0" dirty="0">
                <a:latin typeface="Times New Roman" panose="02020603050405020304" pitchFamily="18" charset="0"/>
              </a:rPr>
              <a:t>Γλώσσα Μηχανής</a:t>
            </a:r>
            <a:endParaRPr lang="en-US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6.1  -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AsciiCode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l-GR" kern="0" dirty="0">
                <a:latin typeface="Times New Roman" panose="02020603050405020304" pitchFamily="18" charset="0"/>
              </a:rPr>
              <a:t>O </a:t>
            </a:r>
            <a:r>
              <a:rPr lang="el-GR" altLang="el-GR" kern="0" dirty="0">
                <a:latin typeface="Times New Roman" panose="02020603050405020304" pitchFamily="18" charset="0"/>
              </a:rPr>
              <a:t>τύπος χαρακτήρα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char</a:t>
            </a:r>
            <a:r>
              <a:rPr lang="el-GR" altLang="el-GR" kern="0" dirty="0">
                <a:latin typeface="Times New Roman" panose="02020603050405020304" pitchFamily="18" charset="0"/>
              </a:rPr>
              <a:t>) και ο ASCII κώδικας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Μονάδες αποθήκευσης, Διευθύνσεις και Δείκτες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Μονάδες αποθήκευσης, Διευθύνσεις και Δείκτες</a:t>
            </a:r>
            <a:endParaRPr lang="en-US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6.2  -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StringHandling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Συμβολοσειρά (</a:t>
            </a:r>
            <a:r>
              <a:rPr lang="el-GR" altLang="el-GR" kern="0" dirty="0" err="1">
                <a:latin typeface="Times New Roman" panose="02020603050405020304" pitchFamily="18" charset="0"/>
              </a:rPr>
              <a:t>String</a:t>
            </a:r>
            <a:r>
              <a:rPr lang="el-GR" altLang="el-GR" kern="0" dirty="0">
                <a:latin typeface="Times New Roman" panose="02020603050405020304" pitchFamily="18" charset="0"/>
              </a:rPr>
              <a:t>) και αλφαριθμητικό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Αντιστοίχιση σημειογραφίας πίνακα με σημειογραφία Δείκτη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Συναρτήσεις διαχείρισης συμβολοσειρών</a:t>
            </a: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6.3 - </a:t>
            </a:r>
            <a:r>
              <a:rPr lang="en-GB" b="1" dirty="0">
                <a:solidFill>
                  <a:srgbClr val="F9853D"/>
                </a:solidFill>
                <a:latin typeface="Bahnschrift" panose="020B0502040204020203" pitchFamily="34" charset="0"/>
              </a:rPr>
              <a:t>GetStringVersions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kern="0" dirty="0">
                <a:latin typeface="Times New Roman" panose="02020603050405020304" pitchFamily="18" charset="0"/>
              </a:rPr>
              <a:t>O Alex, </a:t>
            </a:r>
            <a:r>
              <a:rPr lang="el-GR" kern="0" dirty="0">
                <a:latin typeface="Times New Roman" panose="02020603050405020304" pitchFamily="18" charset="0"/>
              </a:rPr>
              <a:t>η</a:t>
            </a:r>
            <a:r>
              <a:rPr lang="en-US" kern="0" dirty="0">
                <a:latin typeface="Times New Roman" panose="02020603050405020304" pitchFamily="18" charset="0"/>
              </a:rPr>
              <a:t> getStringV2 </a:t>
            </a:r>
            <a:r>
              <a:rPr lang="el-GR" kern="0" dirty="0">
                <a:latin typeface="Times New Roman" panose="02020603050405020304" pitchFamily="18" charset="0"/>
              </a:rPr>
              <a:t>και το </a:t>
            </a:r>
            <a:r>
              <a:rPr lang="en-US" kern="0" dirty="0">
                <a:latin typeface="Times New Roman" panose="02020603050405020304" pitchFamily="18" charset="0"/>
              </a:rPr>
              <a:t>chatbot</a:t>
            </a:r>
            <a:endParaRPr lang="en-GB" kern="0" dirty="0">
              <a:latin typeface="Times New Roman" panose="02020603050405020304" pitchFamily="18" charset="0"/>
            </a:endParaRPr>
          </a:p>
        </p:txBody>
      </p:sp>
      <p:sp>
        <p:nvSpPr>
          <p:cNvPr id="6" name="Θέση υποσέλιδου 4">
            <a:extLst>
              <a:ext uri="{FF2B5EF4-FFF2-40B4-BE49-F238E27FC236}">
                <a16:creationId xmlns:a16="http://schemas.microsoft.com/office/drawing/2014/main" id="{9B39C46E-EEAF-0BC6-EECD-5D7C24E2C554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Von Neumann Architecture - Strings - Pointers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08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71B1B-3129-1BC5-5012-D8DB108C5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6E0F29FC-00CC-54B2-E41C-AED640DBF6CF}"/>
              </a:ext>
            </a:extLst>
          </p:cNvPr>
          <p:cNvSpPr/>
          <p:nvPr/>
        </p:nvSpPr>
        <p:spPr>
          <a:xfrm>
            <a:off x="0" y="6533291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248D943-AF90-9C5C-1031-A85D1776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Δομή της «Μηχανής»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-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Von Neumann Architecture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B414FAD-BAA0-0B36-C978-1A23FD2D51DD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30A67-FBD8-0861-A5B5-57175E9CABB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075861-73A6-5432-0F40-0D968F0A41A9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6" name="Θέση υποσέλιδου 4">
            <a:extLst>
              <a:ext uri="{FF2B5EF4-FFF2-40B4-BE49-F238E27FC236}">
                <a16:creationId xmlns:a16="http://schemas.microsoft.com/office/drawing/2014/main" id="{BA7C2AE7-3B87-0F56-75F0-1BC734AFF374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Von Neumann Architecture - Strings - Pointers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3AFB0CD4-C17C-D07D-2015-ACD17844D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390" y="1631644"/>
            <a:ext cx="6200941" cy="35947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91DC3A-A4D1-46CE-278B-4C60BF4B174E}"/>
              </a:ext>
            </a:extLst>
          </p:cNvPr>
          <p:cNvSpPr txBox="1"/>
          <p:nvPr/>
        </p:nvSpPr>
        <p:spPr>
          <a:xfrm>
            <a:off x="243141" y="1158431"/>
            <a:ext cx="55134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“The von Neumann architecture is </a:t>
            </a:r>
            <a:r>
              <a:rPr lang="en-US" sz="2800" b="1" dirty="0"/>
              <a:t>a computer design </a:t>
            </a:r>
            <a:r>
              <a:rPr lang="en-US" sz="2800" dirty="0"/>
              <a:t>that uses a single memory unit to store both program instructions and data, a concept known as the </a:t>
            </a:r>
            <a:r>
              <a:rPr lang="en-US" sz="2800" dirty="0">
                <a:hlinkClick r:id="rId4"/>
              </a:rPr>
              <a:t>stored program concept</a:t>
            </a:r>
            <a:r>
              <a:rPr lang="en-US" sz="2800" dirty="0"/>
              <a:t>. </a:t>
            </a:r>
          </a:p>
          <a:p>
            <a:r>
              <a:rPr lang="en-US" sz="2800" dirty="0"/>
              <a:t>Conceived by John von Neumann in 1945, it consists of a processing unit (including an </a:t>
            </a:r>
            <a:r>
              <a:rPr lang="en-US" sz="2800" dirty="0">
                <a:hlinkClick r:id="rId5"/>
              </a:rPr>
              <a:t>Arithmetic Logic Unit (ALU)</a:t>
            </a:r>
            <a:r>
              <a:rPr lang="en-US" sz="2800" dirty="0"/>
              <a:t> and Control Unit), memory, and input/output devices ….” </a:t>
            </a:r>
            <a:r>
              <a:rPr lang="el-GR" sz="2800" dirty="0"/>
              <a:t> </a:t>
            </a:r>
            <a:r>
              <a:rPr lang="en-US" sz="2800" dirty="0" err="1"/>
              <a:t>wikipedia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8041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4685-4E08-A401-8C4A-1FB3F2A6D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01032134-A836-51B3-851F-E80CD596B453}"/>
              </a:ext>
            </a:extLst>
          </p:cNvPr>
          <p:cNvSpPr/>
          <p:nvPr/>
        </p:nvSpPr>
        <p:spPr>
          <a:xfrm>
            <a:off x="0" y="6549175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7F56796-C50D-6BF6-1B18-12CFFCC98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Δομή της «Μηχανής»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-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Von Neumann Architecture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731806D-D56C-7A6D-CBB5-02A377CFC90D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B8397F-C4BB-D5A7-7CEF-DE3CCC630A62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CA6893-D1C1-BE10-2935-4C6186FD287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E518E-A0AE-79AC-043F-CBE72EEB2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395" y="736307"/>
            <a:ext cx="6646604" cy="2336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κεντρική μονάδα επεξεργασίας (</a:t>
            </a:r>
            <a:r>
              <a:rPr lang="el-GR" altLang="el-GR" sz="2800" kern="0" dirty="0" err="1">
                <a:latin typeface="Times New Roman" panose="02020603050405020304" pitchFamily="18" charset="0"/>
              </a:rPr>
              <a:t>central</a:t>
            </a:r>
            <a:r>
              <a:rPr lang="el-GR" altLang="el-GR" sz="2800" kern="0" dirty="0">
                <a:latin typeface="Times New Roman" panose="02020603050405020304" pitchFamily="18" charset="0"/>
              </a:rPr>
              <a:t> </a:t>
            </a:r>
            <a:r>
              <a:rPr lang="el-GR" altLang="el-GR" sz="2800" kern="0" dirty="0" err="1">
                <a:latin typeface="Times New Roman" panose="02020603050405020304" pitchFamily="18" charset="0"/>
              </a:rPr>
              <a:t>processing</a:t>
            </a:r>
            <a:r>
              <a:rPr lang="el-GR" altLang="el-GR" sz="2800" kern="0" dirty="0">
                <a:latin typeface="Times New Roman" panose="02020603050405020304" pitchFamily="18" charset="0"/>
              </a:rPr>
              <a:t> </a:t>
            </a:r>
            <a:r>
              <a:rPr lang="el-GR" altLang="el-GR" sz="2800" kern="0" dirty="0" err="1">
                <a:latin typeface="Times New Roman" panose="02020603050405020304" pitchFamily="18" charset="0"/>
              </a:rPr>
              <a:t>unit</a:t>
            </a:r>
            <a:r>
              <a:rPr lang="el-GR" altLang="el-GR" sz="2800" kern="0" dirty="0">
                <a:latin typeface="Times New Roman" panose="02020603050405020304" pitchFamily="18" charset="0"/>
              </a:rPr>
              <a:t> - </a:t>
            </a:r>
            <a:r>
              <a:rPr lang="en-US" altLang="el-GR" sz="2800" kern="0" dirty="0">
                <a:latin typeface="Times New Roman" panose="02020603050405020304" pitchFamily="18" charset="0"/>
              </a:rPr>
              <a:t>CPU</a:t>
            </a:r>
            <a:r>
              <a:rPr lang="el-GR" altLang="el-GR" sz="2800" kern="0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 μονάδα μνήμης (</a:t>
            </a:r>
            <a:r>
              <a:rPr lang="en-GB" altLang="el-GR" sz="2800" kern="0" dirty="0">
                <a:latin typeface="Times New Roman" panose="02020603050405020304" pitchFamily="18" charset="0"/>
              </a:rPr>
              <a:t>memory unit) </a:t>
            </a:r>
            <a:endParaRPr lang="el-GR" altLang="el-GR" sz="2800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sz="2800" kern="0" dirty="0">
                <a:latin typeface="Times New Roman" panose="02020603050405020304" pitchFamily="18" charset="0"/>
              </a:rPr>
              <a:t>μονάδα εισόδου (</a:t>
            </a:r>
            <a:r>
              <a:rPr lang="en-GB" altLang="el-GR" sz="2800" kern="0" dirty="0">
                <a:latin typeface="Times New Roman" panose="02020603050405020304" pitchFamily="18" charset="0"/>
              </a:rPr>
              <a:t>Input Unit)</a:t>
            </a:r>
            <a:endParaRPr lang="el-GR" altLang="el-GR" sz="2800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l-GR" sz="2800" kern="0" dirty="0">
                <a:latin typeface="Times New Roman" panose="02020603050405020304" pitchFamily="18" charset="0"/>
              </a:rPr>
              <a:t> </a:t>
            </a:r>
            <a:r>
              <a:rPr lang="el-GR" altLang="el-GR" sz="2800" kern="0" dirty="0">
                <a:latin typeface="Times New Roman" panose="02020603050405020304" pitchFamily="18" charset="0"/>
              </a:rPr>
              <a:t>μονάδα εξόδου (</a:t>
            </a:r>
            <a:r>
              <a:rPr lang="en-GB" altLang="el-GR" sz="2800" kern="0" dirty="0">
                <a:latin typeface="Times New Roman" panose="02020603050405020304" pitchFamily="18" charset="0"/>
              </a:rPr>
              <a:t>Output Unit) </a:t>
            </a:r>
            <a:endParaRPr lang="el-GR" altLang="el-GR" sz="2800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l-GR" sz="2400" kern="0" dirty="0">
              <a:latin typeface="Times New Roman" panose="02020603050405020304" pitchFamily="18" charset="0"/>
            </a:endParaRPr>
          </a:p>
        </p:txBody>
      </p:sp>
      <p:sp>
        <p:nvSpPr>
          <p:cNvPr id="6" name="Θέση υποσέλιδου 4">
            <a:extLst>
              <a:ext uri="{FF2B5EF4-FFF2-40B4-BE49-F238E27FC236}">
                <a16:creationId xmlns:a16="http://schemas.microsoft.com/office/drawing/2014/main" id="{20BE5738-0511-5AEC-1D4C-816D6CD33784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Von Neumann Architecture - Strings - Pointers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15E25847-9060-04BF-4DBB-EB8BC8C21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7" y="892508"/>
            <a:ext cx="5074618" cy="2941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16A89E-539F-E171-05C2-21C39F465D49}"/>
              </a:ext>
            </a:extLst>
          </p:cNvPr>
          <p:cNvSpPr txBox="1"/>
          <p:nvPr/>
        </p:nvSpPr>
        <p:spPr>
          <a:xfrm>
            <a:off x="3934040" y="2750031"/>
            <a:ext cx="8351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«</a:t>
            </a:r>
            <a:r>
              <a:rPr lang="en-US" sz="2400" dirty="0"/>
              <a:t>a </a:t>
            </a:r>
            <a:r>
              <a:rPr lang="en-US" sz="2400" dirty="0">
                <a:hlinkClick r:id="rId4" tooltip="Arithmetic logic unit"/>
              </a:rPr>
              <a:t>central arithmetic unit</a:t>
            </a:r>
            <a:r>
              <a:rPr lang="en-US" sz="2400" dirty="0"/>
              <a:t> to perform arithmetic operations;</a:t>
            </a:r>
          </a:p>
          <a:p>
            <a:r>
              <a:rPr lang="en-US" sz="2400" dirty="0"/>
              <a:t>a </a:t>
            </a:r>
            <a:r>
              <a:rPr lang="en-US" sz="2400" dirty="0">
                <a:hlinkClick r:id="rId5" tooltip="Control unit"/>
              </a:rPr>
              <a:t>central control unit</a:t>
            </a:r>
            <a:r>
              <a:rPr lang="en-US" sz="2400" dirty="0"/>
              <a:t> to sequence operations performed by the machine;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C24E5-4AEB-F5C9-0194-E18EE5459698}"/>
              </a:ext>
            </a:extLst>
          </p:cNvPr>
          <p:cNvSpPr txBox="1"/>
          <p:nvPr/>
        </p:nvSpPr>
        <p:spPr>
          <a:xfrm>
            <a:off x="113089" y="5393698"/>
            <a:ext cx="11844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design allows for general-purpose computers by enabling sequential fetching, decoding, and execution of instructions, though it creates a bottleneck by sharing the bus for data and instructions</a:t>
            </a:r>
            <a:r>
              <a:rPr lang="el-GR" sz="2400" dirty="0"/>
              <a:t>» </a:t>
            </a:r>
            <a:r>
              <a:rPr lang="en-US" sz="2400" dirty="0" err="1"/>
              <a:t>wikipedia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87DAED-6068-B04C-2F45-2DBA748E4E7C}"/>
              </a:ext>
            </a:extLst>
          </p:cNvPr>
          <p:cNvSpPr txBox="1"/>
          <p:nvPr/>
        </p:nvSpPr>
        <p:spPr>
          <a:xfrm>
            <a:off x="87317" y="3940112"/>
            <a:ext cx="119915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6" tooltip="Computer memory"/>
              </a:rPr>
              <a:t>memory</a:t>
            </a:r>
            <a:r>
              <a:rPr lang="en-US" sz="2400" dirty="0"/>
              <a:t> that stores </a:t>
            </a:r>
            <a:r>
              <a:rPr lang="en-US" sz="2400" dirty="0">
                <a:hlinkClick r:id="rId7" tooltip="Data (computing)"/>
              </a:rPr>
              <a:t>data</a:t>
            </a:r>
            <a:r>
              <a:rPr lang="en-US" sz="2400" dirty="0"/>
              <a:t> and </a:t>
            </a:r>
            <a:r>
              <a:rPr lang="en-US" sz="2400" dirty="0">
                <a:hlinkClick r:id="rId8" tooltip="Instruction set"/>
              </a:rPr>
              <a:t>instructions</a:t>
            </a:r>
            <a:r>
              <a:rPr lang="en-US" sz="2400" dirty="0"/>
              <a:t>;</a:t>
            </a:r>
          </a:p>
          <a:p>
            <a:r>
              <a:rPr lang="en-US" sz="2400" dirty="0"/>
              <a:t>an "outside recording medium" to store input to and output from the machine;</a:t>
            </a:r>
          </a:p>
          <a:p>
            <a:r>
              <a:rPr lang="en-US" sz="2400" dirty="0">
                <a:hlinkClick r:id="rId9" tooltip="Input and output"/>
              </a:rPr>
              <a:t>input and output</a:t>
            </a:r>
            <a:r>
              <a:rPr lang="en-US" sz="2400" dirty="0"/>
              <a:t> mechanisms to transfer data between the memory and the outside recording medium. … all connected by a shared bus. </a:t>
            </a:r>
          </a:p>
        </p:txBody>
      </p:sp>
    </p:spTree>
    <p:extLst>
      <p:ext uri="{BB962C8B-B14F-4D97-AF65-F5344CB8AC3E}">
        <p14:creationId xmlns:p14="http://schemas.microsoft.com/office/powerpoint/2010/main" val="362582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AAB5E-0A12-282B-AA8B-EE29B439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599F9BA-B098-64D6-E491-ED9B414C9795}"/>
              </a:ext>
            </a:extLst>
          </p:cNvPr>
          <p:cNvSpPr/>
          <p:nvPr/>
        </p:nvSpPr>
        <p:spPr>
          <a:xfrm>
            <a:off x="0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C2BB1EE-E1A9-D6EB-75D7-D8463E4C7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Γλώσσα Μηχανής –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Assembly - C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F2D0B75-8BC7-F010-1E6F-15A17D397ECE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392951-52DB-3A57-C2B4-89C87162AFE1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309833-2894-973D-B400-6EB0AA80A68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6" name="Θέση υποσέλιδου 4">
            <a:extLst>
              <a:ext uri="{FF2B5EF4-FFF2-40B4-BE49-F238E27FC236}">
                <a16:creationId xmlns:a16="http://schemas.microsoft.com/office/drawing/2014/main" id="{94F16911-A4F5-5E83-A420-1408381EBD21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Von Neumann Architecture - Strings - Pointers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3EB05-028A-6681-6D13-C2522B9D61DB}"/>
              </a:ext>
            </a:extLst>
          </p:cNvPr>
          <p:cNvSpPr txBox="1"/>
          <p:nvPr/>
        </p:nvSpPr>
        <p:spPr>
          <a:xfrm>
            <a:off x="140669" y="866358"/>
            <a:ext cx="11910662" cy="95410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/>
              <a:t>Η κεντρική μονάδα επεξεργασίας μπορεί να εκτελεί μόνο εντολές σε γλώσσα Μηχανής (</a:t>
            </a:r>
            <a:r>
              <a:rPr lang="en-US" sz="2800" dirty="0"/>
              <a:t>machine language</a:t>
            </a:r>
            <a:r>
              <a:rPr lang="el-GR" sz="2800" dirty="0"/>
              <a:t>). </a:t>
            </a:r>
            <a:endParaRPr lang="en-GB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5055DB-EE1F-4052-A974-6F6DDCA67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19" y="1885866"/>
            <a:ext cx="3991807" cy="2041786"/>
          </a:xfrm>
          <a:prstGeom prst="rect">
            <a:avLst/>
          </a:prstGeom>
        </p:spPr>
      </p:pic>
      <p:pic>
        <p:nvPicPr>
          <p:cNvPr id="12" name="Picture 11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CC82F334-AFB5-D974-B4FA-CF2ECA5E3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23" y="2073245"/>
            <a:ext cx="5454772" cy="35742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71AC67-0680-02F8-8600-18CC5CB1D534}"/>
              </a:ext>
            </a:extLst>
          </p:cNvPr>
          <p:cNvSpPr txBox="1"/>
          <p:nvPr/>
        </p:nvSpPr>
        <p:spPr>
          <a:xfrm>
            <a:off x="164355" y="3993054"/>
            <a:ext cx="64992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Assembly</a:t>
            </a:r>
            <a:r>
              <a:rPr lang="en-US" sz="2400" dirty="0"/>
              <a:t>: </a:t>
            </a:r>
            <a:r>
              <a:rPr lang="el-GR" sz="2400" dirty="0"/>
              <a:t>η πρώτη </a:t>
            </a:r>
            <a:r>
              <a:rPr lang="el-GR" sz="2400" b="1" dirty="0"/>
              <a:t>συμβολική γλώσσα</a:t>
            </a:r>
            <a:r>
              <a:rPr lang="el-GR" sz="2400" dirty="0"/>
              <a:t> που δημιουργήθηκε για να διευκολυνθεί η συγγραφή προγραμμάτων. </a:t>
            </a:r>
            <a:endParaRPr lang="en-US" sz="2400" dirty="0"/>
          </a:p>
          <a:p>
            <a:r>
              <a:rPr lang="en-US" sz="2400" dirty="0"/>
              <a:t> </a:t>
            </a:r>
            <a:r>
              <a:rPr lang="el-GR" sz="2400" dirty="0"/>
              <a:t>Ήταν για πολλά χρόνια, και μέχρι να δημιουργηθεί η </a:t>
            </a:r>
            <a:r>
              <a:rPr lang="en-US" sz="2400" dirty="0"/>
              <a:t>C</a:t>
            </a:r>
            <a:r>
              <a:rPr lang="el-GR" sz="2400" dirty="0"/>
              <a:t>, η γλώσσα για τη συγγραφή των λειτουργικών συστημάτων (</a:t>
            </a:r>
            <a:r>
              <a:rPr lang="en-US" sz="2400" dirty="0"/>
              <a:t>Operating Systems</a:t>
            </a:r>
            <a:r>
              <a:rPr lang="el-GR" sz="2400" dirty="0"/>
              <a:t> – </a:t>
            </a:r>
            <a:r>
              <a:rPr lang="en-US" sz="2400" dirty="0"/>
              <a:t>OS</a:t>
            </a:r>
            <a:r>
              <a:rPr lang="el-GR" sz="2400" dirty="0"/>
              <a:t>).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5256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9A621-2D35-BD6E-A6BB-B506CBC41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0967834-B4B7-5B04-6EDD-86F6E224C0C5}"/>
              </a:ext>
            </a:extLst>
          </p:cNvPr>
          <p:cNvSpPr/>
          <p:nvPr/>
        </p:nvSpPr>
        <p:spPr>
          <a:xfrm>
            <a:off x="0" y="6547863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24B1EB5-047D-A129-101E-628378618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7B920F96-9828-AE6F-4131-9ECD1CCCC9A6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0CB06-CEAD-72B5-06D7-02053454FCED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821BA2-B36E-3DF6-2E54-12AA793D292A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D5946-C2EF-B578-65D3-E323D0843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8"/>
            <a:ext cx="11207100" cy="512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Η δομή της «Μηχανής» </a:t>
            </a:r>
            <a:endParaRPr lang="en-US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l-GR" sz="3200" kern="0" dirty="0">
                <a:latin typeface="Times New Roman" panose="02020603050405020304" pitchFamily="18" charset="0"/>
              </a:rPr>
              <a:t>Von Neumann Architecture, </a:t>
            </a:r>
            <a:r>
              <a:rPr lang="el-GR" altLang="el-GR" sz="3200" kern="0" dirty="0">
                <a:latin typeface="Times New Roman" panose="02020603050405020304" pitchFamily="18" charset="0"/>
              </a:rPr>
              <a:t>Γλώσσα Μηχανής</a:t>
            </a:r>
            <a:endParaRPr lang="en-US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Δραστηριότητα 6.1  - </a:t>
            </a:r>
            <a:r>
              <a:rPr lang="en-GB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AsciiCode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l-GR" kern="0" dirty="0">
                <a:latin typeface="Times New Roman" panose="02020603050405020304" pitchFamily="18" charset="0"/>
              </a:rPr>
              <a:t>O </a:t>
            </a:r>
            <a:r>
              <a:rPr lang="el-GR" altLang="el-GR" kern="0" dirty="0">
                <a:latin typeface="Times New Roman" panose="02020603050405020304" pitchFamily="18" charset="0"/>
              </a:rPr>
              <a:t>τύπος χαρακτήρα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char</a:t>
            </a:r>
            <a:r>
              <a:rPr lang="el-GR" altLang="el-GR" kern="0" dirty="0">
                <a:latin typeface="Times New Roman" panose="02020603050405020304" pitchFamily="18" charset="0"/>
              </a:rPr>
              <a:t>) και ο ASCII κώδικας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Μονάδες αποθήκευσης, Διευθύνσεις και Δείκτες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Μονάδες αποθήκευσης, Διευθύνσεις και Δείκτες</a:t>
            </a:r>
            <a:endParaRPr lang="en-US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6.2  -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StringHandling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Συμβολοσειρά (</a:t>
            </a:r>
            <a:r>
              <a:rPr lang="el-GR" altLang="el-GR" kern="0" dirty="0" err="1">
                <a:latin typeface="Times New Roman" panose="02020603050405020304" pitchFamily="18" charset="0"/>
              </a:rPr>
              <a:t>String</a:t>
            </a:r>
            <a:r>
              <a:rPr lang="el-GR" altLang="el-GR" kern="0" dirty="0">
                <a:latin typeface="Times New Roman" panose="02020603050405020304" pitchFamily="18" charset="0"/>
              </a:rPr>
              <a:t>) και αλφαριθμητικό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Αντιστοίχιση σημειογραφίας πίνακα με σημειογραφία Δείκτη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Συναρτήσεις διαχείρισης συμβολοσειρών</a:t>
            </a: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6.3 - </a:t>
            </a:r>
            <a:r>
              <a:rPr lang="en-GB" b="1" dirty="0">
                <a:solidFill>
                  <a:srgbClr val="F9853D"/>
                </a:solidFill>
                <a:latin typeface="Bahnschrift" panose="020B0502040204020203" pitchFamily="34" charset="0"/>
              </a:rPr>
              <a:t>GetStringVersions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kern="0" dirty="0">
                <a:latin typeface="Times New Roman" panose="02020603050405020304" pitchFamily="18" charset="0"/>
              </a:rPr>
              <a:t>O Alex, </a:t>
            </a:r>
            <a:r>
              <a:rPr lang="el-GR" kern="0" dirty="0">
                <a:latin typeface="Times New Roman" panose="02020603050405020304" pitchFamily="18" charset="0"/>
              </a:rPr>
              <a:t>η</a:t>
            </a:r>
            <a:r>
              <a:rPr lang="en-US" kern="0" dirty="0">
                <a:latin typeface="Times New Roman" panose="02020603050405020304" pitchFamily="18" charset="0"/>
              </a:rPr>
              <a:t> getStringV2 </a:t>
            </a:r>
            <a:r>
              <a:rPr lang="el-GR" kern="0" dirty="0">
                <a:latin typeface="Times New Roman" panose="02020603050405020304" pitchFamily="18" charset="0"/>
              </a:rPr>
              <a:t>και το </a:t>
            </a:r>
            <a:r>
              <a:rPr lang="en-US" kern="0" dirty="0">
                <a:latin typeface="Times New Roman" panose="02020603050405020304" pitchFamily="18" charset="0"/>
              </a:rPr>
              <a:t>chatbot</a:t>
            </a:r>
            <a:endParaRPr lang="en-GB" kern="0" dirty="0">
              <a:latin typeface="Times New Roman" panose="02020603050405020304" pitchFamily="18" charset="0"/>
            </a:endParaRPr>
          </a:p>
        </p:txBody>
      </p:sp>
      <p:sp>
        <p:nvSpPr>
          <p:cNvPr id="6" name="Θέση υποσέλιδου 4">
            <a:extLst>
              <a:ext uri="{FF2B5EF4-FFF2-40B4-BE49-F238E27FC236}">
                <a16:creationId xmlns:a16="http://schemas.microsoft.com/office/drawing/2014/main" id="{0BA83321-F317-01A9-9350-287D54E6A492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Von Neumann Architecture - Strings - Pointers</a:t>
            </a:r>
          </a:p>
          <a:p>
            <a:endParaRPr lang="el-GR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26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B28CF-E681-26C9-8D97-B3BCE1DF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11F938E-4720-BC45-BB9B-C3E2B87F7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6.1  -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AsciiCode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9C3B9D-3E44-1536-B2C1-AA08E650683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5DE8881-1F28-FAD6-ECCC-15C2C20030EE}"/>
              </a:ext>
            </a:extLst>
          </p:cNvPr>
          <p:cNvSpPr txBox="1">
            <a:spLocks/>
          </p:cNvSpPr>
          <p:nvPr/>
        </p:nvSpPr>
        <p:spPr bwMode="auto">
          <a:xfrm>
            <a:off x="-1" y="839666"/>
            <a:ext cx="12191999" cy="15659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Αναπτύξτε ένα πρόγραμμα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με βάση το οποίο η Μηχανή θα τυπώνει τους χαρακτήρες του λατινικού αλφαβήτου (πεζά και κεφαλαία) και τα δέκα ψηφία, και για το καθένα από αυτά τον αντίστοιχο </a:t>
            </a:r>
            <a:r>
              <a:rPr lang="el-GR" sz="2800" kern="0" dirty="0" err="1">
                <a:solidFill>
                  <a:srgbClr val="000000"/>
                </a:solidFill>
                <a:latin typeface="Tahoma"/>
              </a:rPr>
              <a:t>ascii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 κωδικό του. </a:t>
            </a:r>
            <a:endParaRPr lang="el-GR" sz="16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endParaRPr lang="en-US" sz="16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54534-43EF-2E56-7369-E7676D5386B0}"/>
              </a:ext>
            </a:extLst>
          </p:cNvPr>
          <p:cNvSpPr txBox="1"/>
          <p:nvPr/>
        </p:nvSpPr>
        <p:spPr>
          <a:xfrm>
            <a:off x="70332" y="2644170"/>
            <a:ext cx="12051331" cy="15696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sz="3200" dirty="0"/>
              <a:t>Η Δραστηριότητα έχει στόχο την εισαγωγή στις βασικές έννοιες που επιτρέπουν την αποθήκευση και διαχείριση χαρακτήρων από τη Μηχανή. </a:t>
            </a:r>
            <a:endParaRPr lang="en-GB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283C06-F2E0-1D39-7CD5-9AB881039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4452424"/>
            <a:ext cx="12014981" cy="13012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0C1466-133E-197E-4434-C60FE2F4983C}"/>
              </a:ext>
            </a:extLst>
          </p:cNvPr>
          <p:cNvSpPr txBox="1"/>
          <p:nvPr/>
        </p:nvSpPr>
        <p:spPr>
          <a:xfrm>
            <a:off x="9099452" y="5439795"/>
            <a:ext cx="3137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https://www.ascii-code.com/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312BCEC-7495-A52A-C9A1-127C77C94F84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718EF5EC-6240-08EF-09DC-3401690F5A6A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Θέση υποσέλιδου 4">
              <a:extLst>
                <a:ext uri="{FF2B5EF4-FFF2-40B4-BE49-F238E27FC236}">
                  <a16:creationId xmlns:a16="http://schemas.microsoft.com/office/drawing/2014/main" id="{4CBA5E8F-CA46-4D89-4467-369B19EA55DF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FEC4CF8-BA63-2A51-3CA2-CBDC54C9842A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8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5" name="Θέση υποσέλιδου 4">
              <a:extLst>
                <a:ext uri="{FF2B5EF4-FFF2-40B4-BE49-F238E27FC236}">
                  <a16:creationId xmlns:a16="http://schemas.microsoft.com/office/drawing/2014/main" id="{D06C22B3-2F5C-1720-3174-ACBE87A0776C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B00BE1-A48D-8AB3-917F-95385EE01D77}"/>
              </a:ext>
            </a:extLst>
          </p:cNvPr>
          <p:cNvCxnSpPr/>
          <p:nvPr/>
        </p:nvCxnSpPr>
        <p:spPr>
          <a:xfrm>
            <a:off x="1524000" y="4712677"/>
            <a:ext cx="406087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37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F647A-2D4A-CE08-5157-6A25C2C39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8BA3F36-B2F9-0C53-8DDC-F0445A0E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O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τύπος του χαρακτήρα και ο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ASCII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Κώδικας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CDA38C-CDAF-B4AE-3A5A-B07591BEEB0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1DB7E1-882B-9849-A4D4-95EF1B615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257" y="2213559"/>
            <a:ext cx="9418924" cy="42526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3D14C7-EF11-0F1C-97CA-2ED9BC1C0AA7}"/>
              </a:ext>
            </a:extLst>
          </p:cNvPr>
          <p:cNvSpPr txBox="1"/>
          <p:nvPr/>
        </p:nvSpPr>
        <p:spPr>
          <a:xfrm>
            <a:off x="76125" y="769550"/>
            <a:ext cx="11975206" cy="15696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l-GR" sz="2400" dirty="0"/>
              <a:t>Η </a:t>
            </a:r>
            <a:r>
              <a:rPr lang="en-US" sz="2400" dirty="0"/>
              <a:t>C </a:t>
            </a:r>
            <a:r>
              <a:rPr lang="el-GR" sz="2400" dirty="0"/>
              <a:t>όπως κάθε γλώσσα προγραμματισμού έχει το δικό της </a:t>
            </a:r>
            <a:r>
              <a:rPr lang="el-GR" sz="2400" b="1" dirty="0"/>
              <a:t>αλφάβητο</a:t>
            </a:r>
            <a:r>
              <a:rPr lang="el-GR" sz="2400" dirty="0"/>
              <a:t>, το οποίο χρησιμοποιεί για το σχηματισμό λέξεων που αποτελούν το λεξιλόγιο της.  </a:t>
            </a: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l-GR" sz="2400" dirty="0"/>
              <a:t>Καθώς η Μηχανή μπορεί να αποθηκεύσει στην μνήμη της μόνο αριθμούς δημιουργήθηκαν πίνακες αντιστοίχισης χαρακτήρων σε αριθμούς, όπως είναι ο πίνακας </a:t>
            </a:r>
            <a:r>
              <a:rPr lang="en-US" sz="2400" dirty="0"/>
              <a:t>ASCII</a:t>
            </a:r>
            <a:r>
              <a:rPr lang="el-GR" sz="2400" dirty="0"/>
              <a:t> …</a:t>
            </a:r>
            <a:endParaRPr lang="en-GB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0C4B42-8972-F41A-0C79-2FBA2B4211CA}"/>
              </a:ext>
            </a:extLst>
          </p:cNvPr>
          <p:cNvSpPr txBox="1"/>
          <p:nvPr/>
        </p:nvSpPr>
        <p:spPr>
          <a:xfrm>
            <a:off x="6642056" y="5959746"/>
            <a:ext cx="3699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hlinkClick r:id="rId4"/>
              </a:rPr>
              <a:t>https://www.ascii-code.com/ASCII</a:t>
            </a:r>
            <a:endParaRPr lang="el-GR" sz="1600" dirty="0"/>
          </a:p>
          <a:p>
            <a:endParaRPr lang="el-GR" sz="1600" dirty="0"/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80E7308D-1B3E-3141-CC70-ACC9DAFB271C}"/>
              </a:ext>
            </a:extLst>
          </p:cNvPr>
          <p:cNvSpPr/>
          <p:nvPr/>
        </p:nvSpPr>
        <p:spPr>
          <a:xfrm>
            <a:off x="76125" y="3366734"/>
            <a:ext cx="2193982" cy="1957433"/>
          </a:xfrm>
          <a:prstGeom prst="wedgeRoundRectCallout">
            <a:avLst>
              <a:gd name="adj1" fmla="val -50693"/>
              <a:gd name="adj2" fmla="val 61734"/>
              <a:gd name="adj3" fmla="val 16667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l-GR" altLang="el-GR" sz="2400" b="1" dirty="0">
                <a:latin typeface="Times New Roman" panose="02020603050405020304" pitchFamily="18" charset="0"/>
              </a:rPr>
              <a:t>κάθε χαρακτήρας έχει ένα μοναδικό αριθμητικό κωδικό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643F8B5-2D98-BAD1-2DDB-86F26342F098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C049A264-F772-7390-83F8-AE9C4212E0A3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Θέση υποσέλιδου 4">
              <a:extLst>
                <a:ext uri="{FF2B5EF4-FFF2-40B4-BE49-F238E27FC236}">
                  <a16:creationId xmlns:a16="http://schemas.microsoft.com/office/drawing/2014/main" id="{181C8CAA-7870-1666-DD04-CCBBCB1517D9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F462343-38E5-A058-D227-323066837B3F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9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21" name="Θέση υποσέλιδου 4">
              <a:extLst>
                <a:ext uri="{FF2B5EF4-FFF2-40B4-BE49-F238E27FC236}">
                  <a16:creationId xmlns:a16="http://schemas.microsoft.com/office/drawing/2014/main" id="{F5065F20-C197-1211-0327-EB6BC93783B8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447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A2E81-D622-7C06-130D-D3BA630D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47ADCF0-CD2E-05D7-1C3F-C45F5A22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Μεταβλητή τύπου χαρακτήρα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279F14-0C22-B6D9-03C9-0F31DF7B9D0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1F10CA-4A26-6DAE-7821-E867D5D02FDF}"/>
              </a:ext>
            </a:extLst>
          </p:cNvPr>
          <p:cNvSpPr txBox="1"/>
          <p:nvPr/>
        </p:nvSpPr>
        <p:spPr>
          <a:xfrm>
            <a:off x="140669" y="980350"/>
            <a:ext cx="2381305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GB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4AE39B-F1B8-7F9A-1217-6A506D1DBD12}"/>
              </a:ext>
            </a:extLst>
          </p:cNvPr>
          <p:cNvSpPr txBox="1"/>
          <p:nvPr/>
        </p:nvSpPr>
        <p:spPr>
          <a:xfrm>
            <a:off x="140669" y="1929571"/>
            <a:ext cx="3915137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ch1 = </a:t>
            </a:r>
            <a:r>
              <a:rPr lang="en-GB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‘A’</a:t>
            </a:r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7605A2-0F18-9386-9AFB-57B6FD729BE3}"/>
              </a:ext>
            </a:extLst>
          </p:cNvPr>
          <p:cNvSpPr txBox="1"/>
          <p:nvPr/>
        </p:nvSpPr>
        <p:spPr>
          <a:xfrm>
            <a:off x="140669" y="2974548"/>
            <a:ext cx="5714441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GB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putchar</a:t>
            </a:r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 </a:t>
            </a:r>
            <a:r>
              <a:rPr lang="en-GB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4464AE-FB43-2A4E-F6D2-02FACA8D3F6E}"/>
              </a:ext>
            </a:extLst>
          </p:cNvPr>
          <p:cNvSpPr txBox="1"/>
          <p:nvPr/>
        </p:nvSpPr>
        <p:spPr>
          <a:xfrm>
            <a:off x="140669" y="4424068"/>
            <a:ext cx="6717331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printf("ch1=%</a:t>
            </a:r>
            <a:r>
              <a:rPr lang="pt-BR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\n", </a:t>
            </a:r>
            <a:r>
              <a:rPr lang="pt-BR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ch1</a:t>
            </a:r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GB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95F192-D9F3-F7F3-0644-EE54AC615DAA}"/>
              </a:ext>
            </a:extLst>
          </p:cNvPr>
          <p:cNvSpPr txBox="1"/>
          <p:nvPr/>
        </p:nvSpPr>
        <p:spPr>
          <a:xfrm>
            <a:off x="140669" y="5382922"/>
            <a:ext cx="9824201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printf("ch1 as decimal =%</a:t>
            </a:r>
            <a:r>
              <a:rPr lang="pt-BR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\n", </a:t>
            </a:r>
            <a:r>
              <a:rPr lang="pt-BR" sz="3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ch1</a:t>
            </a:r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GB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Callout: Bent Line 13">
            <a:extLst>
              <a:ext uri="{FF2B5EF4-FFF2-40B4-BE49-F238E27FC236}">
                <a16:creationId xmlns:a16="http://schemas.microsoft.com/office/drawing/2014/main" id="{8DBD9A1F-030B-25BB-EEB8-41263A969746}"/>
              </a:ext>
            </a:extLst>
          </p:cNvPr>
          <p:cNvSpPr/>
          <p:nvPr/>
        </p:nvSpPr>
        <p:spPr>
          <a:xfrm>
            <a:off x="4908606" y="825742"/>
            <a:ext cx="7142725" cy="997417"/>
          </a:xfrm>
          <a:prstGeom prst="borderCallout2">
            <a:avLst>
              <a:gd name="adj1" fmla="val 47872"/>
              <a:gd name="adj2" fmla="val 496"/>
              <a:gd name="adj3" fmla="val 41401"/>
              <a:gd name="adj4" fmla="val -19373"/>
              <a:gd name="adj5" fmla="val 46734"/>
              <a:gd name="adj6" fmla="val -37859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/>
              <a:t>Δηλώνει μεταβλητή με όνομα </a:t>
            </a:r>
            <a:r>
              <a:rPr lang="el-GR" sz="2000" b="1" dirty="0" err="1"/>
              <a:t>ch</a:t>
            </a:r>
            <a:r>
              <a:rPr lang="el-GR" sz="2000" b="1" dirty="0"/>
              <a:t> ως τύπου χαρακτήρα. </a:t>
            </a:r>
          </a:p>
          <a:p>
            <a:pPr algn="ctr"/>
            <a:r>
              <a:rPr lang="el-GR" sz="2000" b="1" dirty="0"/>
              <a:t>Έχει ως αποτέλεσμα τη δέσμευση χώρου στην μνήμη για την αποθήκευση ενός χαρακτήρα. </a:t>
            </a:r>
          </a:p>
        </p:txBody>
      </p:sp>
      <p:sp>
        <p:nvSpPr>
          <p:cNvPr id="15" name="Callout: Bent Line 14">
            <a:extLst>
              <a:ext uri="{FF2B5EF4-FFF2-40B4-BE49-F238E27FC236}">
                <a16:creationId xmlns:a16="http://schemas.microsoft.com/office/drawing/2014/main" id="{122AD9A5-6246-6499-95C5-6141F4CE0264}"/>
              </a:ext>
            </a:extLst>
          </p:cNvPr>
          <p:cNvSpPr/>
          <p:nvPr/>
        </p:nvSpPr>
        <p:spPr>
          <a:xfrm>
            <a:off x="5051408" y="2022780"/>
            <a:ext cx="6999923" cy="719331"/>
          </a:xfrm>
          <a:prstGeom prst="borderCallout2">
            <a:avLst>
              <a:gd name="adj1" fmla="val 47872"/>
              <a:gd name="adj2" fmla="val 496"/>
              <a:gd name="adj3" fmla="val 43357"/>
              <a:gd name="adj4" fmla="val -8320"/>
              <a:gd name="adj5" fmla="val 33044"/>
              <a:gd name="adj6" fmla="val -15350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/>
              <a:t>δηλώνει μεταβλητή με όνομα ch1 και της αποδίδει ως αρχική τιμή τον χαρακτήρα Α</a:t>
            </a:r>
          </a:p>
        </p:txBody>
      </p:sp>
      <p:sp>
        <p:nvSpPr>
          <p:cNvPr id="16" name="Callout: Bent Line 15">
            <a:extLst>
              <a:ext uri="{FF2B5EF4-FFF2-40B4-BE49-F238E27FC236}">
                <a16:creationId xmlns:a16="http://schemas.microsoft.com/office/drawing/2014/main" id="{7F7BACD9-DE65-2613-AACD-2B45442A75BC}"/>
              </a:ext>
            </a:extLst>
          </p:cNvPr>
          <p:cNvSpPr/>
          <p:nvPr/>
        </p:nvSpPr>
        <p:spPr>
          <a:xfrm>
            <a:off x="5051407" y="3526312"/>
            <a:ext cx="6999923" cy="719331"/>
          </a:xfrm>
          <a:prstGeom prst="borderCallout2">
            <a:avLst>
              <a:gd name="adj1" fmla="val 47872"/>
              <a:gd name="adj2" fmla="val 496"/>
              <a:gd name="adj3" fmla="val 43357"/>
              <a:gd name="adj4" fmla="val -8320"/>
              <a:gd name="adj5" fmla="val -2158"/>
              <a:gd name="adj6" fmla="val -28212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/>
              <a:t>Δήλωση της συνάρτησης </a:t>
            </a:r>
            <a:r>
              <a:rPr lang="en-US" sz="2000" b="1" dirty="0" err="1"/>
              <a:t>putchar</a:t>
            </a:r>
            <a:r>
              <a:rPr lang="en-US" sz="2000" b="1" dirty="0"/>
              <a:t> </a:t>
            </a:r>
            <a:r>
              <a:rPr lang="el-GR" sz="2000" b="1" dirty="0"/>
              <a:t>της τυπικής βιβλιοθήκης</a:t>
            </a:r>
            <a:r>
              <a:rPr lang="en-US" sz="2000" b="1" dirty="0"/>
              <a:t>, </a:t>
            </a:r>
            <a:r>
              <a:rPr lang="el-GR" sz="2000" b="1" dirty="0"/>
              <a:t>η οποία εμφανίζει στην κύρια έξοδο τον χαρακτήρα </a:t>
            </a:r>
            <a:r>
              <a:rPr lang="en-US" sz="2000" b="1" dirty="0" err="1"/>
              <a:t>ch</a:t>
            </a:r>
            <a:endParaRPr lang="el-GR" sz="2000" b="1" dirty="0"/>
          </a:p>
        </p:txBody>
      </p:sp>
      <p:sp>
        <p:nvSpPr>
          <p:cNvPr id="17" name="Callout: Bent Line 16">
            <a:extLst>
              <a:ext uri="{FF2B5EF4-FFF2-40B4-BE49-F238E27FC236}">
                <a16:creationId xmlns:a16="http://schemas.microsoft.com/office/drawing/2014/main" id="{A489B856-0050-82FE-45C1-DFFAF9106937}"/>
              </a:ext>
            </a:extLst>
          </p:cNvPr>
          <p:cNvSpPr/>
          <p:nvPr/>
        </p:nvSpPr>
        <p:spPr>
          <a:xfrm>
            <a:off x="3235570" y="4916456"/>
            <a:ext cx="8815760" cy="399152"/>
          </a:xfrm>
          <a:prstGeom prst="borderCallout2">
            <a:avLst>
              <a:gd name="adj1" fmla="val 47872"/>
              <a:gd name="adj2" fmla="val 496"/>
              <a:gd name="adj3" fmla="val 43357"/>
              <a:gd name="adj4" fmla="val -8320"/>
              <a:gd name="adj5" fmla="val 8415"/>
              <a:gd name="adj6" fmla="val -20393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/>
              <a:t>Παράδειγμα χρήσης της </a:t>
            </a:r>
            <a:r>
              <a:rPr lang="en-US" sz="2000" b="1" dirty="0"/>
              <a:t>printf </a:t>
            </a:r>
            <a:r>
              <a:rPr lang="el-GR" sz="2000" b="1" dirty="0"/>
              <a:t>για εμφάνιση στην κύρια έξοδο ενός χαρακτήρα</a:t>
            </a:r>
          </a:p>
        </p:txBody>
      </p:sp>
      <p:sp>
        <p:nvSpPr>
          <p:cNvPr id="20" name="Callout: Bent Line 19">
            <a:extLst>
              <a:ext uri="{FF2B5EF4-FFF2-40B4-BE49-F238E27FC236}">
                <a16:creationId xmlns:a16="http://schemas.microsoft.com/office/drawing/2014/main" id="{4B5DBD59-314C-574A-803A-BB0B5E1CB7B3}"/>
              </a:ext>
            </a:extLst>
          </p:cNvPr>
          <p:cNvSpPr/>
          <p:nvPr/>
        </p:nvSpPr>
        <p:spPr>
          <a:xfrm>
            <a:off x="2732713" y="5899977"/>
            <a:ext cx="8815760" cy="584775"/>
          </a:xfrm>
          <a:prstGeom prst="borderCallout2">
            <a:avLst>
              <a:gd name="adj1" fmla="val 47872"/>
              <a:gd name="adj2" fmla="val 496"/>
              <a:gd name="adj3" fmla="val 43357"/>
              <a:gd name="adj4" fmla="val -8320"/>
              <a:gd name="adj5" fmla="val -3613"/>
              <a:gd name="adj6" fmla="val -18957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/>
              <a:t>Παράδειγμα χρήσης της </a:t>
            </a:r>
            <a:r>
              <a:rPr lang="en-US" sz="2000" b="1" dirty="0"/>
              <a:t>printf </a:t>
            </a:r>
            <a:r>
              <a:rPr lang="el-GR" sz="2000" b="1" dirty="0"/>
              <a:t>για εμφάνιση στην κύρια έξοδο του </a:t>
            </a:r>
            <a:r>
              <a:rPr lang="en-US" sz="2000" b="1" dirty="0"/>
              <a:t>ascii </a:t>
            </a:r>
            <a:r>
              <a:rPr lang="el-GR" sz="2000" b="1" dirty="0"/>
              <a:t>κωδικού ενός χαρακτήρα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56AB40D-CF2B-8B28-5066-309C164926B8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22" name="Rectangle 14">
              <a:extLst>
                <a:ext uri="{FF2B5EF4-FFF2-40B4-BE49-F238E27FC236}">
                  <a16:creationId xmlns:a16="http://schemas.microsoft.com/office/drawing/2014/main" id="{C7E0FC1B-A4BA-F423-3561-2278F1DB6A43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Θέση υποσέλιδου 4">
              <a:extLst>
                <a:ext uri="{FF2B5EF4-FFF2-40B4-BE49-F238E27FC236}">
                  <a16:creationId xmlns:a16="http://schemas.microsoft.com/office/drawing/2014/main" id="{020CFA8C-E3DB-5399-7F8D-2D6FA95E5D93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7F8982-5B25-A4A2-6C5A-13D8014E37DF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10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25" name="Θέση υποσέλιδου 4">
              <a:extLst>
                <a:ext uri="{FF2B5EF4-FFF2-40B4-BE49-F238E27FC236}">
                  <a16:creationId xmlns:a16="http://schemas.microsoft.com/office/drawing/2014/main" id="{8EC3E182-FF70-8C1F-F2FB-33A265FEB204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876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82AF9-67C9-EE66-4E46-5EB9F0A2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B1EB83-5EEA-7634-7EC0-BC2D6A195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O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τύπος του χαρακτήρα και ο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ASCII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Κώδικας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5C7564-E91B-F464-8E0A-88EE29207E6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04B5D113-6BBA-256C-CE7F-B160E6A9EF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754204"/>
              </p:ext>
            </p:extLst>
          </p:nvPr>
        </p:nvGraphicFramePr>
        <p:xfrm>
          <a:off x="5053157" y="2354274"/>
          <a:ext cx="42719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990954" imgH="257556" progId="Excel.Sheet.8">
                  <p:embed/>
                </p:oleObj>
              </mc:Choice>
              <mc:Fallback>
                <p:oleObj name="Worksheet" r:id="rId3" imgW="1990954" imgH="257556" progId="Excel.Sheet.8">
                  <p:embed/>
                  <p:pic>
                    <p:nvPicPr>
                      <p:cNvPr id="78852" name="Object 4">
                        <a:extLst>
                          <a:ext uri="{FF2B5EF4-FFF2-40B4-BE49-F238E27FC236}">
                            <a16:creationId xmlns:a16="http://schemas.microsoft.com/office/drawing/2014/main" id="{99A1BCB9-C0EE-F4EA-40BD-F3D195D61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3157" y="2354274"/>
                        <a:ext cx="427196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A283E82-AB72-08C1-F0D9-773A55A67D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60945"/>
              </p:ext>
            </p:extLst>
          </p:nvPr>
        </p:nvGraphicFramePr>
        <p:xfrm>
          <a:off x="5053157" y="2354274"/>
          <a:ext cx="4267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990954" imgH="238354" progId="Excel.Sheet.8">
                  <p:embed/>
                </p:oleObj>
              </mc:Choice>
              <mc:Fallback>
                <p:oleObj name="Worksheet" r:id="rId5" imgW="1990954" imgH="238354" progId="Excel.Sheet.8">
                  <p:embed/>
                  <p:pic>
                    <p:nvPicPr>
                      <p:cNvPr id="78853" name="Object 5">
                        <a:extLst>
                          <a:ext uri="{FF2B5EF4-FFF2-40B4-BE49-F238E27FC236}">
                            <a16:creationId xmlns:a16="http://schemas.microsoft.com/office/drawing/2014/main" id="{A0526098-0AAB-23C9-DC3B-141698F017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3157" y="2354274"/>
                        <a:ext cx="4267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5BD95D0C-111F-08D6-B593-44A781FC6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157" y="3116274"/>
            <a:ext cx="1827213" cy="457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el-GR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latin typeface="Courier New" panose="02070309020205020404" pitchFamily="49" charset="0"/>
              </a:defRPr>
            </a:lvl1pPr>
          </a:lstStyle>
          <a:p>
            <a:r>
              <a:rPr lang="en-US" altLang="el-GR" dirty="0" err="1"/>
              <a:t>ch</a:t>
            </a:r>
            <a:r>
              <a:rPr lang="en-US" altLang="el-GR" dirty="0"/>
              <a:t> = ‘A’;</a:t>
            </a:r>
            <a:endParaRPr lang="en-GB" altLang="el-GR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AC62104-23DC-909C-FCDA-9986D37E8A13}"/>
              </a:ext>
            </a:extLst>
          </p:cNvPr>
          <p:cNvSpPr>
            <a:spLocks/>
          </p:cNvSpPr>
          <p:nvPr/>
        </p:nvSpPr>
        <p:spPr bwMode="auto">
          <a:xfrm>
            <a:off x="3376757" y="2735274"/>
            <a:ext cx="1524000" cy="609600"/>
          </a:xfrm>
          <a:custGeom>
            <a:avLst/>
            <a:gdLst>
              <a:gd name="T0" fmla="*/ 32 w 1280"/>
              <a:gd name="T1" fmla="*/ 384 h 424"/>
              <a:gd name="T2" fmla="*/ 80 w 1280"/>
              <a:gd name="T3" fmla="*/ 384 h 424"/>
              <a:gd name="T4" fmla="*/ 512 w 1280"/>
              <a:gd name="T5" fmla="*/ 144 h 424"/>
              <a:gd name="T6" fmla="*/ 1280 w 1280"/>
              <a:gd name="T7" fmla="*/ 0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80" h="424">
                <a:moveTo>
                  <a:pt x="32" y="384"/>
                </a:moveTo>
                <a:cubicBezTo>
                  <a:pt x="16" y="404"/>
                  <a:pt x="0" y="424"/>
                  <a:pt x="80" y="384"/>
                </a:cubicBezTo>
                <a:cubicBezTo>
                  <a:pt x="160" y="344"/>
                  <a:pt x="312" y="208"/>
                  <a:pt x="512" y="144"/>
                </a:cubicBezTo>
                <a:cubicBezTo>
                  <a:pt x="712" y="80"/>
                  <a:pt x="1152" y="24"/>
                  <a:pt x="1280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1BC565D1-45BB-D56D-51B5-C96FF0856188}"/>
              </a:ext>
            </a:extLst>
          </p:cNvPr>
          <p:cNvSpPr>
            <a:spLocks/>
          </p:cNvSpPr>
          <p:nvPr/>
        </p:nvSpPr>
        <p:spPr bwMode="auto">
          <a:xfrm>
            <a:off x="4824556" y="2963874"/>
            <a:ext cx="4676775" cy="1562100"/>
          </a:xfrm>
          <a:custGeom>
            <a:avLst/>
            <a:gdLst>
              <a:gd name="T0" fmla="*/ 0 w 2496"/>
              <a:gd name="T1" fmla="*/ 984 h 984"/>
              <a:gd name="T2" fmla="*/ 432 w 2496"/>
              <a:gd name="T3" fmla="*/ 600 h 984"/>
              <a:gd name="T4" fmla="*/ 1392 w 2496"/>
              <a:gd name="T5" fmla="*/ 24 h 984"/>
              <a:gd name="T6" fmla="*/ 2496 w 2496"/>
              <a:gd name="T7" fmla="*/ 744 h 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96" h="984">
                <a:moveTo>
                  <a:pt x="0" y="984"/>
                </a:moveTo>
                <a:cubicBezTo>
                  <a:pt x="100" y="872"/>
                  <a:pt x="200" y="760"/>
                  <a:pt x="432" y="600"/>
                </a:cubicBezTo>
                <a:cubicBezTo>
                  <a:pt x="664" y="440"/>
                  <a:pt x="1048" y="0"/>
                  <a:pt x="1392" y="24"/>
                </a:cubicBezTo>
                <a:cubicBezTo>
                  <a:pt x="1736" y="48"/>
                  <a:pt x="2116" y="396"/>
                  <a:pt x="2496" y="744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2917862D-30CD-DD57-5931-930C2E776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3233" y="3949544"/>
            <a:ext cx="427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l-GR" sz="2800" b="1" dirty="0">
                <a:solidFill>
                  <a:srgbClr val="00E4A8"/>
                </a:solidFill>
                <a:latin typeface="Tahoma" panose="020B0604030504040204" pitchFamily="34" charset="0"/>
              </a:rPr>
              <a:t>A</a:t>
            </a:r>
            <a:endParaRPr lang="en-GB" altLang="el-GR" sz="2800" b="1" dirty="0">
              <a:solidFill>
                <a:srgbClr val="00E4A8"/>
              </a:solidFill>
              <a:latin typeface="Tahoma" panose="020B0604030504040204" pitchFamily="34" charset="0"/>
            </a:endParaRP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EFDAC590-A2F8-EFBF-C5A2-0B8BEEA8C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7843" y="4835803"/>
            <a:ext cx="638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l-GR" sz="2800" b="1" dirty="0">
                <a:solidFill>
                  <a:srgbClr val="00E4A8"/>
                </a:solidFill>
                <a:latin typeface="Tahoma" panose="020B0604030504040204" pitchFamily="34" charset="0"/>
              </a:rPr>
              <a:t>65</a:t>
            </a:r>
            <a:endParaRPr lang="en-GB" altLang="el-GR" sz="2800" b="1" dirty="0">
              <a:solidFill>
                <a:srgbClr val="00E4A8"/>
              </a:solidFill>
              <a:latin typeface="Tahoma" panose="020B0604030504040204" pitchFamily="34" charset="0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C538C87E-0B68-BBA4-422F-29843B33B1A4}"/>
              </a:ext>
            </a:extLst>
          </p:cNvPr>
          <p:cNvSpPr>
            <a:spLocks/>
          </p:cNvSpPr>
          <p:nvPr/>
        </p:nvSpPr>
        <p:spPr bwMode="auto">
          <a:xfrm>
            <a:off x="4672156" y="2900374"/>
            <a:ext cx="5995843" cy="2273300"/>
          </a:xfrm>
          <a:custGeom>
            <a:avLst/>
            <a:gdLst>
              <a:gd name="T0" fmla="*/ 0 w 2640"/>
              <a:gd name="T1" fmla="*/ 1432 h 1432"/>
              <a:gd name="T2" fmla="*/ 672 w 2640"/>
              <a:gd name="T3" fmla="*/ 712 h 1432"/>
              <a:gd name="T4" fmla="*/ 1872 w 2640"/>
              <a:gd name="T5" fmla="*/ 88 h 1432"/>
              <a:gd name="T6" fmla="*/ 2640 w 2640"/>
              <a:gd name="T7" fmla="*/ 1240 h 1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40" h="1432">
                <a:moveTo>
                  <a:pt x="0" y="1432"/>
                </a:moveTo>
                <a:cubicBezTo>
                  <a:pt x="180" y="1184"/>
                  <a:pt x="360" y="936"/>
                  <a:pt x="672" y="712"/>
                </a:cubicBezTo>
                <a:cubicBezTo>
                  <a:pt x="984" y="488"/>
                  <a:pt x="1544" y="0"/>
                  <a:pt x="1872" y="88"/>
                </a:cubicBezTo>
                <a:cubicBezTo>
                  <a:pt x="2200" y="176"/>
                  <a:pt x="2420" y="708"/>
                  <a:pt x="2640" y="124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0E2A38F8-09CC-C9AD-53DF-8C2A5A7E6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157" y="2354274"/>
            <a:ext cx="1659429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l-GR" sz="2400" b="1" dirty="0">
                <a:latin typeface="Courier New" panose="02070309020205020404" pitchFamily="49" charset="0"/>
              </a:rPr>
              <a:t>char </a:t>
            </a:r>
            <a:r>
              <a:rPr lang="en-US" altLang="el-GR" sz="2400" b="1" dirty="0" err="1">
                <a:latin typeface="Courier New" panose="02070309020205020404" pitchFamily="49" charset="0"/>
              </a:rPr>
              <a:t>ch</a:t>
            </a:r>
            <a:r>
              <a:rPr lang="en-US" altLang="el-GR" sz="2400" b="1" dirty="0"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DBD8A9CB-75A7-1C31-8021-B7D7A3406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157" y="4945074"/>
            <a:ext cx="3105150" cy="457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l-GR" sz="2400" b="1" dirty="0">
                <a:latin typeface="Courier New" panose="02070309020205020404" pitchFamily="49" charset="0"/>
              </a:rPr>
              <a:t>printf(“%d”,</a:t>
            </a:r>
            <a:r>
              <a:rPr lang="en-US" altLang="el-GR" sz="2400" b="1" dirty="0" err="1">
                <a:latin typeface="Courier New" panose="02070309020205020404" pitchFamily="49" charset="0"/>
              </a:rPr>
              <a:t>ch</a:t>
            </a:r>
            <a:r>
              <a:rPr lang="en-US" altLang="el-GR" sz="2400" b="1" dirty="0">
                <a:latin typeface="Courier New" panose="02070309020205020404" pitchFamily="49" charset="0"/>
              </a:rPr>
              <a:t>);</a:t>
            </a:r>
            <a:endParaRPr lang="en-GB" altLang="el-GR" sz="2400" b="1" dirty="0">
              <a:latin typeface="Courier New" panose="02070309020205020404" pitchFamily="49" charset="0"/>
            </a:endParaRP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216B0312-50F1-80F5-A6F9-EDE29C83A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157" y="4335474"/>
            <a:ext cx="3105150" cy="457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el-GR"/>
            </a:defPPr>
            <a:lvl1pPr fontAlgn="base">
              <a:spcBef>
                <a:spcPct val="0"/>
              </a:spcBef>
              <a:spcAft>
                <a:spcPct val="0"/>
              </a:spcAft>
              <a:defRPr sz="2400" b="1">
                <a:latin typeface="Courier New" panose="02070309020205020404" pitchFamily="49" charset="0"/>
              </a:defRPr>
            </a:lvl1pPr>
          </a:lstStyle>
          <a:p>
            <a:r>
              <a:rPr lang="en-US" altLang="el-GR" dirty="0"/>
              <a:t>printf(“%c”,</a:t>
            </a:r>
            <a:r>
              <a:rPr lang="en-US" altLang="el-GR" dirty="0" err="1"/>
              <a:t>ch</a:t>
            </a:r>
            <a:r>
              <a:rPr lang="en-US" altLang="el-GR" dirty="0"/>
              <a:t>);</a:t>
            </a:r>
            <a:endParaRPr lang="en-GB" altLang="el-GR" dirty="0"/>
          </a:p>
        </p:txBody>
      </p:sp>
      <p:sp>
        <p:nvSpPr>
          <p:cNvPr id="19" name="Callout: Line 18">
            <a:extLst>
              <a:ext uri="{FF2B5EF4-FFF2-40B4-BE49-F238E27FC236}">
                <a16:creationId xmlns:a16="http://schemas.microsoft.com/office/drawing/2014/main" id="{08D57D18-7725-9231-2831-C7ABAAEFC418}"/>
              </a:ext>
            </a:extLst>
          </p:cNvPr>
          <p:cNvSpPr/>
          <p:nvPr/>
        </p:nvSpPr>
        <p:spPr bwMode="auto">
          <a:xfrm>
            <a:off x="1524000" y="1047243"/>
            <a:ext cx="4191000" cy="454124"/>
          </a:xfrm>
          <a:prstGeom prst="borderCallout1">
            <a:avLst>
              <a:gd name="adj1" fmla="val 99564"/>
              <a:gd name="adj2" fmla="val 52787"/>
              <a:gd name="adj3" fmla="val 308203"/>
              <a:gd name="adj4" fmla="val 21586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>
                <a:solidFill>
                  <a:schemeClr val="lt1"/>
                </a:solidFill>
              </a:rPr>
              <a:t>Δεσμεύει χώρο για χαρακτήρα</a:t>
            </a:r>
            <a:endParaRPr lang="en-GB" sz="2000" b="1" dirty="0">
              <a:solidFill>
                <a:schemeClr val="lt1"/>
              </a:solidFill>
            </a:endParaRPr>
          </a:p>
        </p:txBody>
      </p:sp>
      <p:sp>
        <p:nvSpPr>
          <p:cNvPr id="20" name="Callout: Line 19">
            <a:extLst>
              <a:ext uri="{FF2B5EF4-FFF2-40B4-BE49-F238E27FC236}">
                <a16:creationId xmlns:a16="http://schemas.microsoft.com/office/drawing/2014/main" id="{EAD839C6-1D81-3179-F0BC-97185CB83E01}"/>
              </a:ext>
            </a:extLst>
          </p:cNvPr>
          <p:cNvSpPr/>
          <p:nvPr/>
        </p:nvSpPr>
        <p:spPr bwMode="auto">
          <a:xfrm>
            <a:off x="3840632" y="1822190"/>
            <a:ext cx="4191000" cy="454124"/>
          </a:xfrm>
          <a:prstGeom prst="borderCallout1">
            <a:avLst>
              <a:gd name="adj1" fmla="val 96466"/>
              <a:gd name="adj2" fmla="val 21906"/>
              <a:gd name="adj3" fmla="val 321844"/>
              <a:gd name="adj4" fmla="val -34894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>
                <a:solidFill>
                  <a:schemeClr val="lt1"/>
                </a:solidFill>
              </a:rPr>
              <a:t>Αποδίδει τιμή στην μεταβλητή</a:t>
            </a:r>
            <a:endParaRPr lang="en-GB" sz="2000" b="1" dirty="0">
              <a:solidFill>
                <a:schemeClr val="lt1"/>
              </a:solidFill>
            </a:endParaRPr>
          </a:p>
        </p:txBody>
      </p:sp>
      <p:sp>
        <p:nvSpPr>
          <p:cNvPr id="21" name="Callout: Line 20">
            <a:extLst>
              <a:ext uri="{FF2B5EF4-FFF2-40B4-BE49-F238E27FC236}">
                <a16:creationId xmlns:a16="http://schemas.microsoft.com/office/drawing/2014/main" id="{7CF30FC4-2BFF-F139-F345-111DB670B899}"/>
              </a:ext>
            </a:extLst>
          </p:cNvPr>
          <p:cNvSpPr/>
          <p:nvPr/>
        </p:nvSpPr>
        <p:spPr bwMode="auto">
          <a:xfrm>
            <a:off x="1355870" y="5536158"/>
            <a:ext cx="3373437" cy="707886"/>
          </a:xfrm>
          <a:prstGeom prst="borderCallout1">
            <a:avLst>
              <a:gd name="adj1" fmla="val 4631"/>
              <a:gd name="adj2" fmla="val 17626"/>
              <a:gd name="adj3" fmla="val -134156"/>
              <a:gd name="adj4" fmla="val 61001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>
                <a:solidFill>
                  <a:schemeClr val="lt1"/>
                </a:solidFill>
              </a:rPr>
              <a:t>Τυπώνει την τιμή της μεταβλητής ως χαρακτήρα</a:t>
            </a:r>
            <a:endParaRPr lang="en-GB" sz="2000" b="1" dirty="0">
              <a:solidFill>
                <a:schemeClr val="lt1"/>
              </a:solidFill>
            </a:endParaRPr>
          </a:p>
        </p:txBody>
      </p:sp>
      <p:sp>
        <p:nvSpPr>
          <p:cNvPr id="22" name="Callout: Line 21">
            <a:extLst>
              <a:ext uri="{FF2B5EF4-FFF2-40B4-BE49-F238E27FC236}">
                <a16:creationId xmlns:a16="http://schemas.microsoft.com/office/drawing/2014/main" id="{67EBC036-823F-9185-5673-5A7120550A76}"/>
              </a:ext>
            </a:extLst>
          </p:cNvPr>
          <p:cNvSpPr/>
          <p:nvPr/>
        </p:nvSpPr>
        <p:spPr bwMode="auto">
          <a:xfrm>
            <a:off x="6127895" y="5522352"/>
            <a:ext cx="3677287" cy="707886"/>
          </a:xfrm>
          <a:prstGeom prst="borderCallout1">
            <a:avLst>
              <a:gd name="adj1" fmla="val 39379"/>
              <a:gd name="adj2" fmla="val 982"/>
              <a:gd name="adj3" fmla="val -37357"/>
              <a:gd name="adj4" fmla="val -45995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>
                <a:solidFill>
                  <a:schemeClr val="lt1"/>
                </a:solidFill>
              </a:rPr>
              <a:t>Τυπώνει την τιμή της μεταβλητής ως ακέραιο</a:t>
            </a:r>
            <a:endParaRPr lang="en-GB" sz="2000" b="1" dirty="0">
              <a:solidFill>
                <a:schemeClr val="lt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DF7334C-7DE5-53A1-44BB-CAC4148AF71C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24" name="Rectangle 14">
              <a:extLst>
                <a:ext uri="{FF2B5EF4-FFF2-40B4-BE49-F238E27FC236}">
                  <a16:creationId xmlns:a16="http://schemas.microsoft.com/office/drawing/2014/main" id="{84CC9E94-C5EE-E975-EE3A-47B068998261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Θέση υποσέλιδου 4">
              <a:extLst>
                <a:ext uri="{FF2B5EF4-FFF2-40B4-BE49-F238E27FC236}">
                  <a16:creationId xmlns:a16="http://schemas.microsoft.com/office/drawing/2014/main" id="{26F76A06-6EAC-086F-1BD9-700A1207F48A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EF0F6-B73B-9DA8-EC65-59273EA405B4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11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27" name="Θέση υποσέλιδου 4">
              <a:extLst>
                <a:ext uri="{FF2B5EF4-FFF2-40B4-BE49-F238E27FC236}">
                  <a16:creationId xmlns:a16="http://schemas.microsoft.com/office/drawing/2014/main" id="{A787D19E-4ADC-8F59-EF70-1CA1EBB5841F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861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13" grpId="0" autoUpdateAnimBg="0"/>
      <p:bldP spid="14" grpId="0" autoUpdateAnimBg="0"/>
      <p:bldP spid="16" grpId="0" animBg="1" autoUpdateAnimBg="0"/>
      <p:bldP spid="17" grpId="0" animBg="1" autoUpdateAnimBg="0"/>
      <p:bldP spid="18" grpId="0" animBg="1" autoUpdateAnimBg="0"/>
      <p:bldP spid="19" grpId="0" animBg="1"/>
      <p:bldP spid="20" grpId="0" animBg="1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D2C2C-584F-4D18-CD0E-7832F040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8CA492-0B8B-9773-AEFE-92C653B4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Πρόγραμμα: Εμφάνιση χαρακτήρα στη κύρια έξοδο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401814-06DE-38EA-67B2-78C24F2D0D17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E462F58-B474-1C9D-49BA-2E203C06D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12" y="769549"/>
            <a:ext cx="8346490" cy="574550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CE88523-BD54-EBEA-0F65-03973D0C57EE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4470B9EC-08C7-785E-263B-0357116F8D51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Θέση υποσέλιδου 4">
              <a:extLst>
                <a:ext uri="{FF2B5EF4-FFF2-40B4-BE49-F238E27FC236}">
                  <a16:creationId xmlns:a16="http://schemas.microsoft.com/office/drawing/2014/main" id="{1411D401-D8E7-9D48-18DB-DF28EC3F10A8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CE6B1E-2654-5E02-0BCE-FF1EC5BE2D34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12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3" name="Θέση υποσέλιδου 4">
              <a:extLst>
                <a:ext uri="{FF2B5EF4-FFF2-40B4-BE49-F238E27FC236}">
                  <a16:creationId xmlns:a16="http://schemas.microsoft.com/office/drawing/2014/main" id="{6E13E9C6-BBE7-790F-BBE2-3DD6E9855BF2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160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CF749-6C9C-D4D9-03F8-8B26A0F5C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F4C92A4-83E0-FCF5-0E2C-C88B74B55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AsciiCode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F7A364-C996-B065-E9BF-C5D39B72292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720ADCE3-11CC-E061-B0AF-34C6D3763561}"/>
              </a:ext>
            </a:extLst>
          </p:cNvPr>
          <p:cNvSpPr/>
          <p:nvPr/>
        </p:nvSpPr>
        <p:spPr>
          <a:xfrm>
            <a:off x="5474744" y="4457306"/>
            <a:ext cx="5633357" cy="891756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τις 2εκδόσεις της Δραστηριότητας </a:t>
            </a:r>
            <a:r>
              <a:rPr lang="en-US" sz="2400" b="1" dirty="0" err="1">
                <a:solidFill>
                  <a:srgbClr val="F9853D"/>
                </a:solidFill>
                <a:highlight>
                  <a:srgbClr val="FFFF00"/>
                </a:highlight>
                <a:latin typeface="Bahnschrift" panose="020B0502040204020203" pitchFamily="34" charset="0"/>
              </a:rPr>
              <a:t>AsciiCode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2A82D1-ECEB-4B3E-9E8B-3A4259713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3367508"/>
            <a:ext cx="4079639" cy="3003681"/>
          </a:xfrm>
          <a:prstGeom prst="rect">
            <a:avLst/>
          </a:prstGeom>
        </p:spPr>
      </p:pic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D94F9EE5-20B5-E956-759E-08EBFEBFAA94}"/>
              </a:ext>
            </a:extLst>
          </p:cNvPr>
          <p:cNvSpPr/>
          <p:nvPr/>
        </p:nvSpPr>
        <p:spPr>
          <a:xfrm>
            <a:off x="5899051" y="5800306"/>
            <a:ext cx="5633357" cy="442333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>
                <a:solidFill>
                  <a:schemeClr val="tx1"/>
                </a:solidFill>
                <a:highlight>
                  <a:srgbClr val="FFFF00"/>
                </a:highlight>
              </a:rPr>
              <a:t>Ελέγξτε αν υλοποιούν σωστά την λειτουργικότητα</a:t>
            </a:r>
            <a:endParaRPr lang="en-GB" sz="20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E69BC6-98A0-C2B2-DB3D-72CE783059A8}"/>
              </a:ext>
            </a:extLst>
          </p:cNvPr>
          <p:cNvSpPr txBox="1"/>
          <p:nvPr/>
        </p:nvSpPr>
        <p:spPr>
          <a:xfrm>
            <a:off x="70337" y="769550"/>
            <a:ext cx="11980993" cy="120032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Δράση 6.1 Εμφάνιση ASCII κώδικα (AsciiCodeV1)</a:t>
            </a:r>
          </a:p>
          <a:p>
            <a:r>
              <a:rPr lang="el-GR" kern="0" dirty="0">
                <a:solidFill>
                  <a:srgbClr val="000000"/>
                </a:solidFill>
                <a:latin typeface="Tahoma"/>
              </a:rPr>
              <a:t>Αναπτύξτε μια πρώτη έκδοση του προγράμματος </a:t>
            </a:r>
            <a:r>
              <a:rPr lang="el-GR" kern="0" dirty="0" err="1">
                <a:solidFill>
                  <a:srgbClr val="000000"/>
                </a:solidFill>
                <a:latin typeface="Tahoma"/>
              </a:rPr>
              <a:t>AsciiCode</a:t>
            </a:r>
            <a:r>
              <a:rPr lang="el-GR" kern="0" dirty="0">
                <a:solidFill>
                  <a:srgbClr val="000000"/>
                </a:solidFill>
                <a:latin typeface="Tahoma"/>
              </a:rPr>
              <a:t> με βάση το οποίο η Μηχανή θα τυπώνει τον </a:t>
            </a:r>
            <a:r>
              <a:rPr lang="el-GR" kern="0" dirty="0" err="1">
                <a:solidFill>
                  <a:srgbClr val="000000"/>
                </a:solidFill>
                <a:latin typeface="Tahoma"/>
              </a:rPr>
              <a:t>ascii</a:t>
            </a:r>
            <a:r>
              <a:rPr lang="el-GR" kern="0" dirty="0">
                <a:solidFill>
                  <a:srgbClr val="000000"/>
                </a:solidFill>
                <a:latin typeface="Tahoma"/>
              </a:rPr>
              <a:t> κώδικα. Από την έξοδο του προγράμματος θα δείτε τις θέσεις των πεζών και κεφαλαίων λατινικών γραμμάτων καθώς και αυτή των ψηφίων και με βάση αυτό θα διαμορφώσετε την 2η έκδοση.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8359A-9423-10AC-3F61-F34388C9CFD0}"/>
              </a:ext>
            </a:extLst>
          </p:cNvPr>
          <p:cNvSpPr txBox="1"/>
          <p:nvPr/>
        </p:nvSpPr>
        <p:spPr>
          <a:xfrm>
            <a:off x="4389118" y="2251736"/>
            <a:ext cx="7662211" cy="120032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Δράση 6.2 Εμφάνιση ASCII κώδικα (AsciiCodeV2)</a:t>
            </a:r>
          </a:p>
          <a:p>
            <a:r>
              <a:rPr lang="el-GR" b="1" kern="0" dirty="0">
                <a:solidFill>
                  <a:srgbClr val="000000"/>
                </a:solidFill>
                <a:latin typeface="Tahoma"/>
              </a:rPr>
              <a:t>Αναπτύξτε ένα πρόγραμμα </a:t>
            </a:r>
            <a:r>
              <a:rPr lang="el-GR" kern="0" dirty="0">
                <a:solidFill>
                  <a:srgbClr val="000000"/>
                </a:solidFill>
                <a:latin typeface="Tahoma"/>
              </a:rPr>
              <a:t>με βάση το οποίο η Μηχανή θα τυπώνει τους χαρακτήρες του λατινικού αλφαβήτου (πεζά και κεφαλαία) και τα δέκα ψηφία, και για το καθένα από αυτά τον αντίστοιχο </a:t>
            </a:r>
            <a:r>
              <a:rPr lang="el-GR" kern="0" dirty="0" err="1">
                <a:solidFill>
                  <a:srgbClr val="000000"/>
                </a:solidFill>
                <a:latin typeface="Tahoma"/>
              </a:rPr>
              <a:t>ascii</a:t>
            </a:r>
            <a:r>
              <a:rPr lang="el-GR" kern="0" dirty="0">
                <a:solidFill>
                  <a:srgbClr val="000000"/>
                </a:solidFill>
                <a:latin typeface="Tahoma"/>
              </a:rPr>
              <a:t> κωδικό του. </a:t>
            </a:r>
            <a:endParaRPr lang="el-GR" sz="1100" kern="0" dirty="0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710B8D4-A31E-C8EC-10F9-AB097365773A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D71DE4E9-8B91-FBAC-AB3E-374660600656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Θέση υποσέλιδου 4">
              <a:extLst>
                <a:ext uri="{FF2B5EF4-FFF2-40B4-BE49-F238E27FC236}">
                  <a16:creationId xmlns:a16="http://schemas.microsoft.com/office/drawing/2014/main" id="{DFF08DB4-07EC-370B-143E-416B6EA161EC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9F1B52-35E9-1F9D-0435-125419F691E3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13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20" name="Θέση υποσέλιδου 4">
              <a:extLst>
                <a:ext uri="{FF2B5EF4-FFF2-40B4-BE49-F238E27FC236}">
                  <a16:creationId xmlns:a16="http://schemas.microsoft.com/office/drawing/2014/main" id="{C75940BC-4AE1-4E36-8AF2-125F0FE24E9B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684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63EBD-CC70-0CC2-1C81-F61F39B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B017079-4B8C-4944-1D2B-70E83C0BE960}"/>
              </a:ext>
            </a:extLst>
          </p:cNvPr>
          <p:cNvSpPr txBox="1"/>
          <p:nvPr/>
        </p:nvSpPr>
        <p:spPr>
          <a:xfrm>
            <a:off x="140669" y="5200058"/>
            <a:ext cx="9239305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 = getChar(“Enter a character:”);</a:t>
            </a:r>
            <a:endParaRPr lang="en-GB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55DEF92-6E5E-FE27-B279-66E986460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Είσοδος χαρακτήρα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</a:t>
            </a:r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getchar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και </a:t>
            </a:r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getChar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(i2p)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BF871F-2ABC-08DE-1BA9-3020C3315D2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C7E6B-D5B6-7BA4-FA75-2F3979988B30}"/>
              </a:ext>
            </a:extLst>
          </p:cNvPr>
          <p:cNvSpPr txBox="1"/>
          <p:nvPr/>
        </p:nvSpPr>
        <p:spPr>
          <a:xfrm>
            <a:off x="140669" y="1202018"/>
            <a:ext cx="4977021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GB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getchar</a:t>
            </a:r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(void); 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89AD7723-14C7-27D0-35F7-54A4A8211826}"/>
              </a:ext>
            </a:extLst>
          </p:cNvPr>
          <p:cNvSpPr/>
          <p:nvPr/>
        </p:nvSpPr>
        <p:spPr>
          <a:xfrm>
            <a:off x="4362090" y="1721095"/>
            <a:ext cx="6999923" cy="719331"/>
          </a:xfrm>
          <a:prstGeom prst="borderCallout2">
            <a:avLst>
              <a:gd name="adj1" fmla="val 47872"/>
              <a:gd name="adj2" fmla="val 496"/>
              <a:gd name="adj3" fmla="val 43357"/>
              <a:gd name="adj4" fmla="val -8320"/>
              <a:gd name="adj5" fmla="val -2158"/>
              <a:gd name="adj6" fmla="val -28212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/>
              <a:t>Δήλωση της συνάρτησης </a:t>
            </a:r>
            <a:r>
              <a:rPr lang="en-US" sz="2000" b="1" dirty="0" err="1"/>
              <a:t>getchar</a:t>
            </a:r>
            <a:r>
              <a:rPr lang="en-US" sz="2000" b="1" dirty="0"/>
              <a:t> </a:t>
            </a:r>
            <a:r>
              <a:rPr lang="el-GR" sz="2000" b="1" dirty="0"/>
              <a:t>της τυπικής βιβλιοθήκης για είσοδο χαρακτήρα από την κύρια είσοδο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D26F1-1791-3056-CF9A-FD58FAECD007}"/>
              </a:ext>
            </a:extLst>
          </p:cNvPr>
          <p:cNvSpPr txBox="1"/>
          <p:nvPr/>
        </p:nvSpPr>
        <p:spPr>
          <a:xfrm>
            <a:off x="140670" y="2417445"/>
            <a:ext cx="4221420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pt-BR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 = getchar();</a:t>
            </a:r>
            <a:endParaRPr lang="en-GB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6871C422-FC52-CEA6-4EDA-8A24E3755497}"/>
              </a:ext>
            </a:extLst>
          </p:cNvPr>
          <p:cNvSpPr/>
          <p:nvPr/>
        </p:nvSpPr>
        <p:spPr>
          <a:xfrm>
            <a:off x="2732713" y="3035101"/>
            <a:ext cx="8815760" cy="584775"/>
          </a:xfrm>
          <a:prstGeom prst="borderCallout2">
            <a:avLst>
              <a:gd name="adj1" fmla="val 47872"/>
              <a:gd name="adj2" fmla="val 496"/>
              <a:gd name="adj3" fmla="val 43357"/>
              <a:gd name="adj4" fmla="val -8320"/>
              <a:gd name="adj5" fmla="val -3613"/>
              <a:gd name="adj6" fmla="val -18957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/>
              <a:t>Παράδειγμα χρήσης της </a:t>
            </a:r>
            <a:r>
              <a:rPr lang="en-US" sz="2000" b="1" dirty="0" err="1"/>
              <a:t>getchar</a:t>
            </a:r>
            <a:r>
              <a:rPr lang="en-US" sz="2000" b="1" dirty="0"/>
              <a:t> </a:t>
            </a:r>
            <a:r>
              <a:rPr lang="el-GR" sz="2000" b="1" dirty="0"/>
              <a:t>για είσοδο από την κύρια είσοδο ενός χαρακτήρα και απόδοσης του ως τιμής στη μεταβλητή χαρακτήρα </a:t>
            </a:r>
            <a:r>
              <a:rPr lang="en-US" sz="2000" b="1" dirty="0" err="1"/>
              <a:t>ch</a:t>
            </a:r>
            <a:endParaRPr lang="el-GR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83F60A-CF8B-B229-8252-3D47DE9A5482}"/>
              </a:ext>
            </a:extLst>
          </p:cNvPr>
          <p:cNvSpPr txBox="1"/>
          <p:nvPr/>
        </p:nvSpPr>
        <p:spPr>
          <a:xfrm>
            <a:off x="140669" y="3984631"/>
            <a:ext cx="8210702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GB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getChar</a:t>
            </a:r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(char message[])); </a:t>
            </a:r>
          </a:p>
        </p:txBody>
      </p:sp>
      <p:sp>
        <p:nvSpPr>
          <p:cNvPr id="14" name="Callout: Bent Line 13">
            <a:extLst>
              <a:ext uri="{FF2B5EF4-FFF2-40B4-BE49-F238E27FC236}">
                <a16:creationId xmlns:a16="http://schemas.microsoft.com/office/drawing/2014/main" id="{6A1E17F9-032E-E9CB-37ED-86DF7DD0E5E0}"/>
              </a:ext>
            </a:extLst>
          </p:cNvPr>
          <p:cNvSpPr/>
          <p:nvPr/>
        </p:nvSpPr>
        <p:spPr>
          <a:xfrm>
            <a:off x="4362090" y="4503708"/>
            <a:ext cx="6999923" cy="719331"/>
          </a:xfrm>
          <a:prstGeom prst="borderCallout2">
            <a:avLst>
              <a:gd name="adj1" fmla="val 47872"/>
              <a:gd name="adj2" fmla="val 496"/>
              <a:gd name="adj3" fmla="val 43357"/>
              <a:gd name="adj4" fmla="val -8320"/>
              <a:gd name="adj5" fmla="val -2158"/>
              <a:gd name="adj6" fmla="val -28212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/>
              <a:t>Δήλωση της συνάρτησης </a:t>
            </a:r>
            <a:r>
              <a:rPr lang="en-US" sz="2000" b="1" dirty="0" err="1"/>
              <a:t>getChar</a:t>
            </a:r>
            <a:r>
              <a:rPr lang="en-US" sz="2000" b="1" dirty="0"/>
              <a:t> </a:t>
            </a:r>
            <a:r>
              <a:rPr lang="el-GR" sz="2000" b="1" dirty="0"/>
              <a:t>της βιβλιοθήκης </a:t>
            </a:r>
            <a:r>
              <a:rPr lang="en-US" sz="2000" b="1" dirty="0"/>
              <a:t>i2p </a:t>
            </a:r>
            <a:r>
              <a:rPr lang="el-GR" sz="2000" b="1" dirty="0"/>
              <a:t>για είσοδο χαρακτήρα από την κύρια είσοδο</a:t>
            </a:r>
          </a:p>
        </p:txBody>
      </p:sp>
      <p:sp>
        <p:nvSpPr>
          <p:cNvPr id="16" name="Callout: Bent Line 15">
            <a:extLst>
              <a:ext uri="{FF2B5EF4-FFF2-40B4-BE49-F238E27FC236}">
                <a16:creationId xmlns:a16="http://schemas.microsoft.com/office/drawing/2014/main" id="{9FE1CF99-F6F9-CF83-5202-D5DC5F0815D2}"/>
              </a:ext>
            </a:extLst>
          </p:cNvPr>
          <p:cNvSpPr/>
          <p:nvPr/>
        </p:nvSpPr>
        <p:spPr>
          <a:xfrm>
            <a:off x="2732713" y="5817714"/>
            <a:ext cx="8815760" cy="584775"/>
          </a:xfrm>
          <a:prstGeom prst="borderCallout2">
            <a:avLst>
              <a:gd name="adj1" fmla="val 47872"/>
              <a:gd name="adj2" fmla="val 496"/>
              <a:gd name="adj3" fmla="val 43357"/>
              <a:gd name="adj4" fmla="val -8320"/>
              <a:gd name="adj5" fmla="val -3613"/>
              <a:gd name="adj6" fmla="val -18957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/>
              <a:t>Παράδειγμα χρήσης της </a:t>
            </a:r>
            <a:r>
              <a:rPr lang="en-US" sz="2000" b="1" dirty="0" err="1"/>
              <a:t>getChar</a:t>
            </a:r>
            <a:r>
              <a:rPr lang="en-US" sz="2000" b="1" dirty="0"/>
              <a:t> (</a:t>
            </a:r>
            <a:r>
              <a:rPr lang="el-GR" sz="2000" b="1" dirty="0"/>
              <a:t>της </a:t>
            </a:r>
            <a:r>
              <a:rPr lang="en-US" sz="2000" b="1" dirty="0"/>
              <a:t>i2p) </a:t>
            </a:r>
            <a:r>
              <a:rPr lang="el-GR" sz="2000" b="1" dirty="0"/>
              <a:t>για είσοδο από την κύρια είσοδο ενός χαρακτήρα και απόδοσης του ως τιμής στη μεταβλητή χαρακτήρα </a:t>
            </a:r>
            <a:r>
              <a:rPr lang="en-US" sz="2000" b="1" dirty="0" err="1"/>
              <a:t>ch</a:t>
            </a:r>
            <a:endParaRPr lang="el-GR" sz="2000" b="1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A5D248-A31A-0E78-0964-BB72D0F639EC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2777C4C0-0DB4-F289-C8FB-AFBB40D8BAF0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Θέση υποσέλιδου 4">
              <a:extLst>
                <a:ext uri="{FF2B5EF4-FFF2-40B4-BE49-F238E27FC236}">
                  <a16:creationId xmlns:a16="http://schemas.microsoft.com/office/drawing/2014/main" id="{4E9E3CCE-EC34-8AE6-E41B-9092025D6FC7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93A073C-D003-D58B-3C31-3C668E8C0C76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14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21" name="Θέση υποσέλιδου 4">
              <a:extLst>
                <a:ext uri="{FF2B5EF4-FFF2-40B4-BE49-F238E27FC236}">
                  <a16:creationId xmlns:a16="http://schemas.microsoft.com/office/drawing/2014/main" id="{0F475852-CE4F-AAA9-D788-E0D9189E96BA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206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 animBg="1"/>
      <p:bldP spid="7" grpId="0" animBg="1"/>
      <p:bldP spid="9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36002-D14B-07E0-844D-CB57C0F02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2C1643B-255B-5F87-6980-832017D4F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AsciiCode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D565D2-BB21-FCF7-5020-7D80B95D792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267464D9-36FC-88BD-F31F-A709002F4EF1}"/>
              </a:ext>
            </a:extLst>
          </p:cNvPr>
          <p:cNvSpPr/>
          <p:nvPr/>
        </p:nvSpPr>
        <p:spPr>
          <a:xfrm>
            <a:off x="5155015" y="3193740"/>
            <a:ext cx="5633357" cy="1356017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το πρόγραμμα κάνοντας χρήση των συναρτήσεων </a:t>
            </a:r>
            <a:r>
              <a:rPr lang="el-GR" sz="24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getChar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() και </a:t>
            </a:r>
            <a:r>
              <a:rPr lang="el-GR" sz="24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putchar</a:t>
            </a:r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() 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4B31B5-B9C7-CB45-8B74-315D778ED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3367508"/>
            <a:ext cx="4079639" cy="3003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77EDD-D190-6856-E976-2B7712BA3D0B}"/>
              </a:ext>
            </a:extLst>
          </p:cNvPr>
          <p:cNvSpPr txBox="1"/>
          <p:nvPr/>
        </p:nvSpPr>
        <p:spPr>
          <a:xfrm>
            <a:off x="70337" y="769550"/>
            <a:ext cx="11980993" cy="132343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Δράση 6.3 Διαχείριση χαρακτήρων (</a:t>
            </a:r>
            <a:r>
              <a:rPr lang="el-GR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CharHandling</a:t>
            </a:r>
            <a:r>
              <a:rPr lang="el-GR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l-G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Αναπτύξτε ένα πρόγραμμα με βάση το οποίο η Μηχανή θα διαβάζει από τη κύρια είσοδο, χαρακτήρα προς χαρακτήρα, μία λέξη 6 πεζών χαρακτήρων, θα αποθηκεύει αυτή καθώς και τη λέξη με τα αντίστοιχα κεφαλαία  και στη συνέχεια θα τις  τυπώνει. </a:t>
            </a:r>
            <a:r>
              <a:rPr lang="el-GR" sz="2000" kern="0" dirty="0">
                <a:solidFill>
                  <a:srgbClr val="000000"/>
                </a:solidFill>
                <a:latin typeface="Tahoma"/>
              </a:rPr>
              <a:t>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E37A13-A61C-728A-E2C5-F6CCE693FA3C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88EE4D7A-9D74-BF0D-C0AA-E83FFA8B3E46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Θέση υποσέλιδου 4">
              <a:extLst>
                <a:ext uri="{FF2B5EF4-FFF2-40B4-BE49-F238E27FC236}">
                  <a16:creationId xmlns:a16="http://schemas.microsoft.com/office/drawing/2014/main" id="{D56B5BBB-CAA6-1D17-B802-11EA949B6101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7F7F16C-9167-2944-7149-118DB0F91632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15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7" name="Θέση υποσέλιδου 4">
              <a:extLst>
                <a:ext uri="{FF2B5EF4-FFF2-40B4-BE49-F238E27FC236}">
                  <a16:creationId xmlns:a16="http://schemas.microsoft.com/office/drawing/2014/main" id="{64B7E10B-2640-10E9-C0DB-73B75842BFE6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35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D8C9B-DE52-F2F7-189E-F50703DE6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DED03BC-E7DE-2E85-70D1-4C3115E5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D971E3-D752-D529-222F-45CD70823F9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4EADD9-A311-4754-AEAB-E2B28F309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8"/>
            <a:ext cx="11207100" cy="512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Η δομή της «Μηχανής» </a:t>
            </a:r>
            <a:endParaRPr lang="en-US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l-GR" sz="3200" kern="0" dirty="0">
                <a:latin typeface="Times New Roman" panose="02020603050405020304" pitchFamily="18" charset="0"/>
              </a:rPr>
              <a:t>Von Neumann Architecture, </a:t>
            </a:r>
            <a:r>
              <a:rPr lang="el-GR" altLang="el-GR" sz="3200" kern="0" dirty="0">
                <a:latin typeface="Times New Roman" panose="02020603050405020304" pitchFamily="18" charset="0"/>
              </a:rPr>
              <a:t>Γλώσσα Μηχανής</a:t>
            </a:r>
            <a:endParaRPr lang="en-US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6.1  -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AsciiCode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l-GR" kern="0" dirty="0">
                <a:latin typeface="Times New Roman" panose="02020603050405020304" pitchFamily="18" charset="0"/>
              </a:rPr>
              <a:t>O </a:t>
            </a:r>
            <a:r>
              <a:rPr lang="el-GR" altLang="el-GR" kern="0" dirty="0">
                <a:latin typeface="Times New Roman" panose="02020603050405020304" pitchFamily="18" charset="0"/>
              </a:rPr>
              <a:t>τύπος χαρακτήρα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char</a:t>
            </a:r>
            <a:r>
              <a:rPr lang="el-GR" altLang="el-GR" kern="0" dirty="0">
                <a:latin typeface="Times New Roman" panose="02020603050405020304" pitchFamily="18" charset="0"/>
              </a:rPr>
              <a:t>) και ο ASCII κώδικας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Μονάδες αποθήκευσης, Διευθύνσεις και Δείκτες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Μονάδες αποθήκευσης, Διευθύνσεις και Δείκτες</a:t>
            </a:r>
            <a:endParaRPr lang="en-US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6.2  -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StringHandling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Συμβολοσειρά (</a:t>
            </a:r>
            <a:r>
              <a:rPr lang="el-GR" altLang="el-GR" kern="0" dirty="0" err="1">
                <a:latin typeface="Times New Roman" panose="02020603050405020304" pitchFamily="18" charset="0"/>
              </a:rPr>
              <a:t>String</a:t>
            </a:r>
            <a:r>
              <a:rPr lang="el-GR" altLang="el-GR" kern="0" dirty="0">
                <a:latin typeface="Times New Roman" panose="02020603050405020304" pitchFamily="18" charset="0"/>
              </a:rPr>
              <a:t>) και αλφαριθμητικό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Αντιστοίχιση σημειογραφίας πίνακα με σημειογραφία Δείκτη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Συναρτήσεις διαχείρισης συμβολοσειρών</a:t>
            </a: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6.3 - </a:t>
            </a:r>
            <a:r>
              <a:rPr lang="en-GB" b="1" dirty="0">
                <a:solidFill>
                  <a:srgbClr val="F9853D"/>
                </a:solidFill>
                <a:latin typeface="Bahnschrift" panose="020B0502040204020203" pitchFamily="34" charset="0"/>
              </a:rPr>
              <a:t>GetStringVersions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kern="0" dirty="0">
                <a:latin typeface="Times New Roman" panose="02020603050405020304" pitchFamily="18" charset="0"/>
              </a:rPr>
              <a:t>O Alex, </a:t>
            </a:r>
            <a:r>
              <a:rPr lang="el-GR" kern="0" dirty="0">
                <a:latin typeface="Times New Roman" panose="02020603050405020304" pitchFamily="18" charset="0"/>
              </a:rPr>
              <a:t>η</a:t>
            </a:r>
            <a:r>
              <a:rPr lang="en-US" kern="0" dirty="0">
                <a:latin typeface="Times New Roman" panose="02020603050405020304" pitchFamily="18" charset="0"/>
              </a:rPr>
              <a:t> getStringV2 </a:t>
            </a:r>
            <a:r>
              <a:rPr lang="el-GR" kern="0" dirty="0">
                <a:latin typeface="Times New Roman" panose="02020603050405020304" pitchFamily="18" charset="0"/>
              </a:rPr>
              <a:t>και το </a:t>
            </a:r>
            <a:r>
              <a:rPr lang="en-US" kern="0" dirty="0">
                <a:latin typeface="Times New Roman" panose="02020603050405020304" pitchFamily="18" charset="0"/>
              </a:rPr>
              <a:t>chatbot</a:t>
            </a:r>
            <a:endParaRPr lang="en-GB" kern="0" dirty="0">
              <a:latin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EE7F23-34E3-FF92-A2AA-CE3B5A7F3A59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039E4CC9-782C-EB66-07CB-F2129829D3D7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Θέση υποσέλιδου 4">
              <a:extLst>
                <a:ext uri="{FF2B5EF4-FFF2-40B4-BE49-F238E27FC236}">
                  <a16:creationId xmlns:a16="http://schemas.microsoft.com/office/drawing/2014/main" id="{6F7959A1-EA95-D4CC-5BF6-693B9CE0D620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927BC0-9354-4C63-C24E-2106C714C15D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16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3" name="Θέση υποσέλιδου 4">
              <a:extLst>
                <a:ext uri="{FF2B5EF4-FFF2-40B4-BE49-F238E27FC236}">
                  <a16:creationId xmlns:a16="http://schemas.microsoft.com/office/drawing/2014/main" id="{F474D8DD-5CEE-C958-2C8D-71309C4023F7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97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7458C-168E-2FAF-B910-B70F708F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9ADA7743-D420-FD14-E842-C322762A9D13}"/>
              </a:ext>
            </a:extLst>
          </p:cNvPr>
          <p:cNvSpPr/>
          <p:nvPr/>
        </p:nvSpPr>
        <p:spPr>
          <a:xfrm>
            <a:off x="0" y="6610127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C937FD8-11FC-4957-D180-BCDC39FE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Μονάδες μνήμης - Διεύθυνση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99C676D6-3BFD-C9D4-6B73-AC3A2DF672E4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D5BA3-91B1-1056-1F8B-A61E5763E962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771EB2-A945-5981-F451-2D0874A1D3C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AEE13A0-2B44-3EE7-A77B-80AC2930A53F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Von Neumann Architecture - Strings - Pointers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D5C07653-EF8D-ADFB-4CBC-A11894245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173" y="832349"/>
            <a:ext cx="9020027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Bit</a:t>
            </a:r>
            <a:endParaRPr kumimoji="0" lang="el-GR" altLang="el-GR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αποτελεί το βασικό δομικό στοιχείο της μνήμης του υπολογιστή. Μπορεί να έχει μια εκ των δύο τιμών: 0 ή 1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b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Byte</a:t>
            </a:r>
            <a:r>
              <a:rPr kumimoji="0" lang="el-GR" altLang="el-G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			</a:t>
            </a:r>
            <a:r>
              <a:rPr kumimoji="0" lang="el-GR" altLang="el-GR" sz="32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ANSI </a:t>
            </a:r>
            <a:r>
              <a:rPr kumimoji="0" lang="el-GR" altLang="el-G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requirement</a:t>
            </a:r>
            <a:endParaRPr kumimoji="0" lang="el-GR" altLang="el-GR" sz="32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αποτελεί τη συνηθισμένη μονάδα αποθήκευσης. </a:t>
            </a:r>
            <a:r>
              <a:rPr kumimoji="0" lang="el-GR" altLang="el-G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Aποτελείται</a:t>
            </a:r>
            <a:r>
              <a:rPr kumimoji="0" lang="el-GR" alt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από 8bits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l-GR" altLang="el-GR" b="1" dirty="0">
                <a:solidFill>
                  <a:srgbClr val="C00000"/>
                </a:solidFill>
                <a:latin typeface="Times New Roman" panose="02020603050405020304" pitchFamily="18" charset="0"/>
              </a:rPr>
              <a:t>Word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αποτελεί την πληροφορία που μπορεί να διακινηθεί (Ι/Ο) σε ένα κύκλο μηχανής.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ταυτίζεται με το μέγεθος του </a:t>
            </a:r>
            <a:r>
              <a:rPr kumimoji="0" lang="el-GR" altLang="el-G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data</a:t>
            </a:r>
            <a:r>
              <a:rPr kumimoji="0" lang="el-GR" alt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l-GR" altLang="el-G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bus</a:t>
            </a:r>
            <a:r>
              <a:rPr kumimoji="0" lang="el-GR" alt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του επεξεργαστή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8-bit, 16-bit, 32-bit, 64-bit </a:t>
            </a:r>
            <a:r>
              <a:rPr kumimoji="0" lang="el-GR" altLang="el-GR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microcomputers</a:t>
            </a:r>
            <a:r>
              <a:rPr kumimoji="0" lang="el-GR" alt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39" name="Group 6">
            <a:extLst>
              <a:ext uri="{FF2B5EF4-FFF2-40B4-BE49-F238E27FC236}">
                <a16:creationId xmlns:a16="http://schemas.microsoft.com/office/drawing/2014/main" id="{47264FD8-3A0E-BFF4-41E4-15A20486E230}"/>
              </a:ext>
            </a:extLst>
          </p:cNvPr>
          <p:cNvGrpSpPr>
            <a:grpSpLocks/>
          </p:cNvGrpSpPr>
          <p:nvPr/>
        </p:nvGrpSpPr>
        <p:grpSpPr bwMode="auto">
          <a:xfrm>
            <a:off x="2662318" y="909293"/>
            <a:ext cx="1320800" cy="292100"/>
            <a:chOff x="1396" y="1108"/>
            <a:chExt cx="832" cy="184"/>
          </a:xfrm>
        </p:grpSpPr>
        <p:sp>
          <p:nvSpPr>
            <p:cNvPr id="40" name="Rectangle 4">
              <a:extLst>
                <a:ext uri="{FF2B5EF4-FFF2-40B4-BE49-F238E27FC236}">
                  <a16:creationId xmlns:a16="http://schemas.microsoft.com/office/drawing/2014/main" id="{2BCDEAD4-4052-E495-D6A3-13BE6C6CC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108"/>
              <a:ext cx="352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1" name="Rectangle 5">
              <a:extLst>
                <a:ext uri="{FF2B5EF4-FFF2-40B4-BE49-F238E27FC236}">
                  <a16:creationId xmlns:a16="http://schemas.microsoft.com/office/drawing/2014/main" id="{F21B98E7-AC4B-736A-31E6-E4A98812E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" y="1108"/>
              <a:ext cx="352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42" name="Group 7">
            <a:extLst>
              <a:ext uri="{FF2B5EF4-FFF2-40B4-BE49-F238E27FC236}">
                <a16:creationId xmlns:a16="http://schemas.microsoft.com/office/drawing/2014/main" id="{7E43AF85-6A53-13AE-C14E-BA13D8F438CB}"/>
              </a:ext>
            </a:extLst>
          </p:cNvPr>
          <p:cNvGrpSpPr>
            <a:grpSpLocks/>
          </p:cNvGrpSpPr>
          <p:nvPr/>
        </p:nvGrpSpPr>
        <p:grpSpPr bwMode="auto">
          <a:xfrm>
            <a:off x="2509918" y="2052293"/>
            <a:ext cx="2425700" cy="292100"/>
            <a:chOff x="1204" y="1828"/>
            <a:chExt cx="1528" cy="184"/>
          </a:xfrm>
        </p:grpSpPr>
        <p:sp>
          <p:nvSpPr>
            <p:cNvPr id="43" name="Rectangle 8">
              <a:extLst>
                <a:ext uri="{FF2B5EF4-FFF2-40B4-BE49-F238E27FC236}">
                  <a16:creationId xmlns:a16="http://schemas.microsoft.com/office/drawing/2014/main" id="{C842703A-8932-1AE4-5CFA-71543DCA4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1828"/>
              <a:ext cx="232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4" name="Rectangle 9">
              <a:extLst>
                <a:ext uri="{FF2B5EF4-FFF2-40B4-BE49-F238E27FC236}">
                  <a16:creationId xmlns:a16="http://schemas.microsoft.com/office/drawing/2014/main" id="{5BBA308E-74C9-E636-DA3E-E6BF70F11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828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5" name="Rectangle 10">
              <a:extLst>
                <a:ext uri="{FF2B5EF4-FFF2-40B4-BE49-F238E27FC236}">
                  <a16:creationId xmlns:a16="http://schemas.microsoft.com/office/drawing/2014/main" id="{CE0626BF-B77E-42F2-CAA2-7DB7AEF77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" y="1828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6" name="Rectangle 11">
              <a:extLst>
                <a:ext uri="{FF2B5EF4-FFF2-40B4-BE49-F238E27FC236}">
                  <a16:creationId xmlns:a16="http://schemas.microsoft.com/office/drawing/2014/main" id="{4A4683B8-A7E6-EEF8-1C8A-CE404D498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1828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7" name="Rectangle 12">
              <a:extLst>
                <a:ext uri="{FF2B5EF4-FFF2-40B4-BE49-F238E27FC236}">
                  <a16:creationId xmlns:a16="http://schemas.microsoft.com/office/drawing/2014/main" id="{52189986-7C7E-9310-3BB0-38D257DF1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828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8" name="Rectangle 13">
              <a:extLst>
                <a:ext uri="{FF2B5EF4-FFF2-40B4-BE49-F238E27FC236}">
                  <a16:creationId xmlns:a16="http://schemas.microsoft.com/office/drawing/2014/main" id="{6A9FEA00-890C-871E-729F-0F8BFE710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1828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9" name="Rectangle 14">
              <a:extLst>
                <a:ext uri="{FF2B5EF4-FFF2-40B4-BE49-F238E27FC236}">
                  <a16:creationId xmlns:a16="http://schemas.microsoft.com/office/drawing/2014/main" id="{55308C73-873F-401C-F68D-E9EBB4B73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828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0" name="Rectangle 15">
              <a:extLst>
                <a:ext uri="{FF2B5EF4-FFF2-40B4-BE49-F238E27FC236}">
                  <a16:creationId xmlns:a16="http://schemas.microsoft.com/office/drawing/2014/main" id="{234945A0-4523-5B49-58B0-5B0E037C2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1828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51" name="Group 16">
            <a:extLst>
              <a:ext uri="{FF2B5EF4-FFF2-40B4-BE49-F238E27FC236}">
                <a16:creationId xmlns:a16="http://schemas.microsoft.com/office/drawing/2014/main" id="{548F8B53-EB47-B3E9-2A34-F6C85BE42F8F}"/>
              </a:ext>
            </a:extLst>
          </p:cNvPr>
          <p:cNvGrpSpPr>
            <a:grpSpLocks/>
          </p:cNvGrpSpPr>
          <p:nvPr/>
        </p:nvGrpSpPr>
        <p:grpSpPr bwMode="auto">
          <a:xfrm>
            <a:off x="2662318" y="3195293"/>
            <a:ext cx="4940300" cy="292100"/>
            <a:chOff x="1300" y="2596"/>
            <a:chExt cx="3112" cy="184"/>
          </a:xfrm>
        </p:grpSpPr>
        <p:sp>
          <p:nvSpPr>
            <p:cNvPr id="52" name="Rectangle 17">
              <a:extLst>
                <a:ext uri="{FF2B5EF4-FFF2-40B4-BE49-F238E27FC236}">
                  <a16:creationId xmlns:a16="http://schemas.microsoft.com/office/drawing/2014/main" id="{FB505E88-7EA6-5E97-A048-94A754273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2596"/>
              <a:ext cx="232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3" name="Rectangle 18">
              <a:extLst>
                <a:ext uri="{FF2B5EF4-FFF2-40B4-BE49-F238E27FC236}">
                  <a16:creationId xmlns:a16="http://schemas.microsoft.com/office/drawing/2014/main" id="{E8996DDF-7722-A2AF-A2CD-C07D4720D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4" name="Rectangle 19">
              <a:extLst>
                <a:ext uri="{FF2B5EF4-FFF2-40B4-BE49-F238E27FC236}">
                  <a16:creationId xmlns:a16="http://schemas.microsoft.com/office/drawing/2014/main" id="{0DB8C3F6-92F6-CBA0-B3EE-D45E7C258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5" name="Rectangle 20">
              <a:extLst>
                <a:ext uri="{FF2B5EF4-FFF2-40B4-BE49-F238E27FC236}">
                  <a16:creationId xmlns:a16="http://schemas.microsoft.com/office/drawing/2014/main" id="{FD1DBA86-13A6-FC15-3ECE-24E00EA30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6" name="Rectangle 21">
              <a:extLst>
                <a:ext uri="{FF2B5EF4-FFF2-40B4-BE49-F238E27FC236}">
                  <a16:creationId xmlns:a16="http://schemas.microsoft.com/office/drawing/2014/main" id="{59C10ED6-5B17-8E5E-DFF9-9A02B3A99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8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7" name="Rectangle 22">
              <a:extLst>
                <a:ext uri="{FF2B5EF4-FFF2-40B4-BE49-F238E27FC236}">
                  <a16:creationId xmlns:a16="http://schemas.microsoft.com/office/drawing/2014/main" id="{C093E707-8D49-71D1-F34E-73175F84E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0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8" name="Rectangle 23">
              <a:extLst>
                <a:ext uri="{FF2B5EF4-FFF2-40B4-BE49-F238E27FC236}">
                  <a16:creationId xmlns:a16="http://schemas.microsoft.com/office/drawing/2014/main" id="{357325C7-273E-6D55-4BAB-5C48F837D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9" name="Rectangle 24">
              <a:extLst>
                <a:ext uri="{FF2B5EF4-FFF2-40B4-BE49-F238E27FC236}">
                  <a16:creationId xmlns:a16="http://schemas.microsoft.com/office/drawing/2014/main" id="{1D3952C7-A609-03D3-2D0F-DAAD30778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0" name="Rectangle 25">
              <a:extLst>
                <a:ext uri="{FF2B5EF4-FFF2-40B4-BE49-F238E27FC236}">
                  <a16:creationId xmlns:a16="http://schemas.microsoft.com/office/drawing/2014/main" id="{7370D85A-2ED0-91B2-DE45-C74E53CCA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4" y="2596"/>
              <a:ext cx="232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1" name="Rectangle 26">
              <a:extLst>
                <a:ext uri="{FF2B5EF4-FFF2-40B4-BE49-F238E27FC236}">
                  <a16:creationId xmlns:a16="http://schemas.microsoft.com/office/drawing/2014/main" id="{21713AF7-8154-1518-C48E-750C8BBE3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2" name="Rectangle 27">
              <a:extLst>
                <a:ext uri="{FF2B5EF4-FFF2-40B4-BE49-F238E27FC236}">
                  <a16:creationId xmlns:a16="http://schemas.microsoft.com/office/drawing/2014/main" id="{47503EFC-6542-AA31-E511-F970A7FA4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8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3" name="Rectangle 28">
              <a:extLst>
                <a:ext uri="{FF2B5EF4-FFF2-40B4-BE49-F238E27FC236}">
                  <a16:creationId xmlns:a16="http://schemas.microsoft.com/office/drawing/2014/main" id="{3C335AEB-B74F-2C61-1CC6-46058C548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0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4" name="Rectangle 29">
              <a:extLst>
                <a:ext uri="{FF2B5EF4-FFF2-40B4-BE49-F238E27FC236}">
                  <a16:creationId xmlns:a16="http://schemas.microsoft.com/office/drawing/2014/main" id="{3DC5337E-DF69-0090-AFD2-388FA5CB1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5" name="Rectangle 30">
              <a:extLst>
                <a:ext uri="{FF2B5EF4-FFF2-40B4-BE49-F238E27FC236}">
                  <a16:creationId xmlns:a16="http://schemas.microsoft.com/office/drawing/2014/main" id="{FD4AB179-AB14-F87E-EBB2-609BAF4BA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6" name="Rectangle 31">
              <a:extLst>
                <a:ext uri="{FF2B5EF4-FFF2-40B4-BE49-F238E27FC236}">
                  <a16:creationId xmlns:a16="http://schemas.microsoft.com/office/drawing/2014/main" id="{38F48B1B-D23B-575D-B912-9169D9637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6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" name="Rectangle 32">
              <a:extLst>
                <a:ext uri="{FF2B5EF4-FFF2-40B4-BE49-F238E27FC236}">
                  <a16:creationId xmlns:a16="http://schemas.microsoft.com/office/drawing/2014/main" id="{2362BF38-8523-2E58-DEAB-6FD01BD61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2596"/>
              <a:ext cx="184" cy="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altLang="el-GR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4FC9C6D-232B-BB09-4103-520EED6AB0EE}"/>
              </a:ext>
            </a:extLst>
          </p:cNvPr>
          <p:cNvSpPr txBox="1"/>
          <p:nvPr/>
        </p:nvSpPr>
        <p:spPr>
          <a:xfrm>
            <a:off x="154745" y="5289452"/>
            <a:ext cx="11882510" cy="95410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/>
              <a:t>Κάθε </a:t>
            </a:r>
            <a:r>
              <a:rPr lang="en-US" sz="2800" dirty="0"/>
              <a:t>Byte </a:t>
            </a:r>
            <a:r>
              <a:rPr lang="el-GR" sz="2800" dirty="0"/>
              <a:t>της κύριας μνήμης έχει μια </a:t>
            </a:r>
            <a:r>
              <a:rPr lang="el-GR" sz="2800" b="1" dirty="0"/>
              <a:t>διεύθυνση,</a:t>
            </a:r>
            <a:r>
              <a:rPr lang="el-GR" sz="2800" dirty="0"/>
              <a:t> που είναι ένας αύξων αριθμός από το πρώτο έως το τελευταίο </a:t>
            </a:r>
            <a:r>
              <a:rPr lang="en-US" sz="2800" dirty="0"/>
              <a:t>byte </a:t>
            </a:r>
            <a:r>
              <a:rPr lang="el-GR" sz="2800" dirty="0"/>
              <a:t>της κύριας μνήμης.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0337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87419-B452-5172-99E0-43A32CDE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9B83415-0278-2A8F-6202-29C74898F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Διεύθυνση, τελεστής άμεσης διεύθυνσης και Δείκτης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2C349A-9815-3347-3DBB-2EE18D9C930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B665B6-0E79-CF81-D4C1-B3ADB34F853F}"/>
              </a:ext>
            </a:extLst>
          </p:cNvPr>
          <p:cNvSpPr txBox="1"/>
          <p:nvPr/>
        </p:nvSpPr>
        <p:spPr>
          <a:xfrm>
            <a:off x="140669" y="769550"/>
            <a:ext cx="11910662" cy="1569660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l-GR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Η </a:t>
            </a:r>
            <a:r>
              <a:rPr lang="en-US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 </a:t>
            </a:r>
            <a:r>
              <a:rPr lang="el-GR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μας δίνει τη δυνατότητα να πάρουμε, με τον </a:t>
            </a:r>
            <a:r>
              <a:rPr lang="el-GR" sz="2400" b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τελεστή άμεσης διεύθυνσης &amp;</a:t>
            </a:r>
            <a:r>
              <a:rPr lang="el-GR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τη διεύθυνση της μνήμης, που η δήλωση μιας μεταβλητής δέσμευσε.</a:t>
            </a: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l-GR" sz="240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Η</a:t>
            </a:r>
            <a:r>
              <a:rPr lang="el-GR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έκφραση </a:t>
            </a:r>
            <a:r>
              <a:rPr lang="el-GR" sz="2400" b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&amp;</a:t>
            </a:r>
            <a:r>
              <a:rPr lang="en-US" sz="2400" b="1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ch</a:t>
            </a:r>
            <a:r>
              <a:rPr lang="en-US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έχει τιμή τη διεύθυνση του </a:t>
            </a:r>
            <a:r>
              <a:rPr lang="en-US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byte </a:t>
            </a:r>
            <a:r>
              <a:rPr lang="el-GR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που δεσμεύθηκε στη κύρια μνήμη από τη δήλωση της μεταβλητής χαρακτήρα </a:t>
            </a:r>
            <a:r>
              <a:rPr lang="en-US" sz="24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ch</a:t>
            </a:r>
            <a:r>
              <a:rPr lang="en-US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9D3DC1-8419-8344-CB63-C5168CB0960C}"/>
              </a:ext>
            </a:extLst>
          </p:cNvPr>
          <p:cNvSpPr txBox="1"/>
          <p:nvPr/>
        </p:nvSpPr>
        <p:spPr>
          <a:xfrm>
            <a:off x="140669" y="3041463"/>
            <a:ext cx="11910662" cy="1569660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l-GR" sz="240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Τη διεύθυνση μιας μεταβλητής μπορούμε να την αποθηκεύσουμε σε μία άλλη μεταβλητή, η οποία θα πρέπει να δηλωθεί ως </a:t>
            </a:r>
            <a:r>
              <a:rPr lang="el-GR" sz="2400" b="1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μεταβλητή Δείκτη </a:t>
            </a:r>
            <a:r>
              <a:rPr lang="el-GR" sz="240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z="240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Pointer</a:t>
            </a:r>
            <a:r>
              <a:rPr lang="el-GR" sz="240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). </a:t>
            </a: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l-GR" sz="2400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Για τη δήλωση μιας μεταβλητής Δείκτη χρησιμοποιούμε πριν από το όνομα της μεταβλητής τον τελεστή *.</a:t>
            </a:r>
            <a:endParaRPr lang="en-GB" sz="2400" dirty="0">
              <a:solidFill>
                <a:srgbClr val="202122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3BC723-ADF2-2E80-FD62-EB6259F7357C}"/>
              </a:ext>
            </a:extLst>
          </p:cNvPr>
          <p:cNvSpPr txBox="1"/>
          <p:nvPr/>
        </p:nvSpPr>
        <p:spPr>
          <a:xfrm>
            <a:off x="337617" y="4966311"/>
            <a:ext cx="3718189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*</a:t>
            </a:r>
            <a:r>
              <a:rPr lang="en-GB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numPtr</a:t>
            </a:r>
            <a:r>
              <a:rPr lang="en-GB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34272EA2-5789-CFFA-A390-94D41ADA34F2}"/>
              </a:ext>
            </a:extLst>
          </p:cNvPr>
          <p:cNvSpPr/>
          <p:nvPr/>
        </p:nvSpPr>
        <p:spPr>
          <a:xfrm>
            <a:off x="4559038" y="5485388"/>
            <a:ext cx="6999923" cy="719331"/>
          </a:xfrm>
          <a:prstGeom prst="borderCallout2">
            <a:avLst>
              <a:gd name="adj1" fmla="val 47872"/>
              <a:gd name="adj2" fmla="val 496"/>
              <a:gd name="adj3" fmla="val 43357"/>
              <a:gd name="adj4" fmla="val -8320"/>
              <a:gd name="adj5" fmla="val -2158"/>
              <a:gd name="adj6" fmla="val -28212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/>
              <a:t>Δήλωση της μεταβλητής </a:t>
            </a:r>
            <a:r>
              <a:rPr lang="en-GB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numPtr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l-GR" sz="2000" b="1" dirty="0"/>
              <a:t>ως δείκτη (*) σε θέση μνήμης που δεσμεύτηκε για μεταβλητή τύπου ακεραίου (</a:t>
            </a:r>
            <a:r>
              <a:rPr lang="en-US" sz="2000" b="1" dirty="0"/>
              <a:t>int</a:t>
            </a:r>
            <a:r>
              <a:rPr lang="el-GR" sz="2000" b="1" dirty="0"/>
              <a:t>).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541409-508C-4E5D-B0FB-AE96E92AB15D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1459BFE-A7B8-2D8F-E801-87E2AB6ABE66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9B070302-F096-49C8-9BC7-3AD1A98A80B9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A10CD0-8DD8-CCF9-8B97-D228EE2C35E9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18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8" name="Θέση υποσέλιδου 4">
              <a:extLst>
                <a:ext uri="{FF2B5EF4-FFF2-40B4-BE49-F238E27FC236}">
                  <a16:creationId xmlns:a16="http://schemas.microsoft.com/office/drawing/2014/main" id="{518184A4-1EFA-4E1D-7583-FE591BE04FA7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899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114BE-F74A-CE68-32A5-3E76E9584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0CFCDBC-7D6D-3049-A3B3-3DD802E8C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Διεύθυνση, τελεστής άμεσης διεύθυνσης και Δείκτης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2B53E1-F0F6-C5FE-3E93-5D051A0D70A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pic>
        <p:nvPicPr>
          <p:cNvPr id="4" name="Picture 3" descr="A diagram of a number and a number&#10;&#10;AI-generated content may be incorrect.">
            <a:extLst>
              <a:ext uri="{FF2B5EF4-FFF2-40B4-BE49-F238E27FC236}">
                <a16:creationId xmlns:a16="http://schemas.microsoft.com/office/drawing/2014/main" id="{94E72CDC-8D4C-6E13-A881-E73F23387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65" y="938526"/>
            <a:ext cx="11635447" cy="519498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8FF08F2-D022-B7EC-2CF2-B6653C8B22A4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F0F36840-5031-9647-CCEA-EB63C80B55D5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82B55316-97E1-EEA1-A51B-1DD384956C00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4A4FE3-96FE-93F3-C39F-0C6AFC4E09ED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19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7" name="Θέση υποσέλιδου 4">
              <a:extLst>
                <a:ext uri="{FF2B5EF4-FFF2-40B4-BE49-F238E27FC236}">
                  <a16:creationId xmlns:a16="http://schemas.microsoft.com/office/drawing/2014/main" id="{CD6333AC-2164-F8BA-48F0-2904A0B75633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763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9A78C-6150-6577-2C44-DC7E2DC0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219CFEC-DB82-452B-AF1A-FDECB97A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Pointers)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CA196E-203F-F05B-FA2C-A6423DF572E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24D2D76D-A48A-81D6-FBFE-DDE4264678B6}"/>
              </a:ext>
            </a:extLst>
          </p:cNvPr>
          <p:cNvSpPr/>
          <p:nvPr/>
        </p:nvSpPr>
        <p:spPr>
          <a:xfrm>
            <a:off x="5337895" y="3716171"/>
            <a:ext cx="5633357" cy="1153177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το πρόγραμμα και ελέγξτε τη λειτουργικότητα του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AE77B8-1B35-DEA1-B788-2CF7E3A6B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3367508"/>
            <a:ext cx="4079639" cy="3003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01C0B0-1F56-027A-A0AE-C349FDDDA99B}"/>
              </a:ext>
            </a:extLst>
          </p:cNvPr>
          <p:cNvSpPr txBox="1"/>
          <p:nvPr/>
        </p:nvSpPr>
        <p:spPr>
          <a:xfrm>
            <a:off x="70337" y="769550"/>
            <a:ext cx="11980993" cy="193899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Αναπτύξτε ένα πρόγραμμα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l-G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που θα επιδεικνύει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τη δήλωση μεταβλητής Δείκτη,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την απόδοση τιμής σε αυτή ώστε να δείχνει σε ακέραια μεταβλητή που έχει δηλωθεί και στην οποία έχει αποδοθεί αρχική τιμή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την εμφάνιση της τιμής της ακέραιας μεταβλητής κάνοντας χρήση της μεταβλητής δείκτη, και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την εμφάνιση της τιμής που έχει η μεταβλητή δείκτη.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57B8D0-F747-9652-2C6A-EECF4577652B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344383B4-4B5F-092B-81AF-D4E61B37E1AE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0AE6CFC0-F64B-088E-CF94-126BA311415C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3D9D69-82B3-D4DA-5FE4-F9D386FE70A5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20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D43EEB6F-A5F8-4F8B-F405-69673EA91FF5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343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6C4A2-A878-2A19-9B9F-ACE4AF9D8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D3272F7-106D-9C9A-2D3B-A1F0EA68D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DF3ECD-67D0-DB46-F3A7-DD3717D7998A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B5A4BD-5635-1C53-3EF0-5881BACB6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8"/>
            <a:ext cx="11207100" cy="512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Η δομή της «Μηχανής» </a:t>
            </a:r>
            <a:endParaRPr lang="en-US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l-GR" sz="3200" kern="0" dirty="0">
                <a:latin typeface="Times New Roman" panose="02020603050405020304" pitchFamily="18" charset="0"/>
              </a:rPr>
              <a:t>Von Neumann Architecture, </a:t>
            </a:r>
            <a:r>
              <a:rPr lang="el-GR" altLang="el-GR" sz="3200" kern="0" dirty="0">
                <a:latin typeface="Times New Roman" panose="02020603050405020304" pitchFamily="18" charset="0"/>
              </a:rPr>
              <a:t>Γλώσσα Μηχανής</a:t>
            </a:r>
            <a:endParaRPr lang="en-US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6.1  -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AsciiCode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l-GR" kern="0" dirty="0">
                <a:latin typeface="Times New Roman" panose="02020603050405020304" pitchFamily="18" charset="0"/>
              </a:rPr>
              <a:t>O </a:t>
            </a:r>
            <a:r>
              <a:rPr lang="el-GR" altLang="el-GR" kern="0" dirty="0">
                <a:latin typeface="Times New Roman" panose="02020603050405020304" pitchFamily="18" charset="0"/>
              </a:rPr>
              <a:t>τύπος χαρακτήρα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char</a:t>
            </a:r>
            <a:r>
              <a:rPr lang="el-GR" altLang="el-GR" kern="0" dirty="0">
                <a:latin typeface="Times New Roman" panose="02020603050405020304" pitchFamily="18" charset="0"/>
              </a:rPr>
              <a:t>) και ο ASCII κώδικας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Μονάδες αποθήκευσης, Διευθύνσεις και Δείκτες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Μονάδες αποθήκευσης, Διευθύνσεις και Δείκτες</a:t>
            </a:r>
            <a:endParaRPr lang="en-US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Δραστηριότητα 6.2  - </a:t>
            </a:r>
            <a:r>
              <a:rPr lang="en-GB" alt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StringHandling</a:t>
            </a:r>
            <a:endParaRPr lang="el-GR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Συμβολοσειρά (</a:t>
            </a:r>
            <a:r>
              <a:rPr lang="el-GR" altLang="el-GR" kern="0" dirty="0" err="1">
                <a:latin typeface="Times New Roman" panose="02020603050405020304" pitchFamily="18" charset="0"/>
              </a:rPr>
              <a:t>String</a:t>
            </a:r>
            <a:r>
              <a:rPr lang="el-GR" altLang="el-GR" kern="0" dirty="0">
                <a:latin typeface="Times New Roman" panose="02020603050405020304" pitchFamily="18" charset="0"/>
              </a:rPr>
              <a:t>) και αλφαριθμητικό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Αντιστοίχιση σημειογραφίας πίνακα με σημειογραφία Δείκτη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Συναρτήσεις διαχείρισης συμβολοσειρών</a:t>
            </a: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6.3 - </a:t>
            </a:r>
            <a:r>
              <a:rPr lang="en-GB" b="1" dirty="0">
                <a:solidFill>
                  <a:srgbClr val="F9853D"/>
                </a:solidFill>
                <a:latin typeface="Bahnschrift" panose="020B0502040204020203" pitchFamily="34" charset="0"/>
              </a:rPr>
              <a:t>GetStringVersions</a:t>
            </a:r>
            <a:endParaRPr lang="el-GR" altLang="el-GR" kern="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kern="0" dirty="0">
                <a:latin typeface="Times New Roman" panose="02020603050405020304" pitchFamily="18" charset="0"/>
              </a:rPr>
              <a:t>O Alex, </a:t>
            </a:r>
            <a:r>
              <a:rPr lang="el-GR" kern="0" dirty="0">
                <a:latin typeface="Times New Roman" panose="02020603050405020304" pitchFamily="18" charset="0"/>
              </a:rPr>
              <a:t>η</a:t>
            </a:r>
            <a:r>
              <a:rPr lang="en-US" kern="0" dirty="0">
                <a:latin typeface="Times New Roman" panose="02020603050405020304" pitchFamily="18" charset="0"/>
              </a:rPr>
              <a:t> getStringV2 </a:t>
            </a:r>
            <a:r>
              <a:rPr lang="el-GR" kern="0" dirty="0">
                <a:latin typeface="Times New Roman" panose="02020603050405020304" pitchFamily="18" charset="0"/>
              </a:rPr>
              <a:t>και το </a:t>
            </a:r>
            <a:r>
              <a:rPr lang="en-US" kern="0" dirty="0">
                <a:latin typeface="Times New Roman" panose="02020603050405020304" pitchFamily="18" charset="0"/>
              </a:rPr>
              <a:t>chatbot</a:t>
            </a:r>
            <a:endParaRPr lang="en-GB" kern="0" dirty="0">
              <a:latin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EAC08C-550E-62CF-FDDB-A80B40DC6484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BF929AB3-77CD-12D9-94BB-0E94F0C6F088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Θέση υποσέλιδου 4">
              <a:extLst>
                <a:ext uri="{FF2B5EF4-FFF2-40B4-BE49-F238E27FC236}">
                  <a16:creationId xmlns:a16="http://schemas.microsoft.com/office/drawing/2014/main" id="{6500900D-4C3D-A0B6-2E04-31BF5E44D747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299E25-1BB7-10C0-9173-5FB0B1154C25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21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3" name="Θέση υποσέλιδου 4">
              <a:extLst>
                <a:ext uri="{FF2B5EF4-FFF2-40B4-BE49-F238E27FC236}">
                  <a16:creationId xmlns:a16="http://schemas.microsoft.com/office/drawing/2014/main" id="{A1424956-6B9C-F787-A4FF-2678CA1AA955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338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76807-265B-1C31-B26E-52491B003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1EB3573-045A-FBBE-863C-636D5E2F0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2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-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StringHandling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CE22E1-8ECC-752F-A58F-CBA4767D108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7E6B3E2-FA12-B0F6-6656-2C790190EDE2}"/>
              </a:ext>
            </a:extLst>
          </p:cNvPr>
          <p:cNvSpPr txBox="1">
            <a:spLocks/>
          </p:cNvSpPr>
          <p:nvPr/>
        </p:nvSpPr>
        <p:spPr bwMode="auto">
          <a:xfrm>
            <a:off x="-1" y="839666"/>
            <a:ext cx="12191999" cy="17347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Αναπτύξτε ένα πρόγραμμα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με βάση το οποίο η Μηχανή θα διαβάζει από την είσοδο το όνομα του χρήστης και στη συνέχεια θα το τυπώνει με τους παρακάτω τρόπους: </a:t>
            </a:r>
            <a:endParaRPr lang="en-US" sz="28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α) κανονικά, β) με αντίστροφη σειρά, γ) ένα χαρακτήρα ανά γραμμή, </a:t>
            </a:r>
          </a:p>
          <a:p>
            <a:pPr marL="0" indent="0">
              <a:buClr>
                <a:srgbClr val="3333CC"/>
              </a:buClr>
              <a:buNone/>
              <a:defRPr/>
            </a:pPr>
            <a:endParaRPr lang="en-US" sz="28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kern="0" dirty="0">
                <a:solidFill>
                  <a:srgbClr val="000000"/>
                </a:solidFill>
                <a:latin typeface="Tahoma"/>
              </a:rPr>
              <a:t>	</a:t>
            </a:r>
            <a:endParaRPr lang="en-US" sz="16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9030A-F4A5-77E7-83ED-74A9EEB66ECB}"/>
              </a:ext>
            </a:extLst>
          </p:cNvPr>
          <p:cNvSpPr txBox="1"/>
          <p:nvPr/>
        </p:nvSpPr>
        <p:spPr>
          <a:xfrm>
            <a:off x="70332" y="4651409"/>
            <a:ext cx="12051331" cy="107721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l-GR" sz="3200" dirty="0"/>
              <a:t>Η Δραστηριότητα έχει στόχο την εισαγωγή, την αποθήκευση και τη διαχείριση συμβολοσειρών από τη Μηχανή.  </a:t>
            </a:r>
            <a:endParaRPr lang="en-GB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0C4914-06A2-C791-EC3F-E05F8CF31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359589"/>
              </p:ext>
            </p:extLst>
          </p:nvPr>
        </p:nvGraphicFramePr>
        <p:xfrm>
          <a:off x="-2" y="2575211"/>
          <a:ext cx="1219200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1">
                  <a:extLst>
                    <a:ext uri="{9D8B030D-6E8A-4147-A177-3AD203B41FA5}">
                      <a16:colId xmlns:a16="http://schemas.microsoft.com/office/drawing/2014/main" val="875065461"/>
                    </a:ext>
                  </a:extLst>
                </a:gridCol>
                <a:gridCol w="6096001">
                  <a:extLst>
                    <a:ext uri="{9D8B030D-6E8A-4147-A177-3AD203B41FA5}">
                      <a16:colId xmlns:a16="http://schemas.microsoft.com/office/drawing/2014/main" val="1292075699"/>
                    </a:ext>
                  </a:extLst>
                </a:gridCol>
              </a:tblGrid>
              <a:tr h="256499">
                <a:tc>
                  <a:txBody>
                    <a:bodyPr/>
                    <a:lstStyle/>
                    <a:p>
                      <a:pPr marL="0" indent="0">
                        <a:buClr>
                          <a:srgbClr val="3333CC"/>
                        </a:buClr>
                        <a:buNone/>
                        <a:defRPr/>
                      </a:pPr>
                      <a:r>
                        <a:rPr lang="el-GR" sz="1800" b="0" kern="0" dirty="0">
                          <a:solidFill>
                            <a:srgbClr val="000000"/>
                          </a:solidFill>
                          <a:latin typeface="Tahoma"/>
                        </a:rPr>
                        <a:t>δ) όπως παρακάτω (για όνομα NIKOS)</a:t>
                      </a:r>
                    </a:p>
                    <a:p>
                      <a:pPr marL="0" indent="0">
                        <a:buClr>
                          <a:srgbClr val="3333CC"/>
                        </a:buClr>
                        <a:buNone/>
                        <a:defRPr/>
                      </a:pPr>
                      <a:r>
                        <a:rPr lang="el-GR" sz="1800" b="0" kern="0" dirty="0">
                          <a:solidFill>
                            <a:srgbClr val="000000"/>
                          </a:solidFill>
                          <a:latin typeface="Tahoma"/>
                        </a:rPr>
                        <a:t>NIKOS</a:t>
                      </a:r>
                    </a:p>
                    <a:p>
                      <a:pPr marL="0" indent="0">
                        <a:buClr>
                          <a:srgbClr val="3333CC"/>
                        </a:buClr>
                        <a:buNone/>
                        <a:defRPr/>
                      </a:pPr>
                      <a:r>
                        <a:rPr lang="el-GR" sz="1800" b="0" kern="0" dirty="0">
                          <a:solidFill>
                            <a:srgbClr val="000000"/>
                          </a:solidFill>
                          <a:latin typeface="Tahoma"/>
                        </a:rPr>
                        <a:t>NIKO</a:t>
                      </a:r>
                    </a:p>
                    <a:p>
                      <a:pPr marL="0" indent="0">
                        <a:buClr>
                          <a:srgbClr val="3333CC"/>
                        </a:buClr>
                        <a:buNone/>
                        <a:defRPr/>
                      </a:pPr>
                      <a:r>
                        <a:rPr lang="el-GR" sz="1800" b="0" kern="0" dirty="0">
                          <a:solidFill>
                            <a:srgbClr val="000000"/>
                          </a:solidFill>
                          <a:latin typeface="Tahoma"/>
                        </a:rPr>
                        <a:t>NIK</a:t>
                      </a:r>
                    </a:p>
                    <a:p>
                      <a:pPr marL="0" indent="0">
                        <a:buClr>
                          <a:srgbClr val="3333CC"/>
                        </a:buClr>
                        <a:buNone/>
                        <a:defRPr/>
                      </a:pPr>
                      <a:r>
                        <a:rPr lang="el-GR" sz="1800" b="0" kern="0" dirty="0">
                          <a:solidFill>
                            <a:srgbClr val="000000"/>
                          </a:solidFill>
                          <a:latin typeface="Tahoma"/>
                        </a:rPr>
                        <a:t>NI</a:t>
                      </a:r>
                    </a:p>
                    <a:p>
                      <a:pPr marL="0" indent="0">
                        <a:buClr>
                          <a:srgbClr val="3333CC"/>
                        </a:buClr>
                        <a:buNone/>
                        <a:defRPr/>
                      </a:pPr>
                      <a:r>
                        <a:rPr lang="el-GR" sz="1800" b="0" kern="0" dirty="0">
                          <a:solidFill>
                            <a:srgbClr val="000000"/>
                          </a:solidFill>
                          <a:latin typeface="Tahoma"/>
                        </a:rPr>
                        <a:t>N</a:t>
                      </a:r>
                      <a:endParaRPr lang="en-GB" b="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Clr>
                          <a:srgbClr val="3333CC"/>
                        </a:buClr>
                        <a:buNone/>
                        <a:defRPr/>
                      </a:pPr>
                      <a:r>
                        <a:rPr lang="el-GR" sz="1800" b="0" kern="0" dirty="0">
                          <a:solidFill>
                            <a:srgbClr val="000000"/>
                          </a:solidFill>
                          <a:latin typeface="Tahoma"/>
                        </a:rPr>
                        <a:t>ε) όπως παρακάτω</a:t>
                      </a:r>
                    </a:p>
                    <a:p>
                      <a:pPr marL="0" indent="0">
                        <a:buClr>
                          <a:srgbClr val="3333CC"/>
                        </a:buClr>
                        <a:buNone/>
                        <a:defRPr/>
                      </a:pPr>
                      <a:r>
                        <a:rPr lang="el-GR" sz="1800" b="0" kern="0" dirty="0">
                          <a:solidFill>
                            <a:srgbClr val="000000"/>
                          </a:solidFill>
                          <a:latin typeface="Tahoma"/>
                        </a:rPr>
                        <a:t>NIKOS</a:t>
                      </a:r>
                    </a:p>
                    <a:p>
                      <a:pPr marL="0" indent="0">
                        <a:buClr>
                          <a:srgbClr val="3333CC"/>
                        </a:buClr>
                        <a:buNone/>
                        <a:defRPr/>
                      </a:pPr>
                      <a:r>
                        <a:rPr lang="el-GR" sz="1800" b="0" kern="0" dirty="0">
                          <a:solidFill>
                            <a:srgbClr val="000000"/>
                          </a:solidFill>
                          <a:latin typeface="Tahoma"/>
                        </a:rPr>
                        <a:t>IKOS</a:t>
                      </a:r>
                    </a:p>
                    <a:p>
                      <a:pPr marL="0" indent="0">
                        <a:buClr>
                          <a:srgbClr val="3333CC"/>
                        </a:buClr>
                        <a:buNone/>
                        <a:defRPr/>
                      </a:pPr>
                      <a:r>
                        <a:rPr lang="el-GR" sz="1800" b="0" kern="0" dirty="0">
                          <a:solidFill>
                            <a:srgbClr val="000000"/>
                          </a:solidFill>
                          <a:latin typeface="Tahoma"/>
                        </a:rPr>
                        <a:t>KOS</a:t>
                      </a:r>
                    </a:p>
                    <a:p>
                      <a:pPr marL="0" indent="0">
                        <a:buClr>
                          <a:srgbClr val="3333CC"/>
                        </a:buClr>
                        <a:buNone/>
                        <a:defRPr/>
                      </a:pPr>
                      <a:r>
                        <a:rPr lang="el-GR" sz="1800" b="0" kern="0" dirty="0">
                          <a:solidFill>
                            <a:srgbClr val="000000"/>
                          </a:solidFill>
                          <a:latin typeface="Tahoma"/>
                        </a:rPr>
                        <a:t>OS</a:t>
                      </a:r>
                    </a:p>
                    <a:p>
                      <a:pPr marL="0" indent="0">
                        <a:buClr>
                          <a:srgbClr val="3333CC"/>
                        </a:buClr>
                        <a:buNone/>
                        <a:defRPr/>
                      </a:pPr>
                      <a:r>
                        <a:rPr lang="el-GR" sz="1800" b="0" kern="0" dirty="0">
                          <a:solidFill>
                            <a:srgbClr val="000000"/>
                          </a:solidFill>
                          <a:latin typeface="Tahoma"/>
                        </a:rPr>
                        <a:t>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092105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36408238-0CE0-3C1D-09F2-D876BA49B4B8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4AE70539-EAD4-1AD8-F6B8-25BA5F3F8226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Θέση υποσέλιδου 4">
              <a:extLst>
                <a:ext uri="{FF2B5EF4-FFF2-40B4-BE49-F238E27FC236}">
                  <a16:creationId xmlns:a16="http://schemas.microsoft.com/office/drawing/2014/main" id="{D29E76DD-3524-8149-8FA8-88FEAF6D7ECD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1155CD8-2D39-5F99-74B2-70E442A2B4A8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22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D3CE3ABF-3A3F-4A21-5828-85DFC2E4629A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998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BACBA-2354-47ED-F510-B58903F71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5634F6D-EF43-36BA-93FB-840762B7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Συμβολοσειρά (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String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 και αλφαριθμητικό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09F3ED-3CA7-8D47-DD5A-C6017AC4CE6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45D6C-E00A-45AE-B8DF-10263FE6C077}"/>
              </a:ext>
            </a:extLst>
          </p:cNvPr>
          <p:cNvSpPr txBox="1"/>
          <p:nvPr/>
        </p:nvSpPr>
        <p:spPr>
          <a:xfrm>
            <a:off x="140669" y="908050"/>
            <a:ext cx="11910662" cy="230832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l-GR" sz="2400" dirty="0"/>
              <a:t>Συμβολοσειρά </a:t>
            </a:r>
            <a:r>
              <a:rPr lang="el-GR" sz="2400" b="1" dirty="0"/>
              <a:t>είναι</a:t>
            </a:r>
            <a:r>
              <a:rPr lang="el-GR" sz="2400" dirty="0"/>
              <a:t> μια ακολουθία συμβόλων που ανήκουν σε ένα πεπερασμένο σύνολο, το οποίο ονομάζεται αλφάβητο. </a:t>
            </a: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l-GR" sz="2400" dirty="0"/>
              <a:t>Αν η συμβολοσειρά αποτελείται μόνο από αλφαβητικούς χαρακτήρες και αριθμούς τότε ονομάζεται αλφαριθμητικό. </a:t>
            </a: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H C </a:t>
            </a:r>
            <a:r>
              <a:rPr lang="el-GR" sz="2400" dirty="0"/>
              <a:t>δεν διαθέτει τύπο για συμβολοσειρά, αλλά χειρίζεται τις </a:t>
            </a:r>
            <a:r>
              <a:rPr lang="el-GR" sz="2400" b="1" dirty="0"/>
              <a:t>συμβολοσειρές ως πίνακες χαρακτήρων</a:t>
            </a:r>
            <a:r>
              <a:rPr lang="el-GR" sz="2400" dirty="0"/>
              <a:t>. 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FBC212-0892-8099-CE09-4844066E779C}"/>
              </a:ext>
            </a:extLst>
          </p:cNvPr>
          <p:cNvSpPr txBox="1"/>
          <p:nvPr/>
        </p:nvSpPr>
        <p:spPr>
          <a:xfrm>
            <a:off x="140670" y="3751074"/>
            <a:ext cx="11910662" cy="83099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l-GR" sz="2400" dirty="0"/>
              <a:t>Το αλφάβητο της γλώσσας C σύμφωνα με το ANSI </a:t>
            </a:r>
            <a:r>
              <a:rPr lang="en-US" sz="2400" dirty="0"/>
              <a:t>(American Standard Code for Information Interchange) </a:t>
            </a:r>
            <a:r>
              <a:rPr lang="el-GR" sz="2400" dirty="0"/>
              <a:t>πρότυπο αποτελείται από 96 χαρακτήρες. </a:t>
            </a:r>
            <a:endParaRPr lang="en-GB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1B803C-1B87-BF24-13F9-8AD7C3DCB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248" y="4567287"/>
            <a:ext cx="7963917" cy="198188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6C7E051-FF3A-ECAC-746D-BDCB51859BA4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F3689ADE-504D-4CCB-241C-069CCD493AD9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Θέση υποσέλιδου 4">
              <a:extLst>
                <a:ext uri="{FF2B5EF4-FFF2-40B4-BE49-F238E27FC236}">
                  <a16:creationId xmlns:a16="http://schemas.microsoft.com/office/drawing/2014/main" id="{96808203-1558-A3F0-6D34-237318FE5399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0297B17-25C2-57CB-5C03-C5752489384B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23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B8B78D4D-BC3A-A401-BB04-349B1560D9E6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834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1C56-5E33-C4BF-7B3F-91FB08DA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8D03DEE-B8D3-2565-523D-5A4C3CC29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Συμβολοσειρά (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String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 ως πίνακας χαρακτήρων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06C4EC-2D94-D576-4C5C-0CC4A89D9969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B005278-AB19-423D-FFB1-EFB1151CD1F1}"/>
              </a:ext>
            </a:extLst>
          </p:cNvPr>
          <p:cNvSpPr/>
          <p:nvPr/>
        </p:nvSpPr>
        <p:spPr bwMode="auto">
          <a:xfrm>
            <a:off x="8631002" y="5102313"/>
            <a:ext cx="3411557" cy="1268875"/>
          </a:xfrm>
          <a:prstGeom prst="wedgeRoundRectCallout">
            <a:avLst>
              <a:gd name="adj1" fmla="val -80469"/>
              <a:gd name="adj2" fmla="val 81854"/>
              <a:gd name="adj3" fmla="val 16667"/>
            </a:avLst>
          </a:prstGeom>
          <a:solidFill>
            <a:srgbClr val="FFCF01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l-GR" sz="2200" b="1" kern="0" dirty="0">
                <a:solidFill>
                  <a:schemeClr val="bg1"/>
                </a:solidFill>
                <a:latin typeface="Tahoma" panose="020B0604030504040204" pitchFamily="34" charset="0"/>
              </a:rPr>
              <a:t>Το </a:t>
            </a:r>
            <a:r>
              <a:rPr lang="en-GB" sz="2200" b="1" kern="0" dirty="0">
                <a:solidFill>
                  <a:schemeClr val="bg1"/>
                </a:solidFill>
                <a:latin typeface="Tahoma" panose="020B0604030504040204" pitchFamily="34" charset="0"/>
              </a:rPr>
              <a:t>name </a:t>
            </a:r>
            <a:r>
              <a:rPr lang="el-GR" sz="2200" b="1" kern="0" dirty="0">
                <a:solidFill>
                  <a:schemeClr val="bg1"/>
                </a:solidFill>
                <a:latin typeface="Tahoma" panose="020B0604030504040204" pitchFamily="34" charset="0"/>
              </a:rPr>
              <a:t>είναι η διεύθυνση στο πρώτο στοιχείο του πίνακα</a:t>
            </a:r>
            <a:endParaRPr lang="en-GB" sz="2200" b="1" kern="0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9D5A5BF-A353-6619-DAD7-E8D6C00CD722}"/>
              </a:ext>
            </a:extLst>
          </p:cNvPr>
          <p:cNvGrpSpPr/>
          <p:nvPr/>
        </p:nvGrpSpPr>
        <p:grpSpPr>
          <a:xfrm>
            <a:off x="5186464" y="2985695"/>
            <a:ext cx="3444538" cy="3385494"/>
            <a:chOff x="5186464" y="2985695"/>
            <a:chExt cx="3444538" cy="338549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52FA313-E8EB-9AF8-D383-DC10F9F62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86464" y="2985695"/>
              <a:ext cx="3444538" cy="267485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85F579-B822-86C5-64DD-5669E8A204F0}"/>
                </a:ext>
              </a:extLst>
            </p:cNvPr>
            <p:cNvSpPr txBox="1"/>
            <p:nvPr/>
          </p:nvSpPr>
          <p:spPr>
            <a:xfrm>
              <a:off x="5683804" y="5411922"/>
              <a:ext cx="1080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000000"/>
                  </a:solidFill>
                  <a:latin typeface="Tahoma" panose="020B0604030504040204" pitchFamily="34" charset="0"/>
                </a:rPr>
                <a:t>….</a:t>
              </a:r>
              <a:endParaRPr lang="el-GR" sz="24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49818B2-F01E-A7B4-C3D1-3F040E36A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20992" y="5990156"/>
              <a:ext cx="3093988" cy="381033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5AB57BB-DE71-B6EC-04BE-6FF7DD35C243}"/>
              </a:ext>
            </a:extLst>
          </p:cNvPr>
          <p:cNvSpPr txBox="1"/>
          <p:nvPr/>
        </p:nvSpPr>
        <p:spPr>
          <a:xfrm>
            <a:off x="246987" y="1752254"/>
            <a:ext cx="8245130" cy="4062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char name[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20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] =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{‘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’,’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e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’,’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l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’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,’l’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,’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o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’,’\0’};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8FEC8C-E056-A7B0-B597-6605CBF028D8}"/>
              </a:ext>
            </a:extLst>
          </p:cNvPr>
          <p:cNvSpPr txBox="1"/>
          <p:nvPr/>
        </p:nvSpPr>
        <p:spPr>
          <a:xfrm>
            <a:off x="1541257" y="2259105"/>
            <a:ext cx="7807695" cy="8309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char 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name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[] =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{‘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’,’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e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’,’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l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’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,’l’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,’</a:t>
            </a:r>
            <a:r>
              <a:rPr lang="en-US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o</a:t>
            </a:r>
            <a:r>
              <a:rPr lang="en-GB" altLang="el-GR" sz="2400" dirty="0">
                <a:solidFill>
                  <a:srgbClr val="000000"/>
                </a:solidFill>
                <a:latin typeface="Courier New" panose="02070309020205020404" pitchFamily="49" charset="0"/>
              </a:rPr>
              <a:t>’,’\0’};</a:t>
            </a:r>
            <a:endParaRPr lang="el-GR" altLang="el-GR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l-G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char </a:t>
            </a:r>
            <a:r>
              <a:rPr lang="en-US" altLang="el-G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name</a:t>
            </a:r>
            <a:r>
              <a:rPr lang="en-GB" altLang="el-G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[] = “</a:t>
            </a:r>
            <a:r>
              <a:rPr lang="en-US" altLang="el-G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hello</a:t>
            </a:r>
            <a:r>
              <a:rPr lang="en-GB" altLang="el-G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”;</a:t>
            </a:r>
            <a:endParaRPr lang="el-GR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469853FD-2374-AEDE-72BD-A0A25FC07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8021" y="1813401"/>
            <a:ext cx="1363192" cy="3455392"/>
          </a:xfrm>
          <a:prstGeom prst="curvedLeftArrow">
            <a:avLst>
              <a:gd name="adj1" fmla="val 19845"/>
              <a:gd name="adj2" fmla="val 83200"/>
              <a:gd name="adj3" fmla="val 33333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47D35F-6255-9099-5D8E-94FDFE64EAC9}"/>
              </a:ext>
            </a:extLst>
          </p:cNvPr>
          <p:cNvSpPr txBox="1"/>
          <p:nvPr/>
        </p:nvSpPr>
        <p:spPr>
          <a:xfrm>
            <a:off x="140669" y="908050"/>
            <a:ext cx="11901890" cy="70788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Για να θεωρηθεί ένας πίνακας χαρακτήρων συμβολοσειρά θα πρέπει μετά τον τελευταίο χαρακτήρα του να υπάρχει ο χαρακτήρας με </a:t>
            </a:r>
            <a:r>
              <a:rPr lang="el-GR" sz="2000" dirty="0" err="1">
                <a:solidFill>
                  <a:srgbClr val="000000"/>
                </a:solidFill>
                <a:latin typeface="Tahoma" panose="020B0604030504040204" pitchFamily="34" charset="0"/>
              </a:rPr>
              <a:t>ascii</a:t>
            </a: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 κωδικό 0, ο οποίος είναι γνωστός ως </a:t>
            </a:r>
            <a:r>
              <a:rPr lang="el-GR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χαρακτήρας </a:t>
            </a:r>
            <a:r>
              <a:rPr lang="el-GR" sz="2000" b="1" dirty="0" err="1">
                <a:solidFill>
                  <a:srgbClr val="000000"/>
                </a:solidFill>
                <a:latin typeface="Tahoma" panose="020B0604030504040204" pitchFamily="34" charset="0"/>
              </a:rPr>
              <a:t>null</a:t>
            </a:r>
            <a:r>
              <a:rPr lang="el-GR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(‘\0’)</a:t>
            </a: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  <a:endParaRPr lang="el-GR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3" name="Callout: Bent Line 22">
            <a:extLst>
              <a:ext uri="{FF2B5EF4-FFF2-40B4-BE49-F238E27FC236}">
                <a16:creationId xmlns:a16="http://schemas.microsoft.com/office/drawing/2014/main" id="{34CB29DB-EF71-21F8-DE13-E4CDEAE8CF60}"/>
              </a:ext>
            </a:extLst>
          </p:cNvPr>
          <p:cNvSpPr/>
          <p:nvPr/>
        </p:nvSpPr>
        <p:spPr>
          <a:xfrm>
            <a:off x="246986" y="4100199"/>
            <a:ext cx="3799616" cy="1849751"/>
          </a:xfrm>
          <a:prstGeom prst="borderCallout2">
            <a:avLst>
              <a:gd name="adj1" fmla="val 3950"/>
              <a:gd name="adj2" fmla="val 14328"/>
              <a:gd name="adj3" fmla="val -81966"/>
              <a:gd name="adj4" fmla="val 15735"/>
              <a:gd name="adj5" fmla="val -82358"/>
              <a:gd name="adj6" fmla="val 33195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dirty="0"/>
              <a:t>Δεσμεύουν χώρο για τον αριθμό των </a:t>
            </a:r>
            <a:r>
              <a:rPr lang="el-GR" sz="2400" b="1" dirty="0"/>
              <a:t>χαρακτήρων</a:t>
            </a:r>
            <a:r>
              <a:rPr lang="el-GR" sz="2000" b="1" dirty="0"/>
              <a:t> συν ένα για τον χαρακτήρα ‘\0’. Στην περίπτωση μας 6 (5+1).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A22ECAD-B079-CA64-5707-012CD93BC6DB}"/>
              </a:ext>
            </a:extLst>
          </p:cNvPr>
          <p:cNvCxnSpPr/>
          <p:nvPr/>
        </p:nvCxnSpPr>
        <p:spPr>
          <a:xfrm>
            <a:off x="1524000" y="2259105"/>
            <a:ext cx="0" cy="707886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67F0E40-20F9-3514-A3C1-713B2415774E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27" name="Rectangle 14">
              <a:extLst>
                <a:ext uri="{FF2B5EF4-FFF2-40B4-BE49-F238E27FC236}">
                  <a16:creationId xmlns:a16="http://schemas.microsoft.com/office/drawing/2014/main" id="{6F84D4AD-F1A8-F932-C50F-5270D35C7EEF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Θέση υποσέλιδου 4">
              <a:extLst>
                <a:ext uri="{FF2B5EF4-FFF2-40B4-BE49-F238E27FC236}">
                  <a16:creationId xmlns:a16="http://schemas.microsoft.com/office/drawing/2014/main" id="{070B192C-5CC6-250D-7791-AD7B7B412330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3D26BCF-E9DD-3AE2-B087-0988149A54F7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24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30" name="Θέση υποσέλιδου 4">
              <a:extLst>
                <a:ext uri="{FF2B5EF4-FFF2-40B4-BE49-F238E27FC236}">
                  <a16:creationId xmlns:a16="http://schemas.microsoft.com/office/drawing/2014/main" id="{4E446842-4BDA-FC42-6894-47D4301DD8D0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82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78F6-CE4D-C2D2-6D48-566D039D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45C7BBB-402E-9934-5C40-FDBA7950C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Είσοδος και έξοδος συμβολοσειράς 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883C8B-E218-FDD6-1950-00C12F1250B6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E0A23-5344-6EE7-730B-0C36272D59CF}"/>
              </a:ext>
            </a:extLst>
          </p:cNvPr>
          <p:cNvSpPr txBox="1"/>
          <p:nvPr/>
        </p:nvSpPr>
        <p:spPr>
          <a:xfrm>
            <a:off x="140669" y="958269"/>
            <a:ext cx="11746531" cy="181588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l-GR" sz="2800" dirty="0"/>
              <a:t>Για </a:t>
            </a:r>
            <a:r>
              <a:rPr lang="el-GR" sz="2800" b="1" dirty="0"/>
              <a:t>έξοδο συμβολοσειράς</a:t>
            </a:r>
            <a:r>
              <a:rPr lang="el-GR" sz="2800" dirty="0"/>
              <a:t> χρησιμοποιούμε τη γενική συνάρτηση εξόδου </a:t>
            </a:r>
            <a:r>
              <a:rPr lang="en-US" sz="2800" b="1" dirty="0"/>
              <a:t>printf</a:t>
            </a:r>
            <a:r>
              <a:rPr lang="en-US" sz="2800" dirty="0"/>
              <a:t> </a:t>
            </a:r>
            <a:r>
              <a:rPr lang="el-GR" sz="2800" dirty="0"/>
              <a:t>με τον </a:t>
            </a:r>
            <a:r>
              <a:rPr lang="el-GR" sz="2800" b="1" dirty="0"/>
              <a:t>προσδιοριστή %</a:t>
            </a:r>
            <a:r>
              <a:rPr lang="en-US" sz="2800" b="1" dirty="0"/>
              <a:t>s</a:t>
            </a:r>
            <a:r>
              <a:rPr lang="el-GR" sz="2800" dirty="0"/>
              <a:t>. </a:t>
            </a:r>
            <a:endParaRPr lang="en-US" sz="2800" dirty="0"/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H </a:t>
            </a:r>
            <a:r>
              <a:rPr lang="el-GR" sz="2800" dirty="0"/>
              <a:t>συνάρτηση τυπώνει στην κύρια έξοδο τους χαρακτήρες της συμβολοσειράς μέχρι να συναντήσει τον χαρακτήρα </a:t>
            </a:r>
            <a:r>
              <a:rPr lang="en-US" sz="2800" dirty="0"/>
              <a:t>null</a:t>
            </a:r>
            <a:r>
              <a:rPr lang="el-GR" sz="2800" dirty="0"/>
              <a:t>. </a:t>
            </a:r>
            <a:endParaRPr lang="en-GB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1108A-1077-068D-98FF-4287963E9566}"/>
              </a:ext>
            </a:extLst>
          </p:cNvPr>
          <p:cNvSpPr txBox="1"/>
          <p:nvPr/>
        </p:nvSpPr>
        <p:spPr>
          <a:xfrm>
            <a:off x="140668" y="4006568"/>
            <a:ext cx="11746531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400" dirty="0"/>
              <a:t>Για </a:t>
            </a:r>
            <a:r>
              <a:rPr lang="el-GR" sz="2400" b="1" dirty="0"/>
              <a:t>είσοδο συμβολοσειράς</a:t>
            </a:r>
            <a:r>
              <a:rPr lang="el-GR" sz="2400" dirty="0"/>
              <a:t> δίνουμε τρείς συναρτήσεις :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2A8B6-8E10-FEE1-0C45-7213630FF7E4}"/>
              </a:ext>
            </a:extLst>
          </p:cNvPr>
          <p:cNvSpPr txBox="1"/>
          <p:nvPr/>
        </p:nvSpPr>
        <p:spPr>
          <a:xfrm>
            <a:off x="363403" y="4664261"/>
            <a:ext cx="117465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b="1" dirty="0"/>
              <a:t>getStringV1 </a:t>
            </a:r>
            <a:r>
              <a:rPr lang="el-GR" sz="2800" dirty="0"/>
              <a:t>(της i2p βιβλιοθήκης)</a:t>
            </a:r>
            <a:endParaRPr lang="en-GB" sz="2800" dirty="0"/>
          </a:p>
          <a:p>
            <a:pPr lvl="0"/>
            <a:r>
              <a:rPr lang="en-US" sz="2800" b="1" dirty="0"/>
              <a:t>getStringV2 </a:t>
            </a:r>
            <a:r>
              <a:rPr lang="el-GR" sz="2800" dirty="0"/>
              <a:t>(της i2p βιβλιοθήκης)</a:t>
            </a:r>
            <a:endParaRPr lang="en-GB" sz="2800" dirty="0"/>
          </a:p>
          <a:p>
            <a:pPr lvl="0"/>
            <a:r>
              <a:rPr lang="en-US" sz="2800" b="1" dirty="0" err="1"/>
              <a:t>scanf</a:t>
            </a:r>
            <a:r>
              <a:rPr lang="en-US" sz="2800" b="1" dirty="0"/>
              <a:t>		</a:t>
            </a:r>
            <a:r>
              <a:rPr lang="el-GR" sz="2800" dirty="0"/>
              <a:t>(της τυπικής βιβλιοθήκης)</a:t>
            </a:r>
            <a:endParaRPr lang="en-GB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688AF8-AA39-B0C7-584F-5C005FECD782}"/>
              </a:ext>
            </a:extLst>
          </p:cNvPr>
          <p:cNvSpPr txBox="1"/>
          <p:nvPr/>
        </p:nvSpPr>
        <p:spPr>
          <a:xfrm>
            <a:off x="363403" y="2941918"/>
            <a:ext cx="6280484" cy="10156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2800" dirty="0"/>
              <a:t>char </a:t>
            </a:r>
            <a:r>
              <a:rPr lang="en-US" sz="2800" dirty="0"/>
              <a:t>message</a:t>
            </a:r>
            <a:r>
              <a:rPr lang="en-GB" sz="2800" dirty="0"/>
              <a:t>[20] = {‘</a:t>
            </a:r>
            <a:r>
              <a:rPr lang="en-GB" sz="2800" dirty="0" err="1"/>
              <a:t>h’,’e’,’l’,’l’,’o</a:t>
            </a:r>
            <a:r>
              <a:rPr lang="en-GB" sz="2800" dirty="0"/>
              <a:t>’,’\0’};</a:t>
            </a:r>
          </a:p>
          <a:p>
            <a:r>
              <a:rPr lang="en-GB" sz="3200" b="1" dirty="0" err="1">
                <a:solidFill>
                  <a:srgbClr val="C00000"/>
                </a:solidFill>
              </a:rPr>
              <a:t>printf</a:t>
            </a:r>
            <a:r>
              <a:rPr lang="en-GB" sz="3200" dirty="0"/>
              <a:t>(“message is </a:t>
            </a:r>
            <a:r>
              <a:rPr lang="en-GB" sz="3200" b="1" dirty="0">
                <a:solidFill>
                  <a:srgbClr val="C00000"/>
                </a:solidFill>
              </a:rPr>
              <a:t>%s</a:t>
            </a:r>
            <a:r>
              <a:rPr lang="en-GB" sz="3200" dirty="0"/>
              <a:t>\n”, message);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DDF8AF7-FE45-5FD4-74FE-D65C05B83918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7118CF0-91A9-532A-7A6F-C638D5684DAE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8634C3A6-B5BC-1175-6160-424D286ABEC3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2E4857-BA26-5921-A8DD-52A61A65D28C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25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8" name="Θέση υποσέλιδου 4">
              <a:extLst>
                <a:ext uri="{FF2B5EF4-FFF2-40B4-BE49-F238E27FC236}">
                  <a16:creationId xmlns:a16="http://schemas.microsoft.com/office/drawing/2014/main" id="{6E26B0E5-DED8-EA61-234A-4DE0674F6177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835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D82A2-CB54-D8B8-BB1D-B9E17304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8E61A0C-7ABE-2750-8807-4A0DBC872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getStringV1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9A997-B473-1479-D3BC-ECE7F664F6D8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D7A32-3637-387B-8C66-9409E5CCE1F2}"/>
              </a:ext>
            </a:extLst>
          </p:cNvPr>
          <p:cNvSpPr txBox="1"/>
          <p:nvPr/>
        </p:nvSpPr>
        <p:spPr>
          <a:xfrm>
            <a:off x="202353" y="1494479"/>
            <a:ext cx="11848978" cy="230832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400" dirty="0"/>
              <a:t>όπου: </a:t>
            </a: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/>
              <a:t>message</a:t>
            </a:r>
            <a:r>
              <a:rPr lang="en-US" sz="2400" i="1" dirty="0"/>
              <a:t> </a:t>
            </a:r>
            <a:r>
              <a:rPr lang="el-GR" sz="2400" dirty="0"/>
              <a:t>είναι ένα μήνυμα το οποίο θα εμφανίσει για να ενημερώσει τον χρήστη για το είδος της εισόδου που ζητείται (είναι ανάλογο με το όρισμα που δέχεται η </a:t>
            </a:r>
            <a:r>
              <a:rPr lang="en-US" sz="2400" dirty="0" err="1"/>
              <a:t>getInt</a:t>
            </a:r>
            <a:r>
              <a:rPr lang="el-GR" sz="2400" dirty="0"/>
              <a:t>), και,</a:t>
            </a: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i="1" dirty="0"/>
              <a:t>str</a:t>
            </a:r>
            <a:r>
              <a:rPr lang="en-US" sz="2400" dirty="0"/>
              <a:t> </a:t>
            </a:r>
            <a:r>
              <a:rPr lang="el-GR" sz="2400" dirty="0"/>
              <a:t>είναι η μεταβλητή στην οποία θα αποθηκευτεί η είσοδος που θα δώσει ο χρήστης. </a:t>
            </a:r>
            <a:endParaRPr lang="en-US" sz="2400" dirty="0"/>
          </a:p>
          <a:p>
            <a:r>
              <a:rPr lang="el-GR" sz="2400" dirty="0"/>
              <a:t>Η συνάρτηση τοποθετεί μετά τον τελευταίο χαρακτήρα τον χαρακτήρα </a:t>
            </a:r>
            <a:r>
              <a:rPr lang="en-US" sz="2400" dirty="0"/>
              <a:t>null</a:t>
            </a:r>
            <a:r>
              <a:rPr lang="el-GR" sz="2400" dirty="0"/>
              <a:t> που σηματοδοτεί το τέλος της συμβολοσειράς. 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25F863-ED40-E503-AE78-4F6D4CE6CCF4}"/>
              </a:ext>
            </a:extLst>
          </p:cNvPr>
          <p:cNvSpPr txBox="1"/>
          <p:nvPr/>
        </p:nvSpPr>
        <p:spPr>
          <a:xfrm>
            <a:off x="1747654" y="809448"/>
            <a:ext cx="7971533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/>
              <a:t>void </a:t>
            </a:r>
            <a:r>
              <a:rPr lang="en-US" sz="3200" b="1" dirty="0"/>
              <a:t>getStringV1</a:t>
            </a:r>
            <a:r>
              <a:rPr lang="en-US" sz="3200" dirty="0"/>
              <a:t>(char message[], char str[]);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D81777-544F-0957-335C-50A0984B5FD2}"/>
              </a:ext>
            </a:extLst>
          </p:cNvPr>
          <p:cNvSpPr txBox="1"/>
          <p:nvPr/>
        </p:nvSpPr>
        <p:spPr>
          <a:xfrm>
            <a:off x="140669" y="4057971"/>
            <a:ext cx="11910662" cy="224676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/>
              <a:t>Είναι </a:t>
            </a:r>
            <a:r>
              <a:rPr lang="el-GR" sz="2800" b="1" dirty="0"/>
              <a:t>ευθύνη του προγραμματιστή</a:t>
            </a:r>
            <a:r>
              <a:rPr lang="el-GR" sz="2800" dirty="0"/>
              <a:t>: </a:t>
            </a:r>
            <a:endParaRPr lang="en-GB" sz="2800" dirty="0"/>
          </a:p>
          <a:p>
            <a:pPr marL="514350" lvl="0" indent="-514350">
              <a:buFont typeface="+mj-lt"/>
              <a:buAutoNum type="arabicPeriod"/>
            </a:pPr>
            <a:r>
              <a:rPr lang="el-GR" sz="2800" dirty="0"/>
              <a:t>να δηλώσει, πριν από τη κλήση της συνάρτησης, τη μεταβλητή στην οποία θα αποθηκεύσει την είσοδο, και </a:t>
            </a:r>
            <a:endParaRPr lang="en-GB" sz="2800" dirty="0"/>
          </a:p>
          <a:p>
            <a:pPr marL="514350" lvl="0" indent="-514350">
              <a:buFont typeface="+mj-lt"/>
              <a:buAutoNum type="arabicPeriod"/>
            </a:pPr>
            <a:r>
              <a:rPr lang="el-GR" sz="2800" dirty="0"/>
              <a:t>να έχει ορίσει μέγεθος ικανό για την αποθήκευση του μέγιστου μήκους της εισόδου, συν ένα παραπάνω για τον χαρακτήρα </a:t>
            </a:r>
            <a:r>
              <a:rPr lang="en-US" sz="2800" dirty="0"/>
              <a:t>null</a:t>
            </a:r>
            <a:r>
              <a:rPr lang="el-GR" sz="2800" dirty="0"/>
              <a:t>. </a:t>
            </a:r>
            <a:endParaRPr lang="en-GB" sz="2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0E57638-F12A-F1C6-A92E-8E57B417B510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A6E407E6-11AA-4186-F43D-A1138B8E61EA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Θέση υποσέλιδου 4">
              <a:extLst>
                <a:ext uri="{FF2B5EF4-FFF2-40B4-BE49-F238E27FC236}">
                  <a16:creationId xmlns:a16="http://schemas.microsoft.com/office/drawing/2014/main" id="{3A8CF80E-ECE1-357E-77A6-3F76A415D78A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04C533-2BB6-0066-732A-FB93222BB0C3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26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9CAFD5BE-E7A4-884E-A35B-03635EB9ADBA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615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0EDF-423D-6F1A-0A91-84D9D2EAE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6EEEA38-91ED-99E8-CB75-EE4160CD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getStringV2  - </a:t>
            </a:r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scanf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F5402B-EBC5-1658-31BB-1E44163E612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238FC8-D80C-20B1-EE4D-6F72F9C90AE9}"/>
              </a:ext>
            </a:extLst>
          </p:cNvPr>
          <p:cNvSpPr txBox="1"/>
          <p:nvPr/>
        </p:nvSpPr>
        <p:spPr>
          <a:xfrm>
            <a:off x="202353" y="1429768"/>
            <a:ext cx="11666320" cy="200054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400" dirty="0"/>
              <a:t>όπου: </a:t>
            </a:r>
            <a:endParaRPr lang="en-GB" sz="2400" dirty="0"/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sz="2400" b="1" i="1" dirty="0"/>
              <a:t>message</a:t>
            </a:r>
            <a:r>
              <a:rPr lang="en-US" sz="2400" i="1" dirty="0"/>
              <a:t> </a:t>
            </a:r>
            <a:r>
              <a:rPr lang="el-GR" sz="2400" dirty="0"/>
              <a:t>είναι ένα μήνυμα το οποίο θα εμφανίσει για να ενημερώσει τον χρήστη για το είδος της εισόδου που ζητείται (είναι ανάλογο με το όρισμα που δέχεται η </a:t>
            </a:r>
            <a:r>
              <a:rPr lang="en-US" sz="2400" dirty="0" err="1"/>
              <a:t>getInt</a:t>
            </a:r>
            <a:r>
              <a:rPr lang="el-GR" sz="2400" dirty="0"/>
              <a:t>), </a:t>
            </a:r>
            <a:endParaRPr lang="en-GB" sz="2400" dirty="0"/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sz="2400" b="1" i="1" dirty="0"/>
              <a:t>str</a:t>
            </a:r>
            <a:r>
              <a:rPr lang="en-US" sz="2400" dirty="0"/>
              <a:t> </a:t>
            </a:r>
            <a:r>
              <a:rPr lang="el-GR" sz="2400" dirty="0"/>
              <a:t>είναι η μεταβλητή στην οποία θα αποθηκευτεί η είσοδος που θα δώσει ο χρήστης</a:t>
            </a:r>
            <a:r>
              <a:rPr lang="en-US" sz="2400" dirty="0"/>
              <a:t> </a:t>
            </a:r>
            <a:r>
              <a:rPr lang="el-GR" sz="2400" dirty="0"/>
              <a:t>και,</a:t>
            </a:r>
            <a:endParaRPr lang="en-US" sz="2400" dirty="0"/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sv-SE" sz="2400" b="1" dirty="0"/>
              <a:t>strSize</a:t>
            </a:r>
            <a:r>
              <a:rPr lang="sv-SE" sz="2400" dirty="0"/>
              <a:t> </a:t>
            </a:r>
            <a:r>
              <a:rPr lang="el-GR" sz="2400" dirty="0"/>
              <a:t>είναι ο μέγιστος αριθμός των στοιχείων που μπορεί να δεχθεί ο πίνακας </a:t>
            </a:r>
            <a:r>
              <a:rPr lang="el-GR" sz="2400" dirty="0" err="1"/>
              <a:t>str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BEECA-1B81-486D-4A9C-A1478838DBD2}"/>
              </a:ext>
            </a:extLst>
          </p:cNvPr>
          <p:cNvSpPr txBox="1"/>
          <p:nvPr/>
        </p:nvSpPr>
        <p:spPr>
          <a:xfrm>
            <a:off x="1402310" y="814517"/>
            <a:ext cx="9387378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sv-SE" sz="3200" dirty="0"/>
              <a:t>void </a:t>
            </a:r>
            <a:r>
              <a:rPr lang="sv-SE" sz="3200" b="1" dirty="0"/>
              <a:t>getStringV2</a:t>
            </a:r>
            <a:r>
              <a:rPr lang="sv-SE" sz="3200" dirty="0"/>
              <a:t>(char message[],char str[], int strSize);</a:t>
            </a:r>
            <a:endParaRPr lang="en-GB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22C1-1C2D-A0C1-7EC8-88D2B52DBA78}"/>
              </a:ext>
            </a:extLst>
          </p:cNvPr>
          <p:cNvSpPr txBox="1"/>
          <p:nvPr/>
        </p:nvSpPr>
        <p:spPr>
          <a:xfrm>
            <a:off x="202353" y="4875318"/>
            <a:ext cx="11666320" cy="15696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l-GR" sz="2400" dirty="0"/>
              <a:t>Η συνάρτηση τοποθετεί μετά τον τελευταίο χαρακτήρα τον χαρακτήρα </a:t>
            </a:r>
            <a:r>
              <a:rPr lang="en-US" sz="2400" dirty="0"/>
              <a:t>null</a:t>
            </a:r>
            <a:r>
              <a:rPr lang="el-GR" sz="2400" dirty="0"/>
              <a:t> που σηματοδοτεί το τέλος της συμβολοσειράς. </a:t>
            </a:r>
            <a:endParaRPr lang="en-US" sz="2400" dirty="0"/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l-GR" sz="2400" dirty="0"/>
              <a:t>Δεν παρέχει προστασία από την εισαγωγή περισσότερων χαρακτήρων όπως κάνει η </a:t>
            </a:r>
            <a:r>
              <a:rPr lang="en-GB" sz="2400" dirty="0" err="1"/>
              <a:t>getStringV</a:t>
            </a:r>
            <a:r>
              <a:rPr lang="en-US" sz="2400" dirty="0"/>
              <a:t>2</a:t>
            </a:r>
            <a:r>
              <a:rPr lang="el-GR" sz="2400" dirty="0"/>
              <a:t>.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576F68-8007-9A43-CF30-825797410FE1}"/>
              </a:ext>
            </a:extLst>
          </p:cNvPr>
          <p:cNvSpPr txBox="1"/>
          <p:nvPr/>
        </p:nvSpPr>
        <p:spPr>
          <a:xfrm>
            <a:off x="202353" y="3916232"/>
            <a:ext cx="5470357" cy="7078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 err="1"/>
              <a:t>scanf</a:t>
            </a:r>
            <a:r>
              <a:rPr lang="el-GR" sz="4000" dirty="0"/>
              <a:t>(“%</a:t>
            </a:r>
            <a:r>
              <a:rPr lang="en-US" sz="4000" dirty="0"/>
              <a:t>s</a:t>
            </a:r>
            <a:r>
              <a:rPr lang="el-GR" sz="4000" dirty="0"/>
              <a:t>”, </a:t>
            </a:r>
            <a:r>
              <a:rPr lang="en-US" sz="4000" dirty="0"/>
              <a:t>message</a:t>
            </a:r>
            <a:r>
              <a:rPr lang="el-GR" sz="4000" dirty="0"/>
              <a:t>);</a:t>
            </a:r>
            <a:endParaRPr lang="en-GB" sz="4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33C555-EF20-4E5F-6320-8A05A47203D0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8A00C90F-BCA1-AFED-418F-628F8BE1CEFB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C0DBBFE5-8BA5-C087-5B44-746ABC4B2B61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15B6021-E52D-D366-B7DE-C797CAD7D597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27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7" name="Θέση υποσέλιδου 4">
              <a:extLst>
                <a:ext uri="{FF2B5EF4-FFF2-40B4-BE49-F238E27FC236}">
                  <a16:creationId xmlns:a16="http://schemas.microsoft.com/office/drawing/2014/main" id="{31CA57C3-85FF-A847-D5B1-6A1A87CEFA1A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048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FD326-5CBC-A33D-A22D-78B7FF3B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5981E9E-B7B1-3C6F-E2D4-0C1F01B6A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StringHandling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9A9BD7-7B82-74ED-8505-13BB8ED2453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B854F88-6240-9908-C50B-D7D3B6AE467F}"/>
              </a:ext>
            </a:extLst>
          </p:cNvPr>
          <p:cNvSpPr/>
          <p:nvPr/>
        </p:nvSpPr>
        <p:spPr>
          <a:xfrm>
            <a:off x="5474744" y="3367508"/>
            <a:ext cx="5633357" cy="1978776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Αναπτύξτε το πρόγραμμα και ελέγξτε τη συμπεριφορά και των τριών συναρτήσεων δίνοντας περισσότερους χαρακτήρες από αυτούς που δεσμεύσατε για το όνομα</a:t>
            </a:r>
            <a:endParaRPr lang="en-GB" sz="2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B6BCDD-A596-5156-401B-051CE280D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3367508"/>
            <a:ext cx="4079639" cy="3003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38C1EE-91F8-6E06-7863-D1A0C548AED9}"/>
              </a:ext>
            </a:extLst>
          </p:cNvPr>
          <p:cNvSpPr txBox="1"/>
          <p:nvPr/>
        </p:nvSpPr>
        <p:spPr>
          <a:xfrm>
            <a:off x="70337" y="769550"/>
            <a:ext cx="11980993" cy="15696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Δράση 6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 </a:t>
            </a:r>
            <a:r>
              <a:rPr lang="el-GR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StringHandling</a:t>
            </a:r>
            <a:endParaRPr lang="el-GR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Αναπτύξετε το πρόγραμμα που ικανοποιεί τις απαιτήσεις της Δραστηριότητας </a:t>
            </a:r>
            <a:r>
              <a:rPr lang="el-GR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StringHandling</a:t>
            </a:r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Δοκιμάστε και τις τρεις συναρτήσεις εισόδου (</a:t>
            </a:r>
            <a:r>
              <a:rPr lang="el-GR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scanf</a:t>
            </a:r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getStringV1, getStringV2).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35D80AF-07BA-D98B-9D82-110AD6C96BE1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F8C9141B-FE27-B425-42B6-641D6FFAF6A3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8CF8E490-47BE-073E-2EB5-532357EB596F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4C6A75E-30BC-3E68-E9CF-3D1A5F75E924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28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74438D7F-735B-69F5-C401-070E92B1300F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725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3A7D1-23A6-1236-4630-9008C3A8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1B9BE84-9E8D-7DE8-3B2E-DC4BA23D0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74821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Αντιστοίχιση σημειογραφίας πίνακα με σημειογραφία Δείκτη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631CA4-6FF0-DEDF-DC46-5D0933F74878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E49FD-FFFE-5FBD-8865-9DEFF43EE0DC}"/>
              </a:ext>
            </a:extLst>
          </p:cNvPr>
          <p:cNvSpPr txBox="1"/>
          <p:nvPr/>
        </p:nvSpPr>
        <p:spPr>
          <a:xfrm>
            <a:off x="140669" y="1147094"/>
            <a:ext cx="11910662" cy="5170646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/>
              <a:t>Η </a:t>
            </a:r>
            <a:r>
              <a:rPr lang="en-US" sz="2800" dirty="0"/>
              <a:t>C </a:t>
            </a:r>
            <a:r>
              <a:rPr lang="el-GR" sz="2800" dirty="0"/>
              <a:t>θεωρεί το όνομα του πίνακα ως δείκτη που δείχνει το πρώτο στοιχείο του πίνακα. Έτσι αν</a:t>
            </a:r>
          </a:p>
          <a:p>
            <a:endParaRPr lang="el-GR" sz="2800" dirty="0"/>
          </a:p>
          <a:p>
            <a:r>
              <a:rPr lang="el-GR" dirty="0"/>
              <a:t>	</a:t>
            </a:r>
            <a:r>
              <a:rPr lang="en-US" sz="3600" dirty="0"/>
              <a:t>char name</a:t>
            </a:r>
            <a:r>
              <a:rPr lang="el-GR" sz="3600" dirty="0"/>
              <a:t>[12] = "</a:t>
            </a:r>
            <a:r>
              <a:rPr lang="en-US" sz="3600" dirty="0" err="1"/>
              <a:t>klea</a:t>
            </a:r>
            <a:r>
              <a:rPr lang="el-GR" sz="3600" dirty="0"/>
              <a:t>";</a:t>
            </a:r>
            <a:endParaRPr lang="en-GB" dirty="0"/>
          </a:p>
          <a:p>
            <a:endParaRPr lang="el-GR" dirty="0"/>
          </a:p>
          <a:p>
            <a:r>
              <a:rPr lang="el-GR" sz="2800" dirty="0"/>
              <a:t>και</a:t>
            </a:r>
          </a:p>
          <a:p>
            <a:r>
              <a:rPr lang="el-GR" dirty="0"/>
              <a:t>	</a:t>
            </a:r>
            <a:r>
              <a:rPr lang="en-US" sz="3600" dirty="0"/>
              <a:t>char</a:t>
            </a:r>
            <a:r>
              <a:rPr lang="el-GR" sz="3600" dirty="0"/>
              <a:t> *</a:t>
            </a:r>
            <a:r>
              <a:rPr lang="en-US" sz="3600" dirty="0" err="1"/>
              <a:t>namePtr</a:t>
            </a:r>
            <a:r>
              <a:rPr lang="el-GR" sz="3600" dirty="0"/>
              <a:t> = </a:t>
            </a:r>
            <a:r>
              <a:rPr lang="en-US" sz="3600" dirty="0"/>
              <a:t>name</a:t>
            </a:r>
            <a:r>
              <a:rPr lang="el-GR" sz="3600" dirty="0"/>
              <a:t>;</a:t>
            </a:r>
            <a:endParaRPr lang="en-GB" sz="3600" dirty="0"/>
          </a:p>
          <a:p>
            <a:r>
              <a:rPr lang="el-GR" sz="2800" dirty="0"/>
              <a:t>η πρόταση </a:t>
            </a:r>
            <a:endParaRPr lang="en-GB" sz="2800" dirty="0"/>
          </a:p>
          <a:p>
            <a:r>
              <a:rPr lang="el-GR" dirty="0"/>
              <a:t>	</a:t>
            </a:r>
            <a:r>
              <a:rPr lang="en-US" sz="3600" dirty="0"/>
              <a:t>printf</a:t>
            </a:r>
            <a:r>
              <a:rPr lang="el-GR" sz="3600" dirty="0"/>
              <a:t>("</a:t>
            </a:r>
            <a:r>
              <a:rPr lang="el-GR" sz="3600" b="1" dirty="0"/>
              <a:t>%</a:t>
            </a:r>
            <a:r>
              <a:rPr lang="en-US" sz="3600" b="1" dirty="0"/>
              <a:t>c</a:t>
            </a:r>
            <a:r>
              <a:rPr lang="el-GR" sz="3600" dirty="0"/>
              <a:t>\</a:t>
            </a:r>
            <a:r>
              <a:rPr lang="en-US" sz="3600" dirty="0"/>
              <a:t>n</a:t>
            </a:r>
            <a:r>
              <a:rPr lang="el-GR" sz="3600" dirty="0"/>
              <a:t>", </a:t>
            </a:r>
            <a:r>
              <a:rPr lang="el-GR" sz="3600" b="1" dirty="0">
                <a:solidFill>
                  <a:srgbClr val="FF0000"/>
                </a:solidFill>
              </a:rPr>
              <a:t>*</a:t>
            </a:r>
            <a:r>
              <a:rPr lang="en-US" sz="3600" b="1" dirty="0" err="1">
                <a:solidFill>
                  <a:srgbClr val="FF0000"/>
                </a:solidFill>
              </a:rPr>
              <a:t>namePtr</a:t>
            </a:r>
            <a:r>
              <a:rPr lang="el-GR" sz="3600" dirty="0"/>
              <a:t>);</a:t>
            </a:r>
            <a:endParaRPr lang="en-GB" sz="3600" dirty="0"/>
          </a:p>
          <a:p>
            <a:r>
              <a:rPr lang="el-GR" sz="2800" dirty="0"/>
              <a:t>τυπώνει το πρώτο στοιχείο του πίνακα, και είναι ισοδύναμη με την </a:t>
            </a:r>
            <a:endParaRPr lang="en-GB" sz="2800" dirty="0"/>
          </a:p>
          <a:p>
            <a:r>
              <a:rPr lang="el-GR" dirty="0"/>
              <a:t>     	</a:t>
            </a:r>
            <a:r>
              <a:rPr lang="en-US" sz="3600" dirty="0"/>
              <a:t>printf("</a:t>
            </a:r>
            <a:r>
              <a:rPr lang="en-US" sz="3600" b="1" dirty="0"/>
              <a:t>%c</a:t>
            </a:r>
            <a:r>
              <a:rPr lang="en-US" sz="3600" dirty="0"/>
              <a:t>\n", </a:t>
            </a:r>
            <a:r>
              <a:rPr lang="en-US" sz="3600" b="1" dirty="0">
                <a:solidFill>
                  <a:srgbClr val="FF0000"/>
                </a:solidFill>
              </a:rPr>
              <a:t>name[0]);</a:t>
            </a:r>
            <a:endParaRPr lang="en-GB" sz="3600" b="1" dirty="0">
              <a:solidFill>
                <a:srgbClr val="FF0000"/>
              </a:solidFill>
            </a:endParaRPr>
          </a:p>
        </p:txBody>
      </p:sp>
      <p:sp>
        <p:nvSpPr>
          <p:cNvPr id="6" name="Callout: Bent Line 5">
            <a:extLst>
              <a:ext uri="{FF2B5EF4-FFF2-40B4-BE49-F238E27FC236}">
                <a16:creationId xmlns:a16="http://schemas.microsoft.com/office/drawing/2014/main" id="{589C3D69-9D16-A74D-CEC7-D215BCC5DA0B}"/>
              </a:ext>
            </a:extLst>
          </p:cNvPr>
          <p:cNvSpPr/>
          <p:nvPr/>
        </p:nvSpPr>
        <p:spPr>
          <a:xfrm>
            <a:off x="7433849" y="3185799"/>
            <a:ext cx="4308972" cy="1849751"/>
          </a:xfrm>
          <a:prstGeom prst="borderCallout2">
            <a:avLst>
              <a:gd name="adj1" fmla="val 51649"/>
              <a:gd name="adj2" fmla="val -27"/>
              <a:gd name="adj3" fmla="val 24707"/>
              <a:gd name="adj4" fmla="val -23530"/>
              <a:gd name="adj5" fmla="val 46862"/>
              <a:gd name="adj6" fmla="val -44617"/>
            </a:avLst>
          </a:prstGeom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b="1" dirty="0"/>
              <a:t>Η πρόταση δηλώνει τη μεταβλητή </a:t>
            </a:r>
            <a:r>
              <a:rPr lang="en-GB" sz="2400" b="1" dirty="0" err="1"/>
              <a:t>namePtr</a:t>
            </a:r>
            <a:r>
              <a:rPr lang="el-GR" sz="2400" b="1" dirty="0"/>
              <a:t> ως δείκτη σε χαρακτήρα και την  βάζει να δείχνει στον πρώτο χαρακτήρα της συμβολοσειράς  </a:t>
            </a:r>
            <a:r>
              <a:rPr lang="en-GB" sz="2400" b="1" dirty="0"/>
              <a:t>name</a:t>
            </a:r>
            <a:endParaRPr lang="el-GR" sz="2400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A9B2B5-723D-AF72-798F-F4839EAAAF8E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6F6AAFD8-5DB0-6BCE-67A2-0A142540B46A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F8D21A6B-719F-D11F-04BF-181C7772ED54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B73611-6E63-3C04-76FD-706BC2E5EB24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29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4" name="Θέση υποσέλιδου 4">
              <a:extLst>
                <a:ext uri="{FF2B5EF4-FFF2-40B4-BE49-F238E27FC236}">
                  <a16:creationId xmlns:a16="http://schemas.microsoft.com/office/drawing/2014/main" id="{3401087A-8787-33DD-1E8D-446A045C3947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017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F98E-4C02-2DFC-B268-D62793E88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A14D092-9DA3-DB2E-2DBD-D35B57615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74821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Αντιστοίχιση σημειογραφίας πίνακα με σημειογραφία Δείκτη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4A792B-2FEE-3384-E553-C8503B59712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7FCB1-751A-24A5-2572-94B8B3FCF719}"/>
              </a:ext>
            </a:extLst>
          </p:cNvPr>
          <p:cNvSpPr txBox="1"/>
          <p:nvPr/>
        </p:nvSpPr>
        <p:spPr>
          <a:xfrm>
            <a:off x="80181" y="1236835"/>
            <a:ext cx="9785713" cy="206210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for(int </a:t>
            </a:r>
            <a:r>
              <a:rPr lang="en-GB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=0;name[</a:t>
            </a:r>
            <a:r>
              <a:rPr lang="en-GB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]!=0;i++){</a:t>
            </a:r>
          </a:p>
          <a:p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("\t\</a:t>
            </a:r>
            <a:r>
              <a:rPr lang="en-GB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t%c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\n", *</a:t>
            </a:r>
            <a:r>
              <a:rPr lang="en-GB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namePtr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l-GR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namePtr</a:t>
            </a:r>
            <a:r>
              <a:rPr lang="el-GR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r>
              <a:rPr lang="el-GR" sz="3200" dirty="0"/>
              <a:t>  // </a:t>
            </a:r>
            <a:r>
              <a:rPr lang="el-GR" sz="3200" dirty="0" err="1"/>
              <a:t>name</a:t>
            </a:r>
            <a:r>
              <a:rPr lang="el-GR" sz="3200" dirty="0"/>
              <a:t>++ </a:t>
            </a:r>
            <a:r>
              <a:rPr lang="el-GR" sz="3200" dirty="0" err="1"/>
              <a:t>not</a:t>
            </a:r>
            <a:r>
              <a:rPr lang="el-GR" sz="3200" dirty="0"/>
              <a:t> </a:t>
            </a:r>
            <a:r>
              <a:rPr lang="el-GR" sz="3200" dirty="0" err="1"/>
              <a:t>valid</a:t>
            </a:r>
            <a:endParaRPr lang="en-GB" sz="3200" dirty="0"/>
          </a:p>
          <a:p>
            <a:r>
              <a:rPr lang="el-GR" sz="3200" dirty="0"/>
              <a:t>    }</a:t>
            </a:r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908DD-AC7B-78F6-CB40-83A6AE838989}"/>
              </a:ext>
            </a:extLst>
          </p:cNvPr>
          <p:cNvSpPr txBox="1"/>
          <p:nvPr/>
        </p:nvSpPr>
        <p:spPr>
          <a:xfrm>
            <a:off x="80181" y="5209563"/>
            <a:ext cx="9785713" cy="107721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for(int </a:t>
            </a:r>
            <a:r>
              <a:rPr lang="en-GB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=0;name[</a:t>
            </a:r>
            <a:r>
              <a:rPr lang="en-GB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]!=0;i++)</a:t>
            </a:r>
          </a:p>
          <a:p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("\</a:t>
            </a:r>
            <a:r>
              <a:rPr lang="en-GB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t%c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\n", </a:t>
            </a:r>
            <a:r>
              <a:rPr lang="en-GB" sz="3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*(</a:t>
            </a:r>
            <a:r>
              <a:rPr lang="en-GB" sz="3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name+i</a:t>
            </a:r>
            <a:r>
              <a:rPr lang="en-GB" sz="3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l-GR" sz="3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212A31-933F-5CA3-F55B-66707E393951}"/>
              </a:ext>
            </a:extLst>
          </p:cNvPr>
          <p:cNvGrpSpPr/>
          <p:nvPr/>
        </p:nvGrpSpPr>
        <p:grpSpPr>
          <a:xfrm>
            <a:off x="5710989" y="3561347"/>
            <a:ext cx="6340342" cy="1508105"/>
            <a:chOff x="5710989" y="3561347"/>
            <a:chExt cx="6340342" cy="150810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6C05EC-A141-2E26-1827-27DE2442FB96}"/>
                </a:ext>
              </a:extLst>
            </p:cNvPr>
            <p:cNvSpPr txBox="1"/>
            <p:nvPr/>
          </p:nvSpPr>
          <p:spPr>
            <a:xfrm>
              <a:off x="5710989" y="3561347"/>
              <a:ext cx="6340342" cy="1508105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name[</a:t>
              </a:r>
              <a:r>
                <a:rPr lang="en-US" sz="3600" b="1" dirty="0" err="1"/>
                <a:t>i</a:t>
              </a:r>
              <a:r>
                <a:rPr lang="en-US" sz="3600" b="1" dirty="0"/>
                <a:t>] </a:t>
              </a:r>
              <a:r>
                <a:rPr lang="el-GR" sz="3600" b="1" dirty="0"/>
                <a:t>	</a:t>
              </a:r>
              <a:r>
                <a:rPr lang="en-US" sz="3600" b="1" dirty="0"/>
                <a:t> </a:t>
              </a:r>
              <a:r>
                <a:rPr lang="el-GR" sz="3600" b="1" dirty="0"/>
                <a:t>		</a:t>
              </a:r>
              <a:r>
                <a:rPr lang="en-US" sz="3600" b="1" dirty="0"/>
                <a:t>*(</a:t>
              </a:r>
              <a:r>
                <a:rPr lang="en-US" sz="3600" b="1" dirty="0" err="1"/>
                <a:t>name+i</a:t>
              </a:r>
              <a:r>
                <a:rPr lang="en-US" sz="3600" b="1" dirty="0"/>
                <a:t>)</a:t>
              </a:r>
              <a:endParaRPr lang="el-GR" sz="3600" b="1" dirty="0"/>
            </a:p>
            <a:p>
              <a:endParaRPr lang="en-GB" sz="2000" b="1" dirty="0"/>
            </a:p>
            <a:p>
              <a:r>
                <a:rPr lang="en-US" sz="3600" b="1" dirty="0"/>
                <a:t>&amp;name[</a:t>
              </a:r>
              <a:r>
                <a:rPr lang="en-US" sz="3600" b="1" dirty="0" err="1"/>
                <a:t>i</a:t>
              </a:r>
              <a:r>
                <a:rPr lang="en-US" sz="3600" b="1" dirty="0"/>
                <a:t>] </a:t>
              </a:r>
              <a:r>
                <a:rPr lang="el-GR" sz="3600" b="1" dirty="0"/>
                <a:t>		</a:t>
              </a:r>
              <a:r>
                <a:rPr lang="en-US" sz="3600" b="1" dirty="0" err="1"/>
                <a:t>name+i</a:t>
              </a:r>
              <a:r>
                <a:rPr lang="en-US" sz="3600" b="1" dirty="0"/>
                <a:t>  </a:t>
              </a:r>
              <a:endParaRPr lang="en-GB" sz="3600" b="1" dirty="0"/>
            </a:p>
          </p:txBody>
        </p:sp>
        <p:sp>
          <p:nvSpPr>
            <p:cNvPr id="12" name="Arrow: Left-Right 11">
              <a:extLst>
                <a:ext uri="{FF2B5EF4-FFF2-40B4-BE49-F238E27FC236}">
                  <a16:creationId xmlns:a16="http://schemas.microsoft.com/office/drawing/2014/main" id="{C0775E63-2E66-014B-151E-6516B75F8B16}"/>
                </a:ext>
              </a:extLst>
            </p:cNvPr>
            <p:cNvSpPr/>
            <p:nvPr/>
          </p:nvSpPr>
          <p:spPr>
            <a:xfrm>
              <a:off x="7730463" y="4594979"/>
              <a:ext cx="1241809" cy="301971"/>
            </a:xfrm>
            <a:prstGeom prst="left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C00DE4F4-0AAB-D230-3975-939B0FC1E8CE}"/>
                </a:ext>
              </a:extLst>
            </p:cNvPr>
            <p:cNvSpPr/>
            <p:nvPr/>
          </p:nvSpPr>
          <p:spPr>
            <a:xfrm>
              <a:off x="7730463" y="3813821"/>
              <a:ext cx="1241809" cy="301971"/>
            </a:xfrm>
            <a:prstGeom prst="left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3DCB7D-4E29-6F71-32E9-AC66A74BD4B9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7B165795-BD55-7929-793F-17D8F2CC7C92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Θέση υποσέλιδου 4">
              <a:extLst>
                <a:ext uri="{FF2B5EF4-FFF2-40B4-BE49-F238E27FC236}">
                  <a16:creationId xmlns:a16="http://schemas.microsoft.com/office/drawing/2014/main" id="{5F70A02B-A9C7-EA84-9100-42B64C733251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44991ED-1E1C-DF59-A299-0A8AFF3F739E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30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9" name="Θέση υποσέλιδου 4">
              <a:extLst>
                <a:ext uri="{FF2B5EF4-FFF2-40B4-BE49-F238E27FC236}">
                  <a16:creationId xmlns:a16="http://schemas.microsoft.com/office/drawing/2014/main" id="{88A5E4CE-8D7E-1D27-FCEB-335A702D53A6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471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D215F-A5DA-9287-580F-6A97F72D3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2AE9EE-B94D-3D99-4A1B-CD115F52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Συναρτήσεις διαχείρισης συμβολοσειρών</a:t>
            </a:r>
            <a:endParaRPr lang="en-GB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F591A5-417C-B6A1-6DDD-63DCD6C0121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C4AD9-8CF0-C803-01D0-7BAF17D84E79}"/>
              </a:ext>
            </a:extLst>
          </p:cNvPr>
          <p:cNvSpPr txBox="1"/>
          <p:nvPr/>
        </p:nvSpPr>
        <p:spPr>
          <a:xfrm>
            <a:off x="140669" y="1168981"/>
            <a:ext cx="11599047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char *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strcat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(char *string1, </a:t>
            </a:r>
            <a:r>
              <a:rPr lang="en-US" sz="2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char *string2);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6ED8E7-FBF3-6BCB-D48D-10D7D8EABDAF}"/>
              </a:ext>
            </a:extLst>
          </p:cNvPr>
          <p:cNvSpPr txBox="1"/>
          <p:nvPr/>
        </p:nvSpPr>
        <p:spPr>
          <a:xfrm>
            <a:off x="140669" y="2122132"/>
            <a:ext cx="11599047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(const char *string1, const char *string2);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E5A8E-22E7-21D0-DAF7-62EC1174B56D}"/>
              </a:ext>
            </a:extLst>
          </p:cNvPr>
          <p:cNvSpPr txBox="1"/>
          <p:nvPr/>
        </p:nvSpPr>
        <p:spPr>
          <a:xfrm>
            <a:off x="193104" y="3059668"/>
            <a:ext cx="11222147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l-G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l-G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l-GR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l-G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l-G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l-G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*string1, </a:t>
            </a:r>
            <a:r>
              <a:rPr lang="el-G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l-G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l-G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l-G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*string2);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252A6B-32B2-5356-8145-C3D6CF96F847}"/>
              </a:ext>
            </a:extLst>
          </p:cNvPr>
          <p:cNvSpPr txBox="1"/>
          <p:nvPr/>
        </p:nvSpPr>
        <p:spPr>
          <a:xfrm>
            <a:off x="193104" y="4019114"/>
            <a:ext cx="11546611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l-GR" sz="28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char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*</a:t>
            </a:r>
            <a:r>
              <a:rPr lang="el-GR" sz="2800" b="1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strncat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l-GR" sz="28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char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*s1,const </a:t>
            </a:r>
            <a:r>
              <a:rPr lang="el-GR" sz="28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char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*s2,</a:t>
            </a:r>
            <a:r>
              <a:rPr lang="el-GR" sz="28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size_t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l-GR" sz="28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count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FC2E2F-0B5A-D1A7-6422-77F7A7831BBA}"/>
              </a:ext>
            </a:extLst>
          </p:cNvPr>
          <p:cNvSpPr txBox="1"/>
          <p:nvPr/>
        </p:nvSpPr>
        <p:spPr>
          <a:xfrm>
            <a:off x="193105" y="5046557"/>
            <a:ext cx="11858226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l-GR" sz="28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char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*</a:t>
            </a:r>
            <a:r>
              <a:rPr lang="el-GR" sz="2800" b="1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strncpy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l-GR" sz="28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char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*s1, </a:t>
            </a:r>
            <a:r>
              <a:rPr lang="el-GR" sz="28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l-GR" sz="28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char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*s2, </a:t>
            </a:r>
            <a:r>
              <a:rPr lang="el-GR" sz="28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size_t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l-GR" sz="2800" dirty="0" err="1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count</a:t>
            </a:r>
            <a:r>
              <a:rPr lang="el-GR" sz="2800" dirty="0">
                <a:solidFill>
                  <a:srgbClr val="202122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46306C-69A8-6F39-F2B2-C8E4E1139493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07E345B4-B7A1-4A28-A942-161956A31D6E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Θέση υποσέλιδου 4">
              <a:extLst>
                <a:ext uri="{FF2B5EF4-FFF2-40B4-BE49-F238E27FC236}">
                  <a16:creationId xmlns:a16="http://schemas.microsoft.com/office/drawing/2014/main" id="{B94BC297-3C61-E70F-E0D5-0C6A176D1735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015B58-44EE-83E2-2426-8955B9FE1AB4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31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20" name="Θέση υποσέλιδου 4">
              <a:extLst>
                <a:ext uri="{FF2B5EF4-FFF2-40B4-BE49-F238E27FC236}">
                  <a16:creationId xmlns:a16="http://schemas.microsoft.com/office/drawing/2014/main" id="{B02AA101-35CE-9DC6-812B-E7D564CB0C2D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11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3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ECBA8-738D-90D7-4648-EACD866F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D4DD593A-2D0E-A863-2FB6-9D07F9576FF2}"/>
              </a:ext>
            </a:extLst>
          </p:cNvPr>
          <p:cNvSpPr/>
          <p:nvPr/>
        </p:nvSpPr>
        <p:spPr>
          <a:xfrm>
            <a:off x="140669" y="6559908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353C9818-37BF-7320-C535-29E31F10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UsingStringhFunctions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66670231-0EB1-99E2-5CC8-A21A22A76B0B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F52DF-4C74-2A26-1A3E-36A9C991BF8C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DA6A4E-15E8-B4EB-978C-E5CFF6990877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AE98AFEA-BC9F-3950-29E3-A2FE46AE4911}"/>
              </a:ext>
            </a:extLst>
          </p:cNvPr>
          <p:cNvSpPr/>
          <p:nvPr/>
        </p:nvSpPr>
        <p:spPr>
          <a:xfrm>
            <a:off x="4616246" y="3367508"/>
            <a:ext cx="6491856" cy="1764931"/>
          </a:xfrm>
          <a:prstGeom prst="wedgeRoundRectCallout">
            <a:avLst>
              <a:gd name="adj1" fmla="val -59222"/>
              <a:gd name="adj2" fmla="val 7949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Αναπτύξτε το πρόγραμμα και χρησιμοποιήστε τον τελεστή </a:t>
            </a:r>
            <a:r>
              <a:rPr lang="en-US" sz="32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sizeof</a:t>
            </a:r>
            <a:r>
              <a:rPr lang="en-US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.</a:t>
            </a:r>
          </a:p>
          <a:p>
            <a:pPr algn="ctr"/>
            <a:r>
              <a:rPr lang="el-GR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Αξιοποιήστε τον τύπο </a:t>
            </a:r>
            <a:r>
              <a:rPr lang="en-US" sz="32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size_t</a:t>
            </a:r>
            <a:r>
              <a:rPr lang="en-US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.</a:t>
            </a:r>
            <a:endParaRPr lang="en-GB" sz="3200" b="1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BD8CB6-9A80-57A0-92F2-7DD2F698F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3367508"/>
            <a:ext cx="4079639" cy="3003681"/>
          </a:xfrm>
          <a:prstGeom prst="rect">
            <a:avLst/>
          </a:prstGeom>
        </p:spPr>
      </p:pic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B88C2664-4988-4CA0-338A-DF100EDE4D60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Von Neumann Architecture - Strings - Pointers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F35977-8092-588B-B244-B09AF52AE5CF}"/>
              </a:ext>
            </a:extLst>
          </p:cNvPr>
          <p:cNvSpPr txBox="1"/>
          <p:nvPr/>
        </p:nvSpPr>
        <p:spPr>
          <a:xfrm>
            <a:off x="70337" y="769550"/>
            <a:ext cx="11980993" cy="120032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Δράση 6.5 </a:t>
            </a:r>
            <a:r>
              <a:rPr lang="el-GR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UsingStringhFunctions</a:t>
            </a:r>
            <a:endParaRPr lang="el-GR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Αναπτύξτε ένα πρόγραμμα που θα επιδεικνύει τη χρήση συναρτήσεων της </a:t>
            </a:r>
            <a:r>
              <a:rPr lang="el-GR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string.h</a:t>
            </a:r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Ξεκινήστε από αυτές των οποίων έχουμε ήδη παραθέσει τις δηλώσεις των. </a:t>
            </a:r>
          </a:p>
        </p:txBody>
      </p:sp>
    </p:spTree>
    <p:extLst>
      <p:ext uri="{BB962C8B-B14F-4D97-AF65-F5344CB8AC3E}">
        <p14:creationId xmlns:p14="http://schemas.microsoft.com/office/powerpoint/2010/main" val="142658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7FAD-C8E7-50B0-20C7-CD0FCC49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54B90CB-6E96-C1A8-94DF-1105D3D5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72B292-E737-2111-A7B1-7A04874A9A56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5F53D3-A491-FE1C-A78B-914D7D559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9" y="914698"/>
            <a:ext cx="11207100" cy="512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Η δομή της «Μηχανής» </a:t>
            </a:r>
            <a:endParaRPr lang="en-US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l-GR" sz="3200" kern="0" dirty="0">
                <a:latin typeface="Times New Roman" panose="02020603050405020304" pitchFamily="18" charset="0"/>
              </a:rPr>
              <a:t>Von Neumann Architecture, </a:t>
            </a:r>
            <a:r>
              <a:rPr lang="el-GR" altLang="el-GR" sz="3200" kern="0" dirty="0">
                <a:latin typeface="Times New Roman" panose="02020603050405020304" pitchFamily="18" charset="0"/>
              </a:rPr>
              <a:t>Γλώσσα Μηχανής</a:t>
            </a:r>
            <a:endParaRPr lang="en-US" altLang="el-GR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6.1  -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AsciiCode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l-GR" kern="0" dirty="0">
                <a:latin typeface="Times New Roman" panose="02020603050405020304" pitchFamily="18" charset="0"/>
              </a:rPr>
              <a:t>O </a:t>
            </a:r>
            <a:r>
              <a:rPr lang="el-GR" altLang="el-GR" kern="0" dirty="0">
                <a:latin typeface="Times New Roman" panose="02020603050405020304" pitchFamily="18" charset="0"/>
              </a:rPr>
              <a:t>τύπος χαρακτήρα (</a:t>
            </a:r>
            <a:r>
              <a:rPr lang="el-GR" altLang="el-GR" kern="0" dirty="0" err="1">
                <a:latin typeface="Times New Roman" panose="02020603050405020304" pitchFamily="18" charset="0"/>
              </a:rPr>
              <a:t>char</a:t>
            </a:r>
            <a:r>
              <a:rPr lang="el-GR" altLang="el-GR" kern="0" dirty="0">
                <a:latin typeface="Times New Roman" panose="02020603050405020304" pitchFamily="18" charset="0"/>
              </a:rPr>
              <a:t>) και ο ASCII κώδικας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Μονάδες αποθήκευσης, Διευθύνσεις και Δείκτες</a:t>
            </a: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Μονάδες αποθήκευσης, Διευθύνσεις και Δείκτες</a:t>
            </a:r>
            <a:endParaRPr lang="en-US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6.2  - </a:t>
            </a:r>
            <a:r>
              <a:rPr lang="en-GB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StringHandling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Συμβολοσειρά (</a:t>
            </a:r>
            <a:r>
              <a:rPr lang="el-GR" altLang="el-GR" kern="0" dirty="0" err="1">
                <a:latin typeface="Times New Roman" panose="02020603050405020304" pitchFamily="18" charset="0"/>
              </a:rPr>
              <a:t>String</a:t>
            </a:r>
            <a:r>
              <a:rPr lang="el-GR" altLang="el-GR" kern="0" dirty="0">
                <a:latin typeface="Times New Roman" panose="02020603050405020304" pitchFamily="18" charset="0"/>
              </a:rPr>
              <a:t>) και αλφαριθμητικό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Αντιστοίχιση σημειογραφίας πίνακα με σημειογραφία Δείκτη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kern="0" dirty="0">
                <a:latin typeface="Times New Roman" panose="02020603050405020304" pitchFamily="18" charset="0"/>
              </a:rPr>
              <a:t>Συναρτήσεις διαχείρισης συμβολοσειρών</a:t>
            </a:r>
          </a:p>
          <a:p>
            <a:pPr eaLnBrk="1" hangingPunct="1">
              <a:lnSpc>
                <a:spcPct val="80000"/>
              </a:lnSpc>
            </a:pPr>
            <a:r>
              <a:rPr lang="el-GR" b="1" dirty="0">
                <a:solidFill>
                  <a:srgbClr val="C00000"/>
                </a:solidFill>
                <a:latin typeface="Bahnschrift" panose="020B0502040204020203" pitchFamily="34" charset="0"/>
              </a:rPr>
              <a:t>Δραστηριότητα 6.3 - </a:t>
            </a:r>
            <a:r>
              <a:rPr lang="en-GB" b="1" dirty="0">
                <a:solidFill>
                  <a:srgbClr val="C00000"/>
                </a:solidFill>
                <a:latin typeface="Bahnschrift" panose="020B0502040204020203" pitchFamily="34" charset="0"/>
              </a:rPr>
              <a:t>GetStringVersions</a:t>
            </a:r>
            <a:endParaRPr lang="el-GR" altLang="el-GR" kern="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kern="0" dirty="0">
                <a:latin typeface="Times New Roman" panose="02020603050405020304" pitchFamily="18" charset="0"/>
              </a:rPr>
              <a:t>O Alex, </a:t>
            </a:r>
            <a:r>
              <a:rPr lang="el-GR" kern="0" dirty="0">
                <a:latin typeface="Times New Roman" panose="02020603050405020304" pitchFamily="18" charset="0"/>
              </a:rPr>
              <a:t>η</a:t>
            </a:r>
            <a:r>
              <a:rPr lang="en-US" kern="0" dirty="0">
                <a:latin typeface="Times New Roman" panose="02020603050405020304" pitchFamily="18" charset="0"/>
              </a:rPr>
              <a:t> getStringV2 </a:t>
            </a:r>
            <a:r>
              <a:rPr lang="el-GR" kern="0" dirty="0">
                <a:latin typeface="Times New Roman" panose="02020603050405020304" pitchFamily="18" charset="0"/>
              </a:rPr>
              <a:t>και το </a:t>
            </a:r>
            <a:r>
              <a:rPr lang="en-US" kern="0" dirty="0">
                <a:latin typeface="Times New Roman" panose="02020603050405020304" pitchFamily="18" charset="0"/>
              </a:rPr>
              <a:t>chatbot</a:t>
            </a:r>
            <a:endParaRPr lang="en-GB" kern="0" dirty="0">
              <a:latin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3414FD2-2061-ED16-D12D-9B7E6C2FF41F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191383E6-CC92-1C76-015B-E894242EAF72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Θέση υποσέλιδου 4">
              <a:extLst>
                <a:ext uri="{FF2B5EF4-FFF2-40B4-BE49-F238E27FC236}">
                  <a16:creationId xmlns:a16="http://schemas.microsoft.com/office/drawing/2014/main" id="{9A9FB2E4-F403-BB6C-9E23-C63DFAE5A005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D84E2E0-7495-6736-49C2-D6067353F123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33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3" name="Θέση υποσέλιδου 4">
              <a:extLst>
                <a:ext uri="{FF2B5EF4-FFF2-40B4-BE49-F238E27FC236}">
                  <a16:creationId xmlns:a16="http://schemas.microsoft.com/office/drawing/2014/main" id="{4063DD4B-5FC5-4D1F-9260-6C6EF6F7FEDA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769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4930F-8DAE-CF40-868B-423AF2A38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58DDD42-BA7D-4F35-2F47-AD65A298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Δραστηριότητα 6.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3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-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GetStringVersions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A6732F-1024-7599-178E-B0595F0CF398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A42E906-2EBA-DBF0-FE75-3CE098515257}"/>
              </a:ext>
            </a:extLst>
          </p:cNvPr>
          <p:cNvSpPr txBox="1">
            <a:spLocks/>
          </p:cNvSpPr>
          <p:nvPr/>
        </p:nvSpPr>
        <p:spPr bwMode="auto">
          <a:xfrm>
            <a:off x="-1" y="839666"/>
            <a:ext cx="12191999" cy="10876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b="1" kern="0" dirty="0">
                <a:solidFill>
                  <a:srgbClr val="000000"/>
                </a:solidFill>
                <a:latin typeface="Tahoma"/>
              </a:rPr>
              <a:t>Αναπτύξτε ένα πρόγραμμα 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που θα ορίζει και θα επιδεικνύει τη χρήση των δύο εκδόσεων της </a:t>
            </a:r>
            <a:r>
              <a:rPr lang="el-GR" sz="2800" b="1" kern="0" dirty="0" err="1">
                <a:solidFill>
                  <a:srgbClr val="000000"/>
                </a:solidFill>
                <a:latin typeface="Tahoma"/>
              </a:rPr>
              <a:t>getString</a:t>
            </a:r>
            <a:r>
              <a:rPr lang="el-GR" sz="2800" kern="0" dirty="0">
                <a:solidFill>
                  <a:srgbClr val="000000"/>
                </a:solidFill>
                <a:latin typeface="Tahoma"/>
              </a:rPr>
              <a:t> με τις δηλώσεις που δίνονται παρακάτω: </a:t>
            </a:r>
            <a:endParaRPr lang="en-GB" dirty="0"/>
          </a:p>
          <a:p>
            <a:pPr marL="0" indent="0">
              <a:buClr>
                <a:srgbClr val="3333CC"/>
              </a:buClr>
              <a:buNone/>
              <a:defRPr/>
            </a:pPr>
            <a:endParaRPr lang="en-US" sz="28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800" kern="0" dirty="0">
                <a:solidFill>
                  <a:srgbClr val="000000"/>
                </a:solidFill>
                <a:latin typeface="Tahoma"/>
              </a:rPr>
              <a:t>	</a:t>
            </a:r>
            <a:endParaRPr lang="en-US" sz="16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20E7F-00B5-21E1-C72E-020EDF4DF484}"/>
              </a:ext>
            </a:extLst>
          </p:cNvPr>
          <p:cNvSpPr txBox="1"/>
          <p:nvPr/>
        </p:nvSpPr>
        <p:spPr>
          <a:xfrm>
            <a:off x="-1" y="2212265"/>
            <a:ext cx="12191998" cy="1031051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rgbClr val="3333CC"/>
              </a:buClr>
              <a:defRPr/>
            </a:pPr>
            <a:r>
              <a:rPr lang="sv-SE" sz="2800" u="sng" kern="0" dirty="0">
                <a:solidFill>
                  <a:srgbClr val="000000"/>
                </a:solidFill>
                <a:latin typeface="Tahoma"/>
              </a:rPr>
              <a:t>getString</a:t>
            </a:r>
            <a:r>
              <a:rPr lang="el-GR" sz="2800" u="sng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sv-SE" sz="2800" u="sng" kern="0" dirty="0">
                <a:solidFill>
                  <a:srgbClr val="000000"/>
                </a:solidFill>
                <a:latin typeface="Tahoma"/>
              </a:rPr>
              <a:t>V</a:t>
            </a:r>
            <a:r>
              <a:rPr lang="en-US" sz="2800" u="sng" kern="0" dirty="0" err="1">
                <a:solidFill>
                  <a:srgbClr val="000000"/>
                </a:solidFill>
                <a:latin typeface="Tahoma"/>
              </a:rPr>
              <a:t>ersion</a:t>
            </a:r>
            <a:r>
              <a:rPr lang="en-US" sz="2800" u="sng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sv-SE" sz="2800" u="sng" kern="0" dirty="0">
                <a:solidFill>
                  <a:srgbClr val="000000"/>
                </a:solidFill>
                <a:latin typeface="Tahoma"/>
              </a:rPr>
              <a:t>1</a:t>
            </a: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sv-SE" sz="28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getStringV1(char message[], char str[]);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C9D33D9-E7BF-28B5-7FF6-B39EDCAA434A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08C8F3A6-B5E7-1250-B32C-6C5A0EEA0273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Θέση υποσέλιδου 4">
              <a:extLst>
                <a:ext uri="{FF2B5EF4-FFF2-40B4-BE49-F238E27FC236}">
                  <a16:creationId xmlns:a16="http://schemas.microsoft.com/office/drawing/2014/main" id="{A848CE59-60C9-0D87-1360-4470BA28B291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2A2033-292B-40ED-CABC-819EC919BF38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34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4" name="Θέση υποσέλιδου 4">
              <a:extLst>
                <a:ext uri="{FF2B5EF4-FFF2-40B4-BE49-F238E27FC236}">
                  <a16:creationId xmlns:a16="http://schemas.microsoft.com/office/drawing/2014/main" id="{5736A518-ECC4-AEA2-DFBA-6D9EF92A0F37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BE6824D-1AE0-C9EF-3EAD-E9B40CB926F2}"/>
              </a:ext>
            </a:extLst>
          </p:cNvPr>
          <p:cNvSpPr txBox="1"/>
          <p:nvPr/>
        </p:nvSpPr>
        <p:spPr>
          <a:xfrm>
            <a:off x="2" y="3634754"/>
            <a:ext cx="12191998" cy="2569934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rgbClr val="3333CC"/>
              </a:buClr>
              <a:defRPr/>
            </a:pPr>
            <a:r>
              <a:rPr lang="sv-SE" sz="2800" u="sng" kern="0" dirty="0">
                <a:solidFill>
                  <a:srgbClr val="000000"/>
                </a:solidFill>
                <a:latin typeface="Tahoma"/>
              </a:rPr>
              <a:t>getString</a:t>
            </a:r>
            <a:r>
              <a:rPr lang="el-GR" sz="2800" u="sng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sv-SE" sz="2800" u="sng" kern="0" dirty="0">
                <a:solidFill>
                  <a:srgbClr val="000000"/>
                </a:solidFill>
                <a:latin typeface="Tahoma"/>
              </a:rPr>
              <a:t>V</a:t>
            </a:r>
            <a:r>
              <a:rPr lang="en-US" sz="2800" u="sng" kern="0" dirty="0" err="1">
                <a:solidFill>
                  <a:srgbClr val="000000"/>
                </a:solidFill>
                <a:latin typeface="Tahoma"/>
              </a:rPr>
              <a:t>ersion</a:t>
            </a:r>
            <a:r>
              <a:rPr lang="en-US" sz="2800" u="sng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sv-SE" sz="2800" u="sng" kern="0" dirty="0">
                <a:solidFill>
                  <a:srgbClr val="000000"/>
                </a:solidFill>
                <a:latin typeface="Tahoma"/>
              </a:rPr>
              <a:t>2</a:t>
            </a:r>
            <a:endParaRPr lang="el-GR" sz="2800" u="sng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el-GR" sz="2400" dirty="0"/>
              <a:t>Η δήλωση της getStringV2 με σημειογραφία πίνακα: </a:t>
            </a:r>
            <a:endParaRPr lang="el-GR" sz="3600" kern="0" dirty="0">
              <a:solidFill>
                <a:srgbClr val="000000"/>
              </a:solidFill>
              <a:latin typeface="Tahoma"/>
            </a:endParaRPr>
          </a:p>
          <a:p>
            <a:pPr marL="0" indent="0">
              <a:buClr>
                <a:srgbClr val="3333CC"/>
              </a:buClr>
              <a:buNone/>
              <a:defRPr/>
            </a:pPr>
            <a:r>
              <a:rPr lang="sv-SE" sz="28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getStringV2(char message[],char str[],int strSize);</a:t>
            </a:r>
            <a:endParaRPr lang="el-GR" sz="28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l-GR" sz="2400" dirty="0"/>
          </a:p>
          <a:p>
            <a:pPr marL="0" indent="0">
              <a:buNone/>
            </a:pPr>
            <a:r>
              <a:rPr lang="el-GR" sz="2400" dirty="0"/>
              <a:t>Η δήλωση της getStringV2 με σημειογραφία δείκτη</a:t>
            </a:r>
            <a:endParaRPr lang="en-GB" sz="2400" dirty="0"/>
          </a:p>
          <a:p>
            <a:pPr marL="0" indent="0">
              <a:buNone/>
            </a:pPr>
            <a:r>
              <a:rPr lang="en-US" sz="28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getStringV2(char *message, char *str, int </a:t>
            </a:r>
            <a:r>
              <a:rPr lang="en-US" sz="2800" b="1" kern="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strSize</a:t>
            </a:r>
            <a:r>
              <a:rPr lang="en-US" sz="28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GB" sz="28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68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17DCB-94EF-1302-DAA2-56D94A0C1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E35650C-5E18-CBAC-8E7D-FB588C5D7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GetStringVersions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A86ED7-FA15-A396-7ECD-72C96AA83FC7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843C5574-30C5-FD5C-ADF4-CC98655AE124}"/>
              </a:ext>
            </a:extLst>
          </p:cNvPr>
          <p:cNvSpPr/>
          <p:nvPr/>
        </p:nvSpPr>
        <p:spPr>
          <a:xfrm>
            <a:off x="5534691" y="2669974"/>
            <a:ext cx="5633357" cy="1978776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[Προχωρημένο] Δείτε την περιπέτεια του </a:t>
            </a:r>
            <a:r>
              <a:rPr lang="en-GB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Alex</a:t>
            </a:r>
            <a:r>
              <a:rPr lang="el-GR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 για τον ορισμό της </a:t>
            </a:r>
            <a:r>
              <a:rPr lang="en-GB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getStringV2</a:t>
            </a:r>
            <a:endParaRPr lang="el-GR" sz="3200" b="1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F71614-F452-6D2C-6390-D189E4D42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2967461"/>
            <a:ext cx="4079639" cy="3003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167DF1-A118-59B2-47C3-8E61A752D07F}"/>
              </a:ext>
            </a:extLst>
          </p:cNvPr>
          <p:cNvSpPr txBox="1"/>
          <p:nvPr/>
        </p:nvSpPr>
        <p:spPr>
          <a:xfrm>
            <a:off x="70337" y="769550"/>
            <a:ext cx="11980993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Δράση 6.8 Ορισμός getStringV2</a:t>
            </a:r>
          </a:p>
          <a:p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Αξιοποιείστε τη </a:t>
            </a:r>
            <a:r>
              <a:rPr lang="el-GR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getchar</a:t>
            </a:r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για να δώσετε έναν ορισμό της getStringV2().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060FC0-9138-7324-3FA8-F21C2EFCC6EB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4231B5C1-310F-1C22-5FA5-4A55199457AE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12602D84-3CAA-67DC-39B5-B723659325ED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78456D-F7C0-88A3-114E-67405230ED1F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35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323A7098-028D-45E9-FCE7-05D403165F59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258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CD1B-22EF-8112-A675-83E7182C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94FD508-74AC-F8F8-07C8-587DE909B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sv-SE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getStringV2 με την getchar()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5227C9-C055-E831-A73E-F231B8A6F59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A2A4056-0ABD-5BAF-0256-767B66A15F41}"/>
              </a:ext>
            </a:extLst>
          </p:cNvPr>
          <p:cNvSpPr/>
          <p:nvPr/>
        </p:nvSpPr>
        <p:spPr>
          <a:xfrm>
            <a:off x="7311490" y="988685"/>
            <a:ext cx="4417866" cy="1674304"/>
          </a:xfrm>
          <a:prstGeom prst="wedgeRoundRectCallout">
            <a:avLst>
              <a:gd name="adj1" fmla="val -56680"/>
              <a:gd name="adj2" fmla="val 79336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b="1" dirty="0">
                <a:solidFill>
                  <a:schemeClr val="bg1"/>
                </a:solidFill>
                <a:highlight>
                  <a:srgbClr val="FFFF00"/>
                </a:highlight>
              </a:rPr>
              <a:t>Προσδιορίστε την έξοδο του προγράμματος για είσοδο 12345678</a:t>
            </a:r>
            <a:endParaRPr lang="en-GB" sz="2800" b="1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AC3F32-16FD-4EB6-C7F1-89CC46466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111" y="3429000"/>
            <a:ext cx="4079639" cy="3003681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AE689C8-21E5-C0C7-4F7C-E22AF2113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27" y="811387"/>
            <a:ext cx="6537257" cy="526857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EFFC366-05FF-CE1D-7EB8-BD4E388B8533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9E83CB33-E7E9-E190-3FD9-63C0C067B7C7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Θέση υποσέλιδου 4">
              <a:extLst>
                <a:ext uri="{FF2B5EF4-FFF2-40B4-BE49-F238E27FC236}">
                  <a16:creationId xmlns:a16="http://schemas.microsoft.com/office/drawing/2014/main" id="{E0066076-B575-7097-14B8-35ACE6FBC483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1C76D3-B0FD-E65C-B90C-1BDCB83E93CB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36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DEF88DC2-32F2-D264-12EE-CFCFA37D0B0B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740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FEE09-F29B-C94E-2819-BFB7D63C8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DEB6DB2-3722-9AA5-C344-8573B7035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Hands-on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GetStringVersions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9C74E9-0FE5-F532-4EE4-4EDF891DA249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63D77FF-F416-B2CD-84A4-3048C29239E0}"/>
              </a:ext>
            </a:extLst>
          </p:cNvPr>
          <p:cNvSpPr/>
          <p:nvPr/>
        </p:nvSpPr>
        <p:spPr>
          <a:xfrm>
            <a:off x="5474744" y="3367508"/>
            <a:ext cx="5633357" cy="1978776"/>
          </a:xfrm>
          <a:prstGeom prst="wedgeRoundRectCallout">
            <a:avLst>
              <a:gd name="adj1" fmla="val -59222"/>
              <a:gd name="adj2" fmla="val 9871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Αναπτύξτε το πρόγραμμα και ελέγξτε τη συμπεριφορά της </a:t>
            </a:r>
            <a:r>
              <a:rPr lang="en-GB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getStringV1</a:t>
            </a:r>
            <a:r>
              <a:rPr lang="el-GR" sz="3200" b="1" dirty="0">
                <a:solidFill>
                  <a:schemeClr val="bg1"/>
                </a:solidFill>
                <a:highlight>
                  <a:srgbClr val="FFFF00"/>
                </a:highlight>
              </a:rPr>
              <a:t>   </a:t>
            </a:r>
            <a:endParaRPr lang="en-GB" sz="3200" b="1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126610-54C9-E228-DA2B-7381795B7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69" y="2967461"/>
            <a:ext cx="4079639" cy="3003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C94A19-3AB4-4809-C692-FDF324AC2F09}"/>
              </a:ext>
            </a:extLst>
          </p:cNvPr>
          <p:cNvSpPr txBox="1"/>
          <p:nvPr/>
        </p:nvSpPr>
        <p:spPr>
          <a:xfrm>
            <a:off x="70337" y="769550"/>
            <a:ext cx="11980993" cy="15696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Δράση 6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l-GR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 Ορισμός getStringV1</a:t>
            </a:r>
          </a:p>
          <a:p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Αναπτύξτε σε πρώτη φάση την</a:t>
            </a:r>
            <a:r>
              <a:rPr lang="el-GR" sz="24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getStringV1 </a:t>
            </a:r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και ελέγξτε τη συμπεριφορά του προγράμματος για είσοδο μεγαλύτερη από το χώρο που έχει δεσμευθεί για τη μεταβλητή </a:t>
            </a:r>
            <a:r>
              <a:rPr lang="el-GR" sz="2400" dirty="0" err="1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str</a:t>
            </a:r>
            <a:r>
              <a:rPr lang="el-G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8DA431-E319-52F2-5748-FC6BD7266B6E}"/>
              </a:ext>
            </a:extLst>
          </p:cNvPr>
          <p:cNvGrpSpPr/>
          <p:nvPr/>
        </p:nvGrpSpPr>
        <p:grpSpPr>
          <a:xfrm>
            <a:off x="-1" y="6559909"/>
            <a:ext cx="12192001" cy="327218"/>
            <a:chOff x="-1" y="6559909"/>
            <a:chExt cx="12192001" cy="327218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6F34E7E0-1B72-9AE8-7174-DD4C5EEC148C}"/>
                </a:ext>
              </a:extLst>
            </p:cNvPr>
            <p:cNvSpPr/>
            <p:nvPr/>
          </p:nvSpPr>
          <p:spPr>
            <a:xfrm>
              <a:off x="0" y="6579651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2AA2832E-130C-7FEC-64BF-AF0D2A3259A3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4B6691-BA94-69B5-FAB5-BB7E4CA116A6}"/>
                </a:ext>
              </a:extLst>
            </p:cNvPr>
            <p:cNvSpPr txBox="1"/>
            <p:nvPr/>
          </p:nvSpPr>
          <p:spPr>
            <a:xfrm>
              <a:off x="1016487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37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ACA69209-8DA5-E717-BCE7-03717D18F03B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Von Neumann Architecture - Strings - Pointers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057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16648</TotalTime>
  <Words>3591</Words>
  <Application>Microsoft Office PowerPoint</Application>
  <PresentationFormat>Widescreen</PresentationFormat>
  <Paragraphs>465</Paragraphs>
  <Slides>37</Slides>
  <Notes>37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Arial</vt:lpstr>
      <vt:lpstr>Bahnschrift</vt:lpstr>
      <vt:lpstr>Bahnschrift Light</vt:lpstr>
      <vt:lpstr>Calibri</vt:lpstr>
      <vt:lpstr>Calibri Light</vt:lpstr>
      <vt:lpstr>Courier New</vt:lpstr>
      <vt:lpstr>Tahoma</vt:lpstr>
      <vt:lpstr>Times New Roman</vt:lpstr>
      <vt:lpstr>Wingdings</vt:lpstr>
      <vt:lpstr>Προσαρμοσμένη σχεδίαση</vt:lpstr>
      <vt:lpstr>Θέμα του Office</vt:lpstr>
      <vt:lpstr>Worksheet</vt:lpstr>
      <vt:lpstr>PowerPoint Presentation</vt:lpstr>
      <vt:lpstr>Στόχος Ενότητας </vt:lpstr>
      <vt:lpstr>Οργάνωση Διάλεξης</vt:lpstr>
      <vt:lpstr>Δομή της «Μηχανής» - Von Neumann Architecture</vt:lpstr>
      <vt:lpstr>Δομή της «Μηχανής» - Von Neumann Architecture</vt:lpstr>
      <vt:lpstr>Η Γλώσσα Μηχανής – Assembly - C</vt:lpstr>
      <vt:lpstr>Οργάνωση Διάλεξης</vt:lpstr>
      <vt:lpstr>Δραστηριότητα 6.1  - AsciiCode</vt:lpstr>
      <vt:lpstr>O τύπος του χαρακτήρα και ο ASCII Κώδικας</vt:lpstr>
      <vt:lpstr>Μεταβλητή τύπου χαρακτήρα</vt:lpstr>
      <vt:lpstr>O τύπος του χαρακτήρα και ο ASCII Κώδικας</vt:lpstr>
      <vt:lpstr>Πρόγραμμα: Εμφάνιση χαρακτήρα στη κύρια έξοδο</vt:lpstr>
      <vt:lpstr>Hands-on  (AsciiCode)</vt:lpstr>
      <vt:lpstr>Είσοδος χαρακτήρα – getchar και getChar (i2p)</vt:lpstr>
      <vt:lpstr>Hands-on  (AsciiCode)</vt:lpstr>
      <vt:lpstr>Οργάνωση Διάλεξης</vt:lpstr>
      <vt:lpstr>Μονάδες μνήμης - Διεύθυνση</vt:lpstr>
      <vt:lpstr>Διεύθυνση, τελεστής άμεσης διεύθυνσης και Δείκτης</vt:lpstr>
      <vt:lpstr>Διεύθυνση, τελεστής άμεσης διεύθυνσης και Δείκτης</vt:lpstr>
      <vt:lpstr>Hands-on  (Pointers)</vt:lpstr>
      <vt:lpstr>Οργάνωση Διάλεξης</vt:lpstr>
      <vt:lpstr>Δραστηριότητα 6.2  - StringHandling</vt:lpstr>
      <vt:lpstr>Συμβολοσειρά (String) και αλφαριθμητικό</vt:lpstr>
      <vt:lpstr>Συμβολοσειρά (String) ως πίνακας χαρακτήρων</vt:lpstr>
      <vt:lpstr>Είσοδος και έξοδος συμβολοσειράς </vt:lpstr>
      <vt:lpstr>getStringV1</vt:lpstr>
      <vt:lpstr>getStringV2  - scanf </vt:lpstr>
      <vt:lpstr>Hands-on  (StringHandling)</vt:lpstr>
      <vt:lpstr>Αντιστοίχιση σημειογραφίας πίνακα με σημειογραφία Δείκτη</vt:lpstr>
      <vt:lpstr>Αντιστοίχιση σημειογραφίας πίνακα με σημειογραφία Δείκτη</vt:lpstr>
      <vt:lpstr>Συναρτήσεις διαχείρισης συμβολοσειρών</vt:lpstr>
      <vt:lpstr>Hands-on  (UsingStringhFunctions)</vt:lpstr>
      <vt:lpstr>Οργάνωση Διάλεξης</vt:lpstr>
      <vt:lpstr>Δραστηριότητα 6.3  - GetStringVersions</vt:lpstr>
      <vt:lpstr>Hands-on  (GetStringVersions)</vt:lpstr>
      <vt:lpstr>Hands-on  (getStringV2 με την getchar())</vt:lpstr>
      <vt:lpstr>Hands-on  (GetStringVersions)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OOP-Introduction</dc:title>
  <dc:creator>Kleanthis Thramboulidis</dc:creator>
  <cp:lastModifiedBy>Kleanthis Thramboulidis</cp:lastModifiedBy>
  <cp:revision>85</cp:revision>
  <cp:lastPrinted>2023-02-24T15:57:04Z</cp:lastPrinted>
  <dcterms:created xsi:type="dcterms:W3CDTF">2020-03-13T12:21:17Z</dcterms:created>
  <dcterms:modified xsi:type="dcterms:W3CDTF">2025-10-14T19:27:43Z</dcterms:modified>
</cp:coreProperties>
</file>