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60" r:id="rId1"/>
    <p:sldMasterId id="2147483892" r:id="rId2"/>
  </p:sldMasterIdLst>
  <p:notesMasterIdLst>
    <p:notesMasterId r:id="rId27"/>
  </p:notesMasterIdLst>
  <p:sldIdLst>
    <p:sldId id="262" r:id="rId3"/>
    <p:sldId id="818" r:id="rId4"/>
    <p:sldId id="961" r:id="rId5"/>
    <p:sldId id="962" r:id="rId6"/>
    <p:sldId id="963" r:id="rId7"/>
    <p:sldId id="964" r:id="rId8"/>
    <p:sldId id="965" r:id="rId9"/>
    <p:sldId id="966" r:id="rId10"/>
    <p:sldId id="967" r:id="rId11"/>
    <p:sldId id="968" r:id="rId12"/>
    <p:sldId id="969" r:id="rId13"/>
    <p:sldId id="970" r:id="rId14"/>
    <p:sldId id="971" r:id="rId15"/>
    <p:sldId id="972" r:id="rId16"/>
    <p:sldId id="973" r:id="rId17"/>
    <p:sldId id="974" r:id="rId18"/>
    <p:sldId id="975" r:id="rId19"/>
    <p:sldId id="978" r:id="rId20"/>
    <p:sldId id="977" r:id="rId21"/>
    <p:sldId id="976" r:id="rId22"/>
    <p:sldId id="979" r:id="rId23"/>
    <p:sldId id="980" r:id="rId24"/>
    <p:sldId id="981" r:id="rId25"/>
    <p:sldId id="982" r:id="rId26"/>
  </p:sldIdLst>
  <p:sldSz cx="12192000" cy="6858000"/>
  <p:notesSz cx="6858000" cy="9144000"/>
  <p:defaultTex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3CDBB"/>
    <a:srgbClr val="60D69E"/>
    <a:srgbClr val="869391"/>
    <a:srgbClr val="F9853D"/>
    <a:srgbClr val="FDCBAD"/>
    <a:srgbClr val="FBAD7D"/>
    <a:srgbClr val="61649B"/>
    <a:srgbClr val="E49252"/>
    <a:srgbClr val="FFFFFF"/>
    <a:srgbClr val="2E359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458" autoAdjust="0"/>
    <p:restoredTop sz="93969" autoAdjust="0"/>
  </p:normalViewPr>
  <p:slideViewPr>
    <p:cSldViewPr snapToGrid="0">
      <p:cViewPr varScale="1">
        <p:scale>
          <a:sx n="67" d="100"/>
          <a:sy n="67" d="100"/>
        </p:scale>
        <p:origin x="474" y="84"/>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κεφαλίδας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l-GR"/>
          </a:p>
        </p:txBody>
      </p:sp>
      <p:sp>
        <p:nvSpPr>
          <p:cNvPr id="3" name="Θέση ημερομηνίας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120127-9FC1-4D44-BFF2-2F77E5433948}" type="datetimeFigureOut">
              <a:rPr lang="el-GR" smtClean="0"/>
              <a:t>14/10/2025</a:t>
            </a:fld>
            <a:endParaRPr lang="el-GR"/>
          </a:p>
        </p:txBody>
      </p:sp>
      <p:sp>
        <p:nvSpPr>
          <p:cNvPr id="4" name="Θέση εικόνας διαφάνειας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l-GR"/>
          </a:p>
        </p:txBody>
      </p:sp>
      <p:sp>
        <p:nvSpPr>
          <p:cNvPr id="5" name="Θέση σημειώσεων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6" name="Θέση υποσέλιδου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l-GR"/>
          </a:p>
        </p:txBody>
      </p:sp>
      <p:sp>
        <p:nvSpPr>
          <p:cNvPr id="7" name="Θέση αριθμού διαφάνειας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D89646-4F35-49C2-BD28-89287C170EC3}" type="slidenum">
              <a:rPr lang="el-GR" smtClean="0"/>
              <a:t>‹#›</a:t>
            </a:fld>
            <a:endParaRPr lang="el-GR"/>
          </a:p>
        </p:txBody>
      </p:sp>
    </p:spTree>
    <p:extLst>
      <p:ext uri="{BB962C8B-B14F-4D97-AF65-F5344CB8AC3E}">
        <p14:creationId xmlns:p14="http://schemas.microsoft.com/office/powerpoint/2010/main" val="548665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Θέση αριθμού διαφάνειας 3"/>
          <p:cNvSpPr>
            <a:spLocks noGrp="1"/>
          </p:cNvSpPr>
          <p:nvPr>
            <p:ph type="sldNum" sz="quarter" idx="10"/>
          </p:nvPr>
        </p:nvSpPr>
        <p:spPr/>
        <p:txBody>
          <a:bodyPr/>
          <a:lstStyle/>
          <a:p>
            <a:fld id="{C9D89646-4F35-49C2-BD28-89287C170EC3}" type="slidenum">
              <a:rPr lang="el-GR" smtClean="0"/>
              <a:t>1</a:t>
            </a:fld>
            <a:endParaRPr lang="el-GR"/>
          </a:p>
        </p:txBody>
      </p:sp>
    </p:spTree>
    <p:extLst>
      <p:ext uri="{BB962C8B-B14F-4D97-AF65-F5344CB8AC3E}">
        <p14:creationId xmlns:p14="http://schemas.microsoft.com/office/powerpoint/2010/main" val="3389721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5E02B-7508-585E-4F49-009EAA438CA7}"/>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C5B95EB3-1D7B-031E-2AA8-257488295E83}"/>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2DB813BF-C23F-3E4D-900A-75A69D377856}"/>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EDDD72C6-8023-8803-518A-C93D5F36A914}"/>
              </a:ext>
            </a:extLst>
          </p:cNvPr>
          <p:cNvSpPr>
            <a:spLocks noGrp="1"/>
          </p:cNvSpPr>
          <p:nvPr>
            <p:ph type="sldNum" sz="quarter" idx="5"/>
          </p:nvPr>
        </p:nvSpPr>
        <p:spPr/>
        <p:txBody>
          <a:bodyPr/>
          <a:lstStyle/>
          <a:p>
            <a:fld id="{C9D89646-4F35-49C2-BD28-89287C170EC3}" type="slidenum">
              <a:rPr lang="el-GR" smtClean="0"/>
              <a:t>2</a:t>
            </a:fld>
            <a:endParaRPr lang="el-GR"/>
          </a:p>
        </p:txBody>
      </p:sp>
    </p:spTree>
    <p:extLst>
      <p:ext uri="{BB962C8B-B14F-4D97-AF65-F5344CB8AC3E}">
        <p14:creationId xmlns:p14="http://schemas.microsoft.com/office/powerpoint/2010/main" val="20121066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5878A-85F8-2D54-15D9-3B8C42076B88}"/>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54250DFB-9B90-A60E-875E-B5E7DDB19330}"/>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A02CC19A-8AE4-25C3-CC19-A067602B5D52}"/>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400F4414-2980-D7CF-B209-DA114BB27586}"/>
              </a:ext>
            </a:extLst>
          </p:cNvPr>
          <p:cNvSpPr>
            <a:spLocks noGrp="1"/>
          </p:cNvSpPr>
          <p:nvPr>
            <p:ph type="sldNum" sz="quarter" idx="5"/>
          </p:nvPr>
        </p:nvSpPr>
        <p:spPr/>
        <p:txBody>
          <a:bodyPr/>
          <a:lstStyle/>
          <a:p>
            <a:fld id="{C9D89646-4F35-49C2-BD28-89287C170EC3}" type="slidenum">
              <a:rPr lang="el-GR" smtClean="0"/>
              <a:t>3</a:t>
            </a:fld>
            <a:endParaRPr lang="el-GR"/>
          </a:p>
        </p:txBody>
      </p:sp>
    </p:spTree>
    <p:extLst>
      <p:ext uri="{BB962C8B-B14F-4D97-AF65-F5344CB8AC3E}">
        <p14:creationId xmlns:p14="http://schemas.microsoft.com/office/powerpoint/2010/main" val="14258576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604E1-5AB0-F45A-1761-E38A60D95067}"/>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EC88016D-149E-A51B-0022-263F64A5BE52}"/>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EB2C91E0-4078-6B6C-AFA5-20B35B5F0EE9}"/>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BEE8DA0B-E004-ABB7-4775-6BEF3B181227}"/>
              </a:ext>
            </a:extLst>
          </p:cNvPr>
          <p:cNvSpPr>
            <a:spLocks noGrp="1"/>
          </p:cNvSpPr>
          <p:nvPr>
            <p:ph type="sldNum" sz="quarter" idx="5"/>
          </p:nvPr>
        </p:nvSpPr>
        <p:spPr/>
        <p:txBody>
          <a:bodyPr/>
          <a:lstStyle/>
          <a:p>
            <a:fld id="{C9D89646-4F35-49C2-BD28-89287C170EC3}" type="slidenum">
              <a:rPr lang="el-GR" smtClean="0"/>
              <a:t>4</a:t>
            </a:fld>
            <a:endParaRPr lang="el-GR"/>
          </a:p>
        </p:txBody>
      </p:sp>
    </p:spTree>
    <p:extLst>
      <p:ext uri="{BB962C8B-B14F-4D97-AF65-F5344CB8AC3E}">
        <p14:creationId xmlns:p14="http://schemas.microsoft.com/office/powerpoint/2010/main" val="11040332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AFF34-CD2F-B29B-A767-2E8228FD5375}"/>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0CCEF318-CB41-7A61-27A0-D9D44240F1F6}"/>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18391EFB-34C0-BB90-F2D6-AA5D8786C96B}"/>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80C752EA-3F90-BD35-A1F6-3D64449CF40E}"/>
              </a:ext>
            </a:extLst>
          </p:cNvPr>
          <p:cNvSpPr>
            <a:spLocks noGrp="1"/>
          </p:cNvSpPr>
          <p:nvPr>
            <p:ph type="sldNum" sz="quarter" idx="5"/>
          </p:nvPr>
        </p:nvSpPr>
        <p:spPr/>
        <p:txBody>
          <a:bodyPr/>
          <a:lstStyle/>
          <a:p>
            <a:fld id="{C9D89646-4F35-49C2-BD28-89287C170EC3}" type="slidenum">
              <a:rPr lang="el-GR" smtClean="0"/>
              <a:t>5</a:t>
            </a:fld>
            <a:endParaRPr lang="el-GR"/>
          </a:p>
        </p:txBody>
      </p:sp>
    </p:spTree>
    <p:extLst>
      <p:ext uri="{BB962C8B-B14F-4D97-AF65-F5344CB8AC3E}">
        <p14:creationId xmlns:p14="http://schemas.microsoft.com/office/powerpoint/2010/main" val="1747562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53A57-724D-430B-269F-199520728415}"/>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6929C9DC-5974-E78D-8DAA-C0CCE27151E5}"/>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49B0DCD2-1D61-4177-F7D5-28A4BEE12325}"/>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C6257F14-850C-03CD-DB30-0D7A8DEA8265}"/>
              </a:ext>
            </a:extLst>
          </p:cNvPr>
          <p:cNvSpPr>
            <a:spLocks noGrp="1"/>
          </p:cNvSpPr>
          <p:nvPr>
            <p:ph type="sldNum" sz="quarter" idx="5"/>
          </p:nvPr>
        </p:nvSpPr>
        <p:spPr/>
        <p:txBody>
          <a:bodyPr/>
          <a:lstStyle/>
          <a:p>
            <a:fld id="{C9D89646-4F35-49C2-BD28-89287C170EC3}" type="slidenum">
              <a:rPr lang="el-GR" smtClean="0"/>
              <a:t>6</a:t>
            </a:fld>
            <a:endParaRPr lang="el-GR"/>
          </a:p>
        </p:txBody>
      </p:sp>
    </p:spTree>
    <p:extLst>
      <p:ext uri="{BB962C8B-B14F-4D97-AF65-F5344CB8AC3E}">
        <p14:creationId xmlns:p14="http://schemas.microsoft.com/office/powerpoint/2010/main" val="11207244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18427-171C-7CD7-AD83-45DAF91B3ABD}"/>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62420748-6277-FC1C-B347-6078F88F68E6}"/>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7A7B7945-97B4-BF36-2DD7-66F5B44A4DE5}"/>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F171C473-74BE-88D0-4FDF-099A2141FB18}"/>
              </a:ext>
            </a:extLst>
          </p:cNvPr>
          <p:cNvSpPr>
            <a:spLocks noGrp="1"/>
          </p:cNvSpPr>
          <p:nvPr>
            <p:ph type="sldNum" sz="quarter" idx="5"/>
          </p:nvPr>
        </p:nvSpPr>
        <p:spPr/>
        <p:txBody>
          <a:bodyPr/>
          <a:lstStyle/>
          <a:p>
            <a:fld id="{C9D89646-4F35-49C2-BD28-89287C170EC3}" type="slidenum">
              <a:rPr lang="el-GR" smtClean="0"/>
              <a:t>7</a:t>
            </a:fld>
            <a:endParaRPr lang="el-GR"/>
          </a:p>
        </p:txBody>
      </p:sp>
    </p:spTree>
    <p:extLst>
      <p:ext uri="{BB962C8B-B14F-4D97-AF65-F5344CB8AC3E}">
        <p14:creationId xmlns:p14="http://schemas.microsoft.com/office/powerpoint/2010/main" val="35361283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3CFF8-294D-6E37-BEE8-E45F94A09265}"/>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097207F0-33D3-8376-07CE-4C7E74FD2E9E}"/>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51D6533E-783C-F219-D357-5ED0E7AC2143}"/>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14094D1B-151F-A8D5-466C-152075C81B1C}"/>
              </a:ext>
            </a:extLst>
          </p:cNvPr>
          <p:cNvSpPr>
            <a:spLocks noGrp="1"/>
          </p:cNvSpPr>
          <p:nvPr>
            <p:ph type="sldNum" sz="quarter" idx="5"/>
          </p:nvPr>
        </p:nvSpPr>
        <p:spPr/>
        <p:txBody>
          <a:bodyPr/>
          <a:lstStyle/>
          <a:p>
            <a:fld id="{C9D89646-4F35-49C2-BD28-89287C170EC3}" type="slidenum">
              <a:rPr lang="el-GR" smtClean="0"/>
              <a:t>8</a:t>
            </a:fld>
            <a:endParaRPr lang="el-GR"/>
          </a:p>
        </p:txBody>
      </p:sp>
    </p:spTree>
    <p:extLst>
      <p:ext uri="{BB962C8B-B14F-4D97-AF65-F5344CB8AC3E}">
        <p14:creationId xmlns:p14="http://schemas.microsoft.com/office/powerpoint/2010/main" val="36233980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A5435-9610-6B9C-283F-9074B1221284}"/>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D5E7F8FC-4E4B-8747-049E-31E651BA2000}"/>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4BA78502-BA18-7297-81B7-2E349BA67403}"/>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1A687F55-9643-4F1B-A83D-C3A85D934745}"/>
              </a:ext>
            </a:extLst>
          </p:cNvPr>
          <p:cNvSpPr>
            <a:spLocks noGrp="1"/>
          </p:cNvSpPr>
          <p:nvPr>
            <p:ph type="sldNum" sz="quarter" idx="5"/>
          </p:nvPr>
        </p:nvSpPr>
        <p:spPr/>
        <p:txBody>
          <a:bodyPr/>
          <a:lstStyle/>
          <a:p>
            <a:fld id="{C9D89646-4F35-49C2-BD28-89287C170EC3}" type="slidenum">
              <a:rPr lang="el-GR" smtClean="0"/>
              <a:t>9</a:t>
            </a:fld>
            <a:endParaRPr lang="el-GR"/>
          </a:p>
        </p:txBody>
      </p:sp>
    </p:spTree>
    <p:extLst>
      <p:ext uri="{BB962C8B-B14F-4D97-AF65-F5344CB8AC3E}">
        <p14:creationId xmlns:p14="http://schemas.microsoft.com/office/powerpoint/2010/main" val="8492523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AA1DF-F6A9-7857-300F-E5D14CE2F256}"/>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B4056603-63F9-A401-569B-627EEA107C63}"/>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E3F44CB8-44FC-46BD-BEA9-9D347D2E5321}"/>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186877FF-F58F-012C-FA37-39CFE1D7EF8F}"/>
              </a:ext>
            </a:extLst>
          </p:cNvPr>
          <p:cNvSpPr>
            <a:spLocks noGrp="1"/>
          </p:cNvSpPr>
          <p:nvPr>
            <p:ph type="sldNum" sz="quarter" idx="5"/>
          </p:nvPr>
        </p:nvSpPr>
        <p:spPr/>
        <p:txBody>
          <a:bodyPr/>
          <a:lstStyle/>
          <a:p>
            <a:fld id="{C9D89646-4F35-49C2-BD28-89287C170EC3}" type="slidenum">
              <a:rPr lang="el-GR" smtClean="0"/>
              <a:t>10</a:t>
            </a:fld>
            <a:endParaRPr lang="el-GR"/>
          </a:p>
        </p:txBody>
      </p:sp>
    </p:spTree>
    <p:extLst>
      <p:ext uri="{BB962C8B-B14F-4D97-AF65-F5344CB8AC3E}">
        <p14:creationId xmlns:p14="http://schemas.microsoft.com/office/powerpoint/2010/main" val="24631748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917D2-0718-CE0F-C3ED-15D1F5DDC88B}"/>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48F102EE-0D64-AE8D-04D2-8FFC1C9CDE56}"/>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25848928-FCC5-1DB9-26B0-77B248E1A5FC}"/>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4F97742C-D136-60BC-A195-636179546913}"/>
              </a:ext>
            </a:extLst>
          </p:cNvPr>
          <p:cNvSpPr>
            <a:spLocks noGrp="1"/>
          </p:cNvSpPr>
          <p:nvPr>
            <p:ph type="sldNum" sz="quarter" idx="5"/>
          </p:nvPr>
        </p:nvSpPr>
        <p:spPr/>
        <p:txBody>
          <a:bodyPr/>
          <a:lstStyle/>
          <a:p>
            <a:fld id="{C9D89646-4F35-49C2-BD28-89287C170EC3}" type="slidenum">
              <a:rPr lang="el-GR" smtClean="0"/>
              <a:t>11</a:t>
            </a:fld>
            <a:endParaRPr lang="el-GR"/>
          </a:p>
        </p:txBody>
      </p:sp>
    </p:spTree>
    <p:extLst>
      <p:ext uri="{BB962C8B-B14F-4D97-AF65-F5344CB8AC3E}">
        <p14:creationId xmlns:p14="http://schemas.microsoft.com/office/powerpoint/2010/main" val="17006904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1D112-5CE6-6D5A-AAD8-F7331D49B357}"/>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2C586ED5-0D8B-D16A-6C67-8F352A32059C}"/>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2A4DCC69-2308-8F16-B8CF-B5595AB334C1}"/>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6C90A21A-0046-3B0F-1EBE-C7945BE932D1}"/>
              </a:ext>
            </a:extLst>
          </p:cNvPr>
          <p:cNvSpPr>
            <a:spLocks noGrp="1"/>
          </p:cNvSpPr>
          <p:nvPr>
            <p:ph type="sldNum" sz="quarter" idx="5"/>
          </p:nvPr>
        </p:nvSpPr>
        <p:spPr/>
        <p:txBody>
          <a:bodyPr/>
          <a:lstStyle/>
          <a:p>
            <a:fld id="{C9D89646-4F35-49C2-BD28-89287C170EC3}" type="slidenum">
              <a:rPr lang="el-GR" smtClean="0"/>
              <a:t>12</a:t>
            </a:fld>
            <a:endParaRPr lang="el-GR"/>
          </a:p>
        </p:txBody>
      </p:sp>
    </p:spTree>
    <p:extLst>
      <p:ext uri="{BB962C8B-B14F-4D97-AF65-F5344CB8AC3E}">
        <p14:creationId xmlns:p14="http://schemas.microsoft.com/office/powerpoint/2010/main" val="35608349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4B757-CEA6-1740-4684-43F7C97458F6}"/>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73778C3C-A7D6-B290-EA8A-FC953C909882}"/>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6C2C8649-F1A0-0F59-E647-7BDA3EFCA4A6}"/>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4B61FCCA-F6B9-0D33-51BE-0B6979DCE85B}"/>
              </a:ext>
            </a:extLst>
          </p:cNvPr>
          <p:cNvSpPr>
            <a:spLocks noGrp="1"/>
          </p:cNvSpPr>
          <p:nvPr>
            <p:ph type="sldNum" sz="quarter" idx="5"/>
          </p:nvPr>
        </p:nvSpPr>
        <p:spPr/>
        <p:txBody>
          <a:bodyPr/>
          <a:lstStyle/>
          <a:p>
            <a:fld id="{C9D89646-4F35-49C2-BD28-89287C170EC3}" type="slidenum">
              <a:rPr lang="el-GR" smtClean="0"/>
              <a:t>13</a:t>
            </a:fld>
            <a:endParaRPr lang="el-GR"/>
          </a:p>
        </p:txBody>
      </p:sp>
    </p:spTree>
    <p:extLst>
      <p:ext uri="{BB962C8B-B14F-4D97-AF65-F5344CB8AC3E}">
        <p14:creationId xmlns:p14="http://schemas.microsoft.com/office/powerpoint/2010/main" val="23224805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91D29-5385-E069-B2CA-C5437235651B}"/>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BC294A9F-1628-9B69-99AD-A894B4183CF4}"/>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33ACFAC2-F1FD-1DC2-CE13-E8D7D5CFB958}"/>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76591325-BEFB-E18F-CB05-BD0CE46A4F27}"/>
              </a:ext>
            </a:extLst>
          </p:cNvPr>
          <p:cNvSpPr>
            <a:spLocks noGrp="1"/>
          </p:cNvSpPr>
          <p:nvPr>
            <p:ph type="sldNum" sz="quarter" idx="5"/>
          </p:nvPr>
        </p:nvSpPr>
        <p:spPr/>
        <p:txBody>
          <a:bodyPr/>
          <a:lstStyle/>
          <a:p>
            <a:fld id="{C9D89646-4F35-49C2-BD28-89287C170EC3}" type="slidenum">
              <a:rPr lang="el-GR" smtClean="0"/>
              <a:t>14</a:t>
            </a:fld>
            <a:endParaRPr lang="el-GR"/>
          </a:p>
        </p:txBody>
      </p:sp>
    </p:spTree>
    <p:extLst>
      <p:ext uri="{BB962C8B-B14F-4D97-AF65-F5344CB8AC3E}">
        <p14:creationId xmlns:p14="http://schemas.microsoft.com/office/powerpoint/2010/main" val="15664187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36355-13B9-36B7-3002-7F4A0D2BD938}"/>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6A18675E-6886-52D4-E3B3-4B3F5410921E}"/>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CACE7246-1F67-0543-E584-DCF504419FD3}"/>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63A31FFB-5B43-1D0F-7053-C4F2B340CBDC}"/>
              </a:ext>
            </a:extLst>
          </p:cNvPr>
          <p:cNvSpPr>
            <a:spLocks noGrp="1"/>
          </p:cNvSpPr>
          <p:nvPr>
            <p:ph type="sldNum" sz="quarter" idx="5"/>
          </p:nvPr>
        </p:nvSpPr>
        <p:spPr/>
        <p:txBody>
          <a:bodyPr/>
          <a:lstStyle/>
          <a:p>
            <a:fld id="{C9D89646-4F35-49C2-BD28-89287C170EC3}" type="slidenum">
              <a:rPr lang="el-GR" smtClean="0"/>
              <a:t>15</a:t>
            </a:fld>
            <a:endParaRPr lang="el-GR"/>
          </a:p>
        </p:txBody>
      </p:sp>
    </p:spTree>
    <p:extLst>
      <p:ext uri="{BB962C8B-B14F-4D97-AF65-F5344CB8AC3E}">
        <p14:creationId xmlns:p14="http://schemas.microsoft.com/office/powerpoint/2010/main" val="12295299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2B766-FA24-86B6-3132-30F4145376A7}"/>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8AF5C705-BA0B-5169-DF4D-EA97C58CDA2D}"/>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E86E0C40-D198-A218-1796-FCD085F3E69E}"/>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32F58CB7-6970-00E9-1113-11C0FFBD05DF}"/>
              </a:ext>
            </a:extLst>
          </p:cNvPr>
          <p:cNvSpPr>
            <a:spLocks noGrp="1"/>
          </p:cNvSpPr>
          <p:nvPr>
            <p:ph type="sldNum" sz="quarter" idx="5"/>
          </p:nvPr>
        </p:nvSpPr>
        <p:spPr/>
        <p:txBody>
          <a:bodyPr/>
          <a:lstStyle/>
          <a:p>
            <a:fld id="{C9D89646-4F35-49C2-BD28-89287C170EC3}" type="slidenum">
              <a:rPr lang="el-GR" smtClean="0"/>
              <a:t>16</a:t>
            </a:fld>
            <a:endParaRPr lang="el-GR"/>
          </a:p>
        </p:txBody>
      </p:sp>
    </p:spTree>
    <p:extLst>
      <p:ext uri="{BB962C8B-B14F-4D97-AF65-F5344CB8AC3E}">
        <p14:creationId xmlns:p14="http://schemas.microsoft.com/office/powerpoint/2010/main" val="23240616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D0798-CA5C-EF31-C33E-B80FADD78AA1}"/>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D359C01A-79A3-088C-03DB-8E334BF79773}"/>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D4896C0A-A593-FCD1-1142-BF95916A1BA0}"/>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F36AE86D-7557-C43C-690F-3E0EE8B6C39C}"/>
              </a:ext>
            </a:extLst>
          </p:cNvPr>
          <p:cNvSpPr>
            <a:spLocks noGrp="1"/>
          </p:cNvSpPr>
          <p:nvPr>
            <p:ph type="sldNum" sz="quarter" idx="5"/>
          </p:nvPr>
        </p:nvSpPr>
        <p:spPr/>
        <p:txBody>
          <a:bodyPr/>
          <a:lstStyle/>
          <a:p>
            <a:fld id="{C9D89646-4F35-49C2-BD28-89287C170EC3}" type="slidenum">
              <a:rPr lang="el-GR" smtClean="0"/>
              <a:t>17</a:t>
            </a:fld>
            <a:endParaRPr lang="el-GR"/>
          </a:p>
        </p:txBody>
      </p:sp>
    </p:spTree>
    <p:extLst>
      <p:ext uri="{BB962C8B-B14F-4D97-AF65-F5344CB8AC3E}">
        <p14:creationId xmlns:p14="http://schemas.microsoft.com/office/powerpoint/2010/main" val="1739213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BF5D1-2B12-5F7D-06EE-4187CF0397FF}"/>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A9F12220-D130-1101-DCD3-6C84AD9DC59B}"/>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58A13D85-8033-0DF0-979E-E062C073E285}"/>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7D6F37E4-CAEC-D636-5CD2-20751ED4953F}"/>
              </a:ext>
            </a:extLst>
          </p:cNvPr>
          <p:cNvSpPr>
            <a:spLocks noGrp="1"/>
          </p:cNvSpPr>
          <p:nvPr>
            <p:ph type="sldNum" sz="quarter" idx="5"/>
          </p:nvPr>
        </p:nvSpPr>
        <p:spPr/>
        <p:txBody>
          <a:bodyPr/>
          <a:lstStyle/>
          <a:p>
            <a:fld id="{C9D89646-4F35-49C2-BD28-89287C170EC3}" type="slidenum">
              <a:rPr lang="el-GR" smtClean="0"/>
              <a:t>18</a:t>
            </a:fld>
            <a:endParaRPr lang="el-GR"/>
          </a:p>
        </p:txBody>
      </p:sp>
    </p:spTree>
    <p:extLst>
      <p:ext uri="{BB962C8B-B14F-4D97-AF65-F5344CB8AC3E}">
        <p14:creationId xmlns:p14="http://schemas.microsoft.com/office/powerpoint/2010/main" val="29453194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265AA-7939-DA3D-A83D-49D18D4309E5}"/>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300AF22B-F6D0-DCB5-C8FD-7399C6E5D2FD}"/>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9AEE9735-C168-06C0-37D5-89B3846F5656}"/>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C35C808E-C510-892D-D05D-AC270AA60597}"/>
              </a:ext>
            </a:extLst>
          </p:cNvPr>
          <p:cNvSpPr>
            <a:spLocks noGrp="1"/>
          </p:cNvSpPr>
          <p:nvPr>
            <p:ph type="sldNum" sz="quarter" idx="5"/>
          </p:nvPr>
        </p:nvSpPr>
        <p:spPr/>
        <p:txBody>
          <a:bodyPr/>
          <a:lstStyle/>
          <a:p>
            <a:fld id="{C9D89646-4F35-49C2-BD28-89287C170EC3}" type="slidenum">
              <a:rPr lang="el-GR" smtClean="0"/>
              <a:t>19</a:t>
            </a:fld>
            <a:endParaRPr lang="el-GR"/>
          </a:p>
        </p:txBody>
      </p:sp>
    </p:spTree>
    <p:extLst>
      <p:ext uri="{BB962C8B-B14F-4D97-AF65-F5344CB8AC3E}">
        <p14:creationId xmlns:p14="http://schemas.microsoft.com/office/powerpoint/2010/main" val="27386039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7B2F2-C2D8-1509-4E1E-81A207DDD7B1}"/>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96318989-2155-CDB4-0C5D-115270E15869}"/>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456A9E42-DEAE-E5E8-FDEB-FAC51573F50F}"/>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0094B46A-1F3F-F0FA-5BD3-FFEDCBA1E913}"/>
              </a:ext>
            </a:extLst>
          </p:cNvPr>
          <p:cNvSpPr>
            <a:spLocks noGrp="1"/>
          </p:cNvSpPr>
          <p:nvPr>
            <p:ph type="sldNum" sz="quarter" idx="5"/>
          </p:nvPr>
        </p:nvSpPr>
        <p:spPr/>
        <p:txBody>
          <a:bodyPr/>
          <a:lstStyle/>
          <a:p>
            <a:fld id="{C9D89646-4F35-49C2-BD28-89287C170EC3}" type="slidenum">
              <a:rPr lang="el-GR" smtClean="0"/>
              <a:t>20</a:t>
            </a:fld>
            <a:endParaRPr lang="el-GR"/>
          </a:p>
        </p:txBody>
      </p:sp>
    </p:spTree>
    <p:extLst>
      <p:ext uri="{BB962C8B-B14F-4D97-AF65-F5344CB8AC3E}">
        <p14:creationId xmlns:p14="http://schemas.microsoft.com/office/powerpoint/2010/main" val="38137044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85C9D-D4E8-7643-C0FB-C6D63903144D}"/>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7BD20A92-6C51-4539-23C4-208F95ACCE69}"/>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F6E775E1-B6EF-E2ED-2887-8F04FEB2E273}"/>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E57A6CD0-6089-3D1E-368E-D785A7E1C95F}"/>
              </a:ext>
            </a:extLst>
          </p:cNvPr>
          <p:cNvSpPr>
            <a:spLocks noGrp="1"/>
          </p:cNvSpPr>
          <p:nvPr>
            <p:ph type="sldNum" sz="quarter" idx="5"/>
          </p:nvPr>
        </p:nvSpPr>
        <p:spPr/>
        <p:txBody>
          <a:bodyPr/>
          <a:lstStyle/>
          <a:p>
            <a:fld id="{C9D89646-4F35-49C2-BD28-89287C170EC3}" type="slidenum">
              <a:rPr lang="el-GR" smtClean="0"/>
              <a:t>21</a:t>
            </a:fld>
            <a:endParaRPr lang="el-GR"/>
          </a:p>
        </p:txBody>
      </p:sp>
    </p:spTree>
    <p:extLst>
      <p:ext uri="{BB962C8B-B14F-4D97-AF65-F5344CB8AC3E}">
        <p14:creationId xmlns:p14="http://schemas.microsoft.com/office/powerpoint/2010/main" val="39826190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1A707-9689-9DFD-291A-0E9E278B7E5E}"/>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3ABCF3F5-54C3-BC3D-6670-7F25E8E0A534}"/>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C8291D69-3A6C-AF88-BDD3-2706D85BACA5}"/>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E14247E0-9DAF-31D5-7E27-6A094BFEBA80}"/>
              </a:ext>
            </a:extLst>
          </p:cNvPr>
          <p:cNvSpPr>
            <a:spLocks noGrp="1"/>
          </p:cNvSpPr>
          <p:nvPr>
            <p:ph type="sldNum" sz="quarter" idx="5"/>
          </p:nvPr>
        </p:nvSpPr>
        <p:spPr/>
        <p:txBody>
          <a:bodyPr/>
          <a:lstStyle/>
          <a:p>
            <a:fld id="{C9D89646-4F35-49C2-BD28-89287C170EC3}" type="slidenum">
              <a:rPr lang="el-GR" smtClean="0"/>
              <a:t>22</a:t>
            </a:fld>
            <a:endParaRPr lang="el-GR"/>
          </a:p>
        </p:txBody>
      </p:sp>
    </p:spTree>
    <p:extLst>
      <p:ext uri="{BB962C8B-B14F-4D97-AF65-F5344CB8AC3E}">
        <p14:creationId xmlns:p14="http://schemas.microsoft.com/office/powerpoint/2010/main" val="1782620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B037C-9789-6A22-570E-4FAE96638CC3}"/>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A58E522F-FCF3-2638-B49F-959E08552F49}"/>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75773562-9433-7951-0593-3E646CFD10F9}"/>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12D452EB-D224-396C-0408-EF297A56C8F9}"/>
              </a:ext>
            </a:extLst>
          </p:cNvPr>
          <p:cNvSpPr>
            <a:spLocks noGrp="1"/>
          </p:cNvSpPr>
          <p:nvPr>
            <p:ph type="sldNum" sz="quarter" idx="5"/>
          </p:nvPr>
        </p:nvSpPr>
        <p:spPr/>
        <p:txBody>
          <a:bodyPr/>
          <a:lstStyle/>
          <a:p>
            <a:fld id="{C9D89646-4F35-49C2-BD28-89287C170EC3}" type="slidenum">
              <a:rPr lang="el-GR" smtClean="0"/>
              <a:t>23</a:t>
            </a:fld>
            <a:endParaRPr lang="el-GR"/>
          </a:p>
        </p:txBody>
      </p:sp>
    </p:spTree>
    <p:extLst>
      <p:ext uri="{BB962C8B-B14F-4D97-AF65-F5344CB8AC3E}">
        <p14:creationId xmlns:p14="http://schemas.microsoft.com/office/powerpoint/2010/main" val="28501874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F23DD-988F-FBA2-92D4-E9E03EAF8585}"/>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18147BE8-A055-1FA8-BA4A-6574E9B026EF}"/>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A8F679D0-0C8B-B7B8-4D75-E2D95784ED08}"/>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957A4CA5-5A71-ED68-1714-A1FBB1528B8B}"/>
              </a:ext>
            </a:extLst>
          </p:cNvPr>
          <p:cNvSpPr>
            <a:spLocks noGrp="1"/>
          </p:cNvSpPr>
          <p:nvPr>
            <p:ph type="sldNum" sz="quarter" idx="5"/>
          </p:nvPr>
        </p:nvSpPr>
        <p:spPr/>
        <p:txBody>
          <a:bodyPr/>
          <a:lstStyle/>
          <a:p>
            <a:fld id="{C9D89646-4F35-49C2-BD28-89287C170EC3}" type="slidenum">
              <a:rPr lang="el-GR" smtClean="0"/>
              <a:t>24</a:t>
            </a:fld>
            <a:endParaRPr lang="el-GR"/>
          </a:p>
        </p:txBody>
      </p:sp>
    </p:spTree>
    <p:extLst>
      <p:ext uri="{BB962C8B-B14F-4D97-AF65-F5344CB8AC3E}">
        <p14:creationId xmlns:p14="http://schemas.microsoft.com/office/powerpoint/2010/main" val="11366046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Διαφάνεια τίτλου">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1720F0C6-20AC-41EB-97A9-F4D49B814E72}"/>
              </a:ext>
            </a:extLst>
          </p:cNvPr>
          <p:cNvSpPr>
            <a:spLocks noGrp="1"/>
          </p:cNvSpPr>
          <p:nvPr>
            <p:ph type="ctrTitle"/>
          </p:nvPr>
        </p:nvSpPr>
        <p:spPr>
          <a:xfrm>
            <a:off x="1524000" y="1122363"/>
            <a:ext cx="9144000" cy="2387600"/>
          </a:xfrm>
        </p:spPr>
        <p:txBody>
          <a:bodyPr anchor="b"/>
          <a:lstStyle>
            <a:lvl1pPr algn="ctr">
              <a:defRPr sz="6000"/>
            </a:lvl1pPr>
          </a:lstStyle>
          <a:p>
            <a:r>
              <a:rPr lang="el-GR"/>
              <a:t>Κάντε κλικ για να επεξεργαστείτε τον τίτλο υποδείγματος</a:t>
            </a:r>
          </a:p>
        </p:txBody>
      </p:sp>
      <p:sp>
        <p:nvSpPr>
          <p:cNvPr id="3" name="Υπότιτλος 2">
            <a:extLst>
              <a:ext uri="{FF2B5EF4-FFF2-40B4-BE49-F238E27FC236}">
                <a16:creationId xmlns:a16="http://schemas.microsoft.com/office/drawing/2014/main" id="{E32E3D7A-E6B7-4F3B-A3A4-4325517390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l-GR"/>
              <a:t>Κάντε κλικ για να επεξεργαστείτε τον υπότιτλο του υποδείγματος</a:t>
            </a:r>
          </a:p>
        </p:txBody>
      </p:sp>
      <p:sp>
        <p:nvSpPr>
          <p:cNvPr id="4" name="Θέση ημερομηνίας 3">
            <a:extLst>
              <a:ext uri="{FF2B5EF4-FFF2-40B4-BE49-F238E27FC236}">
                <a16:creationId xmlns:a16="http://schemas.microsoft.com/office/drawing/2014/main" id="{5913F9FC-9EB9-4B41-B003-FC4C036B10AF}"/>
              </a:ext>
            </a:extLst>
          </p:cNvPr>
          <p:cNvSpPr>
            <a:spLocks noGrp="1"/>
          </p:cNvSpPr>
          <p:nvPr>
            <p:ph type="dt" sz="half" idx="10"/>
          </p:nvPr>
        </p:nvSpPr>
        <p:spPr/>
        <p:txBody>
          <a:bodyPr/>
          <a:lstStyle/>
          <a:p>
            <a:fld id="{77C47DEE-5753-44EA-A073-053903F4D65C}" type="datetimeFigureOut">
              <a:rPr lang="el-GR" smtClean="0"/>
              <a:t>14/10/2025</a:t>
            </a:fld>
            <a:endParaRPr lang="el-GR"/>
          </a:p>
        </p:txBody>
      </p:sp>
      <p:sp>
        <p:nvSpPr>
          <p:cNvPr id="5" name="Θέση υποσέλιδου 4">
            <a:extLst>
              <a:ext uri="{FF2B5EF4-FFF2-40B4-BE49-F238E27FC236}">
                <a16:creationId xmlns:a16="http://schemas.microsoft.com/office/drawing/2014/main" id="{3FB8E113-6156-4872-81CC-442E8373B36D}"/>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76173B9A-A0EA-47D7-8D18-B6E2BD95D9D4}"/>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299227115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Τίτλος και περιεχόμενο">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AFF7B4CC-9312-4102-9C7A-DD5776C36EC4}"/>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59207E59-B014-409F-8E39-F07CF6FA4572}"/>
              </a:ext>
            </a:extLst>
          </p:cNvPr>
          <p:cNvSpPr>
            <a:spLocks noGrp="1"/>
          </p:cNvSpPr>
          <p:nvPr>
            <p:ph idx="1"/>
          </p:nvPr>
        </p:nvSpPr>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a:extLst>
              <a:ext uri="{FF2B5EF4-FFF2-40B4-BE49-F238E27FC236}">
                <a16:creationId xmlns:a16="http://schemas.microsoft.com/office/drawing/2014/main" id="{D28C698E-FDE3-406F-AEF7-58C354D6FB0E}"/>
              </a:ext>
            </a:extLst>
          </p:cNvPr>
          <p:cNvSpPr>
            <a:spLocks noGrp="1"/>
          </p:cNvSpPr>
          <p:nvPr>
            <p:ph type="dt" sz="half" idx="10"/>
          </p:nvPr>
        </p:nvSpPr>
        <p:spPr/>
        <p:txBody>
          <a:bodyPr/>
          <a:lstStyle/>
          <a:p>
            <a:fld id="{77C47DEE-5753-44EA-A073-053903F4D65C}" type="datetimeFigureOut">
              <a:rPr lang="el-GR" smtClean="0"/>
              <a:t>14/10/2025</a:t>
            </a:fld>
            <a:endParaRPr lang="el-GR"/>
          </a:p>
        </p:txBody>
      </p:sp>
      <p:sp>
        <p:nvSpPr>
          <p:cNvPr id="5" name="Θέση υποσέλιδου 4">
            <a:extLst>
              <a:ext uri="{FF2B5EF4-FFF2-40B4-BE49-F238E27FC236}">
                <a16:creationId xmlns:a16="http://schemas.microsoft.com/office/drawing/2014/main" id="{1DBB6EE0-1F7E-4C3D-8524-627F4FAB7F04}"/>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115A0C17-4537-4F4D-B727-1C89BF11BF95}"/>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220215051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Κεφαλίδα ενότητας">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0FAD7298-5AF8-4835-97EB-C16ED6D23C12}"/>
              </a:ext>
            </a:extLst>
          </p:cNvPr>
          <p:cNvSpPr>
            <a:spLocks noGrp="1"/>
          </p:cNvSpPr>
          <p:nvPr>
            <p:ph type="title"/>
          </p:nvPr>
        </p:nvSpPr>
        <p:spPr>
          <a:xfrm>
            <a:off x="831850" y="1709738"/>
            <a:ext cx="10515600" cy="2852737"/>
          </a:xfrm>
        </p:spPr>
        <p:txBody>
          <a:bodyPr anchor="b"/>
          <a:lstStyle>
            <a:lvl1pPr>
              <a:defRPr sz="6000"/>
            </a:lvl1p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3D2EC4FE-ACD0-4F71-A34B-36ED9050612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l-GR"/>
              <a:t>Επεξεργασία στυλ υποδείγματος κειμένου</a:t>
            </a:r>
          </a:p>
        </p:txBody>
      </p:sp>
      <p:sp>
        <p:nvSpPr>
          <p:cNvPr id="4" name="Θέση ημερομηνίας 3">
            <a:extLst>
              <a:ext uri="{FF2B5EF4-FFF2-40B4-BE49-F238E27FC236}">
                <a16:creationId xmlns:a16="http://schemas.microsoft.com/office/drawing/2014/main" id="{0525369C-E8DA-4A41-A021-C2AFFA6BA4A0}"/>
              </a:ext>
            </a:extLst>
          </p:cNvPr>
          <p:cNvSpPr>
            <a:spLocks noGrp="1"/>
          </p:cNvSpPr>
          <p:nvPr>
            <p:ph type="dt" sz="half" idx="10"/>
          </p:nvPr>
        </p:nvSpPr>
        <p:spPr/>
        <p:txBody>
          <a:bodyPr/>
          <a:lstStyle/>
          <a:p>
            <a:fld id="{77C47DEE-5753-44EA-A073-053903F4D65C}" type="datetimeFigureOut">
              <a:rPr lang="el-GR" smtClean="0"/>
              <a:t>14/10/2025</a:t>
            </a:fld>
            <a:endParaRPr lang="el-GR"/>
          </a:p>
        </p:txBody>
      </p:sp>
      <p:sp>
        <p:nvSpPr>
          <p:cNvPr id="5" name="Θέση υποσέλιδου 4">
            <a:extLst>
              <a:ext uri="{FF2B5EF4-FFF2-40B4-BE49-F238E27FC236}">
                <a16:creationId xmlns:a16="http://schemas.microsoft.com/office/drawing/2014/main" id="{09E6631D-4B2B-42B6-B88C-990FA7605C60}"/>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54B4A319-5C9B-46DF-96B8-F30BC39F7913}"/>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394177447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8DD86A31-D5EC-46FA-A235-F151422FA948}"/>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052F68FD-8072-4020-B6C4-C8DEF5ACC9D2}"/>
              </a:ext>
            </a:extLst>
          </p:cNvPr>
          <p:cNvSpPr>
            <a:spLocks noGrp="1"/>
          </p:cNvSpPr>
          <p:nvPr>
            <p:ph sz="half" idx="1"/>
          </p:nvPr>
        </p:nvSpPr>
        <p:spPr>
          <a:xfrm>
            <a:off x="838200" y="1825625"/>
            <a:ext cx="5181600" cy="4351338"/>
          </a:xfrm>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περιεχομένου 3">
            <a:extLst>
              <a:ext uri="{FF2B5EF4-FFF2-40B4-BE49-F238E27FC236}">
                <a16:creationId xmlns:a16="http://schemas.microsoft.com/office/drawing/2014/main" id="{CB43AF00-F0E0-4F57-8814-5AB4B0C031DB}"/>
              </a:ext>
            </a:extLst>
          </p:cNvPr>
          <p:cNvSpPr>
            <a:spLocks noGrp="1"/>
          </p:cNvSpPr>
          <p:nvPr>
            <p:ph sz="half" idx="2"/>
          </p:nvPr>
        </p:nvSpPr>
        <p:spPr>
          <a:xfrm>
            <a:off x="6172200" y="1825625"/>
            <a:ext cx="5181600" cy="4351338"/>
          </a:xfrm>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5" name="Θέση ημερομηνίας 4">
            <a:extLst>
              <a:ext uri="{FF2B5EF4-FFF2-40B4-BE49-F238E27FC236}">
                <a16:creationId xmlns:a16="http://schemas.microsoft.com/office/drawing/2014/main" id="{89D9695B-1677-4255-A36B-ADA53963E256}"/>
              </a:ext>
            </a:extLst>
          </p:cNvPr>
          <p:cNvSpPr>
            <a:spLocks noGrp="1"/>
          </p:cNvSpPr>
          <p:nvPr>
            <p:ph type="dt" sz="half" idx="10"/>
          </p:nvPr>
        </p:nvSpPr>
        <p:spPr/>
        <p:txBody>
          <a:bodyPr/>
          <a:lstStyle/>
          <a:p>
            <a:fld id="{77C47DEE-5753-44EA-A073-053903F4D65C}" type="datetimeFigureOut">
              <a:rPr lang="el-GR" smtClean="0"/>
              <a:t>14/10/2025</a:t>
            </a:fld>
            <a:endParaRPr lang="el-GR"/>
          </a:p>
        </p:txBody>
      </p:sp>
      <p:sp>
        <p:nvSpPr>
          <p:cNvPr id="6" name="Θέση υποσέλιδου 5">
            <a:extLst>
              <a:ext uri="{FF2B5EF4-FFF2-40B4-BE49-F238E27FC236}">
                <a16:creationId xmlns:a16="http://schemas.microsoft.com/office/drawing/2014/main" id="{32F05351-67C2-46C6-A91C-414650F2CC4A}"/>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id="{7D2959A3-E6A4-4BB0-BE95-F23CF5F56685}"/>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329874069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Σύγκριση">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41550276-9848-4578-8364-691220AD21E6}"/>
              </a:ext>
            </a:extLst>
          </p:cNvPr>
          <p:cNvSpPr>
            <a:spLocks noGrp="1"/>
          </p:cNvSpPr>
          <p:nvPr>
            <p:ph type="title"/>
          </p:nvPr>
        </p:nvSpPr>
        <p:spPr>
          <a:xfrm>
            <a:off x="839788" y="365125"/>
            <a:ext cx="10515600" cy="1325563"/>
          </a:xfrm>
        </p:spPr>
        <p:txBody>
          <a:body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11C9CFA5-81EF-4418-9CE2-C9EB8CE5F8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Επεξεργασία στυλ υποδείγματος κειμένου</a:t>
            </a:r>
          </a:p>
        </p:txBody>
      </p:sp>
      <p:sp>
        <p:nvSpPr>
          <p:cNvPr id="4" name="Θέση περιεχομένου 3">
            <a:extLst>
              <a:ext uri="{FF2B5EF4-FFF2-40B4-BE49-F238E27FC236}">
                <a16:creationId xmlns:a16="http://schemas.microsoft.com/office/drawing/2014/main" id="{8144BA92-B3F1-426D-9721-D505666C5228}"/>
              </a:ext>
            </a:extLst>
          </p:cNvPr>
          <p:cNvSpPr>
            <a:spLocks noGrp="1"/>
          </p:cNvSpPr>
          <p:nvPr>
            <p:ph sz="half" idx="2"/>
          </p:nvPr>
        </p:nvSpPr>
        <p:spPr>
          <a:xfrm>
            <a:off x="839788" y="2505075"/>
            <a:ext cx="5157787" cy="3684588"/>
          </a:xfrm>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5" name="Θέση κειμένου 4">
            <a:extLst>
              <a:ext uri="{FF2B5EF4-FFF2-40B4-BE49-F238E27FC236}">
                <a16:creationId xmlns:a16="http://schemas.microsoft.com/office/drawing/2014/main" id="{34964523-2FE6-420B-BF7F-3ED5906588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Επεξεργασία στυλ υποδείγματος κειμένου</a:t>
            </a:r>
          </a:p>
        </p:txBody>
      </p:sp>
      <p:sp>
        <p:nvSpPr>
          <p:cNvPr id="6" name="Θέση περιεχομένου 5">
            <a:extLst>
              <a:ext uri="{FF2B5EF4-FFF2-40B4-BE49-F238E27FC236}">
                <a16:creationId xmlns:a16="http://schemas.microsoft.com/office/drawing/2014/main" id="{4EE8D821-AC0B-4F1C-AC1B-68CAEA6E8CA5}"/>
              </a:ext>
            </a:extLst>
          </p:cNvPr>
          <p:cNvSpPr>
            <a:spLocks noGrp="1"/>
          </p:cNvSpPr>
          <p:nvPr>
            <p:ph sz="quarter" idx="4"/>
          </p:nvPr>
        </p:nvSpPr>
        <p:spPr>
          <a:xfrm>
            <a:off x="6172200" y="2505075"/>
            <a:ext cx="5183188" cy="3684588"/>
          </a:xfrm>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7" name="Θέση ημερομηνίας 6">
            <a:extLst>
              <a:ext uri="{FF2B5EF4-FFF2-40B4-BE49-F238E27FC236}">
                <a16:creationId xmlns:a16="http://schemas.microsoft.com/office/drawing/2014/main" id="{0836FDB2-AE28-437A-B450-FC5FA0970633}"/>
              </a:ext>
            </a:extLst>
          </p:cNvPr>
          <p:cNvSpPr>
            <a:spLocks noGrp="1"/>
          </p:cNvSpPr>
          <p:nvPr>
            <p:ph type="dt" sz="half" idx="10"/>
          </p:nvPr>
        </p:nvSpPr>
        <p:spPr/>
        <p:txBody>
          <a:bodyPr/>
          <a:lstStyle/>
          <a:p>
            <a:fld id="{77C47DEE-5753-44EA-A073-053903F4D65C}" type="datetimeFigureOut">
              <a:rPr lang="el-GR" smtClean="0"/>
              <a:t>14/10/2025</a:t>
            </a:fld>
            <a:endParaRPr lang="el-GR"/>
          </a:p>
        </p:txBody>
      </p:sp>
      <p:sp>
        <p:nvSpPr>
          <p:cNvPr id="8" name="Θέση υποσέλιδου 7">
            <a:extLst>
              <a:ext uri="{FF2B5EF4-FFF2-40B4-BE49-F238E27FC236}">
                <a16:creationId xmlns:a16="http://schemas.microsoft.com/office/drawing/2014/main" id="{3CC56F37-5360-4ED6-9EFB-B4959D6A052A}"/>
              </a:ext>
            </a:extLst>
          </p:cNvPr>
          <p:cNvSpPr>
            <a:spLocks noGrp="1"/>
          </p:cNvSpPr>
          <p:nvPr>
            <p:ph type="ftr" sz="quarter" idx="11"/>
          </p:nvPr>
        </p:nvSpPr>
        <p:spPr/>
        <p:txBody>
          <a:bodyPr/>
          <a:lstStyle/>
          <a:p>
            <a:endParaRPr lang="el-GR"/>
          </a:p>
        </p:txBody>
      </p:sp>
      <p:sp>
        <p:nvSpPr>
          <p:cNvPr id="9" name="Θέση αριθμού διαφάνειας 8">
            <a:extLst>
              <a:ext uri="{FF2B5EF4-FFF2-40B4-BE49-F238E27FC236}">
                <a16:creationId xmlns:a16="http://schemas.microsoft.com/office/drawing/2014/main" id="{8423FDBB-6E0A-4AD0-AD73-FB22040EE5F5}"/>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188523971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12BE337C-659B-44A0-815E-1CE7F2FDBE91}"/>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ημερομηνίας 2">
            <a:extLst>
              <a:ext uri="{FF2B5EF4-FFF2-40B4-BE49-F238E27FC236}">
                <a16:creationId xmlns:a16="http://schemas.microsoft.com/office/drawing/2014/main" id="{59D7B6A3-3626-4AD7-97D4-F6210A23721E}"/>
              </a:ext>
            </a:extLst>
          </p:cNvPr>
          <p:cNvSpPr>
            <a:spLocks noGrp="1"/>
          </p:cNvSpPr>
          <p:nvPr>
            <p:ph type="dt" sz="half" idx="10"/>
          </p:nvPr>
        </p:nvSpPr>
        <p:spPr/>
        <p:txBody>
          <a:bodyPr/>
          <a:lstStyle/>
          <a:p>
            <a:fld id="{77C47DEE-5753-44EA-A073-053903F4D65C}" type="datetimeFigureOut">
              <a:rPr lang="el-GR" smtClean="0"/>
              <a:t>14/10/2025</a:t>
            </a:fld>
            <a:endParaRPr lang="el-GR"/>
          </a:p>
        </p:txBody>
      </p:sp>
      <p:sp>
        <p:nvSpPr>
          <p:cNvPr id="4" name="Θέση υποσέλιδου 3">
            <a:extLst>
              <a:ext uri="{FF2B5EF4-FFF2-40B4-BE49-F238E27FC236}">
                <a16:creationId xmlns:a16="http://schemas.microsoft.com/office/drawing/2014/main" id="{D50B290B-CDC6-4F07-927A-EB7F796E2DA3}"/>
              </a:ext>
            </a:extLst>
          </p:cNvPr>
          <p:cNvSpPr>
            <a:spLocks noGrp="1"/>
          </p:cNvSpPr>
          <p:nvPr>
            <p:ph type="ftr" sz="quarter" idx="11"/>
          </p:nvPr>
        </p:nvSpPr>
        <p:spPr/>
        <p:txBody>
          <a:bodyPr/>
          <a:lstStyle/>
          <a:p>
            <a:endParaRPr lang="el-GR"/>
          </a:p>
        </p:txBody>
      </p:sp>
      <p:sp>
        <p:nvSpPr>
          <p:cNvPr id="5" name="Θέση αριθμού διαφάνειας 4">
            <a:extLst>
              <a:ext uri="{FF2B5EF4-FFF2-40B4-BE49-F238E27FC236}">
                <a16:creationId xmlns:a16="http://schemas.microsoft.com/office/drawing/2014/main" id="{5AD0E512-8E7A-4A77-8496-D36864CFC6EE}"/>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322446073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Κενό">
    <p:spTree>
      <p:nvGrpSpPr>
        <p:cNvPr id="1" name=""/>
        <p:cNvGrpSpPr/>
        <p:nvPr/>
      </p:nvGrpSpPr>
      <p:grpSpPr>
        <a:xfrm>
          <a:off x="0" y="0"/>
          <a:ext cx="0" cy="0"/>
          <a:chOff x="0" y="0"/>
          <a:chExt cx="0" cy="0"/>
        </a:xfrm>
      </p:grpSpPr>
      <p:sp>
        <p:nvSpPr>
          <p:cNvPr id="2" name="Θέση ημερομηνίας 1">
            <a:extLst>
              <a:ext uri="{FF2B5EF4-FFF2-40B4-BE49-F238E27FC236}">
                <a16:creationId xmlns:a16="http://schemas.microsoft.com/office/drawing/2014/main" id="{05F803E6-97F1-4D9B-A18A-566A4A16D1A4}"/>
              </a:ext>
            </a:extLst>
          </p:cNvPr>
          <p:cNvSpPr>
            <a:spLocks noGrp="1"/>
          </p:cNvSpPr>
          <p:nvPr>
            <p:ph type="dt" sz="half" idx="10"/>
          </p:nvPr>
        </p:nvSpPr>
        <p:spPr/>
        <p:txBody>
          <a:bodyPr/>
          <a:lstStyle/>
          <a:p>
            <a:fld id="{77C47DEE-5753-44EA-A073-053903F4D65C}" type="datetimeFigureOut">
              <a:rPr lang="el-GR" smtClean="0"/>
              <a:t>14/10/2025</a:t>
            </a:fld>
            <a:endParaRPr lang="el-GR"/>
          </a:p>
        </p:txBody>
      </p:sp>
      <p:sp>
        <p:nvSpPr>
          <p:cNvPr id="3" name="Θέση υποσέλιδου 2">
            <a:extLst>
              <a:ext uri="{FF2B5EF4-FFF2-40B4-BE49-F238E27FC236}">
                <a16:creationId xmlns:a16="http://schemas.microsoft.com/office/drawing/2014/main" id="{D16003C0-6EB6-4C9B-A531-7B4E3CE4C6EF}"/>
              </a:ext>
            </a:extLst>
          </p:cNvPr>
          <p:cNvSpPr>
            <a:spLocks noGrp="1"/>
          </p:cNvSpPr>
          <p:nvPr>
            <p:ph type="ftr" sz="quarter" idx="11"/>
          </p:nvPr>
        </p:nvSpPr>
        <p:spPr/>
        <p:txBody>
          <a:bodyPr/>
          <a:lstStyle/>
          <a:p>
            <a:endParaRPr lang="el-GR"/>
          </a:p>
        </p:txBody>
      </p:sp>
      <p:sp>
        <p:nvSpPr>
          <p:cNvPr id="4" name="Θέση αριθμού διαφάνειας 3">
            <a:extLst>
              <a:ext uri="{FF2B5EF4-FFF2-40B4-BE49-F238E27FC236}">
                <a16:creationId xmlns:a16="http://schemas.microsoft.com/office/drawing/2014/main" id="{2EA301AA-05AA-466A-BB11-E4CEB6F9F9F8}"/>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70658160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Περιεχόμενο με λεζάντ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FEAAEFBB-DCF4-46CF-9FC6-8D65BCEB99F2}"/>
              </a:ext>
            </a:extLst>
          </p:cNvPr>
          <p:cNvSpPr>
            <a:spLocks noGrp="1"/>
          </p:cNvSpPr>
          <p:nvPr>
            <p:ph type="title"/>
          </p:nvPr>
        </p:nvSpPr>
        <p:spPr>
          <a:xfrm>
            <a:off x="839788" y="457200"/>
            <a:ext cx="3932237" cy="1600200"/>
          </a:xfrm>
        </p:spPr>
        <p:txBody>
          <a:bodyPr anchor="b"/>
          <a:lstStyle>
            <a:lvl1pPr>
              <a:defRPr sz="3200"/>
            </a:lvl1p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DFACB05B-E524-44F7-BF66-694B0E33382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κειμένου 3">
            <a:extLst>
              <a:ext uri="{FF2B5EF4-FFF2-40B4-BE49-F238E27FC236}">
                <a16:creationId xmlns:a16="http://schemas.microsoft.com/office/drawing/2014/main" id="{5473C60C-80C9-4542-852E-B22F6BA607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Επεξεργασία στυλ υποδείγματος κειμένου</a:t>
            </a:r>
          </a:p>
        </p:txBody>
      </p:sp>
      <p:sp>
        <p:nvSpPr>
          <p:cNvPr id="5" name="Θέση ημερομηνίας 4">
            <a:extLst>
              <a:ext uri="{FF2B5EF4-FFF2-40B4-BE49-F238E27FC236}">
                <a16:creationId xmlns:a16="http://schemas.microsoft.com/office/drawing/2014/main" id="{5209058B-2FCA-4D37-A928-B77A09F78313}"/>
              </a:ext>
            </a:extLst>
          </p:cNvPr>
          <p:cNvSpPr>
            <a:spLocks noGrp="1"/>
          </p:cNvSpPr>
          <p:nvPr>
            <p:ph type="dt" sz="half" idx="10"/>
          </p:nvPr>
        </p:nvSpPr>
        <p:spPr/>
        <p:txBody>
          <a:bodyPr/>
          <a:lstStyle/>
          <a:p>
            <a:fld id="{77C47DEE-5753-44EA-A073-053903F4D65C}" type="datetimeFigureOut">
              <a:rPr lang="el-GR" smtClean="0"/>
              <a:t>14/10/2025</a:t>
            </a:fld>
            <a:endParaRPr lang="el-GR"/>
          </a:p>
        </p:txBody>
      </p:sp>
      <p:sp>
        <p:nvSpPr>
          <p:cNvPr id="6" name="Θέση υποσέλιδου 5">
            <a:extLst>
              <a:ext uri="{FF2B5EF4-FFF2-40B4-BE49-F238E27FC236}">
                <a16:creationId xmlns:a16="http://schemas.microsoft.com/office/drawing/2014/main" id="{2F8D9052-7B1B-4DEA-BE59-76E1CA206034}"/>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id="{7F7BFCBB-BB2D-41CB-8EF4-1D6154D0585F}"/>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254644047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Εικόνα με λεζάντ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7AA72A12-B4CE-41C0-824E-4DB22C0C50F5}"/>
              </a:ext>
            </a:extLst>
          </p:cNvPr>
          <p:cNvSpPr>
            <a:spLocks noGrp="1"/>
          </p:cNvSpPr>
          <p:nvPr>
            <p:ph type="title"/>
          </p:nvPr>
        </p:nvSpPr>
        <p:spPr>
          <a:xfrm>
            <a:off x="839788" y="457200"/>
            <a:ext cx="3932237" cy="1600200"/>
          </a:xfrm>
        </p:spPr>
        <p:txBody>
          <a:bodyPr anchor="b"/>
          <a:lstStyle>
            <a:lvl1pPr>
              <a:defRPr sz="3200"/>
            </a:lvl1pPr>
          </a:lstStyle>
          <a:p>
            <a:r>
              <a:rPr lang="el-GR"/>
              <a:t>Κάντε κλικ για να επεξεργαστείτε τον τίτλο υποδείγματος</a:t>
            </a:r>
          </a:p>
        </p:txBody>
      </p:sp>
      <p:sp>
        <p:nvSpPr>
          <p:cNvPr id="3" name="Θέση εικόνας 2">
            <a:extLst>
              <a:ext uri="{FF2B5EF4-FFF2-40B4-BE49-F238E27FC236}">
                <a16:creationId xmlns:a16="http://schemas.microsoft.com/office/drawing/2014/main" id="{4331ABF6-AF41-4DA6-82BC-340BA63822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l-GR"/>
          </a:p>
        </p:txBody>
      </p:sp>
      <p:sp>
        <p:nvSpPr>
          <p:cNvPr id="4" name="Θέση κειμένου 3">
            <a:extLst>
              <a:ext uri="{FF2B5EF4-FFF2-40B4-BE49-F238E27FC236}">
                <a16:creationId xmlns:a16="http://schemas.microsoft.com/office/drawing/2014/main" id="{D4AD854A-F202-4241-AFA5-8F8D5175F3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Επεξεργασία στυλ υποδείγματος κειμένου</a:t>
            </a:r>
          </a:p>
        </p:txBody>
      </p:sp>
      <p:sp>
        <p:nvSpPr>
          <p:cNvPr id="5" name="Θέση ημερομηνίας 4">
            <a:extLst>
              <a:ext uri="{FF2B5EF4-FFF2-40B4-BE49-F238E27FC236}">
                <a16:creationId xmlns:a16="http://schemas.microsoft.com/office/drawing/2014/main" id="{D2D25601-E5C6-4DAA-A438-750D7B0C4393}"/>
              </a:ext>
            </a:extLst>
          </p:cNvPr>
          <p:cNvSpPr>
            <a:spLocks noGrp="1"/>
          </p:cNvSpPr>
          <p:nvPr>
            <p:ph type="dt" sz="half" idx="10"/>
          </p:nvPr>
        </p:nvSpPr>
        <p:spPr/>
        <p:txBody>
          <a:bodyPr/>
          <a:lstStyle/>
          <a:p>
            <a:fld id="{77C47DEE-5753-44EA-A073-053903F4D65C}" type="datetimeFigureOut">
              <a:rPr lang="el-GR" smtClean="0"/>
              <a:t>14/10/2025</a:t>
            </a:fld>
            <a:endParaRPr lang="el-GR"/>
          </a:p>
        </p:txBody>
      </p:sp>
      <p:sp>
        <p:nvSpPr>
          <p:cNvPr id="6" name="Θέση υποσέλιδου 5">
            <a:extLst>
              <a:ext uri="{FF2B5EF4-FFF2-40B4-BE49-F238E27FC236}">
                <a16:creationId xmlns:a16="http://schemas.microsoft.com/office/drawing/2014/main" id="{C1A411BF-7CE1-4136-85D0-CEA759EB38CE}"/>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id="{EBD64BFB-00A3-49A7-B9AF-C93C938A5D40}"/>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30686341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7CBF383B-9D9C-4567-A73F-3964FF66D08D}"/>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κατακόρυφου κειμένου 2">
            <a:extLst>
              <a:ext uri="{FF2B5EF4-FFF2-40B4-BE49-F238E27FC236}">
                <a16:creationId xmlns:a16="http://schemas.microsoft.com/office/drawing/2014/main" id="{42568873-5978-4A13-BA12-F77F173EB2AE}"/>
              </a:ext>
            </a:extLst>
          </p:cNvPr>
          <p:cNvSpPr>
            <a:spLocks noGrp="1"/>
          </p:cNvSpPr>
          <p:nvPr>
            <p:ph type="body" orient="vert" idx="1"/>
          </p:nvPr>
        </p:nvSpPr>
        <p:spPr/>
        <p:txBody>
          <a:bodyPr vert="eaVert"/>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a:extLst>
              <a:ext uri="{FF2B5EF4-FFF2-40B4-BE49-F238E27FC236}">
                <a16:creationId xmlns:a16="http://schemas.microsoft.com/office/drawing/2014/main" id="{788EFFCE-A34B-4F95-B3D5-603927E16998}"/>
              </a:ext>
            </a:extLst>
          </p:cNvPr>
          <p:cNvSpPr>
            <a:spLocks noGrp="1"/>
          </p:cNvSpPr>
          <p:nvPr>
            <p:ph type="dt" sz="half" idx="10"/>
          </p:nvPr>
        </p:nvSpPr>
        <p:spPr/>
        <p:txBody>
          <a:bodyPr/>
          <a:lstStyle/>
          <a:p>
            <a:fld id="{77C47DEE-5753-44EA-A073-053903F4D65C}" type="datetimeFigureOut">
              <a:rPr lang="el-GR" smtClean="0"/>
              <a:t>14/10/2025</a:t>
            </a:fld>
            <a:endParaRPr lang="el-GR"/>
          </a:p>
        </p:txBody>
      </p:sp>
      <p:sp>
        <p:nvSpPr>
          <p:cNvPr id="5" name="Θέση υποσέλιδου 4">
            <a:extLst>
              <a:ext uri="{FF2B5EF4-FFF2-40B4-BE49-F238E27FC236}">
                <a16:creationId xmlns:a16="http://schemas.microsoft.com/office/drawing/2014/main" id="{1BE576DF-BE6C-4DE7-BDD8-60E8F026DE82}"/>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74B323CB-AAB1-4C9E-AE28-C6179CB9C315}"/>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9965647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Κατακόρυφος τίτλος και Κείμενο">
    <p:spTree>
      <p:nvGrpSpPr>
        <p:cNvPr id="1" name=""/>
        <p:cNvGrpSpPr/>
        <p:nvPr/>
      </p:nvGrpSpPr>
      <p:grpSpPr>
        <a:xfrm>
          <a:off x="0" y="0"/>
          <a:ext cx="0" cy="0"/>
          <a:chOff x="0" y="0"/>
          <a:chExt cx="0" cy="0"/>
        </a:xfrm>
      </p:grpSpPr>
      <p:sp>
        <p:nvSpPr>
          <p:cNvPr id="2" name="Κατακόρυφος τίτλος 1">
            <a:extLst>
              <a:ext uri="{FF2B5EF4-FFF2-40B4-BE49-F238E27FC236}">
                <a16:creationId xmlns:a16="http://schemas.microsoft.com/office/drawing/2014/main" id="{E176F3CB-2A60-46CD-8CF9-DD053E08C844}"/>
              </a:ext>
            </a:extLst>
          </p:cNvPr>
          <p:cNvSpPr>
            <a:spLocks noGrp="1"/>
          </p:cNvSpPr>
          <p:nvPr>
            <p:ph type="title" orient="vert"/>
          </p:nvPr>
        </p:nvSpPr>
        <p:spPr>
          <a:xfrm>
            <a:off x="8724900" y="365125"/>
            <a:ext cx="2628900" cy="5811838"/>
          </a:xfrm>
        </p:spPr>
        <p:txBody>
          <a:bodyPr vert="eaVert"/>
          <a:lstStyle/>
          <a:p>
            <a:r>
              <a:rPr lang="el-GR"/>
              <a:t>Κάντε κλικ για να επεξεργαστείτε τον τίτλο υποδείγματος</a:t>
            </a:r>
          </a:p>
        </p:txBody>
      </p:sp>
      <p:sp>
        <p:nvSpPr>
          <p:cNvPr id="3" name="Θέση κατακόρυφου κειμένου 2">
            <a:extLst>
              <a:ext uri="{FF2B5EF4-FFF2-40B4-BE49-F238E27FC236}">
                <a16:creationId xmlns:a16="http://schemas.microsoft.com/office/drawing/2014/main" id="{62F4BEC8-6DEB-41E5-B12D-18B14C6B0A04}"/>
              </a:ext>
            </a:extLst>
          </p:cNvPr>
          <p:cNvSpPr>
            <a:spLocks noGrp="1"/>
          </p:cNvSpPr>
          <p:nvPr>
            <p:ph type="body" orient="vert" idx="1"/>
          </p:nvPr>
        </p:nvSpPr>
        <p:spPr>
          <a:xfrm>
            <a:off x="838200" y="365125"/>
            <a:ext cx="7734300" cy="5811838"/>
          </a:xfrm>
        </p:spPr>
        <p:txBody>
          <a:bodyPr vert="eaVert"/>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a:extLst>
              <a:ext uri="{FF2B5EF4-FFF2-40B4-BE49-F238E27FC236}">
                <a16:creationId xmlns:a16="http://schemas.microsoft.com/office/drawing/2014/main" id="{CC7DD041-7F64-4984-A13C-EE7907028650}"/>
              </a:ext>
            </a:extLst>
          </p:cNvPr>
          <p:cNvSpPr>
            <a:spLocks noGrp="1"/>
          </p:cNvSpPr>
          <p:nvPr>
            <p:ph type="dt" sz="half" idx="10"/>
          </p:nvPr>
        </p:nvSpPr>
        <p:spPr/>
        <p:txBody>
          <a:bodyPr/>
          <a:lstStyle/>
          <a:p>
            <a:fld id="{77C47DEE-5753-44EA-A073-053903F4D65C}" type="datetimeFigureOut">
              <a:rPr lang="el-GR" smtClean="0"/>
              <a:t>14/10/2025</a:t>
            </a:fld>
            <a:endParaRPr lang="el-GR"/>
          </a:p>
        </p:txBody>
      </p:sp>
      <p:sp>
        <p:nvSpPr>
          <p:cNvPr id="5" name="Θέση υποσέλιδου 4">
            <a:extLst>
              <a:ext uri="{FF2B5EF4-FFF2-40B4-BE49-F238E27FC236}">
                <a16:creationId xmlns:a16="http://schemas.microsoft.com/office/drawing/2014/main" id="{6502BD5F-24B7-4FDD-BD59-39295F5737B5}"/>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4E0B5687-7B67-47CF-995B-36EF0D417F48}"/>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399713989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Διαφάνεια τίτλου">
    <p:spTree>
      <p:nvGrpSpPr>
        <p:cNvPr id="1" name=""/>
        <p:cNvGrpSpPr/>
        <p:nvPr/>
      </p:nvGrpSpPr>
      <p:grpSpPr>
        <a:xfrm>
          <a:off x="0" y="0"/>
          <a:ext cx="0" cy="0"/>
          <a:chOff x="0" y="0"/>
          <a:chExt cx="0" cy="0"/>
        </a:xfrm>
      </p:grpSpPr>
      <p:sp>
        <p:nvSpPr>
          <p:cNvPr id="2" name="Τίτλος 1"/>
          <p:cNvSpPr>
            <a:spLocks noGrp="1"/>
          </p:cNvSpPr>
          <p:nvPr>
            <p:ph type="ctrTitle"/>
          </p:nvPr>
        </p:nvSpPr>
        <p:spPr>
          <a:xfrm>
            <a:off x="1524000" y="1122363"/>
            <a:ext cx="9144000" cy="2387600"/>
          </a:xfrm>
        </p:spPr>
        <p:txBody>
          <a:bodyPr anchor="b"/>
          <a:lstStyle>
            <a:lvl1pPr algn="ctr">
              <a:defRPr sz="6000"/>
            </a:lvl1pPr>
          </a:lstStyle>
          <a:p>
            <a:r>
              <a:rPr lang="el-GR"/>
              <a:t>Στυλ κύριου τίτλου</a:t>
            </a:r>
          </a:p>
        </p:txBody>
      </p:sp>
      <p:sp>
        <p:nvSpPr>
          <p:cNvPr id="3" name="Υπότιτλος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l-GR"/>
              <a:t>Στυλ κύριου υπότιτλου</a:t>
            </a:r>
          </a:p>
        </p:txBody>
      </p:sp>
      <p:sp>
        <p:nvSpPr>
          <p:cNvPr id="4" name="Θέση ημερομηνίας 3"/>
          <p:cNvSpPr>
            <a:spLocks noGrp="1"/>
          </p:cNvSpPr>
          <p:nvPr>
            <p:ph type="dt" sz="half" idx="10"/>
          </p:nvPr>
        </p:nvSpPr>
        <p:spPr/>
        <p:txBody>
          <a:bodyPr/>
          <a:lstStyle/>
          <a:p>
            <a:fld id="{C858F2E9-5724-40D7-A084-8A9A9CED4F62}" type="datetimeFigureOut">
              <a:rPr lang="el-GR" smtClean="0"/>
              <a:t>14/10/2025</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142421661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Τίτλος και περιεχόμενο">
    <p:spTree>
      <p:nvGrpSpPr>
        <p:cNvPr id="1" name=""/>
        <p:cNvGrpSpPr/>
        <p:nvPr/>
      </p:nvGrpSpPr>
      <p:grpSpPr>
        <a:xfrm>
          <a:off x="0" y="0"/>
          <a:ext cx="0" cy="0"/>
          <a:chOff x="0" y="0"/>
          <a:chExt cx="0" cy="0"/>
        </a:xfrm>
      </p:grpSpPr>
      <p:sp>
        <p:nvSpPr>
          <p:cNvPr id="2" name="Τίτλος 1"/>
          <p:cNvSpPr>
            <a:spLocks noGrp="1"/>
          </p:cNvSpPr>
          <p:nvPr>
            <p:ph type="title"/>
          </p:nvPr>
        </p:nvSpPr>
        <p:spPr/>
        <p:txBody>
          <a:bodyPr/>
          <a:lstStyle/>
          <a:p>
            <a:r>
              <a:rPr lang="el-GR"/>
              <a:t>Στυλ κύριου τίτλου</a:t>
            </a:r>
          </a:p>
        </p:txBody>
      </p:sp>
      <p:sp>
        <p:nvSpPr>
          <p:cNvPr id="3" name="Θέση περιεχομένου 2"/>
          <p:cNvSpPr>
            <a:spLocks noGrp="1"/>
          </p:cNvSpPr>
          <p:nvPr>
            <p:ph idx="1"/>
          </p:nvPr>
        </p:nvSpPr>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p:cNvSpPr>
            <a:spLocks noGrp="1"/>
          </p:cNvSpPr>
          <p:nvPr>
            <p:ph type="dt" sz="half" idx="10"/>
          </p:nvPr>
        </p:nvSpPr>
        <p:spPr/>
        <p:txBody>
          <a:bodyPr/>
          <a:lstStyle/>
          <a:p>
            <a:fld id="{C858F2E9-5724-40D7-A084-8A9A9CED4F62}" type="datetimeFigureOut">
              <a:rPr lang="el-GR" smtClean="0"/>
              <a:t>14/10/2025</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141009571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Κεφαλίδα ενότητας">
    <p:spTree>
      <p:nvGrpSpPr>
        <p:cNvPr id="1" name=""/>
        <p:cNvGrpSpPr/>
        <p:nvPr/>
      </p:nvGrpSpPr>
      <p:grpSpPr>
        <a:xfrm>
          <a:off x="0" y="0"/>
          <a:ext cx="0" cy="0"/>
          <a:chOff x="0" y="0"/>
          <a:chExt cx="0" cy="0"/>
        </a:xfrm>
      </p:grpSpPr>
      <p:sp>
        <p:nvSpPr>
          <p:cNvPr id="2" name="Τίτλος 1"/>
          <p:cNvSpPr>
            <a:spLocks noGrp="1"/>
          </p:cNvSpPr>
          <p:nvPr>
            <p:ph type="title"/>
          </p:nvPr>
        </p:nvSpPr>
        <p:spPr>
          <a:xfrm>
            <a:off x="831850" y="1709738"/>
            <a:ext cx="10515600" cy="2852737"/>
          </a:xfrm>
        </p:spPr>
        <p:txBody>
          <a:bodyPr anchor="b"/>
          <a:lstStyle>
            <a:lvl1pPr>
              <a:defRPr sz="6000"/>
            </a:lvl1pPr>
          </a:lstStyle>
          <a:p>
            <a:r>
              <a:rPr lang="el-GR"/>
              <a:t>Στυλ κύριου τίτλου</a:t>
            </a:r>
          </a:p>
        </p:txBody>
      </p:sp>
      <p:sp>
        <p:nvSpPr>
          <p:cNvPr id="3" name="Θέση κειμένου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l-GR"/>
              <a:t>Στυλ υποδείγματος κειμένου</a:t>
            </a:r>
          </a:p>
        </p:txBody>
      </p:sp>
      <p:sp>
        <p:nvSpPr>
          <p:cNvPr id="4" name="Θέση ημερομηνίας 3"/>
          <p:cNvSpPr>
            <a:spLocks noGrp="1"/>
          </p:cNvSpPr>
          <p:nvPr>
            <p:ph type="dt" sz="half" idx="10"/>
          </p:nvPr>
        </p:nvSpPr>
        <p:spPr/>
        <p:txBody>
          <a:bodyPr/>
          <a:lstStyle/>
          <a:p>
            <a:fld id="{C858F2E9-5724-40D7-A084-8A9A9CED4F62}" type="datetimeFigureOut">
              <a:rPr lang="el-GR" smtClean="0"/>
              <a:t>14/10/2025</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5258685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Τίτλος 1"/>
          <p:cNvSpPr>
            <a:spLocks noGrp="1"/>
          </p:cNvSpPr>
          <p:nvPr>
            <p:ph type="title"/>
          </p:nvPr>
        </p:nvSpPr>
        <p:spPr/>
        <p:txBody>
          <a:bodyPr/>
          <a:lstStyle/>
          <a:p>
            <a:r>
              <a:rPr lang="el-GR"/>
              <a:t>Στυλ κύριου τίτλου</a:t>
            </a:r>
          </a:p>
        </p:txBody>
      </p:sp>
      <p:sp>
        <p:nvSpPr>
          <p:cNvPr id="3" name="Θέση περιεχομένου 2"/>
          <p:cNvSpPr>
            <a:spLocks noGrp="1"/>
          </p:cNvSpPr>
          <p:nvPr>
            <p:ph sz="half" idx="1"/>
          </p:nvPr>
        </p:nvSpPr>
        <p:spPr>
          <a:xfrm>
            <a:off x="838200" y="1825625"/>
            <a:ext cx="5181600" cy="4351338"/>
          </a:xfrm>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περιεχομένου 3"/>
          <p:cNvSpPr>
            <a:spLocks noGrp="1"/>
          </p:cNvSpPr>
          <p:nvPr>
            <p:ph sz="half" idx="2"/>
          </p:nvPr>
        </p:nvSpPr>
        <p:spPr>
          <a:xfrm>
            <a:off x="6172200" y="1825625"/>
            <a:ext cx="5181600" cy="4351338"/>
          </a:xfrm>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5" name="Θέση ημερομηνίας 4"/>
          <p:cNvSpPr>
            <a:spLocks noGrp="1"/>
          </p:cNvSpPr>
          <p:nvPr>
            <p:ph type="dt" sz="half" idx="10"/>
          </p:nvPr>
        </p:nvSpPr>
        <p:spPr/>
        <p:txBody>
          <a:bodyPr/>
          <a:lstStyle/>
          <a:p>
            <a:fld id="{C858F2E9-5724-40D7-A084-8A9A9CED4F62}" type="datetimeFigureOut">
              <a:rPr lang="el-GR" smtClean="0"/>
              <a:t>14/10/2025</a:t>
            </a:fld>
            <a:endParaRPr lang="el-GR"/>
          </a:p>
        </p:txBody>
      </p:sp>
      <p:sp>
        <p:nvSpPr>
          <p:cNvPr id="6" name="Θέση υποσέλιδου 5"/>
          <p:cNvSpPr>
            <a:spLocks noGrp="1"/>
          </p:cNvSpPr>
          <p:nvPr>
            <p:ph type="ftr" sz="quarter" idx="11"/>
          </p:nvPr>
        </p:nvSpPr>
        <p:spPr/>
        <p:txBody>
          <a:bodyPr/>
          <a:lstStyle/>
          <a:p>
            <a:endParaRPr lang="el-GR"/>
          </a:p>
        </p:txBody>
      </p:sp>
      <p:sp>
        <p:nvSpPr>
          <p:cNvPr id="7" name="Θέση αριθμού διαφάνειας 6"/>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2414378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Σύγκριση">
    <p:spTree>
      <p:nvGrpSpPr>
        <p:cNvPr id="1" name=""/>
        <p:cNvGrpSpPr/>
        <p:nvPr/>
      </p:nvGrpSpPr>
      <p:grpSpPr>
        <a:xfrm>
          <a:off x="0" y="0"/>
          <a:ext cx="0" cy="0"/>
          <a:chOff x="0" y="0"/>
          <a:chExt cx="0" cy="0"/>
        </a:xfrm>
      </p:grpSpPr>
      <p:sp>
        <p:nvSpPr>
          <p:cNvPr id="2" name="Τίτλος 1"/>
          <p:cNvSpPr>
            <a:spLocks noGrp="1"/>
          </p:cNvSpPr>
          <p:nvPr>
            <p:ph type="title"/>
          </p:nvPr>
        </p:nvSpPr>
        <p:spPr>
          <a:xfrm>
            <a:off x="839788" y="365125"/>
            <a:ext cx="10515600" cy="1325563"/>
          </a:xfrm>
        </p:spPr>
        <p:txBody>
          <a:bodyPr/>
          <a:lstStyle/>
          <a:p>
            <a:r>
              <a:rPr lang="el-GR"/>
              <a:t>Στυλ κύριου τίτλου</a:t>
            </a:r>
          </a:p>
        </p:txBody>
      </p:sp>
      <p:sp>
        <p:nvSpPr>
          <p:cNvPr id="3" name="Θέση κειμένου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υποδείγματος κειμένου</a:t>
            </a:r>
          </a:p>
        </p:txBody>
      </p:sp>
      <p:sp>
        <p:nvSpPr>
          <p:cNvPr id="4" name="Θέση περιεχομένου 3"/>
          <p:cNvSpPr>
            <a:spLocks noGrp="1"/>
          </p:cNvSpPr>
          <p:nvPr>
            <p:ph sz="half" idx="2"/>
          </p:nvPr>
        </p:nvSpPr>
        <p:spPr>
          <a:xfrm>
            <a:off x="839788" y="2505075"/>
            <a:ext cx="5157787" cy="3684588"/>
          </a:xfrm>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5" name="Θέση κειμένου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υποδείγματος κειμένου</a:t>
            </a:r>
          </a:p>
        </p:txBody>
      </p:sp>
      <p:sp>
        <p:nvSpPr>
          <p:cNvPr id="6" name="Θέση περιεχομένου 5"/>
          <p:cNvSpPr>
            <a:spLocks noGrp="1"/>
          </p:cNvSpPr>
          <p:nvPr>
            <p:ph sz="quarter" idx="4"/>
          </p:nvPr>
        </p:nvSpPr>
        <p:spPr>
          <a:xfrm>
            <a:off x="6172200" y="2505075"/>
            <a:ext cx="5183188" cy="3684588"/>
          </a:xfrm>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7" name="Θέση ημερομηνίας 6"/>
          <p:cNvSpPr>
            <a:spLocks noGrp="1"/>
          </p:cNvSpPr>
          <p:nvPr>
            <p:ph type="dt" sz="half" idx="10"/>
          </p:nvPr>
        </p:nvSpPr>
        <p:spPr/>
        <p:txBody>
          <a:bodyPr/>
          <a:lstStyle/>
          <a:p>
            <a:fld id="{C858F2E9-5724-40D7-A084-8A9A9CED4F62}" type="datetimeFigureOut">
              <a:rPr lang="el-GR" smtClean="0"/>
              <a:t>14/10/2025</a:t>
            </a:fld>
            <a:endParaRPr lang="el-GR"/>
          </a:p>
        </p:txBody>
      </p:sp>
      <p:sp>
        <p:nvSpPr>
          <p:cNvPr id="8" name="Θέση υποσέλιδου 7"/>
          <p:cNvSpPr>
            <a:spLocks noGrp="1"/>
          </p:cNvSpPr>
          <p:nvPr>
            <p:ph type="ftr" sz="quarter" idx="11"/>
          </p:nvPr>
        </p:nvSpPr>
        <p:spPr/>
        <p:txBody>
          <a:bodyPr/>
          <a:lstStyle/>
          <a:p>
            <a:endParaRPr lang="el-GR"/>
          </a:p>
        </p:txBody>
      </p:sp>
      <p:sp>
        <p:nvSpPr>
          <p:cNvPr id="9" name="Θέση αριθμού διαφάνειας 8"/>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32613590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Τίτλος 1"/>
          <p:cNvSpPr>
            <a:spLocks noGrp="1"/>
          </p:cNvSpPr>
          <p:nvPr>
            <p:ph type="title"/>
          </p:nvPr>
        </p:nvSpPr>
        <p:spPr/>
        <p:txBody>
          <a:bodyPr/>
          <a:lstStyle/>
          <a:p>
            <a:r>
              <a:rPr lang="el-GR"/>
              <a:t>Στυλ κύριου τίτλου</a:t>
            </a:r>
          </a:p>
        </p:txBody>
      </p:sp>
      <p:sp>
        <p:nvSpPr>
          <p:cNvPr id="3" name="Θέση ημερομηνίας 2"/>
          <p:cNvSpPr>
            <a:spLocks noGrp="1"/>
          </p:cNvSpPr>
          <p:nvPr>
            <p:ph type="dt" sz="half" idx="10"/>
          </p:nvPr>
        </p:nvSpPr>
        <p:spPr/>
        <p:txBody>
          <a:bodyPr/>
          <a:lstStyle/>
          <a:p>
            <a:fld id="{C858F2E9-5724-40D7-A084-8A9A9CED4F62}" type="datetimeFigureOut">
              <a:rPr lang="el-GR" smtClean="0"/>
              <a:t>14/10/2025</a:t>
            </a:fld>
            <a:endParaRPr lang="el-GR"/>
          </a:p>
        </p:txBody>
      </p:sp>
      <p:sp>
        <p:nvSpPr>
          <p:cNvPr id="4" name="Θέση υποσέλιδου 3"/>
          <p:cNvSpPr>
            <a:spLocks noGrp="1"/>
          </p:cNvSpPr>
          <p:nvPr>
            <p:ph type="ftr" sz="quarter" idx="11"/>
          </p:nvPr>
        </p:nvSpPr>
        <p:spPr/>
        <p:txBody>
          <a:bodyPr/>
          <a:lstStyle/>
          <a:p>
            <a:endParaRPr lang="el-GR"/>
          </a:p>
        </p:txBody>
      </p:sp>
      <p:sp>
        <p:nvSpPr>
          <p:cNvPr id="5" name="Θέση αριθμού διαφάνειας 4"/>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312742299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Κενή">
    <p:spTree>
      <p:nvGrpSpPr>
        <p:cNvPr id="1" name=""/>
        <p:cNvGrpSpPr/>
        <p:nvPr/>
      </p:nvGrpSpPr>
      <p:grpSpPr>
        <a:xfrm>
          <a:off x="0" y="0"/>
          <a:ext cx="0" cy="0"/>
          <a:chOff x="0" y="0"/>
          <a:chExt cx="0" cy="0"/>
        </a:xfrm>
      </p:grpSpPr>
      <p:sp>
        <p:nvSpPr>
          <p:cNvPr id="2" name="Θέση ημερομηνίας 1"/>
          <p:cNvSpPr>
            <a:spLocks noGrp="1"/>
          </p:cNvSpPr>
          <p:nvPr>
            <p:ph type="dt" sz="half" idx="10"/>
          </p:nvPr>
        </p:nvSpPr>
        <p:spPr/>
        <p:txBody>
          <a:bodyPr/>
          <a:lstStyle/>
          <a:p>
            <a:fld id="{77C47DEE-5753-44EA-A073-053903F4D65C}" type="datetimeFigureOut">
              <a:rPr lang="el-GR" smtClean="0"/>
              <a:t>14/10/2025</a:t>
            </a:fld>
            <a:endParaRPr lang="el-GR"/>
          </a:p>
        </p:txBody>
      </p:sp>
      <p:sp>
        <p:nvSpPr>
          <p:cNvPr id="3" name="Θέση υποσέλιδου 2"/>
          <p:cNvSpPr>
            <a:spLocks noGrp="1"/>
          </p:cNvSpPr>
          <p:nvPr>
            <p:ph type="ftr" sz="quarter" idx="11"/>
          </p:nvPr>
        </p:nvSpPr>
        <p:spPr/>
        <p:txBody>
          <a:bodyPr/>
          <a:lstStyle/>
          <a:p>
            <a:endParaRPr lang="el-GR"/>
          </a:p>
        </p:txBody>
      </p:sp>
      <p:sp>
        <p:nvSpPr>
          <p:cNvPr id="4" name="Θέση αριθμού διαφάνειας 3"/>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25529390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Περιεχόμενο με λεζάντα">
    <p:spTree>
      <p:nvGrpSpPr>
        <p:cNvPr id="1" name=""/>
        <p:cNvGrpSpPr/>
        <p:nvPr/>
      </p:nvGrpSpPr>
      <p:grpSpPr>
        <a:xfrm>
          <a:off x="0" y="0"/>
          <a:ext cx="0" cy="0"/>
          <a:chOff x="0" y="0"/>
          <a:chExt cx="0" cy="0"/>
        </a:xfrm>
      </p:grpSpPr>
      <p:sp>
        <p:nvSpPr>
          <p:cNvPr id="2" name="Τίτλος 1"/>
          <p:cNvSpPr>
            <a:spLocks noGrp="1"/>
          </p:cNvSpPr>
          <p:nvPr>
            <p:ph type="title"/>
          </p:nvPr>
        </p:nvSpPr>
        <p:spPr>
          <a:xfrm>
            <a:off x="839788" y="457200"/>
            <a:ext cx="3932237" cy="1600200"/>
          </a:xfrm>
        </p:spPr>
        <p:txBody>
          <a:bodyPr anchor="b"/>
          <a:lstStyle>
            <a:lvl1pPr>
              <a:defRPr sz="3200"/>
            </a:lvl1pPr>
          </a:lstStyle>
          <a:p>
            <a:r>
              <a:rPr lang="el-GR"/>
              <a:t>Στυλ κύριου τίτλου</a:t>
            </a:r>
          </a:p>
        </p:txBody>
      </p:sp>
      <p:sp>
        <p:nvSpPr>
          <p:cNvPr id="3" name="Θέση περιεχομένου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κειμένου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υποδείγματος κειμένου</a:t>
            </a:r>
          </a:p>
        </p:txBody>
      </p:sp>
      <p:sp>
        <p:nvSpPr>
          <p:cNvPr id="5" name="Θέση ημερομηνίας 4"/>
          <p:cNvSpPr>
            <a:spLocks noGrp="1"/>
          </p:cNvSpPr>
          <p:nvPr>
            <p:ph type="dt" sz="half" idx="10"/>
          </p:nvPr>
        </p:nvSpPr>
        <p:spPr/>
        <p:txBody>
          <a:bodyPr/>
          <a:lstStyle/>
          <a:p>
            <a:fld id="{C858F2E9-5724-40D7-A084-8A9A9CED4F62}" type="datetimeFigureOut">
              <a:rPr lang="el-GR" smtClean="0"/>
              <a:t>14/10/2025</a:t>
            </a:fld>
            <a:endParaRPr lang="el-GR"/>
          </a:p>
        </p:txBody>
      </p:sp>
      <p:sp>
        <p:nvSpPr>
          <p:cNvPr id="6" name="Θέση υποσέλιδου 5"/>
          <p:cNvSpPr>
            <a:spLocks noGrp="1"/>
          </p:cNvSpPr>
          <p:nvPr>
            <p:ph type="ftr" sz="quarter" idx="11"/>
          </p:nvPr>
        </p:nvSpPr>
        <p:spPr/>
        <p:txBody>
          <a:bodyPr/>
          <a:lstStyle/>
          <a:p>
            <a:endParaRPr lang="el-GR"/>
          </a:p>
        </p:txBody>
      </p:sp>
      <p:sp>
        <p:nvSpPr>
          <p:cNvPr id="7" name="Θέση αριθμού διαφάνειας 6"/>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407656930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Εικόνα με λεζάντα">
    <p:spTree>
      <p:nvGrpSpPr>
        <p:cNvPr id="1" name=""/>
        <p:cNvGrpSpPr/>
        <p:nvPr/>
      </p:nvGrpSpPr>
      <p:grpSpPr>
        <a:xfrm>
          <a:off x="0" y="0"/>
          <a:ext cx="0" cy="0"/>
          <a:chOff x="0" y="0"/>
          <a:chExt cx="0" cy="0"/>
        </a:xfrm>
      </p:grpSpPr>
      <p:sp>
        <p:nvSpPr>
          <p:cNvPr id="2" name="Τίτλος 1"/>
          <p:cNvSpPr>
            <a:spLocks noGrp="1"/>
          </p:cNvSpPr>
          <p:nvPr>
            <p:ph type="title"/>
          </p:nvPr>
        </p:nvSpPr>
        <p:spPr>
          <a:xfrm>
            <a:off x="839788" y="457200"/>
            <a:ext cx="3932237" cy="1600200"/>
          </a:xfrm>
        </p:spPr>
        <p:txBody>
          <a:bodyPr anchor="b"/>
          <a:lstStyle>
            <a:lvl1pPr>
              <a:defRPr sz="3200"/>
            </a:lvl1pPr>
          </a:lstStyle>
          <a:p>
            <a:r>
              <a:rPr lang="el-GR"/>
              <a:t>Στυλ κύριου τίτλου</a:t>
            </a:r>
          </a:p>
        </p:txBody>
      </p:sp>
      <p:sp>
        <p:nvSpPr>
          <p:cNvPr id="3" name="Θέση εικόνας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l-GR"/>
          </a:p>
        </p:txBody>
      </p:sp>
      <p:sp>
        <p:nvSpPr>
          <p:cNvPr id="4" name="Θέση κειμένου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υποδείγματος κειμένου</a:t>
            </a:r>
          </a:p>
        </p:txBody>
      </p:sp>
      <p:sp>
        <p:nvSpPr>
          <p:cNvPr id="5" name="Θέση ημερομηνίας 4"/>
          <p:cNvSpPr>
            <a:spLocks noGrp="1"/>
          </p:cNvSpPr>
          <p:nvPr>
            <p:ph type="dt" sz="half" idx="10"/>
          </p:nvPr>
        </p:nvSpPr>
        <p:spPr/>
        <p:txBody>
          <a:bodyPr/>
          <a:lstStyle/>
          <a:p>
            <a:fld id="{C858F2E9-5724-40D7-A084-8A9A9CED4F62}" type="datetimeFigureOut">
              <a:rPr lang="el-GR" smtClean="0"/>
              <a:t>14/10/2025</a:t>
            </a:fld>
            <a:endParaRPr lang="el-GR"/>
          </a:p>
        </p:txBody>
      </p:sp>
      <p:sp>
        <p:nvSpPr>
          <p:cNvPr id="6" name="Θέση υποσέλιδου 5"/>
          <p:cNvSpPr>
            <a:spLocks noGrp="1"/>
          </p:cNvSpPr>
          <p:nvPr>
            <p:ph type="ftr" sz="quarter" idx="11"/>
          </p:nvPr>
        </p:nvSpPr>
        <p:spPr/>
        <p:txBody>
          <a:bodyPr/>
          <a:lstStyle/>
          <a:p>
            <a:endParaRPr lang="el-GR"/>
          </a:p>
        </p:txBody>
      </p:sp>
      <p:sp>
        <p:nvSpPr>
          <p:cNvPr id="7" name="Θέση αριθμού διαφάνειας 6"/>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145792381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2" name="Τίτλος 1"/>
          <p:cNvSpPr>
            <a:spLocks noGrp="1"/>
          </p:cNvSpPr>
          <p:nvPr>
            <p:ph type="title"/>
          </p:nvPr>
        </p:nvSpPr>
        <p:spPr/>
        <p:txBody>
          <a:bodyPr/>
          <a:lstStyle/>
          <a:p>
            <a:r>
              <a:rPr lang="el-GR"/>
              <a:t>Στυλ κύριου τίτλου</a:t>
            </a:r>
          </a:p>
        </p:txBody>
      </p:sp>
      <p:sp>
        <p:nvSpPr>
          <p:cNvPr id="3" name="Θέση κατακόρυφου κειμένου 2"/>
          <p:cNvSpPr>
            <a:spLocks noGrp="1"/>
          </p:cNvSpPr>
          <p:nvPr>
            <p:ph type="body" orient="vert" idx="1"/>
          </p:nvPr>
        </p:nvSpPr>
        <p:spPr/>
        <p:txBody>
          <a:bodyPr vert="eaVert"/>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p:cNvSpPr>
            <a:spLocks noGrp="1"/>
          </p:cNvSpPr>
          <p:nvPr>
            <p:ph type="dt" sz="half" idx="10"/>
          </p:nvPr>
        </p:nvSpPr>
        <p:spPr/>
        <p:txBody>
          <a:bodyPr/>
          <a:lstStyle/>
          <a:p>
            <a:fld id="{C858F2E9-5724-40D7-A084-8A9A9CED4F62}" type="datetimeFigureOut">
              <a:rPr lang="el-GR" smtClean="0"/>
              <a:t>14/10/2025</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172890431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Κατακόρυφος τίτλος και Κείμενο">
    <p:spTree>
      <p:nvGrpSpPr>
        <p:cNvPr id="1" name=""/>
        <p:cNvGrpSpPr/>
        <p:nvPr/>
      </p:nvGrpSpPr>
      <p:grpSpPr>
        <a:xfrm>
          <a:off x="0" y="0"/>
          <a:ext cx="0" cy="0"/>
          <a:chOff x="0" y="0"/>
          <a:chExt cx="0" cy="0"/>
        </a:xfrm>
      </p:grpSpPr>
      <p:sp>
        <p:nvSpPr>
          <p:cNvPr id="2" name="Κατακόρυφος τίτλος 1"/>
          <p:cNvSpPr>
            <a:spLocks noGrp="1"/>
          </p:cNvSpPr>
          <p:nvPr>
            <p:ph type="title" orient="vert"/>
          </p:nvPr>
        </p:nvSpPr>
        <p:spPr>
          <a:xfrm>
            <a:off x="8724900" y="365125"/>
            <a:ext cx="2628900" cy="5811838"/>
          </a:xfrm>
        </p:spPr>
        <p:txBody>
          <a:bodyPr vert="eaVert"/>
          <a:lstStyle/>
          <a:p>
            <a:r>
              <a:rPr lang="el-GR"/>
              <a:t>Στυλ κύριου τίτλου</a:t>
            </a:r>
          </a:p>
        </p:txBody>
      </p:sp>
      <p:sp>
        <p:nvSpPr>
          <p:cNvPr id="3" name="Θέση κατακόρυφου κειμένου 2"/>
          <p:cNvSpPr>
            <a:spLocks noGrp="1"/>
          </p:cNvSpPr>
          <p:nvPr>
            <p:ph type="body" orient="vert" idx="1"/>
          </p:nvPr>
        </p:nvSpPr>
        <p:spPr>
          <a:xfrm>
            <a:off x="838200" y="365125"/>
            <a:ext cx="7734300" cy="5811838"/>
          </a:xfrm>
        </p:spPr>
        <p:txBody>
          <a:bodyPr vert="eaVert"/>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p:cNvSpPr>
            <a:spLocks noGrp="1"/>
          </p:cNvSpPr>
          <p:nvPr>
            <p:ph type="dt" sz="half" idx="10"/>
          </p:nvPr>
        </p:nvSpPr>
        <p:spPr/>
        <p:txBody>
          <a:bodyPr/>
          <a:lstStyle/>
          <a:p>
            <a:fld id="{C858F2E9-5724-40D7-A084-8A9A9CED4F62}" type="datetimeFigureOut">
              <a:rPr lang="el-GR" smtClean="0"/>
              <a:t>14/10/2025</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232701990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Θέση τίτλου 1">
            <a:extLst>
              <a:ext uri="{FF2B5EF4-FFF2-40B4-BE49-F238E27FC236}">
                <a16:creationId xmlns:a16="http://schemas.microsoft.com/office/drawing/2014/main" id="{992F1800-E376-4EAC-8DCE-EF767BC9FA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93EDA18A-E08C-433A-8864-CE510E638F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a:extLst>
              <a:ext uri="{FF2B5EF4-FFF2-40B4-BE49-F238E27FC236}">
                <a16:creationId xmlns:a16="http://schemas.microsoft.com/office/drawing/2014/main" id="{F5AF37D2-402E-4529-9EEC-414BB35C59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C47DEE-5753-44EA-A073-053903F4D65C}" type="datetimeFigureOut">
              <a:rPr lang="el-GR" smtClean="0"/>
              <a:t>14/10/2025</a:t>
            </a:fld>
            <a:endParaRPr lang="el-GR"/>
          </a:p>
        </p:txBody>
      </p:sp>
      <p:sp>
        <p:nvSpPr>
          <p:cNvPr id="5" name="Θέση υποσέλιδου 4">
            <a:extLst>
              <a:ext uri="{FF2B5EF4-FFF2-40B4-BE49-F238E27FC236}">
                <a16:creationId xmlns:a16="http://schemas.microsoft.com/office/drawing/2014/main" id="{3CF16FB6-3B9A-47F7-BC11-0CD0D44781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l-GR"/>
          </a:p>
        </p:txBody>
      </p:sp>
      <p:sp>
        <p:nvSpPr>
          <p:cNvPr id="6" name="Θέση αριθμού διαφάνειας 5">
            <a:extLst>
              <a:ext uri="{FF2B5EF4-FFF2-40B4-BE49-F238E27FC236}">
                <a16:creationId xmlns:a16="http://schemas.microsoft.com/office/drawing/2014/main" id="{1A057F2B-A2D8-4FC1-B53F-4487A38756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C6C20E-1D6A-4E7C-944C-DE305A6F1CA5}" type="slidenum">
              <a:rPr lang="el-GR" smtClean="0"/>
              <a:t>‹#›</a:t>
            </a:fld>
            <a:endParaRPr lang="el-GR"/>
          </a:p>
        </p:txBody>
      </p:sp>
    </p:spTree>
    <p:extLst>
      <p:ext uri="{BB962C8B-B14F-4D97-AF65-F5344CB8AC3E}">
        <p14:creationId xmlns:p14="http://schemas.microsoft.com/office/powerpoint/2010/main" val="17776414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τίτλου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l-GR"/>
              <a:t>Στυλ κύριου τίτλου</a:t>
            </a:r>
          </a:p>
        </p:txBody>
      </p:sp>
      <p:sp>
        <p:nvSpPr>
          <p:cNvPr id="3" name="Θέση κειμένου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C47DEE-5753-44EA-A073-053903F4D65C}" type="datetimeFigureOut">
              <a:rPr lang="el-GR" smtClean="0"/>
              <a:t>14/10/2025</a:t>
            </a:fld>
            <a:endParaRPr lang="el-GR"/>
          </a:p>
        </p:txBody>
      </p:sp>
      <p:sp>
        <p:nvSpPr>
          <p:cNvPr id="5" name="Θέση υποσέλιδου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l-GR"/>
          </a:p>
        </p:txBody>
      </p:sp>
      <p:sp>
        <p:nvSpPr>
          <p:cNvPr id="6" name="Θέση αριθμού διαφάνειας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C6C20E-1D6A-4E7C-944C-DE305A6F1CA5}" type="slidenum">
              <a:rPr lang="el-GR" smtClean="0"/>
              <a:t>‹#›</a:t>
            </a:fld>
            <a:endParaRPr lang="el-GR"/>
          </a:p>
        </p:txBody>
      </p:sp>
    </p:spTree>
    <p:extLst>
      <p:ext uri="{BB962C8B-B14F-4D97-AF65-F5344CB8AC3E}">
        <p14:creationId xmlns:p14="http://schemas.microsoft.com/office/powerpoint/2010/main" val="2543682789"/>
      </p:ext>
    </p:extLst>
  </p:cSld>
  <p:clrMap bg1="lt1" tx1="dk1" bg2="lt2" tx2="dk2" accent1="accent1" accent2="accent2" accent3="accent3" accent4="accent4" accent5="accent5" accent6="accent6" hlink="hlink" folHlink="folHlink"/>
  <p:sldLayoutIdLst>
    <p:sldLayoutId id="2147483893" r:id="rId1"/>
    <p:sldLayoutId id="2147483894" r:id="rId2"/>
    <p:sldLayoutId id="2147483895" r:id="rId3"/>
    <p:sldLayoutId id="2147483896" r:id="rId4"/>
    <p:sldLayoutId id="2147483897" r:id="rId5"/>
    <p:sldLayoutId id="2147483898" r:id="rId6"/>
    <p:sldLayoutId id="2147483899" r:id="rId7"/>
    <p:sldLayoutId id="2147483900" r:id="rId8"/>
    <p:sldLayoutId id="2147483901" r:id="rId9"/>
    <p:sldLayoutId id="2147483902" r:id="rId10"/>
    <p:sldLayoutId id="2147483903" r:id="rId11"/>
  </p:sldLayoutIdLst>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hyperlink" Target="https://sites.google.com/view/i2art-of-programming/home"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hyperlink" Target="https://el.wikipedia.org/wiki/%CE%96%CE%BF%CE%B6%CE%AD%CF%86_%CE%9C%CE%B1%CF%81%CE%AF_%CE%96%CE%B1%CE%BA%CE%AC%CF%81" TargetMode="External"/></Relationships>
</file>

<file path=ppt/slides/_rels/slide5.xml.rels><?xml version="1.0" encoding="UTF-8" standalone="yes"?>
<Relationships xmlns="http://schemas.openxmlformats.org/package/2006/relationships"><Relationship Id="rId8" Type="http://schemas.openxmlformats.org/officeDocument/2006/relationships/hyperlink" Target="https://el.wikipedia.org/wiki/%CE%9C%CE%BD%CE%AE%CE%BC%CE%B7_%CF%85%CF%80%CE%BF%CE%BB%CE%BF%CE%B3%CE%B9%CF%83%CF%84%CE%AE" TargetMode="External"/><Relationship Id="rId13" Type="http://schemas.openxmlformats.org/officeDocument/2006/relationships/hyperlink" Target="https://el.wikipedia.org/wiki/%CE%91%CE%BD%CE%B1%CE%BB%CF%85%CF%84%CE%B9%CE%BA%CE%AE_%CE%BC%CE%B7%CF%87%CE%B1%CE%BD%CE%AE#cite_note-meccano-8" TargetMode="External"/><Relationship Id="rId3" Type="http://schemas.openxmlformats.org/officeDocument/2006/relationships/image" Target="../media/image6.png"/><Relationship Id="rId7" Type="http://schemas.openxmlformats.org/officeDocument/2006/relationships/hyperlink" Target="https://el.wikipedia.org/w/index.php?title=%CE%92%CF%81%CF%8C%CF%87%CE%BF%CF%82_%CF%80%CF%81%CE%BF%CE%B3%CF%81%CE%AC%CE%BC%CE%BC%CE%B1%CF%84%CE%BF%CF%82&amp;action=edit&amp;redlink=1" TargetMode="External"/><Relationship Id="rId12" Type="http://schemas.openxmlformats.org/officeDocument/2006/relationships/hyperlink" Target="https://el.wikipedia.org/wiki/%CE%91%CE%BD%CE%B1%CE%BB%CF%85%CF%84%CE%B9%CE%BA%CE%AE_%CE%BC%CE%B7%CF%87%CE%B1%CE%BD%CE%AE#cite_note-computerhistory.org3-7" TargetMode="External"/><Relationship Id="rId17" Type="http://schemas.openxmlformats.org/officeDocument/2006/relationships/hyperlink" Target="https://el.wikipedia.org/wiki/%CE%91%CE%BD%CE%B1%CE%BB%CF%85%CF%84%CE%B9%CE%BA%CE%AE_%CE%BC%CE%B7%CF%87%CE%B1%CE%BD%CE%AE#cite_note-computerhistory.org4-10" TargetMode="External"/><Relationship Id="rId2" Type="http://schemas.openxmlformats.org/officeDocument/2006/relationships/notesSlide" Target="../notesSlides/notesSlide5.xml"/><Relationship Id="rId16" Type="http://schemas.openxmlformats.org/officeDocument/2006/relationships/hyperlink" Target="https://el.wikipedia.org/wiki/%CE%963" TargetMode="External"/><Relationship Id="rId1" Type="http://schemas.openxmlformats.org/officeDocument/2006/relationships/slideLayout" Target="../slideLayouts/slideLayout13.xml"/><Relationship Id="rId6" Type="http://schemas.openxmlformats.org/officeDocument/2006/relationships/hyperlink" Target="https://el.wikipedia.org/w/index.php?title=%CE%94%CE%B9%CE%B1%CE%BA%CE%BB%CE%AC%CE%B4%CF%89%CF%83%CE%B7_%CF%85%CF%80%CF%8C_%CF%8C%CF%81%CE%BF%CF%85%CF%82&amp;action=edit&amp;redlink=1" TargetMode="External"/><Relationship Id="rId11" Type="http://schemas.openxmlformats.org/officeDocument/2006/relationships/hyperlink" Target="https://el.wikipedia.org/wiki/%CE%91%CE%BD%CE%B1%CE%BB%CF%85%CF%84%CE%B9%CE%BA%CE%AE_%CE%BC%CE%B7%CF%87%CE%B1%CE%BD%CE%AE#cite_note-6" TargetMode="External"/><Relationship Id="rId5" Type="http://schemas.openxmlformats.org/officeDocument/2006/relationships/hyperlink" Target="https://el.wikipedia.org/w/index.php?title=%CE%A1%CE%BF%CE%AE_%CE%B5%CE%BB%CE%AD%CE%B3%CF%87%CE%BF%CF%85&amp;action=edit&amp;redlink=1" TargetMode="External"/><Relationship Id="rId15" Type="http://schemas.openxmlformats.org/officeDocument/2006/relationships/hyperlink" Target="https://el.wikipedia.org/wiki/%CE%9A%CF%8C%CE%BD%CF%81%CE%B1%CE%BD%CF%84_%CE%A4%CF%83%CE%BF%CF%8D%CE%B6%CE%B5" TargetMode="External"/><Relationship Id="rId10" Type="http://schemas.openxmlformats.org/officeDocument/2006/relationships/hyperlink" Target="https://el.wikipedia.org/wiki/%CE%91%CE%BD%CE%B1%CE%BB%CF%85%CF%84%CE%B9%CE%BA%CE%AE_%CE%BC%CE%B7%CF%87%CE%B1%CE%BD%CE%AE#cite_note-babbageonline-5" TargetMode="External"/><Relationship Id="rId4" Type="http://schemas.openxmlformats.org/officeDocument/2006/relationships/hyperlink" Target="https://el.wikipedia.org/wiki/%CE%91%CF%81%CE%B9%CE%B8%CE%BC%CE%B7%CF%84%CE%B9%CE%BA%CE%AE_%CE%BA%CE%B1%CE%B9_%CE%9B%CE%BF%CE%B3%CE%B9%CE%BA%CE%AE_%CE%9C%CE%BF%CE%BD%CE%AC%CE%B4%CE%B1" TargetMode="External"/><Relationship Id="rId9" Type="http://schemas.openxmlformats.org/officeDocument/2006/relationships/hyperlink" Target="https://el.wikipedia.org/wiki/%CE%A0%CE%BB%CE%B7%CF%81%CF%8C%CF%84%CE%B7%CF%84%CE%B1_%CE%A4%CE%BF%CF%8D%CF%81%CE%B9%CE%BD%CE%B3%CE%BA" TargetMode="External"/><Relationship Id="rId14" Type="http://schemas.openxmlformats.org/officeDocument/2006/relationships/hyperlink" Target="https://el.wikipedia.org/wiki/%CE%91%CE%BD%CE%B1%CE%BB%CF%85%CF%84%CE%B9%CE%BA%CE%AE_%CE%BC%CE%B7%CF%87%CE%B1%CE%BD%CE%AE#cite_note-nineteenth_century_science-9" TargetMode="External"/></Relationships>
</file>

<file path=ppt/slides/_rels/slide6.xml.rels><?xml version="1.0" encoding="UTF-8" standalone="yes"?>
<Relationships xmlns="http://schemas.openxmlformats.org/package/2006/relationships"><Relationship Id="rId8" Type="http://schemas.openxmlformats.org/officeDocument/2006/relationships/hyperlink" Target="https://www.youtube.com/shorts/fLT5HXmSzD0" TargetMode="External"/><Relationship Id="rId3" Type="http://schemas.openxmlformats.org/officeDocument/2006/relationships/hyperlink" Target="https://en.wikipedia.org/wiki/Mathematician" TargetMode="External"/><Relationship Id="rId7" Type="http://schemas.openxmlformats.org/officeDocument/2006/relationships/hyperlink" Target="https://en.wikipedia.org/wiki/Analytical_Engine" TargetMode="External"/><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hyperlink" Target="https://en.wikipedia.org/wiki/Computer" TargetMode="External"/><Relationship Id="rId5" Type="http://schemas.openxmlformats.org/officeDocument/2006/relationships/hyperlink" Target="https://en.wikipedia.org/wiki/Charles_Babbage" TargetMode="External"/><Relationship Id="rId4" Type="http://schemas.openxmlformats.org/officeDocument/2006/relationships/hyperlink" Target="https://en.wikipedia.org/wiki/Writer" TargetMode="External"/><Relationship Id="rId9"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3.jpeg"/><Relationship Id="rId7"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image" Target="../media/image12.png"/><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5.png"/><Relationship Id="rId7"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12.png"/><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13.xml"/><Relationship Id="rId5" Type="http://schemas.openxmlformats.org/officeDocument/2006/relationships/image" Target="../media/image11.png"/><Relationship Id="rId4" Type="http://schemas.openxmlformats.org/officeDocument/2006/relationships/image" Target="../media/image13.jpe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hyperlink" Target="https://sites.google.com/view/i2art-of-programming/%CE%B1%CF%80%CE%BF%CF%83%CF%80%CE%AC%CF%83%CE%BC%CE%B1%CF%84%CE%B1"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 name="Rectangle 62">
            <a:extLst>
              <a:ext uri="{FF2B5EF4-FFF2-40B4-BE49-F238E27FC236}">
                <a16:creationId xmlns:a16="http://schemas.microsoft.com/office/drawing/2014/main" id="{76E192A2-3ED3-4081-8A86-A22B511417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152902" y="-1181101"/>
            <a:ext cx="3886200" cy="1219200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Υπότιτλος 2">
            <a:extLst>
              <a:ext uri="{FF2B5EF4-FFF2-40B4-BE49-F238E27FC236}">
                <a16:creationId xmlns:a16="http://schemas.microsoft.com/office/drawing/2014/main" id="{1FEF44B4-5484-7F60-BA37-96313DC3B896}"/>
              </a:ext>
            </a:extLst>
          </p:cNvPr>
          <p:cNvSpPr txBox="1">
            <a:spLocks/>
          </p:cNvSpPr>
          <p:nvPr/>
        </p:nvSpPr>
        <p:spPr>
          <a:xfrm>
            <a:off x="16237" y="1648085"/>
            <a:ext cx="8865031" cy="946331"/>
          </a:xfrm>
          <a:prstGeom prst="rect">
            <a:avLst/>
          </a:prstGeom>
        </p:spPr>
        <p:txBody>
          <a:bodyPr vert="horz" lIns="91440" tIns="45720" rIns="91440" bIns="45720" rtlCol="0" anchor="b">
            <a:normAutofit fontScale="2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ct val="0"/>
              </a:spcBef>
              <a:spcAft>
                <a:spcPts val="600"/>
              </a:spcAft>
            </a:pPr>
            <a:r>
              <a:rPr lang="el-GR" sz="16000" b="1" dirty="0">
                <a:solidFill>
                  <a:srgbClr val="60D69E"/>
                </a:solidFill>
                <a:latin typeface="Bahnschrift" panose="020B0502040204020203" pitchFamily="34" charset="0"/>
              </a:rPr>
              <a:t>Προγραμματισμός</a:t>
            </a:r>
            <a:endParaRPr lang="en-US" sz="16000" b="1" dirty="0">
              <a:solidFill>
                <a:srgbClr val="60D69E"/>
              </a:solidFill>
              <a:latin typeface="Bahnschrift" panose="020B0502040204020203" pitchFamily="34" charset="0"/>
            </a:endParaRPr>
          </a:p>
          <a:p>
            <a:pPr algn="l">
              <a:lnSpc>
                <a:spcPct val="100000"/>
              </a:lnSpc>
              <a:spcBef>
                <a:spcPct val="0"/>
              </a:spcBef>
              <a:spcAft>
                <a:spcPts val="600"/>
              </a:spcAft>
            </a:pPr>
            <a:r>
              <a:rPr lang="el-GR" sz="7200" b="1" dirty="0">
                <a:solidFill>
                  <a:srgbClr val="60D69E"/>
                </a:solidFill>
                <a:latin typeface="Bahnschrift" panose="020B0502040204020203" pitchFamily="34" charset="0"/>
              </a:rPr>
              <a:t>Διεργασία</a:t>
            </a:r>
            <a:r>
              <a:rPr lang="en-US" sz="7200" b="1" dirty="0">
                <a:solidFill>
                  <a:srgbClr val="60D69E"/>
                </a:solidFill>
                <a:latin typeface="Bahnschrift" panose="020B0502040204020203" pitchFamily="34" charset="0"/>
              </a:rPr>
              <a:t>,</a:t>
            </a:r>
            <a:r>
              <a:rPr lang="el-GR" sz="7200" b="1" dirty="0">
                <a:solidFill>
                  <a:srgbClr val="60D69E"/>
                </a:solidFill>
                <a:latin typeface="Bahnschrift" panose="020B0502040204020203" pitchFamily="34" charset="0"/>
              </a:rPr>
              <a:t> Αφαιρετικότητα</a:t>
            </a:r>
            <a:r>
              <a:rPr lang="en-US" sz="7200" b="1" dirty="0">
                <a:solidFill>
                  <a:srgbClr val="60D69E"/>
                </a:solidFill>
                <a:latin typeface="Bahnschrift" panose="020B0502040204020203" pitchFamily="34" charset="0"/>
              </a:rPr>
              <a:t> </a:t>
            </a:r>
            <a:r>
              <a:rPr lang="el-GR" sz="7200" b="1" dirty="0">
                <a:solidFill>
                  <a:srgbClr val="60D69E"/>
                </a:solidFill>
                <a:latin typeface="Bahnschrift" panose="020B0502040204020203" pitchFamily="34" charset="0"/>
              </a:rPr>
              <a:t>και</a:t>
            </a:r>
            <a:r>
              <a:rPr lang="en-US" sz="7200" b="1" dirty="0">
                <a:solidFill>
                  <a:srgbClr val="60D69E"/>
                </a:solidFill>
                <a:latin typeface="Bahnschrift" panose="020B0502040204020203" pitchFamily="34" charset="0"/>
              </a:rPr>
              <a:t> </a:t>
            </a:r>
            <a:r>
              <a:rPr lang="el-GR" sz="7200" b="1" dirty="0">
                <a:solidFill>
                  <a:srgbClr val="60D69E"/>
                </a:solidFill>
                <a:latin typeface="Bahnschrift" panose="020B0502040204020203" pitchFamily="34" charset="0"/>
              </a:rPr>
              <a:t>Λεκτική Περιγραφή</a:t>
            </a:r>
            <a:endParaRPr lang="en-US" sz="7200" b="1" dirty="0">
              <a:solidFill>
                <a:srgbClr val="60D69E"/>
              </a:solidFill>
              <a:latin typeface="Bahnschrift" panose="020B0502040204020203" pitchFamily="34" charset="0"/>
            </a:endParaRPr>
          </a:p>
        </p:txBody>
      </p:sp>
      <p:sp>
        <p:nvSpPr>
          <p:cNvPr id="18" name="Υπότιτλος 2">
            <a:extLst>
              <a:ext uri="{FF2B5EF4-FFF2-40B4-BE49-F238E27FC236}">
                <a16:creationId xmlns:a16="http://schemas.microsoft.com/office/drawing/2014/main" id="{1CC770C9-EFCA-6DAF-8AF4-65DBC6C0060B}"/>
              </a:ext>
            </a:extLst>
          </p:cNvPr>
          <p:cNvSpPr txBox="1">
            <a:spLocks/>
          </p:cNvSpPr>
          <p:nvPr/>
        </p:nvSpPr>
        <p:spPr>
          <a:xfrm>
            <a:off x="7420598" y="2904201"/>
            <a:ext cx="4755165" cy="3644015"/>
          </a:xfrm>
          <a:prstGeom prst="rect">
            <a:avLst/>
          </a:prstGeom>
        </p:spPr>
        <p:txBody>
          <a:bodyPr vert="horz" lIns="91440" tIns="45720" rIns="91440" bIns="45720" rtlCol="0" anchor="b">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ct val="0"/>
              </a:spcBef>
              <a:spcAft>
                <a:spcPts val="600"/>
              </a:spcAft>
            </a:pPr>
            <a:r>
              <a:rPr lang="en-US" sz="4000" b="1" dirty="0">
                <a:solidFill>
                  <a:srgbClr val="C00000"/>
                </a:solidFill>
                <a:latin typeface="Bahnschrift" panose="020B0502040204020203" pitchFamily="34" charset="0"/>
              </a:rPr>
              <a:t>Process,</a:t>
            </a:r>
          </a:p>
          <a:p>
            <a:pPr algn="l">
              <a:lnSpc>
                <a:spcPct val="100000"/>
              </a:lnSpc>
              <a:spcBef>
                <a:spcPct val="0"/>
              </a:spcBef>
              <a:spcAft>
                <a:spcPts val="600"/>
              </a:spcAft>
            </a:pPr>
            <a:r>
              <a:rPr lang="en-US" sz="4000" b="1" dirty="0">
                <a:solidFill>
                  <a:srgbClr val="C00000"/>
                </a:solidFill>
                <a:latin typeface="Bahnschrift" panose="020B0502040204020203" pitchFamily="34" charset="0"/>
              </a:rPr>
              <a:t>Abstraction and</a:t>
            </a:r>
          </a:p>
          <a:p>
            <a:pPr algn="l">
              <a:lnSpc>
                <a:spcPct val="100000"/>
              </a:lnSpc>
              <a:spcBef>
                <a:spcPct val="0"/>
              </a:spcBef>
              <a:spcAft>
                <a:spcPts val="600"/>
              </a:spcAft>
            </a:pPr>
            <a:r>
              <a:rPr lang="el-GR" sz="4000" b="1" dirty="0">
                <a:solidFill>
                  <a:srgbClr val="C00000"/>
                </a:solidFill>
                <a:latin typeface="Bahnschrift" panose="020B0502040204020203" pitchFamily="34" charset="0"/>
              </a:rPr>
              <a:t>Λεκτική Περιγραφή</a:t>
            </a:r>
            <a:endParaRPr lang="en-US" sz="4000" b="1" dirty="0">
              <a:solidFill>
                <a:srgbClr val="C00000"/>
              </a:solidFill>
              <a:latin typeface="Bahnschrift" panose="020B0502040204020203" pitchFamily="34" charset="0"/>
            </a:endParaRPr>
          </a:p>
        </p:txBody>
      </p:sp>
      <p:pic>
        <p:nvPicPr>
          <p:cNvPr id="20" name="Picture 19">
            <a:extLst>
              <a:ext uri="{FF2B5EF4-FFF2-40B4-BE49-F238E27FC236}">
                <a16:creationId xmlns:a16="http://schemas.microsoft.com/office/drawing/2014/main" id="{F8104CF0-71DB-277D-FF43-3A47565FC2FF}"/>
              </a:ext>
            </a:extLst>
          </p:cNvPr>
          <p:cNvPicPr>
            <a:picLocks noChangeAspect="1"/>
          </p:cNvPicPr>
          <p:nvPr/>
        </p:nvPicPr>
        <p:blipFill>
          <a:blip r:embed="rId3"/>
          <a:stretch>
            <a:fillRect/>
          </a:stretch>
        </p:blipFill>
        <p:spPr>
          <a:xfrm>
            <a:off x="9565650" y="27543"/>
            <a:ext cx="2610113" cy="3728733"/>
          </a:xfrm>
          <a:prstGeom prst="rect">
            <a:avLst/>
          </a:prstGeom>
        </p:spPr>
      </p:pic>
      <p:sp>
        <p:nvSpPr>
          <p:cNvPr id="22" name="TextBox 21">
            <a:extLst>
              <a:ext uri="{FF2B5EF4-FFF2-40B4-BE49-F238E27FC236}">
                <a16:creationId xmlns:a16="http://schemas.microsoft.com/office/drawing/2014/main" id="{76859860-932D-A68B-4EB0-1765E7B281A1}"/>
              </a:ext>
            </a:extLst>
          </p:cNvPr>
          <p:cNvSpPr txBox="1"/>
          <p:nvPr/>
        </p:nvSpPr>
        <p:spPr>
          <a:xfrm>
            <a:off x="9565650" y="3746541"/>
            <a:ext cx="2610113" cy="923330"/>
          </a:xfrm>
          <a:prstGeom prst="rect">
            <a:avLst/>
          </a:prstGeom>
          <a:noFill/>
        </p:spPr>
        <p:txBody>
          <a:bodyPr wrap="square" rtlCol="0">
            <a:spAutoFit/>
          </a:bodyPr>
          <a:lstStyle/>
          <a:p>
            <a:r>
              <a:rPr lang="el-GR" dirty="0"/>
              <a:t>Πηγή: </a:t>
            </a:r>
            <a:r>
              <a:rPr lang="el-GR" dirty="0">
                <a:hlinkClick r:id="rId4"/>
              </a:rPr>
              <a:t>Μια Εισαγωγή στην Τέχνη του Προγραμματισμού</a:t>
            </a:r>
            <a:endParaRPr lang="en-GB" dirty="0"/>
          </a:p>
        </p:txBody>
      </p:sp>
      <p:pic>
        <p:nvPicPr>
          <p:cNvPr id="3" name="Picture 2">
            <a:extLst>
              <a:ext uri="{FF2B5EF4-FFF2-40B4-BE49-F238E27FC236}">
                <a16:creationId xmlns:a16="http://schemas.microsoft.com/office/drawing/2014/main" id="{8F362F1B-3C7B-261E-F757-566382E39AA7}"/>
              </a:ext>
            </a:extLst>
          </p:cNvPr>
          <p:cNvPicPr>
            <a:picLocks noChangeAspect="1"/>
          </p:cNvPicPr>
          <p:nvPr/>
        </p:nvPicPr>
        <p:blipFill>
          <a:blip r:embed="rId5"/>
          <a:stretch>
            <a:fillRect/>
          </a:stretch>
        </p:blipFill>
        <p:spPr>
          <a:xfrm>
            <a:off x="16236" y="2785403"/>
            <a:ext cx="7323973" cy="4044214"/>
          </a:xfrm>
          <a:prstGeom prst="rect">
            <a:avLst/>
          </a:prstGeom>
        </p:spPr>
      </p:pic>
      <p:sp>
        <p:nvSpPr>
          <p:cNvPr id="5" name="TextBox 4">
            <a:extLst>
              <a:ext uri="{FF2B5EF4-FFF2-40B4-BE49-F238E27FC236}">
                <a16:creationId xmlns:a16="http://schemas.microsoft.com/office/drawing/2014/main" id="{E951C37C-FC24-DFB7-BC5F-F84DF16BEEA0}"/>
              </a:ext>
            </a:extLst>
          </p:cNvPr>
          <p:cNvSpPr txBox="1"/>
          <p:nvPr/>
        </p:nvSpPr>
        <p:spPr>
          <a:xfrm flipH="1">
            <a:off x="5131287" y="2396207"/>
            <a:ext cx="5370738" cy="369332"/>
          </a:xfrm>
          <a:prstGeom prst="rect">
            <a:avLst/>
          </a:prstGeom>
          <a:noFill/>
        </p:spPr>
        <p:txBody>
          <a:bodyPr wrap="square" rtlCol="0">
            <a:spAutoFit/>
          </a:bodyPr>
          <a:lstStyle/>
          <a:p>
            <a:r>
              <a:rPr lang="en-GB" dirty="0"/>
              <a:t>https://sites.google.com/view/i2art-of-programming</a:t>
            </a:r>
          </a:p>
        </p:txBody>
      </p:sp>
      <p:sp>
        <p:nvSpPr>
          <p:cNvPr id="2" name="Υπότιτλος 2">
            <a:extLst>
              <a:ext uri="{FF2B5EF4-FFF2-40B4-BE49-F238E27FC236}">
                <a16:creationId xmlns:a16="http://schemas.microsoft.com/office/drawing/2014/main" id="{E34D4676-FA6C-A57F-250F-E51977C3A656}"/>
              </a:ext>
            </a:extLst>
          </p:cNvPr>
          <p:cNvSpPr txBox="1">
            <a:spLocks/>
          </p:cNvSpPr>
          <p:nvPr/>
        </p:nvSpPr>
        <p:spPr>
          <a:xfrm>
            <a:off x="-16239" y="-1461"/>
            <a:ext cx="12192002" cy="1639614"/>
          </a:xfrm>
          <a:prstGeom prst="rect">
            <a:avLst/>
          </a:prstGeom>
        </p:spPr>
        <p:txBody>
          <a:bodyPr vert="horz" lIns="91440" tIns="45720" rIns="91440" bIns="45720" rtlCol="0" anchor="b">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ct val="0"/>
              </a:spcBef>
            </a:pPr>
            <a:r>
              <a:rPr lang="el-GR" sz="4800" b="1" dirty="0">
                <a:latin typeface="Bahnschrift" panose="020B0502040204020203" pitchFamily="34" charset="0"/>
              </a:rPr>
              <a:t>Εισαγωγή στην Τέχνη του</a:t>
            </a:r>
          </a:p>
          <a:p>
            <a:pPr algn="l">
              <a:lnSpc>
                <a:spcPct val="100000"/>
              </a:lnSpc>
              <a:spcBef>
                <a:spcPct val="0"/>
              </a:spcBef>
            </a:pPr>
            <a:r>
              <a:rPr lang="el-GR" sz="4800" b="1" dirty="0">
                <a:latin typeface="Bahnschrift" panose="020B0502040204020203" pitchFamily="34" charset="0"/>
              </a:rPr>
              <a:t>Προγραμματισμού (με τη </a:t>
            </a:r>
            <a:r>
              <a:rPr lang="en-US" sz="4800" b="1" dirty="0">
                <a:latin typeface="Bahnschrift" panose="020B0502040204020203" pitchFamily="34" charset="0"/>
              </a:rPr>
              <a:t>C</a:t>
            </a:r>
            <a:r>
              <a:rPr lang="el-GR" sz="4800" b="1" dirty="0">
                <a:latin typeface="Bahnschrift" panose="020B0502040204020203" pitchFamily="34" charset="0"/>
              </a:rPr>
              <a:t>)</a:t>
            </a:r>
            <a:endParaRPr lang="en-US" sz="3200" b="1" dirty="0">
              <a:latin typeface="Bahnschrift" panose="020B0502040204020203" pitchFamily="34" charset="0"/>
            </a:endParaRPr>
          </a:p>
        </p:txBody>
      </p:sp>
    </p:spTree>
    <p:extLst>
      <p:ext uri="{BB962C8B-B14F-4D97-AF65-F5344CB8AC3E}">
        <p14:creationId xmlns:p14="http://schemas.microsoft.com/office/powerpoint/2010/main" val="307325276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E635E-13B9-9C1B-C13D-3FFB3D544CDA}"/>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CB1C13C6-17D1-7C66-983F-D7B6E57CB931}"/>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Στόχος Ενότητας </a:t>
            </a:r>
          </a:p>
        </p:txBody>
      </p:sp>
      <p:sp>
        <p:nvSpPr>
          <p:cNvPr id="11" name="TextBox 10">
            <a:extLst>
              <a:ext uri="{FF2B5EF4-FFF2-40B4-BE49-F238E27FC236}">
                <a16:creationId xmlns:a16="http://schemas.microsoft.com/office/drawing/2014/main" id="{1EE05CF8-C118-C650-A095-0EE349F5B946}"/>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a:t>
            </a:fld>
            <a:endParaRPr lang="en-US" sz="1200" dirty="0">
              <a:latin typeface="Bahnschrift Light" panose="020B0502040204020203" pitchFamily="34" charset="0"/>
              <a:cs typeface="Arial" pitchFamily="34" charset="0"/>
            </a:endParaRPr>
          </a:p>
        </p:txBody>
      </p:sp>
      <p:sp>
        <p:nvSpPr>
          <p:cNvPr id="3" name="Rectangle 2">
            <a:extLst>
              <a:ext uri="{FF2B5EF4-FFF2-40B4-BE49-F238E27FC236}">
                <a16:creationId xmlns:a16="http://schemas.microsoft.com/office/drawing/2014/main" id="{6E116A2B-F56B-26DB-A6D1-1ECEEB4E2B4C}"/>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12" name="Content Placeholder 2">
            <a:extLst>
              <a:ext uri="{FF2B5EF4-FFF2-40B4-BE49-F238E27FC236}">
                <a16:creationId xmlns:a16="http://schemas.microsoft.com/office/drawing/2014/main" id="{CA111B06-1E70-E8F2-34FB-B4873DAA7401}"/>
              </a:ext>
            </a:extLst>
          </p:cNvPr>
          <p:cNvSpPr txBox="1">
            <a:spLocks/>
          </p:cNvSpPr>
          <p:nvPr/>
        </p:nvSpPr>
        <p:spPr bwMode="auto">
          <a:xfrm>
            <a:off x="-1" y="1118156"/>
            <a:ext cx="12191999" cy="3544874"/>
          </a:xfrm>
          <a:prstGeom prst="rect">
            <a:avLst/>
          </a:prstGeom>
          <a:solidFill>
            <a:srgbClr val="92D050"/>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a:buClr>
                <a:srgbClr val="3333CC"/>
              </a:buClr>
              <a:defRPr/>
            </a:pPr>
            <a:r>
              <a:rPr lang="el-GR" sz="2400" b="1" kern="0" dirty="0">
                <a:solidFill>
                  <a:srgbClr val="000000"/>
                </a:solidFill>
                <a:latin typeface="Tahoma"/>
              </a:rPr>
              <a:t>διερευνά τη θεμελιώδη έννοια της ανάθεσης έργου</a:t>
            </a:r>
            <a:r>
              <a:rPr lang="el-GR" sz="2400" kern="0" dirty="0">
                <a:solidFill>
                  <a:srgbClr val="000000"/>
                </a:solidFill>
                <a:latin typeface="Tahoma"/>
              </a:rPr>
              <a:t> ως βασικό εργαλείο για την κατανόηση του προγραμματισμού. </a:t>
            </a:r>
            <a:endParaRPr lang="en-US" sz="2400" kern="0" dirty="0">
              <a:solidFill>
                <a:srgbClr val="000000"/>
              </a:solidFill>
              <a:latin typeface="Tahoma"/>
            </a:endParaRPr>
          </a:p>
          <a:p>
            <a:pPr>
              <a:buClr>
                <a:srgbClr val="3333CC"/>
              </a:buClr>
              <a:defRPr/>
            </a:pPr>
            <a:r>
              <a:rPr lang="el-GR" sz="2400" kern="0" dirty="0">
                <a:solidFill>
                  <a:srgbClr val="000000"/>
                </a:solidFill>
                <a:latin typeface="Tahoma"/>
              </a:rPr>
              <a:t>Μέσα από παραλληλισμούς μεταξύ της ανάθεσης εργασίας σε ανθρώπους και μηχανές όπως εξελίχθηκαν στην ιστορία, αναδεικνύεται η φυσική εξέλιξη της ανάγκης του ανθρώπου να οργανώνει και να αυτοματοποιεί εργασίες.</a:t>
            </a:r>
          </a:p>
          <a:p>
            <a:pPr>
              <a:buClr>
                <a:srgbClr val="3333CC"/>
              </a:buClr>
              <a:defRPr/>
            </a:pPr>
            <a:r>
              <a:rPr lang="el-GR" sz="2400" kern="0" dirty="0">
                <a:solidFill>
                  <a:srgbClr val="000000"/>
                </a:solidFill>
                <a:latin typeface="Tahoma"/>
              </a:rPr>
              <a:t>Κεντρικές έννοιες όπως η </a:t>
            </a:r>
            <a:r>
              <a:rPr lang="el-GR" sz="2400" b="1" kern="0" dirty="0">
                <a:solidFill>
                  <a:srgbClr val="000000"/>
                </a:solidFill>
                <a:latin typeface="Tahoma"/>
              </a:rPr>
              <a:t>διεργασία</a:t>
            </a:r>
            <a:r>
              <a:rPr lang="el-GR" sz="2400" kern="0" dirty="0">
                <a:solidFill>
                  <a:srgbClr val="000000"/>
                </a:solidFill>
                <a:latin typeface="Tahoma"/>
              </a:rPr>
              <a:t>, η </a:t>
            </a:r>
            <a:r>
              <a:rPr lang="el-GR" sz="2400" b="1" kern="0" dirty="0">
                <a:solidFill>
                  <a:srgbClr val="000000"/>
                </a:solidFill>
                <a:latin typeface="Tahoma"/>
              </a:rPr>
              <a:t>αφαιρετικότητα</a:t>
            </a:r>
            <a:r>
              <a:rPr lang="el-GR" sz="2400" kern="0" dirty="0">
                <a:solidFill>
                  <a:srgbClr val="000000"/>
                </a:solidFill>
                <a:latin typeface="Tahoma"/>
              </a:rPr>
              <a:t> και η </a:t>
            </a:r>
            <a:r>
              <a:rPr lang="el-GR" sz="2400" b="1" kern="0" dirty="0">
                <a:solidFill>
                  <a:srgbClr val="000000"/>
                </a:solidFill>
                <a:latin typeface="Tahoma"/>
              </a:rPr>
              <a:t>Λεκτική Περιγραφή </a:t>
            </a:r>
            <a:r>
              <a:rPr lang="el-GR" sz="2400" kern="0" dirty="0">
                <a:solidFill>
                  <a:srgbClr val="000000"/>
                </a:solidFill>
                <a:latin typeface="Tahoma"/>
              </a:rPr>
              <a:t>παρουσιάζονται ως θεμέλια για τη δημιουργία ενός προγράμματος, ενός συνόλου προτάσεων  που </a:t>
            </a:r>
            <a:r>
              <a:rPr lang="el-GR" sz="2400" b="1" kern="0" dirty="0">
                <a:solidFill>
                  <a:srgbClr val="000000"/>
                </a:solidFill>
                <a:latin typeface="Tahoma"/>
              </a:rPr>
              <a:t>μετατρέπουν τον υπολογιστή σε σύστημα που εκτελεί διεργασίες</a:t>
            </a:r>
            <a:r>
              <a:rPr lang="el-GR" sz="2400" kern="0" dirty="0">
                <a:solidFill>
                  <a:srgbClr val="000000"/>
                </a:solidFill>
                <a:latin typeface="Tahoma"/>
              </a:rPr>
              <a:t>.</a:t>
            </a:r>
          </a:p>
        </p:txBody>
      </p:sp>
      <p:sp>
        <p:nvSpPr>
          <p:cNvPr id="4" name="TextBox 3">
            <a:extLst>
              <a:ext uri="{FF2B5EF4-FFF2-40B4-BE49-F238E27FC236}">
                <a16:creationId xmlns:a16="http://schemas.microsoft.com/office/drawing/2014/main" id="{27005B80-82D9-1195-C715-BE2289AA96E2}"/>
              </a:ext>
            </a:extLst>
          </p:cNvPr>
          <p:cNvSpPr txBox="1"/>
          <p:nvPr/>
        </p:nvSpPr>
        <p:spPr>
          <a:xfrm>
            <a:off x="598350" y="5149804"/>
            <a:ext cx="10874326" cy="646331"/>
          </a:xfrm>
          <a:prstGeom prst="rect">
            <a:avLst/>
          </a:prstGeom>
          <a:solidFill>
            <a:srgbClr val="FFFF00"/>
          </a:solidFill>
        </p:spPr>
        <p:txBody>
          <a:bodyPr wrap="square" rtlCol="0">
            <a:spAutoFit/>
          </a:bodyPr>
          <a:lstStyle/>
          <a:p>
            <a:pPr algn="ctr"/>
            <a:r>
              <a:rPr lang="el-GR" kern="0" dirty="0">
                <a:solidFill>
                  <a:srgbClr val="000000"/>
                </a:solidFill>
                <a:latin typeface="Tahoma"/>
              </a:rPr>
              <a:t>Η γλώσσα C προτείνεται ως ιδανικό σημείο εκκίνησης, λόγω της απλότητας, της εγγύτητας στο υλικό και της ιστορικής της σημασίας στην εξέλιξη των γλωσσών προγραμματισμού.</a:t>
            </a:r>
            <a:endParaRPr lang="en-GB" dirty="0"/>
          </a:p>
        </p:txBody>
      </p:sp>
      <p:grpSp>
        <p:nvGrpSpPr>
          <p:cNvPr id="9" name="Group 8">
            <a:extLst>
              <a:ext uri="{FF2B5EF4-FFF2-40B4-BE49-F238E27FC236}">
                <a16:creationId xmlns:a16="http://schemas.microsoft.com/office/drawing/2014/main" id="{EBCCC592-CED0-014B-BBE6-0E6D2B4C5DCF}"/>
              </a:ext>
            </a:extLst>
          </p:cNvPr>
          <p:cNvGrpSpPr/>
          <p:nvPr/>
        </p:nvGrpSpPr>
        <p:grpSpPr>
          <a:xfrm>
            <a:off x="-1" y="6559908"/>
            <a:ext cx="12192001" cy="327219"/>
            <a:chOff x="-1" y="6559908"/>
            <a:chExt cx="12192001" cy="327219"/>
          </a:xfrm>
        </p:grpSpPr>
        <p:sp>
          <p:nvSpPr>
            <p:cNvPr id="10" name="Rectangle 14">
              <a:extLst>
                <a:ext uri="{FF2B5EF4-FFF2-40B4-BE49-F238E27FC236}">
                  <a16:creationId xmlns:a16="http://schemas.microsoft.com/office/drawing/2014/main" id="{C28A9634-4676-80EF-67E2-A6D4D1470B18}"/>
                </a:ext>
              </a:extLst>
            </p:cNvPr>
            <p:cNvSpPr/>
            <p:nvPr/>
          </p:nvSpPr>
          <p:spPr>
            <a:xfrm>
              <a:off x="0"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Θέση υποσέλιδου 4">
              <a:extLst>
                <a:ext uri="{FF2B5EF4-FFF2-40B4-BE49-F238E27FC236}">
                  <a16:creationId xmlns:a16="http://schemas.microsoft.com/office/drawing/2014/main" id="{1F0DD3F0-F993-07FA-CF3E-EC2B3B0D151F}"/>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5" name="Θέση υποσέλιδου 4">
              <a:extLst>
                <a:ext uri="{FF2B5EF4-FFF2-40B4-BE49-F238E27FC236}">
                  <a16:creationId xmlns:a16="http://schemas.microsoft.com/office/drawing/2014/main" id="{022D7C49-9DEB-8E6A-F5E3-97DFE5BE0160}"/>
                </a:ext>
              </a:extLst>
            </p:cNvPr>
            <p:cNvSpPr txBox="1">
              <a:spLocks/>
            </p:cNvSpPr>
            <p:nvPr/>
          </p:nvSpPr>
          <p:spPr>
            <a:xfrm>
              <a:off x="3719657" y="6610127"/>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Procedural Abstraction – </a:t>
              </a:r>
              <a:r>
                <a:rPr lang="el-GR" sz="1100" dirty="0">
                  <a:solidFill>
                    <a:schemeClr val="tx1"/>
                  </a:solidFill>
                  <a:latin typeface="Bahnschrift" panose="020B0502040204020203" pitchFamily="34" charset="0"/>
                </a:rPr>
                <a:t>Λεκτική Περιγραφή</a:t>
              </a:r>
              <a:endParaRPr lang="en-US" sz="1100" dirty="0">
                <a:solidFill>
                  <a:schemeClr val="tx1"/>
                </a:solidFill>
                <a:latin typeface="Bahnschrift" panose="020B0502040204020203" pitchFamily="34" charset="0"/>
              </a:endParaRPr>
            </a:p>
            <a:p>
              <a:endParaRPr lang="el-GR" sz="1100" dirty="0">
                <a:solidFill>
                  <a:schemeClr val="tx1"/>
                </a:solidFill>
                <a:latin typeface="Bahnschrift" panose="020B0502040204020203" pitchFamily="34" charset="0"/>
              </a:endParaRPr>
            </a:p>
          </p:txBody>
        </p:sp>
        <p:sp>
          <p:nvSpPr>
            <p:cNvPr id="7" name="TextBox 6">
              <a:extLst>
                <a:ext uri="{FF2B5EF4-FFF2-40B4-BE49-F238E27FC236}">
                  <a16:creationId xmlns:a16="http://schemas.microsoft.com/office/drawing/2014/main" id="{0E4BEB1B-A7B2-20A4-E18F-753127D4BE35}"/>
                </a:ext>
              </a:extLst>
            </p:cNvPr>
            <p:cNvSpPr txBox="1"/>
            <p:nvPr/>
          </p:nvSpPr>
          <p:spPr>
            <a:xfrm>
              <a:off x="1026906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a:t>
              </a:fld>
              <a:endParaRPr lang="en-US" sz="1200" dirty="0">
                <a:latin typeface="Bahnschrift Light" panose="020B0502040204020203" pitchFamily="34" charset="0"/>
                <a:cs typeface="Arial" pitchFamily="34" charset="0"/>
              </a:endParaRPr>
            </a:p>
          </p:txBody>
        </p:sp>
      </p:grpSp>
    </p:spTree>
    <p:extLst>
      <p:ext uri="{BB962C8B-B14F-4D97-AF65-F5344CB8AC3E}">
        <p14:creationId xmlns:p14="http://schemas.microsoft.com/office/powerpoint/2010/main" val="327100388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bg/>
                                          </p:spTgt>
                                        </p:tgtEl>
                                        <p:attrNameLst>
                                          <p:attrName>style.visibility</p:attrName>
                                        </p:attrNameLst>
                                      </p:cBhvr>
                                      <p:to>
                                        <p:strVal val="visible"/>
                                      </p:to>
                                    </p:set>
                                    <p:animEffect transition="in" filter="fade">
                                      <p:cBhvr>
                                        <p:cTn id="7" dur="500"/>
                                        <p:tgtEl>
                                          <p:spTgt spid="12">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xEl>
                                              <p:pRg st="0" end="0"/>
                                            </p:txEl>
                                          </p:spTgt>
                                        </p:tgtEl>
                                        <p:attrNameLst>
                                          <p:attrName>style.visibility</p:attrName>
                                        </p:attrNameLst>
                                      </p:cBhvr>
                                      <p:to>
                                        <p:strVal val="visible"/>
                                      </p:to>
                                    </p:set>
                                    <p:animEffect transition="in" filter="fade">
                                      <p:cBhvr>
                                        <p:cTn id="10" dur="500"/>
                                        <p:tgtEl>
                                          <p:spTgt spid="12">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xEl>
                                              <p:pRg st="1" end="1"/>
                                            </p:txEl>
                                          </p:spTgt>
                                        </p:tgtEl>
                                        <p:attrNameLst>
                                          <p:attrName>style.visibility</p:attrName>
                                        </p:attrNameLst>
                                      </p:cBhvr>
                                      <p:to>
                                        <p:strVal val="visible"/>
                                      </p:to>
                                    </p:set>
                                    <p:animEffect transition="in" filter="fade">
                                      <p:cBhvr>
                                        <p:cTn id="13" dur="500"/>
                                        <p:tgtEl>
                                          <p:spTgt spid="12">
                                            <p:txEl>
                                              <p:pRg st="1" end="1"/>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xEl>
                                              <p:pRg st="2" end="2"/>
                                            </p:txEl>
                                          </p:spTgt>
                                        </p:tgtEl>
                                        <p:attrNameLst>
                                          <p:attrName>style.visibility</p:attrName>
                                        </p:attrNameLst>
                                      </p:cBhvr>
                                      <p:to>
                                        <p:strVal val="visible"/>
                                      </p:to>
                                    </p:set>
                                    <p:animEffect transition="in" filter="fade">
                                      <p:cBhvr>
                                        <p:cTn id="16" dur="500"/>
                                        <p:tgtEl>
                                          <p:spTgt spid="12">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allAtOnce" animBg="1"/>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6F596-3DC2-5757-0D2B-D38C576B52C7}"/>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F8440915-5C64-A7EB-A5D4-25DC36078886}"/>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Ανάθεση Έργου και Προγραμματισμός</a:t>
            </a:r>
          </a:p>
        </p:txBody>
      </p:sp>
      <p:sp>
        <p:nvSpPr>
          <p:cNvPr id="11" name="TextBox 10">
            <a:extLst>
              <a:ext uri="{FF2B5EF4-FFF2-40B4-BE49-F238E27FC236}">
                <a16:creationId xmlns:a16="http://schemas.microsoft.com/office/drawing/2014/main" id="{1A0A5508-A909-7881-5489-71615016519B}"/>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3</a:t>
            </a:fld>
            <a:endParaRPr lang="en-US" sz="1200" dirty="0">
              <a:latin typeface="Bahnschrift Light" panose="020B0502040204020203" pitchFamily="34" charset="0"/>
              <a:cs typeface="Arial" pitchFamily="34" charset="0"/>
            </a:endParaRPr>
          </a:p>
        </p:txBody>
      </p:sp>
      <p:pic>
        <p:nvPicPr>
          <p:cNvPr id="9" name="Picture 8">
            <a:extLst>
              <a:ext uri="{FF2B5EF4-FFF2-40B4-BE49-F238E27FC236}">
                <a16:creationId xmlns:a16="http://schemas.microsoft.com/office/drawing/2014/main" id="{E9001C91-FB90-7CA0-CFAC-6F3D15268432}"/>
              </a:ext>
            </a:extLst>
          </p:cNvPr>
          <p:cNvPicPr>
            <a:picLocks noChangeAspect="1"/>
          </p:cNvPicPr>
          <p:nvPr/>
        </p:nvPicPr>
        <p:blipFill>
          <a:blip r:embed="rId3"/>
          <a:stretch>
            <a:fillRect/>
          </a:stretch>
        </p:blipFill>
        <p:spPr>
          <a:xfrm>
            <a:off x="206483" y="915780"/>
            <a:ext cx="4313660" cy="2629278"/>
          </a:xfrm>
          <a:prstGeom prst="rect">
            <a:avLst/>
          </a:prstGeom>
        </p:spPr>
      </p:pic>
      <p:pic>
        <p:nvPicPr>
          <p:cNvPr id="14" name="Picture 13">
            <a:extLst>
              <a:ext uri="{FF2B5EF4-FFF2-40B4-BE49-F238E27FC236}">
                <a16:creationId xmlns:a16="http://schemas.microsoft.com/office/drawing/2014/main" id="{6F098F82-FB67-DDA9-B2C5-2B03EFE39838}"/>
              </a:ext>
            </a:extLst>
          </p:cNvPr>
          <p:cNvPicPr>
            <a:picLocks noChangeAspect="1"/>
          </p:cNvPicPr>
          <p:nvPr/>
        </p:nvPicPr>
        <p:blipFill>
          <a:blip r:embed="rId4"/>
          <a:stretch>
            <a:fillRect/>
          </a:stretch>
        </p:blipFill>
        <p:spPr>
          <a:xfrm>
            <a:off x="6786531" y="868041"/>
            <a:ext cx="5097386" cy="3280626"/>
          </a:xfrm>
          <a:prstGeom prst="rect">
            <a:avLst/>
          </a:prstGeom>
        </p:spPr>
      </p:pic>
      <p:sp>
        <p:nvSpPr>
          <p:cNvPr id="15" name="TextBox 14">
            <a:extLst>
              <a:ext uri="{FF2B5EF4-FFF2-40B4-BE49-F238E27FC236}">
                <a16:creationId xmlns:a16="http://schemas.microsoft.com/office/drawing/2014/main" id="{69AED978-F054-17DD-C869-36E4C827E4CB}"/>
              </a:ext>
            </a:extLst>
          </p:cNvPr>
          <p:cNvSpPr txBox="1"/>
          <p:nvPr/>
        </p:nvSpPr>
        <p:spPr>
          <a:xfrm>
            <a:off x="196796" y="4384791"/>
            <a:ext cx="11677434" cy="1938992"/>
          </a:xfrm>
          <a:prstGeom prst="rect">
            <a:avLst/>
          </a:prstGeom>
          <a:solidFill>
            <a:schemeClr val="accent6"/>
          </a:solidFill>
        </p:spPr>
        <p:txBody>
          <a:bodyPr wrap="square" rtlCol="0">
            <a:spAutoFit/>
          </a:bodyPr>
          <a:lstStyle/>
          <a:p>
            <a:r>
              <a:rPr lang="el-GR" sz="2400" dirty="0"/>
              <a:t>Η πρόκληση για ανάθεση έργου στις μηχανικές κατασκευές οδήγησε στην ανάγκη για </a:t>
            </a:r>
            <a:r>
              <a:rPr lang="el-GR" sz="2400" b="1" dirty="0"/>
              <a:t>παροχή οδηγιών στη μηχανή για το πως να εκτελέσει ένα συγκεκριμένο έργο. </a:t>
            </a:r>
          </a:p>
          <a:p>
            <a:endParaRPr lang="el-GR" sz="2400" b="1" dirty="0"/>
          </a:p>
          <a:p>
            <a:r>
              <a:rPr lang="el-GR" sz="2400" dirty="0"/>
              <a:t>Ο όρος </a:t>
            </a:r>
            <a:r>
              <a:rPr lang="el-GR" sz="2400" b="1" dirty="0">
                <a:solidFill>
                  <a:srgbClr val="C00000"/>
                </a:solidFill>
              </a:rPr>
              <a:t>προγραμματισμός</a:t>
            </a:r>
            <a:r>
              <a:rPr lang="el-GR" sz="2400" dirty="0"/>
              <a:t> χρησιμοποιήθηκε για να περιγράψει την </a:t>
            </a:r>
            <a:r>
              <a:rPr lang="el-GR" sz="2400" b="1" dirty="0"/>
              <a:t>παροχή οδηγιών σε μια μηχανή</a:t>
            </a:r>
            <a:r>
              <a:rPr lang="el-GR" sz="2400" dirty="0"/>
              <a:t>. </a:t>
            </a:r>
            <a:endParaRPr lang="en-GB" sz="2400" dirty="0"/>
          </a:p>
        </p:txBody>
      </p:sp>
      <p:grpSp>
        <p:nvGrpSpPr>
          <p:cNvPr id="16" name="Group 15">
            <a:extLst>
              <a:ext uri="{FF2B5EF4-FFF2-40B4-BE49-F238E27FC236}">
                <a16:creationId xmlns:a16="http://schemas.microsoft.com/office/drawing/2014/main" id="{2E4AE9DC-F77C-E610-0733-31D0656A82ED}"/>
              </a:ext>
            </a:extLst>
          </p:cNvPr>
          <p:cNvGrpSpPr/>
          <p:nvPr/>
        </p:nvGrpSpPr>
        <p:grpSpPr>
          <a:xfrm>
            <a:off x="-1" y="6559908"/>
            <a:ext cx="12192001" cy="327219"/>
            <a:chOff x="-1" y="6559908"/>
            <a:chExt cx="12192001" cy="327219"/>
          </a:xfrm>
        </p:grpSpPr>
        <p:sp>
          <p:nvSpPr>
            <p:cNvPr id="17" name="Rectangle 14">
              <a:extLst>
                <a:ext uri="{FF2B5EF4-FFF2-40B4-BE49-F238E27FC236}">
                  <a16:creationId xmlns:a16="http://schemas.microsoft.com/office/drawing/2014/main" id="{3F6BC7BD-7B00-ED39-4C03-5B5186D52F37}"/>
                </a:ext>
              </a:extLst>
            </p:cNvPr>
            <p:cNvSpPr/>
            <p:nvPr/>
          </p:nvSpPr>
          <p:spPr>
            <a:xfrm>
              <a:off x="0"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Θέση υποσέλιδου 4">
              <a:extLst>
                <a:ext uri="{FF2B5EF4-FFF2-40B4-BE49-F238E27FC236}">
                  <a16:creationId xmlns:a16="http://schemas.microsoft.com/office/drawing/2014/main" id="{1AACD2C7-9C16-BDEF-2A9E-2D00B8A91D35}"/>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9" name="Θέση υποσέλιδου 4">
              <a:extLst>
                <a:ext uri="{FF2B5EF4-FFF2-40B4-BE49-F238E27FC236}">
                  <a16:creationId xmlns:a16="http://schemas.microsoft.com/office/drawing/2014/main" id="{991CB33B-F325-BFAD-9501-CF7F7157B46D}"/>
                </a:ext>
              </a:extLst>
            </p:cNvPr>
            <p:cNvSpPr txBox="1">
              <a:spLocks/>
            </p:cNvSpPr>
            <p:nvPr/>
          </p:nvSpPr>
          <p:spPr>
            <a:xfrm>
              <a:off x="3719657" y="6610127"/>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Procedural Abstraction – </a:t>
              </a:r>
              <a:r>
                <a:rPr lang="el-GR" sz="1100" dirty="0">
                  <a:solidFill>
                    <a:schemeClr val="tx1"/>
                  </a:solidFill>
                  <a:latin typeface="Bahnschrift" panose="020B0502040204020203" pitchFamily="34" charset="0"/>
                </a:rPr>
                <a:t>Λεκτική Περιγραφή</a:t>
              </a:r>
              <a:endParaRPr lang="en-US" sz="1100" dirty="0">
                <a:solidFill>
                  <a:schemeClr val="tx1"/>
                </a:solidFill>
                <a:latin typeface="Bahnschrift" panose="020B0502040204020203" pitchFamily="34" charset="0"/>
              </a:endParaRPr>
            </a:p>
            <a:p>
              <a:endParaRPr lang="el-GR" sz="1100" dirty="0">
                <a:solidFill>
                  <a:schemeClr val="tx1"/>
                </a:solidFill>
                <a:latin typeface="Bahnschrift" panose="020B0502040204020203" pitchFamily="34" charset="0"/>
              </a:endParaRPr>
            </a:p>
          </p:txBody>
        </p:sp>
        <p:sp>
          <p:nvSpPr>
            <p:cNvPr id="20" name="TextBox 19">
              <a:extLst>
                <a:ext uri="{FF2B5EF4-FFF2-40B4-BE49-F238E27FC236}">
                  <a16:creationId xmlns:a16="http://schemas.microsoft.com/office/drawing/2014/main" id="{0715439D-7455-0C7A-2EC9-7E00D6625CDA}"/>
                </a:ext>
              </a:extLst>
            </p:cNvPr>
            <p:cNvSpPr txBox="1"/>
            <p:nvPr/>
          </p:nvSpPr>
          <p:spPr>
            <a:xfrm>
              <a:off x="1026906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3</a:t>
              </a:fld>
              <a:endParaRPr lang="en-US" sz="1200" dirty="0">
                <a:latin typeface="Bahnschrift Light" panose="020B0502040204020203" pitchFamily="34" charset="0"/>
                <a:cs typeface="Arial" pitchFamily="34" charset="0"/>
              </a:endParaRPr>
            </a:p>
          </p:txBody>
        </p:sp>
      </p:grpSp>
    </p:spTree>
    <p:extLst>
      <p:ext uri="{BB962C8B-B14F-4D97-AF65-F5344CB8AC3E}">
        <p14:creationId xmlns:p14="http://schemas.microsoft.com/office/powerpoint/2010/main" val="17618841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DFE67-6F40-34FF-95B2-B7EC5D3C770D}"/>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05440C7B-EA0D-9F6B-3F6A-778BA7450696}"/>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Αργαλειός του </a:t>
            </a:r>
            <a:r>
              <a:rPr lang="el-GR" sz="4000" b="1" dirty="0" err="1">
                <a:solidFill>
                  <a:srgbClr val="F9853D"/>
                </a:solidFill>
                <a:latin typeface="Bahnschrift" panose="020B0502040204020203" pitchFamily="34" charset="0"/>
              </a:rPr>
              <a:t>Ζακάρ</a:t>
            </a:r>
            <a:r>
              <a:rPr lang="el-GR" sz="4000" b="1" dirty="0">
                <a:solidFill>
                  <a:srgbClr val="F9853D"/>
                </a:solidFill>
                <a:latin typeface="Bahnschrift" panose="020B0502040204020203" pitchFamily="34" charset="0"/>
              </a:rPr>
              <a:t> </a:t>
            </a:r>
          </a:p>
        </p:txBody>
      </p:sp>
      <p:sp>
        <p:nvSpPr>
          <p:cNvPr id="11" name="TextBox 10">
            <a:extLst>
              <a:ext uri="{FF2B5EF4-FFF2-40B4-BE49-F238E27FC236}">
                <a16:creationId xmlns:a16="http://schemas.microsoft.com/office/drawing/2014/main" id="{5BD508CE-3C02-1C8F-C9C0-FCF49A3FD57B}"/>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4</a:t>
            </a:fld>
            <a:endParaRPr lang="en-US" sz="1200" dirty="0">
              <a:latin typeface="Bahnschrift Light" panose="020B0502040204020203" pitchFamily="34" charset="0"/>
              <a:cs typeface="Arial" pitchFamily="34" charset="0"/>
            </a:endParaRPr>
          </a:p>
        </p:txBody>
      </p:sp>
      <p:pic>
        <p:nvPicPr>
          <p:cNvPr id="4" name="Picture 3">
            <a:extLst>
              <a:ext uri="{FF2B5EF4-FFF2-40B4-BE49-F238E27FC236}">
                <a16:creationId xmlns:a16="http://schemas.microsoft.com/office/drawing/2014/main" id="{0B7E0B0E-F891-0901-46B4-DF0B61BBE410}"/>
              </a:ext>
            </a:extLst>
          </p:cNvPr>
          <p:cNvPicPr>
            <a:picLocks noChangeAspect="1"/>
          </p:cNvPicPr>
          <p:nvPr/>
        </p:nvPicPr>
        <p:blipFill>
          <a:blip r:embed="rId3"/>
          <a:stretch>
            <a:fillRect/>
          </a:stretch>
        </p:blipFill>
        <p:spPr>
          <a:xfrm>
            <a:off x="0" y="790332"/>
            <a:ext cx="5919998" cy="3920213"/>
          </a:xfrm>
          <a:prstGeom prst="rect">
            <a:avLst/>
          </a:prstGeom>
        </p:spPr>
      </p:pic>
      <p:sp>
        <p:nvSpPr>
          <p:cNvPr id="7" name="TextBox 6">
            <a:extLst>
              <a:ext uri="{FF2B5EF4-FFF2-40B4-BE49-F238E27FC236}">
                <a16:creationId xmlns:a16="http://schemas.microsoft.com/office/drawing/2014/main" id="{80D55AAD-13B5-CE62-7411-C96C89FFAF80}"/>
              </a:ext>
            </a:extLst>
          </p:cNvPr>
          <p:cNvSpPr txBox="1"/>
          <p:nvPr/>
        </p:nvSpPr>
        <p:spPr>
          <a:xfrm>
            <a:off x="140669" y="4781546"/>
            <a:ext cx="11663404" cy="1754326"/>
          </a:xfrm>
          <a:prstGeom prst="rect">
            <a:avLst/>
          </a:prstGeom>
          <a:noFill/>
        </p:spPr>
        <p:txBody>
          <a:bodyPr wrap="square" rtlCol="0">
            <a:spAutoFit/>
          </a:bodyPr>
          <a:lstStyle/>
          <a:p>
            <a:r>
              <a:rPr lang="el-GR" dirty="0"/>
              <a:t>«Ο </a:t>
            </a:r>
            <a:r>
              <a:rPr lang="el-GR" b="1" dirty="0"/>
              <a:t>αργαλειός του </a:t>
            </a:r>
            <a:r>
              <a:rPr lang="el-GR" b="1" dirty="0" err="1"/>
              <a:t>Ζακάρ</a:t>
            </a:r>
            <a:r>
              <a:rPr lang="el-GR" dirty="0"/>
              <a:t> (γνωστός και ως </a:t>
            </a:r>
            <a:r>
              <a:rPr lang="el-GR" b="1" dirty="0"/>
              <a:t>μηχανή του </a:t>
            </a:r>
            <a:r>
              <a:rPr lang="el-GR" b="1" dirty="0" err="1"/>
              <a:t>Ζακάρ</a:t>
            </a:r>
            <a:r>
              <a:rPr lang="el-GR" dirty="0"/>
              <a:t>) είναι ένας προγραμματιζόμενος αργαλειός, που εφηύρε ο Γάλλος υφαντής και έμπορος </a:t>
            </a:r>
            <a:r>
              <a:rPr lang="el-GR" dirty="0" err="1">
                <a:hlinkClick r:id="rId4" tooltip="Ζοζέφ Μαρί Ζακάρ"/>
              </a:rPr>
              <a:t>Ζοζέφ</a:t>
            </a:r>
            <a:r>
              <a:rPr lang="el-GR" dirty="0">
                <a:hlinkClick r:id="rId4" tooltip="Ζοζέφ Μαρί Ζακάρ"/>
              </a:rPr>
              <a:t> Μαρί </a:t>
            </a:r>
            <a:r>
              <a:rPr lang="el-GR" dirty="0" err="1">
                <a:hlinkClick r:id="rId4" tooltip="Ζοζέφ Μαρί Ζακάρ"/>
              </a:rPr>
              <a:t>Ζακάρ</a:t>
            </a:r>
            <a:r>
              <a:rPr lang="el-GR" dirty="0"/>
              <a:t> το 1804 </a:t>
            </a:r>
            <a:r>
              <a:rPr lang="el-GR" dirty="0">
                <a:highlight>
                  <a:srgbClr val="FFFF00"/>
                </a:highlight>
              </a:rPr>
              <a:t>και ο οποίος έπαιξε σημαντικό ρόλο σε άλλες προγραμματιζόμενες μηχανές, όπως μία πρώιμη μορφή του ψηφιακού μεταγλωττιστή</a:t>
            </a:r>
            <a:r>
              <a:rPr lang="el-GR" dirty="0"/>
              <a:t>, που χρησιμοποιήθηκε από την IBM, ώστε να ξεκινήσει τον σχεδιασμό του σημερινού υπολογιστή.</a:t>
            </a:r>
          </a:p>
          <a:p>
            <a:r>
              <a:rPr lang="el-GR" dirty="0"/>
              <a:t>Είχε τη δυνατότητα να διαλέγει το σχέδιο ύφανσης, με τη χρήση διάτρητων καρτών που περιείχαν σειρές από τρύπες, για κάθε επιλογή κλωστής και μοτίβου.» </a:t>
            </a:r>
            <a:r>
              <a:rPr lang="en-US" dirty="0" err="1"/>
              <a:t>wikipedia</a:t>
            </a:r>
            <a:endParaRPr lang="en-GB" dirty="0"/>
          </a:p>
        </p:txBody>
      </p:sp>
      <p:sp>
        <p:nvSpPr>
          <p:cNvPr id="12" name="TextBox 11">
            <a:extLst>
              <a:ext uri="{FF2B5EF4-FFF2-40B4-BE49-F238E27FC236}">
                <a16:creationId xmlns:a16="http://schemas.microsoft.com/office/drawing/2014/main" id="{F3B24500-1476-1AD0-AA60-E3FD18B40C95}"/>
              </a:ext>
            </a:extLst>
          </p:cNvPr>
          <p:cNvSpPr txBox="1"/>
          <p:nvPr/>
        </p:nvSpPr>
        <p:spPr>
          <a:xfrm>
            <a:off x="6096000" y="903778"/>
            <a:ext cx="5955331" cy="3693319"/>
          </a:xfrm>
          <a:prstGeom prst="rect">
            <a:avLst/>
          </a:prstGeom>
          <a:noFill/>
        </p:spPr>
        <p:txBody>
          <a:bodyPr wrap="square" rtlCol="0">
            <a:spAutoFit/>
          </a:bodyPr>
          <a:lstStyle/>
          <a:p>
            <a:r>
              <a:rPr lang="en-US" dirty="0"/>
              <a:t>“</a:t>
            </a:r>
            <a:r>
              <a:rPr lang="el-GR" dirty="0"/>
              <a:t>Σε όλη τη διάρκεια του 18ου αιώνα, οι Γάλλοι </a:t>
            </a:r>
            <a:r>
              <a:rPr lang="el-GR" dirty="0" err="1"/>
              <a:t>μεταξοϋφαντουργοί</a:t>
            </a:r>
            <a:r>
              <a:rPr lang="el-GR" dirty="0"/>
              <a:t> είχαν πειραματιστεί με διάφορους τρόπους για να κατευθύνουν τους αργαλειούς τους.</a:t>
            </a:r>
            <a:br>
              <a:rPr lang="el-GR" dirty="0"/>
            </a:br>
            <a:endParaRPr lang="en-US" dirty="0"/>
          </a:p>
          <a:p>
            <a:r>
              <a:rPr lang="el-GR" dirty="0"/>
              <a:t>Το 1821, ο μηχανικός – υφαντουργός </a:t>
            </a:r>
            <a:r>
              <a:rPr lang="el-GR" dirty="0" err="1"/>
              <a:t>Ζοζέφ</a:t>
            </a:r>
            <a:r>
              <a:rPr lang="el-GR" dirty="0"/>
              <a:t> </a:t>
            </a:r>
            <a:r>
              <a:rPr lang="el-GR" dirty="0" err="1"/>
              <a:t>Ζακάρ</a:t>
            </a:r>
            <a:r>
              <a:rPr lang="el-GR" dirty="0"/>
              <a:t> (</a:t>
            </a:r>
            <a:r>
              <a:rPr lang="el-GR" dirty="0" err="1"/>
              <a:t>Joseph</a:t>
            </a:r>
            <a:r>
              <a:rPr lang="el-GR" dirty="0"/>
              <a:t> </a:t>
            </a:r>
            <a:r>
              <a:rPr lang="el-GR" dirty="0" err="1"/>
              <a:t>Jacquard</a:t>
            </a:r>
            <a:r>
              <a:rPr lang="el-GR" dirty="0"/>
              <a:t>) κάνοντας χρήση του δυαδικού κώδικα, κατασκεύασε τον πρώτο αυτόματο αργαλειό που μπορούσε να χειριστεί τρομερά πολύπλοκα σχέδια</a:t>
            </a:r>
            <a:r>
              <a:rPr lang="en-US" dirty="0"/>
              <a:t>. …. </a:t>
            </a:r>
          </a:p>
          <a:p>
            <a:endParaRPr lang="en-US" dirty="0"/>
          </a:p>
          <a:p>
            <a:r>
              <a:rPr lang="el-GR" dirty="0"/>
              <a:t>Ο αργαλειός του </a:t>
            </a:r>
            <a:r>
              <a:rPr lang="el-GR" dirty="0" err="1"/>
              <a:t>Ζακάρ</a:t>
            </a:r>
            <a:r>
              <a:rPr lang="el-GR" dirty="0"/>
              <a:t> έφερε επανάσταση στη κλωστοϋφαντουργία και οι βασικές αρχές του εξακολουθούν να χρησιμοποιούνται και σήμερα.</a:t>
            </a:r>
            <a:r>
              <a:rPr lang="en-US" dirty="0"/>
              <a:t>” </a:t>
            </a:r>
          </a:p>
          <a:p>
            <a:r>
              <a:rPr lang="en-GB" dirty="0"/>
              <a:t>https://www.noesis.edu.gr/</a:t>
            </a:r>
          </a:p>
        </p:txBody>
      </p:sp>
      <p:grpSp>
        <p:nvGrpSpPr>
          <p:cNvPr id="13" name="Group 12">
            <a:extLst>
              <a:ext uri="{FF2B5EF4-FFF2-40B4-BE49-F238E27FC236}">
                <a16:creationId xmlns:a16="http://schemas.microsoft.com/office/drawing/2014/main" id="{AD139636-86DB-D8F8-30B2-C32572DD1027}"/>
              </a:ext>
            </a:extLst>
          </p:cNvPr>
          <p:cNvGrpSpPr/>
          <p:nvPr/>
        </p:nvGrpSpPr>
        <p:grpSpPr>
          <a:xfrm>
            <a:off x="-1" y="6559908"/>
            <a:ext cx="12192001" cy="327219"/>
            <a:chOff x="-1" y="6559908"/>
            <a:chExt cx="12192001" cy="327219"/>
          </a:xfrm>
        </p:grpSpPr>
        <p:sp>
          <p:nvSpPr>
            <p:cNvPr id="16" name="Rectangle 14">
              <a:extLst>
                <a:ext uri="{FF2B5EF4-FFF2-40B4-BE49-F238E27FC236}">
                  <a16:creationId xmlns:a16="http://schemas.microsoft.com/office/drawing/2014/main" id="{ECE73094-8CDB-DEC4-C42F-36DE0C7B140D}"/>
                </a:ext>
              </a:extLst>
            </p:cNvPr>
            <p:cNvSpPr/>
            <p:nvPr/>
          </p:nvSpPr>
          <p:spPr>
            <a:xfrm>
              <a:off x="0"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7" name="Θέση υποσέλιδου 4">
              <a:extLst>
                <a:ext uri="{FF2B5EF4-FFF2-40B4-BE49-F238E27FC236}">
                  <a16:creationId xmlns:a16="http://schemas.microsoft.com/office/drawing/2014/main" id="{085A9122-22C1-C42E-12C5-6F59F59F9AA3}"/>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8" name="Θέση υποσέλιδου 4">
              <a:extLst>
                <a:ext uri="{FF2B5EF4-FFF2-40B4-BE49-F238E27FC236}">
                  <a16:creationId xmlns:a16="http://schemas.microsoft.com/office/drawing/2014/main" id="{63EB8F54-314C-DFBB-E1BC-A598047BC421}"/>
                </a:ext>
              </a:extLst>
            </p:cNvPr>
            <p:cNvSpPr txBox="1">
              <a:spLocks/>
            </p:cNvSpPr>
            <p:nvPr/>
          </p:nvSpPr>
          <p:spPr>
            <a:xfrm>
              <a:off x="3719657" y="6610127"/>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Procedural Abstraction – </a:t>
              </a:r>
              <a:r>
                <a:rPr lang="el-GR" sz="1100" dirty="0">
                  <a:solidFill>
                    <a:schemeClr val="tx1"/>
                  </a:solidFill>
                  <a:latin typeface="Bahnschrift" panose="020B0502040204020203" pitchFamily="34" charset="0"/>
                </a:rPr>
                <a:t>Λεκτική Περιγραφή</a:t>
              </a:r>
              <a:endParaRPr lang="en-US" sz="1100" dirty="0">
                <a:solidFill>
                  <a:schemeClr val="tx1"/>
                </a:solidFill>
                <a:latin typeface="Bahnschrift" panose="020B0502040204020203" pitchFamily="34" charset="0"/>
              </a:endParaRPr>
            </a:p>
            <a:p>
              <a:endParaRPr lang="el-GR" sz="1100" dirty="0">
                <a:solidFill>
                  <a:schemeClr val="tx1"/>
                </a:solidFill>
                <a:latin typeface="Bahnschrift" panose="020B0502040204020203" pitchFamily="34" charset="0"/>
              </a:endParaRPr>
            </a:p>
          </p:txBody>
        </p:sp>
        <p:sp>
          <p:nvSpPr>
            <p:cNvPr id="19" name="TextBox 18">
              <a:extLst>
                <a:ext uri="{FF2B5EF4-FFF2-40B4-BE49-F238E27FC236}">
                  <a16:creationId xmlns:a16="http://schemas.microsoft.com/office/drawing/2014/main" id="{1D0028E4-656A-3F81-B5A6-8C3206E1F98F}"/>
                </a:ext>
              </a:extLst>
            </p:cNvPr>
            <p:cNvSpPr txBox="1"/>
            <p:nvPr/>
          </p:nvSpPr>
          <p:spPr>
            <a:xfrm>
              <a:off x="1026906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4</a:t>
              </a:fld>
              <a:endParaRPr lang="en-US" sz="1200" dirty="0">
                <a:latin typeface="Bahnschrift Light" panose="020B0502040204020203" pitchFamily="34" charset="0"/>
                <a:cs typeface="Arial" pitchFamily="34" charset="0"/>
              </a:endParaRPr>
            </a:p>
          </p:txBody>
        </p:sp>
      </p:grpSp>
    </p:spTree>
    <p:extLst>
      <p:ext uri="{BB962C8B-B14F-4D97-AF65-F5344CB8AC3E}">
        <p14:creationId xmlns:p14="http://schemas.microsoft.com/office/powerpoint/2010/main" val="114290602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1467E-8A6C-7B10-44CD-C653A817031B}"/>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52A3A255-F69F-B46A-CA8F-C4FE6D65AE7B}"/>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Αναλυτική Μηχανή του </a:t>
            </a:r>
            <a:r>
              <a:rPr lang="el-GR" sz="4000" b="1" dirty="0" err="1">
                <a:solidFill>
                  <a:srgbClr val="F9853D"/>
                </a:solidFill>
                <a:latin typeface="Bahnschrift" panose="020B0502040204020203" pitchFamily="34" charset="0"/>
              </a:rPr>
              <a:t>Charles</a:t>
            </a:r>
            <a:r>
              <a:rPr lang="el-GR" sz="4000" b="1" dirty="0">
                <a:solidFill>
                  <a:srgbClr val="F9853D"/>
                </a:solidFill>
                <a:latin typeface="Bahnschrift" panose="020B0502040204020203" pitchFamily="34" charset="0"/>
              </a:rPr>
              <a:t> </a:t>
            </a:r>
            <a:r>
              <a:rPr lang="el-GR" sz="4000" b="1" dirty="0" err="1">
                <a:solidFill>
                  <a:srgbClr val="F9853D"/>
                </a:solidFill>
                <a:latin typeface="Bahnschrift" panose="020B0502040204020203" pitchFamily="34" charset="0"/>
              </a:rPr>
              <a:t>Babbage</a:t>
            </a:r>
            <a:r>
              <a:rPr lang="el-GR" sz="4000" b="1" dirty="0">
                <a:solidFill>
                  <a:srgbClr val="F9853D"/>
                </a:solidFill>
                <a:latin typeface="Bahnschrift" panose="020B0502040204020203" pitchFamily="34" charset="0"/>
              </a:rPr>
              <a:t> </a:t>
            </a:r>
          </a:p>
        </p:txBody>
      </p:sp>
      <p:pic>
        <p:nvPicPr>
          <p:cNvPr id="9" name="Picture 8">
            <a:extLst>
              <a:ext uri="{FF2B5EF4-FFF2-40B4-BE49-F238E27FC236}">
                <a16:creationId xmlns:a16="http://schemas.microsoft.com/office/drawing/2014/main" id="{72174893-10D9-FD0A-1C28-7CF84E26687D}"/>
              </a:ext>
            </a:extLst>
          </p:cNvPr>
          <p:cNvPicPr>
            <a:picLocks noChangeAspect="1"/>
          </p:cNvPicPr>
          <p:nvPr/>
        </p:nvPicPr>
        <p:blipFill>
          <a:blip r:embed="rId3"/>
          <a:stretch>
            <a:fillRect/>
          </a:stretch>
        </p:blipFill>
        <p:spPr>
          <a:xfrm>
            <a:off x="140669" y="769550"/>
            <a:ext cx="4915586" cy="4763165"/>
          </a:xfrm>
          <a:prstGeom prst="rect">
            <a:avLst/>
          </a:prstGeom>
        </p:spPr>
      </p:pic>
      <p:sp>
        <p:nvSpPr>
          <p:cNvPr id="13" name="TextBox 12">
            <a:extLst>
              <a:ext uri="{FF2B5EF4-FFF2-40B4-BE49-F238E27FC236}">
                <a16:creationId xmlns:a16="http://schemas.microsoft.com/office/drawing/2014/main" id="{E2C03B49-2447-8E26-6BA0-815C966B34ED}"/>
              </a:ext>
            </a:extLst>
          </p:cNvPr>
          <p:cNvSpPr txBox="1"/>
          <p:nvPr/>
        </p:nvSpPr>
        <p:spPr>
          <a:xfrm>
            <a:off x="5104035" y="829499"/>
            <a:ext cx="6828167" cy="3477875"/>
          </a:xfrm>
          <a:prstGeom prst="rect">
            <a:avLst/>
          </a:prstGeom>
          <a:noFill/>
        </p:spPr>
        <p:txBody>
          <a:bodyPr wrap="square" rtlCol="0">
            <a:spAutoFit/>
          </a:bodyPr>
          <a:lstStyle/>
          <a:p>
            <a:r>
              <a:rPr lang="en-US" sz="2000" dirty="0"/>
              <a:t>“</a:t>
            </a:r>
            <a:r>
              <a:rPr lang="el-GR" sz="2000" dirty="0"/>
              <a:t>Η αναλυτική μηχανή ενσωμάτωνε μια </a:t>
            </a:r>
            <a:r>
              <a:rPr lang="el-GR" sz="2000" dirty="0">
                <a:hlinkClick r:id="rId4" tooltip="Αριθμητική και Λογική Μονάδα"/>
              </a:rPr>
              <a:t>αριθμητική λογική μονάδα</a:t>
            </a:r>
            <a:r>
              <a:rPr lang="el-GR" sz="2000" dirty="0"/>
              <a:t>, </a:t>
            </a:r>
            <a:r>
              <a:rPr lang="el-GR" sz="2000" dirty="0">
                <a:hlinkClick r:id="rId5" tooltip="Ροή ελέγχου (δεν έχει γραφτεί ακόμα)"/>
              </a:rPr>
              <a:t>ροή ελέγχου</a:t>
            </a:r>
            <a:r>
              <a:rPr lang="el-GR" sz="2000" dirty="0"/>
              <a:t> με τη μορφή </a:t>
            </a:r>
            <a:r>
              <a:rPr lang="el-GR" sz="2000" dirty="0">
                <a:hlinkClick r:id="rId6" tooltip="Διακλάδωση υπό όρους (δεν έχει γραφτεί ακόμα)"/>
              </a:rPr>
              <a:t>διακλάδωσης υπό όρους</a:t>
            </a:r>
            <a:r>
              <a:rPr lang="el-GR" sz="2000" dirty="0"/>
              <a:t> και </a:t>
            </a:r>
            <a:r>
              <a:rPr lang="el-GR" sz="2000" dirty="0">
                <a:hlinkClick r:id="rId7" tooltip="Βρόχος προγράμματος (δεν έχει γραφτεί ακόμα)"/>
              </a:rPr>
              <a:t>βρόχους</a:t>
            </a:r>
            <a:r>
              <a:rPr lang="el-GR" sz="2000" dirty="0"/>
              <a:t> και ενσωματωμένη </a:t>
            </a:r>
            <a:r>
              <a:rPr lang="el-GR" sz="2000" dirty="0">
                <a:hlinkClick r:id="rId8" tooltip="Μνήμη υπολογιστή"/>
              </a:rPr>
              <a:t>μνήμη</a:t>
            </a:r>
            <a:r>
              <a:rPr lang="el-GR" sz="2000" dirty="0"/>
              <a:t>, καθιστώντας τον το πρώτο σχέδιο για έναν υπολογιστή γενικής χρήσης που θα μπορούσε να </a:t>
            </a:r>
            <a:r>
              <a:rPr lang="el-GR" sz="2000" dirty="0" err="1"/>
              <a:t>περιγραφεί</a:t>
            </a:r>
            <a:r>
              <a:rPr lang="el-GR" sz="2000" dirty="0"/>
              <a:t> με σύγχρονους όρους ως </a:t>
            </a:r>
            <a:r>
              <a:rPr lang="el-GR" sz="2000" dirty="0" err="1">
                <a:hlinkClick r:id="rId9" tooltip="Πληρότητα Τούρινγκ"/>
              </a:rPr>
              <a:t>Turing-complete</a:t>
            </a:r>
            <a:r>
              <a:rPr lang="el-GR" sz="2000" dirty="0"/>
              <a:t> . </a:t>
            </a:r>
            <a:r>
              <a:rPr lang="el-GR" sz="2000" baseline="30000" dirty="0">
                <a:hlinkClick r:id="rId10"/>
              </a:rPr>
              <a:t>[5]</a:t>
            </a:r>
            <a:r>
              <a:rPr lang="el-GR" sz="2000" baseline="30000" dirty="0">
                <a:hlinkClick r:id="rId11"/>
              </a:rPr>
              <a:t>[6]</a:t>
            </a:r>
            <a:r>
              <a:rPr lang="el-GR" sz="2000" dirty="0"/>
              <a:t> </a:t>
            </a:r>
            <a:endParaRPr lang="en-US" sz="2000" dirty="0"/>
          </a:p>
          <a:p>
            <a:r>
              <a:rPr lang="el-GR" sz="2000" dirty="0"/>
              <a:t>Με άλλα λόγια, η δομή της αναλυτικής μηχανής ήταν ουσιαστικά η ίδια με αυτή που κυριάρχησε στον σχεδιασμό των υπολογιστών στην ηλεκτρονική εποχή.</a:t>
            </a:r>
            <a:r>
              <a:rPr lang="el-GR" sz="2000" baseline="30000" dirty="0">
                <a:hlinkClick r:id="rId12"/>
              </a:rPr>
              <a:t>[7]</a:t>
            </a:r>
            <a:r>
              <a:rPr lang="el-GR" sz="2000" dirty="0"/>
              <a:t> Η αναλυτική μηχανή είναι ένα από τα πιο επιτυχημένα επιτεύγματα του Τσαρλς </a:t>
            </a:r>
            <a:r>
              <a:rPr lang="el-GR" sz="2000" dirty="0" err="1"/>
              <a:t>Μπάμπατζ</a:t>
            </a:r>
            <a:r>
              <a:rPr lang="el-GR" sz="2000" dirty="0"/>
              <a:t>.</a:t>
            </a:r>
            <a:r>
              <a:rPr lang="en-US" sz="2000" dirty="0"/>
              <a:t>” https://el.wikipedia.org/</a:t>
            </a:r>
            <a:endParaRPr lang="el-GR" sz="2000" dirty="0"/>
          </a:p>
        </p:txBody>
      </p:sp>
      <p:sp>
        <p:nvSpPr>
          <p:cNvPr id="14" name="TextBox 13">
            <a:extLst>
              <a:ext uri="{FF2B5EF4-FFF2-40B4-BE49-F238E27FC236}">
                <a16:creationId xmlns:a16="http://schemas.microsoft.com/office/drawing/2014/main" id="{AAE7AEF2-09C5-1C38-540A-416882282E5C}"/>
              </a:ext>
            </a:extLst>
          </p:cNvPr>
          <p:cNvSpPr txBox="1"/>
          <p:nvPr/>
        </p:nvSpPr>
        <p:spPr>
          <a:xfrm>
            <a:off x="1427019" y="5221080"/>
            <a:ext cx="10505184" cy="1477328"/>
          </a:xfrm>
          <a:prstGeom prst="rect">
            <a:avLst/>
          </a:prstGeom>
          <a:noFill/>
        </p:spPr>
        <p:txBody>
          <a:bodyPr wrap="square" rtlCol="0">
            <a:spAutoFit/>
          </a:bodyPr>
          <a:lstStyle/>
          <a:p>
            <a:r>
              <a:rPr lang="en-US" dirty="0"/>
              <a:t>“</a:t>
            </a:r>
            <a:r>
              <a:rPr lang="el-GR" dirty="0"/>
              <a:t>Ο </a:t>
            </a:r>
            <a:r>
              <a:rPr lang="el-GR" dirty="0" err="1"/>
              <a:t>Μπάμπατζ</a:t>
            </a:r>
            <a:r>
              <a:rPr lang="el-GR" dirty="0"/>
              <a:t> δεν μπόρεσε ποτέ να ολοκληρώσει την κατασκευή οποιουδήποτε από τα μηχανήματα του λόγω συγκρούσεων με τον αρχιμηχανικό του και ανεπαρκούς χρηματοδότησης. </a:t>
            </a:r>
            <a:r>
              <a:rPr lang="el-GR" baseline="30000" dirty="0">
                <a:hlinkClick r:id="rId13"/>
              </a:rPr>
              <a:t>[8]</a:t>
            </a:r>
            <a:r>
              <a:rPr lang="el-GR" dirty="0"/>
              <a:t> </a:t>
            </a:r>
            <a:r>
              <a:rPr lang="el-GR" baseline="30000" dirty="0">
                <a:hlinkClick r:id="rId14"/>
              </a:rPr>
              <a:t>[9]</a:t>
            </a:r>
            <a:r>
              <a:rPr lang="el-GR" dirty="0"/>
              <a:t> Μόλις το 1941 ο </a:t>
            </a:r>
            <a:r>
              <a:rPr lang="el-GR" dirty="0">
                <a:hlinkClick r:id="rId15" tooltip="Κόνραντ Τσούζε"/>
              </a:rPr>
              <a:t>Κόνραντ Τσούζε</a:t>
            </a:r>
            <a:r>
              <a:rPr lang="el-GR" dirty="0"/>
              <a:t> κατασκεύασε τον πρώτο υπολογιστή γενικής χρήσης, τον </a:t>
            </a:r>
            <a:r>
              <a:rPr lang="el-GR" dirty="0">
                <a:hlinkClick r:id="rId16" tooltip="Ζ3"/>
              </a:rPr>
              <a:t>Z3</a:t>
            </a:r>
            <a:r>
              <a:rPr lang="el-GR" dirty="0"/>
              <a:t>, περισσότερο από έναν αιώνα αφότου ο </a:t>
            </a:r>
            <a:r>
              <a:rPr lang="el-GR" dirty="0" err="1"/>
              <a:t>Μπάμπατζ</a:t>
            </a:r>
            <a:r>
              <a:rPr lang="el-GR" dirty="0"/>
              <a:t> είχε προτείνει την πρωτοποριακή αναλυτική μηχανή το 1837.</a:t>
            </a:r>
            <a:r>
              <a:rPr lang="el-GR" baseline="30000" dirty="0">
                <a:hlinkClick r:id="rId17"/>
              </a:rPr>
              <a:t>[10]</a:t>
            </a:r>
            <a:r>
              <a:rPr lang="en-US" baseline="30000" dirty="0"/>
              <a:t> </a:t>
            </a:r>
            <a:r>
              <a:rPr lang="en-US" dirty="0"/>
              <a:t>“ https://el.wikipedia.org/</a:t>
            </a:r>
            <a:endParaRPr lang="el-GR" dirty="0"/>
          </a:p>
          <a:p>
            <a:endParaRPr lang="en-GB" dirty="0"/>
          </a:p>
        </p:txBody>
      </p:sp>
      <p:grpSp>
        <p:nvGrpSpPr>
          <p:cNvPr id="17" name="Group 16">
            <a:extLst>
              <a:ext uri="{FF2B5EF4-FFF2-40B4-BE49-F238E27FC236}">
                <a16:creationId xmlns:a16="http://schemas.microsoft.com/office/drawing/2014/main" id="{DD38FEFD-03EB-DEE3-F87E-8D8AF7DA9018}"/>
              </a:ext>
            </a:extLst>
          </p:cNvPr>
          <p:cNvGrpSpPr/>
          <p:nvPr/>
        </p:nvGrpSpPr>
        <p:grpSpPr>
          <a:xfrm>
            <a:off x="-1" y="6559908"/>
            <a:ext cx="12192001" cy="327219"/>
            <a:chOff x="-1" y="6559908"/>
            <a:chExt cx="12192001" cy="327219"/>
          </a:xfrm>
        </p:grpSpPr>
        <p:sp>
          <p:nvSpPr>
            <p:cNvPr id="18" name="Rectangle 14">
              <a:extLst>
                <a:ext uri="{FF2B5EF4-FFF2-40B4-BE49-F238E27FC236}">
                  <a16:creationId xmlns:a16="http://schemas.microsoft.com/office/drawing/2014/main" id="{8208C4D5-D629-67C2-E3B1-D93D8703F1AD}"/>
                </a:ext>
              </a:extLst>
            </p:cNvPr>
            <p:cNvSpPr/>
            <p:nvPr/>
          </p:nvSpPr>
          <p:spPr>
            <a:xfrm>
              <a:off x="0"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9" name="Θέση υποσέλιδου 4">
              <a:extLst>
                <a:ext uri="{FF2B5EF4-FFF2-40B4-BE49-F238E27FC236}">
                  <a16:creationId xmlns:a16="http://schemas.microsoft.com/office/drawing/2014/main" id="{D4582A8C-8D39-C1FC-B41E-9625D868E85F}"/>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20" name="Θέση υποσέλιδου 4">
              <a:extLst>
                <a:ext uri="{FF2B5EF4-FFF2-40B4-BE49-F238E27FC236}">
                  <a16:creationId xmlns:a16="http://schemas.microsoft.com/office/drawing/2014/main" id="{CFC98E85-3248-2EDC-19E6-3690675A4ED7}"/>
                </a:ext>
              </a:extLst>
            </p:cNvPr>
            <p:cNvSpPr txBox="1">
              <a:spLocks/>
            </p:cNvSpPr>
            <p:nvPr/>
          </p:nvSpPr>
          <p:spPr>
            <a:xfrm>
              <a:off x="3719657" y="6610127"/>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Procedural Abstraction – </a:t>
              </a:r>
              <a:r>
                <a:rPr lang="el-GR" sz="1100" dirty="0">
                  <a:solidFill>
                    <a:schemeClr val="tx1"/>
                  </a:solidFill>
                  <a:latin typeface="Bahnschrift" panose="020B0502040204020203" pitchFamily="34" charset="0"/>
                </a:rPr>
                <a:t>Λεκτική Περιγραφή</a:t>
              </a:r>
              <a:endParaRPr lang="en-US" sz="1100" dirty="0">
                <a:solidFill>
                  <a:schemeClr val="tx1"/>
                </a:solidFill>
                <a:latin typeface="Bahnschrift" panose="020B0502040204020203" pitchFamily="34" charset="0"/>
              </a:endParaRPr>
            </a:p>
            <a:p>
              <a:endParaRPr lang="el-GR" sz="1100" dirty="0">
                <a:solidFill>
                  <a:schemeClr val="tx1"/>
                </a:solidFill>
                <a:latin typeface="Bahnschrift" panose="020B0502040204020203" pitchFamily="34" charset="0"/>
              </a:endParaRPr>
            </a:p>
          </p:txBody>
        </p:sp>
        <p:sp>
          <p:nvSpPr>
            <p:cNvPr id="21" name="TextBox 20">
              <a:extLst>
                <a:ext uri="{FF2B5EF4-FFF2-40B4-BE49-F238E27FC236}">
                  <a16:creationId xmlns:a16="http://schemas.microsoft.com/office/drawing/2014/main" id="{7793EEE4-4FA6-936F-FDB6-ED9E1A27B6D0}"/>
                </a:ext>
              </a:extLst>
            </p:cNvPr>
            <p:cNvSpPr txBox="1"/>
            <p:nvPr/>
          </p:nvSpPr>
          <p:spPr>
            <a:xfrm>
              <a:off x="1026906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5</a:t>
              </a:fld>
              <a:endParaRPr lang="en-US" sz="1200" dirty="0">
                <a:latin typeface="Bahnschrift Light" panose="020B0502040204020203" pitchFamily="34" charset="0"/>
                <a:cs typeface="Arial" pitchFamily="34" charset="0"/>
              </a:endParaRPr>
            </a:p>
          </p:txBody>
        </p:sp>
      </p:grpSp>
    </p:spTree>
    <p:extLst>
      <p:ext uri="{BB962C8B-B14F-4D97-AF65-F5344CB8AC3E}">
        <p14:creationId xmlns:p14="http://schemas.microsoft.com/office/powerpoint/2010/main" val="27937003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41D92-735B-3805-2C1B-98875CCAB4FC}"/>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7DF4BD64-58E0-4333-D2BE-3C6ADC94AE9D}"/>
              </a:ext>
            </a:extLst>
          </p:cNvPr>
          <p:cNvSpPr>
            <a:spLocks noGrp="1"/>
          </p:cNvSpPr>
          <p:nvPr>
            <p:ph type="title"/>
          </p:nvPr>
        </p:nvSpPr>
        <p:spPr>
          <a:xfrm>
            <a:off x="0" y="0"/>
            <a:ext cx="12191999" cy="719331"/>
          </a:xfrm>
          <a:solidFill>
            <a:srgbClr val="FDCBAD"/>
          </a:solidFill>
        </p:spPr>
        <p:txBody>
          <a:bodyPr>
            <a:normAutofit/>
          </a:bodyPr>
          <a:lstStyle/>
          <a:p>
            <a:r>
              <a:rPr lang="en-GB" sz="4000" b="1" dirty="0">
                <a:solidFill>
                  <a:srgbClr val="F9853D"/>
                </a:solidFill>
                <a:latin typeface="Bahnschrift" panose="020B0502040204020203" pitchFamily="34" charset="0"/>
              </a:rPr>
              <a:t>Augusta Ada Lovelace</a:t>
            </a:r>
            <a:endParaRPr lang="el-GR" sz="4000" b="1" dirty="0">
              <a:solidFill>
                <a:srgbClr val="F9853D"/>
              </a:solidFill>
              <a:latin typeface="Bahnschrift" panose="020B0502040204020203" pitchFamily="34" charset="0"/>
            </a:endParaRPr>
          </a:p>
        </p:txBody>
      </p:sp>
      <p:sp>
        <p:nvSpPr>
          <p:cNvPr id="3" name="TextBox 2">
            <a:extLst>
              <a:ext uri="{FF2B5EF4-FFF2-40B4-BE49-F238E27FC236}">
                <a16:creationId xmlns:a16="http://schemas.microsoft.com/office/drawing/2014/main" id="{151C8F01-A380-90E2-0AAA-8B5B799AB4BD}"/>
              </a:ext>
            </a:extLst>
          </p:cNvPr>
          <p:cNvSpPr txBox="1"/>
          <p:nvPr/>
        </p:nvSpPr>
        <p:spPr>
          <a:xfrm>
            <a:off x="4516583" y="969909"/>
            <a:ext cx="7093526" cy="3416320"/>
          </a:xfrm>
          <a:prstGeom prst="rect">
            <a:avLst/>
          </a:prstGeom>
          <a:noFill/>
        </p:spPr>
        <p:txBody>
          <a:bodyPr wrap="square" rtlCol="0">
            <a:spAutoFit/>
          </a:bodyPr>
          <a:lstStyle/>
          <a:p>
            <a:r>
              <a:rPr lang="en-US" sz="2400" b="1" dirty="0"/>
              <a:t>“Augusta Ada King, Countess of Lovelace</a:t>
            </a:r>
            <a:r>
              <a:rPr lang="en-US" sz="2400" dirty="0"/>
              <a:t> …, also known as </a:t>
            </a:r>
            <a:r>
              <a:rPr lang="en-US" sz="2400" b="1" dirty="0"/>
              <a:t>Ada Lovelace</a:t>
            </a:r>
            <a:r>
              <a:rPr lang="en-US" sz="2400" dirty="0"/>
              <a:t>, was an English </a:t>
            </a:r>
            <a:r>
              <a:rPr lang="en-US" sz="2400" dirty="0">
                <a:hlinkClick r:id="rId3" tooltip="Mathematician"/>
              </a:rPr>
              <a:t>mathematician</a:t>
            </a:r>
            <a:r>
              <a:rPr lang="en-US" sz="2400" dirty="0"/>
              <a:t> and </a:t>
            </a:r>
            <a:r>
              <a:rPr lang="en-US" sz="2400" dirty="0">
                <a:hlinkClick r:id="rId4" tooltip="Writer"/>
              </a:rPr>
              <a:t>writer</a:t>
            </a:r>
            <a:r>
              <a:rPr lang="en-US" sz="2400" dirty="0"/>
              <a:t> chiefly known for her work on </a:t>
            </a:r>
            <a:r>
              <a:rPr lang="en-US" sz="2400" dirty="0">
                <a:hlinkClick r:id="rId5" tooltip="Charles Babbage"/>
              </a:rPr>
              <a:t>Charles Babbage</a:t>
            </a:r>
            <a:r>
              <a:rPr lang="en-US" sz="2400" dirty="0"/>
              <a:t>'s proposed mechanical general-purpose </a:t>
            </a:r>
            <a:r>
              <a:rPr lang="en-US" sz="2400" dirty="0">
                <a:hlinkClick r:id="rId6" tooltip="Computer"/>
              </a:rPr>
              <a:t>computer</a:t>
            </a:r>
            <a:r>
              <a:rPr lang="en-US" sz="2400" dirty="0"/>
              <a:t>, the </a:t>
            </a:r>
            <a:r>
              <a:rPr lang="en-US" sz="2400" dirty="0">
                <a:hlinkClick r:id="rId7" tooltip="Analytical Engine"/>
              </a:rPr>
              <a:t>Analytical Engine</a:t>
            </a:r>
            <a:r>
              <a:rPr lang="en-US" sz="2400" dirty="0"/>
              <a:t>. </a:t>
            </a:r>
          </a:p>
          <a:p>
            <a:r>
              <a:rPr lang="en-US" sz="2400" dirty="0"/>
              <a:t>She was the first to </a:t>
            </a:r>
            <a:r>
              <a:rPr lang="en-US" sz="2400" dirty="0" err="1"/>
              <a:t>recognise</a:t>
            </a:r>
            <a:r>
              <a:rPr lang="en-US" sz="2400" dirty="0"/>
              <a:t> that the machine had applications beyond pure calculation. </a:t>
            </a:r>
          </a:p>
          <a:p>
            <a:r>
              <a:rPr lang="en-US" sz="2400" dirty="0"/>
              <a:t>Ada Lovelace is sometimes considered to be </a:t>
            </a:r>
            <a:r>
              <a:rPr lang="en-US" sz="2400" dirty="0">
                <a:highlight>
                  <a:srgbClr val="FFFF00"/>
                </a:highlight>
              </a:rPr>
              <a:t>the first computer programmer.”</a:t>
            </a:r>
            <a:r>
              <a:rPr lang="en-US" sz="2400" dirty="0"/>
              <a:t>  </a:t>
            </a:r>
            <a:r>
              <a:rPr lang="en-US" sz="2400" dirty="0" err="1"/>
              <a:t>wikipedia</a:t>
            </a:r>
            <a:endParaRPr lang="en-GB" sz="2400" dirty="0"/>
          </a:p>
        </p:txBody>
      </p:sp>
      <p:sp>
        <p:nvSpPr>
          <p:cNvPr id="4" name="TextBox 3">
            <a:extLst>
              <a:ext uri="{FF2B5EF4-FFF2-40B4-BE49-F238E27FC236}">
                <a16:creationId xmlns:a16="http://schemas.microsoft.com/office/drawing/2014/main" id="{8B616C8A-15A2-E084-1582-84CE0BD4C92D}"/>
              </a:ext>
            </a:extLst>
          </p:cNvPr>
          <p:cNvSpPr txBox="1"/>
          <p:nvPr/>
        </p:nvSpPr>
        <p:spPr>
          <a:xfrm>
            <a:off x="131617" y="4853547"/>
            <a:ext cx="11928763" cy="1477328"/>
          </a:xfrm>
          <a:prstGeom prst="rect">
            <a:avLst/>
          </a:prstGeom>
          <a:noFill/>
        </p:spPr>
        <p:txBody>
          <a:bodyPr wrap="square" rtlCol="0">
            <a:spAutoFit/>
          </a:bodyPr>
          <a:lstStyle/>
          <a:p>
            <a:r>
              <a:rPr lang="en-US" dirty="0"/>
              <a:t>“Ada Lovelace (1815-1852) was born Augusta Ada Byron, the only legitimate child of Annabella Milbanke and the poet Lord Byron. Her mother, Lady Byron, had mathematical training (Byron called her his 'Princess of Parallelograms') and insisted that Ada, who was tutored privately, study mathematics too - an unusual education for a woman.” </a:t>
            </a:r>
            <a:r>
              <a:rPr lang="en-GB" dirty="0">
                <a:hlinkClick r:id="rId8"/>
              </a:rPr>
              <a:t>https://www.computerhistory.org/babbage/adalovelace/</a:t>
            </a:r>
          </a:p>
          <a:p>
            <a:r>
              <a:rPr lang="en-GB" dirty="0">
                <a:hlinkClick r:id="rId8"/>
              </a:rPr>
              <a:t>https://www.youtube.com/shorts/fLT5HXmSzD0</a:t>
            </a:r>
            <a:r>
              <a:rPr lang="en-GB" dirty="0"/>
              <a:t> </a:t>
            </a:r>
          </a:p>
        </p:txBody>
      </p:sp>
      <p:pic>
        <p:nvPicPr>
          <p:cNvPr id="12" name="Picture 11">
            <a:extLst>
              <a:ext uri="{FF2B5EF4-FFF2-40B4-BE49-F238E27FC236}">
                <a16:creationId xmlns:a16="http://schemas.microsoft.com/office/drawing/2014/main" id="{66797DD7-4FE4-619D-A7A5-58CCF9914CAB}"/>
              </a:ext>
            </a:extLst>
          </p:cNvPr>
          <p:cNvPicPr>
            <a:picLocks noChangeAspect="1"/>
          </p:cNvPicPr>
          <p:nvPr/>
        </p:nvPicPr>
        <p:blipFill>
          <a:blip r:embed="rId9"/>
          <a:stretch>
            <a:fillRect/>
          </a:stretch>
        </p:blipFill>
        <p:spPr>
          <a:xfrm>
            <a:off x="80206" y="719331"/>
            <a:ext cx="4062303" cy="4123483"/>
          </a:xfrm>
          <a:prstGeom prst="rect">
            <a:avLst/>
          </a:prstGeom>
        </p:spPr>
      </p:pic>
      <p:grpSp>
        <p:nvGrpSpPr>
          <p:cNvPr id="15" name="Group 14">
            <a:extLst>
              <a:ext uri="{FF2B5EF4-FFF2-40B4-BE49-F238E27FC236}">
                <a16:creationId xmlns:a16="http://schemas.microsoft.com/office/drawing/2014/main" id="{A23FC852-B43C-1AF7-0B42-BBE5A318BDC7}"/>
              </a:ext>
            </a:extLst>
          </p:cNvPr>
          <p:cNvGrpSpPr/>
          <p:nvPr/>
        </p:nvGrpSpPr>
        <p:grpSpPr>
          <a:xfrm>
            <a:off x="-1" y="6559908"/>
            <a:ext cx="12192001" cy="327219"/>
            <a:chOff x="-1" y="6559908"/>
            <a:chExt cx="12192001" cy="327219"/>
          </a:xfrm>
        </p:grpSpPr>
        <p:sp>
          <p:nvSpPr>
            <p:cNvPr id="16" name="Rectangle 14">
              <a:extLst>
                <a:ext uri="{FF2B5EF4-FFF2-40B4-BE49-F238E27FC236}">
                  <a16:creationId xmlns:a16="http://schemas.microsoft.com/office/drawing/2014/main" id="{FCA8F9E9-0E03-AB06-5763-667AAAAD3347}"/>
                </a:ext>
              </a:extLst>
            </p:cNvPr>
            <p:cNvSpPr/>
            <p:nvPr/>
          </p:nvSpPr>
          <p:spPr>
            <a:xfrm>
              <a:off x="0"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7" name="Θέση υποσέλιδου 4">
              <a:extLst>
                <a:ext uri="{FF2B5EF4-FFF2-40B4-BE49-F238E27FC236}">
                  <a16:creationId xmlns:a16="http://schemas.microsoft.com/office/drawing/2014/main" id="{8896E6FD-265B-681F-5CBC-FF17D5B70F94}"/>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8" name="Θέση υποσέλιδου 4">
              <a:extLst>
                <a:ext uri="{FF2B5EF4-FFF2-40B4-BE49-F238E27FC236}">
                  <a16:creationId xmlns:a16="http://schemas.microsoft.com/office/drawing/2014/main" id="{8D83C228-0F71-E003-9721-071C15811393}"/>
                </a:ext>
              </a:extLst>
            </p:cNvPr>
            <p:cNvSpPr txBox="1">
              <a:spLocks/>
            </p:cNvSpPr>
            <p:nvPr/>
          </p:nvSpPr>
          <p:spPr>
            <a:xfrm>
              <a:off x="3719657" y="6610127"/>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Procedural Abstraction – </a:t>
              </a:r>
              <a:r>
                <a:rPr lang="el-GR" sz="1100" dirty="0">
                  <a:solidFill>
                    <a:schemeClr val="tx1"/>
                  </a:solidFill>
                  <a:latin typeface="Bahnschrift" panose="020B0502040204020203" pitchFamily="34" charset="0"/>
                </a:rPr>
                <a:t>Λεκτική Περιγραφή</a:t>
              </a:r>
              <a:endParaRPr lang="en-US" sz="1100" dirty="0">
                <a:solidFill>
                  <a:schemeClr val="tx1"/>
                </a:solidFill>
                <a:latin typeface="Bahnschrift" panose="020B0502040204020203" pitchFamily="34" charset="0"/>
              </a:endParaRPr>
            </a:p>
            <a:p>
              <a:endParaRPr lang="el-GR" sz="1100" dirty="0">
                <a:solidFill>
                  <a:schemeClr val="tx1"/>
                </a:solidFill>
                <a:latin typeface="Bahnschrift" panose="020B0502040204020203" pitchFamily="34" charset="0"/>
              </a:endParaRPr>
            </a:p>
          </p:txBody>
        </p:sp>
        <p:sp>
          <p:nvSpPr>
            <p:cNvPr id="19" name="TextBox 18">
              <a:extLst>
                <a:ext uri="{FF2B5EF4-FFF2-40B4-BE49-F238E27FC236}">
                  <a16:creationId xmlns:a16="http://schemas.microsoft.com/office/drawing/2014/main" id="{46F656DD-16BE-961C-2FE9-7E6C03DA3578}"/>
                </a:ext>
              </a:extLst>
            </p:cNvPr>
            <p:cNvSpPr txBox="1"/>
            <p:nvPr/>
          </p:nvSpPr>
          <p:spPr>
            <a:xfrm>
              <a:off x="1026906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6</a:t>
              </a:fld>
              <a:endParaRPr lang="en-US" sz="1200" dirty="0">
                <a:latin typeface="Bahnschrift Light" panose="020B0502040204020203" pitchFamily="34" charset="0"/>
                <a:cs typeface="Arial" pitchFamily="34" charset="0"/>
              </a:endParaRPr>
            </a:p>
          </p:txBody>
        </p:sp>
      </p:grpSp>
    </p:spTree>
    <p:extLst>
      <p:ext uri="{BB962C8B-B14F-4D97-AF65-F5344CB8AC3E}">
        <p14:creationId xmlns:p14="http://schemas.microsoft.com/office/powerpoint/2010/main" val="334895783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788B2-1DAF-6156-E7D9-6DA0849C92F7}"/>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05581BCB-33C0-100A-0EFF-9FBAADDC7CDC}"/>
              </a:ext>
            </a:extLst>
          </p:cNvPr>
          <p:cNvSpPr>
            <a:spLocks noGrp="1"/>
          </p:cNvSpPr>
          <p:nvPr>
            <p:ph type="title"/>
          </p:nvPr>
        </p:nvSpPr>
        <p:spPr>
          <a:xfrm>
            <a:off x="0" y="0"/>
            <a:ext cx="12191999" cy="719331"/>
          </a:xfrm>
          <a:solidFill>
            <a:srgbClr val="FDCBAD"/>
          </a:solidFill>
        </p:spPr>
        <p:txBody>
          <a:bodyPr>
            <a:normAutofit fontScale="90000"/>
          </a:bodyPr>
          <a:lstStyle/>
          <a:p>
            <a:r>
              <a:rPr lang="el-GR" sz="4000" b="1" dirty="0">
                <a:solidFill>
                  <a:srgbClr val="F9853D"/>
                </a:solidFill>
                <a:latin typeface="Bahnschrift" panose="020B0502040204020203" pitchFamily="34" charset="0"/>
              </a:rPr>
              <a:t>Προγραμματισμός και Ανάθεση Έργου σε Ανθρώπους</a:t>
            </a:r>
          </a:p>
        </p:txBody>
      </p:sp>
      <p:grpSp>
        <p:nvGrpSpPr>
          <p:cNvPr id="7" name="Group 6">
            <a:extLst>
              <a:ext uri="{FF2B5EF4-FFF2-40B4-BE49-F238E27FC236}">
                <a16:creationId xmlns:a16="http://schemas.microsoft.com/office/drawing/2014/main" id="{B06D2700-49A2-B95C-CCA1-83C4E7FF60A1}"/>
              </a:ext>
            </a:extLst>
          </p:cNvPr>
          <p:cNvGrpSpPr/>
          <p:nvPr/>
        </p:nvGrpSpPr>
        <p:grpSpPr>
          <a:xfrm>
            <a:off x="-1" y="6559908"/>
            <a:ext cx="12192001" cy="327219"/>
            <a:chOff x="-1" y="6559908"/>
            <a:chExt cx="12192001" cy="327219"/>
          </a:xfrm>
        </p:grpSpPr>
        <p:sp>
          <p:nvSpPr>
            <p:cNvPr id="9" name="Rectangle 14">
              <a:extLst>
                <a:ext uri="{FF2B5EF4-FFF2-40B4-BE49-F238E27FC236}">
                  <a16:creationId xmlns:a16="http://schemas.microsoft.com/office/drawing/2014/main" id="{F41163DD-92F4-4FF9-F5B0-3F9D988F94BE}"/>
                </a:ext>
              </a:extLst>
            </p:cNvPr>
            <p:cNvSpPr/>
            <p:nvPr/>
          </p:nvSpPr>
          <p:spPr>
            <a:xfrm>
              <a:off x="0"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Θέση υποσέλιδου 4">
              <a:extLst>
                <a:ext uri="{FF2B5EF4-FFF2-40B4-BE49-F238E27FC236}">
                  <a16:creationId xmlns:a16="http://schemas.microsoft.com/office/drawing/2014/main" id="{080609BC-C058-9FF2-B966-93C0F904E79D}"/>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4" name="Θέση υποσέλιδου 4">
              <a:extLst>
                <a:ext uri="{FF2B5EF4-FFF2-40B4-BE49-F238E27FC236}">
                  <a16:creationId xmlns:a16="http://schemas.microsoft.com/office/drawing/2014/main" id="{60DBB099-EAD7-3B9C-10CB-BF22A00D12F4}"/>
                </a:ext>
              </a:extLst>
            </p:cNvPr>
            <p:cNvSpPr txBox="1">
              <a:spLocks/>
            </p:cNvSpPr>
            <p:nvPr/>
          </p:nvSpPr>
          <p:spPr>
            <a:xfrm>
              <a:off x="3719657" y="6610127"/>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Procedural Abstraction – </a:t>
              </a:r>
              <a:r>
                <a:rPr lang="el-GR" sz="1100" dirty="0">
                  <a:solidFill>
                    <a:schemeClr val="tx1"/>
                  </a:solidFill>
                  <a:latin typeface="Bahnschrift" panose="020B0502040204020203" pitchFamily="34" charset="0"/>
                </a:rPr>
                <a:t>Λεκτική Περιγραφή</a:t>
              </a:r>
              <a:endParaRPr lang="en-US" sz="1100" dirty="0">
                <a:solidFill>
                  <a:schemeClr val="tx1"/>
                </a:solidFill>
                <a:latin typeface="Bahnschrift" panose="020B0502040204020203" pitchFamily="34" charset="0"/>
              </a:endParaRPr>
            </a:p>
            <a:p>
              <a:endParaRPr lang="el-GR" sz="1100" dirty="0">
                <a:solidFill>
                  <a:schemeClr val="tx1"/>
                </a:solidFill>
                <a:latin typeface="Bahnschrift" panose="020B0502040204020203" pitchFamily="34" charset="0"/>
              </a:endParaRPr>
            </a:p>
          </p:txBody>
        </p:sp>
        <p:sp>
          <p:nvSpPr>
            <p:cNvPr id="15" name="TextBox 14">
              <a:extLst>
                <a:ext uri="{FF2B5EF4-FFF2-40B4-BE49-F238E27FC236}">
                  <a16:creationId xmlns:a16="http://schemas.microsoft.com/office/drawing/2014/main" id="{C28E4D6E-1D3E-4F8D-7A8D-6890503E6FC0}"/>
                </a:ext>
              </a:extLst>
            </p:cNvPr>
            <p:cNvSpPr txBox="1"/>
            <p:nvPr/>
          </p:nvSpPr>
          <p:spPr>
            <a:xfrm>
              <a:off x="1026906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7</a:t>
              </a:fld>
              <a:endParaRPr lang="en-US" sz="1200" dirty="0">
                <a:latin typeface="Bahnschrift Light" panose="020B0502040204020203" pitchFamily="34" charset="0"/>
                <a:cs typeface="Arial" pitchFamily="34" charset="0"/>
              </a:endParaRPr>
            </a:p>
          </p:txBody>
        </p:sp>
      </p:grpSp>
      <p:sp>
        <p:nvSpPr>
          <p:cNvPr id="16" name="TextBox 15">
            <a:extLst>
              <a:ext uri="{FF2B5EF4-FFF2-40B4-BE49-F238E27FC236}">
                <a16:creationId xmlns:a16="http://schemas.microsoft.com/office/drawing/2014/main" id="{D5DDCF86-0AD2-D978-A325-84A8164276EE}"/>
              </a:ext>
            </a:extLst>
          </p:cNvPr>
          <p:cNvSpPr txBox="1"/>
          <p:nvPr/>
        </p:nvSpPr>
        <p:spPr>
          <a:xfrm>
            <a:off x="187035" y="863496"/>
            <a:ext cx="11817927" cy="3539430"/>
          </a:xfrm>
          <a:prstGeom prst="rect">
            <a:avLst/>
          </a:prstGeom>
          <a:solidFill>
            <a:schemeClr val="accent6"/>
          </a:solidFill>
        </p:spPr>
        <p:txBody>
          <a:bodyPr wrap="square" rtlCol="0">
            <a:spAutoFit/>
          </a:bodyPr>
          <a:lstStyle/>
          <a:p>
            <a:pPr marL="457200" indent="-457200">
              <a:buClr>
                <a:srgbClr val="002060"/>
              </a:buClr>
              <a:buFont typeface="Wingdings" panose="05000000000000000000" pitchFamily="2" charset="2"/>
              <a:buChar char="§"/>
            </a:pPr>
            <a:r>
              <a:rPr lang="el-GR" sz="2800" dirty="0"/>
              <a:t>Ο όρος </a:t>
            </a:r>
            <a:r>
              <a:rPr lang="el-GR" sz="2800" b="1" dirty="0"/>
              <a:t>προγραμματισμός</a:t>
            </a:r>
            <a:r>
              <a:rPr lang="el-GR" sz="2800" dirty="0"/>
              <a:t> δεν χρησιμοποιήθηκε μόνο στην ανάθεση έργου στη μηχανή. Παράλληλα με τον προγραμματισμό των μηχανών για να εκτελέσουν ένα συγκεκριμένο έργο έχουμε και την χρήση του όρου για </a:t>
            </a:r>
            <a:r>
              <a:rPr lang="el-GR" sz="2800" dirty="0">
                <a:solidFill>
                  <a:srgbClr val="C00000"/>
                </a:solidFill>
              </a:rPr>
              <a:t>ανάθεση έργου σε ανθρώπους.</a:t>
            </a:r>
            <a:r>
              <a:rPr lang="el-GR" sz="2800" dirty="0"/>
              <a:t> </a:t>
            </a:r>
            <a:endParaRPr lang="en-US" sz="2800" dirty="0"/>
          </a:p>
          <a:p>
            <a:pPr marL="457200" indent="-457200">
              <a:buClr>
                <a:srgbClr val="002060"/>
              </a:buClr>
              <a:buFont typeface="Wingdings" panose="05000000000000000000" pitchFamily="2" charset="2"/>
              <a:buChar char="§"/>
            </a:pPr>
            <a:r>
              <a:rPr lang="el-GR" sz="2800" dirty="0"/>
              <a:t>Έτσι, ό όρος που </a:t>
            </a:r>
            <a:r>
              <a:rPr lang="el-GR" sz="2800" b="1" dirty="0"/>
              <a:t>σημαίνει σχεδιασμένη και οργανωμένη</a:t>
            </a:r>
            <a:r>
              <a:rPr lang="el-GR" sz="2800" dirty="0"/>
              <a:t> περιγραφή ενεργειών προς εκτέλεση με βάση συγκεκριμένους στόχους, χρονικά πλαίσια και οδηγίες, χρησιμοποιείται εδώ και αιώνες στην ανάθεση έργου σε άνθρωπο.</a:t>
            </a:r>
            <a:endParaRPr lang="en-GB" sz="2800" dirty="0"/>
          </a:p>
        </p:txBody>
      </p:sp>
      <p:sp>
        <p:nvSpPr>
          <p:cNvPr id="17" name="TextBox 16">
            <a:extLst>
              <a:ext uri="{FF2B5EF4-FFF2-40B4-BE49-F238E27FC236}">
                <a16:creationId xmlns:a16="http://schemas.microsoft.com/office/drawing/2014/main" id="{828AD5E0-BA22-A95A-DFA9-1FFD15CD968D}"/>
              </a:ext>
            </a:extLst>
          </p:cNvPr>
          <p:cNvSpPr txBox="1"/>
          <p:nvPr/>
        </p:nvSpPr>
        <p:spPr>
          <a:xfrm>
            <a:off x="187035" y="4599861"/>
            <a:ext cx="11817927" cy="1815882"/>
          </a:xfrm>
          <a:prstGeom prst="rect">
            <a:avLst/>
          </a:prstGeom>
          <a:solidFill>
            <a:schemeClr val="accent6"/>
          </a:solidFill>
        </p:spPr>
        <p:txBody>
          <a:bodyPr wrap="square" rtlCol="0">
            <a:spAutoFit/>
          </a:bodyPr>
          <a:lstStyle/>
          <a:p>
            <a:pPr marL="457200" indent="-457200">
              <a:buClr>
                <a:srgbClr val="002060"/>
              </a:buClr>
              <a:buFont typeface="Wingdings" panose="05000000000000000000" pitchFamily="2" charset="2"/>
              <a:buChar char="§"/>
            </a:pPr>
            <a:r>
              <a:rPr lang="el-GR" sz="2800" dirty="0"/>
              <a:t>Ένας εργοδότης, ένας δάσκαλος ή ένας Μηχανικός, όταν αναθέτει καθήκοντα σε άλλους ανθρώπους, ουσιαστικά </a:t>
            </a:r>
            <a:r>
              <a:rPr lang="el-GR" sz="2800" b="1" dirty="0"/>
              <a:t>προγραμματίζει τη ροή της εκτέλεσης</a:t>
            </a:r>
            <a:r>
              <a:rPr lang="el-GR" sz="2800" dirty="0"/>
              <a:t> ενός συνόλου ενεργειών για να ολοκληρωθεί ένα συγκεκριμένο έργο. </a:t>
            </a:r>
            <a:endParaRPr lang="en-GB" sz="2800" dirty="0"/>
          </a:p>
        </p:txBody>
      </p:sp>
    </p:spTree>
    <p:extLst>
      <p:ext uri="{BB962C8B-B14F-4D97-AF65-F5344CB8AC3E}">
        <p14:creationId xmlns:p14="http://schemas.microsoft.com/office/powerpoint/2010/main" val="272543618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9B8CF-6395-39C6-B379-CE8AD9B51E3B}"/>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DE552FF7-F802-413C-2612-9BC9B7836CC2}"/>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Σενάρια από την καθημερινότητα</a:t>
            </a:r>
          </a:p>
        </p:txBody>
      </p:sp>
      <p:grpSp>
        <p:nvGrpSpPr>
          <p:cNvPr id="7" name="Group 6">
            <a:extLst>
              <a:ext uri="{FF2B5EF4-FFF2-40B4-BE49-F238E27FC236}">
                <a16:creationId xmlns:a16="http://schemas.microsoft.com/office/drawing/2014/main" id="{093FD94F-7FDD-D496-6AD4-86E14F958C51}"/>
              </a:ext>
            </a:extLst>
          </p:cNvPr>
          <p:cNvGrpSpPr/>
          <p:nvPr/>
        </p:nvGrpSpPr>
        <p:grpSpPr>
          <a:xfrm>
            <a:off x="-1" y="6559908"/>
            <a:ext cx="12192001" cy="327219"/>
            <a:chOff x="-1" y="6559908"/>
            <a:chExt cx="12192001" cy="327219"/>
          </a:xfrm>
        </p:grpSpPr>
        <p:sp>
          <p:nvSpPr>
            <p:cNvPr id="9" name="Rectangle 14">
              <a:extLst>
                <a:ext uri="{FF2B5EF4-FFF2-40B4-BE49-F238E27FC236}">
                  <a16:creationId xmlns:a16="http://schemas.microsoft.com/office/drawing/2014/main" id="{0B270D47-25CD-9C6C-2D74-D71F7B6A30EF}"/>
                </a:ext>
              </a:extLst>
            </p:cNvPr>
            <p:cNvSpPr/>
            <p:nvPr/>
          </p:nvSpPr>
          <p:spPr>
            <a:xfrm>
              <a:off x="0"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Θέση υποσέλιδου 4">
              <a:extLst>
                <a:ext uri="{FF2B5EF4-FFF2-40B4-BE49-F238E27FC236}">
                  <a16:creationId xmlns:a16="http://schemas.microsoft.com/office/drawing/2014/main" id="{2100FF94-AD5C-78AF-90A1-E93F3673537A}"/>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4" name="Θέση υποσέλιδου 4">
              <a:extLst>
                <a:ext uri="{FF2B5EF4-FFF2-40B4-BE49-F238E27FC236}">
                  <a16:creationId xmlns:a16="http://schemas.microsoft.com/office/drawing/2014/main" id="{2E82CE44-88AA-761F-48CB-5C8DC4EE786A}"/>
                </a:ext>
              </a:extLst>
            </p:cNvPr>
            <p:cNvSpPr txBox="1">
              <a:spLocks/>
            </p:cNvSpPr>
            <p:nvPr/>
          </p:nvSpPr>
          <p:spPr>
            <a:xfrm>
              <a:off x="3719657" y="6610127"/>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Procedural Abstraction – </a:t>
              </a:r>
              <a:r>
                <a:rPr lang="el-GR" sz="1100" dirty="0">
                  <a:solidFill>
                    <a:schemeClr val="tx1"/>
                  </a:solidFill>
                  <a:latin typeface="Bahnschrift" panose="020B0502040204020203" pitchFamily="34" charset="0"/>
                </a:rPr>
                <a:t>Λεκτική Περιγραφή</a:t>
              </a:r>
              <a:endParaRPr lang="en-US" sz="1100" dirty="0">
                <a:solidFill>
                  <a:schemeClr val="tx1"/>
                </a:solidFill>
                <a:latin typeface="Bahnschrift" panose="020B0502040204020203" pitchFamily="34" charset="0"/>
              </a:endParaRPr>
            </a:p>
            <a:p>
              <a:endParaRPr lang="el-GR" sz="1100" dirty="0">
                <a:solidFill>
                  <a:schemeClr val="tx1"/>
                </a:solidFill>
                <a:latin typeface="Bahnschrift" panose="020B0502040204020203" pitchFamily="34" charset="0"/>
              </a:endParaRPr>
            </a:p>
          </p:txBody>
        </p:sp>
        <p:sp>
          <p:nvSpPr>
            <p:cNvPr id="15" name="TextBox 14">
              <a:extLst>
                <a:ext uri="{FF2B5EF4-FFF2-40B4-BE49-F238E27FC236}">
                  <a16:creationId xmlns:a16="http://schemas.microsoft.com/office/drawing/2014/main" id="{51A6D614-FC56-584C-3FDC-1AD843107D4F}"/>
                </a:ext>
              </a:extLst>
            </p:cNvPr>
            <p:cNvSpPr txBox="1"/>
            <p:nvPr/>
          </p:nvSpPr>
          <p:spPr>
            <a:xfrm>
              <a:off x="1026906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8</a:t>
              </a:fld>
              <a:endParaRPr lang="en-US" sz="1200" dirty="0">
                <a:latin typeface="Bahnschrift Light" panose="020B0502040204020203" pitchFamily="34" charset="0"/>
                <a:cs typeface="Arial" pitchFamily="34" charset="0"/>
              </a:endParaRPr>
            </a:p>
          </p:txBody>
        </p:sp>
      </p:grpSp>
      <p:pic>
        <p:nvPicPr>
          <p:cNvPr id="3" name="Picture 2">
            <a:extLst>
              <a:ext uri="{FF2B5EF4-FFF2-40B4-BE49-F238E27FC236}">
                <a16:creationId xmlns:a16="http://schemas.microsoft.com/office/drawing/2014/main" id="{1271A645-B2FC-2FEB-2AB6-970577F5D639}"/>
              </a:ext>
            </a:extLst>
          </p:cNvPr>
          <p:cNvPicPr>
            <a:picLocks noChangeAspect="1"/>
          </p:cNvPicPr>
          <p:nvPr/>
        </p:nvPicPr>
        <p:blipFill>
          <a:blip r:embed="rId3"/>
          <a:stretch>
            <a:fillRect/>
          </a:stretch>
        </p:blipFill>
        <p:spPr>
          <a:xfrm>
            <a:off x="1018552" y="1087848"/>
            <a:ext cx="1848753" cy="2492597"/>
          </a:xfrm>
          <a:prstGeom prst="rect">
            <a:avLst/>
          </a:prstGeom>
        </p:spPr>
      </p:pic>
      <p:pic>
        <p:nvPicPr>
          <p:cNvPr id="4" name="Picture 3">
            <a:extLst>
              <a:ext uri="{FF2B5EF4-FFF2-40B4-BE49-F238E27FC236}">
                <a16:creationId xmlns:a16="http://schemas.microsoft.com/office/drawing/2014/main" id="{F505CDA2-7C68-BDAE-CCCB-74BE195CD897}"/>
              </a:ext>
            </a:extLst>
          </p:cNvPr>
          <p:cNvPicPr>
            <a:picLocks noChangeAspect="1"/>
          </p:cNvPicPr>
          <p:nvPr/>
        </p:nvPicPr>
        <p:blipFill>
          <a:blip r:embed="rId4"/>
          <a:stretch>
            <a:fillRect/>
          </a:stretch>
        </p:blipFill>
        <p:spPr>
          <a:xfrm>
            <a:off x="796383" y="4164392"/>
            <a:ext cx="2839367" cy="1923442"/>
          </a:xfrm>
          <a:prstGeom prst="rect">
            <a:avLst/>
          </a:prstGeom>
        </p:spPr>
      </p:pic>
      <p:pic>
        <p:nvPicPr>
          <p:cNvPr id="5" name="Picture 4">
            <a:extLst>
              <a:ext uri="{FF2B5EF4-FFF2-40B4-BE49-F238E27FC236}">
                <a16:creationId xmlns:a16="http://schemas.microsoft.com/office/drawing/2014/main" id="{1C0A8634-9F0B-A2D0-4DD4-BFB2F83428DC}"/>
              </a:ext>
            </a:extLst>
          </p:cNvPr>
          <p:cNvPicPr>
            <a:picLocks noChangeAspect="1"/>
          </p:cNvPicPr>
          <p:nvPr/>
        </p:nvPicPr>
        <p:blipFill>
          <a:blip r:embed="rId5"/>
          <a:stretch>
            <a:fillRect/>
          </a:stretch>
        </p:blipFill>
        <p:spPr>
          <a:xfrm>
            <a:off x="6701025" y="1223582"/>
            <a:ext cx="2969291" cy="2038325"/>
          </a:xfrm>
          <a:prstGeom prst="rect">
            <a:avLst/>
          </a:prstGeom>
        </p:spPr>
      </p:pic>
      <p:pic>
        <p:nvPicPr>
          <p:cNvPr id="6" name="Picture 5">
            <a:extLst>
              <a:ext uri="{FF2B5EF4-FFF2-40B4-BE49-F238E27FC236}">
                <a16:creationId xmlns:a16="http://schemas.microsoft.com/office/drawing/2014/main" id="{BC52EE63-554C-172E-BE39-A6807C2344EE}"/>
              </a:ext>
            </a:extLst>
          </p:cNvPr>
          <p:cNvPicPr>
            <a:picLocks noChangeAspect="1"/>
          </p:cNvPicPr>
          <p:nvPr/>
        </p:nvPicPr>
        <p:blipFill>
          <a:blip r:embed="rId6"/>
          <a:stretch>
            <a:fillRect/>
          </a:stretch>
        </p:blipFill>
        <p:spPr>
          <a:xfrm>
            <a:off x="7011046" y="4342356"/>
            <a:ext cx="2690323" cy="1830693"/>
          </a:xfrm>
          <a:prstGeom prst="rect">
            <a:avLst/>
          </a:prstGeom>
        </p:spPr>
      </p:pic>
      <p:pic>
        <p:nvPicPr>
          <p:cNvPr id="8" name="Picture 7">
            <a:extLst>
              <a:ext uri="{FF2B5EF4-FFF2-40B4-BE49-F238E27FC236}">
                <a16:creationId xmlns:a16="http://schemas.microsoft.com/office/drawing/2014/main" id="{0F2A38CB-E137-844C-CC44-9C5612884A36}"/>
              </a:ext>
            </a:extLst>
          </p:cNvPr>
          <p:cNvPicPr>
            <a:picLocks noChangeAspect="1"/>
          </p:cNvPicPr>
          <p:nvPr/>
        </p:nvPicPr>
        <p:blipFill>
          <a:blip r:embed="rId7"/>
          <a:stretch>
            <a:fillRect/>
          </a:stretch>
        </p:blipFill>
        <p:spPr>
          <a:xfrm>
            <a:off x="3678468" y="1116762"/>
            <a:ext cx="2417532" cy="2068431"/>
          </a:xfrm>
          <a:prstGeom prst="rect">
            <a:avLst/>
          </a:prstGeom>
        </p:spPr>
      </p:pic>
      <p:sp>
        <p:nvSpPr>
          <p:cNvPr id="10" name="TextBox 9">
            <a:extLst>
              <a:ext uri="{FF2B5EF4-FFF2-40B4-BE49-F238E27FC236}">
                <a16:creationId xmlns:a16="http://schemas.microsoft.com/office/drawing/2014/main" id="{49C82F04-0B3D-9D2F-8810-3C653CD2FBB8}"/>
              </a:ext>
            </a:extLst>
          </p:cNvPr>
          <p:cNvSpPr txBox="1"/>
          <p:nvPr/>
        </p:nvSpPr>
        <p:spPr>
          <a:xfrm>
            <a:off x="2975370" y="3387517"/>
            <a:ext cx="5616624" cy="461665"/>
          </a:xfrm>
          <a:prstGeom prst="rect">
            <a:avLst/>
          </a:prstGeom>
          <a:noFill/>
        </p:spPr>
        <p:txBody>
          <a:bodyPr wrap="square" rtlCol="0">
            <a:spAutoFit/>
          </a:bodyPr>
          <a:lstStyle/>
          <a:p>
            <a:pPr eaLnBrk="0" fontAlgn="base" hangingPunct="0">
              <a:spcBef>
                <a:spcPct val="0"/>
              </a:spcBef>
              <a:spcAft>
                <a:spcPct val="0"/>
              </a:spcAft>
            </a:pPr>
            <a:r>
              <a:rPr lang="el-GR" sz="2400" b="1" dirty="0">
                <a:solidFill>
                  <a:srgbClr val="000000"/>
                </a:solidFill>
                <a:latin typeface="Tahoma" panose="020B0604030504040204" pitchFamily="34" charset="0"/>
              </a:rPr>
              <a:t>Ένα σύνολο από διεργασίες</a:t>
            </a:r>
          </a:p>
        </p:txBody>
      </p:sp>
      <p:sp>
        <p:nvSpPr>
          <p:cNvPr id="11" name="TextBox 10">
            <a:extLst>
              <a:ext uri="{FF2B5EF4-FFF2-40B4-BE49-F238E27FC236}">
                <a16:creationId xmlns:a16="http://schemas.microsoft.com/office/drawing/2014/main" id="{36AC4312-9503-6198-B7B0-A35F4DF6FB58}"/>
              </a:ext>
            </a:extLst>
          </p:cNvPr>
          <p:cNvSpPr txBox="1"/>
          <p:nvPr/>
        </p:nvSpPr>
        <p:spPr>
          <a:xfrm>
            <a:off x="3976282" y="4075103"/>
            <a:ext cx="3240360" cy="1938992"/>
          </a:xfrm>
          <a:prstGeom prst="rect">
            <a:avLst/>
          </a:prstGeom>
          <a:noFill/>
        </p:spPr>
        <p:txBody>
          <a:bodyPr wrap="square" rtlCol="0">
            <a:spAutoFit/>
          </a:bodyPr>
          <a:lstStyle/>
          <a:p>
            <a:pPr eaLnBrk="0" fontAlgn="base" hangingPunct="0">
              <a:spcBef>
                <a:spcPct val="0"/>
              </a:spcBef>
              <a:spcAft>
                <a:spcPct val="0"/>
              </a:spcAft>
            </a:pPr>
            <a:r>
              <a:rPr lang="el-GR" sz="2000" b="1" i="1" dirty="0">
                <a:solidFill>
                  <a:srgbClr val="000000"/>
                </a:solidFill>
                <a:latin typeface="Tahoma" panose="020B0604030504040204" pitchFamily="34" charset="0"/>
              </a:rPr>
              <a:t>Διεργασία</a:t>
            </a:r>
            <a:r>
              <a:rPr lang="el-GR" sz="2000" i="1" dirty="0">
                <a:solidFill>
                  <a:srgbClr val="000000"/>
                </a:solidFill>
                <a:latin typeface="Tahoma" panose="020B0604030504040204" pitchFamily="34" charset="0"/>
              </a:rPr>
              <a:t> - σειρά ενεργειών που εκτυλίσσονται βαθμιαία προς συγκεκριμένο αποτέλεσμα [Λεξικό </a:t>
            </a:r>
            <a:r>
              <a:rPr lang="el-GR" sz="2000" i="1" dirty="0" err="1">
                <a:solidFill>
                  <a:srgbClr val="000000"/>
                </a:solidFill>
                <a:latin typeface="Tahoma" panose="020B0604030504040204" pitchFamily="34" charset="0"/>
              </a:rPr>
              <a:t>Μπαμπινιώτη</a:t>
            </a:r>
            <a:r>
              <a:rPr lang="el-GR" sz="2000" i="1" dirty="0">
                <a:solidFill>
                  <a:srgbClr val="000000"/>
                </a:solidFill>
                <a:latin typeface="Tahoma" panose="020B0604030504040204" pitchFamily="34" charset="0"/>
              </a:rPr>
              <a:t>]</a:t>
            </a:r>
            <a:endParaRPr lang="en-GB" sz="2000" i="1" dirty="0">
              <a:solidFill>
                <a:srgbClr val="000000"/>
              </a:solidFill>
              <a:latin typeface="Tahoma" panose="020B0604030504040204" pitchFamily="34" charset="0"/>
            </a:endParaRPr>
          </a:p>
        </p:txBody>
      </p:sp>
    </p:spTree>
    <p:extLst>
      <p:ext uri="{BB962C8B-B14F-4D97-AF65-F5344CB8AC3E}">
        <p14:creationId xmlns:p14="http://schemas.microsoft.com/office/powerpoint/2010/main" val="287650849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fade">
                                      <p:cBhvr>
                                        <p:cTn id="20" dur="5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5"/>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21594-7137-C287-3FC9-BE4661DC5F4C}"/>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DF409FA2-66C2-57BB-A4D2-112290964CD0}"/>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Ανάθεση έργου σε </a:t>
            </a:r>
            <a:r>
              <a:rPr lang="el-GR" sz="4000" b="1" dirty="0" err="1">
                <a:solidFill>
                  <a:srgbClr val="F9853D"/>
                </a:solidFill>
                <a:latin typeface="Bahnschrift" panose="020B0502040204020203" pitchFamily="34" charset="0"/>
              </a:rPr>
              <a:t>Μπαρίστα</a:t>
            </a:r>
            <a:endParaRPr lang="el-GR" sz="4000" b="1" dirty="0">
              <a:solidFill>
                <a:srgbClr val="F9853D"/>
              </a:solidFill>
              <a:latin typeface="Bahnschrift" panose="020B0502040204020203" pitchFamily="34" charset="0"/>
            </a:endParaRPr>
          </a:p>
        </p:txBody>
      </p:sp>
      <p:grpSp>
        <p:nvGrpSpPr>
          <p:cNvPr id="7" name="Group 6">
            <a:extLst>
              <a:ext uri="{FF2B5EF4-FFF2-40B4-BE49-F238E27FC236}">
                <a16:creationId xmlns:a16="http://schemas.microsoft.com/office/drawing/2014/main" id="{DB154BC5-0D93-54AC-C021-FE93465FDA8C}"/>
              </a:ext>
            </a:extLst>
          </p:cNvPr>
          <p:cNvGrpSpPr/>
          <p:nvPr/>
        </p:nvGrpSpPr>
        <p:grpSpPr>
          <a:xfrm>
            <a:off x="-1" y="6559908"/>
            <a:ext cx="12192001" cy="327219"/>
            <a:chOff x="-1" y="6559908"/>
            <a:chExt cx="12192001" cy="327219"/>
          </a:xfrm>
        </p:grpSpPr>
        <p:sp>
          <p:nvSpPr>
            <p:cNvPr id="9" name="Rectangle 14">
              <a:extLst>
                <a:ext uri="{FF2B5EF4-FFF2-40B4-BE49-F238E27FC236}">
                  <a16:creationId xmlns:a16="http://schemas.microsoft.com/office/drawing/2014/main" id="{6DCBB1A1-877F-2DE7-F36E-63E63C430195}"/>
                </a:ext>
              </a:extLst>
            </p:cNvPr>
            <p:cNvSpPr/>
            <p:nvPr/>
          </p:nvSpPr>
          <p:spPr>
            <a:xfrm>
              <a:off x="0"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Θέση υποσέλιδου 4">
              <a:extLst>
                <a:ext uri="{FF2B5EF4-FFF2-40B4-BE49-F238E27FC236}">
                  <a16:creationId xmlns:a16="http://schemas.microsoft.com/office/drawing/2014/main" id="{6BFD8D7A-6576-3C95-EB69-3377DBBC3DEE}"/>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4" name="Θέση υποσέλιδου 4">
              <a:extLst>
                <a:ext uri="{FF2B5EF4-FFF2-40B4-BE49-F238E27FC236}">
                  <a16:creationId xmlns:a16="http://schemas.microsoft.com/office/drawing/2014/main" id="{BEEBB4DD-CAD0-7CAD-22A3-38E3AFDD3177}"/>
                </a:ext>
              </a:extLst>
            </p:cNvPr>
            <p:cNvSpPr txBox="1">
              <a:spLocks/>
            </p:cNvSpPr>
            <p:nvPr/>
          </p:nvSpPr>
          <p:spPr>
            <a:xfrm>
              <a:off x="3719657" y="6610127"/>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Procedural Abstraction – </a:t>
              </a:r>
              <a:r>
                <a:rPr lang="el-GR" sz="1100" dirty="0">
                  <a:solidFill>
                    <a:schemeClr val="tx1"/>
                  </a:solidFill>
                  <a:latin typeface="Bahnschrift" panose="020B0502040204020203" pitchFamily="34" charset="0"/>
                </a:rPr>
                <a:t>Λεκτική Περιγραφή</a:t>
              </a:r>
              <a:endParaRPr lang="en-US" sz="1100" dirty="0">
                <a:solidFill>
                  <a:schemeClr val="tx1"/>
                </a:solidFill>
                <a:latin typeface="Bahnschrift" panose="020B0502040204020203" pitchFamily="34" charset="0"/>
              </a:endParaRPr>
            </a:p>
            <a:p>
              <a:endParaRPr lang="el-GR" sz="1100" dirty="0">
                <a:solidFill>
                  <a:schemeClr val="tx1"/>
                </a:solidFill>
                <a:latin typeface="Bahnschrift" panose="020B0502040204020203" pitchFamily="34" charset="0"/>
              </a:endParaRPr>
            </a:p>
          </p:txBody>
        </p:sp>
        <p:sp>
          <p:nvSpPr>
            <p:cNvPr id="15" name="TextBox 14">
              <a:extLst>
                <a:ext uri="{FF2B5EF4-FFF2-40B4-BE49-F238E27FC236}">
                  <a16:creationId xmlns:a16="http://schemas.microsoft.com/office/drawing/2014/main" id="{46DBECF0-30E8-2BDF-9D69-AC24D9A54F0F}"/>
                </a:ext>
              </a:extLst>
            </p:cNvPr>
            <p:cNvSpPr txBox="1"/>
            <p:nvPr/>
          </p:nvSpPr>
          <p:spPr>
            <a:xfrm>
              <a:off x="1026906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9</a:t>
              </a:fld>
              <a:endParaRPr lang="en-US" sz="1200" dirty="0">
                <a:latin typeface="Bahnschrift Light" panose="020B0502040204020203" pitchFamily="34" charset="0"/>
                <a:cs typeface="Arial" pitchFamily="34" charset="0"/>
              </a:endParaRPr>
            </a:p>
          </p:txBody>
        </p:sp>
      </p:grpSp>
      <p:pic>
        <p:nvPicPr>
          <p:cNvPr id="12" name="Picture 2" descr="Δωρεάν εικονογραφήσεις με Σερβιτόρος">
            <a:extLst>
              <a:ext uri="{FF2B5EF4-FFF2-40B4-BE49-F238E27FC236}">
                <a16:creationId xmlns:a16="http://schemas.microsoft.com/office/drawing/2014/main" id="{7A8673F8-D24D-86DD-5BFF-BAF37817FA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6026" y="1862405"/>
            <a:ext cx="2292235" cy="2292235"/>
          </a:xfrm>
          <a:prstGeom prst="rect">
            <a:avLst/>
          </a:prstGeom>
          <a:noFill/>
          <a:extLst>
            <a:ext uri="{909E8E84-426E-40DD-AFC4-6F175D3DCCD1}">
              <a14:hiddenFill xmlns:a14="http://schemas.microsoft.com/office/drawing/2010/main">
                <a:solidFill>
                  <a:srgbClr val="FFFFFF"/>
                </a:solidFill>
              </a14:hiddenFill>
            </a:ext>
          </a:extLst>
        </p:spPr>
      </p:pic>
      <p:sp>
        <p:nvSpPr>
          <p:cNvPr id="16" name="Speech Bubble: Rectangle with Corners Rounded 15">
            <a:extLst>
              <a:ext uri="{FF2B5EF4-FFF2-40B4-BE49-F238E27FC236}">
                <a16:creationId xmlns:a16="http://schemas.microsoft.com/office/drawing/2014/main" id="{02D31AA9-2400-6AC5-161E-19A25E08B71B}"/>
              </a:ext>
            </a:extLst>
          </p:cNvPr>
          <p:cNvSpPr/>
          <p:nvPr/>
        </p:nvSpPr>
        <p:spPr bwMode="auto">
          <a:xfrm>
            <a:off x="7642305" y="877497"/>
            <a:ext cx="3569986" cy="830998"/>
          </a:xfrm>
          <a:prstGeom prst="wedgeRoundRectCallout">
            <a:avLst>
              <a:gd name="adj1" fmla="val 57115"/>
              <a:gd name="adj2" fmla="val 82038"/>
              <a:gd name="adj3" fmla="val 16667"/>
            </a:avLst>
          </a:prstGeom>
          <a:solidFill>
            <a:srgbClr val="FFFF0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anose="020B0604030504040204" pitchFamily="34" charset="0"/>
              </a:rPr>
              <a:t>Ένα Ελληνικό μέτριο </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anose="020B0604030504040204" pitchFamily="34" charset="0"/>
              </a:rPr>
              <a:t>παρακαλώ</a:t>
            </a:r>
          </a:p>
        </p:txBody>
      </p:sp>
      <p:sp>
        <p:nvSpPr>
          <p:cNvPr id="17" name="Speech Bubble: Rectangle with Corners Rounded 16">
            <a:extLst>
              <a:ext uri="{FF2B5EF4-FFF2-40B4-BE49-F238E27FC236}">
                <a16:creationId xmlns:a16="http://schemas.microsoft.com/office/drawing/2014/main" id="{CE245AE4-084D-954A-6955-5F04B1B2E05B}"/>
              </a:ext>
            </a:extLst>
          </p:cNvPr>
          <p:cNvSpPr/>
          <p:nvPr/>
        </p:nvSpPr>
        <p:spPr bwMode="auto">
          <a:xfrm>
            <a:off x="1602752" y="4215033"/>
            <a:ext cx="5395300" cy="2200090"/>
          </a:xfrm>
          <a:prstGeom prst="wedgeRoundRectCallout">
            <a:avLst>
              <a:gd name="adj1" fmla="val -41916"/>
              <a:gd name="adj2" fmla="val 50928"/>
              <a:gd name="adj3" fmla="val 16667"/>
            </a:avLst>
          </a:prstGeom>
          <a:solidFill>
            <a:schemeClr val="accent1">
              <a:lumMod val="40000"/>
              <a:lumOff val="60000"/>
            </a:schemeClr>
          </a:solidFill>
          <a:ln w="9525" cap="flat" cmpd="sng" algn="ctr">
            <a:solidFill>
              <a:srgbClr val="FFFFFF"/>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itchFamily="34" charset="0"/>
              </a:rPr>
              <a:t>1. Άλεσε τους κόκκους του καφέ</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itchFamily="34" charset="0"/>
              </a:rPr>
              <a:t>2. Προετοίμασε το μείγμα</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itchFamily="34" charset="0"/>
              </a:rPr>
              <a:t>3. Βράσε το μείγμα</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itchFamily="34" charset="0"/>
              </a:rPr>
              <a:t>4. Βάλε τον καφέ στο φλυτζάνι</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itchFamily="34" charset="0"/>
              </a:rPr>
              <a:t>5. Σέρβιρε τον καφέ</a:t>
            </a:r>
          </a:p>
        </p:txBody>
      </p:sp>
      <p:pic>
        <p:nvPicPr>
          <p:cNvPr id="18" name="Picture 17">
            <a:extLst>
              <a:ext uri="{FF2B5EF4-FFF2-40B4-BE49-F238E27FC236}">
                <a16:creationId xmlns:a16="http://schemas.microsoft.com/office/drawing/2014/main" id="{F8A7639C-2371-7968-D0DF-2374F72A8B27}"/>
              </a:ext>
            </a:extLst>
          </p:cNvPr>
          <p:cNvPicPr>
            <a:picLocks noChangeAspect="1"/>
          </p:cNvPicPr>
          <p:nvPr/>
        </p:nvPicPr>
        <p:blipFill>
          <a:blip r:embed="rId4"/>
          <a:stretch>
            <a:fillRect/>
          </a:stretch>
        </p:blipFill>
        <p:spPr>
          <a:xfrm>
            <a:off x="3802656" y="2731036"/>
            <a:ext cx="1779048" cy="1205161"/>
          </a:xfrm>
          <a:prstGeom prst="rect">
            <a:avLst/>
          </a:prstGeom>
        </p:spPr>
      </p:pic>
      <p:pic>
        <p:nvPicPr>
          <p:cNvPr id="19" name="Picture 18">
            <a:extLst>
              <a:ext uri="{FF2B5EF4-FFF2-40B4-BE49-F238E27FC236}">
                <a16:creationId xmlns:a16="http://schemas.microsoft.com/office/drawing/2014/main" id="{1B7E9AA2-989D-2C66-C64B-B390F8550977}"/>
              </a:ext>
            </a:extLst>
          </p:cNvPr>
          <p:cNvPicPr>
            <a:picLocks noChangeAspect="1"/>
          </p:cNvPicPr>
          <p:nvPr/>
        </p:nvPicPr>
        <p:blipFill>
          <a:blip r:embed="rId5"/>
          <a:stretch>
            <a:fillRect/>
          </a:stretch>
        </p:blipFill>
        <p:spPr>
          <a:xfrm>
            <a:off x="1561968" y="3009901"/>
            <a:ext cx="1579602" cy="1084347"/>
          </a:xfrm>
          <a:prstGeom prst="rect">
            <a:avLst/>
          </a:prstGeom>
        </p:spPr>
      </p:pic>
      <p:pic>
        <p:nvPicPr>
          <p:cNvPr id="20" name="Picture 19">
            <a:extLst>
              <a:ext uri="{FF2B5EF4-FFF2-40B4-BE49-F238E27FC236}">
                <a16:creationId xmlns:a16="http://schemas.microsoft.com/office/drawing/2014/main" id="{290842DF-9BDB-63CB-A8C6-2814CA827B26}"/>
              </a:ext>
            </a:extLst>
          </p:cNvPr>
          <p:cNvPicPr>
            <a:picLocks noChangeAspect="1"/>
          </p:cNvPicPr>
          <p:nvPr/>
        </p:nvPicPr>
        <p:blipFill>
          <a:blip r:embed="rId6"/>
          <a:stretch>
            <a:fillRect/>
          </a:stretch>
        </p:blipFill>
        <p:spPr>
          <a:xfrm>
            <a:off x="2935946" y="1247039"/>
            <a:ext cx="1539059" cy="1316813"/>
          </a:xfrm>
          <a:prstGeom prst="rect">
            <a:avLst/>
          </a:prstGeom>
        </p:spPr>
      </p:pic>
      <p:pic>
        <p:nvPicPr>
          <p:cNvPr id="21" name="Picture 20">
            <a:extLst>
              <a:ext uri="{FF2B5EF4-FFF2-40B4-BE49-F238E27FC236}">
                <a16:creationId xmlns:a16="http://schemas.microsoft.com/office/drawing/2014/main" id="{E9B6B013-9801-0CD0-895A-906CEA765C95}"/>
              </a:ext>
            </a:extLst>
          </p:cNvPr>
          <p:cNvPicPr>
            <a:picLocks noChangeAspect="1"/>
          </p:cNvPicPr>
          <p:nvPr/>
        </p:nvPicPr>
        <p:blipFill>
          <a:blip r:embed="rId7"/>
          <a:stretch>
            <a:fillRect/>
          </a:stretch>
        </p:blipFill>
        <p:spPr>
          <a:xfrm>
            <a:off x="1569758" y="1216301"/>
            <a:ext cx="1188900" cy="1602945"/>
          </a:xfrm>
          <a:prstGeom prst="rect">
            <a:avLst/>
          </a:prstGeom>
        </p:spPr>
      </p:pic>
      <p:pic>
        <p:nvPicPr>
          <p:cNvPr id="22" name="Picture 21">
            <a:extLst>
              <a:ext uri="{FF2B5EF4-FFF2-40B4-BE49-F238E27FC236}">
                <a16:creationId xmlns:a16="http://schemas.microsoft.com/office/drawing/2014/main" id="{3F96681A-39BA-8F86-D041-A814D7909E08}"/>
              </a:ext>
            </a:extLst>
          </p:cNvPr>
          <p:cNvPicPr>
            <a:picLocks noChangeAspect="1"/>
          </p:cNvPicPr>
          <p:nvPr/>
        </p:nvPicPr>
        <p:blipFill>
          <a:blip r:embed="rId5"/>
          <a:stretch>
            <a:fillRect/>
          </a:stretch>
        </p:blipFill>
        <p:spPr>
          <a:xfrm>
            <a:off x="4652294" y="1210016"/>
            <a:ext cx="1779048" cy="1221260"/>
          </a:xfrm>
          <a:prstGeom prst="rect">
            <a:avLst/>
          </a:prstGeom>
        </p:spPr>
      </p:pic>
      <p:grpSp>
        <p:nvGrpSpPr>
          <p:cNvPr id="23" name="Group 22">
            <a:extLst>
              <a:ext uri="{FF2B5EF4-FFF2-40B4-BE49-F238E27FC236}">
                <a16:creationId xmlns:a16="http://schemas.microsoft.com/office/drawing/2014/main" id="{6A679BC2-0053-8A9F-9AD2-F2A67FEF78EE}"/>
              </a:ext>
            </a:extLst>
          </p:cNvPr>
          <p:cNvGrpSpPr/>
          <p:nvPr/>
        </p:nvGrpSpPr>
        <p:grpSpPr>
          <a:xfrm>
            <a:off x="7951378" y="5485843"/>
            <a:ext cx="3244138" cy="989320"/>
            <a:chOff x="5764912" y="5282713"/>
            <a:chExt cx="3244138" cy="989320"/>
          </a:xfrm>
        </p:grpSpPr>
        <p:sp>
          <p:nvSpPr>
            <p:cNvPr id="24" name="Callout: Bent Line 23">
              <a:extLst>
                <a:ext uri="{FF2B5EF4-FFF2-40B4-BE49-F238E27FC236}">
                  <a16:creationId xmlns:a16="http://schemas.microsoft.com/office/drawing/2014/main" id="{61036762-6DEA-2289-1869-B4B2C0A630D7}"/>
                </a:ext>
              </a:extLst>
            </p:cNvPr>
            <p:cNvSpPr/>
            <p:nvPr/>
          </p:nvSpPr>
          <p:spPr bwMode="auto">
            <a:xfrm>
              <a:off x="5764912" y="5282713"/>
              <a:ext cx="3244138" cy="989320"/>
            </a:xfrm>
            <a:prstGeom prst="borderCallout2">
              <a:avLst>
                <a:gd name="adj1" fmla="val 57962"/>
                <a:gd name="adj2" fmla="val 208"/>
                <a:gd name="adj3" fmla="val 18750"/>
                <a:gd name="adj4" fmla="val -16667"/>
                <a:gd name="adj5" fmla="val -97504"/>
                <a:gd name="adj6" fmla="val -46592"/>
              </a:avLst>
            </a:prstGeom>
            <a:solidFill>
              <a:schemeClr val="accent1"/>
            </a:solidFill>
            <a:ln w="38100" cap="flat" cmpd="sng" algn="ctr">
              <a:solidFill>
                <a:schemeClr val="accent1">
                  <a:lumMod val="75000"/>
                </a:schemeClr>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ahoma" pitchFamily="34" charset="0"/>
              </a:endParaRPr>
            </a:p>
          </p:txBody>
        </p:sp>
        <p:sp>
          <p:nvSpPr>
            <p:cNvPr id="25" name="TextBox 24">
              <a:extLst>
                <a:ext uri="{FF2B5EF4-FFF2-40B4-BE49-F238E27FC236}">
                  <a16:creationId xmlns:a16="http://schemas.microsoft.com/office/drawing/2014/main" id="{E231B9CC-0A4E-5F1C-FB6A-87BDE2369F40}"/>
                </a:ext>
              </a:extLst>
            </p:cNvPr>
            <p:cNvSpPr txBox="1"/>
            <p:nvPr/>
          </p:nvSpPr>
          <p:spPr>
            <a:xfrm>
              <a:off x="5820889" y="5431427"/>
              <a:ext cx="3168951" cy="830997"/>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l-GR" sz="2400" b="1" i="0" u="none" strike="noStrike" kern="0" cap="none" spc="0" normalizeH="0" baseline="0" noProof="0" dirty="0">
                  <a:ln>
                    <a:noFill/>
                  </a:ln>
                  <a:solidFill>
                    <a:srgbClr val="000000"/>
                  </a:solidFill>
                  <a:effectLst/>
                  <a:uLnTx/>
                  <a:uFillTx/>
                  <a:latin typeface="Tahoma" panose="020B0604030504040204" pitchFamily="34" charset="0"/>
                </a:rPr>
                <a:t>Προσταγή</a:t>
              </a:r>
              <a:endParaRPr kumimoji="0" lang="en-GB" sz="2400" b="1" i="0" u="none" strike="noStrike" kern="0" cap="none" spc="0" normalizeH="0" baseline="0" noProof="0" dirty="0">
                <a:ln>
                  <a:noFill/>
                </a:ln>
                <a:solidFill>
                  <a:srgbClr val="000000"/>
                </a:solidFill>
                <a:effectLst/>
                <a:uLnTx/>
                <a:uFillTx/>
                <a:latin typeface="Tahoma" panose="020B0604030504040204" pitchFamily="34" charset="0"/>
              </a:endParaRPr>
            </a:p>
            <a:p>
              <a:pPr marL="0" marR="0" lvl="0" indent="0" defTabSz="914400" eaLnBrk="0" fontAlgn="base" latinLnBrk="0" hangingPunct="0">
                <a:lnSpc>
                  <a:spcPct val="100000"/>
                </a:lnSpc>
                <a:spcBef>
                  <a:spcPct val="0"/>
                </a:spcBef>
                <a:spcAft>
                  <a:spcPct val="0"/>
                </a:spcAft>
                <a:buClrTx/>
                <a:buSzTx/>
                <a:buFontTx/>
                <a:buNone/>
                <a:tabLst/>
                <a:defRPr/>
              </a:pPr>
              <a:r>
                <a:rPr kumimoji="0" lang="el-GR" sz="2400" b="1" i="0" u="none" strike="noStrike" kern="0" cap="none" spc="0" normalizeH="0" baseline="0" noProof="0" dirty="0">
                  <a:ln>
                    <a:noFill/>
                  </a:ln>
                  <a:solidFill>
                    <a:srgbClr val="000000"/>
                  </a:solidFill>
                  <a:effectLst/>
                  <a:uLnTx/>
                  <a:uFillTx/>
                  <a:latin typeface="Tahoma" panose="020B0604030504040204" pitchFamily="34" charset="0"/>
                </a:rPr>
                <a:t>Πρόταση</a:t>
              </a:r>
              <a:r>
                <a:rPr kumimoji="0" lang="el-GR" sz="2400" b="0" i="0" u="none" strike="noStrike" kern="0" cap="none" spc="0" normalizeH="0" baseline="0" noProof="0" dirty="0">
                  <a:ln>
                    <a:noFill/>
                  </a:ln>
                  <a:solidFill>
                    <a:srgbClr val="000000"/>
                  </a:solidFill>
                  <a:effectLst/>
                  <a:uLnTx/>
                  <a:uFillTx/>
                  <a:latin typeface="Tahoma" panose="020B0604030504040204" pitchFamily="34" charset="0"/>
                </a:rPr>
                <a:t>(</a:t>
              </a:r>
              <a:r>
                <a:rPr kumimoji="0" lang="en-GB" sz="2400" b="0" i="0" u="none" strike="noStrike" kern="0" cap="none" spc="0" normalizeH="0" baseline="0" noProof="0" dirty="0">
                  <a:ln>
                    <a:noFill/>
                  </a:ln>
                  <a:solidFill>
                    <a:srgbClr val="000000"/>
                  </a:solidFill>
                  <a:effectLst/>
                  <a:uLnTx/>
                  <a:uFillTx/>
                  <a:latin typeface="Tahoma" panose="020B0604030504040204" pitchFamily="34" charset="0"/>
                </a:rPr>
                <a:t>Statement)</a:t>
              </a:r>
            </a:p>
          </p:txBody>
        </p:sp>
      </p:grpSp>
      <p:pic>
        <p:nvPicPr>
          <p:cNvPr id="26" name="Picture 25">
            <a:extLst>
              <a:ext uri="{FF2B5EF4-FFF2-40B4-BE49-F238E27FC236}">
                <a16:creationId xmlns:a16="http://schemas.microsoft.com/office/drawing/2014/main" id="{E2CEC132-8F7F-CC53-6089-BECE17491519}"/>
              </a:ext>
            </a:extLst>
          </p:cNvPr>
          <p:cNvPicPr>
            <a:picLocks noChangeAspect="1"/>
          </p:cNvPicPr>
          <p:nvPr/>
        </p:nvPicPr>
        <p:blipFill>
          <a:blip r:embed="rId8"/>
          <a:stretch>
            <a:fillRect/>
          </a:stretch>
        </p:blipFill>
        <p:spPr>
          <a:xfrm>
            <a:off x="9149072" y="2760251"/>
            <a:ext cx="1952898" cy="2238687"/>
          </a:xfrm>
          <a:prstGeom prst="rect">
            <a:avLst/>
          </a:prstGeom>
        </p:spPr>
      </p:pic>
    </p:spTree>
    <p:extLst>
      <p:ext uri="{BB962C8B-B14F-4D97-AF65-F5344CB8AC3E}">
        <p14:creationId xmlns:p14="http://schemas.microsoft.com/office/powerpoint/2010/main" val="358742146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500"/>
                                        <p:tgtEl>
                                          <p:spTgt spid="26"/>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2D638-889A-945E-C8EC-52123C6AA08F}"/>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0A6B8A60-2014-A597-BE55-8E9ADF8F709E}"/>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Ανάθεση έργου σε Ανήλικο</a:t>
            </a:r>
          </a:p>
        </p:txBody>
      </p:sp>
      <p:grpSp>
        <p:nvGrpSpPr>
          <p:cNvPr id="7" name="Group 6">
            <a:extLst>
              <a:ext uri="{FF2B5EF4-FFF2-40B4-BE49-F238E27FC236}">
                <a16:creationId xmlns:a16="http://schemas.microsoft.com/office/drawing/2014/main" id="{B74AB605-563A-FB93-F69B-1FD659E4513E}"/>
              </a:ext>
            </a:extLst>
          </p:cNvPr>
          <p:cNvGrpSpPr/>
          <p:nvPr/>
        </p:nvGrpSpPr>
        <p:grpSpPr>
          <a:xfrm>
            <a:off x="-1" y="6559908"/>
            <a:ext cx="12192001" cy="327219"/>
            <a:chOff x="-1" y="6559908"/>
            <a:chExt cx="12192001" cy="327219"/>
          </a:xfrm>
        </p:grpSpPr>
        <p:sp>
          <p:nvSpPr>
            <p:cNvPr id="9" name="Rectangle 14">
              <a:extLst>
                <a:ext uri="{FF2B5EF4-FFF2-40B4-BE49-F238E27FC236}">
                  <a16:creationId xmlns:a16="http://schemas.microsoft.com/office/drawing/2014/main" id="{6A33B3AB-4DFD-D6F9-C84A-F26247632183}"/>
                </a:ext>
              </a:extLst>
            </p:cNvPr>
            <p:cNvSpPr/>
            <p:nvPr/>
          </p:nvSpPr>
          <p:spPr>
            <a:xfrm>
              <a:off x="0"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Θέση υποσέλιδου 4">
              <a:extLst>
                <a:ext uri="{FF2B5EF4-FFF2-40B4-BE49-F238E27FC236}">
                  <a16:creationId xmlns:a16="http://schemas.microsoft.com/office/drawing/2014/main" id="{F0D11CF7-8F1B-EEC7-8796-3D443145EEC5}"/>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4" name="Θέση υποσέλιδου 4">
              <a:extLst>
                <a:ext uri="{FF2B5EF4-FFF2-40B4-BE49-F238E27FC236}">
                  <a16:creationId xmlns:a16="http://schemas.microsoft.com/office/drawing/2014/main" id="{FD004A00-2205-FD35-E2D9-8CCBB8FA3D19}"/>
                </a:ext>
              </a:extLst>
            </p:cNvPr>
            <p:cNvSpPr txBox="1">
              <a:spLocks/>
            </p:cNvSpPr>
            <p:nvPr/>
          </p:nvSpPr>
          <p:spPr>
            <a:xfrm>
              <a:off x="3719657" y="6610127"/>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Procedural Abstraction – </a:t>
              </a:r>
              <a:r>
                <a:rPr lang="el-GR" sz="1100" dirty="0">
                  <a:solidFill>
                    <a:schemeClr val="tx1"/>
                  </a:solidFill>
                  <a:latin typeface="Bahnschrift" panose="020B0502040204020203" pitchFamily="34" charset="0"/>
                </a:rPr>
                <a:t>Λεκτική Περιγραφή</a:t>
              </a:r>
              <a:endParaRPr lang="en-US" sz="1100" dirty="0">
                <a:solidFill>
                  <a:schemeClr val="tx1"/>
                </a:solidFill>
                <a:latin typeface="Bahnschrift" panose="020B0502040204020203" pitchFamily="34" charset="0"/>
              </a:endParaRPr>
            </a:p>
            <a:p>
              <a:endParaRPr lang="el-GR" sz="1100" dirty="0">
                <a:solidFill>
                  <a:schemeClr val="tx1"/>
                </a:solidFill>
                <a:latin typeface="Bahnschrift" panose="020B0502040204020203" pitchFamily="34" charset="0"/>
              </a:endParaRPr>
            </a:p>
          </p:txBody>
        </p:sp>
        <p:sp>
          <p:nvSpPr>
            <p:cNvPr id="15" name="TextBox 14">
              <a:extLst>
                <a:ext uri="{FF2B5EF4-FFF2-40B4-BE49-F238E27FC236}">
                  <a16:creationId xmlns:a16="http://schemas.microsoft.com/office/drawing/2014/main" id="{A395DF8A-8501-ACA8-A8C8-D05E06536BA1}"/>
                </a:ext>
              </a:extLst>
            </p:cNvPr>
            <p:cNvSpPr txBox="1"/>
            <p:nvPr/>
          </p:nvSpPr>
          <p:spPr>
            <a:xfrm>
              <a:off x="1026906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10</a:t>
              </a:fld>
              <a:endParaRPr lang="en-US" sz="1200" dirty="0">
                <a:latin typeface="Bahnschrift Light" panose="020B0502040204020203" pitchFamily="34" charset="0"/>
                <a:cs typeface="Arial" pitchFamily="34" charset="0"/>
              </a:endParaRPr>
            </a:p>
          </p:txBody>
        </p:sp>
      </p:grpSp>
      <p:pic>
        <p:nvPicPr>
          <p:cNvPr id="3" name="Picture 2">
            <a:extLst>
              <a:ext uri="{FF2B5EF4-FFF2-40B4-BE49-F238E27FC236}">
                <a16:creationId xmlns:a16="http://schemas.microsoft.com/office/drawing/2014/main" id="{BA82CD15-E93B-9EBC-0689-1DED9CAF15DC}"/>
              </a:ext>
            </a:extLst>
          </p:cNvPr>
          <p:cNvPicPr>
            <a:picLocks noChangeAspect="1"/>
          </p:cNvPicPr>
          <p:nvPr/>
        </p:nvPicPr>
        <p:blipFill>
          <a:blip r:embed="rId3"/>
          <a:stretch>
            <a:fillRect/>
          </a:stretch>
        </p:blipFill>
        <p:spPr>
          <a:xfrm>
            <a:off x="6941889" y="812935"/>
            <a:ext cx="2575783" cy="2185513"/>
          </a:xfrm>
          <a:prstGeom prst="rect">
            <a:avLst/>
          </a:prstGeom>
        </p:spPr>
      </p:pic>
      <p:sp>
        <p:nvSpPr>
          <p:cNvPr id="4" name="Speech Bubble: Rectangle with Corners Rounded 3">
            <a:extLst>
              <a:ext uri="{FF2B5EF4-FFF2-40B4-BE49-F238E27FC236}">
                <a16:creationId xmlns:a16="http://schemas.microsoft.com/office/drawing/2014/main" id="{84B9F684-8BA5-2E9C-A899-65912D7E8B8C}"/>
              </a:ext>
            </a:extLst>
          </p:cNvPr>
          <p:cNvSpPr/>
          <p:nvPr/>
        </p:nvSpPr>
        <p:spPr bwMode="auto">
          <a:xfrm>
            <a:off x="967015" y="4115399"/>
            <a:ext cx="4396266" cy="1783786"/>
          </a:xfrm>
          <a:prstGeom prst="wedgeRoundRectCallout">
            <a:avLst>
              <a:gd name="adj1" fmla="val -41916"/>
              <a:gd name="adj2" fmla="val 50928"/>
              <a:gd name="adj3" fmla="val 16667"/>
            </a:avLst>
          </a:prstGeom>
          <a:solidFill>
            <a:schemeClr val="accent1">
              <a:lumMod val="40000"/>
              <a:lumOff val="60000"/>
            </a:schemeClr>
          </a:solidFill>
          <a:ln w="9525" cap="flat" cmpd="sng" algn="ctr">
            <a:solidFill>
              <a:srgbClr val="FFFFFF"/>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l-GR" sz="2000" b="0" i="0" u="none" strike="noStrike" kern="0" cap="none" spc="0" normalizeH="0" baseline="0" noProof="0" dirty="0">
                <a:ln>
                  <a:noFill/>
                </a:ln>
                <a:solidFill>
                  <a:srgbClr val="000000"/>
                </a:solidFill>
                <a:effectLst/>
                <a:uLnTx/>
                <a:uFillTx/>
                <a:latin typeface="Tahoma" pitchFamily="34" charset="0"/>
              </a:rPr>
              <a:t>1. Άλεσε τους κόκκους του καφέ</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2000" b="0" i="0" u="none" strike="noStrike" kern="0" cap="none" spc="0" normalizeH="0" baseline="0" noProof="0" dirty="0">
                <a:ln>
                  <a:noFill/>
                </a:ln>
                <a:solidFill>
                  <a:srgbClr val="000000"/>
                </a:solidFill>
                <a:effectLst/>
                <a:uLnTx/>
                <a:uFillTx/>
                <a:latin typeface="Tahoma" pitchFamily="34" charset="0"/>
              </a:rPr>
              <a:t>2. Προετοίμασε το μείγμα</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2000" b="0" i="0" u="none" strike="noStrike" kern="0" cap="none" spc="0" normalizeH="0" baseline="0" noProof="0" dirty="0">
                <a:ln>
                  <a:noFill/>
                </a:ln>
                <a:solidFill>
                  <a:srgbClr val="000000"/>
                </a:solidFill>
                <a:effectLst/>
                <a:uLnTx/>
                <a:uFillTx/>
                <a:latin typeface="Tahoma" pitchFamily="34" charset="0"/>
              </a:rPr>
              <a:t>3. Βράσε το μείγμα</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2000" b="0" i="0" u="none" strike="noStrike" kern="0" cap="none" spc="0" normalizeH="0" baseline="0" noProof="0" dirty="0">
                <a:ln>
                  <a:noFill/>
                </a:ln>
                <a:solidFill>
                  <a:srgbClr val="000000"/>
                </a:solidFill>
                <a:effectLst/>
                <a:uLnTx/>
                <a:uFillTx/>
                <a:latin typeface="Tahoma" pitchFamily="34" charset="0"/>
              </a:rPr>
              <a:t>4. Βάλε τον καφέ στο φλυτζάνι</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2000" b="0" i="0" u="none" strike="noStrike" kern="0" cap="none" spc="0" normalizeH="0" baseline="0" noProof="0" dirty="0">
                <a:ln>
                  <a:noFill/>
                </a:ln>
                <a:solidFill>
                  <a:srgbClr val="000000"/>
                </a:solidFill>
                <a:effectLst/>
                <a:uLnTx/>
                <a:uFillTx/>
                <a:latin typeface="Tahoma" pitchFamily="34" charset="0"/>
              </a:rPr>
              <a:t>5. Σέρβιρε τον καφέ</a:t>
            </a:r>
          </a:p>
        </p:txBody>
      </p:sp>
      <p:pic>
        <p:nvPicPr>
          <p:cNvPr id="5" name="Picture 4">
            <a:extLst>
              <a:ext uri="{FF2B5EF4-FFF2-40B4-BE49-F238E27FC236}">
                <a16:creationId xmlns:a16="http://schemas.microsoft.com/office/drawing/2014/main" id="{DD802D3B-2DDA-974F-CE55-AE807E1F29FB}"/>
              </a:ext>
            </a:extLst>
          </p:cNvPr>
          <p:cNvPicPr>
            <a:picLocks noChangeAspect="1"/>
          </p:cNvPicPr>
          <p:nvPr/>
        </p:nvPicPr>
        <p:blipFill>
          <a:blip r:embed="rId4"/>
          <a:stretch>
            <a:fillRect/>
          </a:stretch>
        </p:blipFill>
        <p:spPr>
          <a:xfrm>
            <a:off x="3262329" y="2719583"/>
            <a:ext cx="1779048" cy="1205161"/>
          </a:xfrm>
          <a:prstGeom prst="rect">
            <a:avLst/>
          </a:prstGeom>
        </p:spPr>
      </p:pic>
      <p:pic>
        <p:nvPicPr>
          <p:cNvPr id="6" name="Picture 5">
            <a:extLst>
              <a:ext uri="{FF2B5EF4-FFF2-40B4-BE49-F238E27FC236}">
                <a16:creationId xmlns:a16="http://schemas.microsoft.com/office/drawing/2014/main" id="{A466769D-B57F-AF62-F54C-C6FAA0111D1B}"/>
              </a:ext>
            </a:extLst>
          </p:cNvPr>
          <p:cNvPicPr>
            <a:picLocks noChangeAspect="1"/>
          </p:cNvPicPr>
          <p:nvPr/>
        </p:nvPicPr>
        <p:blipFill>
          <a:blip r:embed="rId5"/>
          <a:stretch>
            <a:fillRect/>
          </a:stretch>
        </p:blipFill>
        <p:spPr>
          <a:xfrm>
            <a:off x="1021641" y="2998448"/>
            <a:ext cx="1579602" cy="1084347"/>
          </a:xfrm>
          <a:prstGeom prst="rect">
            <a:avLst/>
          </a:prstGeom>
        </p:spPr>
      </p:pic>
      <p:pic>
        <p:nvPicPr>
          <p:cNvPr id="8" name="Picture 7">
            <a:extLst>
              <a:ext uri="{FF2B5EF4-FFF2-40B4-BE49-F238E27FC236}">
                <a16:creationId xmlns:a16="http://schemas.microsoft.com/office/drawing/2014/main" id="{DD2DCE1C-60A6-396C-8DCC-F60A569F5E1F}"/>
              </a:ext>
            </a:extLst>
          </p:cNvPr>
          <p:cNvPicPr>
            <a:picLocks noChangeAspect="1"/>
          </p:cNvPicPr>
          <p:nvPr/>
        </p:nvPicPr>
        <p:blipFill>
          <a:blip r:embed="rId6"/>
          <a:stretch>
            <a:fillRect/>
          </a:stretch>
        </p:blipFill>
        <p:spPr>
          <a:xfrm>
            <a:off x="2395619" y="1235586"/>
            <a:ext cx="1539059" cy="1316813"/>
          </a:xfrm>
          <a:prstGeom prst="rect">
            <a:avLst/>
          </a:prstGeom>
        </p:spPr>
      </p:pic>
      <p:pic>
        <p:nvPicPr>
          <p:cNvPr id="10" name="Picture 9">
            <a:extLst>
              <a:ext uri="{FF2B5EF4-FFF2-40B4-BE49-F238E27FC236}">
                <a16:creationId xmlns:a16="http://schemas.microsoft.com/office/drawing/2014/main" id="{C3B36726-BBC7-1B4E-8E79-F0C12F9F0568}"/>
              </a:ext>
            </a:extLst>
          </p:cNvPr>
          <p:cNvPicPr>
            <a:picLocks noChangeAspect="1"/>
          </p:cNvPicPr>
          <p:nvPr/>
        </p:nvPicPr>
        <p:blipFill>
          <a:blip r:embed="rId7"/>
          <a:stretch>
            <a:fillRect/>
          </a:stretch>
        </p:blipFill>
        <p:spPr>
          <a:xfrm>
            <a:off x="1029431" y="1204848"/>
            <a:ext cx="1188900" cy="1602945"/>
          </a:xfrm>
          <a:prstGeom prst="rect">
            <a:avLst/>
          </a:prstGeom>
        </p:spPr>
      </p:pic>
      <p:pic>
        <p:nvPicPr>
          <p:cNvPr id="11" name="Picture 10">
            <a:extLst>
              <a:ext uri="{FF2B5EF4-FFF2-40B4-BE49-F238E27FC236}">
                <a16:creationId xmlns:a16="http://schemas.microsoft.com/office/drawing/2014/main" id="{FF10E8C5-C6A5-0659-93A3-FF9A8DE70CC7}"/>
              </a:ext>
            </a:extLst>
          </p:cNvPr>
          <p:cNvPicPr>
            <a:picLocks noChangeAspect="1"/>
          </p:cNvPicPr>
          <p:nvPr/>
        </p:nvPicPr>
        <p:blipFill>
          <a:blip r:embed="rId5"/>
          <a:stretch>
            <a:fillRect/>
          </a:stretch>
        </p:blipFill>
        <p:spPr>
          <a:xfrm>
            <a:off x="4111967" y="1198563"/>
            <a:ext cx="1779048" cy="1221260"/>
          </a:xfrm>
          <a:prstGeom prst="rect">
            <a:avLst/>
          </a:prstGeom>
        </p:spPr>
      </p:pic>
      <p:sp>
        <p:nvSpPr>
          <p:cNvPr id="12" name="TextBox 11">
            <a:extLst>
              <a:ext uri="{FF2B5EF4-FFF2-40B4-BE49-F238E27FC236}">
                <a16:creationId xmlns:a16="http://schemas.microsoft.com/office/drawing/2014/main" id="{23640C1F-6CDD-A83C-CF08-54FFF51362EA}"/>
              </a:ext>
            </a:extLst>
          </p:cNvPr>
          <p:cNvSpPr txBox="1"/>
          <p:nvPr/>
        </p:nvSpPr>
        <p:spPr>
          <a:xfrm>
            <a:off x="886692" y="5965153"/>
            <a:ext cx="4857176" cy="461665"/>
          </a:xfrm>
          <a:prstGeom prst="rect">
            <a:avLst/>
          </a:prstGeom>
          <a:noFill/>
        </p:spPr>
        <p:txBody>
          <a:bodyPr wrap="square" rtlCol="0">
            <a:spAutoFit/>
          </a:bodyPr>
          <a:lstStyle/>
          <a:p>
            <a:pPr eaLnBrk="0" fontAlgn="base" hangingPunct="0">
              <a:spcBef>
                <a:spcPct val="0"/>
              </a:spcBef>
              <a:spcAft>
                <a:spcPct val="0"/>
              </a:spcAft>
            </a:pPr>
            <a:r>
              <a:rPr lang="el-GR" sz="2400" dirty="0">
                <a:solidFill>
                  <a:srgbClr val="000000"/>
                </a:solidFill>
                <a:latin typeface="Tahoma" panose="020B0604030504040204" pitchFamily="34" charset="0"/>
              </a:rPr>
              <a:t>Περιγράφει </a:t>
            </a:r>
            <a:r>
              <a:rPr lang="el-GR" sz="2400" b="1" dirty="0">
                <a:solidFill>
                  <a:srgbClr val="FF0000"/>
                </a:solidFill>
                <a:latin typeface="Tahoma" panose="020B0604030504040204" pitchFamily="34" charset="0"/>
              </a:rPr>
              <a:t>Τι</a:t>
            </a:r>
            <a:r>
              <a:rPr lang="el-GR" sz="2400" b="1" dirty="0">
                <a:solidFill>
                  <a:srgbClr val="000000"/>
                </a:solidFill>
                <a:latin typeface="Tahoma" panose="020B0604030504040204" pitchFamily="34" charset="0"/>
              </a:rPr>
              <a:t> </a:t>
            </a:r>
            <a:r>
              <a:rPr lang="el-GR" sz="2400" dirty="0">
                <a:solidFill>
                  <a:srgbClr val="000000"/>
                </a:solidFill>
                <a:latin typeface="Tahoma" panose="020B0604030504040204" pitchFamily="34" charset="0"/>
              </a:rPr>
              <a:t>να κάνει</a:t>
            </a:r>
            <a:endParaRPr lang="en-GB" sz="2400" dirty="0">
              <a:solidFill>
                <a:srgbClr val="000000"/>
              </a:solidFill>
              <a:latin typeface="Tahoma" panose="020B0604030504040204" pitchFamily="34" charset="0"/>
            </a:endParaRPr>
          </a:p>
        </p:txBody>
      </p:sp>
      <p:sp>
        <p:nvSpPr>
          <p:cNvPr id="16" name="TextBox 15">
            <a:extLst>
              <a:ext uri="{FF2B5EF4-FFF2-40B4-BE49-F238E27FC236}">
                <a16:creationId xmlns:a16="http://schemas.microsoft.com/office/drawing/2014/main" id="{DE819EC6-A441-DB1E-4906-33FD23220490}"/>
              </a:ext>
            </a:extLst>
          </p:cNvPr>
          <p:cNvSpPr txBox="1"/>
          <p:nvPr/>
        </p:nvSpPr>
        <p:spPr>
          <a:xfrm>
            <a:off x="6321175" y="5255136"/>
            <a:ext cx="4332297" cy="461665"/>
          </a:xfrm>
          <a:prstGeom prst="rect">
            <a:avLst/>
          </a:prstGeom>
          <a:noFill/>
        </p:spPr>
        <p:txBody>
          <a:bodyPr wrap="square" rtlCol="0">
            <a:spAutoFit/>
          </a:bodyPr>
          <a:lstStyle/>
          <a:p>
            <a:pPr eaLnBrk="0" fontAlgn="base" hangingPunct="0">
              <a:spcBef>
                <a:spcPct val="0"/>
              </a:spcBef>
              <a:spcAft>
                <a:spcPct val="0"/>
              </a:spcAft>
            </a:pPr>
            <a:r>
              <a:rPr lang="el-GR" sz="2400" dirty="0">
                <a:solidFill>
                  <a:srgbClr val="000000"/>
                </a:solidFill>
                <a:latin typeface="Tahoma" panose="020B0604030504040204" pitchFamily="34" charset="0"/>
              </a:rPr>
              <a:t>Περιγράφουν </a:t>
            </a:r>
            <a:r>
              <a:rPr lang="el-GR" sz="2400" b="1" dirty="0">
                <a:solidFill>
                  <a:srgbClr val="FF0000"/>
                </a:solidFill>
                <a:latin typeface="Tahoma" panose="020B0604030504040204" pitchFamily="34" charset="0"/>
              </a:rPr>
              <a:t>Πως</a:t>
            </a:r>
            <a:r>
              <a:rPr lang="el-GR" sz="2400" b="1" dirty="0">
                <a:solidFill>
                  <a:srgbClr val="000000"/>
                </a:solidFill>
                <a:latin typeface="Tahoma" panose="020B0604030504040204" pitchFamily="34" charset="0"/>
              </a:rPr>
              <a:t> </a:t>
            </a:r>
            <a:r>
              <a:rPr lang="el-GR" sz="2400" dirty="0">
                <a:solidFill>
                  <a:srgbClr val="000000"/>
                </a:solidFill>
                <a:latin typeface="Tahoma" panose="020B0604030504040204" pitchFamily="34" charset="0"/>
              </a:rPr>
              <a:t>να το κάνει</a:t>
            </a:r>
            <a:endParaRPr lang="en-GB" sz="2400" dirty="0">
              <a:solidFill>
                <a:srgbClr val="000000"/>
              </a:solidFill>
              <a:latin typeface="Tahoma" panose="020B0604030504040204" pitchFamily="34" charset="0"/>
            </a:endParaRPr>
          </a:p>
        </p:txBody>
      </p:sp>
      <p:cxnSp>
        <p:nvCxnSpPr>
          <p:cNvPr id="17" name="Straight Arrow Connector 16">
            <a:extLst>
              <a:ext uri="{FF2B5EF4-FFF2-40B4-BE49-F238E27FC236}">
                <a16:creationId xmlns:a16="http://schemas.microsoft.com/office/drawing/2014/main" id="{E595626D-6804-0842-28EA-D13140AED9B5}"/>
              </a:ext>
            </a:extLst>
          </p:cNvPr>
          <p:cNvCxnSpPr>
            <a:cxnSpLocks/>
            <a:endCxn id="20" idx="1"/>
          </p:cNvCxnSpPr>
          <p:nvPr/>
        </p:nvCxnSpPr>
        <p:spPr bwMode="auto">
          <a:xfrm flipV="1">
            <a:off x="4882627" y="3581063"/>
            <a:ext cx="1046789" cy="811817"/>
          </a:xfrm>
          <a:prstGeom prst="straightConnector1">
            <a:avLst/>
          </a:prstGeom>
          <a:solidFill>
            <a:srgbClr val="00E4A8"/>
          </a:solidFill>
          <a:ln w="38100" cap="flat" cmpd="sng" algn="ctr">
            <a:solidFill>
              <a:srgbClr val="000000"/>
            </a:solidFill>
            <a:prstDash val="solid"/>
            <a:miter lim="800000"/>
            <a:headEnd type="none" w="med" len="med"/>
            <a:tailEnd type="triangle"/>
          </a:ln>
          <a:effectLst/>
        </p:spPr>
      </p:cxnSp>
      <p:pic>
        <p:nvPicPr>
          <p:cNvPr id="18" name="Picture 17">
            <a:extLst>
              <a:ext uri="{FF2B5EF4-FFF2-40B4-BE49-F238E27FC236}">
                <a16:creationId xmlns:a16="http://schemas.microsoft.com/office/drawing/2014/main" id="{AEF12253-B2AF-157F-B385-DAAAA6FA26F9}"/>
              </a:ext>
            </a:extLst>
          </p:cNvPr>
          <p:cNvPicPr>
            <a:picLocks noChangeAspect="1"/>
          </p:cNvPicPr>
          <p:nvPr/>
        </p:nvPicPr>
        <p:blipFill>
          <a:blip r:embed="rId8"/>
          <a:stretch>
            <a:fillRect/>
          </a:stretch>
        </p:blipFill>
        <p:spPr>
          <a:xfrm>
            <a:off x="6517994" y="4268532"/>
            <a:ext cx="1724710" cy="1084347"/>
          </a:xfrm>
          <a:prstGeom prst="rect">
            <a:avLst/>
          </a:prstGeom>
          <a:solidFill>
            <a:schemeClr val="accent1">
              <a:lumMod val="40000"/>
              <a:lumOff val="60000"/>
            </a:schemeClr>
          </a:solidFill>
        </p:spPr>
      </p:pic>
      <p:pic>
        <p:nvPicPr>
          <p:cNvPr id="19" name="Picture 18">
            <a:extLst>
              <a:ext uri="{FF2B5EF4-FFF2-40B4-BE49-F238E27FC236}">
                <a16:creationId xmlns:a16="http://schemas.microsoft.com/office/drawing/2014/main" id="{1B3D154E-AAD6-F641-9E3E-54B94C7EBDE4}"/>
              </a:ext>
            </a:extLst>
          </p:cNvPr>
          <p:cNvPicPr>
            <a:picLocks noChangeAspect="1"/>
          </p:cNvPicPr>
          <p:nvPr/>
        </p:nvPicPr>
        <p:blipFill>
          <a:blip r:embed="rId8"/>
          <a:stretch>
            <a:fillRect/>
          </a:stretch>
        </p:blipFill>
        <p:spPr>
          <a:xfrm>
            <a:off x="8103824" y="3143744"/>
            <a:ext cx="1724710" cy="1084347"/>
          </a:xfrm>
          <a:prstGeom prst="rect">
            <a:avLst/>
          </a:prstGeom>
          <a:solidFill>
            <a:schemeClr val="accent1">
              <a:lumMod val="40000"/>
              <a:lumOff val="60000"/>
            </a:schemeClr>
          </a:solidFill>
        </p:spPr>
      </p:pic>
      <p:pic>
        <p:nvPicPr>
          <p:cNvPr id="20" name="Picture 19">
            <a:extLst>
              <a:ext uri="{FF2B5EF4-FFF2-40B4-BE49-F238E27FC236}">
                <a16:creationId xmlns:a16="http://schemas.microsoft.com/office/drawing/2014/main" id="{2D67DF70-8D44-1411-1798-B5D48FD636B4}"/>
              </a:ext>
            </a:extLst>
          </p:cNvPr>
          <p:cNvPicPr>
            <a:picLocks noChangeAspect="1"/>
          </p:cNvPicPr>
          <p:nvPr/>
        </p:nvPicPr>
        <p:blipFill>
          <a:blip r:embed="rId8"/>
          <a:stretch>
            <a:fillRect/>
          </a:stretch>
        </p:blipFill>
        <p:spPr>
          <a:xfrm>
            <a:off x="5929416" y="3038889"/>
            <a:ext cx="1724710" cy="1084347"/>
          </a:xfrm>
          <a:prstGeom prst="rect">
            <a:avLst/>
          </a:prstGeom>
          <a:solidFill>
            <a:schemeClr val="accent1">
              <a:lumMod val="40000"/>
              <a:lumOff val="60000"/>
            </a:schemeClr>
          </a:solidFill>
        </p:spPr>
      </p:pic>
      <p:cxnSp>
        <p:nvCxnSpPr>
          <p:cNvPr id="21" name="Straight Arrow Connector 20">
            <a:extLst>
              <a:ext uri="{FF2B5EF4-FFF2-40B4-BE49-F238E27FC236}">
                <a16:creationId xmlns:a16="http://schemas.microsoft.com/office/drawing/2014/main" id="{EEE8B99A-7ACA-6836-E3AF-DF83EDBCEFE8}"/>
              </a:ext>
            </a:extLst>
          </p:cNvPr>
          <p:cNvCxnSpPr>
            <a:cxnSpLocks/>
          </p:cNvCxnSpPr>
          <p:nvPr/>
        </p:nvCxnSpPr>
        <p:spPr bwMode="auto">
          <a:xfrm flipV="1">
            <a:off x="4004710" y="3957348"/>
            <a:ext cx="4096197" cy="815760"/>
          </a:xfrm>
          <a:prstGeom prst="straightConnector1">
            <a:avLst/>
          </a:prstGeom>
          <a:solidFill>
            <a:srgbClr val="00E4A8"/>
          </a:solidFill>
          <a:ln w="38100" cap="flat" cmpd="sng" algn="ctr">
            <a:solidFill>
              <a:srgbClr val="000000"/>
            </a:solidFill>
            <a:prstDash val="solid"/>
            <a:miter lim="800000"/>
            <a:headEnd type="none" w="med" len="med"/>
            <a:tailEnd type="triangle"/>
          </a:ln>
          <a:effectLst/>
        </p:spPr>
      </p:cxnSp>
      <p:cxnSp>
        <p:nvCxnSpPr>
          <p:cNvPr id="22" name="Straight Arrow Connector 21">
            <a:extLst>
              <a:ext uri="{FF2B5EF4-FFF2-40B4-BE49-F238E27FC236}">
                <a16:creationId xmlns:a16="http://schemas.microsoft.com/office/drawing/2014/main" id="{8A94AA53-3A97-E25F-B309-0A841041B72E}"/>
              </a:ext>
            </a:extLst>
          </p:cNvPr>
          <p:cNvCxnSpPr>
            <a:cxnSpLocks/>
            <a:endCxn id="18" idx="1"/>
          </p:cNvCxnSpPr>
          <p:nvPr/>
        </p:nvCxnSpPr>
        <p:spPr bwMode="auto">
          <a:xfrm flipV="1">
            <a:off x="3389056" y="4810706"/>
            <a:ext cx="3128938" cy="269643"/>
          </a:xfrm>
          <a:prstGeom prst="straightConnector1">
            <a:avLst/>
          </a:prstGeom>
          <a:solidFill>
            <a:srgbClr val="00E4A8"/>
          </a:solidFill>
          <a:ln w="38100" cap="flat" cmpd="sng" algn="ctr">
            <a:solidFill>
              <a:srgbClr val="000000"/>
            </a:solidFill>
            <a:prstDash val="solid"/>
            <a:miter lim="800000"/>
            <a:headEnd type="none" w="med" len="med"/>
            <a:tailEnd type="triangle"/>
          </a:ln>
          <a:effectLst/>
        </p:spPr>
      </p:cxnSp>
      <p:sp>
        <p:nvSpPr>
          <p:cNvPr id="23" name="TextBox 22">
            <a:extLst>
              <a:ext uri="{FF2B5EF4-FFF2-40B4-BE49-F238E27FC236}">
                <a16:creationId xmlns:a16="http://schemas.microsoft.com/office/drawing/2014/main" id="{28E1D0A5-17D3-3EA5-7297-D9160AA42C5A}"/>
              </a:ext>
            </a:extLst>
          </p:cNvPr>
          <p:cNvSpPr txBox="1"/>
          <p:nvPr/>
        </p:nvSpPr>
        <p:spPr>
          <a:xfrm>
            <a:off x="5891014" y="5583731"/>
            <a:ext cx="5192621" cy="1200329"/>
          </a:xfrm>
          <a:prstGeom prst="rect">
            <a:avLst/>
          </a:prstGeom>
          <a:noFill/>
        </p:spPr>
        <p:txBody>
          <a:bodyPr wrap="square" rtlCol="0">
            <a:spAutoFit/>
          </a:bodyPr>
          <a:lstStyle/>
          <a:p>
            <a:pPr algn="ctr"/>
            <a:r>
              <a:rPr lang="el-GR" sz="2400" dirty="0"/>
              <a:t>Χρησιμοποιεί </a:t>
            </a:r>
          </a:p>
          <a:p>
            <a:pPr algn="ctr"/>
            <a:r>
              <a:rPr lang="el-GR" sz="2400" b="1" dirty="0"/>
              <a:t>Βασικές/πρωτογενείς </a:t>
            </a:r>
          </a:p>
          <a:p>
            <a:pPr algn="ctr"/>
            <a:r>
              <a:rPr lang="el-GR" sz="2400" b="1" dirty="0"/>
              <a:t>λειτουργίες</a:t>
            </a:r>
          </a:p>
        </p:txBody>
      </p:sp>
    </p:spTree>
    <p:extLst>
      <p:ext uri="{BB962C8B-B14F-4D97-AF65-F5344CB8AC3E}">
        <p14:creationId xmlns:p14="http://schemas.microsoft.com/office/powerpoint/2010/main" val="168145818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20"/>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17"/>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19"/>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22"/>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18"/>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500"/>
                                        <p:tgtEl>
                                          <p:spTgt spid="16"/>
                                        </p:tgtEl>
                                      </p:cBhvr>
                                    </p:animEffect>
                                  </p:childTnLst>
                                </p:cTn>
                              </p:par>
                              <p:par>
                                <p:cTn id="35" presetID="1" presetClass="entr" presetSubtype="0"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6" grpId="0"/>
      <p:bldP spid="2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2CD9A-CFDD-3E04-C161-B0496DDCEDEB}"/>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A1C9ECCE-2275-FF82-C188-FE1292B852FB}"/>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Ανάθεση του έργου στη Μηχανή</a:t>
            </a:r>
          </a:p>
        </p:txBody>
      </p:sp>
      <p:grpSp>
        <p:nvGrpSpPr>
          <p:cNvPr id="7" name="Group 6">
            <a:extLst>
              <a:ext uri="{FF2B5EF4-FFF2-40B4-BE49-F238E27FC236}">
                <a16:creationId xmlns:a16="http://schemas.microsoft.com/office/drawing/2014/main" id="{39609F42-43BD-84D9-D32C-CFAA8A8AD5E1}"/>
              </a:ext>
            </a:extLst>
          </p:cNvPr>
          <p:cNvGrpSpPr/>
          <p:nvPr/>
        </p:nvGrpSpPr>
        <p:grpSpPr>
          <a:xfrm>
            <a:off x="-1" y="6559908"/>
            <a:ext cx="12192001" cy="327219"/>
            <a:chOff x="-1" y="6559908"/>
            <a:chExt cx="12192001" cy="327219"/>
          </a:xfrm>
        </p:grpSpPr>
        <p:sp>
          <p:nvSpPr>
            <p:cNvPr id="9" name="Rectangle 14">
              <a:extLst>
                <a:ext uri="{FF2B5EF4-FFF2-40B4-BE49-F238E27FC236}">
                  <a16:creationId xmlns:a16="http://schemas.microsoft.com/office/drawing/2014/main" id="{C07BFFBB-27E1-1370-8D02-0428D55170BB}"/>
                </a:ext>
              </a:extLst>
            </p:cNvPr>
            <p:cNvSpPr/>
            <p:nvPr/>
          </p:nvSpPr>
          <p:spPr>
            <a:xfrm>
              <a:off x="0"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Θέση υποσέλιδου 4">
              <a:extLst>
                <a:ext uri="{FF2B5EF4-FFF2-40B4-BE49-F238E27FC236}">
                  <a16:creationId xmlns:a16="http://schemas.microsoft.com/office/drawing/2014/main" id="{C3978906-44AD-DA21-CC55-622B36C0751D}"/>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4" name="Θέση υποσέλιδου 4">
              <a:extLst>
                <a:ext uri="{FF2B5EF4-FFF2-40B4-BE49-F238E27FC236}">
                  <a16:creationId xmlns:a16="http://schemas.microsoft.com/office/drawing/2014/main" id="{8310A575-6B92-702D-59E4-ED5639DC7976}"/>
                </a:ext>
              </a:extLst>
            </p:cNvPr>
            <p:cNvSpPr txBox="1">
              <a:spLocks/>
            </p:cNvSpPr>
            <p:nvPr/>
          </p:nvSpPr>
          <p:spPr>
            <a:xfrm>
              <a:off x="3719657" y="6610127"/>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Procedural Abstraction – </a:t>
              </a:r>
              <a:r>
                <a:rPr lang="el-GR" sz="1100" dirty="0">
                  <a:solidFill>
                    <a:schemeClr val="tx1"/>
                  </a:solidFill>
                  <a:latin typeface="Bahnschrift" panose="020B0502040204020203" pitchFamily="34" charset="0"/>
                </a:rPr>
                <a:t>Λεκτική Περιγραφή</a:t>
              </a:r>
              <a:endParaRPr lang="en-US" sz="1100" dirty="0">
                <a:solidFill>
                  <a:schemeClr val="tx1"/>
                </a:solidFill>
                <a:latin typeface="Bahnschrift" panose="020B0502040204020203" pitchFamily="34" charset="0"/>
              </a:endParaRPr>
            </a:p>
            <a:p>
              <a:endParaRPr lang="el-GR" sz="1100" dirty="0">
                <a:solidFill>
                  <a:schemeClr val="tx1"/>
                </a:solidFill>
                <a:latin typeface="Bahnschrift" panose="020B0502040204020203" pitchFamily="34" charset="0"/>
              </a:endParaRPr>
            </a:p>
          </p:txBody>
        </p:sp>
        <p:sp>
          <p:nvSpPr>
            <p:cNvPr id="15" name="TextBox 14">
              <a:extLst>
                <a:ext uri="{FF2B5EF4-FFF2-40B4-BE49-F238E27FC236}">
                  <a16:creationId xmlns:a16="http://schemas.microsoft.com/office/drawing/2014/main" id="{2F4DB4D0-F802-5666-8A8D-D36D3DADA6EF}"/>
                </a:ext>
              </a:extLst>
            </p:cNvPr>
            <p:cNvSpPr txBox="1"/>
            <p:nvPr/>
          </p:nvSpPr>
          <p:spPr>
            <a:xfrm>
              <a:off x="1026906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11</a:t>
              </a:fld>
              <a:endParaRPr lang="en-US" sz="1200" dirty="0">
                <a:latin typeface="Bahnschrift Light" panose="020B0502040204020203" pitchFamily="34" charset="0"/>
                <a:cs typeface="Arial" pitchFamily="34" charset="0"/>
              </a:endParaRPr>
            </a:p>
          </p:txBody>
        </p:sp>
      </p:grpSp>
      <p:pic>
        <p:nvPicPr>
          <p:cNvPr id="3" name="Picture 2">
            <a:extLst>
              <a:ext uri="{FF2B5EF4-FFF2-40B4-BE49-F238E27FC236}">
                <a16:creationId xmlns:a16="http://schemas.microsoft.com/office/drawing/2014/main" id="{CBED2523-90EE-FD52-8654-9D7B64991C0F}"/>
              </a:ext>
            </a:extLst>
          </p:cNvPr>
          <p:cNvPicPr>
            <a:picLocks noChangeAspect="1"/>
          </p:cNvPicPr>
          <p:nvPr/>
        </p:nvPicPr>
        <p:blipFill>
          <a:blip r:embed="rId3"/>
          <a:stretch>
            <a:fillRect/>
          </a:stretch>
        </p:blipFill>
        <p:spPr>
          <a:xfrm>
            <a:off x="365834" y="1561377"/>
            <a:ext cx="5554895" cy="4195971"/>
          </a:xfrm>
          <a:prstGeom prst="rect">
            <a:avLst/>
          </a:prstGeom>
        </p:spPr>
      </p:pic>
      <p:sp>
        <p:nvSpPr>
          <p:cNvPr id="4" name="TextBox 3">
            <a:extLst>
              <a:ext uri="{FF2B5EF4-FFF2-40B4-BE49-F238E27FC236}">
                <a16:creationId xmlns:a16="http://schemas.microsoft.com/office/drawing/2014/main" id="{C3825799-F6F7-38E0-273C-B3B05ED2A813}"/>
              </a:ext>
            </a:extLst>
          </p:cNvPr>
          <p:cNvSpPr txBox="1"/>
          <p:nvPr/>
        </p:nvSpPr>
        <p:spPr>
          <a:xfrm>
            <a:off x="6891746" y="1490008"/>
            <a:ext cx="3447114" cy="1938992"/>
          </a:xfrm>
          <a:prstGeom prst="rect">
            <a:avLst/>
          </a:prstGeom>
          <a:noFill/>
        </p:spPr>
        <p:txBody>
          <a:bodyPr wrap="square" rtlCol="0">
            <a:spAutoFit/>
          </a:bodyPr>
          <a:lstStyle/>
          <a:p>
            <a:pPr eaLnBrk="0" fontAlgn="base" hangingPunct="0">
              <a:spcBef>
                <a:spcPct val="0"/>
              </a:spcBef>
              <a:spcAft>
                <a:spcPct val="0"/>
              </a:spcAft>
            </a:pPr>
            <a:r>
              <a:rPr lang="el-GR" sz="2400" dirty="0">
                <a:solidFill>
                  <a:srgbClr val="000000"/>
                </a:solidFill>
                <a:latin typeface="Tahoma" panose="020B0604030504040204" pitchFamily="34" charset="0"/>
              </a:rPr>
              <a:t>Γίνεται με βάση τις λειτουργίες/</a:t>
            </a:r>
            <a:r>
              <a:rPr lang="en-GB" sz="2400" dirty="0">
                <a:solidFill>
                  <a:srgbClr val="000000"/>
                </a:solidFill>
                <a:latin typeface="Tahoma" panose="020B0604030504040204" pitchFamily="34" charset="0"/>
              </a:rPr>
              <a:t> </a:t>
            </a:r>
            <a:r>
              <a:rPr lang="el-GR" sz="2400" dirty="0">
                <a:solidFill>
                  <a:srgbClr val="000000"/>
                </a:solidFill>
                <a:latin typeface="Tahoma" panose="020B0604030504040204" pitchFamily="34" charset="0"/>
              </a:rPr>
              <a:t>διεργασίες τις οποίες η μηχανή υποστηρίζει/μπορεί να εκτελέσει</a:t>
            </a:r>
          </a:p>
        </p:txBody>
      </p:sp>
      <p:sp>
        <p:nvSpPr>
          <p:cNvPr id="5" name="Speech Bubble: Rectangle with Corners Rounded 4">
            <a:extLst>
              <a:ext uri="{FF2B5EF4-FFF2-40B4-BE49-F238E27FC236}">
                <a16:creationId xmlns:a16="http://schemas.microsoft.com/office/drawing/2014/main" id="{DE4B432B-308C-0C76-5737-2B080CDE4A62}"/>
              </a:ext>
            </a:extLst>
          </p:cNvPr>
          <p:cNvSpPr/>
          <p:nvPr/>
        </p:nvSpPr>
        <p:spPr bwMode="auto">
          <a:xfrm>
            <a:off x="7646708" y="3562503"/>
            <a:ext cx="1937190" cy="2091079"/>
          </a:xfrm>
          <a:prstGeom prst="wedgeRoundRectCallout">
            <a:avLst>
              <a:gd name="adj1" fmla="val -34097"/>
              <a:gd name="adj2" fmla="val 47298"/>
              <a:gd name="adj3" fmla="val 16667"/>
            </a:avLst>
          </a:prstGeom>
          <a:solidFill>
            <a:schemeClr val="accent1">
              <a:lumMod val="40000"/>
              <a:lumOff val="60000"/>
            </a:schemeClr>
          </a:solidFill>
          <a:ln w="9525" cap="flat" cmpd="sng" algn="ctr">
            <a:solidFill>
              <a:srgbClr val="FFFFFF"/>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dirty="0">
              <a:ln>
                <a:noFill/>
              </a:ln>
              <a:solidFill>
                <a:srgbClr val="000000"/>
              </a:solidFill>
              <a:effectLst/>
              <a:uLnTx/>
              <a:uFillTx/>
              <a:latin typeface="Tahoma" pitchFamily="34" charset="0"/>
            </a:endParaRPr>
          </a:p>
        </p:txBody>
      </p:sp>
      <p:sp>
        <p:nvSpPr>
          <p:cNvPr id="6" name="TextBox 5">
            <a:extLst>
              <a:ext uri="{FF2B5EF4-FFF2-40B4-BE49-F238E27FC236}">
                <a16:creationId xmlns:a16="http://schemas.microsoft.com/office/drawing/2014/main" id="{200E0886-6AD9-A500-E54C-A9C20BA020ED}"/>
              </a:ext>
            </a:extLst>
          </p:cNvPr>
          <p:cNvSpPr txBox="1"/>
          <p:nvPr/>
        </p:nvSpPr>
        <p:spPr>
          <a:xfrm>
            <a:off x="4240026" y="5678692"/>
            <a:ext cx="5303440" cy="830997"/>
          </a:xfrm>
          <a:prstGeom prst="rect">
            <a:avLst/>
          </a:prstGeom>
          <a:noFill/>
        </p:spPr>
        <p:txBody>
          <a:bodyPr wrap="square" rtlCol="0">
            <a:spAutoFit/>
          </a:bodyPr>
          <a:lstStyle/>
          <a:p>
            <a:pPr eaLnBrk="0" fontAlgn="base" hangingPunct="0">
              <a:spcBef>
                <a:spcPct val="0"/>
              </a:spcBef>
              <a:spcAft>
                <a:spcPct val="0"/>
              </a:spcAft>
            </a:pPr>
            <a:r>
              <a:rPr lang="el-GR" sz="2400" b="1" dirty="0">
                <a:solidFill>
                  <a:srgbClr val="000000"/>
                </a:solidFill>
                <a:latin typeface="Tahoma" panose="020B0604030504040204" pitchFamily="34" charset="0"/>
              </a:rPr>
              <a:t>Προστακτικός Προγραμματισμός </a:t>
            </a:r>
            <a:r>
              <a:rPr lang="el-GR" sz="2400" dirty="0">
                <a:solidFill>
                  <a:srgbClr val="000000"/>
                </a:solidFill>
                <a:latin typeface="Tahoma" panose="020B0604030504040204" pitchFamily="34" charset="0"/>
              </a:rPr>
              <a:t>(</a:t>
            </a:r>
            <a:r>
              <a:rPr lang="en-GB" sz="2400" dirty="0">
                <a:solidFill>
                  <a:srgbClr val="000000"/>
                </a:solidFill>
                <a:latin typeface="Tahoma" panose="020B0604030504040204" pitchFamily="34" charset="0"/>
              </a:rPr>
              <a:t>Imperative Programming)</a:t>
            </a:r>
          </a:p>
        </p:txBody>
      </p:sp>
      <p:sp>
        <p:nvSpPr>
          <p:cNvPr id="8" name="TextBox 7">
            <a:extLst>
              <a:ext uri="{FF2B5EF4-FFF2-40B4-BE49-F238E27FC236}">
                <a16:creationId xmlns:a16="http://schemas.microsoft.com/office/drawing/2014/main" id="{66854F5B-8B9A-B474-00A8-106F7CC8AB41}"/>
              </a:ext>
            </a:extLst>
          </p:cNvPr>
          <p:cNvSpPr txBox="1"/>
          <p:nvPr/>
        </p:nvSpPr>
        <p:spPr>
          <a:xfrm>
            <a:off x="235012" y="892320"/>
            <a:ext cx="9108505" cy="523220"/>
          </a:xfrm>
          <a:prstGeom prst="rect">
            <a:avLst/>
          </a:prstGeom>
          <a:noFill/>
        </p:spPr>
        <p:txBody>
          <a:bodyPr wrap="square" rtlCol="0">
            <a:spAutoFit/>
          </a:bodyPr>
          <a:lstStyle/>
          <a:p>
            <a:pPr eaLnBrk="0" fontAlgn="base" hangingPunct="0">
              <a:spcBef>
                <a:spcPct val="0"/>
              </a:spcBef>
              <a:spcAft>
                <a:spcPct val="0"/>
              </a:spcAft>
            </a:pPr>
            <a:r>
              <a:rPr lang="el-GR" sz="2800" dirty="0">
                <a:solidFill>
                  <a:srgbClr val="000000"/>
                </a:solidFill>
                <a:latin typeface="Tahoma" panose="020B0604030504040204" pitchFamily="34" charset="0"/>
              </a:rPr>
              <a:t>Έχετε κάνει ανάθεση έργου σε μηχανή;</a:t>
            </a:r>
            <a:endParaRPr lang="en-GB" sz="2800" dirty="0">
              <a:solidFill>
                <a:srgbClr val="000000"/>
              </a:solidFill>
              <a:latin typeface="Tahoma" panose="020B0604030504040204" pitchFamily="34" charset="0"/>
            </a:endParaRPr>
          </a:p>
        </p:txBody>
      </p:sp>
    </p:spTree>
    <p:extLst>
      <p:ext uri="{BB962C8B-B14F-4D97-AF65-F5344CB8AC3E}">
        <p14:creationId xmlns:p14="http://schemas.microsoft.com/office/powerpoint/2010/main" val="368098553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92901-1724-46F2-D2CC-E4A098EBE6AC}"/>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77DFA7C5-6674-3416-3DAD-BA5E96DBC0C3}"/>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Διεργασία – Όνομα</a:t>
            </a:r>
            <a:r>
              <a:rPr lang="en-US" sz="4000" b="1" dirty="0">
                <a:solidFill>
                  <a:srgbClr val="F9853D"/>
                </a:solidFill>
                <a:latin typeface="Bahnschrift" panose="020B0502040204020203" pitchFamily="34" charset="0"/>
              </a:rPr>
              <a:t> </a:t>
            </a:r>
            <a:r>
              <a:rPr lang="el-GR" sz="4000" b="1" dirty="0">
                <a:solidFill>
                  <a:srgbClr val="F9853D"/>
                </a:solidFill>
                <a:latin typeface="Bahnschrift" panose="020B0502040204020203" pitchFamily="34" charset="0"/>
              </a:rPr>
              <a:t>και Περιγραφή </a:t>
            </a:r>
          </a:p>
        </p:txBody>
      </p:sp>
      <p:grpSp>
        <p:nvGrpSpPr>
          <p:cNvPr id="7" name="Group 6">
            <a:extLst>
              <a:ext uri="{FF2B5EF4-FFF2-40B4-BE49-F238E27FC236}">
                <a16:creationId xmlns:a16="http://schemas.microsoft.com/office/drawing/2014/main" id="{3EC0DE2D-FDBA-4DBE-B42B-C57FCB06EF2C}"/>
              </a:ext>
            </a:extLst>
          </p:cNvPr>
          <p:cNvGrpSpPr/>
          <p:nvPr/>
        </p:nvGrpSpPr>
        <p:grpSpPr>
          <a:xfrm>
            <a:off x="-1" y="6559908"/>
            <a:ext cx="12192001" cy="327219"/>
            <a:chOff x="-1" y="6559908"/>
            <a:chExt cx="12192001" cy="327219"/>
          </a:xfrm>
        </p:grpSpPr>
        <p:sp>
          <p:nvSpPr>
            <p:cNvPr id="9" name="Rectangle 14">
              <a:extLst>
                <a:ext uri="{FF2B5EF4-FFF2-40B4-BE49-F238E27FC236}">
                  <a16:creationId xmlns:a16="http://schemas.microsoft.com/office/drawing/2014/main" id="{9FFE7E8B-B52F-3994-5EFD-E0910074A2F7}"/>
                </a:ext>
              </a:extLst>
            </p:cNvPr>
            <p:cNvSpPr/>
            <p:nvPr/>
          </p:nvSpPr>
          <p:spPr>
            <a:xfrm>
              <a:off x="0"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Θέση υποσέλιδου 4">
              <a:extLst>
                <a:ext uri="{FF2B5EF4-FFF2-40B4-BE49-F238E27FC236}">
                  <a16:creationId xmlns:a16="http://schemas.microsoft.com/office/drawing/2014/main" id="{0770B915-562C-97F5-C9E7-BB030C83A084}"/>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4" name="Θέση υποσέλιδου 4">
              <a:extLst>
                <a:ext uri="{FF2B5EF4-FFF2-40B4-BE49-F238E27FC236}">
                  <a16:creationId xmlns:a16="http://schemas.microsoft.com/office/drawing/2014/main" id="{C5797532-74A9-BC13-D858-D9E1C1967992}"/>
                </a:ext>
              </a:extLst>
            </p:cNvPr>
            <p:cNvSpPr txBox="1">
              <a:spLocks/>
            </p:cNvSpPr>
            <p:nvPr/>
          </p:nvSpPr>
          <p:spPr>
            <a:xfrm>
              <a:off x="3719657" y="6610127"/>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Procedural Abstraction – </a:t>
              </a:r>
              <a:r>
                <a:rPr lang="el-GR" sz="1100" dirty="0">
                  <a:solidFill>
                    <a:schemeClr val="tx1"/>
                  </a:solidFill>
                  <a:latin typeface="Bahnschrift" panose="020B0502040204020203" pitchFamily="34" charset="0"/>
                </a:rPr>
                <a:t>Λεκτική Περιγραφή</a:t>
              </a:r>
              <a:endParaRPr lang="en-US" sz="1100" dirty="0">
                <a:solidFill>
                  <a:schemeClr val="tx1"/>
                </a:solidFill>
                <a:latin typeface="Bahnschrift" panose="020B0502040204020203" pitchFamily="34" charset="0"/>
              </a:endParaRPr>
            </a:p>
            <a:p>
              <a:endParaRPr lang="el-GR" sz="1100" dirty="0">
                <a:solidFill>
                  <a:schemeClr val="tx1"/>
                </a:solidFill>
                <a:latin typeface="Bahnschrift" panose="020B0502040204020203" pitchFamily="34" charset="0"/>
              </a:endParaRPr>
            </a:p>
          </p:txBody>
        </p:sp>
        <p:sp>
          <p:nvSpPr>
            <p:cNvPr id="15" name="TextBox 14">
              <a:extLst>
                <a:ext uri="{FF2B5EF4-FFF2-40B4-BE49-F238E27FC236}">
                  <a16:creationId xmlns:a16="http://schemas.microsoft.com/office/drawing/2014/main" id="{22BC81EF-F632-19F1-8283-7DA02AAD5BF1}"/>
                </a:ext>
              </a:extLst>
            </p:cNvPr>
            <p:cNvSpPr txBox="1"/>
            <p:nvPr/>
          </p:nvSpPr>
          <p:spPr>
            <a:xfrm>
              <a:off x="1026906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12</a:t>
              </a:fld>
              <a:endParaRPr lang="en-US" sz="1200" dirty="0">
                <a:latin typeface="Bahnschrift Light" panose="020B0502040204020203" pitchFamily="34" charset="0"/>
                <a:cs typeface="Arial" pitchFamily="34" charset="0"/>
              </a:endParaRPr>
            </a:p>
          </p:txBody>
        </p:sp>
      </p:grpSp>
      <p:grpSp>
        <p:nvGrpSpPr>
          <p:cNvPr id="3" name="Group 2">
            <a:extLst>
              <a:ext uri="{FF2B5EF4-FFF2-40B4-BE49-F238E27FC236}">
                <a16:creationId xmlns:a16="http://schemas.microsoft.com/office/drawing/2014/main" id="{15838B55-8377-7E0C-DFA2-1A647495B05E}"/>
              </a:ext>
            </a:extLst>
          </p:cNvPr>
          <p:cNvGrpSpPr/>
          <p:nvPr/>
        </p:nvGrpSpPr>
        <p:grpSpPr>
          <a:xfrm>
            <a:off x="7730458" y="1215790"/>
            <a:ext cx="2431854" cy="837017"/>
            <a:chOff x="5836940" y="5493338"/>
            <a:chExt cx="2431854" cy="837017"/>
          </a:xfrm>
          <a:solidFill>
            <a:srgbClr val="FFFF00"/>
          </a:solidFill>
        </p:grpSpPr>
        <p:sp>
          <p:nvSpPr>
            <p:cNvPr id="4" name="Speech Bubble: Rectangle with Corners Rounded 3">
              <a:extLst>
                <a:ext uri="{FF2B5EF4-FFF2-40B4-BE49-F238E27FC236}">
                  <a16:creationId xmlns:a16="http://schemas.microsoft.com/office/drawing/2014/main" id="{8DD22F92-71D2-274E-2F4C-F53978316A26}"/>
                </a:ext>
              </a:extLst>
            </p:cNvPr>
            <p:cNvSpPr/>
            <p:nvPr/>
          </p:nvSpPr>
          <p:spPr bwMode="auto">
            <a:xfrm>
              <a:off x="5836940" y="5498058"/>
              <a:ext cx="2361456" cy="832297"/>
            </a:xfrm>
            <a:prstGeom prst="wedgeRoundRectCallout">
              <a:avLst>
                <a:gd name="adj1" fmla="val -50247"/>
                <a:gd name="adj2" fmla="val 70161"/>
                <a:gd name="adj3" fmla="val 16667"/>
              </a:avLst>
            </a:prstGeom>
            <a:grp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dirty="0">
                <a:ln>
                  <a:noFill/>
                </a:ln>
                <a:solidFill>
                  <a:srgbClr val="000000"/>
                </a:solidFill>
                <a:effectLst/>
                <a:uLnTx/>
                <a:uFillTx/>
                <a:latin typeface="Tahoma" panose="020B0604030504040204" pitchFamily="34" charset="0"/>
              </a:endParaRPr>
            </a:p>
          </p:txBody>
        </p:sp>
        <p:sp>
          <p:nvSpPr>
            <p:cNvPr id="5" name="TextBox 4">
              <a:extLst>
                <a:ext uri="{FF2B5EF4-FFF2-40B4-BE49-F238E27FC236}">
                  <a16:creationId xmlns:a16="http://schemas.microsoft.com/office/drawing/2014/main" id="{D1512D63-4C36-6F20-A860-7437A2398068}"/>
                </a:ext>
              </a:extLst>
            </p:cNvPr>
            <p:cNvSpPr txBox="1"/>
            <p:nvPr/>
          </p:nvSpPr>
          <p:spPr>
            <a:xfrm>
              <a:off x="5907338" y="5493338"/>
              <a:ext cx="2361456" cy="830997"/>
            </a:xfrm>
            <a:prstGeom prst="rect">
              <a:avLst/>
            </a:prstGeom>
            <a:grpFill/>
            <a:ln>
              <a:solidFill>
                <a:schemeClr val="bg1"/>
              </a:solidFill>
            </a:ln>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anose="020B0604030504040204" pitchFamily="34" charset="0"/>
                </a:rPr>
                <a:t>Ελληνικό μέτριο</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anose="020B0604030504040204" pitchFamily="34" charset="0"/>
                </a:rPr>
                <a:t>παρακαλώ</a:t>
              </a:r>
              <a:endParaRPr kumimoji="0" lang="en-GB" sz="2400" b="0" i="0" u="none" strike="noStrike" kern="0" cap="none" spc="0" normalizeH="0" baseline="0" noProof="0" dirty="0">
                <a:ln>
                  <a:noFill/>
                </a:ln>
                <a:solidFill>
                  <a:srgbClr val="000000"/>
                </a:solidFill>
                <a:effectLst/>
                <a:uLnTx/>
                <a:uFillTx/>
                <a:latin typeface="Tahoma" panose="020B0604030504040204" pitchFamily="34" charset="0"/>
              </a:endParaRPr>
            </a:p>
          </p:txBody>
        </p:sp>
      </p:grpSp>
      <p:pic>
        <p:nvPicPr>
          <p:cNvPr id="6" name="Picture 5">
            <a:extLst>
              <a:ext uri="{FF2B5EF4-FFF2-40B4-BE49-F238E27FC236}">
                <a16:creationId xmlns:a16="http://schemas.microsoft.com/office/drawing/2014/main" id="{EEC66965-AB11-DA90-9D90-CC9BEE321B30}"/>
              </a:ext>
            </a:extLst>
          </p:cNvPr>
          <p:cNvPicPr>
            <a:picLocks noChangeAspect="1"/>
          </p:cNvPicPr>
          <p:nvPr/>
        </p:nvPicPr>
        <p:blipFill>
          <a:blip r:embed="rId3"/>
          <a:stretch>
            <a:fillRect/>
          </a:stretch>
        </p:blipFill>
        <p:spPr>
          <a:xfrm>
            <a:off x="5100213" y="2425433"/>
            <a:ext cx="2083318" cy="1417643"/>
          </a:xfrm>
          <a:prstGeom prst="rect">
            <a:avLst/>
          </a:prstGeom>
        </p:spPr>
      </p:pic>
      <p:sp>
        <p:nvSpPr>
          <p:cNvPr id="8" name="Arrow: Right 7">
            <a:extLst>
              <a:ext uri="{FF2B5EF4-FFF2-40B4-BE49-F238E27FC236}">
                <a16:creationId xmlns:a16="http://schemas.microsoft.com/office/drawing/2014/main" id="{2A86B410-E67D-0005-53E5-BAC3A74332A9}"/>
              </a:ext>
            </a:extLst>
          </p:cNvPr>
          <p:cNvSpPr/>
          <p:nvPr/>
        </p:nvSpPr>
        <p:spPr bwMode="auto">
          <a:xfrm rot="14989891">
            <a:off x="8518839" y="2674819"/>
            <a:ext cx="2655828" cy="260075"/>
          </a:xfrm>
          <a:prstGeom prst="rightArrow">
            <a:avLst/>
          </a:prstGeom>
          <a:solidFill>
            <a:srgbClr val="C00000"/>
          </a:solidFill>
          <a:ln w="9525" cap="flat" cmpd="sng" algn="ctr">
            <a:solidFill>
              <a:srgbClr val="FFFFFF"/>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ahoma" pitchFamily="34" charset="0"/>
            </a:endParaRPr>
          </a:p>
        </p:txBody>
      </p:sp>
      <p:pic>
        <p:nvPicPr>
          <p:cNvPr id="10" name="Picture 9">
            <a:extLst>
              <a:ext uri="{FF2B5EF4-FFF2-40B4-BE49-F238E27FC236}">
                <a16:creationId xmlns:a16="http://schemas.microsoft.com/office/drawing/2014/main" id="{A184CF74-2A0F-1BD9-14A2-9118B92D50AD}"/>
              </a:ext>
            </a:extLst>
          </p:cNvPr>
          <p:cNvPicPr>
            <a:picLocks noChangeAspect="1"/>
          </p:cNvPicPr>
          <p:nvPr/>
        </p:nvPicPr>
        <p:blipFill>
          <a:blip r:embed="rId4"/>
          <a:stretch>
            <a:fillRect/>
          </a:stretch>
        </p:blipFill>
        <p:spPr>
          <a:xfrm>
            <a:off x="1567621" y="1099938"/>
            <a:ext cx="1440160" cy="1941708"/>
          </a:xfrm>
          <a:prstGeom prst="rect">
            <a:avLst/>
          </a:prstGeom>
        </p:spPr>
      </p:pic>
      <p:pic>
        <p:nvPicPr>
          <p:cNvPr id="11" name="Picture 10">
            <a:extLst>
              <a:ext uri="{FF2B5EF4-FFF2-40B4-BE49-F238E27FC236}">
                <a16:creationId xmlns:a16="http://schemas.microsoft.com/office/drawing/2014/main" id="{89DAB33C-939B-EE71-B09F-9893A0652B78}"/>
              </a:ext>
            </a:extLst>
          </p:cNvPr>
          <p:cNvPicPr>
            <a:picLocks noChangeAspect="1"/>
          </p:cNvPicPr>
          <p:nvPr/>
        </p:nvPicPr>
        <p:blipFill>
          <a:blip r:embed="rId5"/>
          <a:stretch>
            <a:fillRect/>
          </a:stretch>
        </p:blipFill>
        <p:spPr>
          <a:xfrm>
            <a:off x="4951527" y="1156542"/>
            <a:ext cx="1907704" cy="1292315"/>
          </a:xfrm>
          <a:prstGeom prst="rect">
            <a:avLst/>
          </a:prstGeom>
        </p:spPr>
      </p:pic>
      <p:pic>
        <p:nvPicPr>
          <p:cNvPr id="12" name="Picture 11">
            <a:extLst>
              <a:ext uri="{FF2B5EF4-FFF2-40B4-BE49-F238E27FC236}">
                <a16:creationId xmlns:a16="http://schemas.microsoft.com/office/drawing/2014/main" id="{42FC16D1-7E39-0815-54E7-6D68FACBC539}"/>
              </a:ext>
            </a:extLst>
          </p:cNvPr>
          <p:cNvPicPr>
            <a:picLocks noChangeAspect="1"/>
          </p:cNvPicPr>
          <p:nvPr/>
        </p:nvPicPr>
        <p:blipFill>
          <a:blip r:embed="rId6"/>
          <a:stretch>
            <a:fillRect/>
          </a:stretch>
        </p:blipFill>
        <p:spPr>
          <a:xfrm>
            <a:off x="3082020" y="2626085"/>
            <a:ext cx="1913141" cy="1313311"/>
          </a:xfrm>
          <a:prstGeom prst="rect">
            <a:avLst/>
          </a:prstGeom>
        </p:spPr>
      </p:pic>
      <p:pic>
        <p:nvPicPr>
          <p:cNvPr id="16" name="Picture 15">
            <a:extLst>
              <a:ext uri="{FF2B5EF4-FFF2-40B4-BE49-F238E27FC236}">
                <a16:creationId xmlns:a16="http://schemas.microsoft.com/office/drawing/2014/main" id="{D8AFE744-FA00-B801-238D-0AFACEBA05E2}"/>
              </a:ext>
            </a:extLst>
          </p:cNvPr>
          <p:cNvPicPr>
            <a:picLocks noChangeAspect="1"/>
          </p:cNvPicPr>
          <p:nvPr/>
        </p:nvPicPr>
        <p:blipFill>
          <a:blip r:embed="rId7"/>
          <a:stretch>
            <a:fillRect/>
          </a:stretch>
        </p:blipFill>
        <p:spPr>
          <a:xfrm>
            <a:off x="3050095" y="1116351"/>
            <a:ext cx="1764541" cy="1509734"/>
          </a:xfrm>
          <a:prstGeom prst="rect">
            <a:avLst/>
          </a:prstGeom>
        </p:spPr>
      </p:pic>
      <p:sp>
        <p:nvSpPr>
          <p:cNvPr id="17" name="TextBox 16">
            <a:extLst>
              <a:ext uri="{FF2B5EF4-FFF2-40B4-BE49-F238E27FC236}">
                <a16:creationId xmlns:a16="http://schemas.microsoft.com/office/drawing/2014/main" id="{9A6348CC-3B53-5B10-145B-F0F551BE93ED}"/>
              </a:ext>
            </a:extLst>
          </p:cNvPr>
          <p:cNvSpPr txBox="1"/>
          <p:nvPr/>
        </p:nvSpPr>
        <p:spPr>
          <a:xfrm>
            <a:off x="7183531" y="3611122"/>
            <a:ext cx="3525708" cy="1569660"/>
          </a:xfrm>
          <a:prstGeom prst="rect">
            <a:avLst/>
          </a:prstGeom>
          <a:noFill/>
        </p:spPr>
        <p:txBody>
          <a:bodyPr wrap="square" rtlCol="0">
            <a:spAutoFit/>
          </a:bodyPr>
          <a:lstStyle/>
          <a:p>
            <a:pPr eaLnBrk="0" fontAlgn="base" hangingPunct="0">
              <a:spcBef>
                <a:spcPct val="0"/>
              </a:spcBef>
              <a:spcAft>
                <a:spcPct val="0"/>
              </a:spcAft>
            </a:pPr>
            <a:r>
              <a:rPr lang="el-GR" sz="2400" b="1" dirty="0">
                <a:solidFill>
                  <a:srgbClr val="000000"/>
                </a:solidFill>
                <a:latin typeface="Tahoma" panose="020B0604030504040204" pitchFamily="34" charset="0"/>
              </a:rPr>
              <a:t>Κάθε διεργασία έχει</a:t>
            </a:r>
            <a:r>
              <a:rPr lang="el-GR" sz="2400" dirty="0">
                <a:solidFill>
                  <a:srgbClr val="000000"/>
                </a:solidFill>
                <a:latin typeface="Tahoma" panose="020B0604030504040204" pitchFamily="34" charset="0"/>
              </a:rPr>
              <a:t>:</a:t>
            </a:r>
          </a:p>
          <a:p>
            <a:pPr eaLnBrk="0" fontAlgn="base" hangingPunct="0">
              <a:spcBef>
                <a:spcPct val="0"/>
              </a:spcBef>
              <a:spcAft>
                <a:spcPct val="0"/>
              </a:spcAft>
            </a:pPr>
            <a:r>
              <a:rPr lang="el-GR" sz="2400" dirty="0">
                <a:solidFill>
                  <a:srgbClr val="000000"/>
                </a:solidFill>
                <a:latin typeface="Tahoma" panose="020B0604030504040204" pitchFamily="34" charset="0"/>
              </a:rPr>
              <a:t>1. </a:t>
            </a:r>
            <a:r>
              <a:rPr lang="el-GR" sz="2400" b="1" dirty="0">
                <a:solidFill>
                  <a:srgbClr val="00B050"/>
                </a:solidFill>
                <a:latin typeface="Tahoma" panose="020B0604030504040204" pitchFamily="34" charset="0"/>
              </a:rPr>
              <a:t>Όνομα διεργασίας</a:t>
            </a:r>
          </a:p>
          <a:p>
            <a:pPr eaLnBrk="0" fontAlgn="base" hangingPunct="0">
              <a:spcBef>
                <a:spcPct val="0"/>
              </a:spcBef>
              <a:spcAft>
                <a:spcPct val="0"/>
              </a:spcAft>
            </a:pPr>
            <a:r>
              <a:rPr lang="el-GR" sz="2400" dirty="0">
                <a:solidFill>
                  <a:srgbClr val="002060"/>
                </a:solidFill>
                <a:latin typeface="Tahoma" panose="020B0604030504040204" pitchFamily="34" charset="0"/>
              </a:rPr>
              <a:t>2. Περιγραφή βημάτων εκτέλεσης της</a:t>
            </a:r>
          </a:p>
        </p:txBody>
      </p:sp>
      <p:sp>
        <p:nvSpPr>
          <p:cNvPr id="18" name="Speech Bubble: Rectangle with Corners Rounded 17">
            <a:extLst>
              <a:ext uri="{FF2B5EF4-FFF2-40B4-BE49-F238E27FC236}">
                <a16:creationId xmlns:a16="http://schemas.microsoft.com/office/drawing/2014/main" id="{B434E09A-F2CE-60F3-4445-1A55ADA3A14F}"/>
              </a:ext>
            </a:extLst>
          </p:cNvPr>
          <p:cNvSpPr/>
          <p:nvPr/>
        </p:nvSpPr>
        <p:spPr bwMode="auto">
          <a:xfrm>
            <a:off x="1569213" y="4349085"/>
            <a:ext cx="5395300" cy="2200090"/>
          </a:xfrm>
          <a:prstGeom prst="wedgeRoundRectCallout">
            <a:avLst>
              <a:gd name="adj1" fmla="val -41916"/>
              <a:gd name="adj2" fmla="val 50928"/>
              <a:gd name="adj3" fmla="val 16667"/>
            </a:avLst>
          </a:prstGeom>
          <a:solidFill>
            <a:schemeClr val="accent1">
              <a:lumMod val="40000"/>
              <a:lumOff val="60000"/>
            </a:schemeClr>
          </a:solidFill>
          <a:ln w="9525" cap="flat" cmpd="sng" algn="ctr">
            <a:solidFill>
              <a:srgbClr val="FFFFFF"/>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itchFamily="34" charset="0"/>
              </a:rPr>
              <a:t>1. Άλεσε τους κόκκους του καφέ</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itchFamily="34" charset="0"/>
              </a:rPr>
              <a:t>2. Προετοίμασε το μείγμα</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itchFamily="34" charset="0"/>
              </a:rPr>
              <a:t>3. Βράσε το μείγμα</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itchFamily="34" charset="0"/>
              </a:rPr>
              <a:t>4. Βάλε τον καφέ στο φλυτζάνι</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itchFamily="34" charset="0"/>
              </a:rPr>
              <a:t>5. Σέρβιρε τον καφέ</a:t>
            </a:r>
          </a:p>
        </p:txBody>
      </p:sp>
      <p:sp>
        <p:nvSpPr>
          <p:cNvPr id="19" name="Arrow: Right 18">
            <a:extLst>
              <a:ext uri="{FF2B5EF4-FFF2-40B4-BE49-F238E27FC236}">
                <a16:creationId xmlns:a16="http://schemas.microsoft.com/office/drawing/2014/main" id="{46EB177D-8896-9CDC-4017-90CEDDD135E4}"/>
              </a:ext>
            </a:extLst>
          </p:cNvPr>
          <p:cNvSpPr/>
          <p:nvPr/>
        </p:nvSpPr>
        <p:spPr bwMode="auto">
          <a:xfrm rot="8617925">
            <a:off x="6078754" y="5074770"/>
            <a:ext cx="1408948" cy="311719"/>
          </a:xfrm>
          <a:prstGeom prst="rightArrow">
            <a:avLst/>
          </a:prstGeom>
          <a:solidFill>
            <a:srgbClr val="C00000"/>
          </a:solidFill>
          <a:ln w="9525" cap="flat" cmpd="sng" algn="ctr">
            <a:solidFill>
              <a:srgbClr val="FFFFFF"/>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ahoma" panose="020B0604030504040204" pitchFamily="34" charset="0"/>
            </a:endParaRPr>
          </a:p>
        </p:txBody>
      </p:sp>
    </p:spTree>
    <p:extLst>
      <p:ext uri="{BB962C8B-B14F-4D97-AF65-F5344CB8AC3E}">
        <p14:creationId xmlns:p14="http://schemas.microsoft.com/office/powerpoint/2010/main" val="169860877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8"/>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9"/>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grpId="0" nodeType="after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7" grpId="0"/>
      <p:bldP spid="18" grpId="0" animBg="1"/>
      <p:bldP spid="1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B7C2A-696D-A9CD-04A8-73A50931E3C4}"/>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1E55FE00-F4B1-9F2C-459A-E07E43CFE14C}"/>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Αφαιρετικότητα στις διεργασίες </a:t>
            </a:r>
          </a:p>
        </p:txBody>
      </p:sp>
      <p:grpSp>
        <p:nvGrpSpPr>
          <p:cNvPr id="7" name="Group 6">
            <a:extLst>
              <a:ext uri="{FF2B5EF4-FFF2-40B4-BE49-F238E27FC236}">
                <a16:creationId xmlns:a16="http://schemas.microsoft.com/office/drawing/2014/main" id="{8E00ECAA-30B1-2429-F638-30A7B3D60DCC}"/>
              </a:ext>
            </a:extLst>
          </p:cNvPr>
          <p:cNvGrpSpPr/>
          <p:nvPr/>
        </p:nvGrpSpPr>
        <p:grpSpPr>
          <a:xfrm>
            <a:off x="-1" y="6559908"/>
            <a:ext cx="12192001" cy="327219"/>
            <a:chOff x="-1" y="6559908"/>
            <a:chExt cx="12192001" cy="327219"/>
          </a:xfrm>
        </p:grpSpPr>
        <p:sp>
          <p:nvSpPr>
            <p:cNvPr id="9" name="Rectangle 14">
              <a:extLst>
                <a:ext uri="{FF2B5EF4-FFF2-40B4-BE49-F238E27FC236}">
                  <a16:creationId xmlns:a16="http://schemas.microsoft.com/office/drawing/2014/main" id="{05D5DA68-8AF5-C81D-1284-E13411B74333}"/>
                </a:ext>
              </a:extLst>
            </p:cNvPr>
            <p:cNvSpPr/>
            <p:nvPr/>
          </p:nvSpPr>
          <p:spPr>
            <a:xfrm>
              <a:off x="0"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Θέση υποσέλιδου 4">
              <a:extLst>
                <a:ext uri="{FF2B5EF4-FFF2-40B4-BE49-F238E27FC236}">
                  <a16:creationId xmlns:a16="http://schemas.microsoft.com/office/drawing/2014/main" id="{DDAACCB7-FF94-7B0F-E000-D3BCE723092B}"/>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4" name="Θέση υποσέλιδου 4">
              <a:extLst>
                <a:ext uri="{FF2B5EF4-FFF2-40B4-BE49-F238E27FC236}">
                  <a16:creationId xmlns:a16="http://schemas.microsoft.com/office/drawing/2014/main" id="{7158E0ED-D110-F29E-5133-EE7AFBF2C737}"/>
                </a:ext>
              </a:extLst>
            </p:cNvPr>
            <p:cNvSpPr txBox="1">
              <a:spLocks/>
            </p:cNvSpPr>
            <p:nvPr/>
          </p:nvSpPr>
          <p:spPr>
            <a:xfrm>
              <a:off x="3719657" y="6610127"/>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Procedural Abstraction – </a:t>
              </a:r>
              <a:r>
                <a:rPr lang="el-GR" sz="1100" dirty="0">
                  <a:solidFill>
                    <a:schemeClr val="tx1"/>
                  </a:solidFill>
                  <a:latin typeface="Bahnschrift" panose="020B0502040204020203" pitchFamily="34" charset="0"/>
                </a:rPr>
                <a:t>Λεκτική Περιγραφή</a:t>
              </a:r>
              <a:endParaRPr lang="en-US" sz="1100" dirty="0">
                <a:solidFill>
                  <a:schemeClr val="tx1"/>
                </a:solidFill>
                <a:latin typeface="Bahnschrift" panose="020B0502040204020203" pitchFamily="34" charset="0"/>
              </a:endParaRPr>
            </a:p>
            <a:p>
              <a:endParaRPr lang="el-GR" sz="1100" dirty="0">
                <a:solidFill>
                  <a:schemeClr val="tx1"/>
                </a:solidFill>
                <a:latin typeface="Bahnschrift" panose="020B0502040204020203" pitchFamily="34" charset="0"/>
              </a:endParaRPr>
            </a:p>
          </p:txBody>
        </p:sp>
        <p:sp>
          <p:nvSpPr>
            <p:cNvPr id="15" name="TextBox 14">
              <a:extLst>
                <a:ext uri="{FF2B5EF4-FFF2-40B4-BE49-F238E27FC236}">
                  <a16:creationId xmlns:a16="http://schemas.microsoft.com/office/drawing/2014/main" id="{40FE7AA3-6089-8357-E5D7-D430C47FF258}"/>
                </a:ext>
              </a:extLst>
            </p:cNvPr>
            <p:cNvSpPr txBox="1"/>
            <p:nvPr/>
          </p:nvSpPr>
          <p:spPr>
            <a:xfrm>
              <a:off x="1026906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13</a:t>
              </a:fld>
              <a:endParaRPr lang="en-US" sz="1200" dirty="0">
                <a:latin typeface="Bahnschrift Light" panose="020B0502040204020203" pitchFamily="34" charset="0"/>
                <a:cs typeface="Arial" pitchFamily="34" charset="0"/>
              </a:endParaRPr>
            </a:p>
          </p:txBody>
        </p:sp>
      </p:grpSp>
      <p:sp>
        <p:nvSpPr>
          <p:cNvPr id="3" name="Speech Bubble: Rectangle with Corners Rounded 2">
            <a:extLst>
              <a:ext uri="{FF2B5EF4-FFF2-40B4-BE49-F238E27FC236}">
                <a16:creationId xmlns:a16="http://schemas.microsoft.com/office/drawing/2014/main" id="{EED50F97-DDF9-24AC-0342-BFA14F304A07}"/>
              </a:ext>
            </a:extLst>
          </p:cNvPr>
          <p:cNvSpPr/>
          <p:nvPr/>
        </p:nvSpPr>
        <p:spPr bwMode="auto">
          <a:xfrm>
            <a:off x="2704562" y="1722997"/>
            <a:ext cx="4783853" cy="2200090"/>
          </a:xfrm>
          <a:prstGeom prst="wedgeRoundRectCallout">
            <a:avLst>
              <a:gd name="adj1" fmla="val -41916"/>
              <a:gd name="adj2" fmla="val 50928"/>
              <a:gd name="adj3" fmla="val 16667"/>
            </a:avLst>
          </a:prstGeom>
          <a:solidFill>
            <a:schemeClr val="accent1">
              <a:lumMod val="40000"/>
              <a:lumOff val="60000"/>
            </a:schemeClr>
          </a:solidFill>
          <a:ln w="9525" cap="flat" cmpd="sng" algn="ctr">
            <a:solidFill>
              <a:srgbClr val="FFFFFF"/>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itchFamily="34" charset="0"/>
              </a:rPr>
              <a:t>1. Άλεσε τους κόκκους του καφέ</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itchFamily="34" charset="0"/>
              </a:rPr>
              <a:t>2. Προετοίμασε το μείγμα</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itchFamily="34" charset="0"/>
              </a:rPr>
              <a:t>3. Βράσε το μείγμα</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itchFamily="34" charset="0"/>
              </a:rPr>
              <a:t>4. Βάλε τον καφέ στο φλυτζάνι</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itchFamily="34" charset="0"/>
              </a:rPr>
              <a:t>5. Σέρβιρε τον καφέ</a:t>
            </a:r>
          </a:p>
        </p:txBody>
      </p:sp>
      <p:grpSp>
        <p:nvGrpSpPr>
          <p:cNvPr id="4" name="Group 3">
            <a:extLst>
              <a:ext uri="{FF2B5EF4-FFF2-40B4-BE49-F238E27FC236}">
                <a16:creationId xmlns:a16="http://schemas.microsoft.com/office/drawing/2014/main" id="{45EF749C-3B88-1B56-BDCC-60D2FEA85441}"/>
              </a:ext>
            </a:extLst>
          </p:cNvPr>
          <p:cNvGrpSpPr/>
          <p:nvPr/>
        </p:nvGrpSpPr>
        <p:grpSpPr>
          <a:xfrm>
            <a:off x="7514881" y="1300442"/>
            <a:ext cx="4167039" cy="2677656"/>
            <a:chOff x="5168077" y="873290"/>
            <a:chExt cx="4167039" cy="2677656"/>
          </a:xfrm>
        </p:grpSpPr>
        <p:sp>
          <p:nvSpPr>
            <p:cNvPr id="5" name="Arrow: Right 4">
              <a:extLst>
                <a:ext uri="{FF2B5EF4-FFF2-40B4-BE49-F238E27FC236}">
                  <a16:creationId xmlns:a16="http://schemas.microsoft.com/office/drawing/2014/main" id="{400C2DB0-5BD1-B642-AAD9-A9A05BD942F8}"/>
                </a:ext>
              </a:extLst>
            </p:cNvPr>
            <p:cNvSpPr/>
            <p:nvPr/>
          </p:nvSpPr>
          <p:spPr bwMode="auto">
            <a:xfrm rot="10800000">
              <a:off x="5168077" y="2149723"/>
              <a:ext cx="877535" cy="246167"/>
            </a:xfrm>
            <a:prstGeom prst="rightArrow">
              <a:avLst/>
            </a:prstGeom>
            <a:solidFill>
              <a:srgbClr val="C00000"/>
            </a:solidFill>
            <a:ln w="9525" cap="flat" cmpd="sng" algn="ctr">
              <a:solidFill>
                <a:srgbClr val="FFFFFF"/>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6" name="TextBox 5">
              <a:extLst>
                <a:ext uri="{FF2B5EF4-FFF2-40B4-BE49-F238E27FC236}">
                  <a16:creationId xmlns:a16="http://schemas.microsoft.com/office/drawing/2014/main" id="{4ED98A97-96E1-2C55-5950-23D1E34A2B7C}"/>
                </a:ext>
              </a:extLst>
            </p:cNvPr>
            <p:cNvSpPr txBox="1"/>
            <p:nvPr/>
          </p:nvSpPr>
          <p:spPr>
            <a:xfrm>
              <a:off x="6072078" y="873290"/>
              <a:ext cx="3263038" cy="2677656"/>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anose="020B0604030504040204" pitchFamily="34" charset="0"/>
                </a:rPr>
                <a:t>Ένα σύνολο από </a:t>
              </a:r>
              <a:r>
                <a:rPr kumimoji="0" lang="el-GR" sz="2400" b="1" i="0" u="none" strike="noStrike" kern="0" cap="none" spc="0" normalizeH="0" baseline="0" noProof="0" dirty="0">
                  <a:ln>
                    <a:noFill/>
                  </a:ln>
                  <a:solidFill>
                    <a:srgbClr val="000000"/>
                  </a:solidFill>
                  <a:effectLst/>
                  <a:uLnTx/>
                  <a:uFillTx/>
                  <a:latin typeface="Tahoma" panose="020B0604030504040204" pitchFamily="34" charset="0"/>
                </a:rPr>
                <a:t>Προτάσεις</a:t>
              </a:r>
              <a:r>
                <a:rPr kumimoji="0" lang="el-GR" sz="2400" b="0" i="0" u="none" strike="noStrike" kern="0" cap="none" spc="0" normalizeH="0" baseline="0" noProof="0" dirty="0">
                  <a:ln>
                    <a:noFill/>
                  </a:ln>
                  <a:solidFill>
                    <a:srgbClr val="000000"/>
                  </a:solidFill>
                  <a:effectLst/>
                  <a:uLnTx/>
                  <a:uFillTx/>
                  <a:latin typeface="Tahoma" panose="020B0604030504040204" pitchFamily="34" charset="0"/>
                </a:rPr>
                <a:t> (προσταγές) που </a:t>
              </a:r>
              <a:r>
                <a:rPr kumimoji="0" lang="el-GR" sz="2400" b="1" i="0" u="none" strike="noStrike" kern="0" cap="none" spc="0" normalizeH="0" baseline="0" noProof="0" dirty="0">
                  <a:ln>
                    <a:noFill/>
                  </a:ln>
                  <a:solidFill>
                    <a:srgbClr val="000000"/>
                  </a:solidFill>
                  <a:effectLst/>
                  <a:uLnTx/>
                  <a:uFillTx/>
                  <a:latin typeface="Tahoma" panose="020B0604030504040204" pitchFamily="34" charset="0"/>
                </a:rPr>
                <a:t>ορίζουν την σειρά εκτέλεσης </a:t>
              </a:r>
              <a:r>
                <a:rPr kumimoji="0" lang="el-GR" sz="2400" b="0" i="0" u="none" strike="noStrike" kern="0" cap="none" spc="0" normalizeH="0" baseline="0" noProof="0" dirty="0">
                  <a:ln>
                    <a:noFill/>
                  </a:ln>
                  <a:solidFill>
                    <a:srgbClr val="000000"/>
                  </a:solidFill>
                  <a:effectLst/>
                  <a:uLnTx/>
                  <a:uFillTx/>
                  <a:latin typeface="Tahoma" panose="020B0604030504040204" pitchFamily="34" charset="0"/>
                </a:rPr>
                <a:t>των επιμέρους </a:t>
              </a:r>
              <a:r>
                <a:rPr kumimoji="0" lang="el-GR" sz="2400" b="0" i="0" u="none" strike="noStrike" kern="0" cap="none" spc="0" normalizeH="0" baseline="0" noProof="0" dirty="0" err="1">
                  <a:ln>
                    <a:noFill/>
                  </a:ln>
                  <a:solidFill>
                    <a:srgbClr val="000000"/>
                  </a:solidFill>
                  <a:effectLst/>
                  <a:uLnTx/>
                  <a:uFillTx/>
                  <a:latin typeface="Tahoma" panose="020B0604030504040204" pitchFamily="34" charset="0"/>
                </a:rPr>
                <a:t>διεργασίων</a:t>
              </a:r>
              <a:r>
                <a:rPr kumimoji="0" lang="el-GR" sz="2400" b="0" i="0" u="none" strike="noStrike" kern="0" cap="none" spc="0" normalizeH="0" baseline="0" noProof="0" dirty="0">
                  <a:ln>
                    <a:noFill/>
                  </a:ln>
                  <a:solidFill>
                    <a:srgbClr val="000000"/>
                  </a:solidFill>
                  <a:effectLst/>
                  <a:uLnTx/>
                  <a:uFillTx/>
                  <a:latin typeface="Tahoma" panose="020B0604030504040204" pitchFamily="34" charset="0"/>
                </a:rPr>
                <a:t> (</a:t>
              </a:r>
              <a:r>
                <a:rPr kumimoji="0" lang="en-US" sz="2400" b="1" i="0" u="none" strike="noStrike" kern="0" cap="none" spc="0" normalizeH="0" baseline="0" noProof="0" dirty="0">
                  <a:ln>
                    <a:noFill/>
                  </a:ln>
                  <a:solidFill>
                    <a:srgbClr val="00B050"/>
                  </a:solidFill>
                  <a:effectLst/>
                  <a:uLnTx/>
                  <a:uFillTx/>
                  <a:latin typeface="Tahoma" panose="020B0604030504040204" pitchFamily="34" charset="0"/>
                </a:rPr>
                <a:t>flow of control</a:t>
              </a:r>
              <a:r>
                <a:rPr kumimoji="0" lang="en-US" sz="2400" b="0" i="0" u="none" strike="noStrike" kern="0" cap="none" spc="0" normalizeH="0" baseline="0" noProof="0" dirty="0">
                  <a:ln>
                    <a:noFill/>
                  </a:ln>
                  <a:solidFill>
                    <a:srgbClr val="000000"/>
                  </a:solidFill>
                  <a:effectLst/>
                  <a:uLnTx/>
                  <a:uFillTx/>
                  <a:latin typeface="Tahoma" panose="020B0604030504040204" pitchFamily="34" charset="0"/>
                </a:rPr>
                <a:t>)</a:t>
              </a:r>
              <a:r>
                <a:rPr kumimoji="0" lang="el-GR" sz="2400" b="0" i="0" u="none" strike="noStrike" kern="0" cap="none" spc="0" normalizeH="0" baseline="0" noProof="0" dirty="0">
                  <a:ln>
                    <a:noFill/>
                  </a:ln>
                  <a:solidFill>
                    <a:srgbClr val="000000"/>
                  </a:solidFill>
                  <a:effectLst/>
                  <a:uLnTx/>
                  <a:uFillTx/>
                  <a:latin typeface="Tahoma" panose="020B0604030504040204" pitchFamily="34" charset="0"/>
                </a:rPr>
                <a:t> </a:t>
              </a:r>
              <a:endParaRPr kumimoji="0" lang="en-GB" sz="2400" b="0" i="0" u="none" strike="noStrike" kern="0" cap="none" spc="0" normalizeH="0" baseline="0" noProof="0" dirty="0">
                <a:ln>
                  <a:noFill/>
                </a:ln>
                <a:solidFill>
                  <a:srgbClr val="000000"/>
                </a:solidFill>
                <a:effectLst/>
                <a:uLnTx/>
                <a:uFillTx/>
                <a:latin typeface="Tahoma" panose="020B0604030504040204" pitchFamily="34" charset="0"/>
              </a:endParaRPr>
            </a:p>
          </p:txBody>
        </p:sp>
      </p:grpSp>
      <p:sp>
        <p:nvSpPr>
          <p:cNvPr id="8" name="TextBox 7">
            <a:extLst>
              <a:ext uri="{FF2B5EF4-FFF2-40B4-BE49-F238E27FC236}">
                <a16:creationId xmlns:a16="http://schemas.microsoft.com/office/drawing/2014/main" id="{965B7A1D-980C-6F08-A096-7D0457260E63}"/>
              </a:ext>
            </a:extLst>
          </p:cNvPr>
          <p:cNvSpPr txBox="1"/>
          <p:nvPr/>
        </p:nvSpPr>
        <p:spPr>
          <a:xfrm>
            <a:off x="457199" y="4409137"/>
            <a:ext cx="10086109" cy="1569660"/>
          </a:xfrm>
          <a:prstGeom prst="rect">
            <a:avLst/>
          </a:prstGeom>
          <a:noFill/>
        </p:spPr>
        <p:txBody>
          <a:bodyPr wrap="square" rtlCol="0">
            <a:spAutoFit/>
          </a:bodyPr>
          <a:lstStyle/>
          <a:p>
            <a:pPr eaLnBrk="0" fontAlgn="base" hangingPunct="0">
              <a:spcBef>
                <a:spcPct val="0"/>
              </a:spcBef>
              <a:spcAft>
                <a:spcPct val="0"/>
              </a:spcAft>
            </a:pPr>
            <a:r>
              <a:rPr lang="el-GR" sz="2400" dirty="0">
                <a:solidFill>
                  <a:srgbClr val="000000"/>
                </a:solidFill>
                <a:latin typeface="Tahoma" panose="020B0604030504040204" pitchFamily="34" charset="0"/>
              </a:rPr>
              <a:t>Κάθε πρόταση είναι προσταγή η οποία με την αναφορά του ονόματος της διεργασίας περιγράφει </a:t>
            </a:r>
            <a:r>
              <a:rPr lang="el-GR" sz="2400" b="1" dirty="0">
                <a:solidFill>
                  <a:srgbClr val="000000"/>
                </a:solidFill>
                <a:latin typeface="Tahoma" panose="020B0604030504040204" pitchFamily="34" charset="0"/>
              </a:rPr>
              <a:t>τι να εκτελεστεί</a:t>
            </a:r>
            <a:r>
              <a:rPr lang="el-GR" sz="2400" dirty="0">
                <a:solidFill>
                  <a:srgbClr val="000000"/>
                </a:solidFill>
                <a:latin typeface="Tahoma" panose="020B0604030504040204" pitchFamily="34" charset="0"/>
              </a:rPr>
              <a:t> και </a:t>
            </a:r>
            <a:r>
              <a:rPr lang="el-GR" sz="2400" b="1" dirty="0">
                <a:solidFill>
                  <a:srgbClr val="FF0000"/>
                </a:solidFill>
                <a:latin typeface="Tahoma" panose="020B0604030504040204" pitchFamily="34" charset="0"/>
              </a:rPr>
              <a:t>όχι στο πως </a:t>
            </a:r>
            <a:r>
              <a:rPr lang="el-GR" sz="2400" dirty="0">
                <a:solidFill>
                  <a:srgbClr val="000000"/>
                </a:solidFill>
                <a:latin typeface="Tahoma" panose="020B0604030504040204" pitchFamily="34" charset="0"/>
              </a:rPr>
              <a:t>να εκτελεστεί. Αυτό ονομάζεται </a:t>
            </a:r>
            <a:r>
              <a:rPr lang="el-GR" sz="2400" b="1" dirty="0" err="1">
                <a:solidFill>
                  <a:srgbClr val="00B0F0"/>
                </a:solidFill>
                <a:latin typeface="Tahoma" panose="020B0604030504040204" pitchFamily="34" charset="0"/>
              </a:rPr>
              <a:t>Αφαιρετικότητα</a:t>
            </a:r>
            <a:r>
              <a:rPr lang="el-GR" sz="2400" b="1" dirty="0">
                <a:solidFill>
                  <a:srgbClr val="00B0F0"/>
                </a:solidFill>
                <a:latin typeface="Tahoma" panose="020B0604030504040204" pitchFamily="34" charset="0"/>
              </a:rPr>
              <a:t> στις διεργασίες </a:t>
            </a:r>
            <a:r>
              <a:rPr lang="el-GR" sz="2400" dirty="0">
                <a:solidFill>
                  <a:srgbClr val="000000"/>
                </a:solidFill>
                <a:latin typeface="Tahoma" panose="020B0604030504040204" pitchFamily="34" charset="0"/>
              </a:rPr>
              <a:t>(</a:t>
            </a:r>
            <a:r>
              <a:rPr lang="en-US" sz="2400" dirty="0">
                <a:solidFill>
                  <a:srgbClr val="000000"/>
                </a:solidFill>
                <a:latin typeface="Tahoma" panose="020B0604030504040204" pitchFamily="34" charset="0"/>
              </a:rPr>
              <a:t>procedural abstraction</a:t>
            </a:r>
            <a:r>
              <a:rPr lang="el-GR" sz="2400" dirty="0">
                <a:solidFill>
                  <a:srgbClr val="000000"/>
                </a:solidFill>
                <a:latin typeface="Tahoma" panose="020B0604030504040204" pitchFamily="34" charset="0"/>
              </a:rPr>
              <a:t>).</a:t>
            </a:r>
          </a:p>
        </p:txBody>
      </p:sp>
      <p:sp>
        <p:nvSpPr>
          <p:cNvPr id="11" name="Speech Bubble: Rectangle with Corners Rounded 10">
            <a:extLst>
              <a:ext uri="{FF2B5EF4-FFF2-40B4-BE49-F238E27FC236}">
                <a16:creationId xmlns:a16="http://schemas.microsoft.com/office/drawing/2014/main" id="{1D853309-51D2-B5F2-822E-C2AD8C5F0B30}"/>
              </a:ext>
            </a:extLst>
          </p:cNvPr>
          <p:cNvSpPr/>
          <p:nvPr/>
        </p:nvSpPr>
        <p:spPr bwMode="auto">
          <a:xfrm>
            <a:off x="33503" y="879203"/>
            <a:ext cx="2765017" cy="985352"/>
          </a:xfrm>
          <a:prstGeom prst="wedgeRoundRectCallout">
            <a:avLst>
              <a:gd name="adj1" fmla="val -48744"/>
              <a:gd name="adj2" fmla="val 109114"/>
              <a:gd name="adj3" fmla="val 16667"/>
            </a:avLst>
          </a:prstGeom>
          <a:solidFill>
            <a:srgbClr val="FFFF0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lvl="0" algn="ctr" fontAlgn="base">
              <a:spcBef>
                <a:spcPct val="0"/>
              </a:spcBef>
              <a:spcAft>
                <a:spcPct val="0"/>
              </a:spcAft>
              <a:defRPr/>
            </a:pPr>
            <a:r>
              <a:rPr lang="el-GR" sz="2400" kern="0">
                <a:solidFill>
                  <a:srgbClr val="000000"/>
                </a:solidFill>
                <a:latin typeface="Tahoma" panose="020B0604030504040204" pitchFamily="34" charset="0"/>
              </a:rPr>
              <a:t>Ελληνικό μέτριο</a:t>
            </a:r>
          </a:p>
          <a:p>
            <a:pPr lvl="0" algn="ctr" fontAlgn="base">
              <a:spcBef>
                <a:spcPct val="0"/>
              </a:spcBef>
              <a:spcAft>
                <a:spcPct val="0"/>
              </a:spcAft>
              <a:defRPr/>
            </a:pPr>
            <a:r>
              <a:rPr lang="el-GR" sz="2400" kern="0">
                <a:solidFill>
                  <a:srgbClr val="000000"/>
                </a:solidFill>
                <a:latin typeface="Tahoma" panose="020B0604030504040204" pitchFamily="34" charset="0"/>
              </a:rPr>
              <a:t>παρακαλώ</a:t>
            </a:r>
            <a:endParaRPr lang="en-GB" sz="2400" kern="0" dirty="0">
              <a:solidFill>
                <a:srgbClr val="000000"/>
              </a:solidFill>
              <a:latin typeface="Tahoma" panose="020B0604030504040204" pitchFamily="34" charset="0"/>
            </a:endParaRPr>
          </a:p>
        </p:txBody>
      </p:sp>
      <p:grpSp>
        <p:nvGrpSpPr>
          <p:cNvPr id="16" name="Group 15">
            <a:extLst>
              <a:ext uri="{FF2B5EF4-FFF2-40B4-BE49-F238E27FC236}">
                <a16:creationId xmlns:a16="http://schemas.microsoft.com/office/drawing/2014/main" id="{A4F72149-5D4A-D730-7920-74C22AA6B3EC}"/>
              </a:ext>
            </a:extLst>
          </p:cNvPr>
          <p:cNvGrpSpPr/>
          <p:nvPr/>
        </p:nvGrpSpPr>
        <p:grpSpPr>
          <a:xfrm>
            <a:off x="2294487" y="1580551"/>
            <a:ext cx="1695849" cy="2810710"/>
            <a:chOff x="853615" y="1222435"/>
            <a:chExt cx="1695849" cy="2810710"/>
          </a:xfrm>
        </p:grpSpPr>
        <p:sp>
          <p:nvSpPr>
            <p:cNvPr id="17" name="Arrow: Right 16">
              <a:extLst>
                <a:ext uri="{FF2B5EF4-FFF2-40B4-BE49-F238E27FC236}">
                  <a16:creationId xmlns:a16="http://schemas.microsoft.com/office/drawing/2014/main" id="{77AF1896-9ECA-0F77-5039-6BF37E188E48}"/>
                </a:ext>
              </a:extLst>
            </p:cNvPr>
            <p:cNvSpPr/>
            <p:nvPr/>
          </p:nvSpPr>
          <p:spPr bwMode="auto">
            <a:xfrm rot="19083920">
              <a:off x="1514824" y="3525009"/>
              <a:ext cx="1034640" cy="263054"/>
            </a:xfrm>
            <a:prstGeom prst="rightArrow">
              <a:avLst/>
            </a:prstGeom>
            <a:solidFill>
              <a:srgbClr val="C00000"/>
            </a:solidFill>
            <a:ln w="9525" cap="flat" cmpd="sng" algn="ctr">
              <a:solidFill>
                <a:srgbClr val="FFFFFF"/>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ahoma" pitchFamily="34" charset="0"/>
              </a:endParaRPr>
            </a:p>
          </p:txBody>
        </p:sp>
        <p:sp>
          <p:nvSpPr>
            <p:cNvPr id="18" name="Arrow: Right 17">
              <a:extLst>
                <a:ext uri="{FF2B5EF4-FFF2-40B4-BE49-F238E27FC236}">
                  <a16:creationId xmlns:a16="http://schemas.microsoft.com/office/drawing/2014/main" id="{6D165296-26FD-10B3-D598-333F4062C4D7}"/>
                </a:ext>
              </a:extLst>
            </p:cNvPr>
            <p:cNvSpPr/>
            <p:nvPr/>
          </p:nvSpPr>
          <p:spPr bwMode="auto">
            <a:xfrm rot="15596948" flipV="1">
              <a:off x="-440247" y="2516297"/>
              <a:ext cx="2810710" cy="222985"/>
            </a:xfrm>
            <a:prstGeom prst="rightArrow">
              <a:avLst/>
            </a:prstGeom>
            <a:solidFill>
              <a:srgbClr val="C00000"/>
            </a:solidFill>
            <a:ln w="9525" cap="flat" cmpd="sng" algn="ctr">
              <a:solidFill>
                <a:srgbClr val="FFFFFF"/>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ahoma" pitchFamily="34" charset="0"/>
              </a:endParaRPr>
            </a:p>
          </p:txBody>
        </p:sp>
      </p:grpSp>
    </p:spTree>
    <p:extLst>
      <p:ext uri="{BB962C8B-B14F-4D97-AF65-F5344CB8AC3E}">
        <p14:creationId xmlns:p14="http://schemas.microsoft.com/office/powerpoint/2010/main" val="270003290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par>
                          <p:cTn id="16" fill="hold">
                            <p:stCondLst>
                              <p:cond delay="500"/>
                            </p:stCondLst>
                            <p:childTnLst>
                              <p:par>
                                <p:cTn id="17" presetID="10" presetClass="entr" presetSubtype="0" fill="hold"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BC314-97D9-24EA-3F8C-353ADC5595C9}"/>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CA52C682-B38D-726B-09B0-FA5A071F14D9}"/>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Διεργασία – Σύνθετη </a:t>
            </a:r>
            <a:r>
              <a:rPr lang="en-GB" sz="4000" b="1" dirty="0">
                <a:solidFill>
                  <a:srgbClr val="F9853D"/>
                </a:solidFill>
                <a:latin typeface="Bahnschrift" panose="020B0502040204020203" pitchFamily="34" charset="0"/>
              </a:rPr>
              <a:t>vs. </a:t>
            </a:r>
            <a:r>
              <a:rPr lang="el-GR" sz="4000" b="1" dirty="0">
                <a:solidFill>
                  <a:srgbClr val="F9853D"/>
                </a:solidFill>
                <a:latin typeface="Bahnschrift" panose="020B0502040204020203" pitchFamily="34" charset="0"/>
              </a:rPr>
              <a:t>Πρωτογενής </a:t>
            </a:r>
          </a:p>
        </p:txBody>
      </p:sp>
      <p:grpSp>
        <p:nvGrpSpPr>
          <p:cNvPr id="7" name="Group 6">
            <a:extLst>
              <a:ext uri="{FF2B5EF4-FFF2-40B4-BE49-F238E27FC236}">
                <a16:creationId xmlns:a16="http://schemas.microsoft.com/office/drawing/2014/main" id="{58B0C2FF-38AF-FFB8-4974-553EF180B46A}"/>
              </a:ext>
            </a:extLst>
          </p:cNvPr>
          <p:cNvGrpSpPr/>
          <p:nvPr/>
        </p:nvGrpSpPr>
        <p:grpSpPr>
          <a:xfrm>
            <a:off x="-1" y="6559908"/>
            <a:ext cx="12192001" cy="327219"/>
            <a:chOff x="-1" y="6559908"/>
            <a:chExt cx="12192001" cy="327219"/>
          </a:xfrm>
        </p:grpSpPr>
        <p:sp>
          <p:nvSpPr>
            <p:cNvPr id="9" name="Rectangle 14">
              <a:extLst>
                <a:ext uri="{FF2B5EF4-FFF2-40B4-BE49-F238E27FC236}">
                  <a16:creationId xmlns:a16="http://schemas.microsoft.com/office/drawing/2014/main" id="{AB0FDAA7-3F13-E609-787F-97322EBFE3DD}"/>
                </a:ext>
              </a:extLst>
            </p:cNvPr>
            <p:cNvSpPr/>
            <p:nvPr/>
          </p:nvSpPr>
          <p:spPr>
            <a:xfrm>
              <a:off x="0"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Θέση υποσέλιδου 4">
              <a:extLst>
                <a:ext uri="{FF2B5EF4-FFF2-40B4-BE49-F238E27FC236}">
                  <a16:creationId xmlns:a16="http://schemas.microsoft.com/office/drawing/2014/main" id="{2F8E334F-5DD9-D004-FBAB-1F52792C808C}"/>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4" name="Θέση υποσέλιδου 4">
              <a:extLst>
                <a:ext uri="{FF2B5EF4-FFF2-40B4-BE49-F238E27FC236}">
                  <a16:creationId xmlns:a16="http://schemas.microsoft.com/office/drawing/2014/main" id="{8AA9A5DB-DA88-FC83-943F-F26D2DEBC8F0}"/>
                </a:ext>
              </a:extLst>
            </p:cNvPr>
            <p:cNvSpPr txBox="1">
              <a:spLocks/>
            </p:cNvSpPr>
            <p:nvPr/>
          </p:nvSpPr>
          <p:spPr>
            <a:xfrm>
              <a:off x="3719657" y="6610127"/>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Procedural Abstraction – </a:t>
              </a:r>
              <a:r>
                <a:rPr lang="el-GR" sz="1100" dirty="0">
                  <a:solidFill>
                    <a:schemeClr val="tx1"/>
                  </a:solidFill>
                  <a:latin typeface="Bahnschrift" panose="020B0502040204020203" pitchFamily="34" charset="0"/>
                </a:rPr>
                <a:t>Λεκτική Περιγραφή</a:t>
              </a:r>
              <a:endParaRPr lang="en-US" sz="1100" dirty="0">
                <a:solidFill>
                  <a:schemeClr val="tx1"/>
                </a:solidFill>
                <a:latin typeface="Bahnschrift" panose="020B0502040204020203" pitchFamily="34" charset="0"/>
              </a:endParaRPr>
            </a:p>
            <a:p>
              <a:endParaRPr lang="el-GR" sz="1100" dirty="0">
                <a:solidFill>
                  <a:schemeClr val="tx1"/>
                </a:solidFill>
                <a:latin typeface="Bahnschrift" panose="020B0502040204020203" pitchFamily="34" charset="0"/>
              </a:endParaRPr>
            </a:p>
          </p:txBody>
        </p:sp>
        <p:sp>
          <p:nvSpPr>
            <p:cNvPr id="15" name="TextBox 14">
              <a:extLst>
                <a:ext uri="{FF2B5EF4-FFF2-40B4-BE49-F238E27FC236}">
                  <a16:creationId xmlns:a16="http://schemas.microsoft.com/office/drawing/2014/main" id="{C0936F82-B255-241B-555D-38E15DA41983}"/>
                </a:ext>
              </a:extLst>
            </p:cNvPr>
            <p:cNvSpPr txBox="1"/>
            <p:nvPr/>
          </p:nvSpPr>
          <p:spPr>
            <a:xfrm>
              <a:off x="1026906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14</a:t>
              </a:fld>
              <a:endParaRPr lang="en-US" sz="1200" dirty="0">
                <a:latin typeface="Bahnschrift Light" panose="020B0502040204020203" pitchFamily="34" charset="0"/>
                <a:cs typeface="Arial" pitchFamily="34" charset="0"/>
              </a:endParaRPr>
            </a:p>
          </p:txBody>
        </p:sp>
      </p:grpSp>
      <p:sp>
        <p:nvSpPr>
          <p:cNvPr id="4" name="Speech Bubble: Rectangle with Corners Rounded 3">
            <a:extLst>
              <a:ext uri="{FF2B5EF4-FFF2-40B4-BE49-F238E27FC236}">
                <a16:creationId xmlns:a16="http://schemas.microsoft.com/office/drawing/2014/main" id="{EAF2D9B4-D823-E169-0B58-9E5701C30191}"/>
              </a:ext>
            </a:extLst>
          </p:cNvPr>
          <p:cNvSpPr/>
          <p:nvPr/>
        </p:nvSpPr>
        <p:spPr bwMode="auto">
          <a:xfrm>
            <a:off x="4781873" y="834912"/>
            <a:ext cx="5395300" cy="2200090"/>
          </a:xfrm>
          <a:prstGeom prst="wedgeRoundRectCallout">
            <a:avLst>
              <a:gd name="adj1" fmla="val -41916"/>
              <a:gd name="adj2" fmla="val 50928"/>
              <a:gd name="adj3" fmla="val 16667"/>
            </a:avLst>
          </a:prstGeom>
          <a:solidFill>
            <a:schemeClr val="accent1">
              <a:lumMod val="40000"/>
              <a:lumOff val="60000"/>
            </a:schemeClr>
          </a:solidFill>
          <a:ln w="9525" cap="flat" cmpd="sng" algn="ctr">
            <a:solidFill>
              <a:srgbClr val="FFFFFF"/>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itchFamily="34" charset="0"/>
              </a:rPr>
              <a:t>1. Άλεσε τους κόκκους του καφέ</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itchFamily="34" charset="0"/>
              </a:rPr>
              <a:t>2. Προετοίμασε το μείγμα</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itchFamily="34" charset="0"/>
              </a:rPr>
              <a:t>3. Βράσε το μείγμα</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itchFamily="34" charset="0"/>
              </a:rPr>
              <a:t>4. Βάλε τον καφέ στο φλυτζάνι</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itchFamily="34" charset="0"/>
              </a:rPr>
              <a:t>5. Σέρβιρε τον καφέ</a:t>
            </a:r>
          </a:p>
        </p:txBody>
      </p:sp>
      <p:sp>
        <p:nvSpPr>
          <p:cNvPr id="5" name="TextBox 4">
            <a:extLst>
              <a:ext uri="{FF2B5EF4-FFF2-40B4-BE49-F238E27FC236}">
                <a16:creationId xmlns:a16="http://schemas.microsoft.com/office/drawing/2014/main" id="{2FF6B529-FBCD-48F0-79CF-5C14193E9CAF}"/>
              </a:ext>
            </a:extLst>
          </p:cNvPr>
          <p:cNvSpPr txBox="1"/>
          <p:nvPr/>
        </p:nvSpPr>
        <p:spPr>
          <a:xfrm>
            <a:off x="318655" y="3197309"/>
            <a:ext cx="10931236" cy="830997"/>
          </a:xfrm>
          <a:prstGeom prst="rect">
            <a:avLst/>
          </a:prstGeom>
          <a:noFill/>
        </p:spPr>
        <p:txBody>
          <a:bodyPr wrap="square" rtlCol="0">
            <a:spAutoFit/>
          </a:bodyPr>
          <a:lstStyle/>
          <a:p>
            <a:pPr eaLnBrk="0" fontAlgn="base" hangingPunct="0">
              <a:spcBef>
                <a:spcPct val="0"/>
              </a:spcBef>
              <a:spcAft>
                <a:spcPct val="0"/>
              </a:spcAft>
            </a:pPr>
            <a:r>
              <a:rPr lang="el-GR" sz="2400" dirty="0">
                <a:solidFill>
                  <a:srgbClr val="000000"/>
                </a:solidFill>
                <a:latin typeface="Tahoma" panose="020B0604030504040204" pitchFamily="34" charset="0"/>
              </a:rPr>
              <a:t>Έμφαση στο </a:t>
            </a:r>
            <a:r>
              <a:rPr lang="el-GR" sz="2400" b="1" dirty="0">
                <a:solidFill>
                  <a:srgbClr val="000000"/>
                </a:solidFill>
                <a:latin typeface="Tahoma" panose="020B0604030504040204" pitchFamily="34" charset="0"/>
              </a:rPr>
              <a:t>τι να εκτελεστεί</a:t>
            </a:r>
            <a:r>
              <a:rPr lang="el-GR" sz="2400" dirty="0">
                <a:solidFill>
                  <a:srgbClr val="000000"/>
                </a:solidFill>
                <a:latin typeface="Tahoma" panose="020B0604030504040204" pitchFamily="34" charset="0"/>
              </a:rPr>
              <a:t> και </a:t>
            </a:r>
            <a:r>
              <a:rPr lang="el-GR" sz="2400" b="1" dirty="0">
                <a:solidFill>
                  <a:srgbClr val="FF0000"/>
                </a:solidFill>
                <a:latin typeface="Tahoma" panose="020B0604030504040204" pitchFamily="34" charset="0"/>
              </a:rPr>
              <a:t>όχι στο πως </a:t>
            </a:r>
            <a:r>
              <a:rPr lang="el-GR" sz="2400" dirty="0">
                <a:solidFill>
                  <a:srgbClr val="000000"/>
                </a:solidFill>
                <a:latin typeface="Tahoma" panose="020B0604030504040204" pitchFamily="34" charset="0"/>
              </a:rPr>
              <a:t>να εκτελεστεί. Αυτό ονομάζεται </a:t>
            </a:r>
            <a:r>
              <a:rPr lang="el-GR" sz="2400" b="1" dirty="0" err="1">
                <a:solidFill>
                  <a:srgbClr val="00B0F0"/>
                </a:solidFill>
                <a:latin typeface="Tahoma" panose="020B0604030504040204" pitchFamily="34" charset="0"/>
              </a:rPr>
              <a:t>Αφαιρετικότητα</a:t>
            </a:r>
            <a:r>
              <a:rPr lang="el-GR" sz="2400" b="1" dirty="0">
                <a:solidFill>
                  <a:srgbClr val="00B0F0"/>
                </a:solidFill>
                <a:latin typeface="Tahoma" panose="020B0604030504040204" pitchFamily="34" charset="0"/>
              </a:rPr>
              <a:t> στις διεργασίες </a:t>
            </a:r>
            <a:r>
              <a:rPr lang="el-GR" sz="2400" dirty="0">
                <a:solidFill>
                  <a:srgbClr val="000000"/>
                </a:solidFill>
                <a:latin typeface="Tahoma" panose="020B0604030504040204" pitchFamily="34" charset="0"/>
              </a:rPr>
              <a:t>(</a:t>
            </a:r>
            <a:r>
              <a:rPr lang="en-US" sz="2400" dirty="0">
                <a:solidFill>
                  <a:srgbClr val="000000"/>
                </a:solidFill>
                <a:latin typeface="Tahoma" panose="020B0604030504040204" pitchFamily="34" charset="0"/>
              </a:rPr>
              <a:t>procedural abstraction</a:t>
            </a:r>
            <a:r>
              <a:rPr lang="el-GR" sz="2400" dirty="0">
                <a:solidFill>
                  <a:srgbClr val="000000"/>
                </a:solidFill>
                <a:latin typeface="Tahoma" panose="020B0604030504040204" pitchFamily="34" charset="0"/>
              </a:rPr>
              <a:t>).</a:t>
            </a:r>
          </a:p>
        </p:txBody>
      </p:sp>
      <p:sp>
        <p:nvSpPr>
          <p:cNvPr id="6" name="Arrow: Right 5">
            <a:extLst>
              <a:ext uri="{FF2B5EF4-FFF2-40B4-BE49-F238E27FC236}">
                <a16:creationId xmlns:a16="http://schemas.microsoft.com/office/drawing/2014/main" id="{404D7819-4A81-9891-8828-41F26A57B1EF}"/>
              </a:ext>
            </a:extLst>
          </p:cNvPr>
          <p:cNvSpPr/>
          <p:nvPr/>
        </p:nvSpPr>
        <p:spPr bwMode="auto">
          <a:xfrm rot="19627727">
            <a:off x="3894337" y="2251962"/>
            <a:ext cx="1060651" cy="287638"/>
          </a:xfrm>
          <a:prstGeom prst="rightArrow">
            <a:avLst/>
          </a:prstGeom>
          <a:solidFill>
            <a:srgbClr val="C00000"/>
          </a:solidFill>
          <a:ln w="9525" cap="flat" cmpd="sng" algn="ctr">
            <a:solidFill>
              <a:srgbClr val="FFFFFF"/>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ahoma" pitchFamily="34" charset="0"/>
            </a:endParaRPr>
          </a:p>
        </p:txBody>
      </p:sp>
      <p:pic>
        <p:nvPicPr>
          <p:cNvPr id="8" name="Picture 7">
            <a:extLst>
              <a:ext uri="{FF2B5EF4-FFF2-40B4-BE49-F238E27FC236}">
                <a16:creationId xmlns:a16="http://schemas.microsoft.com/office/drawing/2014/main" id="{3C36F179-78FA-2B9B-BFA9-B6E558A142B2}"/>
              </a:ext>
            </a:extLst>
          </p:cNvPr>
          <p:cNvPicPr>
            <a:picLocks noChangeAspect="1"/>
          </p:cNvPicPr>
          <p:nvPr/>
        </p:nvPicPr>
        <p:blipFill>
          <a:blip r:embed="rId3"/>
          <a:stretch>
            <a:fillRect/>
          </a:stretch>
        </p:blipFill>
        <p:spPr>
          <a:xfrm>
            <a:off x="1450126" y="875559"/>
            <a:ext cx="1377801" cy="1579430"/>
          </a:xfrm>
          <a:prstGeom prst="rect">
            <a:avLst/>
          </a:prstGeom>
        </p:spPr>
      </p:pic>
      <p:sp>
        <p:nvSpPr>
          <p:cNvPr id="10" name="Speech Bubble: Rectangle with Corners Rounded 9">
            <a:extLst>
              <a:ext uri="{FF2B5EF4-FFF2-40B4-BE49-F238E27FC236}">
                <a16:creationId xmlns:a16="http://schemas.microsoft.com/office/drawing/2014/main" id="{DBDC937B-4639-04CE-E78E-460CA3EAF918}"/>
              </a:ext>
            </a:extLst>
          </p:cNvPr>
          <p:cNvSpPr/>
          <p:nvPr/>
        </p:nvSpPr>
        <p:spPr bwMode="auto">
          <a:xfrm>
            <a:off x="1416506" y="4658744"/>
            <a:ext cx="1099527" cy="1569660"/>
          </a:xfrm>
          <a:prstGeom prst="wedgeRoundRectCallout">
            <a:avLst>
              <a:gd name="adj1" fmla="val -30360"/>
              <a:gd name="adj2" fmla="val 51349"/>
              <a:gd name="adj3" fmla="val 16667"/>
            </a:avLst>
          </a:prstGeom>
          <a:solidFill>
            <a:schemeClr val="accent1">
              <a:lumMod val="40000"/>
              <a:lumOff val="60000"/>
            </a:schemeClr>
          </a:solidFill>
          <a:ln w="9525" cap="flat" cmpd="sng" algn="ctr">
            <a:solidFill>
              <a:srgbClr val="FFFFFF"/>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itchFamily="34" charset="0"/>
              </a:rPr>
              <a:t>........</a:t>
            </a:r>
          </a:p>
        </p:txBody>
      </p:sp>
      <p:pic>
        <p:nvPicPr>
          <p:cNvPr id="11" name="Picture 10">
            <a:extLst>
              <a:ext uri="{FF2B5EF4-FFF2-40B4-BE49-F238E27FC236}">
                <a16:creationId xmlns:a16="http://schemas.microsoft.com/office/drawing/2014/main" id="{4E8F03E3-83C1-83F5-7048-0DCAFD194612}"/>
              </a:ext>
            </a:extLst>
          </p:cNvPr>
          <p:cNvPicPr>
            <a:picLocks noChangeAspect="1"/>
          </p:cNvPicPr>
          <p:nvPr/>
        </p:nvPicPr>
        <p:blipFill>
          <a:blip r:embed="rId4"/>
          <a:stretch>
            <a:fillRect/>
          </a:stretch>
        </p:blipFill>
        <p:spPr>
          <a:xfrm>
            <a:off x="8714170" y="5087186"/>
            <a:ext cx="1463003" cy="1241336"/>
          </a:xfrm>
          <a:prstGeom prst="rect">
            <a:avLst/>
          </a:prstGeom>
        </p:spPr>
      </p:pic>
      <p:sp>
        <p:nvSpPr>
          <p:cNvPr id="12" name="TextBox 11">
            <a:extLst>
              <a:ext uri="{FF2B5EF4-FFF2-40B4-BE49-F238E27FC236}">
                <a16:creationId xmlns:a16="http://schemas.microsoft.com/office/drawing/2014/main" id="{10D5CA30-A96E-1369-299A-DE0C473255A9}"/>
              </a:ext>
            </a:extLst>
          </p:cNvPr>
          <p:cNvSpPr txBox="1"/>
          <p:nvPr/>
        </p:nvSpPr>
        <p:spPr>
          <a:xfrm>
            <a:off x="1298331" y="2601716"/>
            <a:ext cx="3345385" cy="461665"/>
          </a:xfrm>
          <a:prstGeom prst="rect">
            <a:avLst/>
          </a:prstGeom>
          <a:noFill/>
        </p:spPr>
        <p:txBody>
          <a:bodyPr wrap="square" rtlCol="0">
            <a:spAutoFit/>
          </a:bodyPr>
          <a:lstStyle/>
          <a:p>
            <a:pPr eaLnBrk="0" fontAlgn="base" hangingPunct="0">
              <a:spcBef>
                <a:spcPct val="0"/>
              </a:spcBef>
              <a:spcAft>
                <a:spcPct val="0"/>
              </a:spcAft>
            </a:pPr>
            <a:r>
              <a:rPr lang="el-GR" sz="2400" b="1">
                <a:solidFill>
                  <a:srgbClr val="000000"/>
                </a:solidFill>
                <a:latin typeface="Tahoma" panose="020B0604030504040204" pitchFamily="34" charset="0"/>
              </a:rPr>
              <a:t>Σύνθετες Διεργασίες</a:t>
            </a:r>
            <a:endParaRPr lang="en-GB" sz="2400" b="1">
              <a:solidFill>
                <a:srgbClr val="000000"/>
              </a:solidFill>
              <a:latin typeface="Tahoma" panose="020B0604030504040204" pitchFamily="34" charset="0"/>
            </a:endParaRPr>
          </a:p>
        </p:txBody>
      </p:sp>
      <p:sp>
        <p:nvSpPr>
          <p:cNvPr id="16" name="TextBox 15">
            <a:extLst>
              <a:ext uri="{FF2B5EF4-FFF2-40B4-BE49-F238E27FC236}">
                <a16:creationId xmlns:a16="http://schemas.microsoft.com/office/drawing/2014/main" id="{5293521D-3443-4E10-790F-534267CB2A15}"/>
              </a:ext>
            </a:extLst>
          </p:cNvPr>
          <p:cNvSpPr txBox="1"/>
          <p:nvPr/>
        </p:nvSpPr>
        <p:spPr>
          <a:xfrm>
            <a:off x="7913480" y="4106002"/>
            <a:ext cx="2355581" cy="830997"/>
          </a:xfrm>
          <a:prstGeom prst="rect">
            <a:avLst/>
          </a:prstGeom>
          <a:noFill/>
        </p:spPr>
        <p:txBody>
          <a:bodyPr wrap="square" rtlCol="0">
            <a:spAutoFit/>
          </a:bodyPr>
          <a:lstStyle/>
          <a:p>
            <a:pPr eaLnBrk="0" fontAlgn="base" hangingPunct="0">
              <a:spcBef>
                <a:spcPct val="0"/>
              </a:spcBef>
              <a:spcAft>
                <a:spcPct val="0"/>
              </a:spcAft>
            </a:pPr>
            <a:r>
              <a:rPr lang="el-GR" sz="2400" b="1">
                <a:solidFill>
                  <a:srgbClr val="000000"/>
                </a:solidFill>
                <a:latin typeface="Tahoma" panose="020B0604030504040204" pitchFamily="34" charset="0"/>
              </a:rPr>
              <a:t>Πρωτογενείς </a:t>
            </a:r>
          </a:p>
          <a:p>
            <a:pPr eaLnBrk="0" fontAlgn="base" hangingPunct="0">
              <a:spcBef>
                <a:spcPct val="0"/>
              </a:spcBef>
              <a:spcAft>
                <a:spcPct val="0"/>
              </a:spcAft>
            </a:pPr>
            <a:r>
              <a:rPr lang="el-GR" sz="2400" b="1" dirty="0">
                <a:solidFill>
                  <a:srgbClr val="000000"/>
                </a:solidFill>
                <a:latin typeface="Tahoma" panose="020B0604030504040204" pitchFamily="34" charset="0"/>
              </a:rPr>
              <a:t>Διεργασίες</a:t>
            </a:r>
            <a:endParaRPr lang="en-GB" sz="2400" b="1">
              <a:solidFill>
                <a:srgbClr val="000000"/>
              </a:solidFill>
              <a:latin typeface="Tahoma" panose="020B0604030504040204" pitchFamily="34" charset="0"/>
            </a:endParaRPr>
          </a:p>
        </p:txBody>
      </p:sp>
      <p:sp>
        <p:nvSpPr>
          <p:cNvPr id="17" name="Speech Bubble: Rectangle with Corners Rounded 16">
            <a:extLst>
              <a:ext uri="{FF2B5EF4-FFF2-40B4-BE49-F238E27FC236}">
                <a16:creationId xmlns:a16="http://schemas.microsoft.com/office/drawing/2014/main" id="{41666D16-6C32-B224-A0E7-A363969E8810}"/>
              </a:ext>
            </a:extLst>
          </p:cNvPr>
          <p:cNvSpPr/>
          <p:nvPr/>
        </p:nvSpPr>
        <p:spPr bwMode="auto">
          <a:xfrm>
            <a:off x="2800543" y="4647815"/>
            <a:ext cx="1099527" cy="1569660"/>
          </a:xfrm>
          <a:prstGeom prst="wedgeRoundRectCallout">
            <a:avLst>
              <a:gd name="adj1" fmla="val -30360"/>
              <a:gd name="adj2" fmla="val 51349"/>
              <a:gd name="adj3" fmla="val 16667"/>
            </a:avLst>
          </a:prstGeom>
          <a:solidFill>
            <a:schemeClr val="accent1">
              <a:lumMod val="40000"/>
              <a:lumOff val="60000"/>
            </a:schemeClr>
          </a:solidFill>
          <a:ln w="9525" cap="flat" cmpd="sng" algn="ctr">
            <a:solidFill>
              <a:srgbClr val="FFFFFF"/>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itchFamily="34" charset="0"/>
              </a:rPr>
              <a:t>........</a:t>
            </a:r>
          </a:p>
        </p:txBody>
      </p:sp>
      <p:sp>
        <p:nvSpPr>
          <p:cNvPr id="18" name="Speech Bubble: Rectangle with Corners Rounded 17">
            <a:extLst>
              <a:ext uri="{FF2B5EF4-FFF2-40B4-BE49-F238E27FC236}">
                <a16:creationId xmlns:a16="http://schemas.microsoft.com/office/drawing/2014/main" id="{B6A199CA-D985-B92E-AA60-741DED2CEE98}"/>
              </a:ext>
            </a:extLst>
          </p:cNvPr>
          <p:cNvSpPr/>
          <p:nvPr/>
        </p:nvSpPr>
        <p:spPr bwMode="auto">
          <a:xfrm>
            <a:off x="4255633" y="4647815"/>
            <a:ext cx="1099527" cy="1569660"/>
          </a:xfrm>
          <a:prstGeom prst="wedgeRoundRectCallout">
            <a:avLst>
              <a:gd name="adj1" fmla="val -30360"/>
              <a:gd name="adj2" fmla="val 51349"/>
              <a:gd name="adj3" fmla="val 16667"/>
            </a:avLst>
          </a:prstGeom>
          <a:solidFill>
            <a:schemeClr val="accent1">
              <a:lumMod val="40000"/>
              <a:lumOff val="60000"/>
            </a:schemeClr>
          </a:solidFill>
          <a:ln w="9525" cap="flat" cmpd="sng" algn="ctr">
            <a:solidFill>
              <a:srgbClr val="FFFFFF"/>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itchFamily="34" charset="0"/>
              </a:rPr>
              <a:t>........</a:t>
            </a:r>
          </a:p>
        </p:txBody>
      </p:sp>
      <p:sp>
        <p:nvSpPr>
          <p:cNvPr id="19" name="Speech Bubble: Rectangle with Corners Rounded 18">
            <a:extLst>
              <a:ext uri="{FF2B5EF4-FFF2-40B4-BE49-F238E27FC236}">
                <a16:creationId xmlns:a16="http://schemas.microsoft.com/office/drawing/2014/main" id="{647FF4D2-FD07-8511-F951-4401986779F8}"/>
              </a:ext>
            </a:extLst>
          </p:cNvPr>
          <p:cNvSpPr/>
          <p:nvPr/>
        </p:nvSpPr>
        <p:spPr bwMode="auto">
          <a:xfrm>
            <a:off x="5657910" y="4835182"/>
            <a:ext cx="1099527" cy="1569660"/>
          </a:xfrm>
          <a:prstGeom prst="wedgeRoundRectCallout">
            <a:avLst>
              <a:gd name="adj1" fmla="val -30360"/>
              <a:gd name="adj2" fmla="val 51349"/>
              <a:gd name="adj3" fmla="val 16667"/>
            </a:avLst>
          </a:prstGeom>
          <a:solidFill>
            <a:schemeClr val="accent1">
              <a:lumMod val="40000"/>
              <a:lumOff val="60000"/>
            </a:schemeClr>
          </a:solidFill>
          <a:ln w="9525" cap="flat" cmpd="sng" algn="ctr">
            <a:solidFill>
              <a:srgbClr val="FFFFFF"/>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itchFamily="34" charset="0"/>
              </a:rPr>
              <a:t>........</a:t>
            </a:r>
          </a:p>
        </p:txBody>
      </p:sp>
      <p:sp>
        <p:nvSpPr>
          <p:cNvPr id="20" name="Arrow: Right 19">
            <a:extLst>
              <a:ext uri="{FF2B5EF4-FFF2-40B4-BE49-F238E27FC236}">
                <a16:creationId xmlns:a16="http://schemas.microsoft.com/office/drawing/2014/main" id="{8B8C9583-6482-CEB8-CC3D-18F313684107}"/>
              </a:ext>
            </a:extLst>
          </p:cNvPr>
          <p:cNvSpPr/>
          <p:nvPr/>
        </p:nvSpPr>
        <p:spPr bwMode="auto">
          <a:xfrm rot="7141961" flipV="1">
            <a:off x="2673618" y="3029668"/>
            <a:ext cx="3348845" cy="175304"/>
          </a:xfrm>
          <a:prstGeom prst="rightArrow">
            <a:avLst/>
          </a:prstGeom>
          <a:solidFill>
            <a:srgbClr val="00E4A8"/>
          </a:solidFill>
          <a:ln w="9525" cap="flat" cmpd="sng" algn="ctr">
            <a:solidFill>
              <a:srgbClr val="FFFFFF"/>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1" name="Arrow: Right 20">
            <a:extLst>
              <a:ext uri="{FF2B5EF4-FFF2-40B4-BE49-F238E27FC236}">
                <a16:creationId xmlns:a16="http://schemas.microsoft.com/office/drawing/2014/main" id="{7D68D25A-DE87-2D5B-426B-BA5C6F602E6E}"/>
              </a:ext>
            </a:extLst>
          </p:cNvPr>
          <p:cNvSpPr/>
          <p:nvPr/>
        </p:nvSpPr>
        <p:spPr bwMode="auto">
          <a:xfrm rot="6475062" flipV="1">
            <a:off x="3515098" y="3236041"/>
            <a:ext cx="2799659" cy="146854"/>
          </a:xfrm>
          <a:prstGeom prst="rightArrow">
            <a:avLst/>
          </a:prstGeom>
          <a:solidFill>
            <a:srgbClr val="00E4A8"/>
          </a:solidFill>
          <a:ln w="9525" cap="flat" cmpd="sng" algn="ctr">
            <a:solidFill>
              <a:srgbClr val="FFFFFF"/>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3" name="Arrow: Right 2">
            <a:extLst>
              <a:ext uri="{FF2B5EF4-FFF2-40B4-BE49-F238E27FC236}">
                <a16:creationId xmlns:a16="http://schemas.microsoft.com/office/drawing/2014/main" id="{0425F10B-1682-F18A-310C-BB9ED25E1BEB}"/>
              </a:ext>
            </a:extLst>
          </p:cNvPr>
          <p:cNvSpPr/>
          <p:nvPr/>
        </p:nvSpPr>
        <p:spPr bwMode="auto">
          <a:xfrm rot="7942700" flipV="1">
            <a:off x="1322549" y="2759238"/>
            <a:ext cx="4460587" cy="180814"/>
          </a:xfrm>
          <a:prstGeom prst="rightArrow">
            <a:avLst/>
          </a:prstGeom>
          <a:solidFill>
            <a:srgbClr val="00E4A8"/>
          </a:solidFill>
          <a:ln w="9525" cap="flat" cmpd="sng" algn="ctr">
            <a:solidFill>
              <a:srgbClr val="FFFFFF"/>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ahoma" pitchFamily="34" charset="0"/>
            </a:endParaRPr>
          </a:p>
        </p:txBody>
      </p:sp>
    </p:spTree>
    <p:extLst>
      <p:ext uri="{BB962C8B-B14F-4D97-AF65-F5344CB8AC3E}">
        <p14:creationId xmlns:p14="http://schemas.microsoft.com/office/powerpoint/2010/main" val="91102715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par>
                          <p:cTn id="15" fill="hold">
                            <p:stCondLst>
                              <p:cond delay="0"/>
                            </p:stCondLst>
                            <p:childTnLst>
                              <p:par>
                                <p:cTn id="16" presetID="10" presetClass="entr" presetSubtype="0"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par>
                          <p:cTn id="23" fill="hold">
                            <p:stCondLst>
                              <p:cond delay="0"/>
                            </p:stCondLst>
                            <p:childTnLst>
                              <p:par>
                                <p:cTn id="24" presetID="10" presetClass="entr" presetSubtype="0" fill="hold" grpId="0" nodeType="after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500"/>
                                        <p:tgtEl>
                                          <p:spTgt spid="20"/>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500"/>
                                        <p:tgtEl>
                                          <p:spTgt spid="21"/>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6" grpId="0"/>
      <p:bldP spid="17" grpId="0" animBg="1"/>
      <p:bldP spid="18" grpId="0" animBg="1"/>
      <p:bldP spid="19" grpId="0" animBg="1"/>
      <p:bldP spid="20" grpId="0" animBg="1"/>
      <p:bldP spid="21" grpId="0" animBg="1"/>
      <p:bldP spid="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3E49D-291B-2411-3A13-8A41114E1FE9}"/>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C5456BCE-0946-DACB-ABE7-8A465C2244C6}"/>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Σενάρια από την καθημερινότητα</a:t>
            </a:r>
          </a:p>
        </p:txBody>
      </p:sp>
      <p:grpSp>
        <p:nvGrpSpPr>
          <p:cNvPr id="7" name="Group 6">
            <a:extLst>
              <a:ext uri="{FF2B5EF4-FFF2-40B4-BE49-F238E27FC236}">
                <a16:creationId xmlns:a16="http://schemas.microsoft.com/office/drawing/2014/main" id="{8F8D4B01-FDA3-BDD5-99EB-D6D84FBDC404}"/>
              </a:ext>
            </a:extLst>
          </p:cNvPr>
          <p:cNvGrpSpPr/>
          <p:nvPr/>
        </p:nvGrpSpPr>
        <p:grpSpPr>
          <a:xfrm>
            <a:off x="-1" y="6559908"/>
            <a:ext cx="12192001" cy="327219"/>
            <a:chOff x="-1" y="6559908"/>
            <a:chExt cx="12192001" cy="327219"/>
          </a:xfrm>
        </p:grpSpPr>
        <p:sp>
          <p:nvSpPr>
            <p:cNvPr id="9" name="Rectangle 14">
              <a:extLst>
                <a:ext uri="{FF2B5EF4-FFF2-40B4-BE49-F238E27FC236}">
                  <a16:creationId xmlns:a16="http://schemas.microsoft.com/office/drawing/2014/main" id="{9BD0F24E-6831-4061-1827-4D1CD62029F9}"/>
                </a:ext>
              </a:extLst>
            </p:cNvPr>
            <p:cNvSpPr/>
            <p:nvPr/>
          </p:nvSpPr>
          <p:spPr>
            <a:xfrm>
              <a:off x="0"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Θέση υποσέλιδου 4">
              <a:extLst>
                <a:ext uri="{FF2B5EF4-FFF2-40B4-BE49-F238E27FC236}">
                  <a16:creationId xmlns:a16="http://schemas.microsoft.com/office/drawing/2014/main" id="{6F8FFEE3-51EE-1D53-CC70-B014FAA3DCD9}"/>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4" name="Θέση υποσέλιδου 4">
              <a:extLst>
                <a:ext uri="{FF2B5EF4-FFF2-40B4-BE49-F238E27FC236}">
                  <a16:creationId xmlns:a16="http://schemas.microsoft.com/office/drawing/2014/main" id="{52802477-03C9-A312-2938-097A66F76088}"/>
                </a:ext>
              </a:extLst>
            </p:cNvPr>
            <p:cNvSpPr txBox="1">
              <a:spLocks/>
            </p:cNvSpPr>
            <p:nvPr/>
          </p:nvSpPr>
          <p:spPr>
            <a:xfrm>
              <a:off x="3719657" y="6610127"/>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Procedural Abstraction – </a:t>
              </a:r>
              <a:r>
                <a:rPr lang="el-GR" sz="1100" dirty="0">
                  <a:solidFill>
                    <a:schemeClr val="tx1"/>
                  </a:solidFill>
                  <a:latin typeface="Bahnschrift" panose="020B0502040204020203" pitchFamily="34" charset="0"/>
                </a:rPr>
                <a:t>Λεκτική Περιγραφή</a:t>
              </a:r>
              <a:endParaRPr lang="en-US" sz="1100" dirty="0">
                <a:solidFill>
                  <a:schemeClr val="tx1"/>
                </a:solidFill>
                <a:latin typeface="Bahnschrift" panose="020B0502040204020203" pitchFamily="34" charset="0"/>
              </a:endParaRPr>
            </a:p>
            <a:p>
              <a:endParaRPr lang="el-GR" sz="1100" dirty="0">
                <a:solidFill>
                  <a:schemeClr val="tx1"/>
                </a:solidFill>
                <a:latin typeface="Bahnschrift" panose="020B0502040204020203" pitchFamily="34" charset="0"/>
              </a:endParaRPr>
            </a:p>
          </p:txBody>
        </p:sp>
        <p:sp>
          <p:nvSpPr>
            <p:cNvPr id="15" name="TextBox 14">
              <a:extLst>
                <a:ext uri="{FF2B5EF4-FFF2-40B4-BE49-F238E27FC236}">
                  <a16:creationId xmlns:a16="http://schemas.microsoft.com/office/drawing/2014/main" id="{3D53DD9E-EE48-5040-E344-8E8B2610DD43}"/>
                </a:ext>
              </a:extLst>
            </p:cNvPr>
            <p:cNvSpPr txBox="1"/>
            <p:nvPr/>
          </p:nvSpPr>
          <p:spPr>
            <a:xfrm>
              <a:off x="1026906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15</a:t>
              </a:fld>
              <a:endParaRPr lang="en-US" sz="1200" dirty="0">
                <a:latin typeface="Bahnschrift Light" panose="020B0502040204020203" pitchFamily="34" charset="0"/>
                <a:cs typeface="Arial" pitchFamily="34" charset="0"/>
              </a:endParaRPr>
            </a:p>
          </p:txBody>
        </p:sp>
      </p:grpSp>
      <p:pic>
        <p:nvPicPr>
          <p:cNvPr id="3" name="Picture 2">
            <a:extLst>
              <a:ext uri="{FF2B5EF4-FFF2-40B4-BE49-F238E27FC236}">
                <a16:creationId xmlns:a16="http://schemas.microsoft.com/office/drawing/2014/main" id="{8B8B273B-80BE-41AE-915A-58D733193184}"/>
              </a:ext>
            </a:extLst>
          </p:cNvPr>
          <p:cNvPicPr>
            <a:picLocks noChangeAspect="1"/>
          </p:cNvPicPr>
          <p:nvPr/>
        </p:nvPicPr>
        <p:blipFill>
          <a:blip r:embed="rId3"/>
          <a:stretch>
            <a:fillRect/>
          </a:stretch>
        </p:blipFill>
        <p:spPr>
          <a:xfrm>
            <a:off x="9203193" y="27323"/>
            <a:ext cx="2952328" cy="2952328"/>
          </a:xfrm>
          <a:prstGeom prst="rect">
            <a:avLst/>
          </a:prstGeom>
        </p:spPr>
      </p:pic>
      <p:sp>
        <p:nvSpPr>
          <p:cNvPr id="4" name="Content Placeholder 1">
            <a:extLst>
              <a:ext uri="{FF2B5EF4-FFF2-40B4-BE49-F238E27FC236}">
                <a16:creationId xmlns:a16="http://schemas.microsoft.com/office/drawing/2014/main" id="{E4D8FAF8-04CA-5F2E-6271-382AC0E1EAB6}"/>
              </a:ext>
            </a:extLst>
          </p:cNvPr>
          <p:cNvSpPr txBox="1">
            <a:spLocks/>
          </p:cNvSpPr>
          <p:nvPr/>
        </p:nvSpPr>
        <p:spPr bwMode="auto">
          <a:xfrm>
            <a:off x="249382" y="1038633"/>
            <a:ext cx="6156176" cy="1202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Char char="n"/>
              <a:tabLst/>
              <a:defRPr/>
            </a:pPr>
            <a:r>
              <a:rPr kumimoji="0" lang="el-GR" sz="2800" b="1" i="0" u="none" strike="noStrike" kern="0" cap="none" spc="0" normalizeH="0" baseline="0" noProof="0" dirty="0">
                <a:ln>
                  <a:noFill/>
                </a:ln>
                <a:solidFill>
                  <a:srgbClr val="4D5156"/>
                </a:solidFill>
                <a:effectLst/>
                <a:uLnTx/>
                <a:uFillTx/>
                <a:latin typeface="Arial" panose="020B0604020202020204" pitchFamily="34" charset="0"/>
                <a:ea typeface="+mn-ea"/>
                <a:cs typeface="+mn-cs"/>
              </a:rPr>
              <a:t>Εκτέλεση Συνταγής</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anose="05000000000000000000" pitchFamily="2" charset="2"/>
              <a:buChar char="n"/>
              <a:tabLst/>
              <a:defRPr/>
            </a:pPr>
            <a:r>
              <a:rPr kumimoji="0" lang="el-GR" sz="2400" b="0" i="0" u="none" strike="noStrike" kern="0" cap="none" spc="0" normalizeH="0" baseline="0" noProof="0" dirty="0">
                <a:ln>
                  <a:noFill/>
                </a:ln>
                <a:solidFill>
                  <a:srgbClr val="4D5156"/>
                </a:solidFill>
                <a:effectLst/>
                <a:uLnTx/>
                <a:uFillTx/>
                <a:latin typeface="Arial" panose="020B0604020202020204" pitchFamily="34" charset="0"/>
              </a:rPr>
              <a:t>Ένα σύνολο από αυστηρά  προκαθορισμένες ενέργειες από τον ΕΟΠΠΥ </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anose="05000000000000000000" pitchFamily="2" charset="2"/>
              <a:buChar char="n"/>
              <a:tabLst/>
              <a:defRPr/>
            </a:pPr>
            <a:endParaRPr kumimoji="0" lang="en-GB" sz="2400" b="0" i="0" u="none" strike="noStrike" kern="0" cap="none" spc="0" normalizeH="0" baseline="0" noProof="0" dirty="0">
              <a:ln>
                <a:noFill/>
              </a:ln>
              <a:solidFill>
                <a:srgbClr val="000000"/>
              </a:solidFill>
              <a:effectLst/>
              <a:uLnTx/>
              <a:uFillTx/>
              <a:latin typeface="Tahoma"/>
            </a:endParaRPr>
          </a:p>
        </p:txBody>
      </p:sp>
      <p:sp>
        <p:nvSpPr>
          <p:cNvPr id="5" name="Speech Bubble: Rectangle with Corners Rounded 4">
            <a:extLst>
              <a:ext uri="{FF2B5EF4-FFF2-40B4-BE49-F238E27FC236}">
                <a16:creationId xmlns:a16="http://schemas.microsoft.com/office/drawing/2014/main" id="{71DD7460-AE59-CFD1-8092-4D7B96F0A808}"/>
              </a:ext>
            </a:extLst>
          </p:cNvPr>
          <p:cNvSpPr/>
          <p:nvPr/>
        </p:nvSpPr>
        <p:spPr bwMode="auto">
          <a:xfrm>
            <a:off x="997527" y="3041951"/>
            <a:ext cx="8964488" cy="3449938"/>
          </a:xfrm>
          <a:prstGeom prst="wedgeRoundRectCallout">
            <a:avLst>
              <a:gd name="adj1" fmla="val -41916"/>
              <a:gd name="adj2" fmla="val 50928"/>
              <a:gd name="adj3" fmla="val 16667"/>
            </a:avLst>
          </a:prstGeom>
          <a:solidFill>
            <a:schemeClr val="accent1">
              <a:lumMod val="40000"/>
              <a:lumOff val="60000"/>
            </a:schemeClr>
          </a:solidFill>
          <a:ln w="9525" cap="flat" cmpd="sng" algn="ctr">
            <a:solidFill>
              <a:srgbClr val="FFFFFF"/>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457200" marR="0" lvl="0" indent="-457200" defTabSz="914400" eaLnBrk="1" fontAlgn="base" latinLnBrk="0" hangingPunct="1">
              <a:lnSpc>
                <a:spcPct val="100000"/>
              </a:lnSpc>
              <a:spcBef>
                <a:spcPct val="0"/>
              </a:spcBef>
              <a:spcAft>
                <a:spcPct val="0"/>
              </a:spcAft>
              <a:buClrTx/>
              <a:buSzTx/>
              <a:buFontTx/>
              <a:buAutoNum type="arabicPeriod"/>
              <a:tabLst/>
              <a:defRPr/>
            </a:pPr>
            <a:r>
              <a:rPr kumimoji="0" lang="el-GR" sz="2400" b="0" i="0" u="none" strike="noStrike" kern="0" cap="none" spc="0" normalizeH="0" baseline="0" noProof="0" dirty="0">
                <a:ln>
                  <a:noFill/>
                </a:ln>
                <a:solidFill>
                  <a:srgbClr val="000000"/>
                </a:solidFill>
                <a:effectLst/>
                <a:uLnTx/>
                <a:uFillTx/>
                <a:latin typeface="Tahoma" pitchFamily="34" charset="0"/>
              </a:rPr>
              <a:t>Έλεγξε το γνήσιο της συνταγής</a:t>
            </a:r>
          </a:p>
          <a:p>
            <a:pPr marL="457200" marR="0" lvl="0" indent="-457200" defTabSz="914400" eaLnBrk="1" fontAlgn="base" latinLnBrk="0" hangingPunct="1">
              <a:lnSpc>
                <a:spcPct val="100000"/>
              </a:lnSpc>
              <a:spcBef>
                <a:spcPct val="0"/>
              </a:spcBef>
              <a:spcAft>
                <a:spcPct val="0"/>
              </a:spcAft>
              <a:buClrTx/>
              <a:buSzTx/>
              <a:buFontTx/>
              <a:buAutoNum type="arabicPeriod"/>
              <a:tabLst/>
              <a:defRPr/>
            </a:pPr>
            <a:r>
              <a:rPr kumimoji="0" lang="el-GR" sz="2400" b="0" i="0" u="none" strike="noStrike" kern="0" cap="none" spc="0" normalizeH="0" baseline="0" noProof="0" dirty="0">
                <a:ln>
                  <a:noFill/>
                </a:ln>
                <a:solidFill>
                  <a:srgbClr val="000000"/>
                </a:solidFill>
                <a:effectLst/>
                <a:uLnTx/>
                <a:uFillTx/>
                <a:latin typeface="Tahoma" pitchFamily="34" charset="0"/>
              </a:rPr>
              <a:t>Έλεγξε τα στοιχεία του πελάτη</a:t>
            </a:r>
          </a:p>
          <a:p>
            <a:pPr marL="457200" marR="0" lvl="0" indent="-457200" defTabSz="914400" eaLnBrk="1" fontAlgn="base" latinLnBrk="0" hangingPunct="1">
              <a:lnSpc>
                <a:spcPct val="100000"/>
              </a:lnSpc>
              <a:spcBef>
                <a:spcPct val="0"/>
              </a:spcBef>
              <a:spcAft>
                <a:spcPct val="0"/>
              </a:spcAft>
              <a:buClrTx/>
              <a:buSzTx/>
              <a:buFontTx/>
              <a:buAutoNum type="arabicPeriod"/>
              <a:tabLst/>
              <a:defRPr/>
            </a:pPr>
            <a:r>
              <a:rPr kumimoji="0" lang="el-GR" sz="2400" b="1" i="0" u="none" strike="noStrike" kern="0" cap="none" spc="0" normalizeH="0" baseline="0" noProof="0" dirty="0">
                <a:ln>
                  <a:noFill/>
                </a:ln>
                <a:solidFill>
                  <a:srgbClr val="000000"/>
                </a:solidFill>
                <a:effectLst/>
                <a:uLnTx/>
                <a:uFillTx/>
                <a:latin typeface="Tahoma" pitchFamily="34" charset="0"/>
              </a:rPr>
              <a:t>Για κάθε </a:t>
            </a:r>
            <a:r>
              <a:rPr kumimoji="0" lang="el-GR" sz="2400" b="0" i="0" u="none" strike="noStrike" kern="0" cap="none" spc="0" normalizeH="0" baseline="0" noProof="0" dirty="0">
                <a:ln>
                  <a:noFill/>
                </a:ln>
                <a:solidFill>
                  <a:srgbClr val="000000"/>
                </a:solidFill>
                <a:effectLst/>
                <a:uLnTx/>
                <a:uFillTx/>
                <a:latin typeface="Tahoma" pitchFamily="34" charset="0"/>
              </a:rPr>
              <a:t>φάρμακο </a:t>
            </a:r>
          </a:p>
          <a:p>
            <a:pPr marL="0" marR="0" lvl="1"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itchFamily="34" charset="0"/>
              </a:rPr>
              <a:t>    </a:t>
            </a:r>
            <a:r>
              <a:rPr kumimoji="0" lang="el-GR" sz="2400" b="1" i="0" u="none" strike="noStrike" kern="0" cap="none" spc="0" normalizeH="0" baseline="0" noProof="0" dirty="0">
                <a:ln>
                  <a:noFill/>
                </a:ln>
                <a:solidFill>
                  <a:srgbClr val="000000"/>
                </a:solidFill>
                <a:effectLst/>
                <a:uLnTx/>
                <a:uFillTx/>
                <a:latin typeface="Tahoma" panose="020B0604030504040204" pitchFamily="34" charset="0"/>
              </a:rPr>
              <a:t>αν δεν </a:t>
            </a:r>
            <a:r>
              <a:rPr kumimoji="0" lang="el-GR" sz="2400" b="0" i="0" u="none" strike="noStrike" kern="0" cap="none" spc="0" normalizeH="0" baseline="0" noProof="0" dirty="0">
                <a:ln>
                  <a:noFill/>
                </a:ln>
                <a:solidFill>
                  <a:srgbClr val="000000"/>
                </a:solidFill>
                <a:effectLst/>
                <a:uLnTx/>
                <a:uFillTx/>
                <a:latin typeface="Tahoma" panose="020B0604030504040204" pitchFamily="34" charset="0"/>
              </a:rPr>
              <a:t>το έχεις </a:t>
            </a:r>
          </a:p>
          <a:p>
            <a:pPr marL="0" marR="0" lvl="1"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anose="020B0604030504040204" pitchFamily="34" charset="0"/>
              </a:rPr>
              <a:t>         διέκοψε την εκτέλεση της συνταγής</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anose="020B0604030504040204" pitchFamily="34" charset="0"/>
              </a:rPr>
              <a:t>4. </a:t>
            </a:r>
            <a:r>
              <a:rPr kumimoji="0" lang="el-GR" sz="2400" b="1" i="0" u="none" strike="noStrike" kern="0" cap="none" spc="0" normalizeH="0" baseline="0" noProof="0" dirty="0">
                <a:ln>
                  <a:noFill/>
                </a:ln>
                <a:solidFill>
                  <a:srgbClr val="000000"/>
                </a:solidFill>
                <a:effectLst/>
                <a:uLnTx/>
                <a:uFillTx/>
                <a:latin typeface="Tahoma" panose="020B0604030504040204" pitchFamily="34" charset="0"/>
              </a:rPr>
              <a:t>Για κάθε </a:t>
            </a:r>
            <a:r>
              <a:rPr kumimoji="0" lang="el-GR" sz="2400" b="0" i="0" u="none" strike="noStrike" kern="0" cap="none" spc="0" normalizeH="0" baseline="0" noProof="0" dirty="0">
                <a:ln>
                  <a:noFill/>
                </a:ln>
                <a:solidFill>
                  <a:srgbClr val="000000"/>
                </a:solidFill>
                <a:effectLst/>
                <a:uLnTx/>
                <a:uFillTx/>
                <a:latin typeface="Tahoma" panose="020B0604030504040204" pitchFamily="34" charset="0"/>
              </a:rPr>
              <a:t>φάρμακο </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anose="020B0604030504040204" pitchFamily="34" charset="0"/>
              </a:rPr>
              <a:t>	Αναζήτησε το στην αποθήκη και φέρε το</a:t>
            </a:r>
          </a:p>
          <a:p>
            <a:pPr marL="457200" marR="0" lvl="0" indent="-457200" defTabSz="914400" eaLnBrk="1" fontAlgn="base" latinLnBrk="0" hangingPunct="1">
              <a:lnSpc>
                <a:spcPct val="100000"/>
              </a:lnSpc>
              <a:spcBef>
                <a:spcPct val="0"/>
              </a:spcBef>
              <a:spcAft>
                <a:spcPct val="0"/>
              </a:spcAft>
              <a:buClrTx/>
              <a:buSzTx/>
              <a:buFontTx/>
              <a:buAutoNum type="arabicPeriod" startAt="5"/>
              <a:tabLst/>
              <a:defRPr/>
            </a:pPr>
            <a:r>
              <a:rPr kumimoji="0" lang="el-GR" sz="2400" b="0" i="0" u="none" strike="noStrike" kern="0" cap="none" spc="0" normalizeH="0" baseline="0" noProof="0" dirty="0">
                <a:ln>
                  <a:noFill/>
                </a:ln>
                <a:solidFill>
                  <a:srgbClr val="000000"/>
                </a:solidFill>
                <a:effectLst/>
                <a:uLnTx/>
                <a:uFillTx/>
                <a:latin typeface="Tahoma" panose="020B0604030504040204" pitchFamily="34" charset="0"/>
              </a:rPr>
              <a:t>Υπολόγισε κόστος συνταγής </a:t>
            </a:r>
          </a:p>
          <a:p>
            <a:pPr marL="457200" marR="0" lvl="0" indent="-457200" defTabSz="914400" eaLnBrk="1" fontAlgn="base" latinLnBrk="0" hangingPunct="1">
              <a:lnSpc>
                <a:spcPct val="100000"/>
              </a:lnSpc>
              <a:spcBef>
                <a:spcPct val="0"/>
              </a:spcBef>
              <a:spcAft>
                <a:spcPct val="0"/>
              </a:spcAft>
              <a:buClrTx/>
              <a:buSzTx/>
              <a:buFontTx/>
              <a:buAutoNum type="arabicPeriod" startAt="5"/>
              <a:tabLst/>
              <a:defRPr/>
            </a:pPr>
            <a:r>
              <a:rPr kumimoji="0" lang="el-GR" sz="2400" b="0" i="0" u="none" strike="noStrike" kern="0" cap="none" spc="0" normalizeH="0" baseline="0" noProof="0" dirty="0">
                <a:ln>
                  <a:noFill/>
                </a:ln>
                <a:solidFill>
                  <a:srgbClr val="000000"/>
                </a:solidFill>
                <a:effectLst/>
                <a:uLnTx/>
                <a:uFillTx/>
                <a:latin typeface="Tahoma" panose="020B0604030504040204" pitchFamily="34" charset="0"/>
              </a:rPr>
              <a:t>….</a:t>
            </a:r>
          </a:p>
        </p:txBody>
      </p:sp>
      <p:sp>
        <p:nvSpPr>
          <p:cNvPr id="6" name="TextBox 5">
            <a:extLst>
              <a:ext uri="{FF2B5EF4-FFF2-40B4-BE49-F238E27FC236}">
                <a16:creationId xmlns:a16="http://schemas.microsoft.com/office/drawing/2014/main" id="{F216C915-244C-3FBB-F84E-B0B43BC787B1}"/>
              </a:ext>
            </a:extLst>
          </p:cNvPr>
          <p:cNvSpPr txBox="1"/>
          <p:nvPr/>
        </p:nvSpPr>
        <p:spPr>
          <a:xfrm rot="1963281">
            <a:off x="7140819" y="3909567"/>
            <a:ext cx="2993043" cy="830997"/>
          </a:xfrm>
          <a:prstGeom prst="rect">
            <a:avLst/>
          </a:prstGeom>
          <a:noFill/>
        </p:spPr>
        <p:txBody>
          <a:bodyPr wrap="square" rtlCol="0">
            <a:spAutoFit/>
          </a:bodyPr>
          <a:lstStyle/>
          <a:p>
            <a:pPr algn="ctr" eaLnBrk="0" fontAlgn="base" hangingPunct="0">
              <a:spcBef>
                <a:spcPct val="0"/>
              </a:spcBef>
              <a:spcAft>
                <a:spcPct val="0"/>
              </a:spcAft>
            </a:pPr>
            <a:r>
              <a:rPr lang="el-GR" sz="2400" b="1" dirty="0">
                <a:solidFill>
                  <a:srgbClr val="C00000"/>
                </a:solidFill>
                <a:latin typeface="Tahoma" panose="020B0604030504040204" pitchFamily="34" charset="0"/>
              </a:rPr>
              <a:t>Προστακτικός Προγραμματισμός</a:t>
            </a:r>
            <a:endParaRPr lang="en-GB" sz="2400" b="1" dirty="0">
              <a:solidFill>
                <a:srgbClr val="C00000"/>
              </a:solidFill>
              <a:latin typeface="Tahoma" panose="020B0604030504040204" pitchFamily="34" charset="0"/>
            </a:endParaRPr>
          </a:p>
        </p:txBody>
      </p:sp>
    </p:spTree>
    <p:extLst>
      <p:ext uri="{BB962C8B-B14F-4D97-AF65-F5344CB8AC3E}">
        <p14:creationId xmlns:p14="http://schemas.microsoft.com/office/powerpoint/2010/main" val="19849889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animBg="1"/>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44CC3-9D01-01B3-308E-8971D75299A2}"/>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45CC72CA-0C6B-BA35-D76C-2ABD71B94C5D}"/>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Ροή εκτέλεσης ενεργειών</a:t>
            </a:r>
          </a:p>
        </p:txBody>
      </p:sp>
      <p:grpSp>
        <p:nvGrpSpPr>
          <p:cNvPr id="7" name="Group 6">
            <a:extLst>
              <a:ext uri="{FF2B5EF4-FFF2-40B4-BE49-F238E27FC236}">
                <a16:creationId xmlns:a16="http://schemas.microsoft.com/office/drawing/2014/main" id="{8E934704-70B9-6F9B-026E-2F9FD13E94F9}"/>
              </a:ext>
            </a:extLst>
          </p:cNvPr>
          <p:cNvGrpSpPr/>
          <p:nvPr/>
        </p:nvGrpSpPr>
        <p:grpSpPr>
          <a:xfrm>
            <a:off x="-1" y="6559908"/>
            <a:ext cx="12192001" cy="327219"/>
            <a:chOff x="-1" y="6559908"/>
            <a:chExt cx="12192001" cy="327219"/>
          </a:xfrm>
        </p:grpSpPr>
        <p:sp>
          <p:nvSpPr>
            <p:cNvPr id="9" name="Rectangle 14">
              <a:extLst>
                <a:ext uri="{FF2B5EF4-FFF2-40B4-BE49-F238E27FC236}">
                  <a16:creationId xmlns:a16="http://schemas.microsoft.com/office/drawing/2014/main" id="{4BD67291-50BC-E9AD-7BB7-ECA0D04E301B}"/>
                </a:ext>
              </a:extLst>
            </p:cNvPr>
            <p:cNvSpPr/>
            <p:nvPr/>
          </p:nvSpPr>
          <p:spPr>
            <a:xfrm>
              <a:off x="0"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Θέση υποσέλιδου 4">
              <a:extLst>
                <a:ext uri="{FF2B5EF4-FFF2-40B4-BE49-F238E27FC236}">
                  <a16:creationId xmlns:a16="http://schemas.microsoft.com/office/drawing/2014/main" id="{26BE55EE-D9B8-A4E1-EB27-3BCAA461BFA0}"/>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4" name="Θέση υποσέλιδου 4">
              <a:extLst>
                <a:ext uri="{FF2B5EF4-FFF2-40B4-BE49-F238E27FC236}">
                  <a16:creationId xmlns:a16="http://schemas.microsoft.com/office/drawing/2014/main" id="{284D6639-19A5-CB32-9B70-959759D8F494}"/>
                </a:ext>
              </a:extLst>
            </p:cNvPr>
            <p:cNvSpPr txBox="1">
              <a:spLocks/>
            </p:cNvSpPr>
            <p:nvPr/>
          </p:nvSpPr>
          <p:spPr>
            <a:xfrm>
              <a:off x="3719657" y="6610127"/>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Procedural Abstraction – </a:t>
              </a:r>
              <a:r>
                <a:rPr lang="el-GR" sz="1100" dirty="0">
                  <a:solidFill>
                    <a:schemeClr val="tx1"/>
                  </a:solidFill>
                  <a:latin typeface="Bahnschrift" panose="020B0502040204020203" pitchFamily="34" charset="0"/>
                </a:rPr>
                <a:t>Λεκτική Περιγραφή</a:t>
              </a:r>
              <a:endParaRPr lang="en-US" sz="1100" dirty="0">
                <a:solidFill>
                  <a:schemeClr val="tx1"/>
                </a:solidFill>
                <a:latin typeface="Bahnschrift" panose="020B0502040204020203" pitchFamily="34" charset="0"/>
              </a:endParaRPr>
            </a:p>
            <a:p>
              <a:endParaRPr lang="el-GR" sz="1100" dirty="0">
                <a:solidFill>
                  <a:schemeClr val="tx1"/>
                </a:solidFill>
                <a:latin typeface="Bahnschrift" panose="020B0502040204020203" pitchFamily="34" charset="0"/>
              </a:endParaRPr>
            </a:p>
          </p:txBody>
        </p:sp>
        <p:sp>
          <p:nvSpPr>
            <p:cNvPr id="15" name="TextBox 14">
              <a:extLst>
                <a:ext uri="{FF2B5EF4-FFF2-40B4-BE49-F238E27FC236}">
                  <a16:creationId xmlns:a16="http://schemas.microsoft.com/office/drawing/2014/main" id="{B17B2C4D-4AA9-B02D-1E62-52001BDF57D2}"/>
                </a:ext>
              </a:extLst>
            </p:cNvPr>
            <p:cNvSpPr txBox="1"/>
            <p:nvPr/>
          </p:nvSpPr>
          <p:spPr>
            <a:xfrm>
              <a:off x="1026906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16</a:t>
              </a:fld>
              <a:endParaRPr lang="en-US" sz="1200" dirty="0">
                <a:latin typeface="Bahnschrift Light" panose="020B0502040204020203" pitchFamily="34" charset="0"/>
                <a:cs typeface="Arial" pitchFamily="34" charset="0"/>
              </a:endParaRPr>
            </a:p>
          </p:txBody>
        </p:sp>
      </p:grpSp>
      <p:pic>
        <p:nvPicPr>
          <p:cNvPr id="3" name="Picture 2">
            <a:extLst>
              <a:ext uri="{FF2B5EF4-FFF2-40B4-BE49-F238E27FC236}">
                <a16:creationId xmlns:a16="http://schemas.microsoft.com/office/drawing/2014/main" id="{72C83B04-A352-FEC6-1A85-B8AC36BA1656}"/>
              </a:ext>
            </a:extLst>
          </p:cNvPr>
          <p:cNvPicPr>
            <a:picLocks noChangeAspect="1"/>
          </p:cNvPicPr>
          <p:nvPr/>
        </p:nvPicPr>
        <p:blipFill>
          <a:blip r:embed="rId3"/>
          <a:stretch>
            <a:fillRect/>
          </a:stretch>
        </p:blipFill>
        <p:spPr>
          <a:xfrm>
            <a:off x="9224724" y="-15111"/>
            <a:ext cx="2967275" cy="2967275"/>
          </a:xfrm>
          <a:prstGeom prst="rect">
            <a:avLst/>
          </a:prstGeom>
        </p:spPr>
      </p:pic>
      <p:sp>
        <p:nvSpPr>
          <p:cNvPr id="4" name="Speech Bubble: Rectangle with Corners Rounded 3">
            <a:extLst>
              <a:ext uri="{FF2B5EF4-FFF2-40B4-BE49-F238E27FC236}">
                <a16:creationId xmlns:a16="http://schemas.microsoft.com/office/drawing/2014/main" id="{9CE8743D-022E-0F93-A4E8-452205B593C6}"/>
              </a:ext>
            </a:extLst>
          </p:cNvPr>
          <p:cNvSpPr/>
          <p:nvPr/>
        </p:nvSpPr>
        <p:spPr bwMode="auto">
          <a:xfrm>
            <a:off x="1071323" y="3055960"/>
            <a:ext cx="8964488" cy="3449938"/>
          </a:xfrm>
          <a:prstGeom prst="wedgeRoundRectCallout">
            <a:avLst>
              <a:gd name="adj1" fmla="val -41916"/>
              <a:gd name="adj2" fmla="val 50928"/>
              <a:gd name="adj3" fmla="val 16667"/>
            </a:avLst>
          </a:prstGeom>
          <a:solidFill>
            <a:schemeClr val="accent1">
              <a:lumMod val="40000"/>
              <a:lumOff val="60000"/>
            </a:schemeClr>
          </a:solidFill>
          <a:ln w="9525" cap="flat" cmpd="sng" algn="ctr">
            <a:solidFill>
              <a:srgbClr val="FFFFFF"/>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457200" marR="0" lvl="0" indent="-457200" defTabSz="914400" eaLnBrk="1" fontAlgn="base" latinLnBrk="0" hangingPunct="1">
              <a:lnSpc>
                <a:spcPct val="100000"/>
              </a:lnSpc>
              <a:spcBef>
                <a:spcPct val="0"/>
              </a:spcBef>
              <a:spcAft>
                <a:spcPct val="0"/>
              </a:spcAft>
              <a:buClrTx/>
              <a:buSzTx/>
              <a:buFontTx/>
              <a:buAutoNum type="arabicPeriod"/>
              <a:tabLst/>
              <a:defRPr/>
            </a:pPr>
            <a:r>
              <a:rPr kumimoji="0" lang="el-GR" sz="2400" b="0" i="0" u="none" strike="noStrike" kern="0" cap="none" spc="0" normalizeH="0" baseline="0" noProof="0" dirty="0">
                <a:ln>
                  <a:noFill/>
                </a:ln>
                <a:solidFill>
                  <a:srgbClr val="000000"/>
                </a:solidFill>
                <a:effectLst/>
                <a:uLnTx/>
                <a:uFillTx/>
                <a:latin typeface="Tahoma" pitchFamily="34" charset="0"/>
              </a:rPr>
              <a:t>Έλεγξε το γνήσιο της συνταγής</a:t>
            </a:r>
          </a:p>
          <a:p>
            <a:pPr marL="457200" marR="0" lvl="0" indent="-457200" defTabSz="914400" eaLnBrk="1" fontAlgn="base" latinLnBrk="0" hangingPunct="1">
              <a:lnSpc>
                <a:spcPct val="100000"/>
              </a:lnSpc>
              <a:spcBef>
                <a:spcPct val="0"/>
              </a:spcBef>
              <a:spcAft>
                <a:spcPct val="0"/>
              </a:spcAft>
              <a:buClrTx/>
              <a:buSzTx/>
              <a:buFontTx/>
              <a:buAutoNum type="arabicPeriod"/>
              <a:tabLst/>
              <a:defRPr/>
            </a:pPr>
            <a:r>
              <a:rPr kumimoji="0" lang="el-GR" sz="2400" b="0" i="0" u="none" strike="noStrike" kern="0" cap="none" spc="0" normalizeH="0" baseline="0" noProof="0" dirty="0">
                <a:ln>
                  <a:noFill/>
                </a:ln>
                <a:solidFill>
                  <a:srgbClr val="000000"/>
                </a:solidFill>
                <a:effectLst/>
                <a:uLnTx/>
                <a:uFillTx/>
                <a:latin typeface="Tahoma" pitchFamily="34" charset="0"/>
              </a:rPr>
              <a:t>Έλεγξε τα στοιχεία του πελάτη</a:t>
            </a:r>
          </a:p>
          <a:p>
            <a:pPr marL="457200" marR="0" lvl="0" indent="-457200" defTabSz="914400" eaLnBrk="1" fontAlgn="base" latinLnBrk="0" hangingPunct="1">
              <a:lnSpc>
                <a:spcPct val="100000"/>
              </a:lnSpc>
              <a:spcBef>
                <a:spcPct val="0"/>
              </a:spcBef>
              <a:spcAft>
                <a:spcPct val="0"/>
              </a:spcAft>
              <a:buClrTx/>
              <a:buSzTx/>
              <a:buFontTx/>
              <a:buAutoNum type="arabicPeriod"/>
              <a:tabLst/>
              <a:defRPr/>
            </a:pPr>
            <a:r>
              <a:rPr kumimoji="0" lang="el-GR" sz="2400" b="1" i="0" u="none" strike="noStrike" kern="0" cap="none" spc="0" normalizeH="0" baseline="0" noProof="0" dirty="0">
                <a:ln>
                  <a:noFill/>
                </a:ln>
                <a:solidFill>
                  <a:srgbClr val="000000"/>
                </a:solidFill>
                <a:effectLst/>
                <a:uLnTx/>
                <a:uFillTx/>
                <a:latin typeface="Tahoma" pitchFamily="34" charset="0"/>
              </a:rPr>
              <a:t>Για κάθε </a:t>
            </a:r>
            <a:r>
              <a:rPr kumimoji="0" lang="el-GR" sz="2400" b="0" i="0" u="none" strike="noStrike" kern="0" cap="none" spc="0" normalizeH="0" baseline="0" noProof="0" dirty="0">
                <a:ln>
                  <a:noFill/>
                </a:ln>
                <a:solidFill>
                  <a:srgbClr val="000000"/>
                </a:solidFill>
                <a:effectLst/>
                <a:uLnTx/>
                <a:uFillTx/>
                <a:latin typeface="Tahoma" pitchFamily="34" charset="0"/>
              </a:rPr>
              <a:t>φάρμακο </a:t>
            </a:r>
          </a:p>
          <a:p>
            <a:pPr marL="0" marR="0" lvl="1"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itchFamily="34" charset="0"/>
              </a:rPr>
              <a:t>    	</a:t>
            </a:r>
            <a:r>
              <a:rPr kumimoji="0" lang="el-GR" sz="2400" b="1" i="0" u="none" strike="noStrike" kern="0" cap="none" spc="0" normalizeH="0" baseline="0" noProof="0" dirty="0">
                <a:ln>
                  <a:noFill/>
                </a:ln>
                <a:solidFill>
                  <a:srgbClr val="000000"/>
                </a:solidFill>
                <a:effectLst/>
                <a:uLnTx/>
                <a:uFillTx/>
                <a:latin typeface="Tahoma" panose="020B0604030504040204" pitchFamily="34" charset="0"/>
              </a:rPr>
              <a:t>αν δεν </a:t>
            </a:r>
            <a:r>
              <a:rPr kumimoji="0" lang="el-GR" sz="2400" b="0" i="0" u="none" strike="noStrike" kern="0" cap="none" spc="0" normalizeH="0" baseline="0" noProof="0" dirty="0">
                <a:ln>
                  <a:noFill/>
                </a:ln>
                <a:solidFill>
                  <a:srgbClr val="000000"/>
                </a:solidFill>
                <a:effectLst/>
                <a:uLnTx/>
                <a:uFillTx/>
                <a:latin typeface="Tahoma" panose="020B0604030504040204" pitchFamily="34" charset="0"/>
              </a:rPr>
              <a:t>το έχεις </a:t>
            </a:r>
          </a:p>
          <a:p>
            <a:pPr marL="0" marR="0" lvl="1"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anose="020B0604030504040204" pitchFamily="34" charset="0"/>
              </a:rPr>
              <a:t>         	</a:t>
            </a:r>
            <a:r>
              <a:rPr kumimoji="0" lang="el-GR" sz="2400" b="0" i="0" u="none" strike="noStrike" kern="0" cap="none" spc="0" normalizeH="0" noProof="0" dirty="0">
                <a:ln>
                  <a:noFill/>
                </a:ln>
                <a:solidFill>
                  <a:srgbClr val="000000"/>
                </a:solidFill>
                <a:effectLst/>
                <a:uLnTx/>
                <a:uFillTx/>
                <a:latin typeface="Tahoma" panose="020B0604030504040204" pitchFamily="34" charset="0"/>
              </a:rPr>
              <a:t>      </a:t>
            </a:r>
            <a:r>
              <a:rPr kumimoji="0" lang="el-GR" sz="2400" b="0" i="0" u="none" strike="noStrike" kern="0" cap="none" spc="0" normalizeH="0" baseline="0" noProof="0" dirty="0">
                <a:ln>
                  <a:noFill/>
                </a:ln>
                <a:solidFill>
                  <a:srgbClr val="000000"/>
                </a:solidFill>
                <a:effectLst/>
                <a:uLnTx/>
                <a:uFillTx/>
                <a:latin typeface="Tahoma" panose="020B0604030504040204" pitchFamily="34" charset="0"/>
              </a:rPr>
              <a:t>διέκοψε την εκτέλεση της συνταγής</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anose="020B0604030504040204" pitchFamily="34" charset="0"/>
              </a:rPr>
              <a:t>4. </a:t>
            </a:r>
            <a:r>
              <a:rPr kumimoji="0" lang="el-GR" sz="2400" b="1" i="0" u="none" strike="noStrike" kern="0" cap="none" spc="0" normalizeH="0" baseline="0" noProof="0" dirty="0">
                <a:ln>
                  <a:noFill/>
                </a:ln>
                <a:solidFill>
                  <a:srgbClr val="000000"/>
                </a:solidFill>
                <a:effectLst/>
                <a:uLnTx/>
                <a:uFillTx/>
                <a:latin typeface="Tahoma" panose="020B0604030504040204" pitchFamily="34" charset="0"/>
              </a:rPr>
              <a:t>Για κάθε </a:t>
            </a:r>
            <a:r>
              <a:rPr kumimoji="0" lang="el-GR" sz="2400" b="0" i="0" u="none" strike="noStrike" kern="0" cap="none" spc="0" normalizeH="0" baseline="0" noProof="0" dirty="0">
                <a:ln>
                  <a:noFill/>
                </a:ln>
                <a:solidFill>
                  <a:srgbClr val="000000"/>
                </a:solidFill>
                <a:effectLst/>
                <a:uLnTx/>
                <a:uFillTx/>
                <a:latin typeface="Tahoma" panose="020B0604030504040204" pitchFamily="34" charset="0"/>
              </a:rPr>
              <a:t>φάρμακο </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anose="020B0604030504040204" pitchFamily="34" charset="0"/>
              </a:rPr>
              <a:t>	Αναζήτησε το στην αποθήκη και φέρε το</a:t>
            </a:r>
          </a:p>
          <a:p>
            <a:pPr marL="457200" marR="0" lvl="0" indent="-457200" defTabSz="914400" eaLnBrk="1" fontAlgn="base" latinLnBrk="0" hangingPunct="1">
              <a:lnSpc>
                <a:spcPct val="100000"/>
              </a:lnSpc>
              <a:spcBef>
                <a:spcPct val="0"/>
              </a:spcBef>
              <a:spcAft>
                <a:spcPct val="0"/>
              </a:spcAft>
              <a:buClrTx/>
              <a:buSzTx/>
              <a:buFontTx/>
              <a:buAutoNum type="arabicPeriod" startAt="5"/>
              <a:tabLst/>
              <a:defRPr/>
            </a:pPr>
            <a:r>
              <a:rPr kumimoji="0" lang="el-GR" sz="2400" b="0" i="0" u="none" strike="noStrike" kern="0" cap="none" spc="0" normalizeH="0" baseline="0" noProof="0" dirty="0">
                <a:ln>
                  <a:noFill/>
                </a:ln>
                <a:solidFill>
                  <a:srgbClr val="000000"/>
                </a:solidFill>
                <a:effectLst/>
                <a:uLnTx/>
                <a:uFillTx/>
                <a:latin typeface="Tahoma" panose="020B0604030504040204" pitchFamily="34" charset="0"/>
              </a:rPr>
              <a:t>Υπολόγισε κόστος συνταγής </a:t>
            </a:r>
          </a:p>
          <a:p>
            <a:pPr marL="457200" marR="0" lvl="0" indent="-457200" defTabSz="914400" eaLnBrk="1" fontAlgn="base" latinLnBrk="0" hangingPunct="1">
              <a:lnSpc>
                <a:spcPct val="100000"/>
              </a:lnSpc>
              <a:spcBef>
                <a:spcPct val="0"/>
              </a:spcBef>
              <a:spcAft>
                <a:spcPct val="0"/>
              </a:spcAft>
              <a:buClrTx/>
              <a:buSzTx/>
              <a:buFontTx/>
              <a:buAutoNum type="arabicPeriod" startAt="5"/>
              <a:tabLst/>
              <a:defRPr/>
            </a:pPr>
            <a:r>
              <a:rPr kumimoji="0" lang="el-GR" sz="2400" b="0" i="0" u="none" strike="noStrike" kern="0" cap="none" spc="0" normalizeH="0" baseline="0" noProof="0" dirty="0">
                <a:ln>
                  <a:noFill/>
                </a:ln>
                <a:solidFill>
                  <a:srgbClr val="000000"/>
                </a:solidFill>
                <a:effectLst/>
                <a:uLnTx/>
                <a:uFillTx/>
                <a:latin typeface="Tahoma" panose="020B0604030504040204" pitchFamily="34" charset="0"/>
              </a:rPr>
              <a:t>….</a:t>
            </a:r>
          </a:p>
        </p:txBody>
      </p:sp>
      <p:sp>
        <p:nvSpPr>
          <p:cNvPr id="5" name="TextBox 4">
            <a:extLst>
              <a:ext uri="{FF2B5EF4-FFF2-40B4-BE49-F238E27FC236}">
                <a16:creationId xmlns:a16="http://schemas.microsoft.com/office/drawing/2014/main" id="{101578BA-B773-0BE7-68F4-3C61574E22A1}"/>
              </a:ext>
            </a:extLst>
          </p:cNvPr>
          <p:cNvSpPr txBox="1"/>
          <p:nvPr/>
        </p:nvSpPr>
        <p:spPr>
          <a:xfrm rot="1963281">
            <a:off x="7214615" y="3923576"/>
            <a:ext cx="2993043" cy="830997"/>
          </a:xfrm>
          <a:prstGeom prst="rect">
            <a:avLst/>
          </a:prstGeom>
          <a:noFill/>
        </p:spPr>
        <p:txBody>
          <a:bodyPr wrap="square" rtlCol="0">
            <a:spAutoFit/>
          </a:bodyPr>
          <a:lstStyle/>
          <a:p>
            <a:pPr algn="ctr" eaLnBrk="0" fontAlgn="base" hangingPunct="0">
              <a:spcBef>
                <a:spcPct val="0"/>
              </a:spcBef>
              <a:spcAft>
                <a:spcPct val="0"/>
              </a:spcAft>
            </a:pPr>
            <a:r>
              <a:rPr lang="el-GR" sz="2400" b="1" dirty="0">
                <a:solidFill>
                  <a:srgbClr val="C00000"/>
                </a:solidFill>
                <a:latin typeface="Tahoma" panose="020B0604030504040204" pitchFamily="34" charset="0"/>
              </a:rPr>
              <a:t>Προστακτικός Προγραμματισμός</a:t>
            </a:r>
            <a:endParaRPr lang="en-GB" sz="2400" b="1" dirty="0">
              <a:solidFill>
                <a:srgbClr val="C00000"/>
              </a:solidFill>
              <a:latin typeface="Tahoma" panose="020B0604030504040204" pitchFamily="34" charset="0"/>
            </a:endParaRPr>
          </a:p>
        </p:txBody>
      </p:sp>
      <p:sp>
        <p:nvSpPr>
          <p:cNvPr id="6" name="Callout: Bent Line 5">
            <a:extLst>
              <a:ext uri="{FF2B5EF4-FFF2-40B4-BE49-F238E27FC236}">
                <a16:creationId xmlns:a16="http://schemas.microsoft.com/office/drawing/2014/main" id="{D41BF084-4DD6-A419-0F0E-9650D567DEA1}"/>
              </a:ext>
            </a:extLst>
          </p:cNvPr>
          <p:cNvSpPr/>
          <p:nvPr/>
        </p:nvSpPr>
        <p:spPr bwMode="auto">
          <a:xfrm>
            <a:off x="2317689" y="1625540"/>
            <a:ext cx="3916114" cy="476251"/>
          </a:xfrm>
          <a:prstGeom prst="borderCallout2">
            <a:avLst>
              <a:gd name="adj1" fmla="val 58800"/>
              <a:gd name="adj2" fmla="val 824"/>
              <a:gd name="adj3" fmla="val 93510"/>
              <a:gd name="adj4" fmla="val -7052"/>
              <a:gd name="adj5" fmla="val 579944"/>
              <a:gd name="adj6" fmla="val 8812"/>
            </a:avLst>
          </a:prstGeom>
          <a:solidFill>
            <a:schemeClr val="accent1"/>
          </a:solidFill>
          <a:ln w="57150" cap="flat" cmpd="sng" algn="ctr">
            <a:solidFill>
              <a:srgbClr val="00B0F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effectLst/>
                <a:uLnTx/>
                <a:uFillTx/>
                <a:latin typeface="Tahoma" panose="020B0604030504040204" pitchFamily="34" charset="0"/>
              </a:rPr>
              <a:t>Πρόταση ελέγχου συνθήκης</a:t>
            </a:r>
            <a:endParaRPr kumimoji="0" lang="en-GB" sz="2400" b="0" i="0" u="none" strike="noStrike" kern="0" cap="none" spc="0" normalizeH="0" baseline="0" noProof="0" dirty="0">
              <a:ln>
                <a:noFill/>
              </a:ln>
              <a:effectLst/>
              <a:uLnTx/>
              <a:uFillTx/>
              <a:latin typeface="Tahoma" panose="020B0604030504040204" pitchFamily="34" charset="0"/>
            </a:endParaRPr>
          </a:p>
        </p:txBody>
      </p:sp>
      <p:sp>
        <p:nvSpPr>
          <p:cNvPr id="8" name="Callout: Bent Line 7">
            <a:extLst>
              <a:ext uri="{FF2B5EF4-FFF2-40B4-BE49-F238E27FC236}">
                <a16:creationId xmlns:a16="http://schemas.microsoft.com/office/drawing/2014/main" id="{44480B56-664E-2554-3A58-34CF499EC63E}"/>
              </a:ext>
            </a:extLst>
          </p:cNvPr>
          <p:cNvSpPr/>
          <p:nvPr/>
        </p:nvSpPr>
        <p:spPr bwMode="auto">
          <a:xfrm>
            <a:off x="1025695" y="894610"/>
            <a:ext cx="3420745" cy="476251"/>
          </a:xfrm>
          <a:prstGeom prst="borderCallout2">
            <a:avLst>
              <a:gd name="adj1" fmla="val 58800"/>
              <a:gd name="adj2" fmla="val 824"/>
              <a:gd name="adj3" fmla="val 93510"/>
              <a:gd name="adj4" fmla="val -7052"/>
              <a:gd name="adj5" fmla="val 677137"/>
              <a:gd name="adj6" fmla="val 36874"/>
            </a:avLst>
          </a:prstGeom>
          <a:solidFill>
            <a:schemeClr val="accent1"/>
          </a:solidFill>
          <a:ln w="57150" cap="flat" cmpd="sng" algn="ctr">
            <a:solidFill>
              <a:srgbClr val="00B0F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r>
              <a:rPr lang="el-GR" sz="2400" kern="0" dirty="0">
                <a:latin typeface="Tahoma" panose="020B0604030504040204" pitchFamily="34" charset="0"/>
              </a:rPr>
              <a:t>Πρόταση επανάληψης</a:t>
            </a:r>
            <a:endParaRPr lang="en-GB" sz="2400" kern="0" dirty="0">
              <a:latin typeface="Tahoma" panose="020B0604030504040204" pitchFamily="34" charset="0"/>
            </a:endParaRPr>
          </a:p>
          <a:p>
            <a:pPr fontAlgn="base">
              <a:spcBef>
                <a:spcPct val="0"/>
              </a:spcBef>
              <a:spcAft>
                <a:spcPct val="0"/>
              </a:spcAft>
            </a:pPr>
            <a:endParaRPr lang="en-GB" sz="2400" kern="0" dirty="0">
              <a:latin typeface="Tahoma" panose="020B0604030504040204" pitchFamily="34" charset="0"/>
            </a:endParaRPr>
          </a:p>
        </p:txBody>
      </p:sp>
      <p:grpSp>
        <p:nvGrpSpPr>
          <p:cNvPr id="16" name="Group 15">
            <a:extLst>
              <a:ext uri="{FF2B5EF4-FFF2-40B4-BE49-F238E27FC236}">
                <a16:creationId xmlns:a16="http://schemas.microsoft.com/office/drawing/2014/main" id="{DA0EB081-DD16-59CB-B7E9-F54EFD8E7A18}"/>
              </a:ext>
            </a:extLst>
          </p:cNvPr>
          <p:cNvGrpSpPr/>
          <p:nvPr/>
        </p:nvGrpSpPr>
        <p:grpSpPr>
          <a:xfrm>
            <a:off x="2848631" y="2232665"/>
            <a:ext cx="5502739" cy="2518767"/>
            <a:chOff x="2848631" y="2232665"/>
            <a:chExt cx="5502739" cy="2518767"/>
          </a:xfrm>
        </p:grpSpPr>
        <p:sp>
          <p:nvSpPr>
            <p:cNvPr id="10" name="Callout: Bent Line 9">
              <a:extLst>
                <a:ext uri="{FF2B5EF4-FFF2-40B4-BE49-F238E27FC236}">
                  <a16:creationId xmlns:a16="http://schemas.microsoft.com/office/drawing/2014/main" id="{419894D5-0294-3893-6F72-E2B1D48E6D96}"/>
                </a:ext>
              </a:extLst>
            </p:cNvPr>
            <p:cNvSpPr/>
            <p:nvPr/>
          </p:nvSpPr>
          <p:spPr bwMode="auto">
            <a:xfrm>
              <a:off x="4446440" y="2232665"/>
              <a:ext cx="3904930" cy="730776"/>
            </a:xfrm>
            <a:prstGeom prst="borderCallout2">
              <a:avLst>
                <a:gd name="adj1" fmla="val 58800"/>
                <a:gd name="adj2" fmla="val 824"/>
                <a:gd name="adj3" fmla="val 93510"/>
                <a:gd name="adj4" fmla="val -7052"/>
                <a:gd name="adj5" fmla="val 346544"/>
                <a:gd name="adj6" fmla="val -2113"/>
              </a:avLst>
            </a:prstGeom>
            <a:solidFill>
              <a:schemeClr val="accent1"/>
            </a:solidFill>
            <a:ln w="57150" cap="flat" cmpd="sng" algn="ctr">
              <a:solidFill>
                <a:srgbClr val="00B0F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r>
                <a:rPr lang="el-GR" sz="2400" kern="0" dirty="0">
                  <a:latin typeface="Tahoma" panose="020B0604030504040204" pitchFamily="34" charset="0"/>
                </a:rPr>
                <a:t>Πρόταση που εκτελείται αν </a:t>
              </a:r>
            </a:p>
            <a:p>
              <a:pPr fontAlgn="base">
                <a:spcBef>
                  <a:spcPct val="0"/>
                </a:spcBef>
                <a:spcAft>
                  <a:spcPct val="0"/>
                </a:spcAft>
              </a:pPr>
              <a:r>
                <a:rPr lang="el-GR" sz="2400" kern="0" dirty="0">
                  <a:latin typeface="Tahoma" panose="020B0604030504040204" pitchFamily="34" charset="0"/>
                </a:rPr>
                <a:t>ισχύει μια συνθήκη</a:t>
              </a:r>
              <a:endParaRPr lang="en-GB" sz="2400" kern="0" dirty="0">
                <a:latin typeface="Tahoma" panose="020B0604030504040204" pitchFamily="34" charset="0"/>
              </a:endParaRPr>
            </a:p>
            <a:p>
              <a:pPr fontAlgn="base">
                <a:spcBef>
                  <a:spcPct val="0"/>
                </a:spcBef>
                <a:spcAft>
                  <a:spcPct val="0"/>
                </a:spcAft>
              </a:pPr>
              <a:endParaRPr lang="en-GB" sz="2400" kern="0" dirty="0">
                <a:latin typeface="Tahoma" panose="020B0604030504040204" pitchFamily="34" charset="0"/>
              </a:endParaRPr>
            </a:p>
          </p:txBody>
        </p:sp>
        <p:cxnSp>
          <p:nvCxnSpPr>
            <p:cNvPr id="12" name="Straight Connector 11">
              <a:extLst>
                <a:ext uri="{FF2B5EF4-FFF2-40B4-BE49-F238E27FC236}">
                  <a16:creationId xmlns:a16="http://schemas.microsoft.com/office/drawing/2014/main" id="{73C62167-9B3A-05DC-F3C1-E9D525D971E2}"/>
                </a:ext>
              </a:extLst>
            </p:cNvPr>
            <p:cNvCxnSpPr/>
            <p:nvPr/>
          </p:nvCxnSpPr>
          <p:spPr>
            <a:xfrm>
              <a:off x="2848631" y="4751432"/>
              <a:ext cx="4688483" cy="0"/>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0149253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animBg="1"/>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A39A8-A6C1-B00E-D192-A7E81D456A81}"/>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5FC063D2-C1FB-538D-6996-CD1F65EE411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Αφαιρετικότητα (</a:t>
            </a:r>
            <a:r>
              <a:rPr lang="en-GB" sz="4000" b="1" dirty="0">
                <a:solidFill>
                  <a:srgbClr val="F9853D"/>
                </a:solidFill>
                <a:latin typeface="Bahnschrift" panose="020B0502040204020203" pitchFamily="34" charset="0"/>
              </a:rPr>
              <a:t>Abstraction)</a:t>
            </a:r>
            <a:endParaRPr lang="el-GR" sz="4000" b="1" dirty="0">
              <a:solidFill>
                <a:srgbClr val="F9853D"/>
              </a:solidFill>
              <a:latin typeface="Bahnschrift" panose="020B0502040204020203" pitchFamily="34" charset="0"/>
            </a:endParaRPr>
          </a:p>
        </p:txBody>
      </p:sp>
      <p:grpSp>
        <p:nvGrpSpPr>
          <p:cNvPr id="7" name="Group 6">
            <a:extLst>
              <a:ext uri="{FF2B5EF4-FFF2-40B4-BE49-F238E27FC236}">
                <a16:creationId xmlns:a16="http://schemas.microsoft.com/office/drawing/2014/main" id="{C3ABDC2B-EA78-509A-3758-412F94DB8E07}"/>
              </a:ext>
            </a:extLst>
          </p:cNvPr>
          <p:cNvGrpSpPr/>
          <p:nvPr/>
        </p:nvGrpSpPr>
        <p:grpSpPr>
          <a:xfrm>
            <a:off x="-1" y="6559908"/>
            <a:ext cx="12192001" cy="327219"/>
            <a:chOff x="-1" y="6559908"/>
            <a:chExt cx="12192001" cy="327219"/>
          </a:xfrm>
        </p:grpSpPr>
        <p:sp>
          <p:nvSpPr>
            <p:cNvPr id="9" name="Rectangle 14">
              <a:extLst>
                <a:ext uri="{FF2B5EF4-FFF2-40B4-BE49-F238E27FC236}">
                  <a16:creationId xmlns:a16="http://schemas.microsoft.com/office/drawing/2014/main" id="{E3E78A4A-A420-43E8-DE2F-2FF37DCCD6FA}"/>
                </a:ext>
              </a:extLst>
            </p:cNvPr>
            <p:cNvSpPr/>
            <p:nvPr/>
          </p:nvSpPr>
          <p:spPr>
            <a:xfrm>
              <a:off x="0"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Θέση υποσέλιδου 4">
              <a:extLst>
                <a:ext uri="{FF2B5EF4-FFF2-40B4-BE49-F238E27FC236}">
                  <a16:creationId xmlns:a16="http://schemas.microsoft.com/office/drawing/2014/main" id="{6D4DB957-822E-BFB5-5461-5B28C6258CC6}"/>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4" name="Θέση υποσέλιδου 4">
              <a:extLst>
                <a:ext uri="{FF2B5EF4-FFF2-40B4-BE49-F238E27FC236}">
                  <a16:creationId xmlns:a16="http://schemas.microsoft.com/office/drawing/2014/main" id="{B576E983-E840-005A-C720-47970B2346F9}"/>
                </a:ext>
              </a:extLst>
            </p:cNvPr>
            <p:cNvSpPr txBox="1">
              <a:spLocks/>
            </p:cNvSpPr>
            <p:nvPr/>
          </p:nvSpPr>
          <p:spPr>
            <a:xfrm>
              <a:off x="3719657" y="6610127"/>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Procedural Abstraction – </a:t>
              </a:r>
              <a:r>
                <a:rPr lang="el-GR" sz="1100" dirty="0">
                  <a:solidFill>
                    <a:schemeClr val="tx1"/>
                  </a:solidFill>
                  <a:latin typeface="Bahnschrift" panose="020B0502040204020203" pitchFamily="34" charset="0"/>
                </a:rPr>
                <a:t>Λεκτική Περιγραφή</a:t>
              </a:r>
              <a:endParaRPr lang="en-US" sz="1100" dirty="0">
                <a:solidFill>
                  <a:schemeClr val="tx1"/>
                </a:solidFill>
                <a:latin typeface="Bahnschrift" panose="020B0502040204020203" pitchFamily="34" charset="0"/>
              </a:endParaRPr>
            </a:p>
            <a:p>
              <a:endParaRPr lang="el-GR" sz="1100" dirty="0">
                <a:solidFill>
                  <a:schemeClr val="tx1"/>
                </a:solidFill>
                <a:latin typeface="Bahnschrift" panose="020B0502040204020203" pitchFamily="34" charset="0"/>
              </a:endParaRPr>
            </a:p>
          </p:txBody>
        </p:sp>
        <p:sp>
          <p:nvSpPr>
            <p:cNvPr id="15" name="TextBox 14">
              <a:extLst>
                <a:ext uri="{FF2B5EF4-FFF2-40B4-BE49-F238E27FC236}">
                  <a16:creationId xmlns:a16="http://schemas.microsoft.com/office/drawing/2014/main" id="{7E43322E-1AC5-9C5A-ECD9-EC73AC9B6F03}"/>
                </a:ext>
              </a:extLst>
            </p:cNvPr>
            <p:cNvSpPr txBox="1"/>
            <p:nvPr/>
          </p:nvSpPr>
          <p:spPr>
            <a:xfrm>
              <a:off x="1026906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17</a:t>
              </a:fld>
              <a:endParaRPr lang="en-US" sz="1200" dirty="0">
                <a:latin typeface="Bahnschrift Light" panose="020B0502040204020203" pitchFamily="34" charset="0"/>
                <a:cs typeface="Arial" pitchFamily="34" charset="0"/>
              </a:endParaRPr>
            </a:p>
          </p:txBody>
        </p:sp>
      </p:grpSp>
      <p:pic>
        <p:nvPicPr>
          <p:cNvPr id="11" name="Picture 10">
            <a:extLst>
              <a:ext uri="{FF2B5EF4-FFF2-40B4-BE49-F238E27FC236}">
                <a16:creationId xmlns:a16="http://schemas.microsoft.com/office/drawing/2014/main" id="{D8E0BC75-4610-06F9-EC27-567765DE8C9A}"/>
              </a:ext>
            </a:extLst>
          </p:cNvPr>
          <p:cNvPicPr>
            <a:picLocks noChangeAspect="1"/>
          </p:cNvPicPr>
          <p:nvPr/>
        </p:nvPicPr>
        <p:blipFill>
          <a:blip r:embed="rId3"/>
          <a:stretch>
            <a:fillRect/>
          </a:stretch>
        </p:blipFill>
        <p:spPr>
          <a:xfrm>
            <a:off x="434107" y="1580722"/>
            <a:ext cx="6257639" cy="4759183"/>
          </a:xfrm>
          <a:prstGeom prst="rect">
            <a:avLst/>
          </a:prstGeom>
        </p:spPr>
      </p:pic>
      <p:sp>
        <p:nvSpPr>
          <p:cNvPr id="16" name="TextBox 15">
            <a:extLst>
              <a:ext uri="{FF2B5EF4-FFF2-40B4-BE49-F238E27FC236}">
                <a16:creationId xmlns:a16="http://schemas.microsoft.com/office/drawing/2014/main" id="{21BA6BF9-6B6D-DAE2-5FDA-2AF74EB13E63}"/>
              </a:ext>
            </a:extLst>
          </p:cNvPr>
          <p:cNvSpPr txBox="1"/>
          <p:nvPr/>
        </p:nvSpPr>
        <p:spPr>
          <a:xfrm>
            <a:off x="9130591" y="2422349"/>
            <a:ext cx="1965126" cy="3970318"/>
          </a:xfrm>
          <a:prstGeom prst="rect">
            <a:avLst/>
          </a:prstGeom>
          <a:solidFill>
            <a:schemeClr val="accent1">
              <a:lumMod val="40000"/>
              <a:lumOff val="60000"/>
            </a:schemeClr>
          </a:solidFill>
        </p:spPr>
        <p:txBody>
          <a:bodyPr wrap="square" rtlCol="0">
            <a:spAutoFit/>
          </a:bodyPr>
          <a:lstStyle/>
          <a:p>
            <a:pPr eaLnBrk="0" fontAlgn="base" hangingPunct="0">
              <a:spcBef>
                <a:spcPct val="0"/>
              </a:spcBef>
              <a:spcAft>
                <a:spcPct val="0"/>
              </a:spcAft>
            </a:pPr>
            <a:r>
              <a:rPr lang="en-GB" sz="2800" b="1" dirty="0">
                <a:solidFill>
                  <a:srgbClr val="242424"/>
                </a:solidFill>
                <a:latin typeface="source-serif-pro"/>
              </a:rPr>
              <a:t>Abstraction</a:t>
            </a:r>
            <a:r>
              <a:rPr lang="en-GB" sz="2800" dirty="0">
                <a:solidFill>
                  <a:srgbClr val="242424"/>
                </a:solidFill>
                <a:latin typeface="source-serif-pro"/>
              </a:rPr>
              <a:t> is a process of focusing attention on the main problems by ignoring lower-level details. </a:t>
            </a:r>
            <a:endParaRPr lang="en-GB" sz="2800" dirty="0">
              <a:solidFill>
                <a:srgbClr val="000000"/>
              </a:solidFill>
              <a:latin typeface="Tahoma" panose="020B0604030504040204" pitchFamily="34" charset="0"/>
            </a:endParaRPr>
          </a:p>
        </p:txBody>
      </p:sp>
      <p:sp>
        <p:nvSpPr>
          <p:cNvPr id="17" name="TextBox 16">
            <a:extLst>
              <a:ext uri="{FF2B5EF4-FFF2-40B4-BE49-F238E27FC236}">
                <a16:creationId xmlns:a16="http://schemas.microsoft.com/office/drawing/2014/main" id="{A7D8F4DC-267C-B5A6-C7F5-1BE07131AA79}"/>
              </a:ext>
            </a:extLst>
          </p:cNvPr>
          <p:cNvSpPr txBox="1"/>
          <p:nvPr/>
        </p:nvSpPr>
        <p:spPr>
          <a:xfrm>
            <a:off x="161185" y="749724"/>
            <a:ext cx="11892270" cy="830997"/>
          </a:xfrm>
          <a:prstGeom prst="rect">
            <a:avLst/>
          </a:prstGeom>
          <a:solidFill>
            <a:srgbClr val="92D050"/>
          </a:solidFill>
        </p:spPr>
        <p:txBody>
          <a:bodyPr wrap="square" rtlCol="0">
            <a:spAutoFit/>
          </a:bodyPr>
          <a:lstStyle/>
          <a:p>
            <a:pPr algn="ctr"/>
            <a:r>
              <a:rPr lang="el-GR" sz="2400" dirty="0"/>
              <a:t>Η αφαιρετικότητα (</a:t>
            </a:r>
            <a:r>
              <a:rPr lang="el-GR" sz="2400" dirty="0" err="1"/>
              <a:t>abstraction</a:t>
            </a:r>
            <a:r>
              <a:rPr lang="el-GR" sz="2400" dirty="0"/>
              <a:t>) </a:t>
            </a:r>
            <a:r>
              <a:rPr lang="el-GR" sz="2400" b="1" dirty="0"/>
              <a:t>είναι</a:t>
            </a:r>
            <a:r>
              <a:rPr lang="el-GR" sz="2400" dirty="0"/>
              <a:t> μία από τις βασικότερες τεχνικές που χρησιμοποιεί ο άνθρωπος για να διαχειριστεί την πολυπλοκότητα.</a:t>
            </a:r>
            <a:endParaRPr lang="en-GB" sz="2400" dirty="0"/>
          </a:p>
        </p:txBody>
      </p:sp>
    </p:spTree>
    <p:extLst>
      <p:ext uri="{BB962C8B-B14F-4D97-AF65-F5344CB8AC3E}">
        <p14:creationId xmlns:p14="http://schemas.microsoft.com/office/powerpoint/2010/main" val="303713458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D3D3A-C238-AD44-1109-60F986E9688F}"/>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AA2E086C-CBB8-E574-D115-BEA01959269F}"/>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Αφαιρετικότητα στις Διεργασίες</a:t>
            </a:r>
          </a:p>
        </p:txBody>
      </p:sp>
      <p:grpSp>
        <p:nvGrpSpPr>
          <p:cNvPr id="7" name="Group 6">
            <a:extLst>
              <a:ext uri="{FF2B5EF4-FFF2-40B4-BE49-F238E27FC236}">
                <a16:creationId xmlns:a16="http://schemas.microsoft.com/office/drawing/2014/main" id="{68ECB8AC-28AA-3ACB-FB94-F087D93CEA50}"/>
              </a:ext>
            </a:extLst>
          </p:cNvPr>
          <p:cNvGrpSpPr/>
          <p:nvPr/>
        </p:nvGrpSpPr>
        <p:grpSpPr>
          <a:xfrm>
            <a:off x="-1" y="6559908"/>
            <a:ext cx="12192001" cy="327219"/>
            <a:chOff x="-1" y="6559908"/>
            <a:chExt cx="12192001" cy="327219"/>
          </a:xfrm>
        </p:grpSpPr>
        <p:sp>
          <p:nvSpPr>
            <p:cNvPr id="9" name="Rectangle 14">
              <a:extLst>
                <a:ext uri="{FF2B5EF4-FFF2-40B4-BE49-F238E27FC236}">
                  <a16:creationId xmlns:a16="http://schemas.microsoft.com/office/drawing/2014/main" id="{D4AA0ED5-2FF8-283A-C78A-8E3CDF831A0E}"/>
                </a:ext>
              </a:extLst>
            </p:cNvPr>
            <p:cNvSpPr/>
            <p:nvPr/>
          </p:nvSpPr>
          <p:spPr>
            <a:xfrm>
              <a:off x="0"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Θέση υποσέλιδου 4">
              <a:extLst>
                <a:ext uri="{FF2B5EF4-FFF2-40B4-BE49-F238E27FC236}">
                  <a16:creationId xmlns:a16="http://schemas.microsoft.com/office/drawing/2014/main" id="{FE4EC333-2AF8-4F86-A6C8-A35B9D42E713}"/>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4" name="Θέση υποσέλιδου 4">
              <a:extLst>
                <a:ext uri="{FF2B5EF4-FFF2-40B4-BE49-F238E27FC236}">
                  <a16:creationId xmlns:a16="http://schemas.microsoft.com/office/drawing/2014/main" id="{465CD3A2-FEF8-BC52-AEBC-2175C0270449}"/>
                </a:ext>
              </a:extLst>
            </p:cNvPr>
            <p:cNvSpPr txBox="1">
              <a:spLocks/>
            </p:cNvSpPr>
            <p:nvPr/>
          </p:nvSpPr>
          <p:spPr>
            <a:xfrm>
              <a:off x="3719657" y="6610127"/>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Procedural Abstraction – </a:t>
              </a:r>
              <a:r>
                <a:rPr lang="el-GR" sz="1100" dirty="0">
                  <a:solidFill>
                    <a:schemeClr val="tx1"/>
                  </a:solidFill>
                  <a:latin typeface="Bahnschrift" panose="020B0502040204020203" pitchFamily="34" charset="0"/>
                </a:rPr>
                <a:t>Λεκτική Περιγραφή</a:t>
              </a:r>
              <a:endParaRPr lang="en-US" sz="1100" dirty="0">
                <a:solidFill>
                  <a:schemeClr val="tx1"/>
                </a:solidFill>
                <a:latin typeface="Bahnschrift" panose="020B0502040204020203" pitchFamily="34" charset="0"/>
              </a:endParaRPr>
            </a:p>
            <a:p>
              <a:endParaRPr lang="el-GR" sz="1100" dirty="0">
                <a:solidFill>
                  <a:schemeClr val="tx1"/>
                </a:solidFill>
                <a:latin typeface="Bahnschrift" panose="020B0502040204020203" pitchFamily="34" charset="0"/>
              </a:endParaRPr>
            </a:p>
          </p:txBody>
        </p:sp>
        <p:sp>
          <p:nvSpPr>
            <p:cNvPr id="15" name="TextBox 14">
              <a:extLst>
                <a:ext uri="{FF2B5EF4-FFF2-40B4-BE49-F238E27FC236}">
                  <a16:creationId xmlns:a16="http://schemas.microsoft.com/office/drawing/2014/main" id="{D3552A15-E1AA-6ADB-0776-36D9B08F0C4C}"/>
                </a:ext>
              </a:extLst>
            </p:cNvPr>
            <p:cNvSpPr txBox="1"/>
            <p:nvPr/>
          </p:nvSpPr>
          <p:spPr>
            <a:xfrm>
              <a:off x="1026906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18</a:t>
              </a:fld>
              <a:endParaRPr lang="en-US" sz="1200" dirty="0">
                <a:latin typeface="Bahnschrift Light" panose="020B0502040204020203" pitchFamily="34" charset="0"/>
                <a:cs typeface="Arial" pitchFamily="34" charset="0"/>
              </a:endParaRPr>
            </a:p>
          </p:txBody>
        </p:sp>
      </p:grpSp>
      <p:sp>
        <p:nvSpPr>
          <p:cNvPr id="3" name="Speech Bubble: Rectangle with Corners Rounded 2">
            <a:extLst>
              <a:ext uri="{FF2B5EF4-FFF2-40B4-BE49-F238E27FC236}">
                <a16:creationId xmlns:a16="http://schemas.microsoft.com/office/drawing/2014/main" id="{E399BAA6-0AC9-462B-7654-AE77A0AE62A0}"/>
              </a:ext>
            </a:extLst>
          </p:cNvPr>
          <p:cNvSpPr/>
          <p:nvPr/>
        </p:nvSpPr>
        <p:spPr bwMode="auto">
          <a:xfrm>
            <a:off x="4417304" y="4085260"/>
            <a:ext cx="2387395" cy="2185513"/>
          </a:xfrm>
          <a:prstGeom prst="wedgeRoundRectCallout">
            <a:avLst>
              <a:gd name="adj1" fmla="val -60559"/>
              <a:gd name="adj2" fmla="val 61874"/>
              <a:gd name="adj3" fmla="val 16667"/>
            </a:avLst>
          </a:prstGeom>
          <a:solidFill>
            <a:schemeClr val="accent1">
              <a:lumMod val="40000"/>
              <a:lumOff val="60000"/>
            </a:schemeClr>
          </a:solidFill>
          <a:ln w="9525" cap="flat" cmpd="sng" algn="ctr">
            <a:solidFill>
              <a:srgbClr val="00000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dirty="0">
              <a:ln>
                <a:noFill/>
              </a:ln>
              <a:solidFill>
                <a:srgbClr val="000000"/>
              </a:solidFill>
              <a:effectLst/>
              <a:uLnTx/>
              <a:uFillTx/>
              <a:latin typeface="Tahoma" pitchFamily="34" charset="0"/>
            </a:endParaRPr>
          </a:p>
        </p:txBody>
      </p:sp>
      <p:pic>
        <p:nvPicPr>
          <p:cNvPr id="4" name="Picture 3">
            <a:extLst>
              <a:ext uri="{FF2B5EF4-FFF2-40B4-BE49-F238E27FC236}">
                <a16:creationId xmlns:a16="http://schemas.microsoft.com/office/drawing/2014/main" id="{30E58B4A-F0C8-4CB1-48A8-1B27C6E8DFC6}"/>
              </a:ext>
            </a:extLst>
          </p:cNvPr>
          <p:cNvPicPr>
            <a:picLocks noChangeAspect="1"/>
          </p:cNvPicPr>
          <p:nvPr/>
        </p:nvPicPr>
        <p:blipFill>
          <a:blip r:embed="rId3"/>
          <a:stretch>
            <a:fillRect/>
          </a:stretch>
        </p:blipFill>
        <p:spPr>
          <a:xfrm>
            <a:off x="1151001" y="1757661"/>
            <a:ext cx="1976101" cy="2664295"/>
          </a:xfrm>
          <a:prstGeom prst="rect">
            <a:avLst/>
          </a:prstGeom>
        </p:spPr>
      </p:pic>
      <p:pic>
        <p:nvPicPr>
          <p:cNvPr id="5" name="Picture 2" descr="Δωρεάν εικονογραφήσεις με Σερβιτόρος">
            <a:extLst>
              <a:ext uri="{FF2B5EF4-FFF2-40B4-BE49-F238E27FC236}">
                <a16:creationId xmlns:a16="http://schemas.microsoft.com/office/drawing/2014/main" id="{F55858B4-5075-FB0D-04F5-71A6278E48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85511" y="1681689"/>
            <a:ext cx="2946098" cy="2946098"/>
          </a:xfrm>
          <a:prstGeom prst="rect">
            <a:avLst/>
          </a:prstGeom>
          <a:noFill/>
          <a:extLst>
            <a:ext uri="{909E8E84-426E-40DD-AFC4-6F175D3DCCD1}">
              <a14:hiddenFill xmlns:a14="http://schemas.microsoft.com/office/drawing/2010/main">
                <a:solidFill>
                  <a:srgbClr val="FFFFFF"/>
                </a:solidFill>
              </a14:hiddenFill>
            </a:ext>
          </a:extLst>
        </p:spPr>
      </p:pic>
      <p:sp>
        <p:nvSpPr>
          <p:cNvPr id="6" name="Speech Bubble: Rectangle with Corners Rounded 5">
            <a:extLst>
              <a:ext uri="{FF2B5EF4-FFF2-40B4-BE49-F238E27FC236}">
                <a16:creationId xmlns:a16="http://schemas.microsoft.com/office/drawing/2014/main" id="{07AB8743-6F7A-BE16-0A29-38C4BE03E6BC}"/>
              </a:ext>
            </a:extLst>
          </p:cNvPr>
          <p:cNvSpPr/>
          <p:nvPr/>
        </p:nvSpPr>
        <p:spPr bwMode="auto">
          <a:xfrm>
            <a:off x="3571313" y="2130287"/>
            <a:ext cx="3923996" cy="911418"/>
          </a:xfrm>
          <a:prstGeom prst="wedgeRoundRectCallout">
            <a:avLst>
              <a:gd name="adj1" fmla="val -50247"/>
              <a:gd name="adj2" fmla="val 70161"/>
              <a:gd name="adj3" fmla="val 16667"/>
            </a:avLst>
          </a:prstGeom>
          <a:solidFill>
            <a:srgbClr val="FFFF0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anose="020B0604030504040204" pitchFamily="34" charset="0"/>
              </a:rPr>
              <a:t>Ένα Ελληνικό</a:t>
            </a:r>
            <a:r>
              <a:rPr kumimoji="0" lang="en-US" sz="2400" b="0" i="0" u="none" strike="noStrike" kern="0" cap="none" spc="0" normalizeH="0" baseline="0" noProof="0" dirty="0">
                <a:ln>
                  <a:noFill/>
                </a:ln>
                <a:solidFill>
                  <a:srgbClr val="000000"/>
                </a:solidFill>
                <a:effectLst/>
                <a:uLnTx/>
                <a:uFillTx/>
                <a:latin typeface="Tahoma" panose="020B0604030504040204" pitchFamily="34" charset="0"/>
              </a:rPr>
              <a:t> </a:t>
            </a:r>
            <a:endParaRPr kumimoji="0" lang="el-GR" sz="2400" b="0" i="0" u="none" strike="noStrike" kern="0" cap="none" spc="0" normalizeH="0" baseline="0" noProof="0" dirty="0">
              <a:ln>
                <a:noFill/>
              </a:ln>
              <a:solidFill>
                <a:srgbClr val="000000"/>
              </a:solidFill>
              <a:effectLst/>
              <a:uLnTx/>
              <a:uFillTx/>
              <a:latin typeface="Tahoma" panose="020B0604030504040204" pitchFamily="34" charset="0"/>
            </a:endParaRPr>
          </a:p>
          <a:p>
            <a:pPr marL="0" marR="0" lvl="0" indent="0" algn="ctr"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anose="020B0604030504040204" pitchFamily="34" charset="0"/>
              </a:rPr>
              <a:t>μέτριο παρακαλώ</a:t>
            </a:r>
          </a:p>
        </p:txBody>
      </p:sp>
      <p:pic>
        <p:nvPicPr>
          <p:cNvPr id="8" name="Picture 7">
            <a:extLst>
              <a:ext uri="{FF2B5EF4-FFF2-40B4-BE49-F238E27FC236}">
                <a16:creationId xmlns:a16="http://schemas.microsoft.com/office/drawing/2014/main" id="{64830F4E-79E7-7C96-A10E-F36E146C7E49}"/>
              </a:ext>
            </a:extLst>
          </p:cNvPr>
          <p:cNvPicPr>
            <a:picLocks noChangeAspect="1"/>
          </p:cNvPicPr>
          <p:nvPr/>
        </p:nvPicPr>
        <p:blipFill>
          <a:blip r:embed="rId5"/>
          <a:stretch>
            <a:fillRect/>
          </a:stretch>
        </p:blipFill>
        <p:spPr>
          <a:xfrm>
            <a:off x="7192920" y="4472632"/>
            <a:ext cx="2575783" cy="1752752"/>
          </a:xfrm>
          <a:prstGeom prst="rect">
            <a:avLst/>
          </a:prstGeom>
        </p:spPr>
      </p:pic>
      <p:sp>
        <p:nvSpPr>
          <p:cNvPr id="10" name="Rectangle 9">
            <a:extLst>
              <a:ext uri="{FF2B5EF4-FFF2-40B4-BE49-F238E27FC236}">
                <a16:creationId xmlns:a16="http://schemas.microsoft.com/office/drawing/2014/main" id="{8F7B1187-DF8D-A374-1CBB-836B8843A1D6}"/>
              </a:ext>
            </a:extLst>
          </p:cNvPr>
          <p:cNvSpPr/>
          <p:nvPr/>
        </p:nvSpPr>
        <p:spPr>
          <a:xfrm rot="20397468">
            <a:off x="1532000" y="3348467"/>
            <a:ext cx="8158004" cy="923330"/>
          </a:xfrm>
          <a:prstGeom prst="rect">
            <a:avLst/>
          </a:prstGeom>
          <a:noFill/>
        </p:spPr>
        <p:txBody>
          <a:bodyPr wrap="none" lIns="91440" tIns="45720" rIns="91440" bIns="45720">
            <a:spAutoFit/>
          </a:bodyPr>
          <a:lstStyle/>
          <a:p>
            <a:pPr algn="ctr" eaLnBrk="0" fontAlgn="base" hangingPunct="0">
              <a:spcBef>
                <a:spcPct val="0"/>
              </a:spcBef>
              <a:spcAft>
                <a:spcPct val="0"/>
              </a:spcAft>
            </a:pPr>
            <a:r>
              <a:rPr lang="en-US" sz="5400" b="1" dirty="0">
                <a:ln w="22225">
                  <a:solidFill>
                    <a:srgbClr val="FFCF01"/>
                  </a:solidFill>
                  <a:prstDash val="solid"/>
                </a:ln>
                <a:solidFill>
                  <a:srgbClr val="FFCF01">
                    <a:lumMod val="40000"/>
                    <a:lumOff val="60000"/>
                  </a:srgbClr>
                </a:solidFill>
                <a:latin typeface="Tahoma" panose="020B0604030504040204" pitchFamily="34" charset="0"/>
              </a:rPr>
              <a:t>Procedural Abstraction</a:t>
            </a:r>
          </a:p>
        </p:txBody>
      </p:sp>
      <p:cxnSp>
        <p:nvCxnSpPr>
          <p:cNvPr id="11" name="Straight Connector 10">
            <a:extLst>
              <a:ext uri="{FF2B5EF4-FFF2-40B4-BE49-F238E27FC236}">
                <a16:creationId xmlns:a16="http://schemas.microsoft.com/office/drawing/2014/main" id="{B10581B0-2166-D51D-9658-5367EE448418}"/>
              </a:ext>
            </a:extLst>
          </p:cNvPr>
          <p:cNvCxnSpPr/>
          <p:nvPr/>
        </p:nvCxnSpPr>
        <p:spPr bwMode="auto">
          <a:xfrm>
            <a:off x="4143400" y="4746420"/>
            <a:ext cx="3049520" cy="895343"/>
          </a:xfrm>
          <a:prstGeom prst="line">
            <a:avLst/>
          </a:prstGeom>
          <a:noFill/>
          <a:ln w="57150" cap="flat" cmpd="sng" algn="ctr">
            <a:solidFill>
              <a:srgbClr val="FF0000"/>
            </a:solidFill>
            <a:prstDash val="solid"/>
            <a:headEnd type="none" w="med" len="med"/>
            <a:tailEnd type="none" w="med" len="med"/>
          </a:ln>
          <a:effectLst/>
        </p:spPr>
      </p:cxnSp>
      <p:cxnSp>
        <p:nvCxnSpPr>
          <p:cNvPr id="12" name="Straight Connector 11">
            <a:extLst>
              <a:ext uri="{FF2B5EF4-FFF2-40B4-BE49-F238E27FC236}">
                <a16:creationId xmlns:a16="http://schemas.microsoft.com/office/drawing/2014/main" id="{ABDBB406-0BCD-B1B3-BD20-B5902E5C361B}"/>
              </a:ext>
            </a:extLst>
          </p:cNvPr>
          <p:cNvCxnSpPr/>
          <p:nvPr/>
        </p:nvCxnSpPr>
        <p:spPr bwMode="auto">
          <a:xfrm flipV="1">
            <a:off x="4071392" y="4730345"/>
            <a:ext cx="3024336" cy="911418"/>
          </a:xfrm>
          <a:prstGeom prst="line">
            <a:avLst/>
          </a:prstGeom>
          <a:solidFill>
            <a:srgbClr val="00E4A8"/>
          </a:solidFill>
          <a:ln w="57150" cap="flat" cmpd="sng" algn="ctr">
            <a:solidFill>
              <a:srgbClr val="FF0000"/>
            </a:solidFill>
            <a:prstDash val="solid"/>
            <a:miter lim="800000"/>
            <a:headEnd type="none" w="med" len="med"/>
            <a:tailEnd type="none" w="med" len="med"/>
          </a:ln>
          <a:effectLst/>
        </p:spPr>
      </p:cxnSp>
      <p:sp>
        <p:nvSpPr>
          <p:cNvPr id="16" name="TextBox 15">
            <a:extLst>
              <a:ext uri="{FF2B5EF4-FFF2-40B4-BE49-F238E27FC236}">
                <a16:creationId xmlns:a16="http://schemas.microsoft.com/office/drawing/2014/main" id="{DFD22743-B95B-7EA3-59FB-54AF2056D8BE}"/>
              </a:ext>
            </a:extLst>
          </p:cNvPr>
          <p:cNvSpPr txBox="1"/>
          <p:nvPr/>
        </p:nvSpPr>
        <p:spPr>
          <a:xfrm>
            <a:off x="152400" y="900545"/>
            <a:ext cx="11887200" cy="830997"/>
          </a:xfrm>
          <a:prstGeom prst="rect">
            <a:avLst/>
          </a:prstGeom>
          <a:solidFill>
            <a:srgbClr val="92D050"/>
          </a:solidFill>
        </p:spPr>
        <p:txBody>
          <a:bodyPr wrap="square" rtlCol="0">
            <a:spAutoFit/>
          </a:bodyPr>
          <a:lstStyle/>
          <a:p>
            <a:pPr algn="ctr"/>
            <a:r>
              <a:rPr lang="el-GR" sz="2400" dirty="0"/>
              <a:t>επικεντρωνόμαστε στο </a:t>
            </a:r>
            <a:r>
              <a:rPr lang="el-GR" sz="2400" b="1" dirty="0"/>
              <a:t>τι κάνει</a:t>
            </a:r>
            <a:r>
              <a:rPr lang="el-GR" sz="2400" dirty="0"/>
              <a:t> μια διεργασία (αυτό αναφέρεται ως </a:t>
            </a:r>
            <a:r>
              <a:rPr lang="el-GR" sz="2400" b="1" dirty="0" err="1"/>
              <a:t>διεπαφή</a:t>
            </a:r>
            <a:r>
              <a:rPr lang="el-GR" sz="2400" dirty="0"/>
              <a:t>), χωρίς να αναφερόμαστε στο </a:t>
            </a:r>
            <a:r>
              <a:rPr lang="el-GR" sz="2400" b="1" dirty="0"/>
              <a:t>πως το κάνει</a:t>
            </a:r>
            <a:r>
              <a:rPr lang="el-GR" sz="2400" dirty="0"/>
              <a:t> (αυτό αναφέρεται ως </a:t>
            </a:r>
            <a:r>
              <a:rPr lang="el-GR" sz="2400" b="1" dirty="0"/>
              <a:t>υλοποίηση</a:t>
            </a:r>
            <a:r>
              <a:rPr lang="el-GR" sz="2400" dirty="0"/>
              <a:t>).</a:t>
            </a:r>
            <a:endParaRPr lang="en-GB" sz="2400" dirty="0"/>
          </a:p>
        </p:txBody>
      </p:sp>
    </p:spTree>
    <p:extLst>
      <p:ext uri="{BB962C8B-B14F-4D97-AF65-F5344CB8AC3E}">
        <p14:creationId xmlns:p14="http://schemas.microsoft.com/office/powerpoint/2010/main" val="107336478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34BA1-192C-2528-107A-93B29A9BFEF1}"/>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72035269-D32E-2934-D708-411024F68813}"/>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Αφαιρετικότητα στα Δεδομένα</a:t>
            </a:r>
          </a:p>
        </p:txBody>
      </p:sp>
      <p:grpSp>
        <p:nvGrpSpPr>
          <p:cNvPr id="7" name="Group 6">
            <a:extLst>
              <a:ext uri="{FF2B5EF4-FFF2-40B4-BE49-F238E27FC236}">
                <a16:creationId xmlns:a16="http://schemas.microsoft.com/office/drawing/2014/main" id="{EC282653-AFC6-5493-F40B-9253FB652333}"/>
              </a:ext>
            </a:extLst>
          </p:cNvPr>
          <p:cNvGrpSpPr/>
          <p:nvPr/>
        </p:nvGrpSpPr>
        <p:grpSpPr>
          <a:xfrm>
            <a:off x="-1" y="6559908"/>
            <a:ext cx="12192001" cy="327219"/>
            <a:chOff x="-1" y="6559908"/>
            <a:chExt cx="12192001" cy="327219"/>
          </a:xfrm>
        </p:grpSpPr>
        <p:sp>
          <p:nvSpPr>
            <p:cNvPr id="9" name="Rectangle 14">
              <a:extLst>
                <a:ext uri="{FF2B5EF4-FFF2-40B4-BE49-F238E27FC236}">
                  <a16:creationId xmlns:a16="http://schemas.microsoft.com/office/drawing/2014/main" id="{36AA86F5-81E9-EF05-AF6A-6A8450EE9CC4}"/>
                </a:ext>
              </a:extLst>
            </p:cNvPr>
            <p:cNvSpPr/>
            <p:nvPr/>
          </p:nvSpPr>
          <p:spPr>
            <a:xfrm>
              <a:off x="0"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Θέση υποσέλιδου 4">
              <a:extLst>
                <a:ext uri="{FF2B5EF4-FFF2-40B4-BE49-F238E27FC236}">
                  <a16:creationId xmlns:a16="http://schemas.microsoft.com/office/drawing/2014/main" id="{B8494137-E589-34AD-C4AA-D72D57675DF9}"/>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4" name="Θέση υποσέλιδου 4">
              <a:extLst>
                <a:ext uri="{FF2B5EF4-FFF2-40B4-BE49-F238E27FC236}">
                  <a16:creationId xmlns:a16="http://schemas.microsoft.com/office/drawing/2014/main" id="{3DC34052-A8EF-2C62-413B-4F9E80280DEF}"/>
                </a:ext>
              </a:extLst>
            </p:cNvPr>
            <p:cNvSpPr txBox="1">
              <a:spLocks/>
            </p:cNvSpPr>
            <p:nvPr/>
          </p:nvSpPr>
          <p:spPr>
            <a:xfrm>
              <a:off x="3719657" y="6610127"/>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Procedural Abstraction – </a:t>
              </a:r>
              <a:r>
                <a:rPr lang="el-GR" sz="1100" dirty="0">
                  <a:solidFill>
                    <a:schemeClr val="tx1"/>
                  </a:solidFill>
                  <a:latin typeface="Bahnschrift" panose="020B0502040204020203" pitchFamily="34" charset="0"/>
                </a:rPr>
                <a:t>Λεκτική Περιγραφή</a:t>
              </a:r>
              <a:endParaRPr lang="en-US" sz="1100" dirty="0">
                <a:solidFill>
                  <a:schemeClr val="tx1"/>
                </a:solidFill>
                <a:latin typeface="Bahnschrift" panose="020B0502040204020203" pitchFamily="34" charset="0"/>
              </a:endParaRPr>
            </a:p>
            <a:p>
              <a:endParaRPr lang="el-GR" sz="1100" dirty="0">
                <a:solidFill>
                  <a:schemeClr val="tx1"/>
                </a:solidFill>
                <a:latin typeface="Bahnschrift" panose="020B0502040204020203" pitchFamily="34" charset="0"/>
              </a:endParaRPr>
            </a:p>
          </p:txBody>
        </p:sp>
        <p:sp>
          <p:nvSpPr>
            <p:cNvPr id="15" name="TextBox 14">
              <a:extLst>
                <a:ext uri="{FF2B5EF4-FFF2-40B4-BE49-F238E27FC236}">
                  <a16:creationId xmlns:a16="http://schemas.microsoft.com/office/drawing/2014/main" id="{8C183A03-6A32-1849-9E97-60D58E055CFB}"/>
                </a:ext>
              </a:extLst>
            </p:cNvPr>
            <p:cNvSpPr txBox="1"/>
            <p:nvPr/>
          </p:nvSpPr>
          <p:spPr>
            <a:xfrm>
              <a:off x="1026906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19</a:t>
              </a:fld>
              <a:endParaRPr lang="en-US" sz="1200" dirty="0">
                <a:latin typeface="Bahnschrift Light" panose="020B0502040204020203" pitchFamily="34" charset="0"/>
                <a:cs typeface="Arial" pitchFamily="34" charset="0"/>
              </a:endParaRPr>
            </a:p>
          </p:txBody>
        </p:sp>
      </p:grpSp>
      <p:sp>
        <p:nvSpPr>
          <p:cNvPr id="3" name="Rectangle 2">
            <a:extLst>
              <a:ext uri="{FF2B5EF4-FFF2-40B4-BE49-F238E27FC236}">
                <a16:creationId xmlns:a16="http://schemas.microsoft.com/office/drawing/2014/main" id="{00D2F18B-650F-1759-C12E-466D97A67D4A}"/>
              </a:ext>
            </a:extLst>
          </p:cNvPr>
          <p:cNvSpPr/>
          <p:nvPr/>
        </p:nvSpPr>
        <p:spPr>
          <a:xfrm rot="20397468">
            <a:off x="2952604" y="2967335"/>
            <a:ext cx="6037230" cy="923330"/>
          </a:xfrm>
          <a:prstGeom prst="rect">
            <a:avLst/>
          </a:prstGeom>
          <a:noFill/>
        </p:spPr>
        <p:txBody>
          <a:bodyPr wrap="none" lIns="91440" tIns="45720" rIns="91440" bIns="45720">
            <a:spAutoFit/>
          </a:bodyPr>
          <a:lstStyle/>
          <a:p>
            <a:pPr algn="ctr" eaLnBrk="0" fontAlgn="base" hangingPunct="0">
              <a:spcBef>
                <a:spcPct val="0"/>
              </a:spcBef>
              <a:spcAft>
                <a:spcPct val="0"/>
              </a:spcAft>
            </a:pPr>
            <a:r>
              <a:rPr lang="en-US" sz="5400" b="1" dirty="0">
                <a:ln w="22225">
                  <a:solidFill>
                    <a:srgbClr val="FFCF01"/>
                  </a:solidFill>
                  <a:prstDash val="solid"/>
                </a:ln>
                <a:solidFill>
                  <a:srgbClr val="FFCF01">
                    <a:lumMod val="40000"/>
                    <a:lumOff val="60000"/>
                  </a:srgbClr>
                </a:solidFill>
                <a:latin typeface="Tahoma" panose="020B0604030504040204" pitchFamily="34" charset="0"/>
              </a:rPr>
              <a:t>Data Abstraction</a:t>
            </a:r>
          </a:p>
        </p:txBody>
      </p:sp>
      <p:pic>
        <p:nvPicPr>
          <p:cNvPr id="4" name="Picture 3">
            <a:extLst>
              <a:ext uri="{FF2B5EF4-FFF2-40B4-BE49-F238E27FC236}">
                <a16:creationId xmlns:a16="http://schemas.microsoft.com/office/drawing/2014/main" id="{393D9BE8-C3BB-434F-6088-162BBDBC0577}"/>
              </a:ext>
            </a:extLst>
          </p:cNvPr>
          <p:cNvPicPr>
            <a:picLocks noChangeAspect="1"/>
          </p:cNvPicPr>
          <p:nvPr/>
        </p:nvPicPr>
        <p:blipFill>
          <a:blip r:embed="rId3"/>
          <a:stretch>
            <a:fillRect/>
          </a:stretch>
        </p:blipFill>
        <p:spPr>
          <a:xfrm>
            <a:off x="752314" y="1401854"/>
            <a:ext cx="3228004" cy="1844573"/>
          </a:xfrm>
          <a:prstGeom prst="rect">
            <a:avLst/>
          </a:prstGeom>
        </p:spPr>
      </p:pic>
      <p:sp>
        <p:nvSpPr>
          <p:cNvPr id="5" name="TextBox 4">
            <a:extLst>
              <a:ext uri="{FF2B5EF4-FFF2-40B4-BE49-F238E27FC236}">
                <a16:creationId xmlns:a16="http://schemas.microsoft.com/office/drawing/2014/main" id="{8DA7CC90-9832-6050-383E-8B30BB49D2B3}"/>
              </a:ext>
            </a:extLst>
          </p:cNvPr>
          <p:cNvSpPr txBox="1"/>
          <p:nvPr/>
        </p:nvSpPr>
        <p:spPr>
          <a:xfrm>
            <a:off x="726711" y="911058"/>
            <a:ext cx="3453189" cy="461665"/>
          </a:xfrm>
          <a:prstGeom prst="rect">
            <a:avLst/>
          </a:prstGeom>
          <a:noFill/>
        </p:spPr>
        <p:txBody>
          <a:bodyPr wrap="none" rtlCol="0">
            <a:spAutoFit/>
          </a:bodyPr>
          <a:lstStyle/>
          <a:p>
            <a:pPr eaLnBrk="0" fontAlgn="base" hangingPunct="0">
              <a:spcBef>
                <a:spcPct val="0"/>
              </a:spcBef>
              <a:spcAft>
                <a:spcPct val="0"/>
              </a:spcAft>
            </a:pPr>
            <a:r>
              <a:rPr lang="el-GR" sz="2400" dirty="0">
                <a:solidFill>
                  <a:srgbClr val="000000"/>
                </a:solidFill>
                <a:latin typeface="Tahoma" panose="020B0604030504040204" pitchFamily="34" charset="0"/>
              </a:rPr>
              <a:t>Ταυτότητα - Διαβατήριο</a:t>
            </a:r>
          </a:p>
        </p:txBody>
      </p:sp>
      <p:sp>
        <p:nvSpPr>
          <p:cNvPr id="6" name="TextBox 5">
            <a:extLst>
              <a:ext uri="{FF2B5EF4-FFF2-40B4-BE49-F238E27FC236}">
                <a16:creationId xmlns:a16="http://schemas.microsoft.com/office/drawing/2014/main" id="{CD2AEB89-309D-E1B1-9A3C-204FF0AB7668}"/>
              </a:ext>
            </a:extLst>
          </p:cNvPr>
          <p:cNvSpPr txBox="1"/>
          <p:nvPr/>
        </p:nvSpPr>
        <p:spPr>
          <a:xfrm>
            <a:off x="8473920" y="3618007"/>
            <a:ext cx="2499402" cy="461665"/>
          </a:xfrm>
          <a:prstGeom prst="rect">
            <a:avLst/>
          </a:prstGeom>
          <a:noFill/>
        </p:spPr>
        <p:txBody>
          <a:bodyPr wrap="none" rtlCol="0">
            <a:spAutoFit/>
          </a:bodyPr>
          <a:lstStyle/>
          <a:p>
            <a:pPr eaLnBrk="0" fontAlgn="base" hangingPunct="0">
              <a:spcBef>
                <a:spcPct val="0"/>
              </a:spcBef>
              <a:spcAft>
                <a:spcPct val="0"/>
              </a:spcAft>
            </a:pPr>
            <a:r>
              <a:rPr lang="el-GR" sz="2400" dirty="0">
                <a:solidFill>
                  <a:srgbClr val="000000"/>
                </a:solidFill>
                <a:latin typeface="Tahoma" panose="020B0604030504040204" pitchFamily="34" charset="0"/>
              </a:rPr>
              <a:t>Καρτέλα φοιτητή</a:t>
            </a:r>
          </a:p>
        </p:txBody>
      </p:sp>
      <p:pic>
        <p:nvPicPr>
          <p:cNvPr id="8" name="Picture 7">
            <a:extLst>
              <a:ext uri="{FF2B5EF4-FFF2-40B4-BE49-F238E27FC236}">
                <a16:creationId xmlns:a16="http://schemas.microsoft.com/office/drawing/2014/main" id="{AB44756A-B37A-FAA1-CD98-BC176CC7F443}"/>
              </a:ext>
            </a:extLst>
          </p:cNvPr>
          <p:cNvPicPr>
            <a:picLocks noChangeAspect="1"/>
          </p:cNvPicPr>
          <p:nvPr/>
        </p:nvPicPr>
        <p:blipFill>
          <a:blip r:embed="rId4"/>
          <a:stretch>
            <a:fillRect/>
          </a:stretch>
        </p:blipFill>
        <p:spPr>
          <a:xfrm>
            <a:off x="8265322" y="4103691"/>
            <a:ext cx="2916599" cy="2122967"/>
          </a:xfrm>
          <a:prstGeom prst="rect">
            <a:avLst/>
          </a:prstGeom>
        </p:spPr>
      </p:pic>
      <p:sp>
        <p:nvSpPr>
          <p:cNvPr id="10" name="TextBox 9">
            <a:extLst>
              <a:ext uri="{FF2B5EF4-FFF2-40B4-BE49-F238E27FC236}">
                <a16:creationId xmlns:a16="http://schemas.microsoft.com/office/drawing/2014/main" id="{B3586AB9-E4E0-6E7A-2A6F-2631D4BD1938}"/>
              </a:ext>
            </a:extLst>
          </p:cNvPr>
          <p:cNvSpPr txBox="1"/>
          <p:nvPr/>
        </p:nvSpPr>
        <p:spPr>
          <a:xfrm>
            <a:off x="1264222" y="5230473"/>
            <a:ext cx="3425938" cy="830997"/>
          </a:xfrm>
          <a:prstGeom prst="rect">
            <a:avLst/>
          </a:prstGeom>
          <a:noFill/>
        </p:spPr>
        <p:txBody>
          <a:bodyPr wrap="none" rtlCol="0">
            <a:spAutoFit/>
          </a:bodyPr>
          <a:lstStyle/>
          <a:p>
            <a:pPr eaLnBrk="0" fontAlgn="base" hangingPunct="0">
              <a:spcBef>
                <a:spcPct val="0"/>
              </a:spcBef>
              <a:spcAft>
                <a:spcPct val="0"/>
              </a:spcAft>
            </a:pPr>
            <a:r>
              <a:rPr lang="el-GR" sz="2400" dirty="0">
                <a:solidFill>
                  <a:srgbClr val="000000"/>
                </a:solidFill>
                <a:latin typeface="Tahoma" panose="020B0604030504040204" pitchFamily="34" charset="0"/>
              </a:rPr>
              <a:t>Πιστοποιητικό Γέννησης</a:t>
            </a:r>
          </a:p>
          <a:p>
            <a:pPr eaLnBrk="0" fontAlgn="base" hangingPunct="0">
              <a:spcBef>
                <a:spcPct val="0"/>
              </a:spcBef>
              <a:spcAft>
                <a:spcPct val="0"/>
              </a:spcAft>
            </a:pPr>
            <a:r>
              <a:rPr lang="el-GR" sz="2400" dirty="0">
                <a:solidFill>
                  <a:srgbClr val="000000"/>
                </a:solidFill>
                <a:latin typeface="Tahoma" panose="020B0604030504040204" pitchFamily="34" charset="0"/>
              </a:rPr>
              <a:t>Φοιτητικό Πάσο</a:t>
            </a:r>
          </a:p>
        </p:txBody>
      </p:sp>
    </p:spTree>
    <p:extLst>
      <p:ext uri="{BB962C8B-B14F-4D97-AF65-F5344CB8AC3E}">
        <p14:creationId xmlns:p14="http://schemas.microsoft.com/office/powerpoint/2010/main" val="416492261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ACF9E-2134-D341-01BE-21C0205B99C7}"/>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A38F5DA6-9FF0-46AF-5FDF-EC883D3D529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Υπολογιστική Διεργασία</a:t>
            </a:r>
          </a:p>
        </p:txBody>
      </p:sp>
      <p:grpSp>
        <p:nvGrpSpPr>
          <p:cNvPr id="7" name="Group 6">
            <a:extLst>
              <a:ext uri="{FF2B5EF4-FFF2-40B4-BE49-F238E27FC236}">
                <a16:creationId xmlns:a16="http://schemas.microsoft.com/office/drawing/2014/main" id="{27B7E4C8-99B0-F7E9-80CA-8129B141381E}"/>
              </a:ext>
            </a:extLst>
          </p:cNvPr>
          <p:cNvGrpSpPr/>
          <p:nvPr/>
        </p:nvGrpSpPr>
        <p:grpSpPr>
          <a:xfrm>
            <a:off x="-1" y="6559908"/>
            <a:ext cx="12192001" cy="327219"/>
            <a:chOff x="-1" y="6559908"/>
            <a:chExt cx="12192001" cy="327219"/>
          </a:xfrm>
        </p:grpSpPr>
        <p:sp>
          <p:nvSpPr>
            <p:cNvPr id="9" name="Rectangle 14">
              <a:extLst>
                <a:ext uri="{FF2B5EF4-FFF2-40B4-BE49-F238E27FC236}">
                  <a16:creationId xmlns:a16="http://schemas.microsoft.com/office/drawing/2014/main" id="{6B28923B-ECA1-A61E-6242-AC2825A8569B}"/>
                </a:ext>
              </a:extLst>
            </p:cNvPr>
            <p:cNvSpPr/>
            <p:nvPr/>
          </p:nvSpPr>
          <p:spPr>
            <a:xfrm>
              <a:off x="0"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Θέση υποσέλιδου 4">
              <a:extLst>
                <a:ext uri="{FF2B5EF4-FFF2-40B4-BE49-F238E27FC236}">
                  <a16:creationId xmlns:a16="http://schemas.microsoft.com/office/drawing/2014/main" id="{2DDD13D3-2B17-040B-34F1-88678E1E0EB3}"/>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4" name="Θέση υποσέλιδου 4">
              <a:extLst>
                <a:ext uri="{FF2B5EF4-FFF2-40B4-BE49-F238E27FC236}">
                  <a16:creationId xmlns:a16="http://schemas.microsoft.com/office/drawing/2014/main" id="{21AF8188-623C-13E2-F7EA-1C3610226302}"/>
                </a:ext>
              </a:extLst>
            </p:cNvPr>
            <p:cNvSpPr txBox="1">
              <a:spLocks/>
            </p:cNvSpPr>
            <p:nvPr/>
          </p:nvSpPr>
          <p:spPr>
            <a:xfrm>
              <a:off x="3719657" y="6610127"/>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Procedural Abstraction – </a:t>
              </a:r>
              <a:r>
                <a:rPr lang="el-GR" sz="1100" dirty="0">
                  <a:solidFill>
                    <a:schemeClr val="tx1"/>
                  </a:solidFill>
                  <a:latin typeface="Bahnschrift" panose="020B0502040204020203" pitchFamily="34" charset="0"/>
                </a:rPr>
                <a:t>Λεκτική Περιγραφή</a:t>
              </a:r>
              <a:endParaRPr lang="en-US" sz="1100" dirty="0">
                <a:solidFill>
                  <a:schemeClr val="tx1"/>
                </a:solidFill>
                <a:latin typeface="Bahnschrift" panose="020B0502040204020203" pitchFamily="34" charset="0"/>
              </a:endParaRPr>
            </a:p>
            <a:p>
              <a:endParaRPr lang="el-GR" sz="1100" dirty="0">
                <a:solidFill>
                  <a:schemeClr val="tx1"/>
                </a:solidFill>
                <a:latin typeface="Bahnschrift" panose="020B0502040204020203" pitchFamily="34" charset="0"/>
              </a:endParaRPr>
            </a:p>
          </p:txBody>
        </p:sp>
        <p:sp>
          <p:nvSpPr>
            <p:cNvPr id="15" name="TextBox 14">
              <a:extLst>
                <a:ext uri="{FF2B5EF4-FFF2-40B4-BE49-F238E27FC236}">
                  <a16:creationId xmlns:a16="http://schemas.microsoft.com/office/drawing/2014/main" id="{799EF349-3495-4F7C-3CC8-05BECCC0853D}"/>
                </a:ext>
              </a:extLst>
            </p:cNvPr>
            <p:cNvSpPr txBox="1"/>
            <p:nvPr/>
          </p:nvSpPr>
          <p:spPr>
            <a:xfrm>
              <a:off x="1026906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20</a:t>
              </a:fld>
              <a:endParaRPr lang="en-US" sz="1200" dirty="0">
                <a:latin typeface="Bahnschrift Light" panose="020B0502040204020203" pitchFamily="34" charset="0"/>
                <a:cs typeface="Arial" pitchFamily="34" charset="0"/>
              </a:endParaRPr>
            </a:p>
          </p:txBody>
        </p:sp>
      </p:grpSp>
      <p:sp>
        <p:nvSpPr>
          <p:cNvPr id="4" name="Rectangle 3">
            <a:extLst>
              <a:ext uri="{FF2B5EF4-FFF2-40B4-BE49-F238E27FC236}">
                <a16:creationId xmlns:a16="http://schemas.microsoft.com/office/drawing/2014/main" id="{2E044CD2-9FF3-E0E3-9132-A8132702EB28}"/>
              </a:ext>
            </a:extLst>
          </p:cNvPr>
          <p:cNvSpPr txBox="1">
            <a:spLocks noChangeArrowheads="1"/>
          </p:cNvSpPr>
          <p:nvPr/>
        </p:nvSpPr>
        <p:spPr bwMode="auto">
          <a:xfrm>
            <a:off x="401782" y="1032787"/>
            <a:ext cx="10917381" cy="2951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Char char="n"/>
              <a:tabLst/>
              <a:defRPr/>
            </a:pPr>
            <a:r>
              <a:rPr kumimoji="0" lang="el-GR" altLang="el-GR" sz="3200" b="0" i="0" u="none" strike="noStrike" kern="0" cap="none" spc="0" normalizeH="0" baseline="0" noProof="0" dirty="0">
                <a:ln>
                  <a:noFill/>
                </a:ln>
                <a:solidFill>
                  <a:srgbClr val="000000"/>
                </a:solidFill>
                <a:effectLst/>
                <a:uLnTx/>
                <a:uFillTx/>
                <a:latin typeface="Tahoma"/>
                <a:ea typeface="+mn-ea"/>
                <a:cs typeface="+mn-cs"/>
              </a:rPr>
              <a:t>Διεργασία</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anose="05000000000000000000" pitchFamily="2" charset="2"/>
              <a:buChar char="n"/>
              <a:tabLst/>
              <a:defRPr/>
            </a:pPr>
            <a:r>
              <a:rPr kumimoji="0" lang="el-GR" altLang="el-GR" sz="2800" b="0" i="0" u="none" strike="noStrike" kern="0" cap="none" spc="0" normalizeH="0" baseline="0" noProof="0" dirty="0">
                <a:ln>
                  <a:noFill/>
                </a:ln>
                <a:solidFill>
                  <a:srgbClr val="000000"/>
                </a:solidFill>
                <a:effectLst/>
                <a:uLnTx/>
                <a:uFillTx/>
                <a:latin typeface="Tahoma"/>
              </a:rPr>
              <a:t>Ο όρος αναφέρεται σε ένα σύνολο από ενέργειες που μπορεί να εκτελέσει μια οντότητα του φυσικού κόσμου για να φέρει σε πέρας ένα απλό ή σύνθετο έργο.</a:t>
            </a:r>
            <a:endParaRPr kumimoji="0" lang="en-US" altLang="el-GR" sz="3200" b="0" i="0" u="none" strike="noStrike" kern="0" cap="none" spc="0" normalizeH="0" baseline="0" noProof="0" dirty="0">
              <a:ln>
                <a:noFill/>
              </a:ln>
              <a:solidFill>
                <a:srgbClr val="000000"/>
              </a:solidFill>
              <a:effectLst/>
              <a:uLnTx/>
              <a:uFillTx/>
              <a:latin typeface="Tahoma"/>
              <a:ea typeface="+mn-ea"/>
              <a:cs typeface="+mn-cs"/>
            </a:endParaRPr>
          </a:p>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Char char="n"/>
              <a:tabLst/>
              <a:defRPr/>
            </a:pPr>
            <a:r>
              <a:rPr kumimoji="0" lang="el-GR" altLang="el-GR" sz="3200" b="1" i="0" u="none" strike="noStrike" kern="0" cap="none" spc="0" normalizeH="0" baseline="0" noProof="0" dirty="0">
                <a:ln>
                  <a:noFill/>
                </a:ln>
                <a:solidFill>
                  <a:srgbClr val="000000"/>
                </a:solidFill>
                <a:effectLst/>
                <a:uLnTx/>
                <a:uFillTx/>
                <a:latin typeface="Tahoma"/>
                <a:ea typeface="+mn-ea"/>
                <a:cs typeface="+mn-cs"/>
              </a:rPr>
              <a:t>Υπολογιστική Διεργασία</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anose="05000000000000000000" pitchFamily="2" charset="2"/>
              <a:buChar char="n"/>
              <a:tabLst/>
              <a:defRPr/>
            </a:pPr>
            <a:r>
              <a:rPr kumimoji="0" lang="el-GR" altLang="el-GR" sz="2800" b="0" i="0" u="none" strike="noStrike" kern="0" cap="none" spc="0" normalizeH="0" baseline="0" noProof="0" dirty="0">
                <a:ln>
                  <a:noFill/>
                </a:ln>
                <a:solidFill>
                  <a:srgbClr val="000000"/>
                </a:solidFill>
                <a:effectLst/>
                <a:uLnTx/>
                <a:uFillTx/>
                <a:latin typeface="Tahoma"/>
              </a:rPr>
              <a:t>Η διεργασία που εκτελείται από έναν υπολογιστή.</a:t>
            </a:r>
          </a:p>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None/>
              <a:tabLst/>
              <a:defRPr/>
            </a:pPr>
            <a:r>
              <a:rPr kumimoji="0" lang="el-GR" altLang="el-GR" sz="3200" b="0" i="0" u="none" strike="noStrike" kern="0" cap="none" spc="0" normalizeH="0" baseline="0" noProof="0" dirty="0">
                <a:ln>
                  <a:noFill/>
                </a:ln>
                <a:solidFill>
                  <a:srgbClr val="000000"/>
                </a:solidFill>
                <a:effectLst/>
                <a:uLnTx/>
                <a:uFillTx/>
                <a:latin typeface="Tahoma"/>
                <a:ea typeface="+mn-ea"/>
                <a:cs typeface="+mn-cs"/>
              </a:rPr>
              <a:t>		π.χ. υπολογισμός μέσου όρου	</a:t>
            </a:r>
            <a:endParaRPr kumimoji="0" lang="en-US" altLang="el-GR" sz="3200" b="0" i="0" u="none" strike="noStrike" kern="0" cap="none" spc="0" normalizeH="0" baseline="0" noProof="0" dirty="0">
              <a:ln>
                <a:noFill/>
              </a:ln>
              <a:solidFill>
                <a:srgbClr val="000000"/>
              </a:solidFill>
              <a:effectLst/>
              <a:uLnTx/>
              <a:uFillTx/>
              <a:latin typeface="Tahoma"/>
              <a:ea typeface="+mn-ea"/>
              <a:cs typeface="+mn-cs"/>
            </a:endParaRPr>
          </a:p>
        </p:txBody>
      </p:sp>
      <p:sp>
        <p:nvSpPr>
          <p:cNvPr id="5" name="TextBox 4">
            <a:extLst>
              <a:ext uri="{FF2B5EF4-FFF2-40B4-BE49-F238E27FC236}">
                <a16:creationId xmlns:a16="http://schemas.microsoft.com/office/drawing/2014/main" id="{5FE9641E-BCC9-866F-B4AE-DEF7E0FA4158}"/>
              </a:ext>
            </a:extLst>
          </p:cNvPr>
          <p:cNvSpPr txBox="1"/>
          <p:nvPr/>
        </p:nvSpPr>
        <p:spPr>
          <a:xfrm>
            <a:off x="249381" y="4933973"/>
            <a:ext cx="11693236" cy="1384995"/>
          </a:xfrm>
          <a:prstGeom prst="rect">
            <a:avLst/>
          </a:prstGeom>
          <a:solidFill>
            <a:srgbClr val="92D050"/>
          </a:solidFill>
        </p:spPr>
        <p:txBody>
          <a:bodyPr wrap="square" rtlCol="0">
            <a:spAutoFit/>
          </a:bodyPr>
          <a:lstStyle/>
          <a:p>
            <a:pPr marL="342900" indent="-342900">
              <a:buFont typeface="Arial" panose="020B0604020202020204" pitchFamily="34" charset="0"/>
              <a:buChar char="•"/>
            </a:pPr>
            <a:r>
              <a:rPr lang="el-GR" sz="2800" dirty="0"/>
              <a:t>η διεργασία υπολογισμού του μέσου όρου μιας ακολουθίας αριθμών απαιτεί την εκτέλεση επιμέρους διεργασιών, όπως η πρόσθεση και η διαίρεση.</a:t>
            </a:r>
          </a:p>
        </p:txBody>
      </p:sp>
    </p:spTree>
    <p:extLst>
      <p:ext uri="{BB962C8B-B14F-4D97-AF65-F5344CB8AC3E}">
        <p14:creationId xmlns:p14="http://schemas.microsoft.com/office/powerpoint/2010/main" val="423528301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linds(horizontal)">
                                      <p:cBhvr>
                                        <p:cTn id="7" dur="500"/>
                                        <p:tgtEl>
                                          <p:spTgt spid="4">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blinds(horizontal)">
                                      <p:cBhvr>
                                        <p:cTn id="10" dur="5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blinds(horizontal)">
                                      <p:cBhvr>
                                        <p:cTn id="15" dur="500"/>
                                        <p:tgtEl>
                                          <p:spTgt spid="4">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blinds(horizontal)">
                                      <p:cBhvr>
                                        <p:cTn id="18" dur="500"/>
                                        <p:tgtEl>
                                          <p:spTgt spid="4">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blinds(horizontal)">
                                      <p:cBhvr>
                                        <p:cTn id="23" dur="500"/>
                                        <p:tgtEl>
                                          <p:spTgt spid="4">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3C15B-AE79-4DDA-3F07-607BE5D23177}"/>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5A8ECBE9-12BD-C238-523A-FEB46E3FEFA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Πρωτογενείς και Σύνθετες Διεργασίες</a:t>
            </a:r>
          </a:p>
        </p:txBody>
      </p:sp>
      <p:grpSp>
        <p:nvGrpSpPr>
          <p:cNvPr id="7" name="Group 6">
            <a:extLst>
              <a:ext uri="{FF2B5EF4-FFF2-40B4-BE49-F238E27FC236}">
                <a16:creationId xmlns:a16="http://schemas.microsoft.com/office/drawing/2014/main" id="{FADFDF3A-2CE6-9B7E-115D-5255107C3355}"/>
              </a:ext>
            </a:extLst>
          </p:cNvPr>
          <p:cNvGrpSpPr/>
          <p:nvPr/>
        </p:nvGrpSpPr>
        <p:grpSpPr>
          <a:xfrm>
            <a:off x="-1" y="6559908"/>
            <a:ext cx="12192001" cy="327219"/>
            <a:chOff x="-1" y="6559908"/>
            <a:chExt cx="12192001" cy="327219"/>
          </a:xfrm>
        </p:grpSpPr>
        <p:sp>
          <p:nvSpPr>
            <p:cNvPr id="9" name="Rectangle 14">
              <a:extLst>
                <a:ext uri="{FF2B5EF4-FFF2-40B4-BE49-F238E27FC236}">
                  <a16:creationId xmlns:a16="http://schemas.microsoft.com/office/drawing/2014/main" id="{2A005684-5B9D-EDC3-8013-101806AF87E6}"/>
                </a:ext>
              </a:extLst>
            </p:cNvPr>
            <p:cNvSpPr/>
            <p:nvPr/>
          </p:nvSpPr>
          <p:spPr>
            <a:xfrm>
              <a:off x="0"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Θέση υποσέλιδου 4">
              <a:extLst>
                <a:ext uri="{FF2B5EF4-FFF2-40B4-BE49-F238E27FC236}">
                  <a16:creationId xmlns:a16="http://schemas.microsoft.com/office/drawing/2014/main" id="{8DEFD1C0-D27C-FA2A-5D28-68593473BE66}"/>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4" name="Θέση υποσέλιδου 4">
              <a:extLst>
                <a:ext uri="{FF2B5EF4-FFF2-40B4-BE49-F238E27FC236}">
                  <a16:creationId xmlns:a16="http://schemas.microsoft.com/office/drawing/2014/main" id="{DD3ADE14-0C2E-4628-3C01-6ECCA02B00B0}"/>
                </a:ext>
              </a:extLst>
            </p:cNvPr>
            <p:cNvSpPr txBox="1">
              <a:spLocks/>
            </p:cNvSpPr>
            <p:nvPr/>
          </p:nvSpPr>
          <p:spPr>
            <a:xfrm>
              <a:off x="3719657" y="6610127"/>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Procedural Abstraction – </a:t>
              </a:r>
              <a:r>
                <a:rPr lang="el-GR" sz="1100" dirty="0">
                  <a:solidFill>
                    <a:schemeClr val="tx1"/>
                  </a:solidFill>
                  <a:latin typeface="Bahnschrift" panose="020B0502040204020203" pitchFamily="34" charset="0"/>
                </a:rPr>
                <a:t>Λεκτική Περιγραφή</a:t>
              </a:r>
              <a:endParaRPr lang="en-US" sz="1100" dirty="0">
                <a:solidFill>
                  <a:schemeClr val="tx1"/>
                </a:solidFill>
                <a:latin typeface="Bahnschrift" panose="020B0502040204020203" pitchFamily="34" charset="0"/>
              </a:endParaRPr>
            </a:p>
            <a:p>
              <a:endParaRPr lang="el-GR" sz="1100" dirty="0">
                <a:solidFill>
                  <a:schemeClr val="tx1"/>
                </a:solidFill>
                <a:latin typeface="Bahnschrift" panose="020B0502040204020203" pitchFamily="34" charset="0"/>
              </a:endParaRPr>
            </a:p>
          </p:txBody>
        </p:sp>
        <p:sp>
          <p:nvSpPr>
            <p:cNvPr id="15" name="TextBox 14">
              <a:extLst>
                <a:ext uri="{FF2B5EF4-FFF2-40B4-BE49-F238E27FC236}">
                  <a16:creationId xmlns:a16="http://schemas.microsoft.com/office/drawing/2014/main" id="{F5871B97-61B1-8140-08A5-B422F305C372}"/>
                </a:ext>
              </a:extLst>
            </p:cNvPr>
            <p:cNvSpPr txBox="1"/>
            <p:nvPr/>
          </p:nvSpPr>
          <p:spPr>
            <a:xfrm>
              <a:off x="1026906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21</a:t>
              </a:fld>
              <a:endParaRPr lang="en-US" sz="1200" dirty="0">
                <a:latin typeface="Bahnschrift Light" panose="020B0502040204020203" pitchFamily="34" charset="0"/>
                <a:cs typeface="Arial" pitchFamily="34" charset="0"/>
              </a:endParaRPr>
            </a:p>
          </p:txBody>
        </p:sp>
      </p:grpSp>
      <p:sp>
        <p:nvSpPr>
          <p:cNvPr id="3" name="TextBox 2">
            <a:extLst>
              <a:ext uri="{FF2B5EF4-FFF2-40B4-BE49-F238E27FC236}">
                <a16:creationId xmlns:a16="http://schemas.microsoft.com/office/drawing/2014/main" id="{18A034C8-C6C3-B3F2-593D-B71FDD0D3F3D}"/>
              </a:ext>
            </a:extLst>
          </p:cNvPr>
          <p:cNvSpPr txBox="1"/>
          <p:nvPr/>
        </p:nvSpPr>
        <p:spPr>
          <a:xfrm>
            <a:off x="188895" y="870153"/>
            <a:ext cx="11822996" cy="1815882"/>
          </a:xfrm>
          <a:prstGeom prst="rect">
            <a:avLst/>
          </a:prstGeom>
          <a:solidFill>
            <a:srgbClr val="92D050"/>
          </a:solidFill>
        </p:spPr>
        <p:txBody>
          <a:bodyPr wrap="square" rtlCol="0">
            <a:spAutoFit/>
          </a:bodyPr>
          <a:lstStyle/>
          <a:p>
            <a:pPr marL="457200" indent="-457200">
              <a:buClr>
                <a:srgbClr val="0070C0"/>
              </a:buClr>
              <a:buFont typeface="Wingdings" panose="05000000000000000000" pitchFamily="2" charset="2"/>
              <a:buChar char="§"/>
            </a:pPr>
            <a:r>
              <a:rPr lang="el-GR" sz="2800" dirty="0"/>
              <a:t>η διεργασία υπολογισμού μέσου όρου είναι </a:t>
            </a:r>
            <a:r>
              <a:rPr lang="el-GR" sz="2800" b="1" dirty="0">
                <a:solidFill>
                  <a:srgbClr val="C00000"/>
                </a:solidFill>
              </a:rPr>
              <a:t>σύνθετη</a:t>
            </a:r>
            <a:r>
              <a:rPr lang="el-GR" sz="2800" dirty="0"/>
              <a:t>. </a:t>
            </a:r>
          </a:p>
          <a:p>
            <a:pPr marL="457200" indent="-457200">
              <a:buClr>
                <a:srgbClr val="0070C0"/>
              </a:buClr>
              <a:buFont typeface="Wingdings" panose="05000000000000000000" pitchFamily="2" charset="2"/>
              <a:buChar char="§"/>
            </a:pPr>
            <a:r>
              <a:rPr lang="el-GR" sz="2800" dirty="0"/>
              <a:t>Η περιγραφή της σειράς των επιμέρους διεργασιών που πρέπει να εκτελεστούν περιγράφονται με χρήση της </a:t>
            </a:r>
            <a:r>
              <a:rPr lang="el-GR" sz="2800" b="1" dirty="0"/>
              <a:t>γλώσσας προγραμματισμού</a:t>
            </a:r>
            <a:r>
              <a:rPr lang="el-GR" sz="2800" dirty="0"/>
              <a:t> και απαρτίζουν αυτό που ονομάζουμε </a:t>
            </a:r>
            <a:r>
              <a:rPr lang="el-GR" sz="2800" b="1" dirty="0"/>
              <a:t>πρόγραμμα</a:t>
            </a:r>
            <a:r>
              <a:rPr lang="el-GR" sz="2800" dirty="0"/>
              <a:t>. </a:t>
            </a:r>
            <a:endParaRPr lang="en-GB" sz="2800" dirty="0"/>
          </a:p>
        </p:txBody>
      </p:sp>
      <p:sp>
        <p:nvSpPr>
          <p:cNvPr id="5" name="TextBox 4">
            <a:extLst>
              <a:ext uri="{FF2B5EF4-FFF2-40B4-BE49-F238E27FC236}">
                <a16:creationId xmlns:a16="http://schemas.microsoft.com/office/drawing/2014/main" id="{3842438A-DA37-588D-7AE6-124F297BAE28}"/>
              </a:ext>
            </a:extLst>
          </p:cNvPr>
          <p:cNvSpPr txBox="1"/>
          <p:nvPr/>
        </p:nvSpPr>
        <p:spPr>
          <a:xfrm>
            <a:off x="188895" y="2836857"/>
            <a:ext cx="11822996" cy="2862322"/>
          </a:xfrm>
          <a:prstGeom prst="rect">
            <a:avLst/>
          </a:prstGeom>
          <a:solidFill>
            <a:srgbClr val="92D050"/>
          </a:solidFill>
        </p:spPr>
        <p:txBody>
          <a:bodyPr wrap="square" rtlCol="0">
            <a:spAutoFit/>
          </a:bodyPr>
          <a:lstStyle/>
          <a:p>
            <a:pPr marL="457200" indent="-457200">
              <a:buClr>
                <a:srgbClr val="0070C0"/>
              </a:buClr>
              <a:buFont typeface="Wingdings" panose="05000000000000000000" pitchFamily="2" charset="2"/>
              <a:buChar char="§"/>
            </a:pPr>
            <a:r>
              <a:rPr lang="el-GR" sz="2800" dirty="0"/>
              <a:t>Ορισμένες διεργασίες, όπως η πρόσθεση, θεωρούνται </a:t>
            </a:r>
            <a:r>
              <a:rPr lang="el-GR" sz="2800" b="1" dirty="0">
                <a:solidFill>
                  <a:srgbClr val="C00000"/>
                </a:solidFill>
              </a:rPr>
              <a:t>πρωτογενείς</a:t>
            </a:r>
            <a:r>
              <a:rPr lang="el-GR" sz="2800" dirty="0"/>
              <a:t> στο πλαίσιο της γλώσσας προγραμματισμού, επειδή δεν απαιτείται να περιγράψουμε τις επιμέρους ενέργειες για την εκτέλεση τους. </a:t>
            </a:r>
          </a:p>
          <a:p>
            <a:pPr marL="342900" indent="-342900">
              <a:buClr>
                <a:srgbClr val="0070C0"/>
              </a:buClr>
              <a:buFont typeface="Wingdings" panose="05000000000000000000" pitchFamily="2" charset="2"/>
              <a:buChar char="§"/>
            </a:pPr>
            <a:r>
              <a:rPr lang="el-GR" sz="2400" dirty="0"/>
              <a:t>Ωστόσο, σε επίπεδο υλικού, ακόμα και η πρόσθεση είναι σύνθετη, καθώς υλοποιείται με μια συγκεκριμένη διάταξη των συνθετικών του υλικού. </a:t>
            </a:r>
            <a:endParaRPr lang="en-GB" sz="2400" dirty="0"/>
          </a:p>
          <a:p>
            <a:pPr marL="342900" indent="-342900">
              <a:buClr>
                <a:srgbClr val="0070C0"/>
              </a:buClr>
              <a:buFont typeface="Wingdings" panose="05000000000000000000" pitchFamily="2" charset="2"/>
              <a:buChar char="§"/>
            </a:pPr>
            <a:r>
              <a:rPr lang="el-GR" sz="2400" dirty="0"/>
              <a:t>Συνεπώς, το αν μια διεργασία είναι σύνθετη ή πρωτογενής εξαρτάται από το </a:t>
            </a:r>
            <a:r>
              <a:rPr lang="el-GR" sz="2400" b="1" dirty="0"/>
              <a:t>επίπεδο αφαιρετικότητας </a:t>
            </a:r>
            <a:r>
              <a:rPr lang="el-GR" sz="2400" dirty="0"/>
              <a:t>στο οποίο δουλεύουμε. </a:t>
            </a:r>
            <a:endParaRPr lang="en-GB" sz="2400" dirty="0"/>
          </a:p>
        </p:txBody>
      </p:sp>
      <p:sp>
        <p:nvSpPr>
          <p:cNvPr id="6" name="TextBox 5">
            <a:extLst>
              <a:ext uri="{FF2B5EF4-FFF2-40B4-BE49-F238E27FC236}">
                <a16:creationId xmlns:a16="http://schemas.microsoft.com/office/drawing/2014/main" id="{7B0BA1E4-66A5-5095-F6ED-CB156207327C}"/>
              </a:ext>
            </a:extLst>
          </p:cNvPr>
          <p:cNvSpPr txBox="1"/>
          <p:nvPr/>
        </p:nvSpPr>
        <p:spPr>
          <a:xfrm>
            <a:off x="188895" y="5709912"/>
            <a:ext cx="11822996" cy="830997"/>
          </a:xfrm>
          <a:prstGeom prst="rect">
            <a:avLst/>
          </a:prstGeom>
          <a:solidFill>
            <a:schemeClr val="accent4">
              <a:lumMod val="75000"/>
            </a:schemeClr>
          </a:solidFill>
        </p:spPr>
        <p:txBody>
          <a:bodyPr wrap="square" rtlCol="0">
            <a:spAutoFit/>
          </a:bodyPr>
          <a:lstStyle/>
          <a:p>
            <a:pPr algn="ctr"/>
            <a:r>
              <a:rPr lang="el-GR" sz="2400" dirty="0"/>
              <a:t>Η γλώσσα προγραμματισμού </a:t>
            </a:r>
            <a:r>
              <a:rPr lang="en-US" sz="2400" dirty="0"/>
              <a:t>C </a:t>
            </a:r>
            <a:r>
              <a:rPr lang="el-GR" sz="2400" dirty="0"/>
              <a:t>παρέχει ένα σύνολο συμβόλων, που είναι γνωστά ως </a:t>
            </a:r>
            <a:r>
              <a:rPr lang="el-GR" sz="2400" b="1" dirty="0"/>
              <a:t>Τελεστές</a:t>
            </a:r>
            <a:r>
              <a:rPr lang="el-GR" sz="2400" dirty="0"/>
              <a:t>, και αναφέρονται σε πρωτογενείς διεργασίες.</a:t>
            </a:r>
            <a:endParaRPr lang="en-GB" sz="2400" dirty="0"/>
          </a:p>
        </p:txBody>
      </p:sp>
    </p:spTree>
    <p:extLst>
      <p:ext uri="{BB962C8B-B14F-4D97-AF65-F5344CB8AC3E}">
        <p14:creationId xmlns:p14="http://schemas.microsoft.com/office/powerpoint/2010/main" val="385444376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E8C95-EEB2-7E28-29FD-7EC08C5DF7DC}"/>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4B7D2350-C6E3-7D80-0576-3CC27128BB14}"/>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Λεκτική Περιγραφή</a:t>
            </a:r>
          </a:p>
        </p:txBody>
      </p:sp>
      <p:grpSp>
        <p:nvGrpSpPr>
          <p:cNvPr id="7" name="Group 6">
            <a:extLst>
              <a:ext uri="{FF2B5EF4-FFF2-40B4-BE49-F238E27FC236}">
                <a16:creationId xmlns:a16="http://schemas.microsoft.com/office/drawing/2014/main" id="{0B301787-63BE-86B2-FB35-11318C750E90}"/>
              </a:ext>
            </a:extLst>
          </p:cNvPr>
          <p:cNvGrpSpPr/>
          <p:nvPr/>
        </p:nvGrpSpPr>
        <p:grpSpPr>
          <a:xfrm>
            <a:off x="-1" y="6559908"/>
            <a:ext cx="12192001" cy="327219"/>
            <a:chOff x="-1" y="6559908"/>
            <a:chExt cx="12192001" cy="327219"/>
          </a:xfrm>
        </p:grpSpPr>
        <p:sp>
          <p:nvSpPr>
            <p:cNvPr id="9" name="Rectangle 14">
              <a:extLst>
                <a:ext uri="{FF2B5EF4-FFF2-40B4-BE49-F238E27FC236}">
                  <a16:creationId xmlns:a16="http://schemas.microsoft.com/office/drawing/2014/main" id="{5A1E57FB-3EC9-72D6-E6B5-864468D01D5F}"/>
                </a:ext>
              </a:extLst>
            </p:cNvPr>
            <p:cNvSpPr/>
            <p:nvPr/>
          </p:nvSpPr>
          <p:spPr>
            <a:xfrm>
              <a:off x="0"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Θέση υποσέλιδου 4">
              <a:extLst>
                <a:ext uri="{FF2B5EF4-FFF2-40B4-BE49-F238E27FC236}">
                  <a16:creationId xmlns:a16="http://schemas.microsoft.com/office/drawing/2014/main" id="{48BEEC91-0D8B-4539-5C29-7B51FED68D8D}"/>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4" name="Θέση υποσέλιδου 4">
              <a:extLst>
                <a:ext uri="{FF2B5EF4-FFF2-40B4-BE49-F238E27FC236}">
                  <a16:creationId xmlns:a16="http://schemas.microsoft.com/office/drawing/2014/main" id="{F1BFA592-E4BF-5815-DA16-0F9C3FAF172F}"/>
                </a:ext>
              </a:extLst>
            </p:cNvPr>
            <p:cNvSpPr txBox="1">
              <a:spLocks/>
            </p:cNvSpPr>
            <p:nvPr/>
          </p:nvSpPr>
          <p:spPr>
            <a:xfrm>
              <a:off x="3719657" y="6610127"/>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Procedural Abstraction – </a:t>
              </a:r>
              <a:r>
                <a:rPr lang="el-GR" sz="1100" dirty="0">
                  <a:solidFill>
                    <a:schemeClr val="tx1"/>
                  </a:solidFill>
                  <a:latin typeface="Bahnschrift" panose="020B0502040204020203" pitchFamily="34" charset="0"/>
                </a:rPr>
                <a:t>Λεκτική Περιγραφή</a:t>
              </a:r>
              <a:endParaRPr lang="en-US" sz="1100" dirty="0">
                <a:solidFill>
                  <a:schemeClr val="tx1"/>
                </a:solidFill>
                <a:latin typeface="Bahnschrift" panose="020B0502040204020203" pitchFamily="34" charset="0"/>
              </a:endParaRPr>
            </a:p>
            <a:p>
              <a:endParaRPr lang="el-GR" sz="1100" dirty="0">
                <a:solidFill>
                  <a:schemeClr val="tx1"/>
                </a:solidFill>
                <a:latin typeface="Bahnschrift" panose="020B0502040204020203" pitchFamily="34" charset="0"/>
              </a:endParaRPr>
            </a:p>
          </p:txBody>
        </p:sp>
        <p:sp>
          <p:nvSpPr>
            <p:cNvPr id="15" name="TextBox 14">
              <a:extLst>
                <a:ext uri="{FF2B5EF4-FFF2-40B4-BE49-F238E27FC236}">
                  <a16:creationId xmlns:a16="http://schemas.microsoft.com/office/drawing/2014/main" id="{1DC99031-3D1B-6A75-782F-82815CDDAD21}"/>
                </a:ext>
              </a:extLst>
            </p:cNvPr>
            <p:cNvSpPr txBox="1"/>
            <p:nvPr/>
          </p:nvSpPr>
          <p:spPr>
            <a:xfrm>
              <a:off x="1026906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22</a:t>
              </a:fld>
              <a:endParaRPr lang="en-US" sz="1200" dirty="0">
                <a:latin typeface="Bahnschrift Light" panose="020B0502040204020203" pitchFamily="34" charset="0"/>
                <a:cs typeface="Arial" pitchFamily="34" charset="0"/>
              </a:endParaRPr>
            </a:p>
          </p:txBody>
        </p:sp>
      </p:grpSp>
      <p:sp>
        <p:nvSpPr>
          <p:cNvPr id="3" name="TextBox 2">
            <a:extLst>
              <a:ext uri="{FF2B5EF4-FFF2-40B4-BE49-F238E27FC236}">
                <a16:creationId xmlns:a16="http://schemas.microsoft.com/office/drawing/2014/main" id="{D0D09D3E-7DEF-7D97-7BD8-850B5DB367C7}"/>
              </a:ext>
            </a:extLst>
          </p:cNvPr>
          <p:cNvSpPr txBox="1"/>
          <p:nvPr/>
        </p:nvSpPr>
        <p:spPr>
          <a:xfrm>
            <a:off x="290945" y="783405"/>
            <a:ext cx="11679382" cy="3108543"/>
          </a:xfrm>
          <a:prstGeom prst="rect">
            <a:avLst/>
          </a:prstGeom>
          <a:solidFill>
            <a:srgbClr val="92D050"/>
          </a:solidFill>
        </p:spPr>
        <p:txBody>
          <a:bodyPr wrap="square" rtlCol="0">
            <a:spAutoFit/>
          </a:bodyPr>
          <a:lstStyle/>
          <a:p>
            <a:pPr marL="457200" indent="-457200">
              <a:buClr>
                <a:srgbClr val="0070C0"/>
              </a:buClr>
              <a:buFont typeface="Wingdings" panose="05000000000000000000" pitchFamily="2" charset="2"/>
              <a:buChar char="§"/>
            </a:pPr>
            <a:r>
              <a:rPr lang="el-GR" sz="2800" dirty="0"/>
              <a:t>η ανάπτυξη ενός προγράμματος δεν πρέπει να ξεκινά  από την συγγραφή κώδικα. </a:t>
            </a:r>
          </a:p>
          <a:p>
            <a:pPr marL="457200" indent="-457200">
              <a:buClr>
                <a:srgbClr val="0070C0"/>
              </a:buClr>
              <a:buFont typeface="Wingdings" panose="05000000000000000000" pitchFamily="2" charset="2"/>
              <a:buChar char="§"/>
            </a:pPr>
            <a:r>
              <a:rPr lang="el-GR" sz="2800" dirty="0"/>
              <a:t>Θα πρέπει, και αυτό επιβάλλεται, να γίνει πλήρως κατανοητό το έργο που θέλουμε να αναθέσουμε στη Μηχανή και επιπλέον </a:t>
            </a:r>
            <a:r>
              <a:rPr lang="el-GR" sz="2800" b="1" dirty="0"/>
              <a:t>να περιγράψουμε, στην φυσική μας γλώσσα, τις ενέργειες που η μηχανή πρέπει να εκτελέσει </a:t>
            </a:r>
            <a:r>
              <a:rPr lang="el-GR" sz="2800" dirty="0"/>
              <a:t>για να ολοκληρώσει το έργο. </a:t>
            </a:r>
          </a:p>
          <a:p>
            <a:pPr marL="457200" indent="-457200">
              <a:buClr>
                <a:srgbClr val="0070C0"/>
              </a:buClr>
              <a:buFont typeface="Wingdings" panose="05000000000000000000" pitchFamily="2" charset="2"/>
              <a:buChar char="§"/>
            </a:pPr>
            <a:r>
              <a:rPr lang="el-GR" sz="2800" dirty="0"/>
              <a:t>Την περιγραφή αυτή την ονομάζουμε Λεκτική Περιγραφή.</a:t>
            </a:r>
            <a:endParaRPr lang="en-GB" sz="2800" dirty="0"/>
          </a:p>
        </p:txBody>
      </p:sp>
      <p:sp>
        <p:nvSpPr>
          <p:cNvPr id="5" name="TextBox 4">
            <a:extLst>
              <a:ext uri="{FF2B5EF4-FFF2-40B4-BE49-F238E27FC236}">
                <a16:creationId xmlns:a16="http://schemas.microsoft.com/office/drawing/2014/main" id="{BCD2312E-7657-1931-426A-2BEA25D569D8}"/>
              </a:ext>
            </a:extLst>
          </p:cNvPr>
          <p:cNvSpPr txBox="1"/>
          <p:nvPr/>
        </p:nvSpPr>
        <p:spPr>
          <a:xfrm>
            <a:off x="277091" y="4253345"/>
            <a:ext cx="11720945" cy="1384995"/>
          </a:xfrm>
          <a:prstGeom prst="rect">
            <a:avLst/>
          </a:prstGeom>
          <a:solidFill>
            <a:srgbClr val="92D050"/>
          </a:solidFill>
        </p:spPr>
        <p:txBody>
          <a:bodyPr wrap="square" rtlCol="0">
            <a:spAutoFit/>
          </a:bodyPr>
          <a:lstStyle/>
          <a:p>
            <a:r>
              <a:rPr lang="el-GR" sz="2800" dirty="0"/>
              <a:t>Η Λεκτική Περιγραφή είναι ανάλογη της τεχνικής </a:t>
            </a:r>
            <a:r>
              <a:rPr lang="en-US" sz="2800" b="1" dirty="0"/>
              <a:t>Structure English</a:t>
            </a:r>
            <a:r>
              <a:rPr lang="el-GR" sz="2800" b="1" dirty="0"/>
              <a:t>, </a:t>
            </a:r>
            <a:r>
              <a:rPr lang="el-GR" sz="2800" dirty="0"/>
              <a:t>ενός τρόπου περιγραφής των βημάτων μιας διεργασίας με χρήση δομημένης σύνταξης στην Αγγλική γλώσσα.</a:t>
            </a:r>
            <a:endParaRPr lang="en-GB" sz="2800" dirty="0"/>
          </a:p>
        </p:txBody>
      </p:sp>
    </p:spTree>
    <p:extLst>
      <p:ext uri="{BB962C8B-B14F-4D97-AF65-F5344CB8AC3E}">
        <p14:creationId xmlns:p14="http://schemas.microsoft.com/office/powerpoint/2010/main" val="371093629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639B9-445A-D2E4-8FC9-492AC77D8461}"/>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D952FC99-8C1C-C8DC-58B3-C01B7BBCD76E}"/>
              </a:ext>
            </a:extLst>
          </p:cNvPr>
          <p:cNvSpPr>
            <a:spLocks noGrp="1"/>
          </p:cNvSpPr>
          <p:nvPr>
            <p:ph type="title"/>
          </p:nvPr>
        </p:nvSpPr>
        <p:spPr>
          <a:xfrm>
            <a:off x="152400" y="21092"/>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Λεκτική Περιγραφή - Παράδειγμα</a:t>
            </a:r>
          </a:p>
        </p:txBody>
      </p:sp>
      <p:grpSp>
        <p:nvGrpSpPr>
          <p:cNvPr id="7" name="Group 6">
            <a:extLst>
              <a:ext uri="{FF2B5EF4-FFF2-40B4-BE49-F238E27FC236}">
                <a16:creationId xmlns:a16="http://schemas.microsoft.com/office/drawing/2014/main" id="{8DEA82E8-D2B5-7B88-12E7-F7B6BBC7E140}"/>
              </a:ext>
            </a:extLst>
          </p:cNvPr>
          <p:cNvGrpSpPr/>
          <p:nvPr/>
        </p:nvGrpSpPr>
        <p:grpSpPr>
          <a:xfrm>
            <a:off x="-1" y="6559908"/>
            <a:ext cx="12192001" cy="327219"/>
            <a:chOff x="-1" y="6559908"/>
            <a:chExt cx="12192001" cy="327219"/>
          </a:xfrm>
        </p:grpSpPr>
        <p:sp>
          <p:nvSpPr>
            <p:cNvPr id="9" name="Rectangle 14">
              <a:extLst>
                <a:ext uri="{FF2B5EF4-FFF2-40B4-BE49-F238E27FC236}">
                  <a16:creationId xmlns:a16="http://schemas.microsoft.com/office/drawing/2014/main" id="{CB34A1F5-C9BF-A2EF-A73E-CD98C6FF79D5}"/>
                </a:ext>
              </a:extLst>
            </p:cNvPr>
            <p:cNvSpPr/>
            <p:nvPr/>
          </p:nvSpPr>
          <p:spPr>
            <a:xfrm>
              <a:off x="0"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Θέση υποσέλιδου 4">
              <a:extLst>
                <a:ext uri="{FF2B5EF4-FFF2-40B4-BE49-F238E27FC236}">
                  <a16:creationId xmlns:a16="http://schemas.microsoft.com/office/drawing/2014/main" id="{AADE9A65-3557-6F99-8F2E-E02CB62D81DD}"/>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4" name="Θέση υποσέλιδου 4">
              <a:extLst>
                <a:ext uri="{FF2B5EF4-FFF2-40B4-BE49-F238E27FC236}">
                  <a16:creationId xmlns:a16="http://schemas.microsoft.com/office/drawing/2014/main" id="{6D760C1D-3C02-3B6C-6D7E-0311A6E67991}"/>
                </a:ext>
              </a:extLst>
            </p:cNvPr>
            <p:cNvSpPr txBox="1">
              <a:spLocks/>
            </p:cNvSpPr>
            <p:nvPr/>
          </p:nvSpPr>
          <p:spPr>
            <a:xfrm>
              <a:off x="3719657" y="6610127"/>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Procedural Abstraction – </a:t>
              </a:r>
              <a:r>
                <a:rPr lang="el-GR" sz="1100" dirty="0">
                  <a:solidFill>
                    <a:schemeClr val="tx1"/>
                  </a:solidFill>
                  <a:latin typeface="Bahnschrift" panose="020B0502040204020203" pitchFamily="34" charset="0"/>
                </a:rPr>
                <a:t>Λεκτική Περιγραφή</a:t>
              </a:r>
              <a:endParaRPr lang="en-US" sz="1100" dirty="0">
                <a:solidFill>
                  <a:schemeClr val="tx1"/>
                </a:solidFill>
                <a:latin typeface="Bahnschrift" panose="020B0502040204020203" pitchFamily="34" charset="0"/>
              </a:endParaRPr>
            </a:p>
            <a:p>
              <a:endParaRPr lang="el-GR" sz="1100" dirty="0">
                <a:solidFill>
                  <a:schemeClr val="tx1"/>
                </a:solidFill>
                <a:latin typeface="Bahnschrift" panose="020B0502040204020203" pitchFamily="34" charset="0"/>
              </a:endParaRPr>
            </a:p>
          </p:txBody>
        </p:sp>
        <p:sp>
          <p:nvSpPr>
            <p:cNvPr id="15" name="TextBox 14">
              <a:extLst>
                <a:ext uri="{FF2B5EF4-FFF2-40B4-BE49-F238E27FC236}">
                  <a16:creationId xmlns:a16="http://schemas.microsoft.com/office/drawing/2014/main" id="{7E1A033C-D5A7-62AE-D896-135709CDE821}"/>
                </a:ext>
              </a:extLst>
            </p:cNvPr>
            <p:cNvSpPr txBox="1"/>
            <p:nvPr/>
          </p:nvSpPr>
          <p:spPr>
            <a:xfrm>
              <a:off x="1026906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23</a:t>
              </a:fld>
              <a:endParaRPr lang="en-US" sz="1200" dirty="0">
                <a:latin typeface="Bahnschrift Light" panose="020B0502040204020203" pitchFamily="34" charset="0"/>
                <a:cs typeface="Arial" pitchFamily="34" charset="0"/>
              </a:endParaRPr>
            </a:p>
          </p:txBody>
        </p:sp>
      </p:grpSp>
      <p:pic>
        <p:nvPicPr>
          <p:cNvPr id="4" name="Picture 3">
            <a:extLst>
              <a:ext uri="{FF2B5EF4-FFF2-40B4-BE49-F238E27FC236}">
                <a16:creationId xmlns:a16="http://schemas.microsoft.com/office/drawing/2014/main" id="{37D68142-4990-3438-652E-66FFE9231AD8}"/>
              </a:ext>
            </a:extLst>
          </p:cNvPr>
          <p:cNvPicPr>
            <a:picLocks noChangeAspect="1"/>
          </p:cNvPicPr>
          <p:nvPr/>
        </p:nvPicPr>
        <p:blipFill>
          <a:blip r:embed="rId3"/>
          <a:stretch>
            <a:fillRect/>
          </a:stretch>
        </p:blipFill>
        <p:spPr>
          <a:xfrm>
            <a:off x="692388" y="769130"/>
            <a:ext cx="8728703" cy="4780394"/>
          </a:xfrm>
          <a:prstGeom prst="rect">
            <a:avLst/>
          </a:prstGeom>
        </p:spPr>
      </p:pic>
      <p:sp>
        <p:nvSpPr>
          <p:cNvPr id="5" name="TextBox 4">
            <a:extLst>
              <a:ext uri="{FF2B5EF4-FFF2-40B4-BE49-F238E27FC236}">
                <a16:creationId xmlns:a16="http://schemas.microsoft.com/office/drawing/2014/main" id="{AB7EBDE5-CD76-E8D2-50E9-7E2FDBCCCEB6}"/>
              </a:ext>
            </a:extLst>
          </p:cNvPr>
          <p:cNvSpPr txBox="1"/>
          <p:nvPr/>
        </p:nvSpPr>
        <p:spPr>
          <a:xfrm>
            <a:off x="152400" y="5658090"/>
            <a:ext cx="11845636" cy="923330"/>
          </a:xfrm>
          <a:prstGeom prst="rect">
            <a:avLst/>
          </a:prstGeom>
          <a:solidFill>
            <a:srgbClr val="92D050"/>
          </a:solidFill>
        </p:spPr>
        <p:txBody>
          <a:bodyPr wrap="square" rtlCol="0">
            <a:spAutoFit/>
          </a:bodyPr>
          <a:lstStyle/>
          <a:p>
            <a:r>
              <a:rPr lang="el-GR" b="1" dirty="0"/>
              <a:t>Σενάρια από την καθημερινότητα </a:t>
            </a:r>
            <a:r>
              <a:rPr lang="el-GR" dirty="0"/>
              <a:t>(Ιστοσελίδα Βιβλίου - Αποσπάσματα)</a:t>
            </a:r>
            <a:endParaRPr lang="en-GB" b="1" dirty="0"/>
          </a:p>
          <a:p>
            <a:r>
              <a:rPr lang="el-GR" dirty="0">
                <a:hlinkClick r:id="rId4"/>
              </a:rPr>
              <a:t>Ο </a:t>
            </a:r>
            <a:r>
              <a:rPr lang="el-GR" dirty="0" err="1">
                <a:hlinkClick r:id="rId4"/>
              </a:rPr>
              <a:t>Alex</a:t>
            </a:r>
            <a:r>
              <a:rPr lang="el-GR" dirty="0">
                <a:hlinkClick r:id="rId4"/>
              </a:rPr>
              <a:t>, ο </a:t>
            </a:r>
            <a:r>
              <a:rPr lang="el-GR" dirty="0" err="1">
                <a:hlinkClick r:id="rId4"/>
              </a:rPr>
              <a:t>μπαρίστας</a:t>
            </a:r>
            <a:r>
              <a:rPr lang="el-GR" dirty="0">
                <a:hlinkClick r:id="rId4"/>
              </a:rPr>
              <a:t>, ο μικρός του αδελφός και ο νέος του φίλος</a:t>
            </a:r>
            <a:endParaRPr lang="el-GR" b="1" dirty="0"/>
          </a:p>
          <a:p>
            <a:r>
              <a:rPr lang="el-GR" dirty="0">
                <a:hlinkClick r:id="rId4"/>
              </a:rPr>
              <a:t>Ο </a:t>
            </a:r>
            <a:r>
              <a:rPr lang="en-US" dirty="0">
                <a:hlinkClick r:id="rId4"/>
              </a:rPr>
              <a:t>Alex</a:t>
            </a:r>
            <a:r>
              <a:rPr lang="el-GR" dirty="0">
                <a:hlinkClick r:id="rId4"/>
              </a:rPr>
              <a:t> στο φαρμακείο της γειτονιάς του</a:t>
            </a:r>
            <a:endParaRPr lang="en-GB" dirty="0"/>
          </a:p>
        </p:txBody>
      </p:sp>
    </p:spTree>
    <p:extLst>
      <p:ext uri="{BB962C8B-B14F-4D97-AF65-F5344CB8AC3E}">
        <p14:creationId xmlns:p14="http://schemas.microsoft.com/office/powerpoint/2010/main" val="114726657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F1D19-A364-A7E8-FEAC-CD51E1EDAC86}"/>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9C0BD472-9B58-1AFB-35F2-76DDC6307FD6}"/>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Αφαιρετικότητα - Λεκτική Περιγραφή</a:t>
            </a:r>
          </a:p>
        </p:txBody>
      </p:sp>
      <p:grpSp>
        <p:nvGrpSpPr>
          <p:cNvPr id="7" name="Group 6">
            <a:extLst>
              <a:ext uri="{FF2B5EF4-FFF2-40B4-BE49-F238E27FC236}">
                <a16:creationId xmlns:a16="http://schemas.microsoft.com/office/drawing/2014/main" id="{C89332A7-C165-ADE2-6F4F-17D3AFBA442B}"/>
              </a:ext>
            </a:extLst>
          </p:cNvPr>
          <p:cNvGrpSpPr/>
          <p:nvPr/>
        </p:nvGrpSpPr>
        <p:grpSpPr>
          <a:xfrm>
            <a:off x="-1" y="6559908"/>
            <a:ext cx="12192001" cy="327219"/>
            <a:chOff x="-1" y="6559908"/>
            <a:chExt cx="12192001" cy="327219"/>
          </a:xfrm>
        </p:grpSpPr>
        <p:sp>
          <p:nvSpPr>
            <p:cNvPr id="9" name="Rectangle 14">
              <a:extLst>
                <a:ext uri="{FF2B5EF4-FFF2-40B4-BE49-F238E27FC236}">
                  <a16:creationId xmlns:a16="http://schemas.microsoft.com/office/drawing/2014/main" id="{27AA2FB8-002C-12F4-3709-09F672EF03C7}"/>
                </a:ext>
              </a:extLst>
            </p:cNvPr>
            <p:cNvSpPr/>
            <p:nvPr/>
          </p:nvSpPr>
          <p:spPr>
            <a:xfrm>
              <a:off x="0"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Θέση υποσέλιδου 4">
              <a:extLst>
                <a:ext uri="{FF2B5EF4-FFF2-40B4-BE49-F238E27FC236}">
                  <a16:creationId xmlns:a16="http://schemas.microsoft.com/office/drawing/2014/main" id="{A6BDB962-6334-57D6-06FB-1A2F64EBF827}"/>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4" name="Θέση υποσέλιδου 4">
              <a:extLst>
                <a:ext uri="{FF2B5EF4-FFF2-40B4-BE49-F238E27FC236}">
                  <a16:creationId xmlns:a16="http://schemas.microsoft.com/office/drawing/2014/main" id="{B6FD41A4-25B2-734B-72DE-C6F3F471965E}"/>
                </a:ext>
              </a:extLst>
            </p:cNvPr>
            <p:cNvSpPr txBox="1">
              <a:spLocks/>
            </p:cNvSpPr>
            <p:nvPr/>
          </p:nvSpPr>
          <p:spPr>
            <a:xfrm>
              <a:off x="3719657" y="6610127"/>
              <a:ext cx="4631713"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Procedural Abstraction – </a:t>
              </a:r>
              <a:r>
                <a:rPr lang="el-GR" sz="1100" dirty="0">
                  <a:solidFill>
                    <a:schemeClr val="tx1"/>
                  </a:solidFill>
                  <a:latin typeface="Bahnschrift" panose="020B0502040204020203" pitchFamily="34" charset="0"/>
                </a:rPr>
                <a:t>Λεκτική Περιγραφή</a:t>
              </a:r>
              <a:endParaRPr lang="en-US" sz="1100" dirty="0">
                <a:solidFill>
                  <a:schemeClr val="tx1"/>
                </a:solidFill>
                <a:latin typeface="Bahnschrift" panose="020B0502040204020203" pitchFamily="34" charset="0"/>
              </a:endParaRPr>
            </a:p>
            <a:p>
              <a:endParaRPr lang="el-GR" sz="1100" dirty="0">
                <a:solidFill>
                  <a:schemeClr val="tx1"/>
                </a:solidFill>
                <a:latin typeface="Bahnschrift" panose="020B0502040204020203" pitchFamily="34" charset="0"/>
              </a:endParaRPr>
            </a:p>
          </p:txBody>
        </p:sp>
        <p:sp>
          <p:nvSpPr>
            <p:cNvPr id="15" name="TextBox 14">
              <a:extLst>
                <a:ext uri="{FF2B5EF4-FFF2-40B4-BE49-F238E27FC236}">
                  <a16:creationId xmlns:a16="http://schemas.microsoft.com/office/drawing/2014/main" id="{161019F2-CCFA-3ACA-44F1-20A9EAC43185}"/>
                </a:ext>
              </a:extLst>
            </p:cNvPr>
            <p:cNvSpPr txBox="1"/>
            <p:nvPr/>
          </p:nvSpPr>
          <p:spPr>
            <a:xfrm>
              <a:off x="1026906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24</a:t>
              </a:fld>
              <a:endParaRPr lang="en-US" sz="1200" dirty="0">
                <a:latin typeface="Bahnschrift Light" panose="020B0502040204020203" pitchFamily="34" charset="0"/>
                <a:cs typeface="Arial" pitchFamily="34" charset="0"/>
              </a:endParaRPr>
            </a:p>
          </p:txBody>
        </p:sp>
      </p:grpSp>
      <p:sp>
        <p:nvSpPr>
          <p:cNvPr id="3" name="Speech Bubble: Rectangle with Corners Rounded 2">
            <a:extLst>
              <a:ext uri="{FF2B5EF4-FFF2-40B4-BE49-F238E27FC236}">
                <a16:creationId xmlns:a16="http://schemas.microsoft.com/office/drawing/2014/main" id="{FEB3E9AB-4182-A6B5-141D-8DAFBF190EFF}"/>
              </a:ext>
            </a:extLst>
          </p:cNvPr>
          <p:cNvSpPr/>
          <p:nvPr/>
        </p:nvSpPr>
        <p:spPr>
          <a:xfrm>
            <a:off x="4585855" y="955964"/>
            <a:ext cx="4973781" cy="1676400"/>
          </a:xfrm>
          <a:prstGeom prst="wedgeRoundRectCallout">
            <a:avLst>
              <a:gd name="adj1" fmla="val -64287"/>
              <a:gd name="adj2" fmla="val 86029"/>
              <a:gd name="adj3" fmla="val 16667"/>
            </a:avLst>
          </a:prstGeom>
          <a:solidFill>
            <a:srgbClr val="FFFF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400" b="1" dirty="0"/>
              <a:t>Αναφέρατε παραδείγματα φυσικών διεργασιών δίνοντας το όνομα της διεργασίας και την περιγραφή της με τη μορφή Λεκτικής Περιγραφής </a:t>
            </a:r>
            <a:endParaRPr lang="en-GB" sz="2400" b="1" dirty="0"/>
          </a:p>
        </p:txBody>
      </p:sp>
      <p:sp>
        <p:nvSpPr>
          <p:cNvPr id="4" name="Speech Bubble: Rectangle with Corners Rounded 3">
            <a:extLst>
              <a:ext uri="{FF2B5EF4-FFF2-40B4-BE49-F238E27FC236}">
                <a16:creationId xmlns:a16="http://schemas.microsoft.com/office/drawing/2014/main" id="{958606AB-CAEE-E1BC-352C-586064AA3CE5}"/>
              </a:ext>
            </a:extLst>
          </p:cNvPr>
          <p:cNvSpPr/>
          <p:nvPr/>
        </p:nvSpPr>
        <p:spPr>
          <a:xfrm>
            <a:off x="1967345" y="3629891"/>
            <a:ext cx="6384025" cy="1884218"/>
          </a:xfrm>
          <a:prstGeom prst="wedgeRoundRectCallout">
            <a:avLst>
              <a:gd name="adj1" fmla="val -64287"/>
              <a:gd name="adj2" fmla="val 86029"/>
              <a:gd name="adj3" fmla="val 16667"/>
            </a:avLst>
          </a:prstGeom>
          <a:solidFill>
            <a:srgbClr val="FFFF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400" b="1" dirty="0"/>
              <a:t>Αναφέρατε παραδείγματα υπολογιστικών διεργασιών δίνοντας το όνομα της διεργασίας και την περιγραφή της με τη μορφή Λεκτικής Περιγραφής </a:t>
            </a:r>
            <a:endParaRPr lang="en-GB" sz="2400" b="1" dirty="0"/>
          </a:p>
        </p:txBody>
      </p:sp>
    </p:spTree>
    <p:extLst>
      <p:ext uri="{BB962C8B-B14F-4D97-AF65-F5344CB8AC3E}">
        <p14:creationId xmlns:p14="http://schemas.microsoft.com/office/powerpoint/2010/main" val="253675556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theme/theme1.xml><?xml version="1.0" encoding="utf-8"?>
<a:theme xmlns:a="http://schemas.openxmlformats.org/drawingml/2006/main" name="Προσαρμοσμένη σχεδίαση">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Θέμα του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Θέμα του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17522</TotalTime>
  <Words>2166</Words>
  <Application>Microsoft Office PowerPoint</Application>
  <PresentationFormat>Widescreen</PresentationFormat>
  <Paragraphs>290</Paragraphs>
  <Slides>24</Slides>
  <Notes>24</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24</vt:i4>
      </vt:variant>
    </vt:vector>
  </HeadingPairs>
  <TitlesOfParts>
    <vt:vector size="35" baseType="lpstr">
      <vt:lpstr>Arial</vt:lpstr>
      <vt:lpstr>Bahnschrift</vt:lpstr>
      <vt:lpstr>Bahnschrift Light</vt:lpstr>
      <vt:lpstr>Calibri</vt:lpstr>
      <vt:lpstr>Calibri Light</vt:lpstr>
      <vt:lpstr>source-serif-pro</vt:lpstr>
      <vt:lpstr>Tahoma</vt:lpstr>
      <vt:lpstr>Times New Roman</vt:lpstr>
      <vt:lpstr>Wingdings</vt:lpstr>
      <vt:lpstr>Προσαρμοσμένη σχεδίαση</vt:lpstr>
      <vt:lpstr>Θέμα του Office</vt:lpstr>
      <vt:lpstr>PowerPoint Presentation</vt:lpstr>
      <vt:lpstr>Στόχος Ενότητας </vt:lpstr>
      <vt:lpstr>Ανάθεση Έργου και Προγραμματισμός</vt:lpstr>
      <vt:lpstr>Αργαλειός του Ζακάρ </vt:lpstr>
      <vt:lpstr>Αναλυτική Μηχανή του Charles Babbage </vt:lpstr>
      <vt:lpstr>Augusta Ada Lovelace</vt:lpstr>
      <vt:lpstr>Προγραμματισμός και Ανάθεση Έργου σε Ανθρώπους</vt:lpstr>
      <vt:lpstr>Σενάρια από την καθημερινότητα</vt:lpstr>
      <vt:lpstr>Ανάθεση έργου σε Μπαρίστα</vt:lpstr>
      <vt:lpstr>Ανάθεση έργου σε Ανήλικο</vt:lpstr>
      <vt:lpstr>Ανάθεση του έργου στη Μηχανή</vt:lpstr>
      <vt:lpstr>Διεργασία – Όνομα και Περιγραφή </vt:lpstr>
      <vt:lpstr>Αφαιρετικότητα στις διεργασίες </vt:lpstr>
      <vt:lpstr>Διεργασία – Σύνθετη vs. Πρωτογενής </vt:lpstr>
      <vt:lpstr>Σενάρια από την καθημερινότητα</vt:lpstr>
      <vt:lpstr>Ροή εκτέλεσης ενεργειών</vt:lpstr>
      <vt:lpstr>Αφαιρετικότητα (Abstraction)</vt:lpstr>
      <vt:lpstr>Αφαιρετικότητα στις Διεργασίες</vt:lpstr>
      <vt:lpstr>Αφαιρετικότητα στα Δεδομένα</vt:lpstr>
      <vt:lpstr>Υπολογιστική Διεργασία</vt:lpstr>
      <vt:lpstr>Πρωτογενείς και Σύνθετες Διεργασίες</vt:lpstr>
      <vt:lpstr>Λεκτική Περιγραφή</vt:lpstr>
      <vt:lpstr>Λεκτική Περιγραφή - Παράδειγμα</vt:lpstr>
      <vt:lpstr>Αφαιρετικότητα - Λεκτική Περιγραφή</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OOP-Introduction</dc:title>
  <dc:creator>Kleanthis Thramboulidis</dc:creator>
  <cp:lastModifiedBy>Kleanthis Thramboulidis</cp:lastModifiedBy>
  <cp:revision>89</cp:revision>
  <cp:lastPrinted>2023-02-24T15:57:04Z</cp:lastPrinted>
  <dcterms:created xsi:type="dcterms:W3CDTF">2020-03-13T12:21:17Z</dcterms:created>
  <dcterms:modified xsi:type="dcterms:W3CDTF">2025-10-14T19:25:42Z</dcterms:modified>
</cp:coreProperties>
</file>